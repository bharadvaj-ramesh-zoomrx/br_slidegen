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3.xml" ContentType="application/vnd.openxmlformats-officedocument.them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4.xml" ContentType="application/vnd.openxmlformats-officedocument.them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5.xml" ContentType="application/vnd.openxmlformats-officedocument.them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6.xml" ContentType="application/vnd.openxmlformats-officedocument.them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charts/chart5.xml" ContentType="application/vnd.openxmlformats-officedocument.drawingml.chart+xml"/>
  <Override PartName="/ppt/charts/chart6.xml" ContentType="application/vnd.openxmlformats-officedocument.drawingml.chart+xml"/>
  <Override PartName="/ppt/notesSlides/notesSlide7.xml" ContentType="application/vnd.openxmlformats-officedocument.presentationml.notesSlide+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charts/chart15.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4.xml" ContentType="application/vnd.openxmlformats-officedocument.presentationml.notesSlide+xml"/>
  <Override PartName="/ppt/charts/chart16.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7.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5.xml" ContentType="application/vnd.openxmlformats-officedocument.presentationml.notesSlide+xml"/>
  <Override PartName="/ppt/charts/chart18.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6.xml" ContentType="application/vnd.openxmlformats-officedocument.presentationml.notesSlide+xml"/>
  <Override PartName="/ppt/charts/chart19.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7.xml" ContentType="application/vnd.openxmlformats-officedocument.presentationml.notesSlide+xml"/>
  <Override PartName="/ppt/charts/chart20.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8.xml" ContentType="application/vnd.openxmlformats-officedocument.presentationml.notesSlide+xml"/>
  <Override PartName="/ppt/charts/chart21.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9.xml" ContentType="application/vnd.openxmlformats-officedocument.presentationml.notesSlide+xml"/>
  <Override PartName="/ppt/charts/chart22.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3.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20.xml" ContentType="application/vnd.openxmlformats-officedocument.presentationml.notesSlide+xml"/>
  <Override PartName="/ppt/charts/chart24.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21.xml" ContentType="application/vnd.openxmlformats-officedocument.presentationml.notesSlide+xml"/>
  <Override PartName="/ppt/charts/chart25.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22.xml" ContentType="application/vnd.openxmlformats-officedocument.presentationml.notesSlide+xml"/>
  <Override PartName="/ppt/charts/chart26.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7.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8.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9.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25.xml" ContentType="application/vnd.openxmlformats-officedocument.presentationml.notesSlide+xml"/>
  <Override PartName="/ppt/charts/chart30.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31.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2.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3.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4.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5.xml" ContentType="application/vnd.openxmlformats-officedocument.drawingml.chart+xml"/>
  <Override PartName="/ppt/charts/style30.xml" ContentType="application/vnd.ms-office.chartstyle+xml"/>
  <Override PartName="/ppt/charts/colors30.xml" ContentType="application/vnd.ms-office.chartcolorstyle+xml"/>
  <Override PartName="/ppt/notesSlides/notesSlide29.xml" ContentType="application/vnd.openxmlformats-officedocument.presentationml.notesSlide+xml"/>
  <Override PartName="/ppt/charts/chart36.xml" ContentType="application/vnd.openxmlformats-officedocument.drawingml.chart+xml"/>
  <Override PartName="/ppt/charts/style31.xml" ContentType="application/vnd.ms-office.chartstyle+xml"/>
  <Override PartName="/ppt/charts/colors31.xml" ContentType="application/vnd.ms-office.chartcolorstyle+xml"/>
  <Override PartName="/ppt/notesSlides/notesSlide30.xml" ContentType="application/vnd.openxmlformats-officedocument.presentationml.notesSlide+xml"/>
  <Override PartName="/ppt/charts/chart37.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8.xml" ContentType="application/vnd.openxmlformats-officedocument.drawingml.chart+xml"/>
  <Override PartName="/ppt/charts/style33.xml" ContentType="application/vnd.ms-office.chartstyle+xml"/>
  <Override PartName="/ppt/charts/colors33.xml" ContentType="application/vnd.ms-office.chartcolorstyle+xml"/>
  <Override PartName="/ppt/notesSlides/notesSlide31.xml" ContentType="application/vnd.openxmlformats-officedocument.presentationml.notesSlide+xml"/>
  <Override PartName="/ppt/charts/chart39.xml" ContentType="application/vnd.openxmlformats-officedocument.drawingml.chart+xml"/>
  <Override PartName="/ppt/charts/style34.xml" ContentType="application/vnd.ms-office.chartstyle+xml"/>
  <Override PartName="/ppt/charts/colors34.xml" ContentType="application/vnd.ms-office.chartcolorstyle+xml"/>
  <Override PartName="/ppt/tags/tag198.xml" ContentType="application/vnd.openxmlformats-officedocument.presentationml.tags+xml"/>
  <Override PartName="/ppt/notesSlides/notesSlide32.xml" ContentType="application/vnd.openxmlformats-officedocument.presentationml.notesSlide+xml"/>
  <Override PartName="/ppt/charts/chart40.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41.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42.xml" ContentType="application/vnd.openxmlformats-officedocument.drawingml.chart+xml"/>
  <Override PartName="/ppt/charts/style37.xml" ContentType="application/vnd.ms-office.chartstyle+xml"/>
  <Override PartName="/ppt/charts/colors37.xml" ContentType="application/vnd.ms-office.chartcolorstyle+xml"/>
  <Override PartName="/ppt/notesSlides/notesSlide33.xml" ContentType="application/vnd.openxmlformats-officedocument.presentationml.notesSlide+xml"/>
  <Override PartName="/ppt/charts/chart43.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44.xml" ContentType="application/vnd.openxmlformats-officedocument.drawingml.chart+xml"/>
  <Override PartName="/ppt/charts/style39.xml" ContentType="application/vnd.ms-office.chartstyle+xml"/>
  <Override PartName="/ppt/charts/colors39.xml" ContentType="application/vnd.ms-office.chartcolorstyle+xml"/>
  <Override PartName="/ppt/notesSlides/notesSlide34.xml" ContentType="application/vnd.openxmlformats-officedocument.presentationml.notesSlide+xml"/>
  <Override PartName="/ppt/charts/chart45.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6.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7.xml" ContentType="application/vnd.openxmlformats-officedocument.drawingml.chart+xml"/>
  <Override PartName="/ppt/charts/style42.xml" ContentType="application/vnd.ms-office.chartstyle+xml"/>
  <Override PartName="/ppt/charts/colors42.xml" ContentType="application/vnd.ms-office.chartcolorstyle+xml"/>
  <Override PartName="/ppt/notesSlides/notesSlide35.xml" ContentType="application/vnd.openxmlformats-officedocument.presentationml.notesSlide+xml"/>
  <Override PartName="/ppt/charts/chart48.xml" ContentType="application/vnd.openxmlformats-officedocument.drawingml.chart+xml"/>
  <Override PartName="/ppt/charts/style43.xml" ContentType="application/vnd.ms-office.chartstyle+xml"/>
  <Override PartName="/ppt/charts/colors43.xml" ContentType="application/vnd.ms-office.chartcolorstyle+xml"/>
  <Override PartName="/ppt/notesSlides/notesSlide36.xml" ContentType="application/vnd.openxmlformats-officedocument.presentationml.notesSlide+xml"/>
  <Override PartName="/ppt/charts/chart49.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50.xml" ContentType="application/vnd.openxmlformats-officedocument.drawingml.chart+xml"/>
  <Override PartName="/ppt/charts/style45.xml" ContentType="application/vnd.ms-office.chartstyle+xml"/>
  <Override PartName="/ppt/charts/colors45.xml" ContentType="application/vnd.ms-office.chartcolorstyle+xml"/>
  <Override PartName="/ppt/notesSlides/notesSlide37.xml" ContentType="application/vnd.openxmlformats-officedocument.presentationml.notesSlide+xml"/>
  <Override PartName="/ppt/charts/chart51.xml" ContentType="application/vnd.openxmlformats-officedocument.drawingml.chart+xml"/>
  <Override PartName="/ppt/charts/style46.xml" ContentType="application/vnd.ms-office.chartstyle+xml"/>
  <Override PartName="/ppt/charts/colors46.xml" ContentType="application/vnd.ms-office.chartcolorstyle+xml"/>
  <Override PartName="/ppt/notesSlides/notesSlide38.xml" ContentType="application/vnd.openxmlformats-officedocument.presentationml.notesSlide+xml"/>
  <Override PartName="/ppt/charts/chart52.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53.xml" ContentType="application/vnd.openxmlformats-officedocument.drawingml.chart+xml"/>
  <Override PartName="/ppt/charts/style48.xml" ContentType="application/vnd.ms-office.chartstyle+xml"/>
  <Override PartName="/ppt/charts/colors48.xml" ContentType="application/vnd.ms-office.chartcolorstyle+xml"/>
  <Override PartName="/ppt/notesSlides/notesSlide39.xml" ContentType="application/vnd.openxmlformats-officedocument.presentationml.notesSlide+xml"/>
  <Override PartName="/ppt/charts/chart54.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5.xml" ContentType="application/vnd.openxmlformats-officedocument.drawingml.chart+xml"/>
  <Override PartName="/ppt/charts/style50.xml" ContentType="application/vnd.ms-office.chartstyle+xml"/>
  <Override PartName="/ppt/charts/colors50.xml" ContentType="application/vnd.ms-office.chartcolorstyle+xml"/>
  <Override PartName="/ppt/notesSlides/notesSlide40.xml" ContentType="application/vnd.openxmlformats-officedocument.presentationml.notesSlide+xml"/>
  <Override PartName="/ppt/charts/chart56.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7.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8.xml" ContentType="application/vnd.openxmlformats-officedocument.drawingml.chart+xml"/>
  <Override PartName="/ppt/charts/style53.xml" ContentType="application/vnd.ms-office.chartstyle+xml"/>
  <Override PartName="/ppt/charts/colors53.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59.xml" ContentType="application/vnd.openxmlformats-officedocument.drawingml.chart+xml"/>
  <Override PartName="/ppt/charts/style54.xml" ContentType="application/vnd.ms-office.chartstyle+xml"/>
  <Override PartName="/ppt/charts/colors54.xml" ContentType="application/vnd.ms-office.chartcolorstyle+xml"/>
  <Override PartName="/ppt/notesSlides/notesSlide45.xml" ContentType="application/vnd.openxmlformats-officedocument.presentationml.notesSlide+xml"/>
  <Override PartName="/ppt/charts/chart60.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61.xml" ContentType="application/vnd.openxmlformats-officedocument.drawingml.chart+xml"/>
  <Override PartName="/ppt/charts/style56.xml" ContentType="application/vnd.ms-office.chartstyle+xml"/>
  <Override PartName="/ppt/charts/colors56.xml" ContentType="application/vnd.ms-office.chartcolorstyle+xml"/>
  <Override PartName="/ppt/notesSlides/notesSlide46.xml" ContentType="application/vnd.openxmlformats-officedocument.presentationml.notesSlide+xml"/>
  <Override PartName="/ppt/charts/chart62.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63.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64.xml" ContentType="application/vnd.openxmlformats-officedocument.drawingml.chart+xml"/>
  <Override PartName="/ppt/charts/style59.xml" ContentType="application/vnd.ms-office.chartstyle+xml"/>
  <Override PartName="/ppt/charts/colors59.xml" ContentType="application/vnd.ms-office.chartcolorstyle+xml"/>
  <Override PartName="/ppt/notesSlides/notesSlide47.xml" ContentType="application/vnd.openxmlformats-officedocument.presentationml.notesSlide+xml"/>
  <Override PartName="/ppt/charts/chart65.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6.xml" ContentType="application/vnd.openxmlformats-officedocument.drawingml.chart+xml"/>
  <Override PartName="/ppt/charts/style61.xml" ContentType="application/vnd.ms-office.chartstyle+xml"/>
  <Override PartName="/ppt/charts/colors61.xml" ContentType="application/vnd.ms-office.chartcolorstyle+xml"/>
  <Override PartName="/ppt/notesSlides/notesSlide48.xml" ContentType="application/vnd.openxmlformats-officedocument.presentationml.notesSlide+xml"/>
  <Override PartName="/ppt/charts/chart67.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8.xml" ContentType="application/vnd.openxmlformats-officedocument.drawingml.chart+xml"/>
  <Override PartName="/ppt/charts/style63.xml" ContentType="application/vnd.ms-office.chartstyle+xml"/>
  <Override PartName="/ppt/charts/colors63.xml" ContentType="application/vnd.ms-office.chartcolorstyl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rts/chart69.xml" ContentType="application/vnd.openxmlformats-officedocument.drawingml.chart+xml"/>
  <Override PartName="/ppt/charts/style64.xml" ContentType="application/vnd.ms-office.chartstyle+xml"/>
  <Override PartName="/ppt/charts/colors64.xml" ContentType="application/vnd.ms-office.chartcolorstyle+xml"/>
  <Override PartName="/ppt/charts/chart70.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71.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72.xml" ContentType="application/vnd.openxmlformats-officedocument.drawingml.chart+xml"/>
  <Override PartName="/ppt/charts/style67.xml" ContentType="application/vnd.ms-office.chartstyle+xml"/>
  <Override PartName="/ppt/charts/colors67.xml" ContentType="application/vnd.ms-office.chartcolorstyle+xml"/>
  <Override PartName="/ppt/notesSlides/notesSlide52.xml" ContentType="application/vnd.openxmlformats-officedocument.presentationml.notesSlide+xml"/>
  <Override PartName="/ppt/charts/chart73.xml" ContentType="application/vnd.openxmlformats-officedocument.drawingml.chart+xml"/>
  <Override PartName="/ppt/charts/style68.xml" ContentType="application/vnd.ms-office.chartstyle+xml"/>
  <Override PartName="/ppt/charts/colors68.xml" ContentType="application/vnd.ms-office.chartcolorstyle+xml"/>
  <Override PartName="/ppt/notesSlides/notesSlide53.xml" ContentType="application/vnd.openxmlformats-officedocument.presentationml.notesSlide+xml"/>
  <Override PartName="/ppt/charts/chart74.xml" ContentType="application/vnd.openxmlformats-officedocument.drawingml.chart+xml"/>
  <Override PartName="/ppt/charts/style69.xml" ContentType="application/vnd.ms-office.chartstyle+xml"/>
  <Override PartName="/ppt/charts/colors69.xml" ContentType="application/vnd.ms-office.chartcolorstyl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rts/chart75.xml" ContentType="application/vnd.openxmlformats-officedocument.drawingml.chart+xml"/>
  <Override PartName="/ppt/charts/style70.xml" ContentType="application/vnd.ms-office.chartstyle+xml"/>
  <Override PartName="/ppt/charts/colors70.xml" ContentType="application/vnd.ms-office.chartcolorstyle+xml"/>
  <Override PartName="/ppt/notesSlides/notesSlide56.xml" ContentType="application/vnd.openxmlformats-officedocument.presentationml.notesSlide+xml"/>
  <Override PartName="/ppt/charts/chart76.xml" ContentType="application/vnd.openxmlformats-officedocument.drawingml.chart+xml"/>
  <Override PartName="/ppt/charts/style71.xml" ContentType="application/vnd.ms-office.chartstyle+xml"/>
  <Override PartName="/ppt/charts/colors71.xml" ContentType="application/vnd.ms-office.chartcolorstyle+xml"/>
  <Override PartName="/ppt/notesSlides/notesSlide57.xml" ContentType="application/vnd.openxmlformats-officedocument.presentationml.notesSlide+xml"/>
  <Override PartName="/ppt/charts/chart77.xml" ContentType="application/vnd.openxmlformats-officedocument.drawingml.chart+xml"/>
  <Override PartName="/ppt/charts/style72.xml" ContentType="application/vnd.ms-office.chartstyle+xml"/>
  <Override PartName="/ppt/charts/colors72.xml" ContentType="application/vnd.ms-office.chartcolorstyl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rts/chart78.xml" ContentType="application/vnd.openxmlformats-officedocument.drawingml.chart+xml"/>
  <Override PartName="/ppt/charts/style73.xml" ContentType="application/vnd.ms-office.chartstyle+xml"/>
  <Override PartName="/ppt/charts/colors73.xml" ContentType="application/vnd.ms-office.chartcolorstyl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rts/chart79.xml" ContentType="application/vnd.openxmlformats-officedocument.drawingml.chart+xml"/>
  <Override PartName="/ppt/charts/style74.xml" ContentType="application/vnd.ms-office.chartstyle+xml"/>
  <Override PartName="/ppt/charts/colors74.xml" ContentType="application/vnd.ms-office.chartcolorstyle+xml"/>
  <Override PartName="/ppt/notesSlides/notesSlide62.xml" ContentType="application/vnd.openxmlformats-officedocument.presentationml.notesSlide+xml"/>
  <Override PartName="/ppt/charts/chart80.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81.xml" ContentType="application/vnd.openxmlformats-officedocument.drawingml.chart+xml"/>
  <Override PartName="/ppt/charts/style76.xml" ContentType="application/vnd.ms-office.chartstyle+xml"/>
  <Override PartName="/ppt/charts/colors76.xml" ContentType="application/vnd.ms-office.chartcolorstyl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5">
  <p:sldMasterIdLst>
    <p:sldMasterId id="2147483648" r:id="rId4"/>
    <p:sldMasterId id="2147483705" r:id="rId5"/>
    <p:sldMasterId id="2147483749" r:id="rId6"/>
    <p:sldMasterId id="2147483792" r:id="rId7"/>
    <p:sldMasterId id="2147483824" r:id="rId8"/>
    <p:sldMasterId id="2147483855" r:id="rId9"/>
  </p:sldMasterIdLst>
  <p:notesMasterIdLst>
    <p:notesMasterId r:id="rId85"/>
  </p:notesMasterIdLst>
  <p:handoutMasterIdLst>
    <p:handoutMasterId r:id="rId86"/>
  </p:handoutMasterIdLst>
  <p:sldIdLst>
    <p:sldId id="2146846711" r:id="rId10"/>
    <p:sldId id="2147482246" r:id="rId11"/>
    <p:sldId id="2147482358" r:id="rId12"/>
    <p:sldId id="2147482359" r:id="rId13"/>
    <p:sldId id="2147482360" r:id="rId14"/>
    <p:sldId id="2147482361" r:id="rId15"/>
    <p:sldId id="2147482362" r:id="rId16"/>
    <p:sldId id="2147482268" r:id="rId17"/>
    <p:sldId id="2147482356" r:id="rId18"/>
    <p:sldId id="601" r:id="rId19"/>
    <p:sldId id="2147482393" r:id="rId20"/>
    <p:sldId id="2147482394" r:id="rId21"/>
    <p:sldId id="2147482195" r:id="rId22"/>
    <p:sldId id="2147482363" r:id="rId23"/>
    <p:sldId id="2147482281" r:id="rId24"/>
    <p:sldId id="600" r:id="rId25"/>
    <p:sldId id="2147482364" r:id="rId26"/>
    <p:sldId id="2147482365" r:id="rId27"/>
    <p:sldId id="2147482366" r:id="rId28"/>
    <p:sldId id="2147482275" r:id="rId29"/>
    <p:sldId id="2147482367" r:id="rId30"/>
    <p:sldId id="2147482267" r:id="rId31"/>
    <p:sldId id="648" r:id="rId32"/>
    <p:sldId id="2147482206" r:id="rId33"/>
    <p:sldId id="545" r:id="rId34"/>
    <p:sldId id="2147482376" r:id="rId35"/>
    <p:sldId id="603" r:id="rId36"/>
    <p:sldId id="2147482368" r:id="rId37"/>
    <p:sldId id="2147482284" r:id="rId38"/>
    <p:sldId id="605" r:id="rId39"/>
    <p:sldId id="637" r:id="rId40"/>
    <p:sldId id="2147482203" r:id="rId41"/>
    <p:sldId id="2147482372" r:id="rId42"/>
    <p:sldId id="2147482243" r:id="rId43"/>
    <p:sldId id="2147482217" r:id="rId44"/>
    <p:sldId id="571" r:id="rId45"/>
    <p:sldId id="2147482123" r:id="rId46"/>
    <p:sldId id="2147482410" r:id="rId47"/>
    <p:sldId id="2147482409" r:id="rId48"/>
    <p:sldId id="2147482397" r:id="rId49"/>
    <p:sldId id="2147482263" r:id="rId50"/>
    <p:sldId id="2147482125" r:id="rId51"/>
    <p:sldId id="2147482391" r:id="rId52"/>
    <p:sldId id="613" r:id="rId53"/>
    <p:sldId id="2147482396" r:id="rId54"/>
    <p:sldId id="2147482220" r:id="rId55"/>
    <p:sldId id="2147482395" r:id="rId56"/>
    <p:sldId id="611" r:id="rId57"/>
    <p:sldId id="2147482127" r:id="rId58"/>
    <p:sldId id="2147482244" r:id="rId59"/>
    <p:sldId id="2147482380" r:id="rId60"/>
    <p:sldId id="2147482141" r:id="rId61"/>
    <p:sldId id="2147482381" r:id="rId62"/>
    <p:sldId id="2147482130" r:id="rId63"/>
    <p:sldId id="632" r:id="rId64"/>
    <p:sldId id="2147482132" r:id="rId65"/>
    <p:sldId id="2147482133" r:id="rId66"/>
    <p:sldId id="2147482371" r:id="rId67"/>
    <p:sldId id="2147482375" r:id="rId68"/>
    <p:sldId id="2147482145" r:id="rId69"/>
    <p:sldId id="2147482261" r:id="rId70"/>
    <p:sldId id="2147482383" r:id="rId71"/>
    <p:sldId id="2147482384" r:id="rId72"/>
    <p:sldId id="2147482151" r:id="rId73"/>
    <p:sldId id="2147482386" r:id="rId74"/>
    <p:sldId id="2147482221" r:id="rId75"/>
    <p:sldId id="2147482388" r:id="rId76"/>
    <p:sldId id="2147482135" r:id="rId77"/>
    <p:sldId id="2147482222" r:id="rId78"/>
    <p:sldId id="2147482152" r:id="rId79"/>
    <p:sldId id="2147482403" r:id="rId80"/>
    <p:sldId id="2147482402" r:id="rId81"/>
    <p:sldId id="2147482377" r:id="rId82"/>
    <p:sldId id="2147482399" r:id="rId83"/>
    <p:sldId id="2147482400" r:id="rId84"/>
  </p:sldIdLst>
  <p:sldSz cx="12188825" cy="6858000"/>
  <p:notesSz cx="7102475" cy="9388475"/>
  <p:custDataLst>
    <p:tags r:id="rId8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5" pos="839" userDrawn="1">
          <p15:clr>
            <a:srgbClr val="A4A3A4"/>
          </p15:clr>
        </p15:guide>
        <p15:guide id="6" pos="7406">
          <p15:clr>
            <a:srgbClr val="A4A3A4"/>
          </p15:clr>
        </p15:guide>
        <p15:guide id="7" orient="horz" pos="3566" userDrawn="1">
          <p15:clr>
            <a:srgbClr val="A4A3A4"/>
          </p15:clr>
        </p15:guide>
        <p15:guide id="8" orient="horz" pos="2024" userDrawn="1">
          <p15:clr>
            <a:srgbClr val="A4A3A4"/>
          </p15:clr>
        </p15:guide>
      </p15:sldGuideLst>
    </p:ext>
    <p:ext uri="{2D200454-40CA-4A62-9FC3-DE9A4176ACB9}">
      <p15:notesGuideLst xmlns:p15="http://schemas.microsoft.com/office/powerpoint/2012/main">
        <p15:guide id="1" orient="horz" pos="2904" userDrawn="1">
          <p15:clr>
            <a:srgbClr val="A4A3A4"/>
          </p15:clr>
        </p15:guide>
        <p15:guide id="2" pos="2237" userDrawn="1">
          <p15:clr>
            <a:srgbClr val="A4A3A4"/>
          </p15:clr>
        </p15:guide>
        <p15:guide id="3" orient="horz" pos="295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08230E-4EE1-A7F8-CBD2-C6DFCB6925C2}" name="Rheault,Diana" initials="DR" userId="S::RHEAULTD@pfizer.com::f3b6e8e7-2383-4d56-9c8f-55e6542849e2" providerId="AD"/>
  <p188:author id="{D1F5A927-45D8-54AD-E63A-3FB3E8E56BF1}" name="Ni, Sisi" initials="NS" userId="S::NIX13@pfizer.com::c7048693-2c2a-4b25-abde-0a673684d06f" providerId="AD"/>
  <p188:author id="{6A1C8831-45B9-3E5F-727C-EF8D9C4BE09B}" name="Crissy Guynee" initials="CG" userId="S::crissy.guynee@vpmrllc.com::03e814b7-40ae-4ff7-8280-ca11e1f5e793" providerId="AD"/>
  <p188:author id="{630FE560-7624-CCD5-B756-B2D2E9148666}" name="Crissy Guynee" initials="CG" userId="S::crissy.guynee@danforthadvisors.com::a5ff31ba-3384-4a8c-afdb-376ffc38524e" providerId="AD"/>
  <p188:author id="{CFBD6165-21EA-EACB-51FB-1F0ECFA1C5E1}" name="Lu Sniffen" initials="LS" userId="S::lu.sniffen@danforthadvisors.com::8c0dee4a-bd2b-4ec6-be80-ee309a2ba543" providerId="AD"/>
  <p188:author id="{BFD62479-5262-FA8D-FC90-7A488691DBF4}" name="Rebecca Nazzaro" initials="RN" userId="S::Rebecca.Nazzaro@psyma-usa.com::d731e6b3-5cc9-4b2f-8432-4ffa23f45853" providerId="AD"/>
  <p188:author id="{1A64E879-AA5F-106A-7723-04BBA5D1A200}" name="Pragati Rane" initials="PR" userId="S::pragati.rane_merkle.com#ext#@psymainternational.onmicrosoft.com::93379374-d161-4a0f-b704-13f5ad29653c" providerId="AD"/>
  <p188:author id="{C39EF77B-3A70-E17F-2BAC-8E3593D8A72B}" name="Jennifer Heacock" initials="JH" userId="S::jennifer.heacock@psyma-usa.com::9efeec98-355f-4e3c-9ab4-e4727570a2ba" providerId="AD"/>
  <p188:author id="{8EA1B492-0243-4168-0325-B17C5D01B8FB}" name="Alexis McKelvey" initials="AM" userId="S::alexis.mckelvey@psyma-usa.com::0fdae4a3-644d-4942-be3f-dbfa1fa0a3f3" providerId="AD"/>
  <p188:author id="{1B6D41CA-3D92-BD04-3E14-DA63BE0232DE}" name="Morgan" initials="M" userId="S::morgan.mosley@psyma-usa.com::a6b32f66-8a64-403f-8695-296f51e8c224" providerId="AD"/>
  <p188:author id="{A3B373E5-BE90-5D57-FD3D-5B1E2FF0D73C}" name="Sheryl Miller - VPMR" initials="" userId="S::Sheryl.Miller@danforthadvisors.com::0045a7b6-8ee0-498d-b0d4-be7ea0abc16e" providerId="AD"/>
  <p188:author id="{8D7716E8-E5B1-303F-E342-55825D855CA1}" name="Natalie Larios" initials="NL" userId="S::natalie.larios@danforthadvisors.com::9a3a270e-915d-4f53-9248-d6d01847e84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orte, Antonietta F" initials="FAF" lastIdx="9" clrIdx="0">
    <p:extLst>
      <p:ext uri="{19B8F6BF-5375-455C-9EA6-DF929625EA0E}">
        <p15:presenceInfo xmlns:p15="http://schemas.microsoft.com/office/powerpoint/2012/main" userId="S::FORTEAF@pfizer.com::c17ced98-61cf-4a86-81cb-828acac33ca5" providerId="AD"/>
      </p:ext>
    </p:extLst>
  </p:cmAuthor>
  <p:cmAuthor id="2" name="Dixon, Lisa" initials="DL" lastIdx="17" clrIdx="1">
    <p:extLst>
      <p:ext uri="{19B8F6BF-5375-455C-9EA6-DF929625EA0E}">
        <p15:presenceInfo xmlns:p15="http://schemas.microsoft.com/office/powerpoint/2012/main" userId="S::dixonl@pfizer.com::769afcdb-8fad-40ac-bc14-be1d7626a535" providerId="AD"/>
      </p:ext>
    </p:extLst>
  </p:cmAuthor>
  <p:cmAuthor id="3" name="Jennifer Heacock" initials="JH" lastIdx="2" clrIdx="2">
    <p:extLst>
      <p:ext uri="{19B8F6BF-5375-455C-9EA6-DF929625EA0E}">
        <p15:presenceInfo xmlns:p15="http://schemas.microsoft.com/office/powerpoint/2012/main" userId="S::jennifer.heacock@psyma-usa.com::9efeec98-355f-4e3c-9ab4-e4727570a2ba" providerId="AD"/>
      </p:ext>
    </p:extLst>
  </p:cmAuthor>
  <p:cmAuthor id="4" name="Melissa Reinbold" initials="MR" lastIdx="1" clrIdx="3">
    <p:extLst>
      <p:ext uri="{19B8F6BF-5375-455C-9EA6-DF929625EA0E}">
        <p15:presenceInfo xmlns:p15="http://schemas.microsoft.com/office/powerpoint/2012/main" userId="S::melissa.reinbold@psyma-usa.com::d9b0c438-bdaa-4f9c-9699-f4c53a5c8a3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9AAD"/>
    <a:srgbClr val="7F7F7F"/>
    <a:srgbClr val="D95776"/>
    <a:srgbClr val="FF00FF"/>
    <a:srgbClr val="62B96A"/>
    <a:srgbClr val="66FF33"/>
    <a:srgbClr val="F0F0F0"/>
    <a:srgbClr val="FDEFDF"/>
    <a:srgbClr val="FDECD7"/>
    <a:srgbClr val="7993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44" autoAdjust="0"/>
    <p:restoredTop sz="89192" autoAdjust="0"/>
  </p:normalViewPr>
  <p:slideViewPr>
    <p:cSldViewPr snapToGrid="0">
      <p:cViewPr varScale="1">
        <p:scale>
          <a:sx n="79" d="100"/>
          <a:sy n="79" d="100"/>
        </p:scale>
        <p:origin x="1032" y="288"/>
      </p:cViewPr>
      <p:guideLst>
        <p:guide pos="3840"/>
        <p:guide pos="839"/>
        <p:guide pos="7406"/>
        <p:guide orient="horz" pos="3566"/>
        <p:guide orient="horz" pos="202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04"/>
        <p:guide pos="2237"/>
        <p:guide orient="horz" pos="295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presProps" Target="presProps.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5" Type="http://schemas.openxmlformats.org/officeDocument/2006/relationships/slideMaster" Target="slideMasters/slideMaster2.xml"/><Relationship Id="rId90" Type="http://schemas.openxmlformats.org/officeDocument/2006/relationships/viewProps" Target="viewProps.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80" Type="http://schemas.openxmlformats.org/officeDocument/2006/relationships/slide" Target="slides/slide71.xml"/><Relationship Id="rId85" Type="http://schemas.openxmlformats.org/officeDocument/2006/relationships/notesMaster" Target="notesMasters/notesMaster1.xml"/><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tags" Target="tags/tag1.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1.xml"/><Relationship Id="rId1" Type="http://schemas.microsoft.com/office/2011/relationships/chartStyle" Target="style1.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2.xml"/><Relationship Id="rId1" Type="http://schemas.microsoft.com/office/2011/relationships/chartStyle" Target="style2.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0.xml"/><Relationship Id="rId1" Type="http://schemas.microsoft.com/office/2011/relationships/chartStyle" Target="style10.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1.xml"/><Relationship Id="rId1" Type="http://schemas.microsoft.com/office/2011/relationships/chartStyle" Target="style11.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2.xml"/><Relationship Id="rId1" Type="http://schemas.microsoft.com/office/2011/relationships/chartStyle" Target="style12.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3.xml"/><Relationship Id="rId1" Type="http://schemas.microsoft.com/office/2011/relationships/chartStyle" Target="style13.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4.xml"/><Relationship Id="rId1" Type="http://schemas.microsoft.com/office/2011/relationships/chartStyle" Target="style14.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5.xml"/><Relationship Id="rId1" Type="http://schemas.microsoft.com/office/2011/relationships/chartStyle" Target="style15.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6.xml"/><Relationship Id="rId1" Type="http://schemas.microsoft.com/office/2011/relationships/chartStyle" Target="style16.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7.xml"/><Relationship Id="rId1" Type="http://schemas.microsoft.com/office/2011/relationships/chartStyle" Target="style17.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8.xml"/><Relationship Id="rId1" Type="http://schemas.microsoft.com/office/2011/relationships/chartStyle" Target="style18.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19.xml"/><Relationship Id="rId1" Type="http://schemas.microsoft.com/office/2011/relationships/chartStyle" Target="style19.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0.xml"/><Relationship Id="rId1" Type="http://schemas.microsoft.com/office/2011/relationships/chartStyle" Target="style20.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1.xml"/><Relationship Id="rId1" Type="http://schemas.microsoft.com/office/2011/relationships/chartStyle" Target="style21.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2.xml"/><Relationship Id="rId1" Type="http://schemas.microsoft.com/office/2011/relationships/chartStyle" Target="style22.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3.xml"/><Relationship Id="rId1" Type="http://schemas.microsoft.com/office/2011/relationships/chartStyle" Target="style23.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4.xml"/><Relationship Id="rId1" Type="http://schemas.microsoft.com/office/2011/relationships/chartStyle" Target="style24.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5.xml"/><Relationship Id="rId1" Type="http://schemas.microsoft.com/office/2011/relationships/chartStyle" Target="style25.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6.xml"/><Relationship Id="rId1" Type="http://schemas.microsoft.com/office/2011/relationships/chartStyle" Target="style26.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27.xml"/><Relationship Id="rId1" Type="http://schemas.microsoft.com/office/2011/relationships/chartStyle" Target="style27.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28.xml"/><Relationship Id="rId1" Type="http://schemas.microsoft.com/office/2011/relationships/chartStyle" Target="style28.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29.xml"/><Relationship Id="rId1" Type="http://schemas.microsoft.com/office/2011/relationships/chartStyle" Target="style29.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0.xml"/><Relationship Id="rId1" Type="http://schemas.microsoft.com/office/2011/relationships/chartStyle" Target="style30.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1.xml"/><Relationship Id="rId1" Type="http://schemas.microsoft.com/office/2011/relationships/chartStyle" Target="style31.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2.xml"/><Relationship Id="rId1" Type="http://schemas.microsoft.com/office/2011/relationships/chartStyle" Target="style32.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3.xml"/><Relationship Id="rId1" Type="http://schemas.microsoft.com/office/2011/relationships/chartStyle" Target="style33.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4.xml"/><Relationship Id="rId1" Type="http://schemas.microsoft.com/office/2011/relationships/chartStyle" Target="style34.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5.xml"/><Relationship Id="rId1" Type="http://schemas.microsoft.com/office/2011/relationships/chartStyle" Target="style35.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36.xml"/><Relationship Id="rId1" Type="http://schemas.microsoft.com/office/2011/relationships/chartStyle" Target="style36.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37.xml"/><Relationship Id="rId1" Type="http://schemas.microsoft.com/office/2011/relationships/chartStyle" Target="style37.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38.xml"/><Relationship Id="rId1" Type="http://schemas.microsoft.com/office/2011/relationships/chartStyle" Target="style38.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39.xml"/><Relationship Id="rId1" Type="http://schemas.microsoft.com/office/2011/relationships/chartStyle" Target="style39.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0.xml"/><Relationship Id="rId1" Type="http://schemas.microsoft.com/office/2011/relationships/chartStyle" Target="style40.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1.xml"/><Relationship Id="rId1" Type="http://schemas.microsoft.com/office/2011/relationships/chartStyle" Target="style41.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2.xml"/><Relationship Id="rId1" Type="http://schemas.microsoft.com/office/2011/relationships/chartStyle" Target="style42.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43.xml"/><Relationship Id="rId1" Type="http://schemas.microsoft.com/office/2011/relationships/chartStyle" Target="style43.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44.xml"/><Relationship Id="rId1" Type="http://schemas.microsoft.com/office/2011/relationships/chartStyle" Target="style44.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45.xml"/><Relationship Id="rId1" Type="http://schemas.microsoft.com/office/2011/relationships/chartStyle" Target="style45.xml"/></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46.xml"/><Relationship Id="rId1" Type="http://schemas.microsoft.com/office/2011/relationships/chartStyle" Target="style46.xml"/></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47.xml"/><Relationship Id="rId1" Type="http://schemas.microsoft.com/office/2011/relationships/chartStyle" Target="style47.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48.xml"/><Relationship Id="rId1" Type="http://schemas.microsoft.com/office/2011/relationships/chartStyle" Target="style48.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49.xml"/><Relationship Id="rId1" Type="http://schemas.microsoft.com/office/2011/relationships/chartStyle" Target="style49.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54.xlsx"/><Relationship Id="rId2" Type="http://schemas.microsoft.com/office/2011/relationships/chartColorStyle" Target="colors50.xml"/><Relationship Id="rId1" Type="http://schemas.microsoft.com/office/2011/relationships/chartStyle" Target="style50.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51.xml"/><Relationship Id="rId1" Type="http://schemas.microsoft.com/office/2011/relationships/chartStyle" Target="style51.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52.xml"/><Relationship Id="rId1" Type="http://schemas.microsoft.com/office/2011/relationships/chartStyle" Target="style52.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57.xlsx"/><Relationship Id="rId2" Type="http://schemas.microsoft.com/office/2011/relationships/chartColorStyle" Target="colors53.xml"/><Relationship Id="rId1" Type="http://schemas.microsoft.com/office/2011/relationships/chartStyle" Target="style53.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58.xlsx"/><Relationship Id="rId2" Type="http://schemas.microsoft.com/office/2011/relationships/chartColorStyle" Target="colors54.xml"/><Relationship Id="rId1" Type="http://schemas.microsoft.com/office/2011/relationships/chartStyle" Target="style54.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59.xlsx"/><Relationship Id="rId2" Type="http://schemas.microsoft.com/office/2011/relationships/chartColorStyle" Target="colors55.xml"/><Relationship Id="rId1" Type="http://schemas.microsoft.com/office/2011/relationships/chartStyle" Target="style55.xml"/></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60.xlsx"/><Relationship Id="rId2" Type="http://schemas.microsoft.com/office/2011/relationships/chartColorStyle" Target="colors56.xml"/><Relationship Id="rId1" Type="http://schemas.microsoft.com/office/2011/relationships/chartStyle" Target="style56.xml"/></Relationships>
</file>

<file path=ppt/charts/_rels/chart62.xml.rels><?xml version="1.0" encoding="UTF-8" standalone="yes"?>
<Relationships xmlns="http://schemas.openxmlformats.org/package/2006/relationships"><Relationship Id="rId3" Type="http://schemas.openxmlformats.org/officeDocument/2006/relationships/package" Target="../embeddings/Microsoft_Excel_Worksheet61.xlsx"/><Relationship Id="rId2" Type="http://schemas.microsoft.com/office/2011/relationships/chartColorStyle" Target="colors57.xml"/><Relationship Id="rId1" Type="http://schemas.microsoft.com/office/2011/relationships/chartStyle" Target="style57.xml"/></Relationships>
</file>

<file path=ppt/charts/_rels/chart63.xml.rels><?xml version="1.0" encoding="UTF-8" standalone="yes"?>
<Relationships xmlns="http://schemas.openxmlformats.org/package/2006/relationships"><Relationship Id="rId3" Type="http://schemas.openxmlformats.org/officeDocument/2006/relationships/package" Target="../embeddings/Microsoft_Excel_Worksheet62.xlsx"/><Relationship Id="rId2" Type="http://schemas.microsoft.com/office/2011/relationships/chartColorStyle" Target="colors58.xml"/><Relationship Id="rId1" Type="http://schemas.microsoft.com/office/2011/relationships/chartStyle" Target="style58.xml"/></Relationships>
</file>

<file path=ppt/charts/_rels/chart64.xml.rels><?xml version="1.0" encoding="UTF-8" standalone="yes"?>
<Relationships xmlns="http://schemas.openxmlformats.org/package/2006/relationships"><Relationship Id="rId3" Type="http://schemas.openxmlformats.org/officeDocument/2006/relationships/package" Target="../embeddings/Microsoft_Excel_Worksheet63.xlsx"/><Relationship Id="rId2" Type="http://schemas.microsoft.com/office/2011/relationships/chartColorStyle" Target="colors59.xml"/><Relationship Id="rId1" Type="http://schemas.microsoft.com/office/2011/relationships/chartStyle" Target="style59.xml"/></Relationships>
</file>

<file path=ppt/charts/_rels/chart65.xml.rels><?xml version="1.0" encoding="UTF-8" standalone="yes"?>
<Relationships xmlns="http://schemas.openxmlformats.org/package/2006/relationships"><Relationship Id="rId3" Type="http://schemas.openxmlformats.org/officeDocument/2006/relationships/package" Target="../embeddings/Microsoft_Excel_Worksheet64.xlsx"/><Relationship Id="rId2" Type="http://schemas.microsoft.com/office/2011/relationships/chartColorStyle" Target="colors60.xml"/><Relationship Id="rId1" Type="http://schemas.microsoft.com/office/2011/relationships/chartStyle" Target="style60.xml"/></Relationships>
</file>

<file path=ppt/charts/_rels/chart66.xml.rels><?xml version="1.0" encoding="UTF-8" standalone="yes"?>
<Relationships xmlns="http://schemas.openxmlformats.org/package/2006/relationships"><Relationship Id="rId3" Type="http://schemas.openxmlformats.org/officeDocument/2006/relationships/package" Target="../embeddings/Microsoft_Excel_Worksheet65.xlsx"/><Relationship Id="rId2" Type="http://schemas.microsoft.com/office/2011/relationships/chartColorStyle" Target="colors61.xml"/><Relationship Id="rId1" Type="http://schemas.microsoft.com/office/2011/relationships/chartStyle" Target="style61.xml"/></Relationships>
</file>

<file path=ppt/charts/_rels/chart67.xml.rels><?xml version="1.0" encoding="UTF-8" standalone="yes"?>
<Relationships xmlns="http://schemas.openxmlformats.org/package/2006/relationships"><Relationship Id="rId3" Type="http://schemas.openxmlformats.org/officeDocument/2006/relationships/package" Target="../embeddings/Microsoft_Excel_Worksheet66.xlsx"/><Relationship Id="rId2" Type="http://schemas.microsoft.com/office/2011/relationships/chartColorStyle" Target="colors62.xml"/><Relationship Id="rId1" Type="http://schemas.microsoft.com/office/2011/relationships/chartStyle" Target="style62.xml"/></Relationships>
</file>

<file path=ppt/charts/_rels/chart68.xml.rels><?xml version="1.0" encoding="UTF-8" standalone="yes"?>
<Relationships xmlns="http://schemas.openxmlformats.org/package/2006/relationships"><Relationship Id="rId3" Type="http://schemas.openxmlformats.org/officeDocument/2006/relationships/package" Target="../embeddings/Microsoft_Excel_Worksheet67.xlsx"/><Relationship Id="rId2" Type="http://schemas.microsoft.com/office/2011/relationships/chartColorStyle" Target="colors63.xml"/><Relationship Id="rId1" Type="http://schemas.microsoft.com/office/2011/relationships/chartStyle" Target="style63.xml"/></Relationships>
</file>

<file path=ppt/charts/_rels/chart69.xml.rels><?xml version="1.0" encoding="UTF-8" standalone="yes"?>
<Relationships xmlns="http://schemas.openxmlformats.org/package/2006/relationships"><Relationship Id="rId3" Type="http://schemas.openxmlformats.org/officeDocument/2006/relationships/package" Target="../embeddings/Microsoft_Excel_Worksheet68.xlsx"/><Relationship Id="rId2" Type="http://schemas.microsoft.com/office/2011/relationships/chartColorStyle" Target="colors64.xml"/><Relationship Id="rId1" Type="http://schemas.microsoft.com/office/2011/relationships/chartStyle" Target="style64.xml"/></Relationships>
</file>

<file path=ppt/charts/_rels/chart70.xml.rels><?xml version="1.0" encoding="UTF-8" standalone="yes"?>
<Relationships xmlns="http://schemas.openxmlformats.org/package/2006/relationships"><Relationship Id="rId3" Type="http://schemas.openxmlformats.org/officeDocument/2006/relationships/package" Target="../embeddings/Microsoft_Excel_Worksheet69.xlsx"/><Relationship Id="rId2" Type="http://schemas.microsoft.com/office/2011/relationships/chartColorStyle" Target="colors65.xml"/><Relationship Id="rId1" Type="http://schemas.microsoft.com/office/2011/relationships/chartStyle" Target="style65.xml"/></Relationships>
</file>

<file path=ppt/charts/_rels/chart71.xml.rels><?xml version="1.0" encoding="UTF-8" standalone="yes"?>
<Relationships xmlns="http://schemas.openxmlformats.org/package/2006/relationships"><Relationship Id="rId3" Type="http://schemas.openxmlformats.org/officeDocument/2006/relationships/package" Target="../embeddings/Microsoft_Excel_Worksheet70.xlsx"/><Relationship Id="rId2" Type="http://schemas.microsoft.com/office/2011/relationships/chartColorStyle" Target="colors66.xml"/><Relationship Id="rId1" Type="http://schemas.microsoft.com/office/2011/relationships/chartStyle" Target="style66.xml"/></Relationships>
</file>

<file path=ppt/charts/_rels/chart72.xml.rels><?xml version="1.0" encoding="UTF-8" standalone="yes"?>
<Relationships xmlns="http://schemas.openxmlformats.org/package/2006/relationships"><Relationship Id="rId3" Type="http://schemas.openxmlformats.org/officeDocument/2006/relationships/package" Target="../embeddings/Microsoft_Excel_Worksheet71.xlsx"/><Relationship Id="rId2" Type="http://schemas.microsoft.com/office/2011/relationships/chartColorStyle" Target="colors67.xml"/><Relationship Id="rId1" Type="http://schemas.microsoft.com/office/2011/relationships/chartStyle" Target="style67.xml"/></Relationships>
</file>

<file path=ppt/charts/_rels/chart73.xml.rels><?xml version="1.0" encoding="UTF-8" standalone="yes"?>
<Relationships xmlns="http://schemas.openxmlformats.org/package/2006/relationships"><Relationship Id="rId3" Type="http://schemas.openxmlformats.org/officeDocument/2006/relationships/package" Target="../embeddings/Microsoft_Excel_Worksheet72.xlsx"/><Relationship Id="rId2" Type="http://schemas.microsoft.com/office/2011/relationships/chartColorStyle" Target="colors68.xml"/><Relationship Id="rId1" Type="http://schemas.microsoft.com/office/2011/relationships/chartStyle" Target="style68.xml"/></Relationships>
</file>

<file path=ppt/charts/_rels/chart74.xml.rels><?xml version="1.0" encoding="UTF-8" standalone="yes"?>
<Relationships xmlns="http://schemas.openxmlformats.org/package/2006/relationships"><Relationship Id="rId3" Type="http://schemas.openxmlformats.org/officeDocument/2006/relationships/package" Target="../embeddings/Microsoft_Excel_Worksheet73.xlsx"/><Relationship Id="rId2" Type="http://schemas.microsoft.com/office/2011/relationships/chartColorStyle" Target="colors69.xml"/><Relationship Id="rId1" Type="http://schemas.microsoft.com/office/2011/relationships/chartStyle" Target="style69.xml"/></Relationships>
</file>

<file path=ppt/charts/_rels/chart75.xml.rels><?xml version="1.0" encoding="UTF-8" standalone="yes"?>
<Relationships xmlns="http://schemas.openxmlformats.org/package/2006/relationships"><Relationship Id="rId3" Type="http://schemas.openxmlformats.org/officeDocument/2006/relationships/package" Target="../embeddings/Microsoft_Excel_Worksheet74.xlsx"/><Relationship Id="rId2" Type="http://schemas.microsoft.com/office/2011/relationships/chartColorStyle" Target="colors70.xml"/><Relationship Id="rId1" Type="http://schemas.microsoft.com/office/2011/relationships/chartStyle" Target="style70.xml"/></Relationships>
</file>

<file path=ppt/charts/_rels/chart76.xml.rels><?xml version="1.0" encoding="UTF-8" standalone="yes"?>
<Relationships xmlns="http://schemas.openxmlformats.org/package/2006/relationships"><Relationship Id="rId3" Type="http://schemas.openxmlformats.org/officeDocument/2006/relationships/package" Target="../embeddings/Microsoft_Excel_Worksheet75.xlsx"/><Relationship Id="rId2" Type="http://schemas.microsoft.com/office/2011/relationships/chartColorStyle" Target="colors71.xml"/><Relationship Id="rId1" Type="http://schemas.microsoft.com/office/2011/relationships/chartStyle" Target="style71.xml"/></Relationships>
</file>

<file path=ppt/charts/_rels/chart77.xml.rels><?xml version="1.0" encoding="UTF-8" standalone="yes"?>
<Relationships xmlns="http://schemas.openxmlformats.org/package/2006/relationships"><Relationship Id="rId3" Type="http://schemas.openxmlformats.org/officeDocument/2006/relationships/package" Target="../embeddings/Microsoft_Excel_Worksheet76.xlsx"/><Relationship Id="rId2" Type="http://schemas.microsoft.com/office/2011/relationships/chartColorStyle" Target="colors72.xml"/><Relationship Id="rId1" Type="http://schemas.microsoft.com/office/2011/relationships/chartStyle" Target="style72.xml"/></Relationships>
</file>

<file path=ppt/charts/_rels/chart78.xml.rels><?xml version="1.0" encoding="UTF-8" standalone="yes"?>
<Relationships xmlns="http://schemas.openxmlformats.org/package/2006/relationships"><Relationship Id="rId3" Type="http://schemas.openxmlformats.org/officeDocument/2006/relationships/package" Target="../embeddings/Microsoft_Excel_Worksheet77.xlsx"/><Relationship Id="rId2" Type="http://schemas.microsoft.com/office/2011/relationships/chartColorStyle" Target="colors73.xml"/><Relationship Id="rId1" Type="http://schemas.microsoft.com/office/2011/relationships/chartStyle" Target="style73.xml"/></Relationships>
</file>

<file path=ppt/charts/_rels/chart79.xml.rels><?xml version="1.0" encoding="UTF-8" standalone="yes"?>
<Relationships xmlns="http://schemas.openxmlformats.org/package/2006/relationships"><Relationship Id="rId3" Type="http://schemas.openxmlformats.org/officeDocument/2006/relationships/package" Target="../embeddings/Microsoft_Excel_Worksheet78.xlsx"/><Relationship Id="rId2" Type="http://schemas.microsoft.com/office/2011/relationships/chartColorStyle" Target="colors74.xml"/><Relationship Id="rId1" Type="http://schemas.microsoft.com/office/2011/relationships/chartStyle" Target="style74.xml"/></Relationships>
</file>

<file path=ppt/charts/_rels/chart80.xml.rels><?xml version="1.0" encoding="UTF-8" standalone="yes"?>
<Relationships xmlns="http://schemas.openxmlformats.org/package/2006/relationships"><Relationship Id="rId3" Type="http://schemas.openxmlformats.org/officeDocument/2006/relationships/package" Target="../embeddings/Microsoft_Excel_Worksheet79.xlsx"/><Relationship Id="rId2" Type="http://schemas.microsoft.com/office/2011/relationships/chartColorStyle" Target="colors75.xml"/><Relationship Id="rId1" Type="http://schemas.microsoft.com/office/2011/relationships/chartStyle" Target="style75.xml"/></Relationships>
</file>

<file path=ppt/charts/_rels/chart81.xml.rels><?xml version="1.0" encoding="UTF-8" standalone="yes"?>
<Relationships xmlns="http://schemas.openxmlformats.org/package/2006/relationships"><Relationship Id="rId3" Type="http://schemas.openxmlformats.org/officeDocument/2006/relationships/package" Target="../embeddings/Microsoft_Excel_Worksheet80.xlsx"/><Relationship Id="rId2" Type="http://schemas.microsoft.com/office/2011/relationships/chartColorStyle" Target="colors76.xml"/><Relationship Id="rId1" Type="http://schemas.microsoft.com/office/2011/relationships/chartStyle" Target="style7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188807302992374E-3"/>
          <c:y val="6.1636411506648843E-2"/>
          <c:w val="0.96896260405789802"/>
          <c:h val="0.72620152844138464"/>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3"/>
              <c:spPr>
                <a:noFill/>
                <a:ln>
                  <a:noFill/>
                </a:ln>
                <a:effectLst/>
              </c:spPr>
              <c:txPr>
                <a:bodyPr wrap="square" lIns="38100" tIns="19050" rIns="38100" bIns="19050" anchor="ctr">
                  <a:spAutoFit/>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8B-4DE5-A351-0493F433AB0C}"/>
                </c:ext>
              </c:extLst>
            </c:dLbl>
            <c:spPr>
              <a:noFill/>
              <a:ln>
                <a:noFill/>
              </a:ln>
              <a:effectLst/>
            </c:spPr>
            <c:txPr>
              <a:bodyPr rot="0" spcFirstLastPara="1" vertOverflow="ellipsis" vert="horz" wrap="none" anchor="ctr" anchorCtr="1"/>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Private
Office</c:v>
                </c:pt>
                <c:pt idx="1">
                  <c:v>Public Health Center</c:v>
                </c:pt>
                <c:pt idx="2">
                  <c:v>Hospital</c:v>
                </c:pt>
                <c:pt idx="3">
                  <c:v>University / Academia</c:v>
                </c:pt>
              </c:strCache>
            </c:strRef>
          </c:cat>
          <c:val>
            <c:numRef>
              <c:f>Sheet1!$B$2:$B$5</c:f>
              <c:numCache>
                <c:formatCode>0%</c:formatCode>
                <c:ptCount val="4"/>
                <c:pt idx="0">
                  <c:v>0.87</c:v>
                </c:pt>
                <c:pt idx="1">
                  <c:v>0.1</c:v>
                </c:pt>
                <c:pt idx="2">
                  <c:v>0.03</c:v>
                </c:pt>
                <c:pt idx="3">
                  <c:v>0.01</c:v>
                </c:pt>
              </c:numCache>
            </c:numRef>
          </c:val>
          <c:extLst>
            <c:ext xmlns:c16="http://schemas.microsoft.com/office/drawing/2014/chart" uri="{C3380CC4-5D6E-409C-BE32-E72D297353CC}">
              <c16:uniqueId val="{00000001-048B-4DE5-A351-0493F433AB0C}"/>
            </c:ext>
          </c:extLst>
        </c:ser>
        <c:dLbls>
          <c:dLblPos val="outEnd"/>
          <c:showLegendKey val="0"/>
          <c:showVal val="1"/>
          <c:showCatName val="0"/>
          <c:showSerName val="0"/>
          <c:showPercent val="0"/>
          <c:showBubbleSize val="0"/>
        </c:dLbls>
        <c:gapWidth val="20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633928079956593"/>
          <c:y val="5.2951374048150666E-2"/>
          <c:w val="0.76726595284708121"/>
          <c:h val="0.7346407288658634"/>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spPr>
              <a:noFill/>
              <a:ln>
                <a:noFill/>
              </a:ln>
              <a:effectLst/>
            </c:spPr>
            <c:txPr>
              <a:bodyPr rot="0" spcFirstLastPara="1" vertOverflow="ellipsis" vert="horz" wrap="none" lIns="38100" tIns="19050" rIns="38100" bIns="19050" anchor="ctr" anchorCtr="1">
                <a:spAutoFit/>
              </a:bodyPr>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PBG</c:v>
                </c:pt>
                <c:pt idx="1">
                  <c:v>IDN</c:v>
                </c:pt>
              </c:strCache>
            </c:strRef>
          </c:cat>
          <c:val>
            <c:numRef>
              <c:f>Sheet1!$B$2:$B$3</c:f>
              <c:numCache>
                <c:formatCode>0%</c:formatCode>
                <c:ptCount val="2"/>
                <c:pt idx="0">
                  <c:v>0.49</c:v>
                </c:pt>
                <c:pt idx="1">
                  <c:v>0.23</c:v>
                </c:pt>
              </c:numCache>
            </c:numRef>
          </c:val>
          <c:extLst>
            <c:ext xmlns:c16="http://schemas.microsoft.com/office/drawing/2014/chart" uri="{C3380CC4-5D6E-409C-BE32-E72D297353CC}">
              <c16:uniqueId val="{00000001-048B-4DE5-A351-0493F433AB0C}"/>
            </c:ext>
          </c:extLst>
        </c:ser>
        <c:dLbls>
          <c:dLblPos val="outEnd"/>
          <c:showLegendKey val="0"/>
          <c:showVal val="1"/>
          <c:showCatName val="0"/>
          <c:showSerName val="0"/>
          <c:showPercent val="0"/>
          <c:showBubbleSize val="0"/>
        </c:dLbls>
        <c:gapWidth val="15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28847733038503E-2"/>
          <c:y val="6.0795262209487208E-2"/>
          <c:w val="0.92736623085876912"/>
          <c:h val="0.73586020673065478"/>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3"/>
              <c:delete val="1"/>
              <c:extLst>
                <c:ext xmlns:c15="http://schemas.microsoft.com/office/drawing/2012/chart" uri="{CE6537A1-D6FC-4f65-9D91-7224C49458BB}"/>
                <c:ext xmlns:c16="http://schemas.microsoft.com/office/drawing/2014/chart" uri="{C3380CC4-5D6E-409C-BE32-E72D297353CC}">
                  <c16:uniqueId val="{00000000-E0AA-4DEF-9847-79EA44285B19}"/>
                </c:ext>
              </c:extLst>
            </c:dLbl>
            <c:spPr>
              <a:noFill/>
              <a:ln>
                <a:noFill/>
              </a:ln>
              <a:effectLst/>
            </c:spPr>
            <c:txPr>
              <a:bodyPr rot="0" spcFirstLastPara="1" vertOverflow="ellipsis" vert="horz" wrap="none" anchor="ctr" anchorCtr="1"/>
              <a:lstStyle/>
              <a:p>
                <a:pPr>
                  <a:defRPr sz="12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Primary</c:v>
                </c:pt>
                <c:pt idx="1">
                  <c:v>Part of
a team</c:v>
                </c:pt>
                <c:pt idx="2">
                  <c:v>Provide
input</c:v>
                </c:pt>
              </c:strCache>
            </c:strRef>
          </c:cat>
          <c:val>
            <c:numRef>
              <c:f>Sheet1!$B$2:$B$4</c:f>
              <c:numCache>
                <c:formatCode>0%</c:formatCode>
                <c:ptCount val="3"/>
                <c:pt idx="0">
                  <c:v>0.35</c:v>
                </c:pt>
                <c:pt idx="1">
                  <c:v>0.53</c:v>
                </c:pt>
                <c:pt idx="2">
                  <c:v>0.12</c:v>
                </c:pt>
              </c:numCache>
            </c:numRef>
          </c:val>
          <c:extLst>
            <c:ext xmlns:c16="http://schemas.microsoft.com/office/drawing/2014/chart" uri="{C3380CC4-5D6E-409C-BE32-E72D297353CC}">
              <c16:uniqueId val="{00000001-E0AA-4DEF-9847-79EA44285B19}"/>
            </c:ext>
          </c:extLst>
        </c:ser>
        <c:dLbls>
          <c:dLblPos val="outEnd"/>
          <c:showLegendKey val="0"/>
          <c:showVal val="1"/>
          <c:showCatName val="0"/>
          <c:showSerName val="0"/>
          <c:showPercent val="0"/>
          <c:showBubbleSize val="0"/>
        </c:dLbls>
        <c:gapWidth val="125"/>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546377508601504E-2"/>
          <c:y val="7.0321448965147013E-2"/>
          <c:w val="0.91974972433423652"/>
          <c:h val="0.72176069255872255"/>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823-4E33-AA87-5A89786F9FDF}"/>
                </c:ext>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Single-specialty group</c:v>
                </c:pt>
                <c:pt idx="1">
                  <c:v>Multi-specialty group</c:v>
                </c:pt>
                <c:pt idx="2">
                  <c:v>Solo practice</c:v>
                </c:pt>
                <c:pt idx="3">
                  <c:v>Two-person partnership</c:v>
                </c:pt>
                <c:pt idx="4">
                  <c:v>Hospital</c:v>
                </c:pt>
              </c:strCache>
            </c:strRef>
          </c:cat>
          <c:val>
            <c:numRef>
              <c:f>Sheet1!$B$2:$B$6</c:f>
              <c:numCache>
                <c:formatCode>0%</c:formatCode>
                <c:ptCount val="5"/>
                <c:pt idx="0">
                  <c:v>0.61</c:v>
                </c:pt>
                <c:pt idx="1">
                  <c:v>0.27</c:v>
                </c:pt>
                <c:pt idx="2">
                  <c:v>0.1</c:v>
                </c:pt>
                <c:pt idx="3">
                  <c:v>0.02</c:v>
                </c:pt>
                <c:pt idx="4">
                  <c:v>0</c:v>
                </c:pt>
              </c:numCache>
            </c:numRef>
          </c:val>
          <c:extLst>
            <c:ext xmlns:c16="http://schemas.microsoft.com/office/drawing/2014/chart" uri="{C3380CC4-5D6E-409C-BE32-E72D297353CC}">
              <c16:uniqueId val="{00000001-A4C9-4049-9E92-2184457C3362}"/>
            </c:ext>
          </c:extLst>
        </c:ser>
        <c:dLbls>
          <c:dLblPos val="outEnd"/>
          <c:showLegendKey val="0"/>
          <c:showVal val="1"/>
          <c:showCatName val="0"/>
          <c:showSerName val="0"/>
          <c:showPercent val="0"/>
          <c:showBubbleSize val="0"/>
        </c:dLbls>
        <c:gapWidth val="20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190878084801361E-2"/>
          <c:y val="0.10209437079464384"/>
          <c:w val="0.92395271985150507"/>
          <c:h val="0.6614220557633661"/>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3"/>
              <c:delete val="1"/>
              <c:extLst>
                <c:ext xmlns:c15="http://schemas.microsoft.com/office/drawing/2012/chart" uri="{CE6537A1-D6FC-4f65-9D91-7224C49458BB}"/>
                <c:ext xmlns:c16="http://schemas.microsoft.com/office/drawing/2014/chart" uri="{C3380CC4-5D6E-409C-BE32-E72D297353CC}">
                  <c16:uniqueId val="{00000000-B8C7-473E-A237-828BFB27B4CC}"/>
                </c:ext>
              </c:extLst>
            </c:dLbl>
            <c:spPr>
              <a:noFill/>
              <a:ln>
                <a:noFill/>
              </a:ln>
              <a:effectLst/>
            </c:spPr>
            <c:txPr>
              <a:bodyPr rot="0" spcFirstLastPara="1" vertOverflow="ellipsis" vert="horz" wrap="none" anchor="ctr" anchorCtr="1"/>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Tier 1</c:v>
                </c:pt>
                <c:pt idx="1">
                  <c:v>Tier 2</c:v>
                </c:pt>
                <c:pt idx="2">
                  <c:v>Tier 3</c:v>
                </c:pt>
              </c:strCache>
            </c:strRef>
          </c:cat>
          <c:val>
            <c:numRef>
              <c:f>Sheet1!$B$2:$B$4</c:f>
              <c:numCache>
                <c:formatCode>0%</c:formatCode>
                <c:ptCount val="3"/>
                <c:pt idx="0">
                  <c:v>0.66</c:v>
                </c:pt>
                <c:pt idx="1">
                  <c:v>0.2</c:v>
                </c:pt>
                <c:pt idx="2">
                  <c:v>0.15</c:v>
                </c:pt>
              </c:numCache>
            </c:numRef>
          </c:val>
          <c:extLst>
            <c:ext xmlns:c16="http://schemas.microsoft.com/office/drawing/2014/chart" uri="{C3380CC4-5D6E-409C-BE32-E72D297353CC}">
              <c16:uniqueId val="{00000001-B8C7-473E-A237-828BFB27B4CC}"/>
            </c:ext>
          </c:extLst>
        </c:ser>
        <c:dLbls>
          <c:dLblPos val="outEnd"/>
          <c:showLegendKey val="0"/>
          <c:showVal val="1"/>
          <c:showCatName val="0"/>
          <c:showSerName val="0"/>
          <c:showPercent val="0"/>
          <c:showBubbleSize val="0"/>
        </c:dLbls>
        <c:gapWidth val="12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190878084801361E-2"/>
          <c:y val="0.10209400543024688"/>
          <c:w val="0.92395271985150507"/>
          <c:h val="0.64806467915213262"/>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3"/>
              <c:delete val="1"/>
              <c:extLst>
                <c:ext xmlns:c15="http://schemas.microsoft.com/office/drawing/2012/chart" uri="{CE6537A1-D6FC-4f65-9D91-7224C49458BB}"/>
                <c:ext xmlns:c16="http://schemas.microsoft.com/office/drawing/2014/chart" uri="{C3380CC4-5D6E-409C-BE32-E72D297353CC}">
                  <c16:uniqueId val="{00000000-B8C7-473E-A237-828BFB27B4CC}"/>
                </c:ext>
              </c:extLst>
            </c:dLbl>
            <c:spPr>
              <a:noFill/>
              <a:ln>
                <a:noFill/>
              </a:ln>
              <a:effectLst/>
            </c:spPr>
            <c:txPr>
              <a:bodyPr rot="0" spcFirstLastPara="1" vertOverflow="ellipsis" vert="horz" wrap="none" anchor="ctr" anchorCtr="1"/>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Suburban</c:v>
                </c:pt>
                <c:pt idx="1">
                  <c:v>Urban</c:v>
                </c:pt>
                <c:pt idx="2">
                  <c:v>Rural</c:v>
                </c:pt>
              </c:strCache>
            </c:strRef>
          </c:cat>
          <c:val>
            <c:numRef>
              <c:f>Sheet1!$B$2:$B$4</c:f>
              <c:numCache>
                <c:formatCode>0%</c:formatCode>
                <c:ptCount val="3"/>
                <c:pt idx="0">
                  <c:v>0.65</c:v>
                </c:pt>
                <c:pt idx="1">
                  <c:v>0.23</c:v>
                </c:pt>
                <c:pt idx="2">
                  <c:v>0.13</c:v>
                </c:pt>
              </c:numCache>
            </c:numRef>
          </c:val>
          <c:extLst>
            <c:ext xmlns:c16="http://schemas.microsoft.com/office/drawing/2014/chart" uri="{C3380CC4-5D6E-409C-BE32-E72D297353CC}">
              <c16:uniqueId val="{00000001-B8C7-473E-A237-828BFB27B4CC}"/>
            </c:ext>
          </c:extLst>
        </c:ser>
        <c:dLbls>
          <c:dLblPos val="outEnd"/>
          <c:showLegendKey val="0"/>
          <c:showVal val="1"/>
          <c:showCatName val="0"/>
          <c:showSerName val="0"/>
          <c:showPercent val="0"/>
          <c:showBubbleSize val="0"/>
        </c:dLbls>
        <c:gapWidth val="12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170272101836953"/>
          <c:y val="0.21442063832509276"/>
          <c:w val="0.24113226955775005"/>
          <c:h val="0.50293534309067234"/>
        </c:manualLayout>
      </c:layout>
      <c:pieChart>
        <c:varyColors val="1"/>
        <c:ser>
          <c:idx val="0"/>
          <c:order val="0"/>
          <c:spPr>
            <a:ln>
              <a:noFill/>
            </a:ln>
          </c:spPr>
          <c:dPt>
            <c:idx val="0"/>
            <c:bubble3D val="0"/>
            <c:spPr>
              <a:solidFill>
                <a:schemeClr val="accent3">
                  <a:lumMod val="40000"/>
                  <a:lumOff val="60000"/>
                </a:schemeClr>
              </a:solidFill>
              <a:ln w="19050">
                <a:noFill/>
              </a:ln>
              <a:effectLst/>
            </c:spPr>
            <c:extLst>
              <c:ext xmlns:c16="http://schemas.microsoft.com/office/drawing/2014/chart" uri="{C3380CC4-5D6E-409C-BE32-E72D297353CC}">
                <c16:uniqueId val="{00000001-3AD2-4068-9A83-C5E1DC7D9CBF}"/>
              </c:ext>
            </c:extLst>
          </c:dPt>
          <c:dPt>
            <c:idx val="1"/>
            <c:bubble3D val="0"/>
            <c:spPr>
              <a:solidFill>
                <a:schemeClr val="accent3"/>
              </a:solidFill>
              <a:ln w="19050">
                <a:noFill/>
              </a:ln>
              <a:effectLst/>
            </c:spPr>
            <c:extLst>
              <c:ext xmlns:c16="http://schemas.microsoft.com/office/drawing/2014/chart" uri="{C3380CC4-5D6E-409C-BE32-E72D297353CC}">
                <c16:uniqueId val="{00000003-3AD2-4068-9A83-C5E1DC7D9CBF}"/>
              </c:ext>
            </c:extLst>
          </c:dPt>
          <c:dPt>
            <c:idx val="2"/>
            <c:bubble3D val="0"/>
            <c:spPr>
              <a:solidFill>
                <a:schemeClr val="tx1">
                  <a:lumMod val="50000"/>
                  <a:lumOff val="50000"/>
                </a:schemeClr>
              </a:solidFill>
              <a:ln w="19050">
                <a:noFill/>
              </a:ln>
              <a:effectLst/>
            </c:spPr>
            <c:extLst>
              <c:ext xmlns:c16="http://schemas.microsoft.com/office/drawing/2014/chart" uri="{C3380CC4-5D6E-409C-BE32-E72D297353CC}">
                <c16:uniqueId val="{00000005-3AD2-4068-9A83-C5E1DC7D9CBF}"/>
              </c:ext>
            </c:extLst>
          </c:dPt>
          <c:dLbls>
            <c:dLbl>
              <c:idx val="1"/>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3AD2-4068-9A83-C5E1DC7D9CB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Public Funding</c:v>
                </c:pt>
                <c:pt idx="1">
                  <c:v>Private Insurance</c:v>
                </c:pt>
                <c:pt idx="2">
                  <c:v>Other</c:v>
                </c:pt>
              </c:strCache>
            </c:strRef>
          </c:cat>
          <c:val>
            <c:numRef>
              <c:f>Sheet1!$B$2:$B$4</c:f>
              <c:numCache>
                <c:formatCode>0%</c:formatCode>
                <c:ptCount val="3"/>
                <c:pt idx="0">
                  <c:v>0.31</c:v>
                </c:pt>
                <c:pt idx="1">
                  <c:v>0.66</c:v>
                </c:pt>
                <c:pt idx="2">
                  <c:v>0.03</c:v>
                </c:pt>
              </c:numCache>
            </c:numRef>
          </c:val>
          <c:extLst>
            <c:ext xmlns:c16="http://schemas.microsoft.com/office/drawing/2014/chart" uri="{C3380CC4-5D6E-409C-BE32-E72D297353CC}">
              <c16:uniqueId val="{00000006-3AD2-4068-9A83-C5E1DC7D9CB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2373070159279E-2"/>
          <c:y val="0.14062725660795489"/>
          <c:w val="0.92395271985150507"/>
          <c:h val="0.64395869262071748"/>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3"/>
              <c:delete val="1"/>
              <c:extLst>
                <c:ext xmlns:c15="http://schemas.microsoft.com/office/drawing/2012/chart" uri="{CE6537A1-D6FC-4f65-9D91-7224C49458BB}"/>
                <c:ext xmlns:c16="http://schemas.microsoft.com/office/drawing/2014/chart" uri="{C3380CC4-5D6E-409C-BE32-E72D297353CC}">
                  <c16:uniqueId val="{00000000-048B-4DE5-A351-0493F433AB0C}"/>
                </c:ext>
              </c:extLst>
            </c:dLbl>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Northeast</c:v>
                </c:pt>
                <c:pt idx="1">
                  <c:v>Southeast</c:v>
                </c:pt>
                <c:pt idx="2">
                  <c:v>West</c:v>
                </c:pt>
              </c:strCache>
            </c:strRef>
          </c:cat>
          <c:val>
            <c:numRef>
              <c:f>Sheet1!$B$2:$B$4</c:f>
              <c:numCache>
                <c:formatCode>0%</c:formatCode>
                <c:ptCount val="3"/>
                <c:pt idx="0">
                  <c:v>0.46</c:v>
                </c:pt>
                <c:pt idx="1">
                  <c:v>0.33</c:v>
                </c:pt>
                <c:pt idx="2">
                  <c:v>0.27</c:v>
                </c:pt>
              </c:numCache>
            </c:numRef>
          </c:val>
          <c:extLst>
            <c:ext xmlns:c16="http://schemas.microsoft.com/office/drawing/2014/chart" uri="{C3380CC4-5D6E-409C-BE32-E72D297353CC}">
              <c16:uniqueId val="{00000001-048B-4DE5-A351-0493F433AB0C}"/>
            </c:ext>
          </c:extLst>
        </c:ser>
        <c:dLbls>
          <c:dLblPos val="outEnd"/>
          <c:showLegendKey val="0"/>
          <c:showVal val="1"/>
          <c:showCatName val="0"/>
          <c:showSerName val="0"/>
          <c:showPercent val="0"/>
          <c:showBubbleSize val="0"/>
        </c:dLbls>
        <c:gapWidth val="14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583402784151042E-4"/>
          <c:y val="0.13898290537596064"/>
          <c:w val="0.99693479191544732"/>
          <c:h val="0.63628122492688177"/>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25A-427E-99C0-626EA654A60A}"/>
                </c:ext>
              </c:extLst>
            </c:dLbl>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MenQuadfi</c:v>
                </c:pt>
                <c:pt idx="1">
                  <c:v>Bexsero</c:v>
                </c:pt>
                <c:pt idx="2">
                  <c:v>Trumemba</c:v>
                </c:pt>
                <c:pt idx="3">
                  <c:v>Menveo</c:v>
                </c:pt>
                <c:pt idx="4">
                  <c:v>Penbraya</c:v>
                </c:pt>
              </c:strCache>
            </c:strRef>
          </c:cat>
          <c:val>
            <c:numRef>
              <c:f>Sheet1!$B$2:$B$6</c:f>
              <c:numCache>
                <c:formatCode>0%</c:formatCode>
                <c:ptCount val="5"/>
                <c:pt idx="0">
                  <c:v>0.76</c:v>
                </c:pt>
                <c:pt idx="1">
                  <c:v>0.67</c:v>
                </c:pt>
                <c:pt idx="2">
                  <c:v>0.51</c:v>
                </c:pt>
                <c:pt idx="3">
                  <c:v>0.39</c:v>
                </c:pt>
                <c:pt idx="4">
                  <c:v>0.17</c:v>
                </c:pt>
              </c:numCache>
            </c:numRef>
          </c:val>
          <c:extLst>
            <c:ext xmlns:c16="http://schemas.microsoft.com/office/drawing/2014/chart" uri="{C3380CC4-5D6E-409C-BE32-E72D297353CC}">
              <c16:uniqueId val="{00000001-925A-427E-99C0-626EA654A60A}"/>
            </c:ext>
          </c:extLst>
        </c:ser>
        <c:dLbls>
          <c:dLblPos val="outEnd"/>
          <c:showLegendKey val="0"/>
          <c:showVal val="1"/>
          <c:showCatName val="0"/>
          <c:showSerName val="0"/>
          <c:showPercent val="0"/>
          <c:showBubbleSize val="0"/>
        </c:dLbls>
        <c:gapWidth val="153"/>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18833178205421E-3"/>
          <c:y val="0.10209425354594651"/>
          <c:w val="0.96896260405789802"/>
          <c:h val="0.62470864255177438"/>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3"/>
              <c:delete val="1"/>
              <c:extLst>
                <c:ext xmlns:c15="http://schemas.microsoft.com/office/drawing/2012/chart" uri="{CE6537A1-D6FC-4f65-9D91-7224C49458BB}"/>
                <c:ext xmlns:c16="http://schemas.microsoft.com/office/drawing/2014/chart" uri="{C3380CC4-5D6E-409C-BE32-E72D297353CC}">
                  <c16:uniqueId val="{00000000-F670-4A78-810F-412A39DFA0EF}"/>
                </c:ext>
              </c:extLst>
            </c:dLbl>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MenACWY</c:v>
                </c:pt>
                <c:pt idx="1">
                  <c:v>MenB</c:v>
                </c:pt>
                <c:pt idx="2">
                  <c:v>MenABCWY</c:v>
                </c:pt>
              </c:strCache>
            </c:strRef>
          </c:cat>
          <c:val>
            <c:numRef>
              <c:f>Sheet1!$B$2:$B$4</c:f>
              <c:numCache>
                <c:formatCode>0</c:formatCode>
                <c:ptCount val="3"/>
                <c:pt idx="0">
                  <c:v>401</c:v>
                </c:pt>
                <c:pt idx="1">
                  <c:v>269</c:v>
                </c:pt>
                <c:pt idx="2">
                  <c:v>46</c:v>
                </c:pt>
              </c:numCache>
            </c:numRef>
          </c:val>
          <c:extLst>
            <c:ext xmlns:c16="http://schemas.microsoft.com/office/drawing/2014/chart" uri="{C3380CC4-5D6E-409C-BE32-E72D297353CC}">
              <c16:uniqueId val="{00000001-F670-4A78-810F-412A39DFA0EF}"/>
            </c:ext>
          </c:extLst>
        </c:ser>
        <c:dLbls>
          <c:dLblPos val="outEnd"/>
          <c:showLegendKey val="0"/>
          <c:showVal val="1"/>
          <c:showCatName val="0"/>
          <c:showSerName val="0"/>
          <c:showPercent val="0"/>
          <c:showBubbleSize val="0"/>
        </c:dLbls>
        <c:gapWidth val="13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500"/>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18833178205421E-3"/>
          <c:y val="0.10209425354594651"/>
          <c:w val="0.99175728910226169"/>
          <c:h val="0.66800665774143364"/>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C5-40FF-A3EA-D3C0F26BA1C1}"/>
                </c:ext>
              </c:extLst>
            </c:dLbl>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MenACWY &amp; MenB</c:v>
                </c:pt>
                <c:pt idx="1">
                  <c:v>MenACWY only</c:v>
                </c:pt>
                <c:pt idx="2">
                  <c:v>MenABCWY</c:v>
                </c:pt>
                <c:pt idx="3">
                  <c:v>Men B only</c:v>
                </c:pt>
                <c:pt idx="4">
                  <c:v>No Mening. Vx</c:v>
                </c:pt>
              </c:strCache>
            </c:strRef>
          </c:cat>
          <c:val>
            <c:numRef>
              <c:f>Sheet1!$B$2:$B$6</c:f>
              <c:numCache>
                <c:formatCode>0%</c:formatCode>
                <c:ptCount val="5"/>
                <c:pt idx="0">
                  <c:v>0.63</c:v>
                </c:pt>
                <c:pt idx="1">
                  <c:v>0.24</c:v>
                </c:pt>
                <c:pt idx="2">
                  <c:v>0.06</c:v>
                </c:pt>
                <c:pt idx="3">
                  <c:v>0.03</c:v>
                </c:pt>
                <c:pt idx="4">
                  <c:v>0.04</c:v>
                </c:pt>
              </c:numCache>
            </c:numRef>
          </c:val>
          <c:extLst>
            <c:ext xmlns:c16="http://schemas.microsoft.com/office/drawing/2014/chart" uri="{C3380CC4-5D6E-409C-BE32-E72D297353CC}">
              <c16:uniqueId val="{00000001-8CA3-487A-8122-03DA51B9A734}"/>
            </c:ext>
          </c:extLst>
        </c:ser>
        <c:dLbls>
          <c:dLblPos val="outEnd"/>
          <c:showLegendKey val="0"/>
          <c:showVal val="1"/>
          <c:showCatName val="0"/>
          <c:showSerName val="0"/>
          <c:showPercent val="0"/>
          <c:showBubbleSize val="0"/>
        </c:dLbls>
        <c:gapWidth val="150"/>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546377508601504E-2"/>
          <c:y val="1.8839175594149257E-2"/>
          <c:w val="0.93274492077841742"/>
          <c:h val="0.64176176872085755"/>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823-4E33-AA87-5A89786F9FDF}"/>
                </c:ext>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Directly
negotiated
with mfr</c:v>
                </c:pt>
                <c:pt idx="1">
                  <c:v>Wholesaler,
distributor,
direct mfr</c:v>
                </c:pt>
                <c:pt idx="2">
                  <c:v>Negotiated
by PBG</c:v>
                </c:pt>
                <c:pt idx="3">
                  <c:v>Directly
negotiated
w/ GPO (LOC)</c:v>
                </c:pt>
                <c:pt idx="4">
                  <c:v>Unsure</c:v>
                </c:pt>
              </c:strCache>
            </c:strRef>
          </c:cat>
          <c:val>
            <c:numRef>
              <c:f>Sheet1!$B$2:$B$6</c:f>
              <c:numCache>
                <c:formatCode>0%</c:formatCode>
                <c:ptCount val="5"/>
                <c:pt idx="0">
                  <c:v>0.47000000000000003</c:v>
                </c:pt>
                <c:pt idx="1">
                  <c:v>0.33</c:v>
                </c:pt>
                <c:pt idx="2">
                  <c:v>0.27</c:v>
                </c:pt>
                <c:pt idx="3">
                  <c:v>0.04</c:v>
                </c:pt>
                <c:pt idx="4">
                  <c:v>0.15</c:v>
                </c:pt>
              </c:numCache>
            </c:numRef>
          </c:val>
          <c:extLst>
            <c:ext xmlns:c16="http://schemas.microsoft.com/office/drawing/2014/chart" uri="{C3380CC4-5D6E-409C-BE32-E72D297353CC}">
              <c16:uniqueId val="{00000001-A4C9-4049-9E92-2184457C3362}"/>
            </c:ext>
          </c:extLst>
        </c:ser>
        <c:dLbls>
          <c:dLblPos val="outEnd"/>
          <c:showLegendKey val="0"/>
          <c:showVal val="1"/>
          <c:showCatName val="0"/>
          <c:showSerName val="0"/>
          <c:showPercent val="0"/>
          <c:showBubbleSize val="0"/>
        </c:dLbls>
        <c:gapWidth val="155"/>
        <c:overlap val="-27"/>
        <c:axId val="890555040"/>
        <c:axId val="890564640"/>
      </c:barChart>
      <c:catAx>
        <c:axId val="89055504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890564640"/>
        <c:crosses val="autoZero"/>
        <c:auto val="1"/>
        <c:lblAlgn val="ctr"/>
        <c:lblOffset val="0"/>
        <c:noMultiLvlLbl val="0"/>
      </c:catAx>
      <c:valAx>
        <c:axId val="890564640"/>
        <c:scaling>
          <c:orientation val="minMax"/>
          <c:max val="1"/>
        </c:scaling>
        <c:delete val="1"/>
        <c:axPos val="l"/>
        <c:numFmt formatCode="0%" sourceLinked="1"/>
        <c:majorTickMark val="out"/>
        <c:minorTickMark val="none"/>
        <c:tickLblPos val="nextTo"/>
        <c:crossAx val="89055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ysClr val="windowText" lastClr="000000"/>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3"/>
          <c:order val="0"/>
          <c:tx>
            <c:strRef>
              <c:f>Sheet1!$B$1</c:f>
              <c:strCache>
                <c:ptCount val="1"/>
                <c:pt idx="0">
                  <c:v>Sep'25</c:v>
                </c:pt>
              </c:strCache>
            </c:strRef>
          </c:tx>
          <c:spPr>
            <a:solidFill>
              <a:schemeClr val="accent3"/>
            </a:solidFill>
            <a:ln>
              <a:noFill/>
            </a:ln>
            <a:effectLst/>
          </c:spPr>
          <c:invertIfNegative val="0"/>
          <c:dLbls>
            <c:dLbl>
              <c:idx val="0"/>
              <c:tx>
                <c:rich>
                  <a:bodyPr/>
                  <a:lstStyle/>
                  <a:p>
                    <a:fld id="{B36FF11D-21A8-4AE0-BD95-2077FBB9EB84}"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C74-40FC-A9C8-C01A7BA04594}"/>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Flu</c:v>
                </c:pt>
                <c:pt idx="1">
                  <c:v>HPV </c:v>
                </c:pt>
                <c:pt idx="2">
                  <c:v>DTaP</c:v>
                </c:pt>
                <c:pt idx="3">
                  <c:v>Men-
ACWY</c:v>
                </c:pt>
                <c:pt idx="4">
                  <c:v>MenB</c:v>
                </c:pt>
                <c:pt idx="5">
                  <c:v>COVID-
19</c:v>
                </c:pt>
              </c:strCache>
            </c:strRef>
          </c:cat>
          <c:val>
            <c:numRef>
              <c:f>Sheet1!$B$2:$B$7</c:f>
              <c:numCache>
                <c:formatCode>0%</c:formatCode>
                <c:ptCount val="6"/>
                <c:pt idx="0">
                  <c:v>0.69</c:v>
                </c:pt>
                <c:pt idx="1">
                  <c:v>0.59</c:v>
                </c:pt>
                <c:pt idx="2">
                  <c:v>0.55000000000000004</c:v>
                </c:pt>
                <c:pt idx="3">
                  <c:v>0.52</c:v>
                </c:pt>
                <c:pt idx="4">
                  <c:v>0.52</c:v>
                </c:pt>
                <c:pt idx="5">
                  <c:v>0.47</c:v>
                </c:pt>
              </c:numCache>
            </c:numRef>
          </c:val>
          <c:extLst>
            <c:ext xmlns:c16="http://schemas.microsoft.com/office/drawing/2014/chart" uri="{C3380CC4-5D6E-409C-BE32-E72D297353CC}">
              <c16:uniqueId val="{00000000-544F-4CB6-A96E-B6CFDCBE544D}"/>
            </c:ext>
          </c:extLst>
        </c:ser>
        <c:dLbls>
          <c:showLegendKey val="0"/>
          <c:showVal val="0"/>
          <c:showCatName val="0"/>
          <c:showSerName val="0"/>
          <c:showPercent val="0"/>
          <c:showBubbleSize val="0"/>
        </c:dLbls>
        <c:gapWidth val="200"/>
        <c:axId val="1012733344"/>
        <c:axId val="888652351"/>
      </c:barChart>
      <c:catAx>
        <c:axId val="1012733344"/>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88652351"/>
        <c:crosses val="autoZero"/>
        <c:auto val="1"/>
        <c:lblAlgn val="ctr"/>
        <c:lblOffset val="0"/>
        <c:noMultiLvlLbl val="0"/>
      </c:catAx>
      <c:valAx>
        <c:axId val="888652351"/>
        <c:scaling>
          <c:orientation val="minMax"/>
          <c:max val="1"/>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3"/>
          <c:order val="0"/>
          <c:tx>
            <c:strRef>
              <c:f>Sheet1!$B$1</c:f>
              <c:strCache>
                <c:ptCount val="1"/>
                <c:pt idx="0">
                  <c:v>Sep'25</c:v>
                </c:pt>
              </c:strCache>
            </c:strRef>
          </c:tx>
          <c:spPr>
            <a:solidFill>
              <a:schemeClr val="accent3"/>
            </a:solidFill>
            <a:ln>
              <a:noFill/>
            </a:ln>
            <a:effectLst/>
          </c:spPr>
          <c:invertIfNegative val="0"/>
          <c:dLbls>
            <c:dLbl>
              <c:idx val="0"/>
              <c:tx>
                <c:rich>
                  <a:bodyPr/>
                  <a:lstStyle/>
                  <a:p>
                    <a:fld id="{8BE4E01B-B3E1-4993-999C-6E9EBEE3BDEA}"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842-43C8-B790-8A31193839ED}"/>
                </c:ext>
              </c:extLst>
            </c:dLbl>
            <c:dLbl>
              <c:idx val="1"/>
              <c:tx>
                <c:rich>
                  <a:bodyPr/>
                  <a:lstStyle/>
                  <a:p>
                    <a:fld id="{2C8C2D56-AB16-4931-BB95-57736FF1C712}"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F842-43C8-B790-8A31193839ED}"/>
                </c:ext>
              </c:extLst>
            </c:dLbl>
            <c:dLbl>
              <c:idx val="3"/>
              <c:tx>
                <c:rich>
                  <a:bodyPr/>
                  <a:lstStyle/>
                  <a:p>
                    <a:fld id="{15853B48-F1BB-4252-82E4-323A2C46673A}"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842-43C8-B790-8A31193839ED}"/>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Men-
ACWY</c:v>
                </c:pt>
                <c:pt idx="1">
                  <c:v>MenB</c:v>
                </c:pt>
                <c:pt idx="2">
                  <c:v>HPV </c:v>
                </c:pt>
                <c:pt idx="3">
                  <c:v>DTaP</c:v>
                </c:pt>
                <c:pt idx="4">
                  <c:v>Flu</c:v>
                </c:pt>
                <c:pt idx="5">
                  <c:v>COVID-
19</c:v>
                </c:pt>
              </c:strCache>
            </c:strRef>
          </c:cat>
          <c:val>
            <c:numRef>
              <c:f>Sheet1!$B$2:$B$7</c:f>
              <c:numCache>
                <c:formatCode>0%</c:formatCode>
                <c:ptCount val="6"/>
                <c:pt idx="0">
                  <c:v>0.55000000000000004</c:v>
                </c:pt>
                <c:pt idx="1">
                  <c:v>0.53</c:v>
                </c:pt>
                <c:pt idx="2">
                  <c:v>0.47</c:v>
                </c:pt>
                <c:pt idx="3">
                  <c:v>0.28000000000000003</c:v>
                </c:pt>
                <c:pt idx="4">
                  <c:v>0.27</c:v>
                </c:pt>
                <c:pt idx="5">
                  <c:v>0.15</c:v>
                </c:pt>
              </c:numCache>
            </c:numRef>
          </c:val>
          <c:extLst>
            <c:ext xmlns:c16="http://schemas.microsoft.com/office/drawing/2014/chart" uri="{C3380CC4-5D6E-409C-BE32-E72D297353CC}">
              <c16:uniqueId val="{00000000-3965-4EF0-89D3-1A7CAA78C7A0}"/>
            </c:ext>
          </c:extLst>
        </c:ser>
        <c:dLbls>
          <c:showLegendKey val="0"/>
          <c:showVal val="0"/>
          <c:showCatName val="0"/>
          <c:showSerName val="0"/>
          <c:showPercent val="0"/>
          <c:showBubbleSize val="0"/>
        </c:dLbls>
        <c:gapWidth val="200"/>
        <c:axId val="1012733344"/>
        <c:axId val="888652351"/>
      </c:barChart>
      <c:catAx>
        <c:axId val="1012733344"/>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88652351"/>
        <c:crosses val="autoZero"/>
        <c:auto val="1"/>
        <c:lblAlgn val="ctr"/>
        <c:lblOffset val="0"/>
        <c:noMultiLvlLbl val="0"/>
      </c:catAx>
      <c:valAx>
        <c:axId val="888652351"/>
        <c:scaling>
          <c:orientation val="minMax"/>
          <c:max val="1"/>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3"/>
          <c:order val="0"/>
          <c:tx>
            <c:strRef>
              <c:f>Sheet1!$B$1</c:f>
              <c:strCache>
                <c:ptCount val="1"/>
                <c:pt idx="0">
                  <c:v>Sep'25</c:v>
                </c:pt>
              </c:strCache>
            </c:strRef>
          </c:tx>
          <c:spPr>
            <a:solidFill>
              <a:schemeClr val="accent3"/>
            </a:solidFill>
            <a:ln>
              <a:noFill/>
            </a:ln>
            <a:effectLst/>
          </c:spPr>
          <c:invertIfNegative val="0"/>
          <c:dLbls>
            <c:dLbl>
              <c:idx val="0"/>
              <c:tx>
                <c:rich>
                  <a:bodyPr/>
                  <a:lstStyle/>
                  <a:p>
                    <a:fld id="{0CA3B344-A20C-45FC-942D-07EF21D1FCD0}"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D810-4931-8F61-BE4547E2B1FF}"/>
                </c:ext>
              </c:extLst>
            </c:dLbl>
            <c:dLbl>
              <c:idx val="1"/>
              <c:tx>
                <c:rich>
                  <a:bodyPr/>
                  <a:lstStyle/>
                  <a:p>
                    <a:fld id="{80A1F9DC-DC25-49FF-AE69-E1EC96B8A26A}"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810-4931-8F61-BE4547E2B1FF}"/>
                </c:ext>
              </c:extLst>
            </c:dLbl>
            <c:dLbl>
              <c:idx val="2"/>
              <c:tx>
                <c:rich>
                  <a:bodyPr/>
                  <a:lstStyle/>
                  <a:p>
                    <a:fld id="{616FD858-100D-4B8B-A9A0-75FC397A6392}"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D810-4931-8F61-BE4547E2B1FF}"/>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Men-
ACWY</c:v>
                </c:pt>
                <c:pt idx="1">
                  <c:v>MenB</c:v>
                </c:pt>
                <c:pt idx="2">
                  <c:v>HPV </c:v>
                </c:pt>
                <c:pt idx="3">
                  <c:v>DTaP</c:v>
                </c:pt>
                <c:pt idx="4">
                  <c:v>Flu</c:v>
                </c:pt>
                <c:pt idx="5">
                  <c:v>COVID-
19</c:v>
                </c:pt>
              </c:strCache>
            </c:strRef>
          </c:cat>
          <c:val>
            <c:numRef>
              <c:f>Sheet1!$B$2:$B$7</c:f>
              <c:numCache>
                <c:formatCode>0%</c:formatCode>
                <c:ptCount val="6"/>
                <c:pt idx="0">
                  <c:v>0.63</c:v>
                </c:pt>
                <c:pt idx="1">
                  <c:v>0.56999999999999995</c:v>
                </c:pt>
                <c:pt idx="2">
                  <c:v>0.48</c:v>
                </c:pt>
                <c:pt idx="3">
                  <c:v>0.31</c:v>
                </c:pt>
                <c:pt idx="4">
                  <c:v>0.23</c:v>
                </c:pt>
                <c:pt idx="5">
                  <c:v>0.13</c:v>
                </c:pt>
              </c:numCache>
            </c:numRef>
          </c:val>
          <c:extLst>
            <c:ext xmlns:c16="http://schemas.microsoft.com/office/drawing/2014/chart" uri="{C3380CC4-5D6E-409C-BE32-E72D297353CC}">
              <c16:uniqueId val="{00000000-68BD-4093-B930-3CB7DA61E1D1}"/>
            </c:ext>
          </c:extLst>
        </c:ser>
        <c:dLbls>
          <c:showLegendKey val="0"/>
          <c:showVal val="0"/>
          <c:showCatName val="0"/>
          <c:showSerName val="0"/>
          <c:showPercent val="0"/>
          <c:showBubbleSize val="0"/>
        </c:dLbls>
        <c:gapWidth val="200"/>
        <c:axId val="1012733344"/>
        <c:axId val="888652351"/>
      </c:barChart>
      <c:catAx>
        <c:axId val="1012733344"/>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88652351"/>
        <c:crosses val="autoZero"/>
        <c:auto val="1"/>
        <c:lblAlgn val="ctr"/>
        <c:lblOffset val="0"/>
        <c:noMultiLvlLbl val="0"/>
      </c:catAx>
      <c:valAx>
        <c:axId val="888652351"/>
        <c:scaling>
          <c:orientation val="minMax"/>
          <c:max val="1"/>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807327778481462"/>
          <c:y val="0.1314712268663695"/>
          <c:w val="0.68716693376215454"/>
          <c:h val="0.70095773855687038"/>
        </c:manualLayout>
      </c:layout>
      <c:barChart>
        <c:barDir val="col"/>
        <c:grouping val="stacked"/>
        <c:varyColors val="0"/>
        <c:ser>
          <c:idx val="0"/>
          <c:order val="0"/>
          <c:tx>
            <c:strRef>
              <c:f>Sheet1!$B$1</c:f>
              <c:strCache>
                <c:ptCount val="1"/>
                <c:pt idx="0">
                  <c:v>Yes</c:v>
                </c:pt>
              </c:strCache>
            </c:strRef>
          </c:tx>
          <c:spPr>
            <a:solidFill>
              <a:srgbClr val="F2F2F2"/>
            </a:solidFill>
            <a:ln>
              <a:noFill/>
            </a:ln>
            <a:effectLst/>
          </c:spPr>
          <c:invertIfNegative val="0"/>
          <c:dPt>
            <c:idx val="0"/>
            <c:invertIfNegative val="0"/>
            <c:bubble3D val="0"/>
            <c:spPr>
              <a:solidFill>
                <a:schemeClr val="accent3"/>
              </a:solidFill>
              <a:ln>
                <a:noFill/>
              </a:ln>
              <a:effectLst/>
            </c:spPr>
            <c:extLst>
              <c:ext xmlns:c16="http://schemas.microsoft.com/office/drawing/2014/chart" uri="{C3380CC4-5D6E-409C-BE32-E72D297353CC}">
                <c16:uniqueId val="{00000006-3C38-4ED6-B899-207930E8F260}"/>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0.94</c:v>
                </c:pt>
              </c:numCache>
            </c:numRef>
          </c:val>
          <c:extLst>
            <c:ext xmlns:c16="http://schemas.microsoft.com/office/drawing/2014/chart" uri="{C3380CC4-5D6E-409C-BE32-E72D297353CC}">
              <c16:uniqueId val="{00000002-A7AD-4CEB-830C-FDEB9C79ED20}"/>
            </c:ext>
          </c:extLst>
        </c:ser>
        <c:ser>
          <c:idx val="1"/>
          <c:order val="1"/>
          <c:tx>
            <c:strRef>
              <c:f>Sheet1!$C$1</c:f>
              <c:strCache>
                <c:ptCount val="1"/>
                <c:pt idx="0">
                  <c:v>No</c:v>
                </c:pt>
              </c:strCache>
            </c:strRef>
          </c:tx>
          <c:spPr>
            <a:solidFill>
              <a:schemeClr val="bg1">
                <a:lumMod val="65000"/>
              </a:schemeClr>
            </a:solidFill>
            <a:ln>
              <a:noFill/>
            </a:ln>
            <a:effectLst/>
          </c:spPr>
          <c:invertIfNegative val="0"/>
          <c:dLbls>
            <c:dLbl>
              <c:idx val="0"/>
              <c:layout>
                <c:manualLayout>
                  <c:x val="0"/>
                  <c:y val="-6.02489400363416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C38-4ED6-B899-207930E8F26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0.06</c:v>
                </c:pt>
              </c:numCache>
            </c:numRef>
          </c:val>
          <c:extLst>
            <c:ext xmlns:c16="http://schemas.microsoft.com/office/drawing/2014/chart" uri="{C3380CC4-5D6E-409C-BE32-E72D297353CC}">
              <c16:uniqueId val="{00000003-A7AD-4CEB-830C-FDEB9C79ED20}"/>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234185393281039E-2"/>
          <c:y val="4.1047347307100093E-2"/>
          <c:w val="0.88753162921343787"/>
          <c:h val="0.9425337137700599"/>
        </c:manualLayout>
      </c:layout>
      <c:barChart>
        <c:barDir val="bar"/>
        <c:grouping val="clustered"/>
        <c:varyColors val="0"/>
        <c:ser>
          <c:idx val="0"/>
          <c:order val="0"/>
          <c:tx>
            <c:strRef>
              <c:f>Sheet1!$B$1</c:f>
              <c:strCache>
                <c:ptCount val="1"/>
                <c:pt idx="0">
                  <c:v>Sep'25</c:v>
                </c:pt>
              </c:strCache>
            </c:strRef>
          </c:tx>
          <c:spPr>
            <a:solidFill>
              <a:schemeClr val="accent3"/>
            </a:solidFill>
            <a:ln w="9525">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With an influenza vaccine</c:v>
                </c:pt>
                <c:pt idx="1">
                  <c:v>With the first dose of MenB vaccine</c:v>
                </c:pt>
                <c:pt idx="2">
                  <c:v>With an HPV vaccine</c:v>
                </c:pt>
                <c:pt idx="3">
                  <c:v>With a Tdap vaccine</c:v>
                </c:pt>
                <c:pt idx="4">
                  <c:v>With a COVID-19 vaccine</c:v>
                </c:pt>
              </c:strCache>
            </c:strRef>
          </c:cat>
          <c:val>
            <c:numRef>
              <c:f>Sheet1!$B$2:$B$6</c:f>
              <c:numCache>
                <c:formatCode>0%</c:formatCode>
                <c:ptCount val="5"/>
                <c:pt idx="0">
                  <c:v>0.71</c:v>
                </c:pt>
                <c:pt idx="1">
                  <c:v>0.67</c:v>
                </c:pt>
                <c:pt idx="2">
                  <c:v>0.63</c:v>
                </c:pt>
                <c:pt idx="3">
                  <c:v>0.55000000000000004</c:v>
                </c:pt>
                <c:pt idx="4">
                  <c:v>0.28999999999999998</c:v>
                </c:pt>
              </c:numCache>
            </c:numRef>
          </c:val>
          <c:extLst xmlns:c15="http://schemas.microsoft.com/office/drawing/2012/chart">
            <c:ext xmlns:c16="http://schemas.microsoft.com/office/drawing/2014/chart" uri="{C3380CC4-5D6E-409C-BE32-E72D297353CC}">
              <c16:uniqueId val="{00000000-02C8-4FF1-A47E-A0A3306BE68F}"/>
            </c:ext>
          </c:extLst>
        </c:ser>
        <c:dLbls>
          <c:showLegendKey val="0"/>
          <c:showVal val="0"/>
          <c:showCatName val="0"/>
          <c:showSerName val="0"/>
          <c:showPercent val="0"/>
          <c:showBubbleSize val="0"/>
        </c:dLbls>
        <c:gapWidth val="100"/>
        <c:axId val="1012733344"/>
        <c:axId val="888652351"/>
        <c:extLst/>
      </c:barChart>
      <c:catAx>
        <c:axId val="1012733344"/>
        <c:scaling>
          <c:orientation val="maxMin"/>
        </c:scaling>
        <c:delete val="0"/>
        <c:axPos val="l"/>
        <c:numFmt formatCode="General" sourceLinked="1"/>
        <c:majorTickMark val="none"/>
        <c:minorTickMark val="none"/>
        <c:tickLblPos val="none"/>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888652351"/>
        <c:crosses val="autoZero"/>
        <c:auto val="1"/>
        <c:lblAlgn val="ctr"/>
        <c:lblOffset val="100"/>
        <c:noMultiLvlLbl val="0"/>
      </c:catAx>
      <c:valAx>
        <c:axId val="888652351"/>
        <c:scaling>
          <c:orientation val="minMax"/>
          <c:max val="1"/>
        </c:scaling>
        <c:delete val="1"/>
        <c:axPos val="t"/>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021341754827024E-2"/>
          <c:y val="4.3620753611748442E-2"/>
          <c:w val="0.96195731649034599"/>
          <c:h val="0.85724116999791422"/>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Pt>
            <c:idx val="4"/>
            <c:invertIfNegative val="0"/>
            <c:bubble3D val="0"/>
            <c:spPr>
              <a:solidFill>
                <a:schemeClr val="bg1">
                  <a:lumMod val="65000"/>
                </a:schemeClr>
              </a:solidFill>
              <a:ln>
                <a:noFill/>
              </a:ln>
              <a:effectLst/>
            </c:spPr>
            <c:extLst>
              <c:ext xmlns:c16="http://schemas.microsoft.com/office/drawing/2014/chart" uri="{C3380CC4-5D6E-409C-BE32-E72D297353CC}">
                <c16:uniqueId val="{00000000-4167-495D-B1E2-DBD7BBB45E0C}"/>
              </c:ext>
            </c:extLst>
          </c:dPt>
          <c:dLbls>
            <c:dLbl>
              <c:idx val="0"/>
              <c:tx>
                <c:rich>
                  <a:bodyPr/>
                  <a:lstStyle/>
                  <a:p>
                    <a:fld id="{60F3AFB8-FD2F-4735-A1FC-6DBDB07F1397}"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5211-47E3-9B42-E4810DBC17E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GSK</c:v>
                </c:pt>
                <c:pt idx="1">
                  <c:v>Pfizer</c:v>
                </c:pt>
                <c:pt idx="2">
                  <c:v>Sanofi</c:v>
                </c:pt>
                <c:pt idx="3">
                  <c:v>Merck</c:v>
                </c:pt>
              </c:strCache>
            </c:strRef>
          </c:cat>
          <c:val>
            <c:numRef>
              <c:f>Sheet1!$B$2:$B$5</c:f>
              <c:numCache>
                <c:formatCode>0%</c:formatCode>
                <c:ptCount val="4"/>
                <c:pt idx="0">
                  <c:v>0.32</c:v>
                </c:pt>
                <c:pt idx="1">
                  <c:v>0.28999999999999998</c:v>
                </c:pt>
                <c:pt idx="2">
                  <c:v>0.2</c:v>
                </c:pt>
                <c:pt idx="3">
                  <c:v>0.08</c:v>
                </c:pt>
              </c:numCache>
            </c:numRef>
          </c:val>
          <c:extLst xmlns:c15="http://schemas.microsoft.com/office/drawing/2012/chart">
            <c:ext xmlns:c16="http://schemas.microsoft.com/office/drawing/2014/chart" uri="{C3380CC4-5D6E-409C-BE32-E72D297353CC}">
              <c16:uniqueId val="{00000000-2E89-4F10-A987-FCB687F37087}"/>
            </c:ext>
          </c:extLst>
        </c:ser>
        <c:dLbls>
          <c:showLegendKey val="0"/>
          <c:showVal val="0"/>
          <c:showCatName val="0"/>
          <c:showSerName val="0"/>
          <c:showPercent val="0"/>
          <c:showBubbleSize val="0"/>
        </c:dLbls>
        <c:gapWidth val="250"/>
        <c:overlap val="-10"/>
        <c:axId val="1012733344"/>
        <c:axId val="888652351"/>
        <c:extLst/>
      </c:barChart>
      <c:catAx>
        <c:axId val="1012733344"/>
        <c:scaling>
          <c:orientation val="minMax"/>
        </c:scaling>
        <c:delete val="1"/>
        <c:axPos val="b"/>
        <c:numFmt formatCode="General" sourceLinked="1"/>
        <c:majorTickMark val="none"/>
        <c:minorTickMark val="none"/>
        <c:tickLblPos val="nextTo"/>
        <c:crossAx val="888652351"/>
        <c:crosses val="autoZero"/>
        <c:auto val="1"/>
        <c:lblAlgn val="ctr"/>
        <c:lblOffset val="0"/>
        <c:noMultiLvlLbl val="0"/>
      </c:catAx>
      <c:valAx>
        <c:axId val="888652351"/>
        <c:scaling>
          <c:orientation val="minMax"/>
          <c:max val="1"/>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021341754827024E-2"/>
          <c:y val="4.3620753611748442E-2"/>
          <c:w val="0.96195731649034599"/>
          <c:h val="0.85724116999791422"/>
        </c:manualLayout>
      </c:layout>
      <c:barChart>
        <c:barDir val="col"/>
        <c:grouping val="clustered"/>
        <c:varyColors val="0"/>
        <c:ser>
          <c:idx val="0"/>
          <c:order val="0"/>
          <c:tx>
            <c:strRef>
              <c:f>Sheet1!$B$1</c:f>
              <c:strCache>
                <c:ptCount val="1"/>
                <c:pt idx="0">
                  <c:v>Sep'25</c:v>
                </c:pt>
              </c:strCache>
            </c:strRef>
          </c:tx>
          <c:spPr>
            <a:solidFill>
              <a:schemeClr val="accent3"/>
            </a:solidFill>
            <a:ln>
              <a:noFill/>
            </a:ln>
            <a:effectLst/>
          </c:spPr>
          <c:invertIfNegative val="0"/>
          <c:dPt>
            <c:idx val="0"/>
            <c:invertIfNegative val="0"/>
            <c:bubble3D val="0"/>
            <c:spPr>
              <a:solidFill>
                <a:srgbClr val="A390B8"/>
              </a:solidFill>
              <a:ln>
                <a:noFill/>
              </a:ln>
              <a:effectLst/>
            </c:spPr>
            <c:extLst>
              <c:ext xmlns:c16="http://schemas.microsoft.com/office/drawing/2014/chart" uri="{C3380CC4-5D6E-409C-BE32-E72D297353CC}">
                <c16:uniqueId val="{00000008-D30B-4AAD-AF89-0D4CEC8DEB1D}"/>
              </c:ext>
            </c:extLst>
          </c:dPt>
          <c:dPt>
            <c:idx val="1"/>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04-D30B-4AAD-AF89-0D4CEC8DEB1D}"/>
              </c:ext>
            </c:extLst>
          </c:dPt>
          <c:dPt>
            <c:idx val="2"/>
            <c:invertIfNegative val="0"/>
            <c:bubble3D val="0"/>
            <c:spPr>
              <a:solidFill>
                <a:schemeClr val="bg1">
                  <a:lumMod val="75000"/>
                </a:schemeClr>
              </a:solidFill>
              <a:ln>
                <a:noFill/>
              </a:ln>
              <a:effectLst/>
            </c:spPr>
            <c:extLst>
              <c:ext xmlns:c16="http://schemas.microsoft.com/office/drawing/2014/chart" uri="{C3380CC4-5D6E-409C-BE32-E72D297353CC}">
                <c16:uniqueId val="{00000001-D30B-4AAD-AF89-0D4CEC8DEB1D}"/>
              </c:ext>
            </c:extLst>
          </c:dPt>
          <c:dPt>
            <c:idx val="3"/>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7-D30B-4AAD-AF89-0D4CEC8DEB1D}"/>
              </c:ext>
            </c:extLst>
          </c:dPt>
          <c:dLbls>
            <c:dLbl>
              <c:idx val="1"/>
              <c:tx>
                <c:rich>
                  <a:bodyPr/>
                  <a:lstStyle/>
                  <a:p>
                    <a:fld id="{F235B8D7-CFBD-4D77-AFF8-4853E9DAA9A0}"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30B-4AAD-AF89-0D4CEC8DEB1D}"/>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Penbraya</c:v>
                </c:pt>
                <c:pt idx="1">
                  <c:v>Penmenvy</c:v>
                </c:pt>
                <c:pt idx="2">
                  <c:v>Pentavalent/MenABCWY/MCV4</c:v>
                </c:pt>
                <c:pt idx="3">
                  <c:v>None</c:v>
                </c:pt>
              </c:strCache>
            </c:strRef>
          </c:cat>
          <c:val>
            <c:numRef>
              <c:f>Sheet1!$B$2:$B$5</c:f>
              <c:numCache>
                <c:formatCode>0%</c:formatCode>
                <c:ptCount val="4"/>
                <c:pt idx="0">
                  <c:v>0.27</c:v>
                </c:pt>
                <c:pt idx="1">
                  <c:v>0.14000000000000001</c:v>
                </c:pt>
                <c:pt idx="2">
                  <c:v>0.14000000000000001</c:v>
                </c:pt>
                <c:pt idx="3">
                  <c:v>0.41</c:v>
                </c:pt>
              </c:numCache>
            </c:numRef>
          </c:val>
          <c:extLst xmlns:c15="http://schemas.microsoft.com/office/drawing/2012/chart">
            <c:ext xmlns:c16="http://schemas.microsoft.com/office/drawing/2014/chart" uri="{C3380CC4-5D6E-409C-BE32-E72D297353CC}">
              <c16:uniqueId val="{00000005-D30B-4AAD-AF89-0D4CEC8DEB1D}"/>
            </c:ext>
          </c:extLst>
        </c:ser>
        <c:dLbls>
          <c:showLegendKey val="0"/>
          <c:showVal val="0"/>
          <c:showCatName val="0"/>
          <c:showSerName val="0"/>
          <c:showPercent val="0"/>
          <c:showBubbleSize val="0"/>
        </c:dLbls>
        <c:gapWidth val="200"/>
        <c:overlap val="-10"/>
        <c:axId val="1012733344"/>
        <c:axId val="888652351"/>
        <c:extLst/>
      </c:barChart>
      <c:catAx>
        <c:axId val="1012733344"/>
        <c:scaling>
          <c:orientation val="minMax"/>
        </c:scaling>
        <c:delete val="1"/>
        <c:axPos val="b"/>
        <c:numFmt formatCode="General" sourceLinked="1"/>
        <c:majorTickMark val="out"/>
        <c:minorTickMark val="none"/>
        <c:tickLblPos val="nextTo"/>
        <c:crossAx val="888652351"/>
        <c:crosses val="autoZero"/>
        <c:auto val="1"/>
        <c:lblAlgn val="ctr"/>
        <c:lblOffset val="0"/>
        <c:noMultiLvlLbl val="0"/>
      </c:catAx>
      <c:valAx>
        <c:axId val="888652351"/>
        <c:scaling>
          <c:orientation val="minMax"/>
          <c:max val="1"/>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5486908250611"/>
          <c:y val="3.1724184444907953E-2"/>
          <c:w val="0.49660869829613252"/>
          <c:h val="0.8505790912644835"/>
        </c:manualLayout>
      </c:layout>
      <c:barChart>
        <c:barDir val="col"/>
        <c:grouping val="clustered"/>
        <c:varyColors val="0"/>
        <c:ser>
          <c:idx val="0"/>
          <c:order val="0"/>
          <c:tx>
            <c:strRef>
              <c:f>Sheet1!$A$2</c:f>
              <c:strCache>
                <c:ptCount val="1"/>
                <c:pt idx="0">
                  <c:v>Sep'25</c:v>
                </c:pt>
              </c:strCache>
            </c:strRef>
          </c:tx>
          <c:spPr>
            <a:solidFill>
              <a:schemeClr val="accent3"/>
            </a:solidFill>
            <a:ln>
              <a:noFill/>
            </a:ln>
            <a:effectLst/>
          </c:spPr>
          <c:invertIfNegative val="0"/>
          <c:dPt>
            <c:idx val="0"/>
            <c:invertIfNegative val="0"/>
            <c:bubble3D val="0"/>
            <c:spPr>
              <a:solidFill>
                <a:schemeClr val="accent3"/>
              </a:solidFill>
              <a:ln>
                <a:noFill/>
              </a:ln>
              <a:effectLst/>
            </c:spPr>
            <c:extLst>
              <c:ext xmlns:c16="http://schemas.microsoft.com/office/drawing/2014/chart" uri="{C3380CC4-5D6E-409C-BE32-E72D297353CC}">
                <c16:uniqueId val="{00000004-97AA-4B2E-A825-A5BDC4B2E29F}"/>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 Aware</c:v>
                </c:pt>
              </c:strCache>
            </c:strRef>
          </c:cat>
          <c:val>
            <c:numRef>
              <c:f>Sheet1!$B$2</c:f>
              <c:numCache>
                <c:formatCode>0%</c:formatCode>
                <c:ptCount val="1"/>
                <c:pt idx="0">
                  <c:v>0.85</c:v>
                </c:pt>
              </c:numCache>
            </c:numRef>
          </c:val>
          <c:extLst>
            <c:ext xmlns:c16="http://schemas.microsoft.com/office/drawing/2014/chart" uri="{C3380CC4-5D6E-409C-BE32-E72D297353CC}">
              <c16:uniqueId val="{00000000-97AA-4B2E-A825-A5BDC4B2E29F}"/>
            </c:ext>
          </c:extLst>
        </c:ser>
        <c:dLbls>
          <c:showLegendKey val="0"/>
          <c:showVal val="0"/>
          <c:showCatName val="0"/>
          <c:showSerName val="0"/>
          <c:showPercent val="0"/>
          <c:showBubbleSize val="0"/>
        </c:dLbls>
        <c:gapWidth val="150"/>
        <c:axId val="1012733344"/>
        <c:axId val="888652351"/>
      </c:barChart>
      <c:catAx>
        <c:axId val="1012733344"/>
        <c:scaling>
          <c:orientation val="minMax"/>
        </c:scaling>
        <c:delete val="1"/>
        <c:axPos val="b"/>
        <c:numFmt formatCode="General" sourceLinked="1"/>
        <c:majorTickMark val="none"/>
        <c:minorTickMark val="none"/>
        <c:tickLblPos val="nextTo"/>
        <c:crossAx val="888652351"/>
        <c:crosses val="autoZero"/>
        <c:auto val="1"/>
        <c:lblAlgn val="ctr"/>
        <c:lblOffset val="0"/>
        <c:noMultiLvlLbl val="0"/>
      </c:catAx>
      <c:valAx>
        <c:axId val="888652351"/>
        <c:scaling>
          <c:orientation val="minMax"/>
          <c:max val="1"/>
          <c:min val="0"/>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Never heard of</c:v>
                </c:pt>
              </c:strCache>
            </c:strRef>
          </c:tx>
          <c:spPr>
            <a:solidFill>
              <a:schemeClr val="bg1">
                <a:lumMod val="65000"/>
              </a:schemeClr>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9-757A-4EA2-8DF4-ED08D7AC7563}"/>
                </c:ext>
              </c:extLst>
            </c:dLbl>
            <c:dLbl>
              <c:idx val="2"/>
              <c:delete val="1"/>
              <c:extLst>
                <c:ext xmlns:c15="http://schemas.microsoft.com/office/drawing/2012/chart" uri="{CE6537A1-D6FC-4f65-9D91-7224C49458BB}"/>
                <c:ext xmlns:c16="http://schemas.microsoft.com/office/drawing/2014/chart" uri="{C3380CC4-5D6E-409C-BE32-E72D297353CC}">
                  <c16:uniqueId val="{0000000E-757A-4EA2-8DF4-ED08D7AC7563}"/>
                </c:ext>
              </c:extLst>
            </c:dLbl>
            <c:dLbl>
              <c:idx val="3"/>
              <c:delete val="1"/>
              <c:extLst>
                <c:ext xmlns:c15="http://schemas.microsoft.com/office/drawing/2012/chart" uri="{CE6537A1-D6FC-4f65-9D91-7224C49458BB}"/>
                <c:ext xmlns:c16="http://schemas.microsoft.com/office/drawing/2014/chart" uri="{C3380CC4-5D6E-409C-BE32-E72D297353CC}">
                  <c16:uniqueId val="{0000000D-757A-4EA2-8DF4-ED08D7AC7563}"/>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MenQuadfi</c:v>
                </c:pt>
                <c:pt idx="1">
                  <c:v>Menveo </c:v>
                </c:pt>
                <c:pt idx="2">
                  <c:v>Bexsero </c:v>
                </c:pt>
                <c:pt idx="3">
                  <c:v>Trumenba</c:v>
                </c:pt>
                <c:pt idx="4">
                  <c:v>Penbraya</c:v>
                </c:pt>
                <c:pt idx="5">
                  <c:v>Penmenvy</c:v>
                </c:pt>
              </c:strCache>
            </c:strRef>
          </c:cat>
          <c:val>
            <c:numRef>
              <c:f>Sheet1!$B$2:$B$7</c:f>
              <c:numCache>
                <c:formatCode>0%</c:formatCode>
                <c:ptCount val="6"/>
                <c:pt idx="0">
                  <c:v>0.05</c:v>
                </c:pt>
                <c:pt idx="1">
                  <c:v>0.03</c:v>
                </c:pt>
                <c:pt idx="2">
                  <c:v>0.03</c:v>
                </c:pt>
                <c:pt idx="3">
                  <c:v>0.02</c:v>
                </c:pt>
                <c:pt idx="4">
                  <c:v>0.24</c:v>
                </c:pt>
                <c:pt idx="5">
                  <c:v>0.37</c:v>
                </c:pt>
              </c:numCache>
            </c:numRef>
          </c:val>
          <c:extLst xmlns:c15="http://schemas.microsoft.com/office/drawing/2012/chart">
            <c:ext xmlns:c16="http://schemas.microsoft.com/office/drawing/2014/chart" uri="{C3380CC4-5D6E-409C-BE32-E72D297353CC}">
              <c16:uniqueId val="{00000000-757A-4EA2-8DF4-ED08D7AC7563}"/>
            </c:ext>
          </c:extLst>
        </c:ser>
        <c:ser>
          <c:idx val="1"/>
          <c:order val="1"/>
          <c:tx>
            <c:strRef>
              <c:f>Sheet1!$C$1</c:f>
              <c:strCache>
                <c:ptCount val="1"/>
                <c:pt idx="0">
                  <c:v>Heard of but just know name</c:v>
                </c:pt>
              </c:strCache>
            </c:strRef>
          </c:tx>
          <c:spPr>
            <a:solidFill>
              <a:srgbClr val="B5DFDD"/>
            </a:solidFill>
            <a:ln>
              <a:noFill/>
            </a:ln>
            <a:effectLst/>
          </c:spPr>
          <c:invertIfNegative val="0"/>
          <c:dLbls>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C47-418D-9217-0DC1C2F0CC7D}"/>
                </c:ext>
              </c:extLst>
            </c:dLbl>
            <c:dLbl>
              <c:idx val="2"/>
              <c:delete val="1"/>
              <c:extLst>
                <c:ext xmlns:c15="http://schemas.microsoft.com/office/drawing/2012/chart" uri="{CE6537A1-D6FC-4f65-9D91-7224C49458BB}"/>
                <c:ext xmlns:c16="http://schemas.microsoft.com/office/drawing/2014/chart" uri="{C3380CC4-5D6E-409C-BE32-E72D297353CC}">
                  <c16:uniqueId val="{00000003-2C47-418D-9217-0DC1C2F0CC7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MenQuadfi</c:v>
                </c:pt>
                <c:pt idx="1">
                  <c:v>Menveo </c:v>
                </c:pt>
                <c:pt idx="2">
                  <c:v>Bexsero </c:v>
                </c:pt>
                <c:pt idx="3">
                  <c:v>Trumenba</c:v>
                </c:pt>
                <c:pt idx="4">
                  <c:v>Penbraya</c:v>
                </c:pt>
                <c:pt idx="5">
                  <c:v>Penmenvy</c:v>
                </c:pt>
              </c:strCache>
            </c:strRef>
          </c:cat>
          <c:val>
            <c:numRef>
              <c:f>Sheet1!$C$2:$C$7</c:f>
              <c:numCache>
                <c:formatCode>0%</c:formatCode>
                <c:ptCount val="6"/>
                <c:pt idx="0">
                  <c:v>0.05</c:v>
                </c:pt>
                <c:pt idx="1">
                  <c:v>0.06</c:v>
                </c:pt>
                <c:pt idx="2">
                  <c:v>0.03</c:v>
                </c:pt>
                <c:pt idx="3">
                  <c:v>0.05</c:v>
                </c:pt>
                <c:pt idx="4">
                  <c:v>0.14000000000000001</c:v>
                </c:pt>
                <c:pt idx="5">
                  <c:v>0.12</c:v>
                </c:pt>
              </c:numCache>
            </c:numRef>
          </c:val>
          <c:extLst>
            <c:ext xmlns:c16="http://schemas.microsoft.com/office/drawing/2014/chart" uri="{C3380CC4-5D6E-409C-BE32-E72D297353CC}">
              <c16:uniqueId val="{00000005-757A-4EA2-8DF4-ED08D7AC7563}"/>
            </c:ext>
          </c:extLst>
        </c:ser>
        <c:ser>
          <c:idx val="2"/>
          <c:order val="2"/>
          <c:tx>
            <c:strRef>
              <c:f>Sheet1!$D$1</c:f>
              <c:strCache>
                <c:ptCount val="1"/>
                <c:pt idx="0">
                  <c:v>Heard of but do not know much about</c:v>
                </c:pt>
              </c:strCache>
            </c:strRef>
          </c:tx>
          <c:spPr>
            <a:solidFill>
              <a:srgbClr val="85CFC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MenQuadfi</c:v>
                </c:pt>
                <c:pt idx="1">
                  <c:v>Menveo </c:v>
                </c:pt>
                <c:pt idx="2">
                  <c:v>Bexsero </c:v>
                </c:pt>
                <c:pt idx="3">
                  <c:v>Trumenba</c:v>
                </c:pt>
                <c:pt idx="4">
                  <c:v>Penbraya</c:v>
                </c:pt>
                <c:pt idx="5">
                  <c:v>Penmenvy</c:v>
                </c:pt>
              </c:strCache>
            </c:strRef>
          </c:cat>
          <c:val>
            <c:numRef>
              <c:f>Sheet1!$D$2:$D$7</c:f>
              <c:numCache>
                <c:formatCode>0%</c:formatCode>
                <c:ptCount val="6"/>
                <c:pt idx="0">
                  <c:v>0.08</c:v>
                </c:pt>
                <c:pt idx="1">
                  <c:v>0.12</c:v>
                </c:pt>
                <c:pt idx="2">
                  <c:v>0.06</c:v>
                </c:pt>
                <c:pt idx="3">
                  <c:v>7.0000000000000007E-2</c:v>
                </c:pt>
                <c:pt idx="4">
                  <c:v>0.19</c:v>
                </c:pt>
                <c:pt idx="5">
                  <c:v>0.23</c:v>
                </c:pt>
              </c:numCache>
            </c:numRef>
          </c:val>
          <c:extLst>
            <c:ext xmlns:c16="http://schemas.microsoft.com/office/drawing/2014/chart" uri="{C3380CC4-5D6E-409C-BE32-E72D297353CC}">
              <c16:uniqueId val="{00000006-757A-4EA2-8DF4-ED08D7AC7563}"/>
            </c:ext>
          </c:extLst>
        </c:ser>
        <c:ser>
          <c:idx val="3"/>
          <c:order val="3"/>
          <c:tx>
            <c:strRef>
              <c:f>Sheet1!$E$1</c:f>
              <c:strCache>
                <c:ptCount val="1"/>
                <c:pt idx="0">
                  <c:v>Somewhat familiar</c:v>
                </c:pt>
              </c:strCache>
            </c:strRef>
          </c:tx>
          <c:spPr>
            <a:solidFill>
              <a:schemeClr val="accent3"/>
            </a:solidFill>
            <a:ln>
              <a:noFill/>
            </a:ln>
            <a:effectLst/>
          </c:spPr>
          <c:invertIfNegative val="0"/>
          <c:dLbls>
            <c:dLbl>
              <c:idx val="4"/>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DDC-490E-8602-3DA656B3537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MenQuadfi</c:v>
                </c:pt>
                <c:pt idx="1">
                  <c:v>Menveo </c:v>
                </c:pt>
                <c:pt idx="2">
                  <c:v>Bexsero </c:v>
                </c:pt>
                <c:pt idx="3">
                  <c:v>Trumenba</c:v>
                </c:pt>
                <c:pt idx="4">
                  <c:v>Penbraya</c:v>
                </c:pt>
                <c:pt idx="5">
                  <c:v>Penmenvy</c:v>
                </c:pt>
              </c:strCache>
            </c:strRef>
          </c:cat>
          <c:val>
            <c:numRef>
              <c:f>Sheet1!$E$2:$E$7</c:f>
              <c:numCache>
                <c:formatCode>0%</c:formatCode>
                <c:ptCount val="6"/>
                <c:pt idx="0">
                  <c:v>0.16</c:v>
                </c:pt>
                <c:pt idx="1">
                  <c:v>0.35</c:v>
                </c:pt>
                <c:pt idx="2">
                  <c:v>0.21</c:v>
                </c:pt>
                <c:pt idx="3">
                  <c:v>0.27</c:v>
                </c:pt>
                <c:pt idx="4">
                  <c:v>0.3</c:v>
                </c:pt>
                <c:pt idx="5">
                  <c:v>0.23</c:v>
                </c:pt>
              </c:numCache>
            </c:numRef>
          </c:val>
          <c:extLst>
            <c:ext xmlns:c16="http://schemas.microsoft.com/office/drawing/2014/chart" uri="{C3380CC4-5D6E-409C-BE32-E72D297353CC}">
              <c16:uniqueId val="{00000007-757A-4EA2-8DF4-ED08D7AC7563}"/>
            </c:ext>
          </c:extLst>
        </c:ser>
        <c:ser>
          <c:idx val="4"/>
          <c:order val="4"/>
          <c:tx>
            <c:strRef>
              <c:f>Sheet1!$F$1</c:f>
              <c:strCache>
                <c:ptCount val="1"/>
                <c:pt idx="0">
                  <c:v>Very familiar</c:v>
                </c:pt>
              </c:strCache>
            </c:strRef>
          </c:tx>
          <c:spPr>
            <a:solidFill>
              <a:srgbClr val="0A8E8B"/>
            </a:solidFill>
            <a:ln>
              <a:noFill/>
            </a:ln>
            <a:effectLst/>
          </c:spPr>
          <c:invertIfNegative val="0"/>
          <c:dLbls>
            <c:dLbl>
              <c:idx val="5"/>
              <c:layout>
                <c:manualLayout>
                  <c:x val="0"/>
                  <c:y val="1.24537601039709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DDC-490E-8602-3DA656B3537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MenQuadfi</c:v>
                </c:pt>
                <c:pt idx="1">
                  <c:v>Menveo </c:v>
                </c:pt>
                <c:pt idx="2">
                  <c:v>Bexsero </c:v>
                </c:pt>
                <c:pt idx="3">
                  <c:v>Trumenba</c:v>
                </c:pt>
                <c:pt idx="4">
                  <c:v>Penbraya</c:v>
                </c:pt>
                <c:pt idx="5">
                  <c:v>Penmenvy</c:v>
                </c:pt>
              </c:strCache>
            </c:strRef>
          </c:cat>
          <c:val>
            <c:numRef>
              <c:f>Sheet1!$F$2:$F$7</c:f>
              <c:numCache>
                <c:formatCode>0%</c:formatCode>
                <c:ptCount val="6"/>
                <c:pt idx="0">
                  <c:v>0.67</c:v>
                </c:pt>
                <c:pt idx="1">
                  <c:v>0.46</c:v>
                </c:pt>
                <c:pt idx="2">
                  <c:v>0.68</c:v>
                </c:pt>
                <c:pt idx="3">
                  <c:v>0.6</c:v>
                </c:pt>
                <c:pt idx="4">
                  <c:v>0.14000000000000001</c:v>
                </c:pt>
                <c:pt idx="5">
                  <c:v>7.0000000000000007E-2</c:v>
                </c:pt>
              </c:numCache>
            </c:numRef>
          </c:val>
          <c:extLst>
            <c:ext xmlns:c16="http://schemas.microsoft.com/office/drawing/2014/chart" uri="{C3380CC4-5D6E-409C-BE32-E72D297353CC}">
              <c16:uniqueId val="{00000008-757A-4EA2-8DF4-ED08D7AC7563}"/>
            </c:ext>
          </c:extLst>
        </c:ser>
        <c:dLbls>
          <c:showLegendKey val="0"/>
          <c:showVal val="0"/>
          <c:showCatName val="0"/>
          <c:showSerName val="0"/>
          <c:showPercent val="0"/>
          <c:showBubbleSize val="0"/>
        </c:dLbls>
        <c:gapWidth val="185"/>
        <c:overlap val="100"/>
        <c:axId val="1012733344"/>
        <c:axId val="888652351"/>
        <c:extLst/>
      </c:barChart>
      <c:catAx>
        <c:axId val="1012733344"/>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88652351"/>
        <c:crosses val="autoZero"/>
        <c:auto val="1"/>
        <c:lblAlgn val="ctr"/>
        <c:lblOffset val="0"/>
        <c:noMultiLvlLbl val="0"/>
      </c:catAx>
      <c:valAx>
        <c:axId val="888652351"/>
        <c:scaling>
          <c:orientation val="minMax"/>
          <c:max val="1"/>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079544340041075"/>
          <c:y val="3.9811499846142698E-2"/>
          <c:w val="0.61715721937345291"/>
          <c:h val="0.91490931533282438"/>
        </c:manualLayout>
      </c:layout>
      <c:pieChart>
        <c:varyColors val="1"/>
        <c:ser>
          <c:idx val="0"/>
          <c:order val="0"/>
          <c:dPt>
            <c:idx val="0"/>
            <c:bubble3D val="0"/>
            <c:spPr>
              <a:solidFill>
                <a:schemeClr val="accent5"/>
              </a:solidFill>
              <a:ln w="19050">
                <a:solidFill>
                  <a:schemeClr val="lt1"/>
                </a:solid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2C2A-495A-B2E3-428A6AD8F15D}"/>
              </c:ext>
            </c:extLst>
          </c:dPt>
          <c:dPt>
            <c:idx val="1"/>
            <c:bubble3D val="0"/>
            <c:spPr>
              <a:solidFill>
                <a:schemeClr val="accent2">
                  <a:lumMod val="75000"/>
                </a:schemeClr>
              </a:solidFill>
              <a:ln w="19050">
                <a:solidFill>
                  <a:schemeClr val="lt1"/>
                </a:solid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2C2A-495A-B2E3-428A6AD8F15D}"/>
              </c:ext>
            </c:extLst>
          </c:dPt>
          <c:dPt>
            <c:idx val="2"/>
            <c:bubble3D val="0"/>
            <c:spPr>
              <a:solidFill>
                <a:schemeClr val="accent3"/>
              </a:solidFill>
              <a:ln w="19050">
                <a:solidFill>
                  <a:schemeClr val="lt1"/>
                </a:solid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2-2C2A-495A-B2E3-428A6AD8F15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3-2C2A-495A-B2E3-428A6AD8F15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4-2C2A-495A-B2E3-428A6AD8F15D}"/>
              </c:ext>
            </c:extLst>
          </c:dPt>
          <c:dLbls>
            <c:spPr>
              <a:noFill/>
              <a:ln>
                <a:noFill/>
              </a:ln>
              <a:effectLst/>
            </c:spPr>
            <c:txPr>
              <a:bodyPr rot="0" spcFirstLastPara="1" vertOverflow="clip" horzOverflow="clip" vert="horz" wrap="square" lIns="38100" tIns="19050" rIns="38100" bIns="19050" anchor="ctr" anchorCtr="0">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ext>
            </c:extLst>
          </c:dLbls>
          <c:cat>
            <c:strRef>
              <c:f>Sheet1!$B$1:$C$1</c:f>
              <c:strCache>
                <c:ptCount val="2"/>
                <c:pt idx="0">
                  <c:v>One vaccine
MenABCWY </c:v>
                </c:pt>
                <c:pt idx="1">
                  <c:v>Two separate vaccines
'MenACWY + MenB</c:v>
                </c:pt>
              </c:strCache>
            </c:strRef>
          </c:cat>
          <c:val>
            <c:numRef>
              <c:f>Sheet1!$B$2:$C$2</c:f>
              <c:numCache>
                <c:formatCode>0%</c:formatCode>
                <c:ptCount val="2"/>
                <c:pt idx="0">
                  <c:v>0.53</c:v>
                </c:pt>
                <c:pt idx="1">
                  <c:v>0.47</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2C2A-495A-B2E3-428A6AD8F15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41973362789314"/>
          <c:y val="2.7854205779300444E-2"/>
          <c:w val="0.26875817857832618"/>
          <c:h val="0.87228688004352184"/>
        </c:manualLayout>
      </c:layout>
      <c:barChart>
        <c:barDir val="col"/>
        <c:grouping val="stacked"/>
        <c:varyColors val="0"/>
        <c:ser>
          <c:idx val="0"/>
          <c:order val="0"/>
          <c:tx>
            <c:strRef>
              <c:f>Sheet1!$A$2</c:f>
              <c:strCache>
                <c:ptCount val="1"/>
                <c:pt idx="0">
                  <c:v>Refused / did not receive any meningococcal vaccine</c:v>
                </c:pt>
              </c:strCache>
            </c:strRef>
          </c:tx>
          <c:spPr>
            <a:solidFill>
              <a:schemeClr val="accent6">
                <a:lumMod val="75000"/>
              </a:schemeClr>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C4F5-4334-A22C-F46EFB9F86B4}"/>
              </c:ext>
            </c:extLst>
          </c:dPt>
          <c:dPt>
            <c:idx val="1"/>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C4F5-4334-A22C-F46EFB9F86B4}"/>
              </c:ext>
            </c:extLst>
          </c:dPt>
          <c:dPt>
            <c:idx val="2"/>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2-C4F5-4334-A22C-F46EFB9F86B4}"/>
              </c:ext>
            </c:extLst>
          </c:dPt>
          <c:dPt>
            <c:idx val="3"/>
            <c:invertIfNegative val="0"/>
            <c:bubble3D val="0"/>
            <c:extLst>
              <c:ext xmlns:c16="http://schemas.microsoft.com/office/drawing/2014/chart" uri="{C3380CC4-5D6E-409C-BE32-E72D297353CC}">
                <c16:uniqueId val="{00000003-C4F5-4334-A22C-F46EFB9F86B4}"/>
              </c:ext>
            </c:extLst>
          </c:dPt>
          <c:dPt>
            <c:idx val="4"/>
            <c:invertIfNegative val="0"/>
            <c:bubble3D val="0"/>
            <c:extLst>
              <c:ext xmlns:c16="http://schemas.microsoft.com/office/drawing/2014/chart" uri="{C3380CC4-5D6E-409C-BE32-E72D297353CC}">
                <c16:uniqueId val="{00000004-C4F5-4334-A22C-F46EFB9F86B4}"/>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c:f>
              <c:strCache>
                <c:ptCount val="1"/>
                <c:pt idx="0">
                  <c:v>Sep'25</c:v>
                </c:pt>
              </c:strCache>
            </c:strRef>
          </c:cat>
          <c:val>
            <c:numRef>
              <c:f>Sheet1!$B$2</c:f>
              <c:numCache>
                <c:formatCode>0%</c:formatCode>
                <c:ptCount val="1"/>
                <c:pt idx="0">
                  <c:v>0.08</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C4F5-4334-A22C-F46EFB9F86B4}"/>
            </c:ext>
          </c:extLst>
        </c:ser>
        <c:ser>
          <c:idx val="1"/>
          <c:order val="1"/>
          <c:tx>
            <c:strRef>
              <c:f>Sheet1!$A$3</c:f>
              <c:strCache>
                <c:ptCount val="1"/>
                <c:pt idx="0">
                  <c:v>Refused / received separate MenACWY and MenB vaccines</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Sep'25</c:v>
                </c:pt>
              </c:strCache>
            </c:strRef>
          </c:cat>
          <c:val>
            <c:numRef>
              <c:f>Sheet1!$B$3</c:f>
              <c:numCache>
                <c:formatCode>0%</c:formatCode>
                <c:ptCount val="1"/>
                <c:pt idx="0">
                  <c:v>0.16</c:v>
                </c:pt>
              </c:numCache>
            </c:numRef>
          </c:val>
          <c:extLst>
            <c:ext xmlns:c16="http://schemas.microsoft.com/office/drawing/2014/chart" uri="{C3380CC4-5D6E-409C-BE32-E72D297353CC}">
              <c16:uniqueId val="{00000006-C4F5-4334-A22C-F46EFB9F86B4}"/>
            </c:ext>
          </c:extLst>
        </c:ser>
        <c:ser>
          <c:idx val="2"/>
          <c:order val="2"/>
          <c:tx>
            <c:strRef>
              <c:f>Sheet1!$A$4</c:f>
              <c:strCache>
                <c:ptCount val="1"/>
                <c:pt idx="0">
                  <c:v>Questioned/pushed back, but ultimately received</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Sep'25</c:v>
                </c:pt>
              </c:strCache>
            </c:strRef>
          </c:cat>
          <c:val>
            <c:numRef>
              <c:f>Sheet1!$B$4</c:f>
              <c:numCache>
                <c:formatCode>0%</c:formatCode>
                <c:ptCount val="1"/>
                <c:pt idx="0">
                  <c:v>0.19</c:v>
                </c:pt>
              </c:numCache>
            </c:numRef>
          </c:val>
          <c:extLst>
            <c:ext xmlns:c16="http://schemas.microsoft.com/office/drawing/2014/chart" uri="{C3380CC4-5D6E-409C-BE32-E72D297353CC}">
              <c16:uniqueId val="{00000007-C4F5-4334-A22C-F46EFB9F86B4}"/>
            </c:ext>
          </c:extLst>
        </c:ser>
        <c:ser>
          <c:idx val="3"/>
          <c:order val="3"/>
          <c:tx>
            <c:strRef>
              <c:f>Sheet1!$A$5</c:f>
              <c:strCache>
                <c:ptCount val="1"/>
                <c:pt idx="0">
                  <c:v>Accepted without question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Sep'25</c:v>
                </c:pt>
              </c:strCache>
            </c:strRef>
          </c:cat>
          <c:val>
            <c:numRef>
              <c:f>Sheet1!$B$5</c:f>
              <c:numCache>
                <c:formatCode>0%</c:formatCode>
                <c:ptCount val="1"/>
                <c:pt idx="0">
                  <c:v>0.57999999999999996</c:v>
                </c:pt>
              </c:numCache>
            </c:numRef>
          </c:val>
          <c:extLst>
            <c:ext xmlns:c16="http://schemas.microsoft.com/office/drawing/2014/chart" uri="{C3380CC4-5D6E-409C-BE32-E72D297353CC}">
              <c16:uniqueId val="{00000008-C4F5-4334-A22C-F46EFB9F86B4}"/>
            </c:ext>
          </c:extLst>
        </c:ser>
        <c:dLbls>
          <c:showLegendKey val="0"/>
          <c:showVal val="0"/>
          <c:showCatName val="0"/>
          <c:showSerName val="0"/>
          <c:showPercent val="0"/>
          <c:showBubbleSize val="0"/>
        </c:dLbls>
        <c:gapWidth val="150"/>
        <c:overlap val="100"/>
        <c:axId val="295108416"/>
        <c:axId val="294955632"/>
      </c:barChart>
      <c:catAx>
        <c:axId val="295108416"/>
        <c:scaling>
          <c:orientation val="minMax"/>
        </c:scaling>
        <c:delete val="1"/>
        <c:axPos val="b"/>
        <c:numFmt formatCode="General" sourceLinked="1"/>
        <c:majorTickMark val="out"/>
        <c:minorTickMark val="none"/>
        <c:tickLblPos val="nextTo"/>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legend>
      <c:legendPos val="r"/>
      <c:layout>
        <c:manualLayout>
          <c:xMode val="edge"/>
          <c:yMode val="edge"/>
          <c:x val="0.32616734949835041"/>
          <c:y val="6.3701000929864172E-3"/>
          <c:w val="0.51092503593922278"/>
          <c:h val="0.9648087060745235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5486908250611"/>
          <c:y val="3.1724184444907953E-2"/>
          <c:w val="0.49660869829613252"/>
          <c:h val="0.8505790912644835"/>
        </c:manualLayout>
      </c:layout>
      <c:barChart>
        <c:barDir val="col"/>
        <c:grouping val="clustered"/>
        <c:varyColors val="0"/>
        <c:ser>
          <c:idx val="0"/>
          <c:order val="0"/>
          <c:tx>
            <c:strRef>
              <c:f>Sheet1!$A$2</c:f>
              <c:strCache>
                <c:ptCount val="1"/>
                <c:pt idx="0">
                  <c:v>Sep'25</c:v>
                </c:pt>
              </c:strCache>
            </c:strRef>
          </c:tx>
          <c:spPr>
            <a:solidFill>
              <a:schemeClr val="accent2"/>
            </a:solidFill>
            <a:ln>
              <a:noFill/>
            </a:ln>
            <a:effectLst/>
          </c:spPr>
          <c:invertIfNegative val="0"/>
          <c:dPt>
            <c:idx val="0"/>
            <c:invertIfNegative val="0"/>
            <c:bubble3D val="0"/>
            <c:spPr>
              <a:solidFill>
                <a:schemeClr val="accent3"/>
              </a:solidFill>
              <a:ln>
                <a:noFill/>
              </a:ln>
              <a:effectLst/>
            </c:spPr>
            <c:extLst>
              <c:ext xmlns:c16="http://schemas.microsoft.com/office/drawing/2014/chart" uri="{C3380CC4-5D6E-409C-BE32-E72D297353CC}">
                <c16:uniqueId val="{00000001-3353-48BF-9ED3-DAB0A31B1357}"/>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 Discussing</c:v>
                </c:pt>
              </c:strCache>
            </c:strRef>
          </c:cat>
          <c:val>
            <c:numRef>
              <c:f>Sheet1!$B$2</c:f>
              <c:numCache>
                <c:formatCode>0%</c:formatCode>
                <c:ptCount val="1"/>
                <c:pt idx="0">
                  <c:v>0.94</c:v>
                </c:pt>
              </c:numCache>
            </c:numRef>
          </c:val>
          <c:extLst>
            <c:ext xmlns:c16="http://schemas.microsoft.com/office/drawing/2014/chart" uri="{C3380CC4-5D6E-409C-BE32-E72D297353CC}">
              <c16:uniqueId val="{00000002-3353-48BF-9ED3-DAB0A31B1357}"/>
            </c:ext>
          </c:extLst>
        </c:ser>
        <c:dLbls>
          <c:showLegendKey val="0"/>
          <c:showVal val="0"/>
          <c:showCatName val="0"/>
          <c:showSerName val="0"/>
          <c:showPercent val="0"/>
          <c:showBubbleSize val="0"/>
        </c:dLbls>
        <c:gapWidth val="150"/>
        <c:axId val="1012733344"/>
        <c:axId val="888652351"/>
      </c:barChart>
      <c:catAx>
        <c:axId val="1012733344"/>
        <c:scaling>
          <c:orientation val="minMax"/>
        </c:scaling>
        <c:delete val="1"/>
        <c:axPos val="b"/>
        <c:numFmt formatCode="General" sourceLinked="1"/>
        <c:majorTickMark val="none"/>
        <c:minorTickMark val="none"/>
        <c:tickLblPos val="nextTo"/>
        <c:crossAx val="888652351"/>
        <c:crosses val="autoZero"/>
        <c:auto val="1"/>
        <c:lblAlgn val="ctr"/>
        <c:lblOffset val="0"/>
        <c:noMultiLvlLbl val="0"/>
      </c:catAx>
      <c:valAx>
        <c:axId val="888652351"/>
        <c:scaling>
          <c:orientation val="minMax"/>
          <c:max val="1.25"/>
          <c:min val="0"/>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6060618660488215"/>
          <c:y val="4.9832393770100743E-2"/>
          <c:w val="0.24736067054166014"/>
          <c:h val="0.92794647260774987"/>
        </c:manualLayout>
      </c:layout>
      <c:barChart>
        <c:barDir val="bar"/>
        <c:grouping val="clustered"/>
        <c:varyColors val="0"/>
        <c:ser>
          <c:idx val="0"/>
          <c:order val="0"/>
          <c:tx>
            <c:strRef>
              <c:f>Sheet1!$B$1</c:f>
              <c:strCache>
                <c:ptCount val="1"/>
                <c:pt idx="0">
                  <c:v>Column1</c:v>
                </c:pt>
              </c:strCache>
            </c:strRef>
          </c:tx>
          <c:spPr>
            <a:solidFill>
              <a:schemeClr val="accent3"/>
            </a:solidFill>
            <a:ln>
              <a:noFill/>
            </a:ln>
            <a:effectLst/>
          </c:spPr>
          <c:invertIfNegative val="0"/>
          <c:dPt>
            <c:idx val="1"/>
            <c:invertIfNegative val="0"/>
            <c:bubble3D val="0"/>
            <c:spPr>
              <a:solidFill>
                <a:schemeClr val="accent3"/>
              </a:solidFill>
              <a:ln>
                <a:noFill/>
              </a:ln>
              <a:effectLst/>
            </c:spPr>
            <c:extLst>
              <c:ext xmlns:c16="http://schemas.microsoft.com/office/drawing/2014/chart" uri="{C3380CC4-5D6E-409C-BE32-E72D297353CC}">
                <c16:uniqueId val="{00000001-B919-4020-B1D6-C902A9E2FF6D}"/>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3-B919-4020-B1D6-C902A9E2FF6D}"/>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5-B919-4020-B1D6-C902A9E2FF6D}"/>
              </c:ext>
            </c:extLst>
          </c:dPt>
          <c:dPt>
            <c:idx val="4"/>
            <c:invertIfNegative val="0"/>
            <c:bubble3D val="0"/>
            <c:spPr>
              <a:solidFill>
                <a:schemeClr val="accent3"/>
              </a:solidFill>
              <a:ln>
                <a:noFill/>
              </a:ln>
              <a:effectLst/>
            </c:spPr>
            <c:extLst>
              <c:ext xmlns:c16="http://schemas.microsoft.com/office/drawing/2014/chart" uri="{C3380CC4-5D6E-409C-BE32-E72D297353CC}">
                <c16:uniqueId val="{00000007-B919-4020-B1D6-C902A9E2FF6D}"/>
              </c:ext>
            </c:extLst>
          </c:dPt>
          <c:dPt>
            <c:idx val="5"/>
            <c:invertIfNegative val="0"/>
            <c:bubble3D val="0"/>
            <c:spPr>
              <a:solidFill>
                <a:schemeClr val="accent3"/>
              </a:solidFill>
              <a:ln>
                <a:noFill/>
              </a:ln>
              <a:effectLst/>
            </c:spPr>
            <c:extLst>
              <c:ext xmlns:c16="http://schemas.microsoft.com/office/drawing/2014/chart" uri="{C3380CC4-5D6E-409C-BE32-E72D297353CC}">
                <c16:uniqueId val="{00000009-B919-4020-B1D6-C902A9E2FF6D}"/>
              </c:ext>
            </c:extLst>
          </c:dPt>
          <c:dPt>
            <c:idx val="6"/>
            <c:invertIfNegative val="0"/>
            <c:bubble3D val="0"/>
            <c:spPr>
              <a:solidFill>
                <a:schemeClr val="accent3"/>
              </a:solidFill>
              <a:ln>
                <a:noFill/>
              </a:ln>
              <a:effectLst/>
            </c:spPr>
            <c:extLst>
              <c:ext xmlns:c16="http://schemas.microsoft.com/office/drawing/2014/chart" uri="{C3380CC4-5D6E-409C-BE32-E72D297353CC}">
                <c16:uniqueId val="{0000000B-B919-4020-B1D6-C902A9E2FF6D}"/>
              </c:ext>
            </c:extLst>
          </c:dPt>
          <c:dPt>
            <c:idx val="7"/>
            <c:invertIfNegative val="0"/>
            <c:bubble3D val="0"/>
            <c:spPr>
              <a:solidFill>
                <a:schemeClr val="accent3"/>
              </a:solidFill>
              <a:ln>
                <a:noFill/>
              </a:ln>
              <a:effectLst/>
            </c:spPr>
            <c:extLst>
              <c:ext xmlns:c16="http://schemas.microsoft.com/office/drawing/2014/chart" uri="{C3380CC4-5D6E-409C-BE32-E72D297353CC}">
                <c16:uniqueId val="{0000000D-B919-4020-B1D6-C902A9E2FF6D}"/>
              </c:ext>
            </c:extLst>
          </c:dPt>
          <c:dPt>
            <c:idx val="8"/>
            <c:invertIfNegative val="0"/>
            <c:bubble3D val="0"/>
            <c:spPr>
              <a:solidFill>
                <a:schemeClr val="accent3"/>
              </a:solidFill>
              <a:ln>
                <a:noFill/>
              </a:ln>
              <a:effectLst/>
            </c:spPr>
            <c:extLst>
              <c:ext xmlns:c16="http://schemas.microsoft.com/office/drawing/2014/chart" uri="{C3380CC4-5D6E-409C-BE32-E72D297353CC}">
                <c16:uniqueId val="{0000000F-B919-4020-B1D6-C902A9E2FF6D}"/>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1-B919-4020-B1D6-C902A9E2FF6D}"/>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3-B919-4020-B1D6-C902A9E2FF6D}"/>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5-B919-4020-B1D6-C902A9E2FF6D}"/>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7-B919-4020-B1D6-C902A9E2FF6D}"/>
              </c:ext>
            </c:extLst>
          </c:dPt>
          <c:dPt>
            <c:idx val="13"/>
            <c:invertIfNegative val="0"/>
            <c:bubble3D val="0"/>
            <c:spPr>
              <a:solidFill>
                <a:schemeClr val="accent3"/>
              </a:solidFill>
              <a:ln>
                <a:noFill/>
              </a:ln>
              <a:effectLst/>
            </c:spPr>
            <c:extLst>
              <c:ext xmlns:c16="http://schemas.microsoft.com/office/drawing/2014/chart" uri="{C3380CC4-5D6E-409C-BE32-E72D297353CC}">
                <c16:uniqueId val="{00000019-B919-4020-B1D6-C902A9E2FF6D}"/>
              </c:ext>
            </c:extLst>
          </c:dPt>
          <c:dPt>
            <c:idx val="14"/>
            <c:invertIfNegative val="0"/>
            <c:bubble3D val="0"/>
            <c:spPr>
              <a:solidFill>
                <a:schemeClr val="accent3"/>
              </a:solidFill>
              <a:ln>
                <a:noFill/>
              </a:ln>
              <a:effectLst/>
            </c:spPr>
            <c:extLst>
              <c:ext xmlns:c16="http://schemas.microsoft.com/office/drawing/2014/chart" uri="{C3380CC4-5D6E-409C-BE32-E72D297353CC}">
                <c16:uniqueId val="{0000001B-B919-4020-B1D6-C902A9E2FF6D}"/>
              </c:ext>
            </c:extLst>
          </c:dPt>
          <c:dPt>
            <c:idx val="15"/>
            <c:invertIfNegative val="0"/>
            <c:bubble3D val="0"/>
            <c:spPr>
              <a:solidFill>
                <a:schemeClr val="accent3"/>
              </a:solidFill>
              <a:ln>
                <a:noFill/>
              </a:ln>
              <a:effectLst/>
            </c:spPr>
            <c:extLst>
              <c:ext xmlns:c16="http://schemas.microsoft.com/office/drawing/2014/chart" uri="{C3380CC4-5D6E-409C-BE32-E72D297353CC}">
                <c16:uniqueId val="{0000001D-B919-4020-B1D6-C902A9E2FF6D}"/>
              </c:ext>
            </c:extLst>
          </c:dPt>
          <c:dPt>
            <c:idx val="16"/>
            <c:invertIfNegative val="0"/>
            <c:bubble3D val="0"/>
            <c:spPr>
              <a:solidFill>
                <a:schemeClr val="accent3"/>
              </a:solidFill>
              <a:ln>
                <a:noFill/>
              </a:ln>
              <a:effectLst/>
            </c:spPr>
            <c:extLst>
              <c:ext xmlns:c16="http://schemas.microsoft.com/office/drawing/2014/chart" uri="{C3380CC4-5D6E-409C-BE32-E72D297353CC}">
                <c16:uniqueId val="{0000001F-B919-4020-B1D6-C902A9E2FF6D}"/>
              </c:ext>
            </c:extLst>
          </c:dPt>
          <c:dPt>
            <c:idx val="19"/>
            <c:invertIfNegative val="0"/>
            <c:bubble3D val="0"/>
            <c:spPr>
              <a:solidFill>
                <a:schemeClr val="accent3"/>
              </a:solidFill>
              <a:ln>
                <a:noFill/>
              </a:ln>
              <a:effectLst/>
            </c:spPr>
            <c:extLst>
              <c:ext xmlns:c16="http://schemas.microsoft.com/office/drawing/2014/chart" uri="{C3380CC4-5D6E-409C-BE32-E72D297353CC}">
                <c16:uniqueId val="{00000021-B919-4020-B1D6-C902A9E2FF6D}"/>
              </c:ext>
            </c:extLst>
          </c:dPt>
          <c:dPt>
            <c:idx val="20"/>
            <c:invertIfNegative val="0"/>
            <c:bubble3D val="0"/>
            <c:spPr>
              <a:solidFill>
                <a:schemeClr val="accent3"/>
              </a:solidFill>
              <a:ln>
                <a:noFill/>
              </a:ln>
              <a:effectLst/>
            </c:spPr>
            <c:extLst>
              <c:ext xmlns:c16="http://schemas.microsoft.com/office/drawing/2014/chart" uri="{C3380CC4-5D6E-409C-BE32-E72D297353CC}">
                <c16:uniqueId val="{00000023-B919-4020-B1D6-C902A9E2FF6D}"/>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It is recommended that patients receive 2 doses for MenACWY vaccination</c:v>
                </c:pt>
                <c:pt idx="1">
                  <c:v>Administration of MenACWY and MenB can be indicated in the same visit</c:v>
                </c:pt>
                <c:pt idx="2">
                  <c:v>MenB is recommended based on shared clinical decision making to be
administered to adolescents ages 16-23 years, with preferred age of 16-18</c:v>
                </c:pt>
                <c:pt idx="3">
                  <c:v>It is recommended that patients receive 2 doses for MenB vaccination</c:v>
                </c:pt>
                <c:pt idx="4">
                  <c:v>MenABCWY vaccine may be used when both MenACWY and MenB
are indicated at the same visit</c:v>
                </c:pt>
                <c:pt idx="5">
                  <c:v>When using a MenABCWY pentavalent vaccine to protect against MenB, a dose of MenB vaccine from same manufacturer should be followed at least 6 months apart</c:v>
                </c:pt>
              </c:strCache>
            </c:strRef>
          </c:cat>
          <c:val>
            <c:numRef>
              <c:f>Sheet1!$B$2:$B$7</c:f>
              <c:numCache>
                <c:formatCode>0%</c:formatCode>
                <c:ptCount val="6"/>
                <c:pt idx="0">
                  <c:v>0.84</c:v>
                </c:pt>
                <c:pt idx="1">
                  <c:v>0.83</c:v>
                </c:pt>
                <c:pt idx="2">
                  <c:v>0.82</c:v>
                </c:pt>
                <c:pt idx="3">
                  <c:v>0.81</c:v>
                </c:pt>
                <c:pt idx="4">
                  <c:v>0.81</c:v>
                </c:pt>
                <c:pt idx="5">
                  <c:v>0.62</c:v>
                </c:pt>
              </c:numCache>
            </c:numRef>
          </c:val>
          <c:extLst>
            <c:ext xmlns:c16="http://schemas.microsoft.com/office/drawing/2014/chart" uri="{C3380CC4-5D6E-409C-BE32-E72D297353CC}">
              <c16:uniqueId val="{00000024-B919-4020-B1D6-C902A9E2FF6D}"/>
            </c:ext>
          </c:extLst>
        </c:ser>
        <c:dLbls>
          <c:showLegendKey val="0"/>
          <c:showVal val="1"/>
          <c:showCatName val="0"/>
          <c:showSerName val="0"/>
          <c:showPercent val="0"/>
          <c:showBubbleSize val="0"/>
        </c:dLbls>
        <c:gapWidth val="100"/>
        <c:axId val="1544824944"/>
        <c:axId val="1544829264"/>
      </c:barChart>
      <c:catAx>
        <c:axId val="1544824944"/>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200" b="0" i="0" u="none" strike="noStrike" kern="1200" baseline="0">
                <a:solidFill>
                  <a:schemeClr val="tx1"/>
                </a:solidFill>
                <a:latin typeface="+mn-lt"/>
                <a:ea typeface="+mn-ea"/>
                <a:cs typeface="+mn-cs"/>
              </a:defRPr>
            </a:pPr>
            <a:endParaRPr lang="en-US"/>
          </a:p>
        </c:txPr>
        <c:crossAx val="1544829264"/>
        <c:crosses val="autoZero"/>
        <c:auto val="1"/>
        <c:lblAlgn val="ctr"/>
        <c:lblOffset val="0"/>
        <c:noMultiLvlLbl val="0"/>
      </c:catAx>
      <c:valAx>
        <c:axId val="1544829264"/>
        <c:scaling>
          <c:orientation val="minMax"/>
          <c:max val="1"/>
        </c:scaling>
        <c:delete val="1"/>
        <c:axPos val="b"/>
        <c:numFmt formatCode="0%" sourceLinked="1"/>
        <c:majorTickMark val="out"/>
        <c:minorTickMark val="none"/>
        <c:tickLblPos val="nextTo"/>
        <c:crossAx val="154482494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077997400934646E-2"/>
          <c:y val="0.11072659384585019"/>
          <c:w val="0.8099622463822953"/>
          <c:h val="0.84362151213974379"/>
        </c:manualLayout>
      </c:layout>
      <c:barChart>
        <c:barDir val="bar"/>
        <c:grouping val="stacked"/>
        <c:varyColors val="0"/>
        <c:ser>
          <c:idx val="0"/>
          <c:order val="0"/>
          <c:tx>
            <c:strRef>
              <c:f>Sheet1!$B$1</c:f>
              <c:strCache>
                <c:ptCount val="1"/>
                <c:pt idx="0">
                  <c:v>(4)</c:v>
                </c:pt>
              </c:strCache>
            </c:strRef>
          </c:tx>
          <c:spPr>
            <a:solidFill>
              <a:srgbClr val="85CFC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TOTAL</c:v>
                </c:pt>
                <c:pt idx="1">
                  <c:v>TOTAL</c:v>
                </c:pt>
                <c:pt idx="2">
                  <c:v>TOTAL</c:v>
                </c:pt>
                <c:pt idx="3">
                  <c:v>TOTAL</c:v>
                </c:pt>
              </c:strCache>
              <c:extLst/>
            </c:strRef>
          </c:cat>
          <c:val>
            <c:numRef>
              <c:f>Sheet1!$B$2:$B$16</c:f>
              <c:numCache>
                <c:formatCode>0%</c:formatCode>
                <c:ptCount val="4"/>
                <c:pt idx="0">
                  <c:v>0.14000000000000001</c:v>
                </c:pt>
                <c:pt idx="1">
                  <c:v>0.33</c:v>
                </c:pt>
                <c:pt idx="2">
                  <c:v>0.35</c:v>
                </c:pt>
                <c:pt idx="3">
                  <c:v>0.33</c:v>
                </c:pt>
              </c:numCache>
              <c:extLst/>
            </c:numRef>
          </c:val>
          <c:extLst xmlns:c15="http://schemas.microsoft.com/office/drawing/2012/chart">
            <c:ext xmlns:c16="http://schemas.microsoft.com/office/drawing/2014/chart" uri="{C3380CC4-5D6E-409C-BE32-E72D297353CC}">
              <c16:uniqueId val="{00000000-757A-4EA2-8DF4-ED08D7AC7563}"/>
            </c:ext>
          </c:extLst>
        </c:ser>
        <c:ser>
          <c:idx val="1"/>
          <c:order val="1"/>
          <c:tx>
            <c:strRef>
              <c:f>Sheet1!$C$1</c:f>
              <c:strCache>
                <c:ptCount val="1"/>
                <c:pt idx="0">
                  <c:v>(5 - Completely Agree)</c:v>
                </c:pt>
              </c:strCache>
            </c:strRef>
          </c:tx>
          <c:spPr>
            <a:solidFill>
              <a:srgbClr val="0A8E8B"/>
            </a:solidFill>
            <a:ln>
              <a:noFill/>
            </a:ln>
            <a:effectLst/>
          </c:spPr>
          <c:invertIfNegative val="0"/>
          <c:dLbls>
            <c:dLbl>
              <c:idx val="3"/>
              <c:layout>
                <c:manualLayout>
                  <c:x val="-1.281436823651085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FFB-4F86-931B-7640D5A5658B}"/>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TOTAL</c:v>
                </c:pt>
                <c:pt idx="1">
                  <c:v>TOTAL</c:v>
                </c:pt>
                <c:pt idx="2">
                  <c:v>TOTAL</c:v>
                </c:pt>
                <c:pt idx="3">
                  <c:v>TOTAL</c:v>
                </c:pt>
              </c:strCache>
              <c:extLst/>
            </c:strRef>
          </c:cat>
          <c:val>
            <c:numRef>
              <c:f>Sheet1!$C$2:$C$16</c:f>
              <c:numCache>
                <c:formatCode>0%</c:formatCode>
                <c:ptCount val="4"/>
                <c:pt idx="0">
                  <c:v>0.81</c:v>
                </c:pt>
                <c:pt idx="1">
                  <c:v>0.59</c:v>
                </c:pt>
                <c:pt idx="2">
                  <c:v>0.2</c:v>
                </c:pt>
                <c:pt idx="3">
                  <c:v>0.11</c:v>
                </c:pt>
              </c:numCache>
              <c:extLst/>
            </c:numRef>
          </c:val>
          <c:extLst>
            <c:ext xmlns:c16="http://schemas.microsoft.com/office/drawing/2014/chart" uri="{C3380CC4-5D6E-409C-BE32-E72D297353CC}">
              <c16:uniqueId val="{00000005-757A-4EA2-8DF4-ED08D7AC7563}"/>
            </c:ext>
          </c:extLst>
        </c:ser>
        <c:ser>
          <c:idx val="2"/>
          <c:order val="2"/>
          <c:tx>
            <c:strRef>
              <c:f>Sheet1!$D$1</c:f>
              <c:strCache>
                <c:ptCount val="1"/>
                <c:pt idx="0">
                  <c:v>(Net)-Top Two Boxes</c:v>
                </c:pt>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TOTAL</c:v>
                </c:pt>
                <c:pt idx="1">
                  <c:v>TOTAL</c:v>
                </c:pt>
                <c:pt idx="2">
                  <c:v>TOTAL</c:v>
                </c:pt>
                <c:pt idx="3">
                  <c:v>TOTAL</c:v>
                </c:pt>
              </c:strCache>
              <c:extLst/>
            </c:strRef>
          </c:cat>
          <c:val>
            <c:numRef>
              <c:f>Sheet1!$D$2:$D$16</c:f>
              <c:numCache>
                <c:formatCode>0%</c:formatCode>
                <c:ptCount val="4"/>
                <c:pt idx="0">
                  <c:v>0.94</c:v>
                </c:pt>
                <c:pt idx="1">
                  <c:v>0.92</c:v>
                </c:pt>
                <c:pt idx="2">
                  <c:v>0.55000000000000004</c:v>
                </c:pt>
                <c:pt idx="3">
                  <c:v>0.44</c:v>
                </c:pt>
              </c:numCache>
              <c:extLst/>
            </c:numRef>
          </c:val>
          <c:extLst>
            <c:ext xmlns:c16="http://schemas.microsoft.com/office/drawing/2014/chart" uri="{C3380CC4-5D6E-409C-BE32-E72D297353CC}">
              <c16:uniqueId val="{00000006-757A-4EA2-8DF4-ED08D7AC7563}"/>
            </c:ext>
          </c:extLst>
        </c:ser>
        <c:dLbls>
          <c:showLegendKey val="0"/>
          <c:showVal val="0"/>
          <c:showCatName val="0"/>
          <c:showSerName val="0"/>
          <c:showPercent val="0"/>
          <c:showBubbleSize val="0"/>
        </c:dLbls>
        <c:gapWidth val="150"/>
        <c:overlap val="100"/>
        <c:axId val="1012733344"/>
        <c:axId val="888652351"/>
        <c:extLst/>
      </c:barChart>
      <c:catAx>
        <c:axId val="1012733344"/>
        <c:scaling>
          <c:orientation val="maxMin"/>
        </c:scaling>
        <c:delete val="1"/>
        <c:axPos val="l"/>
        <c:numFmt formatCode="General" sourceLinked="1"/>
        <c:majorTickMark val="none"/>
        <c:minorTickMark val="none"/>
        <c:tickLblPos val="high"/>
        <c:crossAx val="888652351"/>
        <c:crosses val="autoZero"/>
        <c:auto val="1"/>
        <c:lblAlgn val="ctr"/>
        <c:lblOffset val="0"/>
        <c:noMultiLvlLbl val="0"/>
      </c:catAx>
      <c:valAx>
        <c:axId val="888652351"/>
        <c:scaling>
          <c:orientation val="minMax"/>
          <c:max val="1.1000000000000001"/>
          <c:min val="0"/>
        </c:scaling>
        <c:delete val="1"/>
        <c:axPos val="t"/>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077997400934646E-2"/>
          <c:y val="0.11072659384585019"/>
          <c:w val="0.79287642206694753"/>
          <c:h val="0.84362151213974379"/>
        </c:manualLayout>
      </c:layout>
      <c:barChart>
        <c:barDir val="bar"/>
        <c:grouping val="stacked"/>
        <c:varyColors val="0"/>
        <c:ser>
          <c:idx val="0"/>
          <c:order val="0"/>
          <c:tx>
            <c:strRef>
              <c:f>Sheet1!$B$1</c:f>
              <c:strCache>
                <c:ptCount val="1"/>
                <c:pt idx="0">
                  <c:v>(4)</c:v>
                </c:pt>
              </c:strCache>
            </c:strRef>
          </c:tx>
          <c:spPr>
            <a:solidFill>
              <a:srgbClr val="85CFCD"/>
            </a:solidFill>
            <a:ln>
              <a:noFill/>
            </a:ln>
            <a:effectLst/>
          </c:spPr>
          <c:invertIfNegative val="0"/>
          <c:dLbls>
            <c:dLbl>
              <c:idx val="0"/>
              <c:layout>
                <c:manualLayout>
                  <c:x val="1.2814368236510859E-2"/>
                  <c:y val="2.6553767132926442E-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E5A-42ED-9ED7-36AA67520DFC}"/>
                </c:ext>
              </c:extLst>
            </c:dLbl>
            <c:dLbl>
              <c:idx val="3"/>
              <c:tx>
                <c:rich>
                  <a:bodyPr/>
                  <a:lstStyle/>
                  <a:p>
                    <a:fld id="{0BBA9E5B-1716-4CE5-AF39-3B3A9CCD444A}" type="VALUE">
                      <a:rPr lang="en-US" smtClean="0"/>
                      <a:pPr/>
                      <a:t>[VALUE]</a:t>
                    </a:fld>
                    <a:r>
                      <a:rPr lang="en-US" baseline="50000"/>
                      <a:t>B</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BE5A-42ED-9ED7-36AA67520DF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PED</c:v>
                </c:pt>
                <c:pt idx="1">
                  <c:v>PED</c:v>
                </c:pt>
                <c:pt idx="2">
                  <c:v>PED</c:v>
                </c:pt>
                <c:pt idx="3">
                  <c:v>PED</c:v>
                </c:pt>
              </c:strCache>
              <c:extLst/>
            </c:strRef>
          </c:cat>
          <c:val>
            <c:numRef>
              <c:f>Sheet1!$B$2:$B$16</c:f>
              <c:numCache>
                <c:formatCode>0%</c:formatCode>
                <c:ptCount val="4"/>
                <c:pt idx="0">
                  <c:v>0.1</c:v>
                </c:pt>
                <c:pt idx="1">
                  <c:v>0.31</c:v>
                </c:pt>
                <c:pt idx="2">
                  <c:v>0.36</c:v>
                </c:pt>
                <c:pt idx="3">
                  <c:v>0.37</c:v>
                </c:pt>
              </c:numCache>
              <c:extLst/>
            </c:numRef>
          </c:val>
          <c:extLst xmlns:c15="http://schemas.microsoft.com/office/drawing/2012/chart">
            <c:ext xmlns:c16="http://schemas.microsoft.com/office/drawing/2014/chart" uri="{C3380CC4-5D6E-409C-BE32-E72D297353CC}">
              <c16:uniqueId val="{00000000-757A-4EA2-8DF4-ED08D7AC7563}"/>
            </c:ext>
          </c:extLst>
        </c:ser>
        <c:ser>
          <c:idx val="1"/>
          <c:order val="1"/>
          <c:tx>
            <c:strRef>
              <c:f>Sheet1!$C$1</c:f>
              <c:strCache>
                <c:ptCount val="1"/>
                <c:pt idx="0">
                  <c:v>(5 - Completely Agree)</c:v>
                </c:pt>
              </c:strCache>
            </c:strRef>
          </c:tx>
          <c:spPr>
            <a:solidFill>
              <a:srgbClr val="0A8E8B"/>
            </a:solidFill>
            <a:ln>
              <a:noFill/>
            </a:ln>
            <a:effectLst/>
          </c:spPr>
          <c:invertIfNegative val="0"/>
          <c:dLbls>
            <c:dLbl>
              <c:idx val="0"/>
              <c:tx>
                <c:rich>
                  <a:bodyPr/>
                  <a:lstStyle/>
                  <a:p>
                    <a:fld id="{6238321F-338A-4A9B-953D-21C71DBAB8DE}" type="VALUE">
                      <a:rPr lang="en-US" smtClean="0"/>
                      <a:pPr/>
                      <a:t>[VALUE]</a:t>
                    </a:fld>
                    <a:r>
                      <a:rPr lang="en-US" baseline="50000"/>
                      <a:t>B</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BE5A-42ED-9ED7-36AA67520DFC}"/>
                </c:ext>
              </c:extLst>
            </c:dLbl>
            <c:dLbl>
              <c:idx val="1"/>
              <c:tx>
                <c:rich>
                  <a:bodyPr/>
                  <a:lstStyle/>
                  <a:p>
                    <a:fld id="{A66CAACE-CE34-4233-9434-2038D234ED05}" type="VALUE">
                      <a:rPr lang="en-US" smtClean="0"/>
                      <a:pPr/>
                      <a:t>[VALUE]</a:t>
                    </a:fld>
                    <a:r>
                      <a:rPr lang="en-US" baseline="50000"/>
                      <a:t>B</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BE5A-42ED-9ED7-36AA67520DFC}"/>
                </c:ext>
              </c:extLst>
            </c:dLbl>
            <c:dLbl>
              <c:idx val="3"/>
              <c:layout>
                <c:manualLayout>
                  <c:x val="-1.281436823651089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E5A-42ED-9ED7-36AA67520DF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PED</c:v>
                </c:pt>
                <c:pt idx="1">
                  <c:v>PED</c:v>
                </c:pt>
                <c:pt idx="2">
                  <c:v>PED</c:v>
                </c:pt>
                <c:pt idx="3">
                  <c:v>PED</c:v>
                </c:pt>
              </c:strCache>
              <c:extLst/>
            </c:strRef>
          </c:cat>
          <c:val>
            <c:numRef>
              <c:f>Sheet1!$C$2:$C$16</c:f>
              <c:numCache>
                <c:formatCode>0%</c:formatCode>
                <c:ptCount val="4"/>
                <c:pt idx="0">
                  <c:v>0.84</c:v>
                </c:pt>
                <c:pt idx="1">
                  <c:v>0.63</c:v>
                </c:pt>
                <c:pt idx="2">
                  <c:v>0.19</c:v>
                </c:pt>
                <c:pt idx="3">
                  <c:v>0.11</c:v>
                </c:pt>
              </c:numCache>
              <c:extLst/>
            </c:numRef>
          </c:val>
          <c:extLst>
            <c:ext xmlns:c16="http://schemas.microsoft.com/office/drawing/2014/chart" uri="{C3380CC4-5D6E-409C-BE32-E72D297353CC}">
              <c16:uniqueId val="{00000005-757A-4EA2-8DF4-ED08D7AC7563}"/>
            </c:ext>
          </c:extLst>
        </c:ser>
        <c:ser>
          <c:idx val="2"/>
          <c:order val="2"/>
          <c:tx>
            <c:strRef>
              <c:f>Sheet1!$D$1</c:f>
              <c:strCache>
                <c:ptCount val="1"/>
                <c:pt idx="0">
                  <c:v>(Net)-Top Two Boxes</c:v>
                </c:pt>
              </c:strCache>
            </c:strRef>
          </c:tx>
          <c:spPr>
            <a:noFill/>
            <a:ln>
              <a:noFill/>
            </a:ln>
            <a:effectLst/>
          </c:spPr>
          <c:invertIfNegative val="0"/>
          <c:dLbls>
            <c:dLbl>
              <c:idx val="3"/>
              <c:tx>
                <c:rich>
                  <a:bodyPr/>
                  <a:lstStyle/>
                  <a:p>
                    <a:fld id="{B4E8C3D3-5CAD-46FB-9931-EE0F8AA42160}" type="VALUE">
                      <a:rPr lang="en-US" smtClean="0"/>
                      <a:pPr/>
                      <a:t>[VALUE]</a:t>
                    </a:fld>
                    <a:r>
                      <a:rPr lang="en-US" baseline="50000"/>
                      <a:t>B</a:t>
                    </a:r>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E5A-42ED-9ED7-36AA67520DF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PED</c:v>
                </c:pt>
                <c:pt idx="1">
                  <c:v>PED</c:v>
                </c:pt>
                <c:pt idx="2">
                  <c:v>PED</c:v>
                </c:pt>
                <c:pt idx="3">
                  <c:v>PED</c:v>
                </c:pt>
              </c:strCache>
              <c:extLst/>
            </c:strRef>
          </c:cat>
          <c:val>
            <c:numRef>
              <c:f>Sheet1!$D$2:$D$16</c:f>
              <c:numCache>
                <c:formatCode>0%</c:formatCode>
                <c:ptCount val="4"/>
                <c:pt idx="0">
                  <c:v>0.94</c:v>
                </c:pt>
                <c:pt idx="1">
                  <c:v>0.94</c:v>
                </c:pt>
                <c:pt idx="2">
                  <c:v>0.56000000000000005</c:v>
                </c:pt>
                <c:pt idx="3">
                  <c:v>0.48</c:v>
                </c:pt>
              </c:numCache>
              <c:extLst/>
            </c:numRef>
          </c:val>
          <c:extLst>
            <c:ext xmlns:c16="http://schemas.microsoft.com/office/drawing/2014/chart" uri="{C3380CC4-5D6E-409C-BE32-E72D297353CC}">
              <c16:uniqueId val="{00000006-757A-4EA2-8DF4-ED08D7AC7563}"/>
            </c:ext>
          </c:extLst>
        </c:ser>
        <c:dLbls>
          <c:showLegendKey val="0"/>
          <c:showVal val="0"/>
          <c:showCatName val="0"/>
          <c:showSerName val="0"/>
          <c:showPercent val="0"/>
          <c:showBubbleSize val="0"/>
        </c:dLbls>
        <c:gapWidth val="150"/>
        <c:overlap val="100"/>
        <c:axId val="1012733344"/>
        <c:axId val="888652351"/>
        <c:extLst/>
      </c:barChart>
      <c:catAx>
        <c:axId val="1012733344"/>
        <c:scaling>
          <c:orientation val="maxMin"/>
        </c:scaling>
        <c:delete val="1"/>
        <c:axPos val="l"/>
        <c:numFmt formatCode="General" sourceLinked="1"/>
        <c:majorTickMark val="none"/>
        <c:minorTickMark val="none"/>
        <c:tickLblPos val="high"/>
        <c:crossAx val="888652351"/>
        <c:crosses val="autoZero"/>
        <c:auto val="1"/>
        <c:lblAlgn val="ctr"/>
        <c:lblOffset val="0"/>
        <c:noMultiLvlLbl val="0"/>
      </c:catAx>
      <c:valAx>
        <c:axId val="888652351"/>
        <c:scaling>
          <c:orientation val="minMax"/>
          <c:max val="1.1000000000000001"/>
          <c:min val="0"/>
        </c:scaling>
        <c:delete val="1"/>
        <c:axPos val="t"/>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077997400934646E-2"/>
          <c:y val="0.11072659384585019"/>
          <c:w val="0.7800620538304367"/>
          <c:h val="0.84362151213974379"/>
        </c:manualLayout>
      </c:layout>
      <c:barChart>
        <c:barDir val="bar"/>
        <c:grouping val="stacked"/>
        <c:varyColors val="0"/>
        <c:ser>
          <c:idx val="0"/>
          <c:order val="0"/>
          <c:tx>
            <c:strRef>
              <c:f>Sheet1!$B$1</c:f>
              <c:strCache>
                <c:ptCount val="1"/>
                <c:pt idx="0">
                  <c:v>(4)</c:v>
                </c:pt>
              </c:strCache>
            </c:strRef>
          </c:tx>
          <c:spPr>
            <a:solidFill>
              <a:srgbClr val="85CFCD"/>
            </a:solidFill>
            <a:ln>
              <a:noFill/>
            </a:ln>
            <a:effectLst/>
          </c:spPr>
          <c:invertIfNegative val="0"/>
          <c:dLbls>
            <c:dLbl>
              <c:idx val="0"/>
              <c:tx>
                <c:rich>
                  <a:bodyPr/>
                  <a:lstStyle/>
                  <a:p>
                    <a:fld id="{80BBCA3B-86E5-438A-87DB-38D2F07F2EC7}" type="VALUE">
                      <a:rPr lang="en-US" smtClean="0"/>
                      <a:pPr/>
                      <a:t>[VALUE]</a:t>
                    </a:fld>
                    <a:r>
                      <a:rPr lang="en-US" baseline="50000"/>
                      <a:t>A</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5FBB-4193-8096-9BF1F927BEEB}"/>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PCP</c:v>
                </c:pt>
                <c:pt idx="1">
                  <c:v>PCP</c:v>
                </c:pt>
                <c:pt idx="2">
                  <c:v>PCP</c:v>
                </c:pt>
                <c:pt idx="3">
                  <c:v>PCP</c:v>
                </c:pt>
              </c:strCache>
              <c:extLst/>
            </c:strRef>
          </c:cat>
          <c:val>
            <c:numRef>
              <c:f>Sheet1!$B$2:$B$16</c:f>
              <c:numCache>
                <c:formatCode>0%</c:formatCode>
                <c:ptCount val="4"/>
                <c:pt idx="0">
                  <c:v>0.28000000000000003</c:v>
                </c:pt>
                <c:pt idx="1">
                  <c:v>0.43</c:v>
                </c:pt>
                <c:pt idx="2">
                  <c:v>0.3</c:v>
                </c:pt>
                <c:pt idx="3">
                  <c:v>0.15</c:v>
                </c:pt>
              </c:numCache>
              <c:extLst/>
            </c:numRef>
          </c:val>
          <c:extLst xmlns:c15="http://schemas.microsoft.com/office/drawing/2012/chart">
            <c:ext xmlns:c16="http://schemas.microsoft.com/office/drawing/2014/chart" uri="{C3380CC4-5D6E-409C-BE32-E72D297353CC}">
              <c16:uniqueId val="{00000000-757A-4EA2-8DF4-ED08D7AC7563}"/>
            </c:ext>
          </c:extLst>
        </c:ser>
        <c:ser>
          <c:idx val="1"/>
          <c:order val="1"/>
          <c:tx>
            <c:strRef>
              <c:f>Sheet1!$C$1</c:f>
              <c:strCache>
                <c:ptCount val="1"/>
                <c:pt idx="0">
                  <c:v>(5 - Completely Agree)</c:v>
                </c:pt>
              </c:strCache>
            </c:strRef>
          </c:tx>
          <c:spPr>
            <a:solidFill>
              <a:srgbClr val="0A8E8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PCP</c:v>
                </c:pt>
                <c:pt idx="1">
                  <c:v>PCP</c:v>
                </c:pt>
                <c:pt idx="2">
                  <c:v>PCP</c:v>
                </c:pt>
                <c:pt idx="3">
                  <c:v>PCP</c:v>
                </c:pt>
              </c:strCache>
              <c:extLst/>
            </c:strRef>
          </c:cat>
          <c:val>
            <c:numRef>
              <c:f>Sheet1!$C$2:$C$16</c:f>
              <c:numCache>
                <c:formatCode>0%</c:formatCode>
                <c:ptCount val="4"/>
                <c:pt idx="0">
                  <c:v>0.68</c:v>
                </c:pt>
                <c:pt idx="1">
                  <c:v>0.4</c:v>
                </c:pt>
                <c:pt idx="2">
                  <c:v>0.2</c:v>
                </c:pt>
                <c:pt idx="3">
                  <c:v>0.1</c:v>
                </c:pt>
              </c:numCache>
              <c:extLst/>
            </c:numRef>
          </c:val>
          <c:extLst>
            <c:ext xmlns:c16="http://schemas.microsoft.com/office/drawing/2014/chart" uri="{C3380CC4-5D6E-409C-BE32-E72D297353CC}">
              <c16:uniqueId val="{00000005-757A-4EA2-8DF4-ED08D7AC7563}"/>
            </c:ext>
          </c:extLst>
        </c:ser>
        <c:ser>
          <c:idx val="2"/>
          <c:order val="2"/>
          <c:tx>
            <c:strRef>
              <c:f>Sheet1!$D$1</c:f>
              <c:strCache>
                <c:ptCount val="1"/>
                <c:pt idx="0">
                  <c:v>(Net)-Top Two Boxes</c:v>
                </c:pt>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4"/>
                <c:pt idx="0">
                  <c:v>PCP</c:v>
                </c:pt>
                <c:pt idx="1">
                  <c:v>PCP</c:v>
                </c:pt>
                <c:pt idx="2">
                  <c:v>PCP</c:v>
                </c:pt>
                <c:pt idx="3">
                  <c:v>PCP</c:v>
                </c:pt>
              </c:strCache>
              <c:extLst/>
            </c:strRef>
          </c:cat>
          <c:val>
            <c:numRef>
              <c:f>Sheet1!$D$2:$D$16</c:f>
              <c:numCache>
                <c:formatCode>0%</c:formatCode>
                <c:ptCount val="4"/>
                <c:pt idx="0">
                  <c:v>0.95</c:v>
                </c:pt>
                <c:pt idx="1">
                  <c:v>0.83</c:v>
                </c:pt>
                <c:pt idx="2">
                  <c:v>0.5</c:v>
                </c:pt>
                <c:pt idx="3">
                  <c:v>0.25</c:v>
                </c:pt>
              </c:numCache>
              <c:extLst/>
            </c:numRef>
          </c:val>
          <c:extLst>
            <c:ext xmlns:c16="http://schemas.microsoft.com/office/drawing/2014/chart" uri="{C3380CC4-5D6E-409C-BE32-E72D297353CC}">
              <c16:uniqueId val="{00000006-757A-4EA2-8DF4-ED08D7AC7563}"/>
            </c:ext>
          </c:extLst>
        </c:ser>
        <c:dLbls>
          <c:showLegendKey val="0"/>
          <c:showVal val="0"/>
          <c:showCatName val="0"/>
          <c:showSerName val="0"/>
          <c:showPercent val="0"/>
          <c:showBubbleSize val="0"/>
        </c:dLbls>
        <c:gapWidth val="150"/>
        <c:overlap val="100"/>
        <c:axId val="1012733344"/>
        <c:axId val="888652351"/>
        <c:extLst/>
      </c:barChart>
      <c:catAx>
        <c:axId val="1012733344"/>
        <c:scaling>
          <c:orientation val="maxMin"/>
        </c:scaling>
        <c:delete val="1"/>
        <c:axPos val="l"/>
        <c:numFmt formatCode="General" sourceLinked="1"/>
        <c:majorTickMark val="none"/>
        <c:minorTickMark val="none"/>
        <c:tickLblPos val="high"/>
        <c:crossAx val="888652351"/>
        <c:crosses val="autoZero"/>
        <c:auto val="1"/>
        <c:lblAlgn val="ctr"/>
        <c:lblOffset val="0"/>
        <c:noMultiLvlLbl val="0"/>
      </c:catAx>
      <c:valAx>
        <c:axId val="888652351"/>
        <c:scaling>
          <c:orientation val="minMax"/>
          <c:max val="1.1000000000000001"/>
          <c:min val="0"/>
        </c:scaling>
        <c:delete val="1"/>
        <c:axPos val="t"/>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652794512708732E-2"/>
          <c:y val="0.10177928168558156"/>
          <c:w val="0.9295639034852976"/>
          <c:h val="0.7207214220769248"/>
        </c:manualLayout>
      </c:layout>
      <c:barChart>
        <c:barDir val="col"/>
        <c:grouping val="clustered"/>
        <c:varyColors val="0"/>
        <c:ser>
          <c:idx val="0"/>
          <c:order val="0"/>
          <c:tx>
            <c:strRef>
              <c:f>Sheet1!$B$1</c:f>
              <c:strCache>
                <c:ptCount val="1"/>
                <c:pt idx="0">
                  <c:v> TOTAL</c:v>
                </c:pt>
              </c:strCache>
            </c:strRef>
          </c:tx>
          <c:spPr>
            <a:solidFill>
              <a:schemeClr val="tx1">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MenQuadfi</c:v>
                </c:pt>
                <c:pt idx="1">
                  <c:v>Bexsero</c:v>
                </c:pt>
                <c:pt idx="2">
                  <c:v>Trumenba</c:v>
                </c:pt>
                <c:pt idx="3">
                  <c:v>Menveo</c:v>
                </c:pt>
                <c:pt idx="4">
                  <c:v>Penbraya</c:v>
                </c:pt>
              </c:strCache>
            </c:strRef>
          </c:cat>
          <c:val>
            <c:numRef>
              <c:f>Sheet1!$B$2:$B$6</c:f>
              <c:numCache>
                <c:formatCode>0%</c:formatCode>
                <c:ptCount val="5"/>
                <c:pt idx="0">
                  <c:v>0.76</c:v>
                </c:pt>
                <c:pt idx="1">
                  <c:v>0.67</c:v>
                </c:pt>
                <c:pt idx="2">
                  <c:v>0.51</c:v>
                </c:pt>
                <c:pt idx="3">
                  <c:v>0.39</c:v>
                </c:pt>
                <c:pt idx="4">
                  <c:v>0.17</c:v>
                </c:pt>
              </c:numCache>
            </c:numRef>
          </c:val>
          <c:extLst>
            <c:ext xmlns:c16="http://schemas.microsoft.com/office/drawing/2014/chart" uri="{C3380CC4-5D6E-409C-BE32-E72D297353CC}">
              <c16:uniqueId val="{00000000-AE46-468D-8A6F-F911428B6D40}"/>
            </c:ext>
          </c:extLst>
        </c:ser>
        <c:ser>
          <c:idx val="1"/>
          <c:order val="1"/>
          <c:tx>
            <c:strRef>
              <c:f>Sheet1!$C$1</c:f>
              <c:strCache>
                <c:ptCount val="1"/>
                <c:pt idx="0">
                  <c:v> PED</c:v>
                </c:pt>
              </c:strCache>
            </c:strRef>
          </c:tx>
          <c:spPr>
            <a:solidFill>
              <a:schemeClr val="accent2"/>
            </a:solidFill>
            <a:ln>
              <a:noFill/>
            </a:ln>
            <a:effectLst/>
          </c:spPr>
          <c:invertIfNegative val="0"/>
          <c:dLbls>
            <c:dLbl>
              <c:idx val="0"/>
              <c:tx>
                <c:rich>
                  <a:bodyPr/>
                  <a:lstStyle/>
                  <a:p>
                    <a:fld id="{2F1EABC3-8232-4A23-BD5F-D76902225271}" type="VALUE">
                      <a:rPr lang="en-US" smtClean="0"/>
                      <a:pPr/>
                      <a:t>[VALUE]</a:t>
                    </a:fld>
                    <a:r>
                      <a:rPr lang="en-US" baseline="50000"/>
                      <a:t>B</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5819-4DBC-98A4-7BC1E645BBE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MenQuadfi</c:v>
                </c:pt>
                <c:pt idx="1">
                  <c:v>Bexsero</c:v>
                </c:pt>
                <c:pt idx="2">
                  <c:v>Trumenba</c:v>
                </c:pt>
                <c:pt idx="3">
                  <c:v>Menveo</c:v>
                </c:pt>
                <c:pt idx="4">
                  <c:v>Penbraya</c:v>
                </c:pt>
              </c:strCache>
            </c:strRef>
          </c:cat>
          <c:val>
            <c:numRef>
              <c:f>Sheet1!$C$2:$C$6</c:f>
              <c:numCache>
                <c:formatCode>0%</c:formatCode>
                <c:ptCount val="5"/>
                <c:pt idx="0">
                  <c:v>0.81</c:v>
                </c:pt>
                <c:pt idx="1">
                  <c:v>0.68</c:v>
                </c:pt>
                <c:pt idx="2">
                  <c:v>0.49</c:v>
                </c:pt>
                <c:pt idx="3">
                  <c:v>0.33</c:v>
                </c:pt>
                <c:pt idx="4">
                  <c:v>0.14000000000000001</c:v>
                </c:pt>
              </c:numCache>
            </c:numRef>
          </c:val>
          <c:extLst>
            <c:ext xmlns:c16="http://schemas.microsoft.com/office/drawing/2014/chart" uri="{C3380CC4-5D6E-409C-BE32-E72D297353CC}">
              <c16:uniqueId val="{00000001-AE46-468D-8A6F-F911428B6D40}"/>
            </c:ext>
          </c:extLst>
        </c:ser>
        <c:ser>
          <c:idx val="2"/>
          <c:order val="2"/>
          <c:tx>
            <c:strRef>
              <c:f>Sheet1!$D$1</c:f>
              <c:strCache>
                <c:ptCount val="1"/>
                <c:pt idx="0">
                  <c:v> PCP</c:v>
                </c:pt>
              </c:strCache>
            </c:strRef>
          </c:tx>
          <c:spPr>
            <a:solidFill>
              <a:schemeClr val="accent2">
                <a:lumMod val="75000"/>
              </a:schemeClr>
            </a:solidFill>
            <a:ln>
              <a:noFill/>
            </a:ln>
            <a:effectLst/>
          </c:spPr>
          <c:invertIfNegative val="0"/>
          <c:dLbls>
            <c:dLbl>
              <c:idx val="2"/>
              <c:tx>
                <c:rich>
                  <a:bodyPr/>
                  <a:lstStyle/>
                  <a:p>
                    <a:fld id="{DA7C1500-686A-463E-9CB5-7C77018B200C}"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E46-468D-8A6F-F911428B6D40}"/>
                </c:ext>
              </c:extLst>
            </c:dLbl>
            <c:dLbl>
              <c:idx val="3"/>
              <c:tx>
                <c:rich>
                  <a:bodyPr/>
                  <a:lstStyle/>
                  <a:p>
                    <a:fld id="{CCB7BC46-6282-46EC-99E4-81CC7119D213}" type="VALUE">
                      <a:rPr lang="en-US" smtClean="0"/>
                      <a:pPr/>
                      <a:t>[VALUE]</a:t>
                    </a:fld>
                    <a:r>
                      <a:rPr lang="en-US" baseline="50000"/>
                      <a:t>A</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819-4DBC-98A4-7BC1E645BBE4}"/>
                </c:ext>
              </c:extLst>
            </c:dLbl>
            <c:dLbl>
              <c:idx val="4"/>
              <c:tx>
                <c:rich>
                  <a:bodyPr/>
                  <a:lstStyle/>
                  <a:p>
                    <a:fld id="{BC4587AF-0CB1-4C0C-ABC4-5B2A5860B477}"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AE46-468D-8A6F-F911428B6D4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MenQuadfi</c:v>
                </c:pt>
                <c:pt idx="1">
                  <c:v>Bexsero</c:v>
                </c:pt>
                <c:pt idx="2">
                  <c:v>Trumenba</c:v>
                </c:pt>
                <c:pt idx="3">
                  <c:v>Menveo</c:v>
                </c:pt>
                <c:pt idx="4">
                  <c:v>Penbraya</c:v>
                </c:pt>
              </c:strCache>
            </c:strRef>
          </c:cat>
          <c:val>
            <c:numRef>
              <c:f>Sheet1!$D$2:$D$6</c:f>
              <c:numCache>
                <c:formatCode>0%</c:formatCode>
                <c:ptCount val="5"/>
                <c:pt idx="0">
                  <c:v>0.55000000000000004</c:v>
                </c:pt>
                <c:pt idx="1">
                  <c:v>0.63</c:v>
                </c:pt>
                <c:pt idx="2">
                  <c:v>0.6</c:v>
                </c:pt>
                <c:pt idx="3">
                  <c:v>0.63</c:v>
                </c:pt>
                <c:pt idx="4">
                  <c:v>0.28000000000000003</c:v>
                </c:pt>
              </c:numCache>
            </c:numRef>
          </c:val>
          <c:extLst>
            <c:ext xmlns:c16="http://schemas.microsoft.com/office/drawing/2014/chart" uri="{C3380CC4-5D6E-409C-BE32-E72D297353CC}">
              <c16:uniqueId val="{00000002-AE46-468D-8A6F-F911428B6D40}"/>
            </c:ext>
          </c:extLst>
        </c:ser>
        <c:dLbls>
          <c:dLblPos val="outEnd"/>
          <c:showLegendKey val="0"/>
          <c:showVal val="1"/>
          <c:showCatName val="0"/>
          <c:showSerName val="0"/>
          <c:showPercent val="0"/>
          <c:showBubbleSize val="0"/>
        </c:dLbls>
        <c:gapWidth val="250"/>
        <c:overlap val="-20"/>
        <c:axId val="326961904"/>
        <c:axId val="326935984"/>
      </c:barChart>
      <c:catAx>
        <c:axId val="326961904"/>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326935984"/>
        <c:crosses val="autoZero"/>
        <c:auto val="1"/>
        <c:lblAlgn val="ctr"/>
        <c:lblOffset val="100"/>
        <c:noMultiLvlLbl val="0"/>
      </c:catAx>
      <c:valAx>
        <c:axId val="326935984"/>
        <c:scaling>
          <c:orientation val="minMax"/>
          <c:max val="1"/>
        </c:scaling>
        <c:delete val="1"/>
        <c:axPos val="l"/>
        <c:numFmt formatCode="0%" sourceLinked="1"/>
        <c:majorTickMark val="none"/>
        <c:minorTickMark val="none"/>
        <c:tickLblPos val="nextTo"/>
        <c:crossAx val="326961904"/>
        <c:crosses val="autoZero"/>
        <c:crossBetween val="between"/>
      </c:valAx>
      <c:spPr>
        <a:noFill/>
        <a:ln>
          <a:noFill/>
        </a:ln>
        <a:effectLst/>
      </c:spPr>
    </c:plotArea>
    <c:legend>
      <c:legendPos val="t"/>
      <c:layout>
        <c:manualLayout>
          <c:xMode val="edge"/>
          <c:yMode val="edge"/>
          <c:x val="0.15135047882803862"/>
          <c:y val="2.0241183530158035E-2"/>
          <c:w val="0.68717647602244869"/>
          <c:h val="6.489450943286966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percent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2C2A-495A-B2E3-428A6AD8F15D}"/>
              </c:ext>
            </c:extLst>
          </c:dPt>
          <c:dPt>
            <c:idx val="3"/>
            <c:invertIfNegative val="0"/>
            <c:bubble3D val="0"/>
            <c:extLst>
              <c:ext xmlns:c16="http://schemas.microsoft.com/office/drawing/2014/chart" uri="{C3380CC4-5D6E-409C-BE32-E72D297353CC}">
                <c16:uniqueId val="{00000003-2C2A-495A-B2E3-428A6AD8F15D}"/>
              </c:ext>
            </c:extLst>
          </c:dPt>
          <c:dPt>
            <c:idx val="4"/>
            <c:invertIfNegative val="0"/>
            <c:bubble3D val="0"/>
            <c:extLst>
              <c:ext xmlns:c16="http://schemas.microsoft.com/office/drawing/2014/chart" uri="{C3380CC4-5D6E-409C-BE32-E72D297353CC}">
                <c16:uniqueId val="{00000004-2C2A-495A-B2E3-428A6AD8F15D}"/>
              </c:ext>
            </c:extLst>
          </c:dPt>
          <c:dPt>
            <c:idx val="5"/>
            <c:invertIfNegative val="0"/>
            <c:bubble3D val="0"/>
            <c:extLst>
              <c:ext xmlns:c16="http://schemas.microsoft.com/office/drawing/2014/chart" uri="{C3380CC4-5D6E-409C-BE32-E72D297353CC}">
                <c16:uniqueId val="{00000003-A560-4299-8D2C-0EB9C4EDE21F}"/>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C2A-495A-B2E3-428A6AD8F15D}"/>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Sheet1!$B$1:$G$1</c:f>
              <c:strCache>
                <c:ptCount val="6"/>
                <c:pt idx="0">
                  <c:v>Current</c:v>
                </c:pt>
                <c:pt idx="1">
                  <c:v>Column1</c:v>
                </c:pt>
                <c:pt idx="2">
                  <c:v>Column2</c:v>
                </c:pt>
                <c:pt idx="3">
                  <c:v>Column3</c:v>
                </c:pt>
                <c:pt idx="4">
                  <c:v>Column4</c:v>
                </c:pt>
                <c:pt idx="5">
                  <c:v>Column5</c:v>
                </c:pt>
              </c:strCache>
            </c:strRef>
          </c:cat>
          <c:val>
            <c:numRef>
              <c:f>Sheet1!$B$2:$G$2</c:f>
              <c:numCache>
                <c:formatCode>General</c:formatCode>
                <c:ptCount val="6"/>
                <c:pt idx="0" formatCode="0%">
                  <c:v>0.43</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2C2A-495A-B2E3-428A6AD8F15D}"/>
            </c:ext>
          </c:extLst>
        </c:ser>
        <c:ser>
          <c:idx val="1"/>
          <c:order val="1"/>
          <c:tx>
            <c:strRef>
              <c:f>Sheet1!$A$3</c:f>
              <c:strCache>
                <c:ptCount val="1"/>
                <c:pt idx="0">
                  <c:v>Menveo</c:v>
                </c:pt>
              </c:strCache>
            </c:strRef>
          </c:tx>
          <c:spPr>
            <a:solidFill>
              <a:srgbClr val="D80065"/>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C32-406C-859B-62B4A484E406}"/>
                </c:ext>
              </c:extLst>
            </c:dLbl>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Column2</c:v>
                </c:pt>
                <c:pt idx="3">
                  <c:v>Column3</c:v>
                </c:pt>
                <c:pt idx="4">
                  <c:v>Column4</c:v>
                </c:pt>
                <c:pt idx="5">
                  <c:v>Column5</c:v>
                </c:pt>
              </c:strCache>
            </c:strRef>
          </c:cat>
          <c:val>
            <c:numRef>
              <c:f>Sheet1!$B$3:$G$3</c:f>
              <c:numCache>
                <c:formatCode>General</c:formatCode>
                <c:ptCount val="6"/>
                <c:pt idx="0" formatCode="0%">
                  <c:v>0.16</c:v>
                </c:pt>
              </c:numCache>
            </c:numRef>
          </c:val>
          <c:extLst>
            <c:ext xmlns:c16="http://schemas.microsoft.com/office/drawing/2014/chart" uri="{C3380CC4-5D6E-409C-BE32-E72D297353CC}">
              <c16:uniqueId val="{00000006-2C2A-495A-B2E3-428A6AD8F15D}"/>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Column2</c:v>
                </c:pt>
                <c:pt idx="3">
                  <c:v>Column3</c:v>
                </c:pt>
                <c:pt idx="4">
                  <c:v>Column4</c:v>
                </c:pt>
                <c:pt idx="5">
                  <c:v>Column5</c:v>
                </c:pt>
              </c:strCache>
            </c:strRef>
          </c:cat>
          <c:val>
            <c:numRef>
              <c:f>Sheet1!$B$4:$G$4</c:f>
              <c:numCache>
                <c:formatCode>General</c:formatCode>
                <c:ptCount val="6"/>
                <c:pt idx="0" formatCode="0%">
                  <c:v>0.23</c:v>
                </c:pt>
              </c:numCache>
            </c:numRef>
          </c:val>
          <c:extLst>
            <c:ext xmlns:c16="http://schemas.microsoft.com/office/drawing/2014/chart" uri="{C3380CC4-5D6E-409C-BE32-E72D297353CC}">
              <c16:uniqueId val="{00000007-2C2A-495A-B2E3-428A6AD8F15D}"/>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Column2</c:v>
                </c:pt>
                <c:pt idx="3">
                  <c:v>Column3</c:v>
                </c:pt>
                <c:pt idx="4">
                  <c:v>Column4</c:v>
                </c:pt>
                <c:pt idx="5">
                  <c:v>Column5</c:v>
                </c:pt>
              </c:strCache>
            </c:strRef>
          </c:cat>
          <c:val>
            <c:numRef>
              <c:f>Sheet1!$B$5:$G$5</c:f>
              <c:numCache>
                <c:formatCode>General</c:formatCode>
                <c:ptCount val="6"/>
                <c:pt idx="0" formatCode="0%">
                  <c:v>0.13</c:v>
                </c:pt>
              </c:numCache>
            </c:numRef>
          </c:val>
          <c:extLst>
            <c:ext xmlns:c16="http://schemas.microsoft.com/office/drawing/2014/chart" uri="{C3380CC4-5D6E-409C-BE32-E72D297353CC}">
              <c16:uniqueId val="{00000008-2C2A-495A-B2E3-428A6AD8F15D}"/>
            </c:ext>
          </c:extLst>
        </c:ser>
        <c:ser>
          <c:idx val="4"/>
          <c:order val="4"/>
          <c:tx>
            <c:strRef>
              <c:f>Sheet1!$A$6</c:f>
              <c:strCache>
                <c:ptCount val="1"/>
                <c:pt idx="0">
                  <c:v>Penmenvy</c:v>
                </c:pt>
              </c:strCache>
            </c:strRef>
          </c:tx>
          <c:spPr>
            <a:solidFill>
              <a:schemeClr val="accent6">
                <a:lumMod val="60000"/>
                <a:lumOff val="40000"/>
              </a:schemeClr>
            </a:solidFill>
            <a:ln>
              <a:noFill/>
            </a:ln>
            <a:effectLst/>
          </c:spPr>
          <c:invertIfNegative val="0"/>
          <c:dLbls>
            <c:dLbl>
              <c:idx val="0"/>
              <c:layout>
                <c:manualLayout>
                  <c:x val="7.0002979260652784E-2"/>
                  <c:y val="-5.2843208610845384E-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9AD-43C9-85E5-6E1E5BE82D50}"/>
                </c:ext>
              </c:extLst>
            </c:dLbl>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Column2</c:v>
                </c:pt>
                <c:pt idx="3">
                  <c:v>Column3</c:v>
                </c:pt>
                <c:pt idx="4">
                  <c:v>Column4</c:v>
                </c:pt>
                <c:pt idx="5">
                  <c:v>Column5</c:v>
                </c:pt>
              </c:strCache>
            </c:strRef>
          </c:cat>
          <c:val>
            <c:numRef>
              <c:f>Sheet1!$B$6:$G$6</c:f>
              <c:numCache>
                <c:formatCode>General</c:formatCode>
                <c:ptCount val="6"/>
              </c:numCache>
            </c:numRef>
          </c:val>
          <c:extLst>
            <c:ext xmlns:c16="http://schemas.microsoft.com/office/drawing/2014/chart" uri="{C3380CC4-5D6E-409C-BE32-E72D297353CC}">
              <c16:uniqueId val="{00000009-2C2A-495A-B2E3-428A6AD8F15D}"/>
            </c:ext>
          </c:extLst>
        </c:ser>
        <c:ser>
          <c:idx val="5"/>
          <c:order val="5"/>
          <c:tx>
            <c:strRef>
              <c:f>Sheet1!$A$7</c:f>
              <c:strCache>
                <c:ptCount val="1"/>
                <c:pt idx="0">
                  <c:v>Penbraya</c:v>
                </c:pt>
              </c:strCache>
            </c:strRef>
          </c:tx>
          <c:spPr>
            <a:solidFill>
              <a:srgbClr val="937DAD"/>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C0C-4F32-8171-F0C2E834E993}"/>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560-4299-8D2C-0EB9C4EDE21F}"/>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Column2</c:v>
                </c:pt>
                <c:pt idx="3">
                  <c:v>Column3</c:v>
                </c:pt>
                <c:pt idx="4">
                  <c:v>Column4</c:v>
                </c:pt>
                <c:pt idx="5">
                  <c:v>Column5</c:v>
                </c:pt>
              </c:strCache>
            </c:strRef>
          </c:cat>
          <c:val>
            <c:numRef>
              <c:f>Sheet1!$B$7:$G$7</c:f>
              <c:numCache>
                <c:formatCode>General</c:formatCode>
                <c:ptCount val="6"/>
                <c:pt idx="0" formatCode="0%">
                  <c:v>0.05</c:v>
                </c:pt>
              </c:numCache>
            </c:numRef>
          </c:val>
          <c:extLst>
            <c:ext xmlns:c16="http://schemas.microsoft.com/office/drawing/2014/chart" uri="{C3380CC4-5D6E-409C-BE32-E72D297353CC}">
              <c16:uniqueId val="{00000005-45A8-48D2-82FB-2C5DF7D8727A}"/>
            </c:ext>
          </c:extLst>
        </c:ser>
        <c:dLbls>
          <c:showLegendKey val="0"/>
          <c:showVal val="0"/>
          <c:showCatName val="0"/>
          <c:showSerName val="0"/>
          <c:showPercent val="0"/>
          <c:showBubbleSize val="0"/>
        </c:dLbls>
        <c:gapWidth val="10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legend>
      <c:legendPos val="l"/>
      <c:layout>
        <c:manualLayout>
          <c:xMode val="edge"/>
          <c:yMode val="edge"/>
          <c:x val="0.33555019229827981"/>
          <c:y val="5.0715804672141006E-2"/>
          <c:w val="0.15501167204047336"/>
          <c:h val="0.9031540743183801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Likelihood (1,2)</c:v>
                </c:pt>
              </c:strCache>
            </c:strRef>
          </c:tx>
          <c:spPr>
            <a:solidFill>
              <a:schemeClr val="accent6"/>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9635-4999-8D33-CFB90B925A38}"/>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9635-4999-8D33-CFB90B925A38}"/>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9635-4999-8D33-CFB90B925A38}"/>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7-9635-4999-8D33-CFB90B925A3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0.23</c:v>
                </c:pt>
              </c:numCache>
            </c:numRef>
          </c:val>
          <c:extLst>
            <c:ext xmlns:c16="http://schemas.microsoft.com/office/drawing/2014/chart" uri="{C3380CC4-5D6E-409C-BE32-E72D297353CC}">
              <c16:uniqueId val="{00000008-9635-4999-8D33-CFB90B925A38}"/>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0.57999999999999996</c:v>
                </c:pt>
              </c:numCache>
            </c:numRef>
          </c:val>
          <c:extLst>
            <c:ext xmlns:c16="http://schemas.microsoft.com/office/drawing/2014/chart" uri="{C3380CC4-5D6E-409C-BE32-E72D297353CC}">
              <c16:uniqueId val="{00000009-9635-4999-8D33-CFB90B925A38}"/>
            </c:ext>
          </c:extLst>
        </c:ser>
        <c:ser>
          <c:idx val="2"/>
          <c:order val="2"/>
          <c:tx>
            <c:strRef>
              <c:f>Sheet1!$D$1</c:f>
              <c:strCache>
                <c:ptCount val="1"/>
                <c:pt idx="0">
                  <c:v>High Likelihood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0.18</c:v>
                </c:pt>
              </c:numCache>
            </c:numRef>
          </c:val>
          <c:extLst>
            <c:ext xmlns:c16="http://schemas.microsoft.com/office/drawing/2014/chart" uri="{C3380CC4-5D6E-409C-BE32-E72D297353CC}">
              <c16:uniqueId val="{0000000A-9635-4999-8D33-CFB90B925A38}"/>
            </c:ext>
          </c:extLst>
        </c:ser>
        <c:dLbls>
          <c:showLegendKey val="0"/>
          <c:showVal val="0"/>
          <c:showCatName val="0"/>
          <c:showSerName val="0"/>
          <c:showPercent val="0"/>
          <c:showBubbleSize val="0"/>
        </c:dLbls>
        <c:gapWidth val="25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117343262934761E-4"/>
          <c:y val="3.4412112471089634E-2"/>
          <c:w val="0.92030188300350657"/>
          <c:h val="0.79801670943887648"/>
        </c:manualLayout>
      </c:layout>
      <c:barChart>
        <c:barDir val="col"/>
        <c:grouping val="stacked"/>
        <c:varyColors val="0"/>
        <c:ser>
          <c:idx val="0"/>
          <c:order val="0"/>
          <c:tx>
            <c:strRef>
              <c:f>Sheet1!$B$1</c:f>
              <c:strCache>
                <c:ptCount val="1"/>
                <c:pt idx="0">
                  <c:v>Unsure</c:v>
                </c:pt>
              </c:strCache>
            </c:strRef>
          </c:tx>
          <c:spPr>
            <a:solidFill>
              <a:schemeClr val="bg1">
                <a:lumMod val="65000"/>
              </a:schemeClr>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1-E59A-4151-BF8B-DBD3A9C0EBD8}"/>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E59A-4151-BF8B-DBD3A9C0EBD8}"/>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E59A-4151-BF8B-DBD3A9C0EBD8}"/>
              </c:ext>
            </c:extLst>
          </c:dPt>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7-E59A-4151-BF8B-DBD3A9C0EBD8}"/>
              </c:ext>
            </c:extLst>
          </c:dPt>
          <c:cat>
            <c:strRef>
              <c:f>Sheet1!$A$2</c:f>
              <c:strCache>
                <c:ptCount val="1"/>
                <c:pt idx="0">
                  <c:v>Sep'25</c:v>
                </c:pt>
              </c:strCache>
            </c:strRef>
          </c:cat>
          <c:val>
            <c:numRef>
              <c:f>Sheet1!$B$2</c:f>
              <c:numCache>
                <c:formatCode>0%</c:formatCode>
                <c:ptCount val="1"/>
                <c:pt idx="0">
                  <c:v>0.03</c:v>
                </c:pt>
              </c:numCache>
            </c:numRef>
          </c:val>
          <c:extLst>
            <c:ext xmlns:c16="http://schemas.microsoft.com/office/drawing/2014/chart" uri="{C3380CC4-5D6E-409C-BE32-E72D297353CC}">
              <c16:uniqueId val="{00000008-E59A-4151-BF8B-DBD3A9C0EBD8}"/>
            </c:ext>
          </c:extLst>
        </c:ser>
        <c:ser>
          <c:idx val="1"/>
          <c:order val="1"/>
          <c:tx>
            <c:strRef>
              <c:f>Sheet1!$C$1</c:f>
              <c:strCache>
                <c:ptCount val="1"/>
                <c:pt idx="0">
                  <c:v>&gt; 12 mos </c:v>
                </c:pt>
              </c:strCache>
            </c:strRef>
          </c:tx>
          <c:spPr>
            <a:solidFill>
              <a:schemeClr val="accent6"/>
            </a:solidFill>
            <a:ln>
              <a:noFill/>
            </a:ln>
            <a:effectLst/>
          </c:spPr>
          <c:invertIfNegative val="0"/>
          <c:cat>
            <c:strRef>
              <c:f>Sheet1!$A$2</c:f>
              <c:strCache>
                <c:ptCount val="1"/>
                <c:pt idx="0">
                  <c:v>Sep'25</c:v>
                </c:pt>
              </c:strCache>
            </c:strRef>
          </c:cat>
          <c:val>
            <c:numRef>
              <c:f>Sheet1!$C$2</c:f>
              <c:numCache>
                <c:formatCode>0%</c:formatCode>
                <c:ptCount val="1"/>
                <c:pt idx="0">
                  <c:v>0.03</c:v>
                </c:pt>
              </c:numCache>
            </c:numRef>
          </c:val>
          <c:extLst>
            <c:ext xmlns:c16="http://schemas.microsoft.com/office/drawing/2014/chart" uri="{C3380CC4-5D6E-409C-BE32-E72D297353CC}">
              <c16:uniqueId val="{00000009-E59A-4151-BF8B-DBD3A9C0EBD8}"/>
            </c:ext>
          </c:extLst>
        </c:ser>
        <c:ser>
          <c:idx val="2"/>
          <c:order val="2"/>
          <c:tx>
            <c:strRef>
              <c:f>Sheet1!$D$1</c:f>
              <c:strCache>
                <c:ptCount val="1"/>
                <c:pt idx="0">
                  <c:v>9 to &lt; 12 mos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0.17</c:v>
                </c:pt>
              </c:numCache>
            </c:numRef>
          </c:val>
          <c:extLst>
            <c:ext xmlns:c16="http://schemas.microsoft.com/office/drawing/2014/chart" uri="{C3380CC4-5D6E-409C-BE32-E72D297353CC}">
              <c16:uniqueId val="{0000000A-E59A-4151-BF8B-DBD3A9C0EBD8}"/>
            </c:ext>
          </c:extLst>
        </c:ser>
        <c:ser>
          <c:idx val="3"/>
          <c:order val="3"/>
          <c:tx>
            <c:strRef>
              <c:f>Sheet1!$E$1</c:f>
              <c:strCache>
                <c:ptCount val="1"/>
                <c:pt idx="0">
                  <c:v>6 to &lt; 9 mos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Sheet1!$E$2</c:f>
              <c:numCache>
                <c:formatCode>0%</c:formatCode>
                <c:ptCount val="1"/>
                <c:pt idx="0">
                  <c:v>0.2</c:v>
                </c:pt>
              </c:numCache>
            </c:numRef>
          </c:val>
          <c:extLst>
            <c:ext xmlns:c16="http://schemas.microsoft.com/office/drawing/2014/chart" uri="{C3380CC4-5D6E-409C-BE32-E72D297353CC}">
              <c16:uniqueId val="{0000000B-E59A-4151-BF8B-DBD3A9C0EBD8}"/>
            </c:ext>
          </c:extLst>
        </c:ser>
        <c:ser>
          <c:idx val="4"/>
          <c:order val="4"/>
          <c:tx>
            <c:strRef>
              <c:f>Sheet1!$F$1</c:f>
              <c:strCache>
                <c:ptCount val="1"/>
                <c:pt idx="0">
                  <c:v>3 to &lt; 6 mos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Sheet1!$F$2</c:f>
              <c:numCache>
                <c:formatCode>0%</c:formatCode>
                <c:ptCount val="1"/>
                <c:pt idx="0">
                  <c:v>0.13</c:v>
                </c:pt>
              </c:numCache>
            </c:numRef>
          </c:val>
          <c:extLst>
            <c:ext xmlns:c16="http://schemas.microsoft.com/office/drawing/2014/chart" uri="{C3380CC4-5D6E-409C-BE32-E72D297353CC}">
              <c16:uniqueId val="{0000000C-E59A-4151-BF8B-DBD3A9C0EBD8}"/>
            </c:ext>
          </c:extLst>
        </c:ser>
        <c:ser>
          <c:idx val="5"/>
          <c:order val="5"/>
          <c:tx>
            <c:strRef>
              <c:f>Sheet1!$G$1</c:f>
              <c:strCache>
                <c:ptCount val="1"/>
                <c:pt idx="0">
                  <c:v>1 to &lt; 3 mos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Sheet1!$G$2</c:f>
              <c:numCache>
                <c:formatCode>0%</c:formatCode>
                <c:ptCount val="1"/>
                <c:pt idx="0">
                  <c:v>0.23</c:v>
                </c:pt>
              </c:numCache>
            </c:numRef>
          </c:val>
          <c:extLst>
            <c:ext xmlns:c16="http://schemas.microsoft.com/office/drawing/2014/chart" uri="{C3380CC4-5D6E-409C-BE32-E72D297353CC}">
              <c16:uniqueId val="{0000000D-E59A-4151-BF8B-DBD3A9C0EBD8}"/>
            </c:ext>
          </c:extLst>
        </c:ser>
        <c:ser>
          <c:idx val="6"/>
          <c:order val="6"/>
          <c:tx>
            <c:strRef>
              <c:f>Sheet1!$H$1</c:f>
              <c:strCache>
                <c:ptCount val="1"/>
                <c:pt idx="0">
                  <c:v>&lt; 1 month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Sheet1!$H$2</c:f>
              <c:numCache>
                <c:formatCode>0%</c:formatCode>
                <c:ptCount val="1"/>
                <c:pt idx="0">
                  <c:v>0.2</c:v>
                </c:pt>
              </c:numCache>
            </c:numRef>
          </c:val>
          <c:extLst>
            <c:ext xmlns:c16="http://schemas.microsoft.com/office/drawing/2014/chart" uri="{C3380CC4-5D6E-409C-BE32-E72D297353CC}">
              <c16:uniqueId val="{0000000E-E59A-4151-BF8B-DBD3A9C0EBD8}"/>
            </c:ext>
          </c:extLst>
        </c:ser>
        <c:dLbls>
          <c:showLegendKey val="0"/>
          <c:showVal val="0"/>
          <c:showCatName val="0"/>
          <c:showSerName val="0"/>
          <c:showPercent val="0"/>
          <c:showBubbleSize val="0"/>
        </c:dLbls>
        <c:gapWidth val="25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Unsure</c:v>
                </c:pt>
              </c:strCache>
            </c:strRef>
          </c:tx>
          <c:spPr>
            <a:solidFill>
              <a:schemeClr val="bg1">
                <a:lumMod val="65000"/>
              </a:schemeClr>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1-A1E4-4A19-882F-E7767FA3CDE8}"/>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A1E4-4A19-882F-E7767FA3CDE8}"/>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A1E4-4A19-882F-E7767FA3CDE8}"/>
              </c:ext>
            </c:extLst>
          </c:dPt>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7-A1E4-4A19-882F-E7767FA3CDE8}"/>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1E4-4A19-882F-E7767FA3CDE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7.0000000000000007E-2</c:v>
                </c:pt>
              </c:numCache>
            </c:numRef>
          </c:val>
          <c:extLst>
            <c:ext xmlns:c16="http://schemas.microsoft.com/office/drawing/2014/chart" uri="{C3380CC4-5D6E-409C-BE32-E72D297353CC}">
              <c16:uniqueId val="{00000008-A1E4-4A19-882F-E7767FA3CDE8}"/>
            </c:ext>
          </c:extLst>
        </c:ser>
        <c:ser>
          <c:idx val="1"/>
          <c:order val="1"/>
          <c:tx>
            <c:strRef>
              <c:f>Sheet1!$C$1</c:f>
              <c:strCache>
                <c:ptCount val="1"/>
                <c:pt idx="0">
                  <c:v>&gt; 12 mos </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0.13</c:v>
                </c:pt>
              </c:numCache>
            </c:numRef>
          </c:val>
          <c:extLst>
            <c:ext xmlns:c16="http://schemas.microsoft.com/office/drawing/2014/chart" uri="{C3380CC4-5D6E-409C-BE32-E72D297353CC}">
              <c16:uniqueId val="{00000009-A1E4-4A19-882F-E7767FA3CDE8}"/>
            </c:ext>
          </c:extLst>
        </c:ser>
        <c:ser>
          <c:idx val="2"/>
          <c:order val="2"/>
          <c:tx>
            <c:strRef>
              <c:f>Sheet1!$D$1</c:f>
              <c:strCache>
                <c:ptCount val="1"/>
                <c:pt idx="0">
                  <c:v>9 to &lt; 12 mos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0.17</c:v>
                </c:pt>
              </c:numCache>
            </c:numRef>
          </c:val>
          <c:extLst>
            <c:ext xmlns:c16="http://schemas.microsoft.com/office/drawing/2014/chart" uri="{C3380CC4-5D6E-409C-BE32-E72D297353CC}">
              <c16:uniqueId val="{0000000A-A1E4-4A19-882F-E7767FA3CDE8}"/>
            </c:ext>
          </c:extLst>
        </c:ser>
        <c:ser>
          <c:idx val="3"/>
          <c:order val="3"/>
          <c:tx>
            <c:strRef>
              <c:f>Sheet1!$E$1</c:f>
              <c:strCache>
                <c:ptCount val="1"/>
                <c:pt idx="0">
                  <c:v>6 to &lt; 9 mos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Sheet1!$E$2</c:f>
              <c:numCache>
                <c:formatCode>0%</c:formatCode>
                <c:ptCount val="1"/>
                <c:pt idx="0">
                  <c:v>0.23</c:v>
                </c:pt>
              </c:numCache>
            </c:numRef>
          </c:val>
          <c:extLst>
            <c:ext xmlns:c16="http://schemas.microsoft.com/office/drawing/2014/chart" uri="{C3380CC4-5D6E-409C-BE32-E72D297353CC}">
              <c16:uniqueId val="{0000000B-A1E4-4A19-882F-E7767FA3CDE8}"/>
            </c:ext>
          </c:extLst>
        </c:ser>
        <c:ser>
          <c:idx val="4"/>
          <c:order val="4"/>
          <c:tx>
            <c:strRef>
              <c:f>Sheet1!$F$1</c:f>
              <c:strCache>
                <c:ptCount val="1"/>
                <c:pt idx="0">
                  <c:v>3 to &lt; 6 mos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Sheet1!$F$2</c:f>
              <c:numCache>
                <c:formatCode>0%</c:formatCode>
                <c:ptCount val="1"/>
                <c:pt idx="0">
                  <c:v>0.13</c:v>
                </c:pt>
              </c:numCache>
            </c:numRef>
          </c:val>
          <c:extLst>
            <c:ext xmlns:c16="http://schemas.microsoft.com/office/drawing/2014/chart" uri="{C3380CC4-5D6E-409C-BE32-E72D297353CC}">
              <c16:uniqueId val="{0000000C-A1E4-4A19-882F-E7767FA3CDE8}"/>
            </c:ext>
          </c:extLst>
        </c:ser>
        <c:ser>
          <c:idx val="5"/>
          <c:order val="5"/>
          <c:tx>
            <c:strRef>
              <c:f>Sheet1!$G$1</c:f>
              <c:strCache>
                <c:ptCount val="1"/>
                <c:pt idx="0">
                  <c:v>1 to &lt; 3 mos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Sheet1!$G$2</c:f>
              <c:numCache>
                <c:formatCode>0%</c:formatCode>
                <c:ptCount val="1"/>
                <c:pt idx="0">
                  <c:v>0.23</c:v>
                </c:pt>
              </c:numCache>
            </c:numRef>
          </c:val>
          <c:extLst>
            <c:ext xmlns:c16="http://schemas.microsoft.com/office/drawing/2014/chart" uri="{C3380CC4-5D6E-409C-BE32-E72D297353CC}">
              <c16:uniqueId val="{0000000D-A1E4-4A19-882F-E7767FA3CDE8}"/>
            </c:ext>
          </c:extLst>
        </c:ser>
        <c:ser>
          <c:idx val="6"/>
          <c:order val="6"/>
          <c:tx>
            <c:strRef>
              <c:f>Sheet1!$H$1</c:f>
              <c:strCache>
                <c:ptCount val="1"/>
                <c:pt idx="0">
                  <c:v>&lt; 1 month</c:v>
                </c:pt>
              </c:strCache>
            </c:strRef>
          </c:tx>
          <c:spPr>
            <a:solidFill>
              <a:schemeClr val="accent1"/>
            </a:solidFill>
            <a:ln>
              <a:noFill/>
            </a:ln>
            <a:effectLst/>
          </c:spPr>
          <c:invertIfNegative val="0"/>
          <c:cat>
            <c:strRef>
              <c:f>Sheet1!$A$2</c:f>
              <c:strCache>
                <c:ptCount val="1"/>
                <c:pt idx="0">
                  <c:v>Sep'25</c:v>
                </c:pt>
              </c:strCache>
            </c:strRef>
          </c:cat>
          <c:val>
            <c:numRef>
              <c:f>Sheet1!$H$2</c:f>
              <c:numCache>
                <c:formatCode>0%</c:formatCode>
                <c:ptCount val="1"/>
                <c:pt idx="0">
                  <c:v>0.03</c:v>
                </c:pt>
              </c:numCache>
            </c:numRef>
          </c:val>
          <c:extLst>
            <c:ext xmlns:c16="http://schemas.microsoft.com/office/drawing/2014/chart" uri="{C3380CC4-5D6E-409C-BE32-E72D297353CC}">
              <c16:uniqueId val="{0000000E-A1E4-4A19-882F-E7767FA3CDE8}"/>
            </c:ext>
          </c:extLst>
        </c:ser>
        <c:dLbls>
          <c:showLegendKey val="0"/>
          <c:showVal val="0"/>
          <c:showCatName val="0"/>
          <c:showSerName val="0"/>
          <c:showPercent val="0"/>
          <c:showBubbleSize val="0"/>
        </c:dLbls>
        <c:gapWidth val="25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Unsure</c:v>
                </c:pt>
              </c:strCache>
            </c:strRef>
          </c:tx>
          <c:spPr>
            <a:solidFill>
              <a:schemeClr val="bg1">
                <a:lumMod val="65000"/>
              </a:schemeClr>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1-66C9-47F8-8E5C-0E57500A345C}"/>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66C9-47F8-8E5C-0E57500A345C}"/>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66C9-47F8-8E5C-0E57500A345C}"/>
              </c:ext>
            </c:extLst>
          </c:dPt>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7-66C9-47F8-8E5C-0E57500A345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c:f>
              <c:numCache>
                <c:formatCode>0%</c:formatCode>
                <c:ptCount val="1"/>
              </c:numCache>
            </c:numRef>
          </c:val>
          <c:extLst>
            <c:ext xmlns:c16="http://schemas.microsoft.com/office/drawing/2014/chart" uri="{C3380CC4-5D6E-409C-BE32-E72D297353CC}">
              <c16:uniqueId val="{00000008-66C9-47F8-8E5C-0E57500A345C}"/>
            </c:ext>
          </c:extLst>
        </c:ser>
        <c:ser>
          <c:idx val="1"/>
          <c:order val="1"/>
          <c:tx>
            <c:strRef>
              <c:f>Sheet1!$C$1</c:f>
              <c:strCache>
                <c:ptCount val="1"/>
                <c:pt idx="0">
                  <c:v>&gt; 12 mos </c:v>
                </c:pt>
              </c:strCache>
            </c:strRef>
          </c:tx>
          <c:spPr>
            <a:solidFill>
              <a:schemeClr val="accent6"/>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A-E27F-45CD-B388-717B606AB417}"/>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Sheet1!$C$2</c:f>
              <c:numCache>
                <c:formatCode>0%</c:formatCode>
                <c:ptCount val="1"/>
                <c:pt idx="0">
                  <c:v>0.09</c:v>
                </c:pt>
              </c:numCache>
            </c:numRef>
          </c:val>
          <c:extLst>
            <c:ext xmlns:c16="http://schemas.microsoft.com/office/drawing/2014/chart" uri="{C3380CC4-5D6E-409C-BE32-E72D297353CC}">
              <c16:uniqueId val="{00000009-66C9-47F8-8E5C-0E57500A345C}"/>
            </c:ext>
          </c:extLst>
        </c:ser>
        <c:ser>
          <c:idx val="2"/>
          <c:order val="2"/>
          <c:tx>
            <c:strRef>
              <c:f>Sheet1!$D$1</c:f>
              <c:strCache>
                <c:ptCount val="1"/>
                <c:pt idx="0">
                  <c:v>9 to &lt; 12 mos</c:v>
                </c:pt>
              </c:strCache>
            </c:strRef>
          </c:tx>
          <c:spPr>
            <a:solidFill>
              <a:schemeClr val="accent5"/>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C6C-4D5C-939B-538FCDED267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c:f>
              <c:numCache>
                <c:formatCode>0%</c:formatCode>
                <c:ptCount val="1"/>
                <c:pt idx="0">
                  <c:v>0.06</c:v>
                </c:pt>
              </c:numCache>
            </c:numRef>
          </c:val>
          <c:extLst>
            <c:ext xmlns:c16="http://schemas.microsoft.com/office/drawing/2014/chart" uri="{C3380CC4-5D6E-409C-BE32-E72D297353CC}">
              <c16:uniqueId val="{0000000A-66C9-47F8-8E5C-0E57500A345C}"/>
            </c:ext>
          </c:extLst>
        </c:ser>
        <c:ser>
          <c:idx val="3"/>
          <c:order val="3"/>
          <c:tx>
            <c:strRef>
              <c:f>Sheet1!$E$1</c:f>
              <c:strCache>
                <c:ptCount val="1"/>
                <c:pt idx="0">
                  <c:v>6 to &lt; 9 mos</c:v>
                </c:pt>
              </c:strCache>
            </c:strRef>
          </c:tx>
          <c:spPr>
            <a:solidFill>
              <a:schemeClr val="accent5"/>
            </a:solidFill>
            <a:ln>
              <a:noFill/>
            </a:ln>
            <a:effectLst/>
          </c:spPr>
          <c:invertIfNegative val="0"/>
          <c:dPt>
            <c:idx val="0"/>
            <c:invertIfNegative val="0"/>
            <c:bubble3D val="0"/>
            <c:spPr>
              <a:solidFill>
                <a:schemeClr val="accent4"/>
              </a:solidFill>
              <a:ln>
                <a:noFill/>
              </a:ln>
              <a:effectLst/>
            </c:spPr>
            <c:extLst>
              <c:ext xmlns:c16="http://schemas.microsoft.com/office/drawing/2014/chart" uri="{C3380CC4-5D6E-409C-BE32-E72D297353CC}">
                <c16:uniqueId val="{00000000-DD38-4932-9651-BD91DEAB5779}"/>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D38-4932-9651-BD91DEAB5779}"/>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c:f>
              <c:numCache>
                <c:formatCode>0%</c:formatCode>
                <c:ptCount val="1"/>
                <c:pt idx="0">
                  <c:v>0.21</c:v>
                </c:pt>
              </c:numCache>
            </c:numRef>
          </c:val>
          <c:extLst>
            <c:ext xmlns:c16="http://schemas.microsoft.com/office/drawing/2014/chart" uri="{C3380CC4-5D6E-409C-BE32-E72D297353CC}">
              <c16:uniqueId val="{0000000B-66C9-47F8-8E5C-0E57500A345C}"/>
            </c:ext>
          </c:extLst>
        </c:ser>
        <c:ser>
          <c:idx val="4"/>
          <c:order val="4"/>
          <c:tx>
            <c:strRef>
              <c:f>Sheet1!$F$1</c:f>
              <c:strCache>
                <c:ptCount val="1"/>
                <c:pt idx="0">
                  <c:v>3 to &lt; 6 mos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c:f>
              <c:numCache>
                <c:formatCode>0%</c:formatCode>
                <c:ptCount val="1"/>
                <c:pt idx="0">
                  <c:v>0.06</c:v>
                </c:pt>
              </c:numCache>
            </c:numRef>
          </c:val>
          <c:extLst>
            <c:ext xmlns:c16="http://schemas.microsoft.com/office/drawing/2014/chart" uri="{C3380CC4-5D6E-409C-BE32-E72D297353CC}">
              <c16:uniqueId val="{0000000C-66C9-47F8-8E5C-0E57500A345C}"/>
            </c:ext>
          </c:extLst>
        </c:ser>
        <c:ser>
          <c:idx val="5"/>
          <c:order val="5"/>
          <c:tx>
            <c:strRef>
              <c:f>Sheet1!$G$1</c:f>
              <c:strCache>
                <c:ptCount val="1"/>
                <c:pt idx="0">
                  <c:v>1 to &lt; 3 mos</c:v>
                </c:pt>
              </c:strCache>
            </c:strRef>
          </c:tx>
          <c:spPr>
            <a:solidFill>
              <a:schemeClr val="accent3"/>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2-DD38-4932-9651-BD91DEAB577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Sheet1!$G$2</c:f>
              <c:numCache>
                <c:formatCode>0%</c:formatCode>
                <c:ptCount val="1"/>
                <c:pt idx="0">
                  <c:v>0.21</c:v>
                </c:pt>
              </c:numCache>
            </c:numRef>
          </c:val>
          <c:extLst>
            <c:ext xmlns:c16="http://schemas.microsoft.com/office/drawing/2014/chart" uri="{C3380CC4-5D6E-409C-BE32-E72D297353CC}">
              <c16:uniqueId val="{0000000D-66C9-47F8-8E5C-0E57500A345C}"/>
            </c:ext>
          </c:extLst>
        </c:ser>
        <c:ser>
          <c:idx val="6"/>
          <c:order val="6"/>
          <c:tx>
            <c:strRef>
              <c:f>Sheet1!$H$1</c:f>
              <c:strCache>
                <c:ptCount val="1"/>
                <c:pt idx="0">
                  <c:v>&lt; 1 month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Sheet1!$H$2</c:f>
              <c:numCache>
                <c:formatCode>0%</c:formatCode>
                <c:ptCount val="1"/>
                <c:pt idx="0">
                  <c:v>0.18</c:v>
                </c:pt>
              </c:numCache>
            </c:numRef>
          </c:val>
          <c:extLst>
            <c:ext xmlns:c16="http://schemas.microsoft.com/office/drawing/2014/chart" uri="{C3380CC4-5D6E-409C-BE32-E72D297353CC}">
              <c16:uniqueId val="{0000000E-66C9-47F8-8E5C-0E57500A345C}"/>
            </c:ext>
          </c:extLst>
        </c:ser>
        <c:ser>
          <c:idx val="7"/>
          <c:order val="7"/>
          <c:tx>
            <c:strRef>
              <c:f>Sheet1!$I$1</c:f>
              <c:strCache>
                <c:ptCount val="1"/>
                <c:pt idx="0">
                  <c:v>Already fully incorporated </c:v>
                </c:pt>
              </c:strCache>
            </c:strRef>
          </c:tx>
          <c:spPr>
            <a:solidFill>
              <a:schemeClr val="accent2">
                <a:lumMod val="60000"/>
              </a:schemeClr>
            </a:solidFill>
            <a:ln>
              <a:noFill/>
            </a:ln>
            <a:effectLst/>
          </c:spPr>
          <c:invertIfNegative val="0"/>
          <c:dPt>
            <c:idx val="0"/>
            <c:invertIfNegative val="0"/>
            <c:bubble3D val="0"/>
            <c:spPr>
              <a:solidFill>
                <a:schemeClr val="tx1">
                  <a:lumMod val="65000"/>
                  <a:lumOff val="35000"/>
                </a:schemeClr>
              </a:solidFill>
              <a:ln>
                <a:noFill/>
              </a:ln>
              <a:effectLst/>
            </c:spPr>
            <c:extLst>
              <c:ext xmlns:c16="http://schemas.microsoft.com/office/drawing/2014/chart" uri="{C3380CC4-5D6E-409C-BE32-E72D297353CC}">
                <c16:uniqueId val="{00000010-66C9-47F8-8E5C-0E57500A345C}"/>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66C9-47F8-8E5C-0E57500A345C}"/>
                </c:ext>
              </c:extLst>
            </c:dLbl>
            <c:spPr>
              <a:noFill/>
              <a:ln>
                <a:noFill/>
              </a:ln>
              <a:effectLst/>
            </c:spPr>
            <c:txPr>
              <a:bodyPr rot="0" spcFirstLastPara="1" vertOverflow="ellipsis" vert="horz" wrap="square" lIns="38100" tIns="19050" rIns="38100" bIns="19050" anchor="ctr" anchorCtr="0">
                <a:spAutoFit/>
              </a:bodyPr>
              <a:lstStyle/>
              <a:p>
                <a:pPr algn="ctr">
                  <a:defRPr lang="en-US" sz="1197"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Sheet1!$I$2</c:f>
              <c:numCache>
                <c:formatCode>0%</c:formatCode>
                <c:ptCount val="1"/>
                <c:pt idx="0">
                  <c:v>0.21</c:v>
                </c:pt>
              </c:numCache>
            </c:numRef>
          </c:val>
          <c:extLst>
            <c:ext xmlns:c16="http://schemas.microsoft.com/office/drawing/2014/chart" uri="{C3380CC4-5D6E-409C-BE32-E72D297353CC}">
              <c16:uniqueId val="{00000011-66C9-47F8-8E5C-0E57500A345C}"/>
            </c:ext>
          </c:extLst>
        </c:ser>
        <c:dLbls>
          <c:showLegendKey val="0"/>
          <c:showVal val="0"/>
          <c:showCatName val="0"/>
          <c:showSerName val="0"/>
          <c:showPercent val="0"/>
          <c:showBubbleSize val="0"/>
        </c:dLbls>
        <c:gapWidth val="25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Likelihood (1,2)</c:v>
                </c:pt>
              </c:strCache>
            </c:strRef>
          </c:tx>
          <c:spPr>
            <a:solidFill>
              <a:schemeClr val="tx1">
                <a:lumMod val="65000"/>
                <a:lumOff val="35000"/>
              </a:schemeClr>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0-8EE1-4FEB-898C-4C7C5C550C62}"/>
              </c:ext>
            </c:extLst>
          </c:dPt>
          <c:dPt>
            <c:idx val="1"/>
            <c:invertIfNegative val="0"/>
            <c:bubble3D val="0"/>
            <c:extLst>
              <c:ext xmlns:c16="http://schemas.microsoft.com/office/drawing/2014/chart" uri="{C3380CC4-5D6E-409C-BE32-E72D297353CC}">
                <c16:uniqueId val="{00000001-8EE1-4FEB-898C-4C7C5C550C62}"/>
              </c:ext>
            </c:extLst>
          </c:dPt>
          <c:dPt>
            <c:idx val="2"/>
            <c:invertIfNegative val="0"/>
            <c:bubble3D val="0"/>
            <c:extLst>
              <c:ext xmlns:c16="http://schemas.microsoft.com/office/drawing/2014/chart" uri="{C3380CC4-5D6E-409C-BE32-E72D297353CC}">
                <c16:uniqueId val="{00000002-8EE1-4FEB-898C-4C7C5C550C62}"/>
              </c:ext>
            </c:extLst>
          </c:dPt>
          <c:dPt>
            <c:idx val="3"/>
            <c:invertIfNegative val="0"/>
            <c:bubble3D val="0"/>
            <c:extLst>
              <c:ext xmlns:c16="http://schemas.microsoft.com/office/drawing/2014/chart" uri="{C3380CC4-5D6E-409C-BE32-E72D297353CC}">
                <c16:uniqueId val="{00000003-8EE1-4FEB-898C-4C7C5C550C6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0.15</c:v>
                </c:pt>
              </c:numCache>
            </c:numRef>
          </c:val>
          <c:extLst>
            <c:ext xmlns:c16="http://schemas.microsoft.com/office/drawing/2014/chart" uri="{C3380CC4-5D6E-409C-BE32-E72D297353CC}">
              <c16:uniqueId val="{00000004-8EE1-4FEB-898C-4C7C5C550C62}"/>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0.43</c:v>
                </c:pt>
              </c:numCache>
            </c:numRef>
          </c:val>
          <c:extLst>
            <c:ext xmlns:c16="http://schemas.microsoft.com/office/drawing/2014/chart" uri="{C3380CC4-5D6E-409C-BE32-E72D297353CC}">
              <c16:uniqueId val="{00000005-8EE1-4FEB-898C-4C7C5C550C62}"/>
            </c:ext>
          </c:extLst>
        </c:ser>
        <c:ser>
          <c:idx val="2"/>
          <c:order val="2"/>
          <c:tx>
            <c:strRef>
              <c:f>Sheet1!$D$1</c:f>
              <c:strCache>
                <c:ptCount val="1"/>
                <c:pt idx="0">
                  <c:v>High Likelihood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0.43</c:v>
                </c:pt>
              </c:numCache>
            </c:numRef>
          </c:val>
          <c:extLst>
            <c:ext xmlns:c16="http://schemas.microsoft.com/office/drawing/2014/chart" uri="{C3380CC4-5D6E-409C-BE32-E72D297353CC}">
              <c16:uniqueId val="{00000006-8EE1-4FEB-898C-4C7C5C550C62}"/>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Penbraya</c:v>
                </c:pt>
              </c:strCache>
            </c:strRef>
          </c:tx>
          <c:spPr>
            <a:solidFill>
              <a:srgbClr val="937DAD"/>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2C2A-495A-B2E3-428A6AD8F15D}"/>
              </c:ext>
            </c:extLst>
          </c:dPt>
          <c:dPt>
            <c:idx val="1"/>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2C2A-495A-B2E3-428A6AD8F15D}"/>
              </c:ext>
            </c:extLst>
          </c:dPt>
          <c:dPt>
            <c:idx val="2"/>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2-2C2A-495A-B2E3-428A6AD8F15D}"/>
              </c:ext>
            </c:extLst>
          </c:dPt>
          <c:dPt>
            <c:idx val="3"/>
            <c:invertIfNegative val="0"/>
            <c:bubble3D val="0"/>
            <c:extLst>
              <c:ext xmlns:c16="http://schemas.microsoft.com/office/drawing/2014/chart" uri="{C3380CC4-5D6E-409C-BE32-E72D297353CC}">
                <c16:uniqueId val="{00000003-2C2A-495A-B2E3-428A6AD8F15D}"/>
              </c:ext>
            </c:extLst>
          </c:dPt>
          <c:dPt>
            <c:idx val="4"/>
            <c:invertIfNegative val="0"/>
            <c:bubble3D val="0"/>
            <c:extLst>
              <c:ext xmlns:c16="http://schemas.microsoft.com/office/drawing/2014/chart" uri="{C3380CC4-5D6E-409C-BE32-E72D297353CC}">
                <c16:uniqueId val="{00000004-2C2A-495A-B2E3-428A6AD8F15D}"/>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Sheet1!$B$2:$E$2</c:f>
              <c:numCache>
                <c:formatCode>General</c:formatCode>
                <c:ptCount val="4"/>
                <c:pt idx="0" formatCode="0%">
                  <c:v>0.53</c:v>
                </c:pt>
                <c:pt idx="3" formatCode="0%">
                  <c:v>0.67</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2C2A-495A-B2E3-428A6AD8F15D}"/>
            </c:ext>
          </c:extLst>
        </c:ser>
        <c:ser>
          <c:idx val="1"/>
          <c:order val="1"/>
          <c:tx>
            <c:strRef>
              <c:f>Sheet1!$A$3</c:f>
              <c:strCache>
                <c:ptCount val="1"/>
                <c:pt idx="0">
                  <c:v>MenACWY + MenB separate vaccines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Sheet1!$B$3:$E$3</c:f>
              <c:numCache>
                <c:formatCode>General</c:formatCode>
                <c:ptCount val="4"/>
                <c:pt idx="0" formatCode="0%">
                  <c:v>0.47</c:v>
                </c:pt>
                <c:pt idx="3" formatCode="0%">
                  <c:v>0.33</c:v>
                </c:pt>
              </c:numCache>
            </c:numRef>
          </c:val>
          <c:extLst>
            <c:ext xmlns:c16="http://schemas.microsoft.com/office/drawing/2014/chart" uri="{C3380CC4-5D6E-409C-BE32-E72D297353CC}">
              <c16:uniqueId val="{00000006-2C2A-495A-B2E3-428A6AD8F15D}"/>
            </c:ext>
          </c:extLst>
        </c:ser>
        <c:dLbls>
          <c:showLegendKey val="0"/>
          <c:showVal val="0"/>
          <c:showCatName val="0"/>
          <c:showSerName val="0"/>
          <c:showPercent val="0"/>
          <c:showBubbleSize val="0"/>
        </c:dLbls>
        <c:gapWidth val="15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legend>
      <c:legendPos val="l"/>
      <c:layout>
        <c:manualLayout>
          <c:xMode val="edge"/>
          <c:yMode val="edge"/>
          <c:x val="0.37579500922854236"/>
          <c:y val="3.2263419843774607E-2"/>
          <c:w val="0.24312293357193163"/>
          <c:h val="0.9441672200505235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Familiarity (1,2)</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59C4-40C9-9D94-853716B78D8E}"/>
              </c:ext>
            </c:extLst>
          </c:dPt>
          <c:dPt>
            <c:idx val="1"/>
            <c:invertIfNegative val="0"/>
            <c:bubble3D val="0"/>
            <c:extLst>
              <c:ext xmlns:c16="http://schemas.microsoft.com/office/drawing/2014/chart" uri="{C3380CC4-5D6E-409C-BE32-E72D297353CC}">
                <c16:uniqueId val="{00000001-59C4-40C9-9D94-853716B78D8E}"/>
              </c:ext>
            </c:extLst>
          </c:dPt>
          <c:dPt>
            <c:idx val="2"/>
            <c:invertIfNegative val="0"/>
            <c:bubble3D val="0"/>
            <c:extLst>
              <c:ext xmlns:c16="http://schemas.microsoft.com/office/drawing/2014/chart" uri="{C3380CC4-5D6E-409C-BE32-E72D297353CC}">
                <c16:uniqueId val="{00000002-59C4-40C9-9D94-853716B78D8E}"/>
              </c:ext>
            </c:extLst>
          </c:dPt>
          <c:dPt>
            <c:idx val="3"/>
            <c:invertIfNegative val="0"/>
            <c:bubble3D val="0"/>
            <c:extLst>
              <c:ext xmlns:c16="http://schemas.microsoft.com/office/drawing/2014/chart" uri="{C3380CC4-5D6E-409C-BE32-E72D297353CC}">
                <c16:uniqueId val="{00000003-59C4-40C9-9D94-853716B78D8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0.11</c:v>
                </c:pt>
              </c:numCache>
            </c:numRef>
          </c:val>
          <c:extLst>
            <c:ext xmlns:c16="http://schemas.microsoft.com/office/drawing/2014/chart" uri="{C3380CC4-5D6E-409C-BE32-E72D297353CC}">
              <c16:uniqueId val="{00000004-59C4-40C9-9D94-853716B78D8E}"/>
            </c:ext>
          </c:extLst>
        </c:ser>
        <c:ser>
          <c:idx val="1"/>
          <c:order val="1"/>
          <c:tx>
            <c:strRef>
              <c:f>Sheet1!$C$1</c:f>
              <c:strCache>
                <c:ptCount val="1"/>
                <c:pt idx="0">
                  <c:v>Moderate (3-5)</c:v>
                </c:pt>
              </c:strCache>
            </c:strRef>
          </c:tx>
          <c:spPr>
            <a:solidFill>
              <a:schemeClr val="bg1">
                <a:lumMod val="6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7-59C4-40C9-9D94-853716B78D8E}"/>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0.51</c:v>
                </c:pt>
              </c:numCache>
            </c:numRef>
          </c:val>
          <c:extLst>
            <c:ext xmlns:c16="http://schemas.microsoft.com/office/drawing/2014/chart" uri="{C3380CC4-5D6E-409C-BE32-E72D297353CC}">
              <c16:uniqueId val="{00000005-59C4-40C9-9D94-853716B78D8E}"/>
            </c:ext>
          </c:extLst>
        </c:ser>
        <c:ser>
          <c:idx val="2"/>
          <c:order val="2"/>
          <c:tx>
            <c:strRef>
              <c:f>Sheet1!$D$1</c:f>
              <c:strCache>
                <c:ptCount val="1"/>
                <c:pt idx="0">
                  <c:v>High Familiarity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0.38</c:v>
                </c:pt>
              </c:numCache>
            </c:numRef>
          </c:val>
          <c:extLst>
            <c:ext xmlns:c16="http://schemas.microsoft.com/office/drawing/2014/chart" uri="{C3380CC4-5D6E-409C-BE32-E72D297353CC}">
              <c16:uniqueId val="{00000006-59C4-40C9-9D94-853716B78D8E}"/>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Clarity (1,2)</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577B-4B67-93BD-919E6F53AE40}"/>
              </c:ext>
            </c:extLst>
          </c:dPt>
          <c:dPt>
            <c:idx val="1"/>
            <c:invertIfNegative val="0"/>
            <c:bubble3D val="0"/>
            <c:extLst>
              <c:ext xmlns:c16="http://schemas.microsoft.com/office/drawing/2014/chart" uri="{C3380CC4-5D6E-409C-BE32-E72D297353CC}">
                <c16:uniqueId val="{00000001-577B-4B67-93BD-919E6F53AE40}"/>
              </c:ext>
            </c:extLst>
          </c:dPt>
          <c:dPt>
            <c:idx val="2"/>
            <c:invertIfNegative val="0"/>
            <c:bubble3D val="0"/>
            <c:extLst>
              <c:ext xmlns:c16="http://schemas.microsoft.com/office/drawing/2014/chart" uri="{C3380CC4-5D6E-409C-BE32-E72D297353CC}">
                <c16:uniqueId val="{00000002-577B-4B67-93BD-919E6F53AE40}"/>
              </c:ext>
            </c:extLst>
          </c:dPt>
          <c:dPt>
            <c:idx val="3"/>
            <c:invertIfNegative val="0"/>
            <c:bubble3D val="0"/>
            <c:extLst>
              <c:ext xmlns:c16="http://schemas.microsoft.com/office/drawing/2014/chart" uri="{C3380CC4-5D6E-409C-BE32-E72D297353CC}">
                <c16:uniqueId val="{00000003-577B-4B67-93BD-919E6F53AE40}"/>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77B-4B67-93BD-919E6F53AE40}"/>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0.04</c:v>
                </c:pt>
              </c:numCache>
            </c:numRef>
          </c:val>
          <c:extLst>
            <c:ext xmlns:c16="http://schemas.microsoft.com/office/drawing/2014/chart" uri="{C3380CC4-5D6E-409C-BE32-E72D297353CC}">
              <c16:uniqueId val="{00000004-577B-4B67-93BD-919E6F53AE40}"/>
            </c:ext>
          </c:extLst>
        </c:ser>
        <c:ser>
          <c:idx val="1"/>
          <c:order val="1"/>
          <c:tx>
            <c:strRef>
              <c:f>Sheet1!$C$1</c:f>
              <c:strCache>
                <c:ptCount val="1"/>
                <c:pt idx="0">
                  <c:v>Moderate (3-5)</c:v>
                </c:pt>
              </c:strCache>
            </c:strRef>
          </c:tx>
          <c:spPr>
            <a:solidFill>
              <a:schemeClr val="bg1">
                <a:lumMod val="6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6-577B-4B67-93BD-919E6F53AE40}"/>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0.28999999999999998</c:v>
                </c:pt>
              </c:numCache>
            </c:numRef>
          </c:val>
          <c:extLst>
            <c:ext xmlns:c16="http://schemas.microsoft.com/office/drawing/2014/chart" uri="{C3380CC4-5D6E-409C-BE32-E72D297353CC}">
              <c16:uniqueId val="{00000007-577B-4B67-93BD-919E6F53AE40}"/>
            </c:ext>
          </c:extLst>
        </c:ser>
        <c:ser>
          <c:idx val="2"/>
          <c:order val="2"/>
          <c:tx>
            <c:strRef>
              <c:f>Sheet1!$D$1</c:f>
              <c:strCache>
                <c:ptCount val="1"/>
                <c:pt idx="0">
                  <c:v>High Clarity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0.68</c:v>
                </c:pt>
              </c:numCache>
            </c:numRef>
          </c:val>
          <c:extLst>
            <c:ext xmlns:c16="http://schemas.microsoft.com/office/drawing/2014/chart" uri="{C3380CC4-5D6E-409C-BE32-E72D297353CC}">
              <c16:uniqueId val="{00000008-577B-4B67-93BD-919E6F53AE40}"/>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Prefer standard reconstitution</c:v>
                </c:pt>
              </c:strCache>
            </c:strRef>
          </c:tx>
          <c:spPr>
            <a:solidFill>
              <a:srgbClr val="937DAD"/>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2-228E-4CE1-9937-81FB37F6AB20}"/>
              </c:ext>
            </c:extLst>
          </c:dPt>
          <c:dPt>
            <c:idx val="1"/>
            <c:invertIfNegative val="0"/>
            <c:bubble3D val="0"/>
            <c:extLst>
              <c:ext xmlns:c16="http://schemas.microsoft.com/office/drawing/2014/chart" uri="{C3380CC4-5D6E-409C-BE32-E72D297353CC}">
                <c16:uniqueId val="{00000003-228E-4CE1-9937-81FB37F6AB2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7.0000000000000007E-2</c:v>
                </c:pt>
              </c:numCache>
            </c:numRef>
          </c:val>
          <c:extLst>
            <c:ext xmlns:c16="http://schemas.microsoft.com/office/drawing/2014/chart" uri="{C3380CC4-5D6E-409C-BE32-E72D297353CC}">
              <c16:uniqueId val="{00000004-228E-4CE1-9937-81FB37F6AB20}"/>
            </c:ext>
          </c:extLst>
        </c:ser>
        <c:ser>
          <c:idx val="1"/>
          <c:order val="1"/>
          <c:tx>
            <c:strRef>
              <c:f>Sheet1!$C$1</c:f>
              <c:strCache>
                <c:ptCount val="1"/>
                <c:pt idx="0">
                  <c:v>No preference</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0.32</c:v>
                </c:pt>
              </c:numCache>
            </c:numRef>
          </c:val>
          <c:extLst>
            <c:ext xmlns:c16="http://schemas.microsoft.com/office/drawing/2014/chart" uri="{C3380CC4-5D6E-409C-BE32-E72D297353CC}">
              <c16:uniqueId val="{00000005-228E-4CE1-9937-81FB37F6AB20}"/>
            </c:ext>
          </c:extLst>
        </c:ser>
        <c:ser>
          <c:idx val="2"/>
          <c:order val="2"/>
          <c:tx>
            <c:strRef>
              <c:f>Sheet1!$D$1</c:f>
              <c:strCache>
                <c:ptCount val="1"/>
                <c:pt idx="0">
                  <c:v>Prefer PENBRAYA’s needle-free kit</c:v>
                </c:pt>
              </c:strCache>
            </c:strRef>
          </c:tx>
          <c:spPr>
            <a:solidFill>
              <a:srgbClr val="937DA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0.62</c:v>
                </c:pt>
              </c:numCache>
            </c:numRef>
          </c:val>
          <c:extLst>
            <c:ext xmlns:c16="http://schemas.microsoft.com/office/drawing/2014/chart" uri="{C3380CC4-5D6E-409C-BE32-E72D297353CC}">
              <c16:uniqueId val="{00000006-228E-4CE1-9937-81FB37F6AB20}"/>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901746484779279E-2"/>
          <c:y val="3.4412112471089634E-2"/>
          <c:w val="0.92030188300350657"/>
          <c:h val="0.79801670943887648"/>
        </c:manualLayout>
      </c:layout>
      <c:barChart>
        <c:barDir val="col"/>
        <c:grouping val="stacked"/>
        <c:varyColors val="0"/>
        <c:ser>
          <c:idx val="0"/>
          <c:order val="0"/>
          <c:tx>
            <c:strRef>
              <c:f>Sheet1!$B$1</c:f>
              <c:strCache>
                <c:ptCount val="1"/>
                <c:pt idx="0">
                  <c:v>  1</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B77B-4EB5-AA4F-FC95E7AECA83}"/>
              </c:ext>
            </c:extLst>
          </c:dPt>
          <c:dPt>
            <c:idx val="1"/>
            <c:invertIfNegative val="0"/>
            <c:bubble3D val="0"/>
            <c:extLst>
              <c:ext xmlns:c16="http://schemas.microsoft.com/office/drawing/2014/chart" uri="{C3380CC4-5D6E-409C-BE32-E72D297353CC}">
                <c16:uniqueId val="{00000001-B77B-4EB5-AA4F-FC95E7AECA83}"/>
              </c:ext>
            </c:extLst>
          </c:dPt>
          <c:dPt>
            <c:idx val="2"/>
            <c:invertIfNegative val="0"/>
            <c:bubble3D val="0"/>
            <c:extLst>
              <c:ext xmlns:c16="http://schemas.microsoft.com/office/drawing/2014/chart" uri="{C3380CC4-5D6E-409C-BE32-E72D297353CC}">
                <c16:uniqueId val="{00000002-B77B-4EB5-AA4F-FC95E7AECA83}"/>
              </c:ext>
            </c:extLst>
          </c:dPt>
          <c:dPt>
            <c:idx val="3"/>
            <c:invertIfNegative val="0"/>
            <c:bubble3D val="0"/>
            <c:extLst>
              <c:ext xmlns:c16="http://schemas.microsoft.com/office/drawing/2014/chart" uri="{C3380CC4-5D6E-409C-BE32-E72D297353CC}">
                <c16:uniqueId val="{00000003-B77B-4EB5-AA4F-FC95E7AECA83}"/>
              </c:ext>
            </c:extLst>
          </c:dPt>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0%</c:formatCode>
                <c:ptCount val="1"/>
              </c:numCache>
            </c:numRef>
          </c:val>
          <c:extLst>
            <c:ext xmlns:c16="http://schemas.microsoft.com/office/drawing/2014/chart" uri="{C3380CC4-5D6E-409C-BE32-E72D297353CC}">
              <c16:uniqueId val="{00000004-B77B-4EB5-AA4F-FC95E7AECA83}"/>
            </c:ext>
          </c:extLst>
        </c:ser>
        <c:ser>
          <c:idx val="1"/>
          <c:order val="1"/>
          <c:tx>
            <c:strRef>
              <c:f>Sheet1!$C$1</c:f>
              <c:strCache>
                <c:ptCount val="1"/>
                <c:pt idx="0">
                  <c:v>  2</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c:f>
              <c:numCache>
                <c:formatCode>General</c:formatCode>
                <c:ptCount val="1"/>
              </c:numCache>
            </c:numRef>
          </c:cat>
          <c:val>
            <c:numRef>
              <c:f>Sheet1!$C$2</c:f>
              <c:numCache>
                <c:formatCode>0%</c:formatCode>
                <c:ptCount val="1"/>
              </c:numCache>
            </c:numRef>
          </c:val>
          <c:extLst>
            <c:ext xmlns:c16="http://schemas.microsoft.com/office/drawing/2014/chart" uri="{C3380CC4-5D6E-409C-BE32-E72D297353CC}">
              <c16:uniqueId val="{00000005-B77B-4EB5-AA4F-FC95E7AECA83}"/>
            </c:ext>
          </c:extLst>
        </c:ser>
        <c:ser>
          <c:idx val="2"/>
          <c:order val="2"/>
          <c:tx>
            <c:strRef>
              <c:f>Sheet1!$D$1</c:f>
              <c:strCache>
                <c:ptCount val="1"/>
                <c:pt idx="0">
                  <c:v>  3</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Sheet1!$D$2</c:f>
              <c:numCache>
                <c:formatCode>0%</c:formatCode>
                <c:ptCount val="1"/>
              </c:numCache>
            </c:numRef>
          </c:val>
          <c:extLst>
            <c:ext xmlns:c16="http://schemas.microsoft.com/office/drawing/2014/chart" uri="{C3380CC4-5D6E-409C-BE32-E72D297353CC}">
              <c16:uniqueId val="{00000006-B77B-4EB5-AA4F-FC95E7AECA83}"/>
            </c:ext>
          </c:extLst>
        </c:ser>
        <c:ser>
          <c:idx val="3"/>
          <c:order val="3"/>
          <c:tx>
            <c:strRef>
              <c:f>Sheet1!$E$1</c:f>
              <c:strCache>
                <c:ptCount val="1"/>
                <c:pt idx="0">
                  <c:v>  4</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Sheet1!$E$2</c:f>
              <c:numCache>
                <c:formatCode>0%</c:formatCode>
                <c:ptCount val="1"/>
              </c:numCache>
            </c:numRef>
          </c:val>
          <c:extLst>
            <c:ext xmlns:c16="http://schemas.microsoft.com/office/drawing/2014/chart" uri="{C3380CC4-5D6E-409C-BE32-E72D297353CC}">
              <c16:uniqueId val="{00000007-B77B-4EB5-AA4F-FC95E7AECA83}"/>
            </c:ext>
          </c:extLst>
        </c:ser>
        <c:ser>
          <c:idx val="4"/>
          <c:order val="4"/>
          <c:tx>
            <c:strRef>
              <c:f>Sheet1!$F$1</c:f>
              <c:strCache>
                <c:ptCount val="1"/>
                <c:pt idx="0">
                  <c:v>  5</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Sheet1!$F$2</c:f>
              <c:numCache>
                <c:formatCode>0%</c:formatCode>
                <c:ptCount val="1"/>
              </c:numCache>
            </c:numRef>
          </c:val>
          <c:extLst>
            <c:ext xmlns:c16="http://schemas.microsoft.com/office/drawing/2014/chart" uri="{C3380CC4-5D6E-409C-BE32-E72D297353CC}">
              <c16:uniqueId val="{00000008-B77B-4EB5-AA4F-FC95E7AECA83}"/>
            </c:ext>
          </c:extLst>
        </c:ser>
        <c:ser>
          <c:idx val="5"/>
          <c:order val="5"/>
          <c:tx>
            <c:strRef>
              <c:f>Sheet1!$G$1</c:f>
              <c:strCache>
                <c:ptCount val="1"/>
                <c:pt idx="0">
                  <c:v>  6</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Sheet1!$G$2</c:f>
              <c:numCache>
                <c:formatCode>0%</c:formatCode>
                <c:ptCount val="1"/>
              </c:numCache>
            </c:numRef>
          </c:val>
          <c:extLst>
            <c:ext xmlns:c16="http://schemas.microsoft.com/office/drawing/2014/chart" uri="{C3380CC4-5D6E-409C-BE32-E72D297353CC}">
              <c16:uniqueId val="{00000009-B77B-4EB5-AA4F-FC95E7AECA83}"/>
            </c:ext>
          </c:extLst>
        </c:ser>
        <c:ser>
          <c:idx val="6"/>
          <c:order val="6"/>
          <c:tx>
            <c:strRef>
              <c:f>Sheet1!$H$1</c:f>
              <c:strCache>
                <c:ptCount val="1"/>
                <c:pt idx="0">
                  <c:v>  7</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Sheet1!$H$2</c:f>
              <c:numCache>
                <c:formatCode>0%</c:formatCode>
                <c:ptCount val="1"/>
              </c:numCache>
            </c:numRef>
          </c:val>
          <c:extLst>
            <c:ext xmlns:c16="http://schemas.microsoft.com/office/drawing/2014/chart" uri="{C3380CC4-5D6E-409C-BE32-E72D297353CC}">
              <c16:uniqueId val="{0000000A-B77B-4EB5-AA4F-FC95E7AECA83}"/>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legend>
      <c:legendPos val="r"/>
      <c:layout>
        <c:manualLayout>
          <c:xMode val="edge"/>
          <c:yMode val="edge"/>
          <c:x val="3.1162474390937795E-2"/>
          <c:y val="5.2729918661157463E-2"/>
          <c:w val="0.69325972974521"/>
          <c:h val="0.91929263792520999"/>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1 - Low Likelihood</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3226-4775-8130-7FD6FEAF283F}"/>
              </c:ext>
            </c:extLst>
          </c:dPt>
          <c:dPt>
            <c:idx val="1"/>
            <c:invertIfNegative val="0"/>
            <c:bubble3D val="0"/>
            <c:extLst>
              <c:ext xmlns:c16="http://schemas.microsoft.com/office/drawing/2014/chart" uri="{C3380CC4-5D6E-409C-BE32-E72D297353CC}">
                <c16:uniqueId val="{00000001-3226-4775-8130-7FD6FEAF283F}"/>
              </c:ext>
            </c:extLst>
          </c:dPt>
          <c:dPt>
            <c:idx val="2"/>
            <c:invertIfNegative val="0"/>
            <c:bubble3D val="0"/>
            <c:extLst>
              <c:ext xmlns:c16="http://schemas.microsoft.com/office/drawing/2014/chart" uri="{C3380CC4-5D6E-409C-BE32-E72D297353CC}">
                <c16:uniqueId val="{00000002-3226-4775-8130-7FD6FEAF283F}"/>
              </c:ext>
            </c:extLst>
          </c:dPt>
          <c:dPt>
            <c:idx val="3"/>
            <c:invertIfNegative val="0"/>
            <c:bubble3D val="0"/>
            <c:extLst>
              <c:ext xmlns:c16="http://schemas.microsoft.com/office/drawing/2014/chart" uri="{C3380CC4-5D6E-409C-BE32-E72D297353CC}">
                <c16:uniqueId val="{00000003-3226-4775-8130-7FD6FEAF283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0.17</c:v>
                </c:pt>
              </c:numCache>
            </c:numRef>
          </c:val>
          <c:extLst>
            <c:ext xmlns:c16="http://schemas.microsoft.com/office/drawing/2014/chart" uri="{C3380CC4-5D6E-409C-BE32-E72D297353CC}">
              <c16:uniqueId val="{00000004-3226-4775-8130-7FD6FEAF283F}"/>
            </c:ext>
          </c:extLst>
        </c:ser>
        <c:ser>
          <c:idx val="1"/>
          <c:order val="1"/>
          <c:tx>
            <c:strRef>
              <c:f>Sheet1!$C$1</c:f>
              <c:strCache>
                <c:ptCount val="1"/>
                <c:pt idx="0">
                  <c:v>2</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0.2</c:v>
                </c:pt>
              </c:numCache>
            </c:numRef>
          </c:val>
          <c:extLst>
            <c:ext xmlns:c16="http://schemas.microsoft.com/office/drawing/2014/chart" uri="{C3380CC4-5D6E-409C-BE32-E72D297353CC}">
              <c16:uniqueId val="{00000005-3226-4775-8130-7FD6FEAF283F}"/>
            </c:ext>
          </c:extLst>
        </c:ser>
        <c:ser>
          <c:idx val="2"/>
          <c:order val="2"/>
          <c:tx>
            <c:strRef>
              <c:f>Sheet1!$D$1</c:f>
              <c:strCache>
                <c:ptCount val="1"/>
                <c:pt idx="0">
                  <c:v>3</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0.15</c:v>
                </c:pt>
              </c:numCache>
            </c:numRef>
          </c:val>
          <c:extLst>
            <c:ext xmlns:c16="http://schemas.microsoft.com/office/drawing/2014/chart" uri="{C3380CC4-5D6E-409C-BE32-E72D297353CC}">
              <c16:uniqueId val="{00000006-3226-4775-8130-7FD6FEAF283F}"/>
            </c:ext>
          </c:extLst>
        </c:ser>
        <c:ser>
          <c:idx val="3"/>
          <c:order val="3"/>
          <c:tx>
            <c:strRef>
              <c:f>Sheet1!$E$1</c:f>
              <c:strCache>
                <c:ptCount val="1"/>
                <c:pt idx="0">
                  <c:v>4</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Sheet1!$E$2</c:f>
              <c:numCache>
                <c:formatCode>0%</c:formatCode>
                <c:ptCount val="1"/>
                <c:pt idx="0">
                  <c:v>0.16</c:v>
                </c:pt>
              </c:numCache>
            </c:numRef>
          </c:val>
          <c:extLst>
            <c:ext xmlns:c16="http://schemas.microsoft.com/office/drawing/2014/chart" uri="{C3380CC4-5D6E-409C-BE32-E72D297353CC}">
              <c16:uniqueId val="{00000007-3226-4775-8130-7FD6FEAF283F}"/>
            </c:ext>
          </c:extLst>
        </c:ser>
        <c:ser>
          <c:idx val="4"/>
          <c:order val="4"/>
          <c:tx>
            <c:strRef>
              <c:f>Sheet1!$F$1</c:f>
              <c:strCache>
                <c:ptCount val="1"/>
                <c:pt idx="0">
                  <c:v>5</c:v>
                </c:pt>
              </c:strCache>
            </c:strRef>
          </c:tx>
          <c:spPr>
            <a:solidFill>
              <a:schemeClr val="accent4">
                <a:lumMod val="60000"/>
                <a:lumOff val="40000"/>
              </a:schemeClr>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8-3226-4775-8130-7FD6FEAF283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Sheet1!$F$2</c:f>
              <c:numCache>
                <c:formatCode>0%</c:formatCode>
                <c:ptCount val="1"/>
                <c:pt idx="0">
                  <c:v>0.11</c:v>
                </c:pt>
              </c:numCache>
            </c:numRef>
          </c:val>
          <c:extLst>
            <c:ext xmlns:c16="http://schemas.microsoft.com/office/drawing/2014/chart" uri="{C3380CC4-5D6E-409C-BE32-E72D297353CC}">
              <c16:uniqueId val="{00000009-3226-4775-8130-7FD6FEAF283F}"/>
            </c:ext>
          </c:extLst>
        </c:ser>
        <c:ser>
          <c:idx val="5"/>
          <c:order val="5"/>
          <c:tx>
            <c:strRef>
              <c:f>Sheet1!$G$1</c:f>
              <c:strCache>
                <c:ptCount val="1"/>
                <c:pt idx="0">
                  <c:v>6</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Sheet1!$G$2</c:f>
              <c:numCache>
                <c:formatCode>0%</c:formatCode>
                <c:ptCount val="1"/>
                <c:pt idx="0">
                  <c:v>0.13</c:v>
                </c:pt>
              </c:numCache>
            </c:numRef>
          </c:val>
          <c:extLst>
            <c:ext xmlns:c16="http://schemas.microsoft.com/office/drawing/2014/chart" uri="{C3380CC4-5D6E-409C-BE32-E72D297353CC}">
              <c16:uniqueId val="{0000000A-3226-4775-8130-7FD6FEAF283F}"/>
            </c:ext>
          </c:extLst>
        </c:ser>
        <c:ser>
          <c:idx val="6"/>
          <c:order val="6"/>
          <c:tx>
            <c:strRef>
              <c:f>Sheet1!$H$1</c:f>
              <c:strCache>
                <c:ptCount val="1"/>
                <c:pt idx="0">
                  <c:v>7 - High Likelihood</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Sheet1!$H$2</c:f>
              <c:numCache>
                <c:formatCode>0%</c:formatCode>
                <c:ptCount val="1"/>
                <c:pt idx="0">
                  <c:v>0.08</c:v>
                </c:pt>
              </c:numCache>
            </c:numRef>
          </c:val>
          <c:extLst>
            <c:ext xmlns:c16="http://schemas.microsoft.com/office/drawing/2014/chart" uri="{C3380CC4-5D6E-409C-BE32-E72D297353CC}">
              <c16:uniqueId val="{0000000B-3226-4775-8130-7FD6FEAF283F}"/>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6017489687070686E-2"/>
          <c:y val="3.4412112471089634E-2"/>
          <c:w val="0.95388252276838259"/>
          <c:h val="0.79801670943887648"/>
        </c:manualLayout>
      </c:layout>
      <c:barChart>
        <c:barDir val="col"/>
        <c:grouping val="stacked"/>
        <c:varyColors val="0"/>
        <c:ser>
          <c:idx val="0"/>
          <c:order val="0"/>
          <c:tx>
            <c:strRef>
              <c:f>Sheet1!$B$1</c:f>
              <c:strCache>
                <c:ptCount val="1"/>
                <c:pt idx="0">
                  <c:v>1 - Low Likelihood</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899D-4996-9C39-32061F458AC4}"/>
              </c:ext>
            </c:extLst>
          </c:dPt>
          <c:dPt>
            <c:idx val="1"/>
            <c:invertIfNegative val="0"/>
            <c:bubble3D val="0"/>
            <c:extLst>
              <c:ext xmlns:c16="http://schemas.microsoft.com/office/drawing/2014/chart" uri="{C3380CC4-5D6E-409C-BE32-E72D297353CC}">
                <c16:uniqueId val="{00000001-899D-4996-9C39-32061F458AC4}"/>
              </c:ext>
            </c:extLst>
          </c:dPt>
          <c:dPt>
            <c:idx val="2"/>
            <c:invertIfNegative val="0"/>
            <c:bubble3D val="0"/>
            <c:extLst>
              <c:ext xmlns:c16="http://schemas.microsoft.com/office/drawing/2014/chart" uri="{C3380CC4-5D6E-409C-BE32-E72D297353CC}">
                <c16:uniqueId val="{00000002-899D-4996-9C39-32061F458AC4}"/>
              </c:ext>
            </c:extLst>
          </c:dPt>
          <c:dPt>
            <c:idx val="3"/>
            <c:invertIfNegative val="0"/>
            <c:bubble3D val="0"/>
            <c:extLst>
              <c:ext xmlns:c16="http://schemas.microsoft.com/office/drawing/2014/chart" uri="{C3380CC4-5D6E-409C-BE32-E72D297353CC}">
                <c16:uniqueId val="{00000003-899D-4996-9C39-32061F458AC4}"/>
              </c:ext>
            </c:extLst>
          </c:dPt>
          <c:dLbls>
            <c:dLbl>
              <c:idx val="1"/>
              <c:delete val="1"/>
              <c:extLst>
                <c:ext xmlns:c15="http://schemas.microsoft.com/office/drawing/2012/chart" uri="{CE6537A1-D6FC-4f65-9D91-7224C49458BB}"/>
                <c:ext xmlns:c16="http://schemas.microsoft.com/office/drawing/2014/chart" uri="{C3380CC4-5D6E-409C-BE32-E72D297353CC}">
                  <c16:uniqueId val="{00000001-899D-4996-9C39-32061F458AC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 Bexsero</c:v>
                </c:pt>
                <c:pt idx="1">
                  <c:v>Bexero Only</c:v>
                </c:pt>
                <c:pt idx="2">
                  <c:v>Bexsero &amp; Trumenba</c:v>
                </c:pt>
                <c:pt idx="3">
                  <c:v>Bexesero &amp; Penbraya</c:v>
                </c:pt>
              </c:strCache>
            </c:strRef>
          </c:cat>
          <c:val>
            <c:numRef>
              <c:f>Sheet1!$B$2:$B$5</c:f>
              <c:numCache>
                <c:formatCode>0%</c:formatCode>
                <c:ptCount val="4"/>
                <c:pt idx="0">
                  <c:v>7.0000000000000007E-2</c:v>
                </c:pt>
                <c:pt idx="1">
                  <c:v>0.03</c:v>
                </c:pt>
                <c:pt idx="2">
                  <c:v>0.12</c:v>
                </c:pt>
                <c:pt idx="3">
                  <c:v>0.17</c:v>
                </c:pt>
              </c:numCache>
            </c:numRef>
          </c:val>
          <c:extLst>
            <c:ext xmlns:c16="http://schemas.microsoft.com/office/drawing/2014/chart" uri="{C3380CC4-5D6E-409C-BE32-E72D297353CC}">
              <c16:uniqueId val="{00000004-899D-4996-9C39-32061F458AC4}"/>
            </c:ext>
          </c:extLst>
        </c:ser>
        <c:ser>
          <c:idx val="1"/>
          <c:order val="1"/>
          <c:tx>
            <c:strRef>
              <c:f>Sheet1!$C$1</c:f>
              <c:strCache>
                <c:ptCount val="1"/>
                <c:pt idx="0">
                  <c:v>2</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Total Bexsero</c:v>
                </c:pt>
                <c:pt idx="1">
                  <c:v>Bexero Only</c:v>
                </c:pt>
                <c:pt idx="2">
                  <c:v>Bexsero &amp; Trumenba</c:v>
                </c:pt>
                <c:pt idx="3">
                  <c:v>Bexesero &amp; Penbraya</c:v>
                </c:pt>
              </c:strCache>
            </c:strRef>
          </c:cat>
          <c:val>
            <c:numRef>
              <c:f>Sheet1!$C$2:$C$5</c:f>
              <c:numCache>
                <c:formatCode>0%</c:formatCode>
                <c:ptCount val="4"/>
                <c:pt idx="0">
                  <c:v>0.08</c:v>
                </c:pt>
                <c:pt idx="1">
                  <c:v>0.08</c:v>
                </c:pt>
                <c:pt idx="2">
                  <c:v>0.08</c:v>
                </c:pt>
                <c:pt idx="3">
                  <c:v>0.08</c:v>
                </c:pt>
              </c:numCache>
            </c:numRef>
          </c:val>
          <c:extLst>
            <c:ext xmlns:c16="http://schemas.microsoft.com/office/drawing/2014/chart" uri="{C3380CC4-5D6E-409C-BE32-E72D297353CC}">
              <c16:uniqueId val="{00000005-899D-4996-9C39-32061F458AC4}"/>
            </c:ext>
          </c:extLst>
        </c:ser>
        <c:ser>
          <c:idx val="2"/>
          <c:order val="2"/>
          <c:tx>
            <c:strRef>
              <c:f>Sheet1!$D$1</c:f>
              <c:strCache>
                <c:ptCount val="1"/>
                <c:pt idx="0">
                  <c:v>3</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 Bexsero</c:v>
                </c:pt>
                <c:pt idx="1">
                  <c:v>Bexero Only</c:v>
                </c:pt>
                <c:pt idx="2">
                  <c:v>Bexsero &amp; Trumenba</c:v>
                </c:pt>
                <c:pt idx="3">
                  <c:v>Bexesero &amp; Penbraya</c:v>
                </c:pt>
              </c:strCache>
            </c:strRef>
          </c:cat>
          <c:val>
            <c:numRef>
              <c:f>Sheet1!$D$2:$D$5</c:f>
              <c:numCache>
                <c:formatCode>0%</c:formatCode>
                <c:ptCount val="4"/>
                <c:pt idx="0">
                  <c:v>0.14000000000000001</c:v>
                </c:pt>
                <c:pt idx="1">
                  <c:v>0.08</c:v>
                </c:pt>
                <c:pt idx="2">
                  <c:v>0.22</c:v>
                </c:pt>
                <c:pt idx="3">
                  <c:v>0.21</c:v>
                </c:pt>
              </c:numCache>
            </c:numRef>
          </c:val>
          <c:extLst>
            <c:ext xmlns:c16="http://schemas.microsoft.com/office/drawing/2014/chart" uri="{C3380CC4-5D6E-409C-BE32-E72D297353CC}">
              <c16:uniqueId val="{00000006-899D-4996-9C39-32061F458AC4}"/>
            </c:ext>
          </c:extLst>
        </c:ser>
        <c:ser>
          <c:idx val="3"/>
          <c:order val="3"/>
          <c:tx>
            <c:strRef>
              <c:f>Sheet1!$E$1</c:f>
              <c:strCache>
                <c:ptCount val="1"/>
                <c:pt idx="0">
                  <c:v>4</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 Bexsero</c:v>
                </c:pt>
                <c:pt idx="1">
                  <c:v>Bexero Only</c:v>
                </c:pt>
                <c:pt idx="2">
                  <c:v>Bexsero &amp; Trumenba</c:v>
                </c:pt>
                <c:pt idx="3">
                  <c:v>Bexesero &amp; Penbraya</c:v>
                </c:pt>
              </c:strCache>
            </c:strRef>
          </c:cat>
          <c:val>
            <c:numRef>
              <c:f>Sheet1!$E$2:$E$5</c:f>
              <c:numCache>
                <c:formatCode>0%</c:formatCode>
                <c:ptCount val="4"/>
                <c:pt idx="0">
                  <c:v>0.12</c:v>
                </c:pt>
                <c:pt idx="1">
                  <c:v>0.16</c:v>
                </c:pt>
                <c:pt idx="2">
                  <c:v>7.0000000000000007E-2</c:v>
                </c:pt>
                <c:pt idx="3">
                  <c:v>0.08</c:v>
                </c:pt>
              </c:numCache>
            </c:numRef>
          </c:val>
          <c:extLst>
            <c:ext xmlns:c16="http://schemas.microsoft.com/office/drawing/2014/chart" uri="{C3380CC4-5D6E-409C-BE32-E72D297353CC}">
              <c16:uniqueId val="{00000007-899D-4996-9C39-32061F458AC4}"/>
            </c:ext>
          </c:extLst>
        </c:ser>
        <c:ser>
          <c:idx val="4"/>
          <c:order val="4"/>
          <c:tx>
            <c:strRef>
              <c:f>Sheet1!$F$1</c:f>
              <c:strCache>
                <c:ptCount val="1"/>
                <c:pt idx="0">
                  <c:v>5</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 Bexsero</c:v>
                </c:pt>
                <c:pt idx="1">
                  <c:v>Bexero Only</c:v>
                </c:pt>
                <c:pt idx="2">
                  <c:v>Bexsero &amp; Trumenba</c:v>
                </c:pt>
                <c:pt idx="3">
                  <c:v>Bexesero &amp; Penbraya</c:v>
                </c:pt>
              </c:strCache>
            </c:strRef>
          </c:cat>
          <c:val>
            <c:numRef>
              <c:f>Sheet1!$F$2:$F$5</c:f>
              <c:numCache>
                <c:formatCode>0%</c:formatCode>
                <c:ptCount val="4"/>
                <c:pt idx="0">
                  <c:v>0.18</c:v>
                </c:pt>
                <c:pt idx="1">
                  <c:v>0.1</c:v>
                </c:pt>
                <c:pt idx="2">
                  <c:v>0.31</c:v>
                </c:pt>
                <c:pt idx="3">
                  <c:v>0.25</c:v>
                </c:pt>
              </c:numCache>
            </c:numRef>
          </c:val>
          <c:extLst>
            <c:ext xmlns:c16="http://schemas.microsoft.com/office/drawing/2014/chart" uri="{C3380CC4-5D6E-409C-BE32-E72D297353CC}">
              <c16:uniqueId val="{00000008-899D-4996-9C39-32061F458AC4}"/>
            </c:ext>
          </c:extLst>
        </c:ser>
        <c:ser>
          <c:idx val="5"/>
          <c:order val="5"/>
          <c:tx>
            <c:strRef>
              <c:f>Sheet1!$G$1</c:f>
              <c:strCache>
                <c:ptCount val="1"/>
                <c:pt idx="0">
                  <c:v>6</c:v>
                </c:pt>
              </c:strCache>
            </c:strRef>
          </c:tx>
          <c:spPr>
            <a:solidFill>
              <a:schemeClr val="accent4"/>
            </a:solidFill>
            <a:ln>
              <a:noFill/>
            </a:ln>
            <a:effectLst/>
          </c:spPr>
          <c:invertIfNegative val="0"/>
          <c:dLbls>
            <c:dLbl>
              <c:idx val="3"/>
              <c:delete val="1"/>
              <c:extLst>
                <c:ext xmlns:c15="http://schemas.microsoft.com/office/drawing/2012/chart" uri="{CE6537A1-D6FC-4f65-9D91-7224C49458BB}"/>
                <c:ext xmlns:c16="http://schemas.microsoft.com/office/drawing/2014/chart" uri="{C3380CC4-5D6E-409C-BE32-E72D297353CC}">
                  <c16:uniqueId val="{00000009-899D-4996-9C39-32061F458AC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 Bexsero</c:v>
                </c:pt>
                <c:pt idx="1">
                  <c:v>Bexero Only</c:v>
                </c:pt>
                <c:pt idx="2">
                  <c:v>Bexsero &amp; Trumenba</c:v>
                </c:pt>
                <c:pt idx="3">
                  <c:v>Bexesero &amp; Penbraya</c:v>
                </c:pt>
              </c:strCache>
            </c:strRef>
          </c:cat>
          <c:val>
            <c:numRef>
              <c:f>Sheet1!$G$2:$G$5</c:f>
              <c:numCache>
                <c:formatCode>0%</c:formatCode>
                <c:ptCount val="4"/>
                <c:pt idx="0">
                  <c:v>0.16</c:v>
                </c:pt>
                <c:pt idx="1">
                  <c:v>0.24</c:v>
                </c:pt>
                <c:pt idx="2">
                  <c:v>0.05</c:v>
                </c:pt>
                <c:pt idx="3">
                  <c:v>0.04</c:v>
                </c:pt>
              </c:numCache>
            </c:numRef>
          </c:val>
          <c:extLst>
            <c:ext xmlns:c16="http://schemas.microsoft.com/office/drawing/2014/chart" uri="{C3380CC4-5D6E-409C-BE32-E72D297353CC}">
              <c16:uniqueId val="{0000000A-899D-4996-9C39-32061F458AC4}"/>
            </c:ext>
          </c:extLst>
        </c:ser>
        <c:ser>
          <c:idx val="6"/>
          <c:order val="6"/>
          <c:tx>
            <c:strRef>
              <c:f>Sheet1!$H$1</c:f>
              <c:strCache>
                <c:ptCount val="1"/>
                <c:pt idx="0">
                  <c:v>7 - High Likelihood</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 Bexsero</c:v>
                </c:pt>
                <c:pt idx="1">
                  <c:v>Bexero Only</c:v>
                </c:pt>
                <c:pt idx="2">
                  <c:v>Bexsero &amp; Trumenba</c:v>
                </c:pt>
                <c:pt idx="3">
                  <c:v>Bexesero &amp; Penbraya</c:v>
                </c:pt>
              </c:strCache>
            </c:strRef>
          </c:cat>
          <c:val>
            <c:numRef>
              <c:f>Sheet1!$H$2:$H$5</c:f>
              <c:numCache>
                <c:formatCode>0%</c:formatCode>
                <c:ptCount val="4"/>
                <c:pt idx="0">
                  <c:v>0.24</c:v>
                </c:pt>
                <c:pt idx="1">
                  <c:v>0.3</c:v>
                </c:pt>
                <c:pt idx="2">
                  <c:v>0.15</c:v>
                </c:pt>
                <c:pt idx="3">
                  <c:v>0.17</c:v>
                </c:pt>
              </c:numCache>
            </c:numRef>
          </c:val>
          <c:extLst>
            <c:ext xmlns:c16="http://schemas.microsoft.com/office/drawing/2014/chart" uri="{C3380CC4-5D6E-409C-BE32-E72D297353CC}">
              <c16:uniqueId val="{0000000B-899D-4996-9C39-32061F458AC4}"/>
            </c:ext>
          </c:extLst>
        </c:ser>
        <c:dLbls>
          <c:showLegendKey val="0"/>
          <c:showVal val="0"/>
          <c:showCatName val="0"/>
          <c:showSerName val="0"/>
          <c:showPercent val="0"/>
          <c:showBubbleSize val="0"/>
        </c:dLbls>
        <c:gapWidth val="25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901746484779279E-2"/>
          <c:y val="3.4412112471089634E-2"/>
          <c:w val="0.92030188300350657"/>
          <c:h val="0.79801670943887648"/>
        </c:manualLayout>
      </c:layout>
      <c:barChart>
        <c:barDir val="col"/>
        <c:grouping val="stacked"/>
        <c:varyColors val="0"/>
        <c:ser>
          <c:idx val="0"/>
          <c:order val="0"/>
          <c:tx>
            <c:strRef>
              <c:f>Sheet1!$B$1</c:f>
              <c:strCache>
                <c:ptCount val="1"/>
                <c:pt idx="0">
                  <c:v>  1</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7B70-4DE3-8C07-5072700DE859}"/>
              </c:ext>
            </c:extLst>
          </c:dPt>
          <c:dPt>
            <c:idx val="1"/>
            <c:invertIfNegative val="0"/>
            <c:bubble3D val="0"/>
            <c:extLst>
              <c:ext xmlns:c16="http://schemas.microsoft.com/office/drawing/2014/chart" uri="{C3380CC4-5D6E-409C-BE32-E72D297353CC}">
                <c16:uniqueId val="{00000001-7B70-4DE3-8C07-5072700DE859}"/>
              </c:ext>
            </c:extLst>
          </c:dPt>
          <c:dPt>
            <c:idx val="2"/>
            <c:invertIfNegative val="0"/>
            <c:bubble3D val="0"/>
            <c:extLst>
              <c:ext xmlns:c16="http://schemas.microsoft.com/office/drawing/2014/chart" uri="{C3380CC4-5D6E-409C-BE32-E72D297353CC}">
                <c16:uniqueId val="{00000002-7B70-4DE3-8C07-5072700DE859}"/>
              </c:ext>
            </c:extLst>
          </c:dPt>
          <c:dPt>
            <c:idx val="3"/>
            <c:invertIfNegative val="0"/>
            <c:bubble3D val="0"/>
            <c:extLst>
              <c:ext xmlns:c16="http://schemas.microsoft.com/office/drawing/2014/chart" uri="{C3380CC4-5D6E-409C-BE32-E72D297353CC}">
                <c16:uniqueId val="{00000003-7B70-4DE3-8C07-5072700DE85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0%</c:formatCode>
                <c:ptCount val="1"/>
              </c:numCache>
            </c:numRef>
          </c:val>
          <c:extLst>
            <c:ext xmlns:c16="http://schemas.microsoft.com/office/drawing/2014/chart" uri="{C3380CC4-5D6E-409C-BE32-E72D297353CC}">
              <c16:uniqueId val="{00000004-7B70-4DE3-8C07-5072700DE859}"/>
            </c:ext>
          </c:extLst>
        </c:ser>
        <c:ser>
          <c:idx val="1"/>
          <c:order val="1"/>
          <c:tx>
            <c:strRef>
              <c:f>Sheet1!$C$1</c:f>
              <c:strCache>
                <c:ptCount val="1"/>
                <c:pt idx="0">
                  <c:v>  2</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c:f>
              <c:numCache>
                <c:formatCode>General</c:formatCode>
                <c:ptCount val="1"/>
              </c:numCache>
            </c:numRef>
          </c:cat>
          <c:val>
            <c:numRef>
              <c:f>Sheet1!$C$2</c:f>
              <c:numCache>
                <c:formatCode>0%</c:formatCode>
                <c:ptCount val="1"/>
              </c:numCache>
            </c:numRef>
          </c:val>
          <c:extLst>
            <c:ext xmlns:c16="http://schemas.microsoft.com/office/drawing/2014/chart" uri="{C3380CC4-5D6E-409C-BE32-E72D297353CC}">
              <c16:uniqueId val="{00000005-7B70-4DE3-8C07-5072700DE859}"/>
            </c:ext>
          </c:extLst>
        </c:ser>
        <c:ser>
          <c:idx val="2"/>
          <c:order val="2"/>
          <c:tx>
            <c:strRef>
              <c:f>Sheet1!$D$1</c:f>
              <c:strCache>
                <c:ptCount val="1"/>
                <c:pt idx="0">
                  <c:v>  3</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Sheet1!$D$2</c:f>
              <c:numCache>
                <c:formatCode>0%</c:formatCode>
                <c:ptCount val="1"/>
              </c:numCache>
            </c:numRef>
          </c:val>
          <c:extLst>
            <c:ext xmlns:c16="http://schemas.microsoft.com/office/drawing/2014/chart" uri="{C3380CC4-5D6E-409C-BE32-E72D297353CC}">
              <c16:uniqueId val="{00000006-7B70-4DE3-8C07-5072700DE859}"/>
            </c:ext>
          </c:extLst>
        </c:ser>
        <c:ser>
          <c:idx val="3"/>
          <c:order val="3"/>
          <c:tx>
            <c:strRef>
              <c:f>Sheet1!$E$1</c:f>
              <c:strCache>
                <c:ptCount val="1"/>
                <c:pt idx="0">
                  <c:v>  4</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Sheet1!$E$2</c:f>
              <c:numCache>
                <c:formatCode>0%</c:formatCode>
                <c:ptCount val="1"/>
              </c:numCache>
            </c:numRef>
          </c:val>
          <c:extLst>
            <c:ext xmlns:c16="http://schemas.microsoft.com/office/drawing/2014/chart" uri="{C3380CC4-5D6E-409C-BE32-E72D297353CC}">
              <c16:uniqueId val="{00000004-64BF-4FA8-B643-857C79EAFF28}"/>
            </c:ext>
          </c:extLst>
        </c:ser>
        <c:ser>
          <c:idx val="4"/>
          <c:order val="4"/>
          <c:tx>
            <c:strRef>
              <c:f>Sheet1!$F$1</c:f>
              <c:strCache>
                <c:ptCount val="1"/>
                <c:pt idx="0">
                  <c:v>  5</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Sheet1!$F$2</c:f>
              <c:numCache>
                <c:formatCode>0%</c:formatCode>
                <c:ptCount val="1"/>
              </c:numCache>
            </c:numRef>
          </c:val>
          <c:extLst>
            <c:ext xmlns:c16="http://schemas.microsoft.com/office/drawing/2014/chart" uri="{C3380CC4-5D6E-409C-BE32-E72D297353CC}">
              <c16:uniqueId val="{00000008-64BF-4FA8-B643-857C79EAFF28}"/>
            </c:ext>
          </c:extLst>
        </c:ser>
        <c:ser>
          <c:idx val="5"/>
          <c:order val="5"/>
          <c:tx>
            <c:strRef>
              <c:f>Sheet1!$G$1</c:f>
              <c:strCache>
                <c:ptCount val="1"/>
                <c:pt idx="0">
                  <c:v>  6</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Sheet1!$G$2</c:f>
              <c:numCache>
                <c:formatCode>0%</c:formatCode>
                <c:ptCount val="1"/>
              </c:numCache>
            </c:numRef>
          </c:val>
          <c:extLst>
            <c:ext xmlns:c16="http://schemas.microsoft.com/office/drawing/2014/chart" uri="{C3380CC4-5D6E-409C-BE32-E72D297353CC}">
              <c16:uniqueId val="{00000009-64BF-4FA8-B643-857C79EAFF28}"/>
            </c:ext>
          </c:extLst>
        </c:ser>
        <c:ser>
          <c:idx val="6"/>
          <c:order val="6"/>
          <c:tx>
            <c:strRef>
              <c:f>Sheet1!$H$1</c:f>
              <c:strCache>
                <c:ptCount val="1"/>
                <c:pt idx="0">
                  <c:v>  7</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Sheet1!$H$2</c:f>
              <c:numCache>
                <c:formatCode>0%</c:formatCode>
                <c:ptCount val="1"/>
              </c:numCache>
            </c:numRef>
          </c:val>
          <c:extLst>
            <c:ext xmlns:c16="http://schemas.microsoft.com/office/drawing/2014/chart" uri="{C3380CC4-5D6E-409C-BE32-E72D297353CC}">
              <c16:uniqueId val="{0000000A-64BF-4FA8-B643-857C79EAFF28}"/>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legend>
      <c:legendPos val="r"/>
      <c:layout>
        <c:manualLayout>
          <c:xMode val="edge"/>
          <c:yMode val="edge"/>
          <c:x val="3.1162474390937795E-2"/>
          <c:y val="5.2729918661157463E-2"/>
          <c:w val="0.69325972974521"/>
          <c:h val="0.91929263792520999"/>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901746484779279E-2"/>
          <c:y val="3.4412112471089634E-2"/>
          <c:w val="0.92030188300350657"/>
          <c:h val="0.79801670943887648"/>
        </c:manualLayout>
      </c:layout>
      <c:barChart>
        <c:barDir val="col"/>
        <c:grouping val="stacked"/>
        <c:varyColors val="0"/>
        <c:ser>
          <c:idx val="0"/>
          <c:order val="0"/>
          <c:tx>
            <c:strRef>
              <c:f>Sheet1!$B$1</c:f>
              <c:strCache>
                <c:ptCount val="1"/>
                <c:pt idx="0">
                  <c:v>1 - Low Likelihood</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7B70-4DE3-8C07-5072700DE859}"/>
              </c:ext>
            </c:extLst>
          </c:dPt>
          <c:dPt>
            <c:idx val="1"/>
            <c:invertIfNegative val="0"/>
            <c:bubble3D val="0"/>
            <c:extLst>
              <c:ext xmlns:c16="http://schemas.microsoft.com/office/drawing/2014/chart" uri="{C3380CC4-5D6E-409C-BE32-E72D297353CC}">
                <c16:uniqueId val="{00000001-7B70-4DE3-8C07-5072700DE859}"/>
              </c:ext>
            </c:extLst>
          </c:dPt>
          <c:dPt>
            <c:idx val="2"/>
            <c:invertIfNegative val="0"/>
            <c:bubble3D val="0"/>
            <c:extLst>
              <c:ext xmlns:c16="http://schemas.microsoft.com/office/drawing/2014/chart" uri="{C3380CC4-5D6E-409C-BE32-E72D297353CC}">
                <c16:uniqueId val="{00000002-7B70-4DE3-8C07-5072700DE859}"/>
              </c:ext>
            </c:extLst>
          </c:dPt>
          <c:dPt>
            <c:idx val="3"/>
            <c:invertIfNegative val="0"/>
            <c:bubble3D val="0"/>
            <c:extLst>
              <c:ext xmlns:c16="http://schemas.microsoft.com/office/drawing/2014/chart" uri="{C3380CC4-5D6E-409C-BE32-E72D297353CC}">
                <c16:uniqueId val="{00000003-7B70-4DE3-8C07-5072700DE85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7.0000000000000007E-2</c:v>
                </c:pt>
              </c:numCache>
            </c:numRef>
          </c:val>
          <c:extLst>
            <c:ext xmlns:c16="http://schemas.microsoft.com/office/drawing/2014/chart" uri="{C3380CC4-5D6E-409C-BE32-E72D297353CC}">
              <c16:uniqueId val="{00000004-7B70-4DE3-8C07-5072700DE859}"/>
            </c:ext>
          </c:extLst>
        </c:ser>
        <c:ser>
          <c:idx val="1"/>
          <c:order val="1"/>
          <c:tx>
            <c:strRef>
              <c:f>Sheet1!$C$1</c:f>
              <c:strCache>
                <c:ptCount val="1"/>
                <c:pt idx="0">
                  <c:v>2</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0.08</c:v>
                </c:pt>
              </c:numCache>
            </c:numRef>
          </c:val>
          <c:extLst>
            <c:ext xmlns:c16="http://schemas.microsoft.com/office/drawing/2014/chart" uri="{C3380CC4-5D6E-409C-BE32-E72D297353CC}">
              <c16:uniqueId val="{00000005-7B70-4DE3-8C07-5072700DE859}"/>
            </c:ext>
          </c:extLst>
        </c:ser>
        <c:ser>
          <c:idx val="2"/>
          <c:order val="2"/>
          <c:tx>
            <c:strRef>
              <c:f>Sheet1!$D$1</c:f>
              <c:strCache>
                <c:ptCount val="1"/>
                <c:pt idx="0">
                  <c:v>3</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0.14000000000000001</c:v>
                </c:pt>
              </c:numCache>
            </c:numRef>
          </c:val>
          <c:extLst>
            <c:ext xmlns:c16="http://schemas.microsoft.com/office/drawing/2014/chart" uri="{C3380CC4-5D6E-409C-BE32-E72D297353CC}">
              <c16:uniqueId val="{00000006-7B70-4DE3-8C07-5072700DE859}"/>
            </c:ext>
          </c:extLst>
        </c:ser>
        <c:ser>
          <c:idx val="3"/>
          <c:order val="3"/>
          <c:tx>
            <c:strRef>
              <c:f>Sheet1!$E$1</c:f>
              <c:strCache>
                <c:ptCount val="1"/>
                <c:pt idx="0">
                  <c:v>4</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Sheet1!$E$2</c:f>
              <c:numCache>
                <c:formatCode>0%</c:formatCode>
                <c:ptCount val="1"/>
                <c:pt idx="0">
                  <c:v>0.12</c:v>
                </c:pt>
              </c:numCache>
            </c:numRef>
          </c:val>
          <c:extLst>
            <c:ext xmlns:c16="http://schemas.microsoft.com/office/drawing/2014/chart" uri="{C3380CC4-5D6E-409C-BE32-E72D297353CC}">
              <c16:uniqueId val="{00000004-64BF-4FA8-B643-857C79EAFF28}"/>
            </c:ext>
          </c:extLst>
        </c:ser>
        <c:ser>
          <c:idx val="4"/>
          <c:order val="4"/>
          <c:tx>
            <c:strRef>
              <c:f>Sheet1!$F$1</c:f>
              <c:strCache>
                <c:ptCount val="1"/>
                <c:pt idx="0">
                  <c:v>5</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Sheet1!$F$2</c:f>
              <c:numCache>
                <c:formatCode>0%</c:formatCode>
                <c:ptCount val="1"/>
                <c:pt idx="0">
                  <c:v>0.18</c:v>
                </c:pt>
              </c:numCache>
            </c:numRef>
          </c:val>
          <c:extLst>
            <c:ext xmlns:c16="http://schemas.microsoft.com/office/drawing/2014/chart" uri="{C3380CC4-5D6E-409C-BE32-E72D297353CC}">
              <c16:uniqueId val="{00000008-64BF-4FA8-B643-857C79EAFF28}"/>
            </c:ext>
          </c:extLst>
        </c:ser>
        <c:ser>
          <c:idx val="5"/>
          <c:order val="5"/>
          <c:tx>
            <c:strRef>
              <c:f>Sheet1!$G$1</c:f>
              <c:strCache>
                <c:ptCount val="1"/>
                <c:pt idx="0">
                  <c:v>6</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Sheet1!$G$2</c:f>
              <c:numCache>
                <c:formatCode>0%</c:formatCode>
                <c:ptCount val="1"/>
                <c:pt idx="0">
                  <c:v>0.16</c:v>
                </c:pt>
              </c:numCache>
            </c:numRef>
          </c:val>
          <c:extLst>
            <c:ext xmlns:c16="http://schemas.microsoft.com/office/drawing/2014/chart" uri="{C3380CC4-5D6E-409C-BE32-E72D297353CC}">
              <c16:uniqueId val="{00000009-64BF-4FA8-B643-857C79EAFF28}"/>
            </c:ext>
          </c:extLst>
        </c:ser>
        <c:ser>
          <c:idx val="6"/>
          <c:order val="6"/>
          <c:tx>
            <c:strRef>
              <c:f>Sheet1!$H$1</c:f>
              <c:strCache>
                <c:ptCount val="1"/>
                <c:pt idx="0">
                  <c:v>7 - High Likelihood</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Sheet1!$H$2</c:f>
              <c:numCache>
                <c:formatCode>0%</c:formatCode>
                <c:ptCount val="1"/>
                <c:pt idx="0">
                  <c:v>0.24</c:v>
                </c:pt>
              </c:numCache>
            </c:numRef>
          </c:val>
          <c:extLst>
            <c:ext xmlns:c16="http://schemas.microsoft.com/office/drawing/2014/chart" uri="{C3380CC4-5D6E-409C-BE32-E72D297353CC}">
              <c16:uniqueId val="{0000000A-64BF-4FA8-B643-857C79EAFF28}"/>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1658660868471949E-2"/>
          <c:y val="8.7241507223496884E-2"/>
          <c:w val="0.89668267826305614"/>
          <c:h val="0.80695833765273506"/>
        </c:manualLayout>
      </c:layout>
      <c:barChart>
        <c:barDir val="col"/>
        <c:grouping val="clustered"/>
        <c:varyColors val="0"/>
        <c:ser>
          <c:idx val="0"/>
          <c:order val="0"/>
          <c:tx>
            <c:strRef>
              <c:f>Sheet1!$A$2</c:f>
              <c:strCache>
                <c:ptCount val="1"/>
                <c:pt idx="0">
                  <c:v>Sep'25</c:v>
                </c:pt>
              </c:strCache>
            </c:strRef>
          </c:tx>
          <c:spPr>
            <a:solidFill>
              <a:schemeClr val="accent3"/>
            </a:solidFill>
            <a:ln>
              <a:noFill/>
            </a:ln>
            <a:effectLst/>
          </c:spPr>
          <c:invertIfNegative val="0"/>
          <c:dPt>
            <c:idx val="0"/>
            <c:invertIfNegative val="0"/>
            <c:bubble3D val="0"/>
            <c:spPr>
              <a:solidFill>
                <a:srgbClr val="6F002C"/>
              </a:solidFill>
              <a:ln>
                <a:noFill/>
              </a:ln>
              <a:effectLst/>
            </c:spPr>
            <c:extLst>
              <c:ext xmlns:c16="http://schemas.microsoft.com/office/drawing/2014/chart" uri="{C3380CC4-5D6E-409C-BE32-E72D297353CC}">
                <c16:uniqueId val="{00000002-DED5-408A-BF57-9238F02D2D45}"/>
              </c:ext>
            </c:extLst>
          </c:dPt>
          <c:dLbls>
            <c:dLbl>
              <c:idx val="1"/>
              <c:tx>
                <c:rich>
                  <a:bodyPr/>
                  <a:lstStyle/>
                  <a:p>
                    <a:fld id="{1488921C-78D2-4F29-94FB-533BC0778655}" type="VALUE">
                      <a:rPr lang="en-US" smtClean="0">
                        <a:solidFill>
                          <a:schemeClr val="tx1"/>
                        </a:solidFill>
                      </a:rPr>
                      <a:pPr/>
                      <a:t>[VALUE]</a:t>
                    </a:fld>
                    <a:r>
                      <a:rPr kumimoji="0" lang="en-US" sz="900" b="0" i="0" u="none" strike="noStrike" kern="1200" cap="none" spc="0" normalizeH="0" baseline="0" noProof="0">
                        <a:ln>
                          <a:noFill/>
                        </a:ln>
                        <a:solidFill>
                          <a:schemeClr val="tx1"/>
                        </a:solidFill>
                        <a:effectLst/>
                        <a:uLnTx/>
                        <a:uFillTx/>
                        <a:latin typeface="+mn-lt"/>
                        <a:ea typeface="+mn-ea"/>
                        <a:cs typeface="+mn-cs"/>
                        <a:sym typeface="Wingdings" panose="05000000000000000000" pitchFamily="2" charset="2"/>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DED5-408A-BF57-9238F02D2D4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Aware Bexsero</c:v>
                </c:pt>
              </c:strCache>
            </c:strRef>
          </c:cat>
          <c:val>
            <c:numRef>
              <c:f>Sheet1!$B$2</c:f>
              <c:numCache>
                <c:formatCode>0%</c:formatCode>
                <c:ptCount val="1"/>
                <c:pt idx="0">
                  <c:v>0.74</c:v>
                </c:pt>
              </c:numCache>
            </c:numRef>
          </c:val>
          <c:extLst>
            <c:ext xmlns:c16="http://schemas.microsoft.com/office/drawing/2014/chart" uri="{C3380CC4-5D6E-409C-BE32-E72D297353CC}">
              <c16:uniqueId val="{00000001-DED5-408A-BF57-9238F02D2D45}"/>
            </c:ext>
          </c:extLst>
        </c:ser>
        <c:dLbls>
          <c:showLegendKey val="0"/>
          <c:showVal val="0"/>
          <c:showCatName val="0"/>
          <c:showSerName val="0"/>
          <c:showPercent val="0"/>
          <c:showBubbleSize val="0"/>
        </c:dLbls>
        <c:gapWidth val="300"/>
        <c:axId val="1012733344"/>
        <c:axId val="888652351"/>
      </c:barChart>
      <c:catAx>
        <c:axId val="1012733344"/>
        <c:scaling>
          <c:orientation val="minMax"/>
        </c:scaling>
        <c:delete val="1"/>
        <c:axPos val="b"/>
        <c:numFmt formatCode="General" sourceLinked="1"/>
        <c:majorTickMark val="none"/>
        <c:minorTickMark val="none"/>
        <c:tickLblPos val="nextTo"/>
        <c:crossAx val="888652351"/>
        <c:crosses val="autoZero"/>
        <c:auto val="1"/>
        <c:lblAlgn val="ctr"/>
        <c:lblOffset val="0"/>
        <c:noMultiLvlLbl val="0"/>
      </c:catAx>
      <c:valAx>
        <c:axId val="888652351"/>
        <c:scaling>
          <c:orientation val="minMax"/>
          <c:max val="1"/>
        </c:scaling>
        <c:delete val="1"/>
        <c:axPos val="l"/>
        <c:numFmt formatCode="0%" sourceLinked="1"/>
        <c:majorTickMark val="out"/>
        <c:minorTickMark val="none"/>
        <c:tickLblPos val="nextTo"/>
        <c:crossAx val="101273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Likelihood (1,2,3)</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7C5C-4CD5-8A1C-82F550AED332}"/>
              </c:ext>
            </c:extLst>
          </c:dPt>
          <c:dPt>
            <c:idx val="1"/>
            <c:invertIfNegative val="0"/>
            <c:bubble3D val="0"/>
            <c:extLst>
              <c:ext xmlns:c16="http://schemas.microsoft.com/office/drawing/2014/chart" uri="{C3380CC4-5D6E-409C-BE32-E72D297353CC}">
                <c16:uniqueId val="{00000001-7C5C-4CD5-8A1C-82F550AED332}"/>
              </c:ext>
            </c:extLst>
          </c:dPt>
          <c:dPt>
            <c:idx val="2"/>
            <c:invertIfNegative val="0"/>
            <c:bubble3D val="0"/>
            <c:extLst>
              <c:ext xmlns:c16="http://schemas.microsoft.com/office/drawing/2014/chart" uri="{C3380CC4-5D6E-409C-BE32-E72D297353CC}">
                <c16:uniqueId val="{00000002-7C5C-4CD5-8A1C-82F550AED332}"/>
              </c:ext>
            </c:extLst>
          </c:dPt>
          <c:dPt>
            <c:idx val="3"/>
            <c:invertIfNegative val="0"/>
            <c:bubble3D val="0"/>
            <c:extLst>
              <c:ext xmlns:c16="http://schemas.microsoft.com/office/drawing/2014/chart" uri="{C3380CC4-5D6E-409C-BE32-E72D297353CC}">
                <c16:uniqueId val="{00000003-7C5C-4CD5-8A1C-82F550AED33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0.37</c:v>
                </c:pt>
              </c:numCache>
            </c:numRef>
          </c:val>
          <c:extLst>
            <c:ext xmlns:c16="http://schemas.microsoft.com/office/drawing/2014/chart" uri="{C3380CC4-5D6E-409C-BE32-E72D297353CC}">
              <c16:uniqueId val="{00000004-7C5C-4CD5-8A1C-82F550AED332}"/>
            </c:ext>
          </c:extLst>
        </c:ser>
        <c:ser>
          <c:idx val="1"/>
          <c:order val="1"/>
          <c:tx>
            <c:strRef>
              <c:f>Sheet1!$C$1</c:f>
              <c:strCache>
                <c:ptCount val="1"/>
                <c:pt idx="0">
                  <c:v>Moderate (4)</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0.26</c:v>
                </c:pt>
              </c:numCache>
            </c:numRef>
          </c:val>
          <c:extLst>
            <c:ext xmlns:c16="http://schemas.microsoft.com/office/drawing/2014/chart" uri="{C3380CC4-5D6E-409C-BE32-E72D297353CC}">
              <c16:uniqueId val="{00000005-7C5C-4CD5-8A1C-82F550AED332}"/>
            </c:ext>
          </c:extLst>
        </c:ser>
        <c:ser>
          <c:idx val="2"/>
          <c:order val="2"/>
          <c:tx>
            <c:strRef>
              <c:f>Sheet1!$D$1</c:f>
              <c:strCache>
                <c:ptCount val="1"/>
                <c:pt idx="0">
                  <c:v>High Likelihood (5,6,7)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0.37</c:v>
                </c:pt>
              </c:numCache>
            </c:numRef>
          </c:val>
          <c:extLst>
            <c:ext xmlns:c16="http://schemas.microsoft.com/office/drawing/2014/chart" uri="{C3380CC4-5D6E-409C-BE32-E72D297353CC}">
              <c16:uniqueId val="{00000006-7C5C-4CD5-8A1C-82F550AED332}"/>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60186529493774332"/>
          <c:y val="0.12937787204064424"/>
          <c:w val="0.39772433199304036"/>
          <c:h val="0.79537067387576765"/>
        </c:manualLayout>
      </c:layout>
      <c:barChart>
        <c:barDir val="bar"/>
        <c:grouping val="clustered"/>
        <c:varyColors val="0"/>
        <c:ser>
          <c:idx val="0"/>
          <c:order val="0"/>
          <c:tx>
            <c:strRef>
              <c:f>Sheet1!$B$1</c:f>
              <c:strCache>
                <c:ptCount val="1"/>
                <c:pt idx="0">
                  <c:v>Column1</c:v>
                </c:pt>
              </c:strCache>
            </c:strRef>
          </c:tx>
          <c:spPr>
            <a:solidFill>
              <a:schemeClr val="accent6"/>
            </a:solidFill>
            <a:ln>
              <a:noFill/>
            </a:ln>
            <a:effectLst/>
          </c:spPr>
          <c:invertIfNegative val="0"/>
          <c:dPt>
            <c:idx val="1"/>
            <c:invertIfNegative val="0"/>
            <c:bubble3D val="0"/>
            <c:spPr>
              <a:solidFill>
                <a:schemeClr val="accent6"/>
              </a:solidFill>
              <a:ln>
                <a:noFill/>
              </a:ln>
              <a:effectLst/>
            </c:spPr>
            <c:extLst>
              <c:ext xmlns:c16="http://schemas.microsoft.com/office/drawing/2014/chart" uri="{C3380CC4-5D6E-409C-BE32-E72D297353CC}">
                <c16:uniqueId val="{00000001-DDA1-4B1E-9519-C8E8A7E3D9C3}"/>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3-DDA1-4B1E-9519-C8E8A7E3D9C3}"/>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5-DDA1-4B1E-9519-C8E8A7E3D9C3}"/>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7-DDA1-4B1E-9519-C8E8A7E3D9C3}"/>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9-DDA1-4B1E-9519-C8E8A7E3D9C3}"/>
              </c:ext>
            </c:extLst>
          </c:dPt>
          <c:dPt>
            <c:idx val="6"/>
            <c:invertIfNegative val="0"/>
            <c:bubble3D val="0"/>
            <c:spPr>
              <a:solidFill>
                <a:schemeClr val="accent6"/>
              </a:solidFill>
              <a:ln>
                <a:noFill/>
              </a:ln>
              <a:effectLst/>
            </c:spPr>
            <c:extLst>
              <c:ext xmlns:c16="http://schemas.microsoft.com/office/drawing/2014/chart" uri="{C3380CC4-5D6E-409C-BE32-E72D297353CC}">
                <c16:uniqueId val="{0000000B-DDA1-4B1E-9519-C8E8A7E3D9C3}"/>
              </c:ext>
            </c:extLst>
          </c:dPt>
          <c:dPt>
            <c:idx val="7"/>
            <c:invertIfNegative val="0"/>
            <c:bubble3D val="0"/>
            <c:spPr>
              <a:solidFill>
                <a:schemeClr val="accent6"/>
              </a:solidFill>
              <a:ln>
                <a:noFill/>
              </a:ln>
              <a:effectLst/>
            </c:spPr>
            <c:extLst>
              <c:ext xmlns:c16="http://schemas.microsoft.com/office/drawing/2014/chart" uri="{C3380CC4-5D6E-409C-BE32-E72D297353CC}">
                <c16:uniqueId val="{0000000D-DDA1-4B1E-9519-C8E8A7E3D9C3}"/>
              </c:ext>
            </c:extLst>
          </c:dPt>
          <c:dPt>
            <c:idx val="8"/>
            <c:invertIfNegative val="0"/>
            <c:bubble3D val="0"/>
            <c:spPr>
              <a:solidFill>
                <a:schemeClr val="accent6"/>
              </a:solidFill>
              <a:ln>
                <a:noFill/>
              </a:ln>
              <a:effectLst/>
            </c:spPr>
            <c:extLst>
              <c:ext xmlns:c16="http://schemas.microsoft.com/office/drawing/2014/chart" uri="{C3380CC4-5D6E-409C-BE32-E72D297353CC}">
                <c16:uniqueId val="{0000000F-DDA1-4B1E-9519-C8E8A7E3D9C3}"/>
              </c:ext>
            </c:extLst>
          </c:dPt>
          <c:dPt>
            <c:idx val="9"/>
            <c:invertIfNegative val="0"/>
            <c:bubble3D val="0"/>
            <c:spPr>
              <a:solidFill>
                <a:schemeClr val="accent6"/>
              </a:solidFill>
              <a:ln>
                <a:noFill/>
              </a:ln>
              <a:effectLst/>
            </c:spPr>
            <c:extLst>
              <c:ext xmlns:c16="http://schemas.microsoft.com/office/drawing/2014/chart" uri="{C3380CC4-5D6E-409C-BE32-E72D297353CC}">
                <c16:uniqueId val="{00000011-DDA1-4B1E-9519-C8E8A7E3D9C3}"/>
              </c:ext>
            </c:extLst>
          </c:dPt>
          <c:dPt>
            <c:idx val="10"/>
            <c:invertIfNegative val="0"/>
            <c:bubble3D val="0"/>
            <c:spPr>
              <a:solidFill>
                <a:schemeClr val="accent6"/>
              </a:solidFill>
              <a:ln>
                <a:noFill/>
              </a:ln>
              <a:effectLst/>
            </c:spPr>
            <c:extLst>
              <c:ext xmlns:c16="http://schemas.microsoft.com/office/drawing/2014/chart" uri="{C3380CC4-5D6E-409C-BE32-E72D297353CC}">
                <c16:uniqueId val="{00000013-DDA1-4B1E-9519-C8E8A7E3D9C3}"/>
              </c:ext>
            </c:extLst>
          </c:dPt>
          <c:dPt>
            <c:idx val="11"/>
            <c:invertIfNegative val="0"/>
            <c:bubble3D val="0"/>
            <c:spPr>
              <a:solidFill>
                <a:schemeClr val="accent6"/>
              </a:solidFill>
              <a:ln>
                <a:noFill/>
              </a:ln>
              <a:effectLst/>
            </c:spPr>
            <c:extLst>
              <c:ext xmlns:c16="http://schemas.microsoft.com/office/drawing/2014/chart" uri="{C3380CC4-5D6E-409C-BE32-E72D297353CC}">
                <c16:uniqueId val="{00000015-DDA1-4B1E-9519-C8E8A7E3D9C3}"/>
              </c:ext>
            </c:extLst>
          </c:dPt>
          <c:dPt>
            <c:idx val="12"/>
            <c:invertIfNegative val="0"/>
            <c:bubble3D val="0"/>
            <c:spPr>
              <a:solidFill>
                <a:schemeClr val="accent6"/>
              </a:solidFill>
              <a:ln>
                <a:noFill/>
              </a:ln>
              <a:effectLst/>
            </c:spPr>
            <c:extLst>
              <c:ext xmlns:c16="http://schemas.microsoft.com/office/drawing/2014/chart" uri="{C3380CC4-5D6E-409C-BE32-E72D297353CC}">
                <c16:uniqueId val="{00000017-DDA1-4B1E-9519-C8E8A7E3D9C3}"/>
              </c:ext>
            </c:extLst>
          </c:dPt>
          <c:dPt>
            <c:idx val="13"/>
            <c:invertIfNegative val="0"/>
            <c:bubble3D val="0"/>
            <c:spPr>
              <a:solidFill>
                <a:schemeClr val="accent6"/>
              </a:solidFill>
              <a:ln>
                <a:noFill/>
              </a:ln>
              <a:effectLst/>
            </c:spPr>
            <c:extLst>
              <c:ext xmlns:c16="http://schemas.microsoft.com/office/drawing/2014/chart" uri="{C3380CC4-5D6E-409C-BE32-E72D297353CC}">
                <c16:uniqueId val="{00000019-DDA1-4B1E-9519-C8E8A7E3D9C3}"/>
              </c:ext>
            </c:extLst>
          </c:dPt>
          <c:dPt>
            <c:idx val="14"/>
            <c:invertIfNegative val="0"/>
            <c:bubble3D val="0"/>
            <c:spPr>
              <a:solidFill>
                <a:schemeClr val="accent6"/>
              </a:solidFill>
              <a:ln>
                <a:noFill/>
              </a:ln>
              <a:effectLst/>
            </c:spPr>
            <c:extLst>
              <c:ext xmlns:c16="http://schemas.microsoft.com/office/drawing/2014/chart" uri="{C3380CC4-5D6E-409C-BE32-E72D297353CC}">
                <c16:uniqueId val="{0000001B-DDA1-4B1E-9519-C8E8A7E3D9C3}"/>
              </c:ext>
            </c:extLst>
          </c:dPt>
          <c:dPt>
            <c:idx val="15"/>
            <c:invertIfNegative val="0"/>
            <c:bubble3D val="0"/>
            <c:spPr>
              <a:solidFill>
                <a:schemeClr val="accent6"/>
              </a:solidFill>
              <a:ln>
                <a:noFill/>
              </a:ln>
              <a:effectLst/>
            </c:spPr>
            <c:extLst>
              <c:ext xmlns:c16="http://schemas.microsoft.com/office/drawing/2014/chart" uri="{C3380CC4-5D6E-409C-BE32-E72D297353CC}">
                <c16:uniqueId val="{0000001D-DDA1-4B1E-9519-C8E8A7E3D9C3}"/>
              </c:ext>
            </c:extLst>
          </c:dPt>
          <c:dPt>
            <c:idx val="16"/>
            <c:invertIfNegative val="0"/>
            <c:bubble3D val="0"/>
            <c:spPr>
              <a:solidFill>
                <a:schemeClr val="accent6"/>
              </a:solidFill>
              <a:ln>
                <a:noFill/>
              </a:ln>
              <a:effectLst/>
            </c:spPr>
            <c:extLst>
              <c:ext xmlns:c16="http://schemas.microsoft.com/office/drawing/2014/chart" uri="{C3380CC4-5D6E-409C-BE32-E72D297353CC}">
                <c16:uniqueId val="{0000001F-DDA1-4B1E-9519-C8E8A7E3D9C3}"/>
              </c:ext>
            </c:extLst>
          </c:dPt>
          <c:dPt>
            <c:idx val="19"/>
            <c:invertIfNegative val="0"/>
            <c:bubble3D val="0"/>
            <c:spPr>
              <a:solidFill>
                <a:schemeClr val="accent6"/>
              </a:solidFill>
              <a:ln>
                <a:noFill/>
              </a:ln>
              <a:effectLst/>
            </c:spPr>
            <c:extLst>
              <c:ext xmlns:c16="http://schemas.microsoft.com/office/drawing/2014/chart" uri="{C3380CC4-5D6E-409C-BE32-E72D297353CC}">
                <c16:uniqueId val="{00000021-DDA1-4B1E-9519-C8E8A7E3D9C3}"/>
              </c:ext>
            </c:extLst>
          </c:dPt>
          <c:dPt>
            <c:idx val="20"/>
            <c:invertIfNegative val="0"/>
            <c:bubble3D val="0"/>
            <c:spPr>
              <a:solidFill>
                <a:schemeClr val="accent6"/>
              </a:solidFill>
              <a:ln>
                <a:noFill/>
              </a:ln>
              <a:effectLst/>
            </c:spPr>
            <c:extLst>
              <c:ext xmlns:c16="http://schemas.microsoft.com/office/drawing/2014/chart" uri="{C3380CC4-5D6E-409C-BE32-E72D297353CC}">
                <c16:uniqueId val="{00000023-DDA1-4B1E-9519-C8E8A7E3D9C3}"/>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Don't see compelling
reason to switch</c:v>
                </c:pt>
                <c:pt idx="1">
                  <c:v>Switching would cause too much disruption for practice</c:v>
                </c:pt>
                <c:pt idx="2">
                  <c:v>Concerned about losing discounts on other GSK products</c:v>
                </c:pt>
                <c:pt idx="3">
                  <c:v>Trumenba contract terms available to me are not as competitive as for Bexsero</c:v>
                </c:pt>
              </c:strCache>
            </c:strRef>
          </c:cat>
          <c:val>
            <c:numRef>
              <c:f>Sheet1!$B$2:$B$5</c:f>
              <c:numCache>
                <c:formatCode>0%</c:formatCode>
                <c:ptCount val="4"/>
                <c:pt idx="0">
                  <c:v>0.61</c:v>
                </c:pt>
                <c:pt idx="1">
                  <c:v>0.48</c:v>
                </c:pt>
                <c:pt idx="2">
                  <c:v>0.36</c:v>
                </c:pt>
                <c:pt idx="3">
                  <c:v>0.27</c:v>
                </c:pt>
              </c:numCache>
            </c:numRef>
          </c:val>
          <c:extLst>
            <c:ext xmlns:c16="http://schemas.microsoft.com/office/drawing/2014/chart" uri="{C3380CC4-5D6E-409C-BE32-E72D297353CC}">
              <c16:uniqueId val="{00000024-DDA1-4B1E-9519-C8E8A7E3D9C3}"/>
            </c:ext>
          </c:extLst>
        </c:ser>
        <c:dLbls>
          <c:showLegendKey val="0"/>
          <c:showVal val="1"/>
          <c:showCatName val="0"/>
          <c:showSerName val="0"/>
          <c:showPercent val="0"/>
          <c:showBubbleSize val="0"/>
        </c:dLbls>
        <c:gapWidth val="150"/>
        <c:axId val="1544824944"/>
        <c:axId val="1544829264"/>
      </c:barChart>
      <c:catAx>
        <c:axId val="1544824944"/>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200" b="0" i="0" u="none" strike="noStrike" kern="1200" baseline="0">
                <a:solidFill>
                  <a:schemeClr val="tx1"/>
                </a:solidFill>
                <a:latin typeface="+mn-lt"/>
                <a:ea typeface="+mn-ea"/>
                <a:cs typeface="+mn-cs"/>
              </a:defRPr>
            </a:pPr>
            <a:endParaRPr lang="en-US"/>
          </a:p>
        </c:txPr>
        <c:crossAx val="1544829264"/>
        <c:crosses val="autoZero"/>
        <c:auto val="1"/>
        <c:lblAlgn val="ctr"/>
        <c:lblOffset val="100"/>
        <c:noMultiLvlLbl val="0"/>
      </c:catAx>
      <c:valAx>
        <c:axId val="1544829264"/>
        <c:scaling>
          <c:orientation val="minMax"/>
          <c:max val="1"/>
        </c:scaling>
        <c:delete val="1"/>
        <c:axPos val="b"/>
        <c:numFmt formatCode="0%" sourceLinked="1"/>
        <c:majorTickMark val="out"/>
        <c:minorTickMark val="none"/>
        <c:tickLblPos val="nextTo"/>
        <c:crossAx val="154482494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965524242865114"/>
          <c:y val="6.6842732916272657E-2"/>
          <c:w val="0.58992890294380507"/>
          <c:h val="0.79086317329051281"/>
        </c:manualLayout>
      </c:layout>
      <c:doughnutChart>
        <c:varyColors val="1"/>
        <c:ser>
          <c:idx val="0"/>
          <c:order val="0"/>
          <c:tx>
            <c:strRef>
              <c:f>Sheet1!$B$1</c:f>
              <c:strCache>
                <c:ptCount val="1"/>
                <c:pt idx="0">
                  <c:v>Column2</c:v>
                </c:pt>
              </c:strCache>
            </c:strRef>
          </c:tx>
          <c:spPr>
            <a:ln w="28575">
              <a:solidFill>
                <a:schemeClr val="bg1"/>
              </a:solidFill>
            </a:ln>
          </c:spPr>
          <c:dPt>
            <c:idx val="0"/>
            <c:bubble3D val="0"/>
            <c:spPr>
              <a:solidFill>
                <a:srgbClr val="6F002C"/>
              </a:solidFill>
              <a:ln w="28575">
                <a:solidFill>
                  <a:schemeClr val="bg1"/>
                </a:solidFill>
              </a:ln>
              <a:effectLst/>
            </c:spPr>
            <c:extLst>
              <c:ext xmlns:c16="http://schemas.microsoft.com/office/drawing/2014/chart" uri="{C3380CC4-5D6E-409C-BE32-E72D297353CC}">
                <c16:uniqueId val="{00000001-650E-4E88-8EA7-FA7E6C0E07E7}"/>
              </c:ext>
            </c:extLst>
          </c:dPt>
          <c:dPt>
            <c:idx val="1"/>
            <c:bubble3D val="0"/>
            <c:spPr>
              <a:solidFill>
                <a:schemeClr val="accent6">
                  <a:lumMod val="75000"/>
                </a:schemeClr>
              </a:solidFill>
              <a:ln w="28575">
                <a:solidFill>
                  <a:schemeClr val="bg1"/>
                </a:solidFill>
              </a:ln>
              <a:effectLst/>
            </c:spPr>
            <c:extLst>
              <c:ext xmlns:c16="http://schemas.microsoft.com/office/drawing/2014/chart" uri="{C3380CC4-5D6E-409C-BE32-E72D297353CC}">
                <c16:uniqueId val="{00000003-650E-4E88-8EA7-FA7E6C0E07E7}"/>
              </c:ext>
            </c:extLst>
          </c:dPt>
          <c:dPt>
            <c:idx val="2"/>
            <c:bubble3D val="0"/>
            <c:spPr>
              <a:solidFill>
                <a:schemeClr val="bg1">
                  <a:lumMod val="65000"/>
                </a:schemeClr>
              </a:solidFill>
              <a:ln w="28575">
                <a:solidFill>
                  <a:schemeClr val="bg1"/>
                </a:solidFill>
              </a:ln>
              <a:effectLst/>
            </c:spPr>
            <c:extLst>
              <c:ext xmlns:c16="http://schemas.microsoft.com/office/drawing/2014/chart" uri="{C3380CC4-5D6E-409C-BE32-E72D297353CC}">
                <c16:uniqueId val="{00000005-650E-4E88-8EA7-FA7E6C0E07E7}"/>
              </c:ext>
            </c:extLst>
          </c:dPt>
          <c:dPt>
            <c:idx val="3"/>
            <c:bubble3D val="0"/>
            <c:spPr>
              <a:solidFill>
                <a:srgbClr val="00D06D"/>
              </a:solidFill>
              <a:ln w="28575">
                <a:solidFill>
                  <a:schemeClr val="bg1"/>
                </a:solidFill>
              </a:ln>
              <a:effectLst/>
            </c:spPr>
            <c:extLst>
              <c:ext xmlns:c16="http://schemas.microsoft.com/office/drawing/2014/chart" uri="{C3380CC4-5D6E-409C-BE32-E72D297353CC}">
                <c16:uniqueId val="{00000007-650E-4E88-8EA7-FA7E6C0E07E7}"/>
              </c:ext>
            </c:extLst>
          </c:dPt>
          <c:dPt>
            <c:idx val="4"/>
            <c:bubble3D val="0"/>
            <c:spPr>
              <a:solidFill>
                <a:srgbClr val="009F54"/>
              </a:solidFill>
              <a:ln w="28575">
                <a:solidFill>
                  <a:schemeClr val="bg1"/>
                </a:solidFill>
              </a:ln>
              <a:effectLst/>
            </c:spPr>
            <c:extLst>
              <c:ext xmlns:c16="http://schemas.microsoft.com/office/drawing/2014/chart" uri="{C3380CC4-5D6E-409C-BE32-E72D297353CC}">
                <c16:uniqueId val="{00000009-650E-4E88-8EA7-FA7E6C0E07E7}"/>
              </c:ext>
            </c:extLst>
          </c:dPt>
          <c:dPt>
            <c:idx val="5"/>
            <c:bubble3D val="0"/>
            <c:spPr>
              <a:noFill/>
              <a:ln w="28575">
                <a:noFill/>
              </a:ln>
              <a:effectLst/>
            </c:spPr>
            <c:extLst>
              <c:ext xmlns:c16="http://schemas.microsoft.com/office/drawing/2014/chart" uri="{C3380CC4-5D6E-409C-BE32-E72D297353CC}">
                <c16:uniqueId val="{0000000B-650E-4E88-8EA7-FA7E6C0E07E7}"/>
              </c:ext>
            </c:extLst>
          </c:dPt>
          <c:dPt>
            <c:idx val="6"/>
            <c:bubble3D val="0"/>
            <c:spPr>
              <a:solidFill>
                <a:srgbClr val="008000"/>
              </a:solidFill>
              <a:ln w="28575">
                <a:solidFill>
                  <a:schemeClr val="bg1"/>
                </a:solidFill>
              </a:ln>
              <a:effectLst/>
            </c:spPr>
            <c:extLst>
              <c:ext xmlns:c16="http://schemas.microsoft.com/office/drawing/2014/chart" uri="{C3380CC4-5D6E-409C-BE32-E72D297353CC}">
                <c16:uniqueId val="{0000000D-650E-4E88-8EA7-FA7E6C0E07E7}"/>
              </c:ext>
            </c:extLst>
          </c:dPt>
          <c:dPt>
            <c:idx val="7"/>
            <c:bubble3D val="0"/>
            <c:spPr>
              <a:noFill/>
              <a:ln w="28575">
                <a:noFill/>
              </a:ln>
              <a:effectLst/>
            </c:spPr>
            <c:extLst>
              <c:ext xmlns:c16="http://schemas.microsoft.com/office/drawing/2014/chart" uri="{C3380CC4-5D6E-409C-BE32-E72D297353CC}">
                <c16:uniqueId val="{0000000F-650E-4E88-8EA7-FA7E6C0E07E7}"/>
              </c:ext>
            </c:extLst>
          </c:dPt>
          <c:dLbls>
            <c:dLbl>
              <c:idx val="0"/>
              <c:delete val="1"/>
              <c:extLst>
                <c:ext xmlns:c15="http://schemas.microsoft.com/office/drawing/2012/chart" uri="{CE6537A1-D6FC-4f65-9D91-7224C49458BB}"/>
                <c:ext xmlns:c16="http://schemas.microsoft.com/office/drawing/2014/chart" uri="{C3380CC4-5D6E-409C-BE32-E72D297353CC}">
                  <c16:uniqueId val="{00000001-650E-4E88-8EA7-FA7E6C0E07E7}"/>
                </c:ext>
              </c:extLst>
            </c:dLbl>
            <c:dLbl>
              <c:idx val="5"/>
              <c:delete val="1"/>
              <c:extLst>
                <c:ext xmlns:c15="http://schemas.microsoft.com/office/drawing/2012/chart" uri="{CE6537A1-D6FC-4f65-9D91-7224C49458BB}"/>
                <c:ext xmlns:c16="http://schemas.microsoft.com/office/drawing/2014/chart" uri="{C3380CC4-5D6E-409C-BE32-E72D297353CC}">
                  <c16:uniqueId val="{0000000B-650E-4E88-8EA7-FA7E6C0E07E7}"/>
                </c:ext>
              </c:extLst>
            </c:dLbl>
            <c:dLbl>
              <c:idx val="7"/>
              <c:delete val="1"/>
              <c:extLst>
                <c:ext xmlns:c15="http://schemas.microsoft.com/office/drawing/2012/chart" uri="{CE6537A1-D6FC-4f65-9D91-7224C49458BB}"/>
                <c:ext xmlns:c16="http://schemas.microsoft.com/office/drawing/2014/chart" uri="{C3380CC4-5D6E-409C-BE32-E72D297353CC}">
                  <c16:uniqueId val="{0000000F-650E-4E88-8EA7-FA7E6C0E07E7}"/>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5"/>
                <c:pt idx="0">
                  <c:v>Significantly more likely to recommend Bexsero</c:v>
                </c:pt>
                <c:pt idx="1">
                  <c:v>Slightly more likely to recommend Bexsero</c:v>
                </c:pt>
                <c:pt idx="2">
                  <c:v>Not likely to recommend one over the other</c:v>
                </c:pt>
                <c:pt idx="3">
                  <c:v>Slightly more likely torecommend Trumenba</c:v>
                </c:pt>
                <c:pt idx="4">
                  <c:v>Significantly more likely to recommend Trumenba</c:v>
                </c:pt>
              </c:strCache>
            </c:strRef>
          </c:cat>
          <c:val>
            <c:numRef>
              <c:f>Sheet1!$B$2:$B$7</c:f>
              <c:numCache>
                <c:formatCode>0%</c:formatCode>
                <c:ptCount val="6"/>
                <c:pt idx="0">
                  <c:v>0.03</c:v>
                </c:pt>
                <c:pt idx="1">
                  <c:v>7.0000000000000007E-2</c:v>
                </c:pt>
                <c:pt idx="2">
                  <c:v>0.67</c:v>
                </c:pt>
                <c:pt idx="3">
                  <c:v>0.16</c:v>
                </c:pt>
                <c:pt idx="4">
                  <c:v>0.08</c:v>
                </c:pt>
                <c:pt idx="5">
                  <c:v>1</c:v>
                </c:pt>
              </c:numCache>
            </c:numRef>
          </c:val>
          <c:extLst>
            <c:ext xmlns:c16="http://schemas.microsoft.com/office/drawing/2014/chart" uri="{C3380CC4-5D6E-409C-BE32-E72D297353CC}">
              <c16:uniqueId val="{00000010-650E-4E88-8EA7-FA7E6C0E07E7}"/>
            </c:ext>
          </c:extLst>
        </c:ser>
        <c:dLbls>
          <c:showLegendKey val="0"/>
          <c:showVal val="0"/>
          <c:showCatName val="0"/>
          <c:showSerName val="0"/>
          <c:showPercent val="0"/>
          <c:showBubbleSize val="0"/>
          <c:showLeaderLines val="1"/>
        </c:dLbls>
        <c:firstSliceAng val="270"/>
        <c:holeSize val="3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132590443939781E-2"/>
          <c:y val="1.8939399588224645E-2"/>
          <c:w val="0.9791225677347184"/>
          <c:h val="0.93979455147220703"/>
        </c:manualLayout>
      </c:layout>
      <c:barChart>
        <c:barDir val="bar"/>
        <c:grouping val="clustered"/>
        <c:varyColors val="0"/>
        <c:ser>
          <c:idx val="0"/>
          <c:order val="0"/>
          <c:tx>
            <c:strRef>
              <c:f>Sheet1!$B$1</c:f>
              <c:strCache>
                <c:ptCount val="1"/>
                <c:pt idx="0">
                  <c:v>Column1</c:v>
                </c:pt>
              </c:strCache>
            </c:strRef>
          </c:tx>
          <c:spPr>
            <a:solidFill>
              <a:schemeClr val="accent3"/>
            </a:solidFill>
            <a:ln>
              <a:noFill/>
            </a:ln>
            <a:effectLst/>
          </c:spPr>
          <c:invertIfNegative val="0"/>
          <c:dPt>
            <c:idx val="1"/>
            <c:invertIfNegative val="0"/>
            <c:bubble3D val="0"/>
            <c:spPr>
              <a:solidFill>
                <a:schemeClr val="bg1">
                  <a:lumMod val="65000"/>
                  <a:alpha val="50196"/>
                </a:schemeClr>
              </a:solidFill>
              <a:ln>
                <a:noFill/>
              </a:ln>
              <a:effectLst/>
            </c:spPr>
            <c:extLst>
              <c:ext xmlns:c16="http://schemas.microsoft.com/office/drawing/2014/chart" uri="{C3380CC4-5D6E-409C-BE32-E72D297353CC}">
                <c16:uniqueId val="{00000001-06BF-45C4-874E-6CA367F2A34B}"/>
              </c:ext>
            </c:extLst>
          </c:dPt>
          <c:dPt>
            <c:idx val="2"/>
            <c:invertIfNegative val="0"/>
            <c:bubble3D val="0"/>
            <c:spPr>
              <a:solidFill>
                <a:schemeClr val="bg1">
                  <a:lumMod val="65000"/>
                  <a:alpha val="50196"/>
                </a:schemeClr>
              </a:solidFill>
              <a:ln>
                <a:noFill/>
              </a:ln>
              <a:effectLst/>
            </c:spPr>
            <c:extLst>
              <c:ext xmlns:c16="http://schemas.microsoft.com/office/drawing/2014/chart" uri="{C3380CC4-5D6E-409C-BE32-E72D297353CC}">
                <c16:uniqueId val="{00000003-06BF-45C4-874E-6CA367F2A34B}"/>
              </c:ext>
            </c:extLst>
          </c:dPt>
          <c:dPt>
            <c:idx val="3"/>
            <c:invertIfNegative val="0"/>
            <c:bubble3D val="0"/>
            <c:spPr>
              <a:solidFill>
                <a:schemeClr val="bg1">
                  <a:lumMod val="65000"/>
                  <a:alpha val="50196"/>
                </a:schemeClr>
              </a:solidFill>
              <a:ln>
                <a:noFill/>
              </a:ln>
              <a:effectLst/>
            </c:spPr>
            <c:extLst>
              <c:ext xmlns:c16="http://schemas.microsoft.com/office/drawing/2014/chart" uri="{C3380CC4-5D6E-409C-BE32-E72D297353CC}">
                <c16:uniqueId val="{00000005-06BF-45C4-874E-6CA367F2A34B}"/>
              </c:ext>
            </c:extLst>
          </c:dPt>
          <c:dPt>
            <c:idx val="4"/>
            <c:invertIfNegative val="0"/>
            <c:bubble3D val="0"/>
            <c:spPr>
              <a:solidFill>
                <a:schemeClr val="accent3"/>
              </a:solidFill>
              <a:ln>
                <a:noFill/>
              </a:ln>
              <a:effectLst/>
            </c:spPr>
            <c:extLst>
              <c:ext xmlns:c16="http://schemas.microsoft.com/office/drawing/2014/chart" uri="{C3380CC4-5D6E-409C-BE32-E72D297353CC}">
                <c16:uniqueId val="{00000007-06BF-45C4-874E-6CA367F2A34B}"/>
              </c:ext>
            </c:extLst>
          </c:dPt>
          <c:dPt>
            <c:idx val="5"/>
            <c:invertIfNegative val="0"/>
            <c:bubble3D val="0"/>
            <c:spPr>
              <a:solidFill>
                <a:schemeClr val="accent3"/>
              </a:solidFill>
              <a:ln>
                <a:noFill/>
              </a:ln>
              <a:effectLst/>
            </c:spPr>
            <c:extLst>
              <c:ext xmlns:c16="http://schemas.microsoft.com/office/drawing/2014/chart" uri="{C3380CC4-5D6E-409C-BE32-E72D297353CC}">
                <c16:uniqueId val="{00000009-06BF-45C4-874E-6CA367F2A34B}"/>
              </c:ext>
            </c:extLst>
          </c:dPt>
          <c:dPt>
            <c:idx val="6"/>
            <c:invertIfNegative val="0"/>
            <c:bubble3D val="0"/>
            <c:spPr>
              <a:solidFill>
                <a:schemeClr val="accent3"/>
              </a:solidFill>
              <a:ln>
                <a:noFill/>
              </a:ln>
              <a:effectLst/>
            </c:spPr>
            <c:extLst>
              <c:ext xmlns:c16="http://schemas.microsoft.com/office/drawing/2014/chart" uri="{C3380CC4-5D6E-409C-BE32-E72D297353CC}">
                <c16:uniqueId val="{0000000B-06BF-45C4-874E-6CA367F2A34B}"/>
              </c:ext>
            </c:extLst>
          </c:dPt>
          <c:dPt>
            <c:idx val="7"/>
            <c:invertIfNegative val="0"/>
            <c:bubble3D val="0"/>
            <c:spPr>
              <a:solidFill>
                <a:schemeClr val="accent3"/>
              </a:solidFill>
              <a:ln>
                <a:noFill/>
              </a:ln>
              <a:effectLst/>
            </c:spPr>
            <c:extLst>
              <c:ext xmlns:c16="http://schemas.microsoft.com/office/drawing/2014/chart" uri="{C3380CC4-5D6E-409C-BE32-E72D297353CC}">
                <c16:uniqueId val="{0000000D-06BF-45C4-874E-6CA367F2A34B}"/>
              </c:ext>
            </c:extLst>
          </c:dPt>
          <c:dPt>
            <c:idx val="8"/>
            <c:invertIfNegative val="0"/>
            <c:bubble3D val="0"/>
            <c:spPr>
              <a:solidFill>
                <a:schemeClr val="accent3"/>
              </a:solidFill>
              <a:ln>
                <a:noFill/>
              </a:ln>
              <a:effectLst/>
            </c:spPr>
            <c:extLst>
              <c:ext xmlns:c16="http://schemas.microsoft.com/office/drawing/2014/chart" uri="{C3380CC4-5D6E-409C-BE32-E72D297353CC}">
                <c16:uniqueId val="{0000000F-06BF-45C4-874E-6CA367F2A34B}"/>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1-06BF-45C4-874E-6CA367F2A34B}"/>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3-06BF-45C4-874E-6CA367F2A34B}"/>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5-06BF-45C4-874E-6CA367F2A34B}"/>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7-06BF-45C4-874E-6CA367F2A34B}"/>
              </c:ext>
            </c:extLst>
          </c:dPt>
          <c:dPt>
            <c:idx val="13"/>
            <c:invertIfNegative val="0"/>
            <c:bubble3D val="0"/>
            <c:spPr>
              <a:solidFill>
                <a:schemeClr val="accent3"/>
              </a:solidFill>
              <a:ln>
                <a:noFill/>
              </a:ln>
              <a:effectLst/>
            </c:spPr>
            <c:extLst>
              <c:ext xmlns:c16="http://schemas.microsoft.com/office/drawing/2014/chart" uri="{C3380CC4-5D6E-409C-BE32-E72D297353CC}">
                <c16:uniqueId val="{00000019-06BF-45C4-874E-6CA367F2A34B}"/>
              </c:ext>
            </c:extLst>
          </c:dPt>
          <c:dPt>
            <c:idx val="14"/>
            <c:invertIfNegative val="0"/>
            <c:bubble3D val="0"/>
            <c:spPr>
              <a:solidFill>
                <a:schemeClr val="accent3"/>
              </a:solidFill>
              <a:ln>
                <a:noFill/>
              </a:ln>
              <a:effectLst/>
            </c:spPr>
            <c:extLst>
              <c:ext xmlns:c16="http://schemas.microsoft.com/office/drawing/2014/chart" uri="{C3380CC4-5D6E-409C-BE32-E72D297353CC}">
                <c16:uniqueId val="{0000001B-06BF-45C4-874E-6CA367F2A34B}"/>
              </c:ext>
            </c:extLst>
          </c:dPt>
          <c:dPt>
            <c:idx val="15"/>
            <c:invertIfNegative val="0"/>
            <c:bubble3D val="0"/>
            <c:spPr>
              <a:solidFill>
                <a:schemeClr val="accent3"/>
              </a:solidFill>
              <a:ln>
                <a:noFill/>
              </a:ln>
              <a:effectLst/>
            </c:spPr>
            <c:extLst>
              <c:ext xmlns:c16="http://schemas.microsoft.com/office/drawing/2014/chart" uri="{C3380CC4-5D6E-409C-BE32-E72D297353CC}">
                <c16:uniqueId val="{0000001D-06BF-45C4-874E-6CA367F2A34B}"/>
              </c:ext>
            </c:extLst>
          </c:dPt>
          <c:dPt>
            <c:idx val="16"/>
            <c:invertIfNegative val="0"/>
            <c:bubble3D val="0"/>
            <c:spPr>
              <a:solidFill>
                <a:schemeClr val="accent3"/>
              </a:solidFill>
              <a:ln>
                <a:noFill/>
              </a:ln>
              <a:effectLst/>
            </c:spPr>
            <c:extLst>
              <c:ext xmlns:c16="http://schemas.microsoft.com/office/drawing/2014/chart" uri="{C3380CC4-5D6E-409C-BE32-E72D297353CC}">
                <c16:uniqueId val="{0000001F-06BF-45C4-874E-6CA367F2A34B}"/>
              </c:ext>
            </c:extLst>
          </c:dPt>
          <c:dPt>
            <c:idx val="19"/>
            <c:invertIfNegative val="0"/>
            <c:bubble3D val="0"/>
            <c:spPr>
              <a:solidFill>
                <a:schemeClr val="accent3"/>
              </a:solidFill>
              <a:ln>
                <a:noFill/>
              </a:ln>
              <a:effectLst/>
            </c:spPr>
            <c:extLst>
              <c:ext xmlns:c16="http://schemas.microsoft.com/office/drawing/2014/chart" uri="{C3380CC4-5D6E-409C-BE32-E72D297353CC}">
                <c16:uniqueId val="{00000021-06BF-45C4-874E-6CA367F2A34B}"/>
              </c:ext>
            </c:extLst>
          </c:dPt>
          <c:dPt>
            <c:idx val="20"/>
            <c:invertIfNegative val="0"/>
            <c:bubble3D val="0"/>
            <c:spPr>
              <a:solidFill>
                <a:schemeClr val="accent3"/>
              </a:solidFill>
              <a:ln>
                <a:noFill/>
              </a:ln>
              <a:effectLst/>
            </c:spPr>
            <c:extLst>
              <c:ext xmlns:c16="http://schemas.microsoft.com/office/drawing/2014/chart" uri="{C3380CC4-5D6E-409C-BE32-E72D297353CC}">
                <c16:uniqueId val="{00000023-06BF-45C4-874E-6CA367F2A34B}"/>
              </c:ext>
            </c:extLst>
          </c:dPt>
          <c:dLbls>
            <c:dLbl>
              <c:idx val="1"/>
              <c:spPr>
                <a:noFill/>
                <a:ln>
                  <a:noFill/>
                </a:ln>
                <a:effectLst/>
              </c:spPr>
              <c:txPr>
                <a:bodyPr rot="0" spcFirstLastPara="1" vertOverflow="ellipsis" vert="horz" wrap="square" lIns="38100" tIns="19050" rIns="38100" bIns="19050" anchor="ctr" anchorCtr="1">
                  <a:spAutoFit/>
                </a:bodyPr>
                <a:lstStyle/>
                <a:p>
                  <a:pPr>
                    <a:defRPr sz="1000" b="0" i="1"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06BF-45C4-874E-6CA367F2A34B}"/>
                </c:ext>
              </c:extLst>
            </c:dLbl>
            <c:dLbl>
              <c:idx val="2"/>
              <c:spPr>
                <a:noFill/>
                <a:ln>
                  <a:noFill/>
                </a:ln>
                <a:effectLst/>
              </c:spPr>
              <c:txPr>
                <a:bodyPr rot="0" spcFirstLastPara="1" vertOverflow="ellipsis" vert="horz" wrap="square" lIns="38100" tIns="19050" rIns="38100" bIns="19050" anchor="ctr" anchorCtr="1">
                  <a:spAutoFit/>
                </a:bodyPr>
                <a:lstStyle/>
                <a:p>
                  <a:pPr>
                    <a:defRPr sz="1000" b="0" i="1"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06BF-45C4-874E-6CA367F2A34B}"/>
                </c:ext>
              </c:extLst>
            </c:dLbl>
            <c:dLbl>
              <c:idx val="3"/>
              <c:spPr>
                <a:noFill/>
                <a:ln>
                  <a:noFill/>
                </a:ln>
                <a:effectLst/>
              </c:spPr>
              <c:txPr>
                <a:bodyPr rot="0" spcFirstLastPara="1" vertOverflow="ellipsis" vert="horz" wrap="square" lIns="38100" tIns="19050" rIns="38100" bIns="19050" anchor="ctr" anchorCtr="1">
                  <a:spAutoFit/>
                </a:bodyPr>
                <a:lstStyle/>
                <a:p>
                  <a:pPr>
                    <a:defRPr sz="1000" b="0" i="1"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06BF-45C4-874E-6CA367F2A34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Cost (Net)</c:v>
                </c:pt>
                <c:pt idx="1">
                  <c:v>Lower cost / Discounts / Address financial concerns</c:v>
                </c:pt>
                <c:pt idx="2">
                  <c:v>Insurance coverage/reimbursement</c:v>
                </c:pt>
                <c:pt idx="3">
                  <c:v>Contract discussions/changes</c:v>
                </c:pt>
                <c:pt idx="4">
                  <c:v>Efficacy / Comparisons / Advantages vs. other products</c:v>
                </c:pt>
                <c:pt idx="5">
                  <c:v>Long-term clinical trial data</c:v>
                </c:pt>
                <c:pt idx="6">
                  <c:v>Information about safety, side effects</c:v>
                </c:pt>
                <c:pt idx="7">
                  <c:v>Depends on ACIP and AAP recommendations</c:v>
                </c:pt>
                <c:pt idx="8">
                  <c:v>Not my decision</c:v>
                </c:pt>
                <c:pt idx="9">
                  <c:v>None / Not looking to switch</c:v>
                </c:pt>
              </c:strCache>
            </c:strRef>
          </c:cat>
          <c:val>
            <c:numRef>
              <c:f>Sheet1!$B$2:$B$11</c:f>
              <c:numCache>
                <c:formatCode>0%</c:formatCode>
                <c:ptCount val="10"/>
                <c:pt idx="0">
                  <c:v>0.37</c:v>
                </c:pt>
                <c:pt idx="1">
                  <c:v>0.28000000000000003</c:v>
                </c:pt>
                <c:pt idx="2">
                  <c:v>0.12</c:v>
                </c:pt>
                <c:pt idx="3">
                  <c:v>0.05</c:v>
                </c:pt>
                <c:pt idx="4">
                  <c:v>0.23</c:v>
                </c:pt>
                <c:pt idx="5">
                  <c:v>0.11</c:v>
                </c:pt>
                <c:pt idx="6">
                  <c:v>7.0000000000000007E-2</c:v>
                </c:pt>
                <c:pt idx="7">
                  <c:v>0.06</c:v>
                </c:pt>
                <c:pt idx="8">
                  <c:v>0.06</c:v>
                </c:pt>
                <c:pt idx="9">
                  <c:v>0.09</c:v>
                </c:pt>
              </c:numCache>
            </c:numRef>
          </c:val>
          <c:extLst>
            <c:ext xmlns:c16="http://schemas.microsoft.com/office/drawing/2014/chart" uri="{C3380CC4-5D6E-409C-BE32-E72D297353CC}">
              <c16:uniqueId val="{00000024-06BF-45C4-874E-6CA367F2A34B}"/>
            </c:ext>
          </c:extLst>
        </c:ser>
        <c:dLbls>
          <c:showLegendKey val="0"/>
          <c:showVal val="1"/>
          <c:showCatName val="0"/>
          <c:showSerName val="0"/>
          <c:showPercent val="0"/>
          <c:showBubbleSize val="0"/>
        </c:dLbls>
        <c:gapWidth val="85"/>
        <c:axId val="1544824944"/>
        <c:axId val="1544829264"/>
      </c:barChart>
      <c:catAx>
        <c:axId val="1544824944"/>
        <c:scaling>
          <c:orientation val="maxMin"/>
        </c:scaling>
        <c:delete val="1"/>
        <c:axPos val="l"/>
        <c:numFmt formatCode="General" sourceLinked="1"/>
        <c:majorTickMark val="none"/>
        <c:minorTickMark val="none"/>
        <c:tickLblPos val="nextTo"/>
        <c:crossAx val="1544829264"/>
        <c:crosses val="autoZero"/>
        <c:auto val="1"/>
        <c:lblAlgn val="ctr"/>
        <c:lblOffset val="100"/>
        <c:noMultiLvlLbl val="0"/>
      </c:catAx>
      <c:valAx>
        <c:axId val="1544829264"/>
        <c:scaling>
          <c:orientation val="minMax"/>
          <c:max val="1"/>
        </c:scaling>
        <c:delete val="1"/>
        <c:axPos val="b"/>
        <c:numFmt formatCode="0%" sourceLinked="1"/>
        <c:majorTickMark val="out"/>
        <c:minorTickMark val="none"/>
        <c:tickLblPos val="nextTo"/>
        <c:crossAx val="154482494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Likelihood (1,2)</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5748-466A-8E60-5A5A1BDD2423}"/>
              </c:ext>
            </c:extLst>
          </c:dPt>
          <c:dPt>
            <c:idx val="1"/>
            <c:invertIfNegative val="0"/>
            <c:bubble3D val="0"/>
            <c:extLst>
              <c:ext xmlns:c16="http://schemas.microsoft.com/office/drawing/2014/chart" uri="{C3380CC4-5D6E-409C-BE32-E72D297353CC}">
                <c16:uniqueId val="{00000001-5748-466A-8E60-5A5A1BDD2423}"/>
              </c:ext>
            </c:extLst>
          </c:dPt>
          <c:dPt>
            <c:idx val="2"/>
            <c:invertIfNegative val="0"/>
            <c:bubble3D val="0"/>
            <c:extLst>
              <c:ext xmlns:c16="http://schemas.microsoft.com/office/drawing/2014/chart" uri="{C3380CC4-5D6E-409C-BE32-E72D297353CC}">
                <c16:uniqueId val="{00000002-5748-466A-8E60-5A5A1BDD2423}"/>
              </c:ext>
            </c:extLst>
          </c:dPt>
          <c:dPt>
            <c:idx val="3"/>
            <c:invertIfNegative val="0"/>
            <c:bubble3D val="0"/>
            <c:extLst>
              <c:ext xmlns:c16="http://schemas.microsoft.com/office/drawing/2014/chart" uri="{C3380CC4-5D6E-409C-BE32-E72D297353CC}">
                <c16:uniqueId val="{00000003-5748-466A-8E60-5A5A1BDD2423}"/>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0.2</c:v>
                </c:pt>
              </c:numCache>
            </c:numRef>
          </c:val>
          <c:extLst>
            <c:ext xmlns:c16="http://schemas.microsoft.com/office/drawing/2014/chart" uri="{C3380CC4-5D6E-409C-BE32-E72D297353CC}">
              <c16:uniqueId val="{00000004-5748-466A-8E60-5A5A1BDD2423}"/>
            </c:ext>
          </c:extLst>
        </c:ser>
        <c:ser>
          <c:idx val="1"/>
          <c:order val="1"/>
          <c:tx>
            <c:strRef>
              <c:f>Sheet1!$C$1</c:f>
              <c:strCache>
                <c:ptCount val="1"/>
                <c:pt idx="0">
                  <c:v>Moderate (3-5)</c:v>
                </c:pt>
              </c:strCache>
            </c:strRef>
          </c:tx>
          <c:spPr>
            <a:solidFill>
              <a:schemeClr val="bg1">
                <a:lumMod val="6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6-5748-466A-8E60-5A5A1BDD2423}"/>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0.46</c:v>
                </c:pt>
              </c:numCache>
            </c:numRef>
          </c:val>
          <c:extLst>
            <c:ext xmlns:c16="http://schemas.microsoft.com/office/drawing/2014/chart" uri="{C3380CC4-5D6E-409C-BE32-E72D297353CC}">
              <c16:uniqueId val="{00000007-5748-466A-8E60-5A5A1BDD2423}"/>
            </c:ext>
          </c:extLst>
        </c:ser>
        <c:ser>
          <c:idx val="2"/>
          <c:order val="2"/>
          <c:tx>
            <c:strRef>
              <c:f>Sheet1!$D$1</c:f>
              <c:strCache>
                <c:ptCount val="1"/>
                <c:pt idx="0">
                  <c:v>High Likelihood (6,7)</c:v>
                </c:pt>
              </c:strCache>
            </c:strRef>
          </c:tx>
          <c:spPr>
            <a:solidFill>
              <a:schemeClr val="accent4"/>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582-4954-8664-C42375E2CDA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0.35</c:v>
                </c:pt>
              </c:numCache>
            </c:numRef>
          </c:val>
          <c:extLst>
            <c:ext xmlns:c16="http://schemas.microsoft.com/office/drawing/2014/chart" uri="{C3380CC4-5D6E-409C-BE32-E72D297353CC}">
              <c16:uniqueId val="{00000008-5748-466A-8E60-5A5A1BDD2423}"/>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More difficult than current meningococcal vaccination protocols </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9E70-4777-8D68-8DCFB2430071}"/>
              </c:ext>
            </c:extLst>
          </c:dPt>
          <c:dPt>
            <c:idx val="1"/>
            <c:invertIfNegative val="0"/>
            <c:bubble3D val="0"/>
            <c:extLst>
              <c:ext xmlns:c16="http://schemas.microsoft.com/office/drawing/2014/chart" uri="{C3380CC4-5D6E-409C-BE32-E72D297353CC}">
                <c16:uniqueId val="{00000001-9E70-4777-8D68-8DCFB2430071}"/>
              </c:ext>
            </c:extLst>
          </c:dPt>
          <c:dPt>
            <c:idx val="2"/>
            <c:invertIfNegative val="0"/>
            <c:bubble3D val="0"/>
            <c:extLst>
              <c:ext xmlns:c16="http://schemas.microsoft.com/office/drawing/2014/chart" uri="{C3380CC4-5D6E-409C-BE32-E72D297353CC}">
                <c16:uniqueId val="{00000002-9E70-4777-8D68-8DCFB2430071}"/>
              </c:ext>
            </c:extLst>
          </c:dPt>
          <c:dPt>
            <c:idx val="3"/>
            <c:invertIfNegative val="0"/>
            <c:bubble3D val="0"/>
            <c:extLst>
              <c:ext xmlns:c16="http://schemas.microsoft.com/office/drawing/2014/chart" uri="{C3380CC4-5D6E-409C-BE32-E72D297353CC}">
                <c16:uniqueId val="{00000003-9E70-4777-8D68-8DCFB2430071}"/>
              </c:ext>
            </c:extLst>
          </c:dPt>
          <c:dLbls>
            <c:dLbl>
              <c:idx val="1"/>
              <c:delete val="1"/>
              <c:extLst>
                <c:ext xmlns:c15="http://schemas.microsoft.com/office/drawing/2012/chart" uri="{CE6537A1-D6FC-4f65-9D91-7224C49458BB}"/>
                <c:ext xmlns:c16="http://schemas.microsoft.com/office/drawing/2014/chart" uri="{C3380CC4-5D6E-409C-BE32-E72D297353CC}">
                  <c16:uniqueId val="{00000001-9E70-4777-8D68-8DCFB2430071}"/>
                </c:ext>
              </c:extLst>
            </c:dLbl>
            <c:dLbl>
              <c:idx val="2"/>
              <c:tx>
                <c:rich>
                  <a:bodyPr/>
                  <a:lstStyle/>
                  <a:p>
                    <a:fld id="{E2925386-360C-4C8A-AD23-30C7C38E75ED}" type="VALUE">
                      <a:rPr lang="en-US" smtClean="0"/>
                      <a:pPr/>
                      <a:t>[VALUE]</a:t>
                    </a:fld>
                    <a:r>
                      <a:rPr lang="en-US" baseline="50000"/>
                      <a:t>S</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9E70-4777-8D68-8DCFB243007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Total</c:v>
                </c:pt>
                <c:pt idx="1">
                  <c:v>Stockers</c:v>
                </c:pt>
                <c:pt idx="2">
                  <c:v>Non-Stockers</c:v>
                </c:pt>
              </c:strCache>
            </c:strRef>
          </c:cat>
          <c:val>
            <c:numRef>
              <c:f>Sheet1!$B$2:$B$4</c:f>
              <c:numCache>
                <c:formatCode>0%</c:formatCode>
                <c:ptCount val="3"/>
                <c:pt idx="0">
                  <c:v>0.19</c:v>
                </c:pt>
                <c:pt idx="1">
                  <c:v>0.03</c:v>
                </c:pt>
                <c:pt idx="2">
                  <c:v>0.23</c:v>
                </c:pt>
              </c:numCache>
            </c:numRef>
          </c:val>
          <c:extLst>
            <c:ext xmlns:c16="http://schemas.microsoft.com/office/drawing/2014/chart" uri="{C3380CC4-5D6E-409C-BE32-E72D297353CC}">
              <c16:uniqueId val="{00000004-9E70-4777-8D68-8DCFB2430071}"/>
            </c:ext>
          </c:extLst>
        </c:ser>
        <c:ser>
          <c:idx val="1"/>
          <c:order val="1"/>
          <c:tx>
            <c:strRef>
              <c:f>Sheet1!$C$1</c:f>
              <c:strCache>
                <c:ptCount val="1"/>
                <c:pt idx="0">
                  <c:v>Neither easier nor more difficult </c:v>
                </c:pt>
              </c:strCache>
            </c:strRef>
          </c:tx>
          <c:spPr>
            <a:solidFill>
              <a:schemeClr val="bg1">
                <a:lumMod val="65000"/>
              </a:schemeClr>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6-9E70-4777-8D68-8DCFB2430071}"/>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Total</c:v>
                </c:pt>
                <c:pt idx="1">
                  <c:v>Stockers</c:v>
                </c:pt>
                <c:pt idx="2">
                  <c:v>Non-Stockers</c:v>
                </c:pt>
              </c:strCache>
            </c:strRef>
          </c:cat>
          <c:val>
            <c:numRef>
              <c:f>Sheet1!$C$2:$C$4</c:f>
              <c:numCache>
                <c:formatCode>0%</c:formatCode>
                <c:ptCount val="3"/>
                <c:pt idx="0">
                  <c:v>0.49</c:v>
                </c:pt>
                <c:pt idx="1">
                  <c:v>0.44</c:v>
                </c:pt>
                <c:pt idx="2">
                  <c:v>0.5</c:v>
                </c:pt>
              </c:numCache>
            </c:numRef>
          </c:val>
          <c:extLst>
            <c:ext xmlns:c16="http://schemas.microsoft.com/office/drawing/2014/chart" uri="{C3380CC4-5D6E-409C-BE32-E72D297353CC}">
              <c16:uniqueId val="{00000007-9E70-4777-8D68-8DCFB2430071}"/>
            </c:ext>
          </c:extLst>
        </c:ser>
        <c:ser>
          <c:idx val="2"/>
          <c:order val="2"/>
          <c:tx>
            <c:strRef>
              <c:f>Sheet1!$D$1</c:f>
              <c:strCache>
                <c:ptCount val="1"/>
                <c:pt idx="0">
                  <c:v>Easier than current meningococcal vaccination protocols </c:v>
                </c:pt>
              </c:strCache>
            </c:strRef>
          </c:tx>
          <c:spPr>
            <a:solidFill>
              <a:schemeClr val="accent4"/>
            </a:solidFill>
            <a:ln>
              <a:noFill/>
            </a:ln>
            <a:effectLst/>
          </c:spPr>
          <c:invertIfNegative val="0"/>
          <c:dLbls>
            <c:dLbl>
              <c:idx val="1"/>
              <c:tx>
                <c:rich>
                  <a:bodyPr/>
                  <a:lstStyle/>
                  <a:p>
                    <a:fld id="{1A77D2F1-0EDD-4974-81B3-287D46FB01EE}" type="VALUE">
                      <a:rPr lang="en-US" smtClean="0"/>
                      <a:pPr/>
                      <a:t>[VALUE]</a:t>
                    </a:fld>
                    <a:r>
                      <a:rPr lang="en-US" baseline="50000"/>
                      <a:t>N</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96CA-4F3B-A90D-EB614EE117A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Total</c:v>
                </c:pt>
                <c:pt idx="1">
                  <c:v>Stockers</c:v>
                </c:pt>
                <c:pt idx="2">
                  <c:v>Non-Stockers</c:v>
                </c:pt>
              </c:strCache>
            </c:strRef>
          </c:cat>
          <c:val>
            <c:numRef>
              <c:f>Sheet1!$D$2:$D$4</c:f>
              <c:numCache>
                <c:formatCode>0%</c:formatCode>
                <c:ptCount val="3"/>
                <c:pt idx="0">
                  <c:v>0.32</c:v>
                </c:pt>
                <c:pt idx="1">
                  <c:v>0.53</c:v>
                </c:pt>
                <c:pt idx="2">
                  <c:v>0.27</c:v>
                </c:pt>
              </c:numCache>
            </c:numRef>
          </c:val>
          <c:extLst>
            <c:ext xmlns:c16="http://schemas.microsoft.com/office/drawing/2014/chart" uri="{C3380CC4-5D6E-409C-BE32-E72D297353CC}">
              <c16:uniqueId val="{00000008-9E70-4777-8D68-8DCFB2430071}"/>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percent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2C2A-495A-B2E3-428A6AD8F15D}"/>
              </c:ext>
            </c:extLst>
          </c:dPt>
          <c:dPt>
            <c:idx val="3"/>
            <c:invertIfNegative val="0"/>
            <c:bubble3D val="0"/>
            <c:extLst>
              <c:ext xmlns:c16="http://schemas.microsoft.com/office/drawing/2014/chart" uri="{C3380CC4-5D6E-409C-BE32-E72D297353CC}">
                <c16:uniqueId val="{00000003-2C2A-495A-B2E3-428A6AD8F15D}"/>
              </c:ext>
            </c:extLst>
          </c:dPt>
          <c:dPt>
            <c:idx val="4"/>
            <c:invertIfNegative val="0"/>
            <c:bubble3D val="0"/>
            <c:extLst>
              <c:ext xmlns:c16="http://schemas.microsoft.com/office/drawing/2014/chart" uri="{C3380CC4-5D6E-409C-BE32-E72D297353CC}">
                <c16:uniqueId val="{00000004-2C2A-495A-B2E3-428A6AD8F15D}"/>
              </c:ext>
            </c:extLst>
          </c:dPt>
          <c:dPt>
            <c:idx val="5"/>
            <c:invertIfNegative val="0"/>
            <c:bubble3D val="0"/>
            <c:extLst>
              <c:ext xmlns:c16="http://schemas.microsoft.com/office/drawing/2014/chart" uri="{C3380CC4-5D6E-409C-BE32-E72D297353CC}">
                <c16:uniqueId val="{00000003-A560-4299-8D2C-0EB9C4EDE21F}"/>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C2A-495A-B2E3-428A6AD8F15D}"/>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Sheet1!$B$1:$G$1</c:f>
              <c:strCache>
                <c:ptCount val="6"/>
                <c:pt idx="0">
                  <c:v>Current</c:v>
                </c:pt>
                <c:pt idx="1">
                  <c:v>Column1</c:v>
                </c:pt>
                <c:pt idx="2">
                  <c:v>Column12</c:v>
                </c:pt>
                <c:pt idx="3">
                  <c:v>Column3</c:v>
                </c:pt>
                <c:pt idx="4">
                  <c:v>Column2</c:v>
                </c:pt>
                <c:pt idx="5">
                  <c:v>Future</c:v>
                </c:pt>
              </c:strCache>
            </c:strRef>
          </c:cat>
          <c:val>
            <c:numRef>
              <c:f>Sheet1!$B$2:$G$2</c:f>
              <c:numCache>
                <c:formatCode>General</c:formatCode>
                <c:ptCount val="6"/>
                <c:pt idx="0" formatCode="0%">
                  <c:v>0.43</c:v>
                </c:pt>
                <c:pt idx="5" formatCode="0%">
                  <c:v>0.37</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2C2A-495A-B2E3-428A6AD8F15D}"/>
            </c:ext>
          </c:extLst>
        </c:ser>
        <c:ser>
          <c:idx val="1"/>
          <c:order val="1"/>
          <c:tx>
            <c:strRef>
              <c:f>Sheet1!$A$3</c:f>
              <c:strCache>
                <c:ptCount val="1"/>
                <c:pt idx="0">
                  <c:v>Menveo</c:v>
                </c:pt>
              </c:strCache>
            </c:strRef>
          </c:tx>
          <c:spPr>
            <a:solidFill>
              <a:srgbClr val="D80065"/>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C32-406C-859B-62B4A484E406}"/>
                </c:ext>
              </c:extLst>
            </c:dLbl>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Column12</c:v>
                </c:pt>
                <c:pt idx="3">
                  <c:v>Column3</c:v>
                </c:pt>
                <c:pt idx="4">
                  <c:v>Column2</c:v>
                </c:pt>
                <c:pt idx="5">
                  <c:v>Future</c:v>
                </c:pt>
              </c:strCache>
            </c:strRef>
          </c:cat>
          <c:val>
            <c:numRef>
              <c:f>Sheet1!$B$3:$G$3</c:f>
              <c:numCache>
                <c:formatCode>General</c:formatCode>
                <c:ptCount val="6"/>
                <c:pt idx="0" formatCode="0%">
                  <c:v>0.16</c:v>
                </c:pt>
                <c:pt idx="5" formatCode="0%">
                  <c:v>0.12</c:v>
                </c:pt>
              </c:numCache>
            </c:numRef>
          </c:val>
          <c:extLst>
            <c:ext xmlns:c16="http://schemas.microsoft.com/office/drawing/2014/chart" uri="{C3380CC4-5D6E-409C-BE32-E72D297353CC}">
              <c16:uniqueId val="{00000006-2C2A-495A-B2E3-428A6AD8F15D}"/>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Column12</c:v>
                </c:pt>
                <c:pt idx="3">
                  <c:v>Column3</c:v>
                </c:pt>
                <c:pt idx="4">
                  <c:v>Column2</c:v>
                </c:pt>
                <c:pt idx="5">
                  <c:v>Future</c:v>
                </c:pt>
              </c:strCache>
            </c:strRef>
          </c:cat>
          <c:val>
            <c:numRef>
              <c:f>Sheet1!$B$4:$G$4</c:f>
              <c:numCache>
                <c:formatCode>General</c:formatCode>
                <c:ptCount val="6"/>
                <c:pt idx="0" formatCode="0%">
                  <c:v>0.23</c:v>
                </c:pt>
                <c:pt idx="5" formatCode="0%">
                  <c:v>0.17</c:v>
                </c:pt>
              </c:numCache>
            </c:numRef>
          </c:val>
          <c:extLst>
            <c:ext xmlns:c16="http://schemas.microsoft.com/office/drawing/2014/chart" uri="{C3380CC4-5D6E-409C-BE32-E72D297353CC}">
              <c16:uniqueId val="{00000007-2C2A-495A-B2E3-428A6AD8F15D}"/>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Column12</c:v>
                </c:pt>
                <c:pt idx="3">
                  <c:v>Column3</c:v>
                </c:pt>
                <c:pt idx="4">
                  <c:v>Column2</c:v>
                </c:pt>
                <c:pt idx="5">
                  <c:v>Future</c:v>
                </c:pt>
              </c:strCache>
            </c:strRef>
          </c:cat>
          <c:val>
            <c:numRef>
              <c:f>Sheet1!$B$5:$G$5</c:f>
              <c:numCache>
                <c:formatCode>General</c:formatCode>
                <c:ptCount val="6"/>
                <c:pt idx="0" formatCode="0%">
                  <c:v>0.13</c:v>
                </c:pt>
                <c:pt idx="5" formatCode="0%">
                  <c:v>0.14000000000000001</c:v>
                </c:pt>
              </c:numCache>
            </c:numRef>
          </c:val>
          <c:extLst>
            <c:ext xmlns:c16="http://schemas.microsoft.com/office/drawing/2014/chart" uri="{C3380CC4-5D6E-409C-BE32-E72D297353CC}">
              <c16:uniqueId val="{00000008-2C2A-495A-B2E3-428A6AD8F15D}"/>
            </c:ext>
          </c:extLst>
        </c:ser>
        <c:ser>
          <c:idx val="4"/>
          <c:order val="4"/>
          <c:tx>
            <c:strRef>
              <c:f>Sheet1!$A$6</c:f>
              <c:strCache>
                <c:ptCount val="1"/>
                <c:pt idx="0">
                  <c:v>Penmenvy</c:v>
                </c:pt>
              </c:strCache>
            </c:strRef>
          </c:tx>
          <c:spPr>
            <a:solidFill>
              <a:schemeClr val="accent6">
                <a:lumMod val="60000"/>
                <a:lumOff val="40000"/>
              </a:schemeClr>
            </a:solidFill>
            <a:ln>
              <a:noFill/>
            </a:ln>
            <a:effectLst/>
          </c:spPr>
          <c:invertIfNegative val="0"/>
          <c:dLbls>
            <c:dLbl>
              <c:idx val="0"/>
              <c:layout>
                <c:manualLayout>
                  <c:x val="7.0002979260652784E-2"/>
                  <c:y val="-5.2843208610845384E-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9AD-43C9-85E5-6E1E5BE82D50}"/>
                </c:ext>
              </c:extLst>
            </c:dLbl>
            <c:spPr>
              <a:noFill/>
              <a:ln>
                <a:noFill/>
              </a:ln>
              <a:effectLst/>
            </c:spPr>
            <c:txPr>
              <a:bodyPr rot="0" spcFirstLastPara="1" vertOverflow="ellipsis" vert="horz" wrap="square" anchor="ctr" anchorCtr="1"/>
              <a:lstStyle/>
              <a:p>
                <a:pPr algn="ct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Column12</c:v>
                </c:pt>
                <c:pt idx="3">
                  <c:v>Column3</c:v>
                </c:pt>
                <c:pt idx="4">
                  <c:v>Column2</c:v>
                </c:pt>
                <c:pt idx="5">
                  <c:v>Future</c:v>
                </c:pt>
              </c:strCache>
            </c:strRef>
          </c:cat>
          <c:val>
            <c:numRef>
              <c:f>Sheet1!$B$6:$G$6</c:f>
              <c:numCache>
                <c:formatCode>General</c:formatCode>
                <c:ptCount val="6"/>
                <c:pt idx="5" formatCode="0%">
                  <c:v>0.03</c:v>
                </c:pt>
              </c:numCache>
            </c:numRef>
          </c:val>
          <c:extLst>
            <c:ext xmlns:c16="http://schemas.microsoft.com/office/drawing/2014/chart" uri="{C3380CC4-5D6E-409C-BE32-E72D297353CC}">
              <c16:uniqueId val="{00000009-2C2A-495A-B2E3-428A6AD8F15D}"/>
            </c:ext>
          </c:extLst>
        </c:ser>
        <c:ser>
          <c:idx val="5"/>
          <c:order val="5"/>
          <c:tx>
            <c:strRef>
              <c:f>Sheet1!$A$7</c:f>
              <c:strCache>
                <c:ptCount val="1"/>
                <c:pt idx="0">
                  <c:v>Penbraya</c:v>
                </c:pt>
              </c:strCache>
            </c:strRef>
          </c:tx>
          <c:spPr>
            <a:solidFill>
              <a:srgbClr val="937DAD"/>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C0C-4F32-8171-F0C2E834E993}"/>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560-4299-8D2C-0EB9C4EDE21F}"/>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Sheet1!$B$1:$G$1</c:f>
              <c:strCache>
                <c:ptCount val="6"/>
                <c:pt idx="0">
                  <c:v>Current</c:v>
                </c:pt>
                <c:pt idx="1">
                  <c:v>Column1</c:v>
                </c:pt>
                <c:pt idx="2">
                  <c:v>Column12</c:v>
                </c:pt>
                <c:pt idx="3">
                  <c:v>Column3</c:v>
                </c:pt>
                <c:pt idx="4">
                  <c:v>Column2</c:v>
                </c:pt>
                <c:pt idx="5">
                  <c:v>Future</c:v>
                </c:pt>
              </c:strCache>
            </c:strRef>
          </c:cat>
          <c:val>
            <c:numRef>
              <c:f>Sheet1!$B$7:$G$7</c:f>
              <c:numCache>
                <c:formatCode>General</c:formatCode>
                <c:ptCount val="6"/>
                <c:pt idx="0" formatCode="0%">
                  <c:v>0.05</c:v>
                </c:pt>
                <c:pt idx="5" formatCode="0%">
                  <c:v>0.17</c:v>
                </c:pt>
              </c:numCache>
            </c:numRef>
          </c:val>
          <c:extLst>
            <c:ext xmlns:c16="http://schemas.microsoft.com/office/drawing/2014/chart" uri="{C3380CC4-5D6E-409C-BE32-E72D297353CC}">
              <c16:uniqueId val="{00000005-45A8-48D2-82FB-2C5DF7D8727A}"/>
            </c:ext>
          </c:extLst>
        </c:ser>
        <c:dLbls>
          <c:showLegendKey val="0"/>
          <c:showVal val="0"/>
          <c:showCatName val="0"/>
          <c:showSerName val="0"/>
          <c:showPercent val="0"/>
          <c:showBubbleSize val="0"/>
        </c:dLbls>
        <c:gapWidth val="10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legend>
      <c:legendPos val="l"/>
      <c:layout>
        <c:manualLayout>
          <c:xMode val="edge"/>
          <c:yMode val="edge"/>
          <c:x val="0.33555019229827981"/>
          <c:y val="5.0715804672141006E-2"/>
          <c:w val="0.15501167204047336"/>
          <c:h val="0.9031540743183801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FBC2-4147-9D3E-81EE268C8AAE}"/>
              </c:ext>
            </c:extLst>
          </c:dPt>
          <c:dPt>
            <c:idx val="4"/>
            <c:invertIfNegative val="0"/>
            <c:bubble3D val="0"/>
            <c:extLst>
              <c:ext xmlns:c16="http://schemas.microsoft.com/office/drawing/2014/chart" uri="{C3380CC4-5D6E-409C-BE32-E72D297353CC}">
                <c16:uniqueId val="{00000001-FBC2-4147-9D3E-81EE268C8AAE}"/>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c:f>
              <c:strCache>
                <c:ptCount val="1"/>
                <c:pt idx="0">
                  <c:v>Future</c:v>
                </c:pt>
              </c:strCache>
            </c:strRef>
          </c:cat>
          <c:val>
            <c:numRef>
              <c:f>Sheet1!$B$2</c:f>
              <c:numCache>
                <c:formatCode>0%</c:formatCode>
                <c:ptCount val="1"/>
                <c:pt idx="0">
                  <c:v>0.35</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2-FBC2-4147-9D3E-81EE268C8AAE}"/>
            </c:ext>
          </c:extLst>
        </c:ser>
        <c:ser>
          <c:idx val="1"/>
          <c:order val="1"/>
          <c:tx>
            <c:strRef>
              <c:f>Sheet1!$A$3</c:f>
              <c:strCache>
                <c:ptCount val="1"/>
                <c:pt idx="0">
                  <c:v>Menveo</c:v>
                </c:pt>
              </c:strCache>
            </c:strRef>
          </c:tx>
          <c:spPr>
            <a:solidFill>
              <a:srgbClr val="D80065"/>
            </a:solidFill>
            <a:ln>
              <a:noFill/>
            </a:ln>
            <a:effectLst/>
          </c:spPr>
          <c:invertIfNegative val="0"/>
          <c:dLbls>
            <c:spPr>
              <a:noFill/>
              <a:ln>
                <a:noFill/>
              </a:ln>
              <a:effectLst/>
            </c:spPr>
            <c:txPr>
              <a:bodyPr rot="0" spcFirstLastPara="1" vertOverflow="ellipsis" vert="horz" wrap="non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Future</c:v>
                </c:pt>
              </c:strCache>
            </c:strRef>
          </c:cat>
          <c:val>
            <c:numRef>
              <c:f>Sheet1!$B$3</c:f>
              <c:numCache>
                <c:formatCode>0%</c:formatCode>
                <c:ptCount val="1"/>
                <c:pt idx="0">
                  <c:v>0.12</c:v>
                </c:pt>
              </c:numCache>
            </c:numRef>
          </c:val>
          <c:extLst>
            <c:ext xmlns:c16="http://schemas.microsoft.com/office/drawing/2014/chart" uri="{C3380CC4-5D6E-409C-BE32-E72D297353CC}">
              <c16:uniqueId val="{00000003-FBC2-4147-9D3E-81EE268C8AAE}"/>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non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Future</c:v>
                </c:pt>
              </c:strCache>
            </c:strRef>
          </c:cat>
          <c:val>
            <c:numRef>
              <c:f>Sheet1!$B$4</c:f>
              <c:numCache>
                <c:formatCode>0%</c:formatCode>
                <c:ptCount val="1"/>
                <c:pt idx="0">
                  <c:v>0.17</c:v>
                </c:pt>
              </c:numCache>
            </c:numRef>
          </c:val>
          <c:extLst>
            <c:ext xmlns:c16="http://schemas.microsoft.com/office/drawing/2014/chart" uri="{C3380CC4-5D6E-409C-BE32-E72D297353CC}">
              <c16:uniqueId val="{00000004-FBC2-4147-9D3E-81EE268C8AAE}"/>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non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Future</c:v>
                </c:pt>
              </c:strCache>
            </c:strRef>
          </c:cat>
          <c:val>
            <c:numRef>
              <c:f>Sheet1!$B$5</c:f>
              <c:numCache>
                <c:formatCode>0%</c:formatCode>
                <c:ptCount val="1"/>
                <c:pt idx="0">
                  <c:v>0.16</c:v>
                </c:pt>
              </c:numCache>
            </c:numRef>
          </c:val>
          <c:extLst>
            <c:ext xmlns:c16="http://schemas.microsoft.com/office/drawing/2014/chart" uri="{C3380CC4-5D6E-409C-BE32-E72D297353CC}">
              <c16:uniqueId val="{00000005-FBC2-4147-9D3E-81EE268C8AAE}"/>
            </c:ext>
          </c:extLst>
        </c:ser>
        <c:ser>
          <c:idx val="4"/>
          <c:order val="4"/>
          <c:tx>
            <c:strRef>
              <c:f>Sheet1!$A$6</c:f>
              <c:strCache>
                <c:ptCount val="1"/>
                <c:pt idx="0">
                  <c:v>Penmenvy</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Future</c:v>
                </c:pt>
              </c:strCache>
            </c:strRef>
          </c:cat>
          <c:val>
            <c:numRef>
              <c:f>Sheet1!$B$6</c:f>
              <c:numCache>
                <c:formatCode>0%</c:formatCode>
                <c:ptCount val="1"/>
                <c:pt idx="0">
                  <c:v>0.03</c:v>
                </c:pt>
              </c:numCache>
            </c:numRef>
          </c:val>
          <c:extLst>
            <c:ext xmlns:c16="http://schemas.microsoft.com/office/drawing/2014/chart" uri="{C3380CC4-5D6E-409C-BE32-E72D297353CC}">
              <c16:uniqueId val="{00000006-FBC2-4147-9D3E-81EE268C8AAE}"/>
            </c:ext>
          </c:extLst>
        </c:ser>
        <c:ser>
          <c:idx val="5"/>
          <c:order val="5"/>
          <c:tx>
            <c:strRef>
              <c:f>Sheet1!$A$7</c:f>
              <c:strCache>
                <c:ptCount val="1"/>
                <c:pt idx="0">
                  <c:v>Penbraya</c:v>
                </c:pt>
              </c:strCache>
            </c:strRef>
          </c:tx>
          <c:spPr>
            <a:solidFill>
              <a:srgbClr val="937DAD"/>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15:layout>
                    <c:manualLayout>
                      <c:w val="0.15263484468195718"/>
                      <c:h val="0.14116793903386277"/>
                    </c:manualLayout>
                  </c15:layout>
                </c:ext>
                <c:ext xmlns:c16="http://schemas.microsoft.com/office/drawing/2014/chart" uri="{C3380CC4-5D6E-409C-BE32-E72D297353CC}">
                  <c16:uniqueId val="{00000008-FBC2-4147-9D3E-81EE268C8AAE}"/>
                </c:ext>
              </c:extLst>
            </c:dLbl>
            <c:spPr>
              <a:noFill/>
              <a:ln>
                <a:noFill/>
              </a:ln>
              <a:effectLst/>
            </c:spPr>
            <c:txPr>
              <a:bodyPr rot="0" spcFirstLastPara="1" vertOverflow="overflow" horzOverflow="overflow" vert="horz" wrap="non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f>
              <c:strCache>
                <c:ptCount val="1"/>
                <c:pt idx="0">
                  <c:v>Future</c:v>
                </c:pt>
              </c:strCache>
            </c:strRef>
          </c:cat>
          <c:val>
            <c:numRef>
              <c:f>Sheet1!$B$7</c:f>
              <c:numCache>
                <c:formatCode>0%</c:formatCode>
                <c:ptCount val="1"/>
                <c:pt idx="0">
                  <c:v>0.18</c:v>
                </c:pt>
              </c:numCache>
            </c:numRef>
          </c:val>
          <c:extLst>
            <c:ext xmlns:c16="http://schemas.microsoft.com/office/drawing/2014/chart" uri="{C3380CC4-5D6E-409C-BE32-E72D297353CC}">
              <c16:uniqueId val="{00000007-FBC2-4147-9D3E-81EE268C8AAE}"/>
            </c:ext>
          </c:extLst>
        </c:ser>
        <c:dLbls>
          <c:showLegendKey val="0"/>
          <c:showVal val="0"/>
          <c:showCatName val="0"/>
          <c:showSerName val="0"/>
          <c:showPercent val="0"/>
          <c:showBubbleSize val="0"/>
        </c:dLbls>
        <c:gapWidth val="15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A847-442B-B184-8FDDE3F33364}"/>
              </c:ext>
            </c:extLst>
          </c:dPt>
          <c:dPt>
            <c:idx val="1"/>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A847-442B-B184-8FDDE3F33364}"/>
              </c:ext>
            </c:extLst>
          </c:dPt>
          <c:dPt>
            <c:idx val="2"/>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2-A847-442B-B184-8FDDE3F33364}"/>
              </c:ext>
            </c:extLst>
          </c:dPt>
          <c:dPt>
            <c:idx val="3"/>
            <c:invertIfNegative val="0"/>
            <c:bubble3D val="0"/>
            <c:extLst>
              <c:ext xmlns:c16="http://schemas.microsoft.com/office/drawing/2014/chart" uri="{C3380CC4-5D6E-409C-BE32-E72D297353CC}">
                <c16:uniqueId val="{00000003-A847-442B-B184-8FDDE3F33364}"/>
              </c:ext>
            </c:extLst>
          </c:dPt>
          <c:dPt>
            <c:idx val="4"/>
            <c:invertIfNegative val="0"/>
            <c:bubble3D val="0"/>
            <c:extLst>
              <c:ext xmlns:c16="http://schemas.microsoft.com/office/drawing/2014/chart" uri="{C3380CC4-5D6E-409C-BE32-E72D297353CC}">
                <c16:uniqueId val="{00000004-A847-442B-B184-8FDDE3F33364}"/>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Sheet1!$B$2:$E$2</c:f>
              <c:numCache>
                <c:formatCode>General</c:formatCode>
                <c:ptCount val="4"/>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A847-442B-B184-8FDDE3F33364}"/>
            </c:ext>
          </c:extLst>
        </c:ser>
        <c:ser>
          <c:idx val="1"/>
          <c:order val="1"/>
          <c:tx>
            <c:strRef>
              <c:f>Sheet1!$A$3</c:f>
              <c:strCache>
                <c:ptCount val="1"/>
                <c:pt idx="0">
                  <c:v>Menveo</c:v>
                </c:pt>
              </c:strCache>
            </c:strRef>
          </c:tx>
          <c:spPr>
            <a:solidFill>
              <a:srgbClr val="D8006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Sheet1!$B$3:$E$3</c:f>
              <c:numCache>
                <c:formatCode>General</c:formatCode>
                <c:ptCount val="4"/>
              </c:numCache>
            </c:numRef>
          </c:val>
          <c:extLst>
            <c:ext xmlns:c16="http://schemas.microsoft.com/office/drawing/2014/chart" uri="{C3380CC4-5D6E-409C-BE32-E72D297353CC}">
              <c16:uniqueId val="{00000006-A847-442B-B184-8FDDE3F33364}"/>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Sheet1!$B$4:$E$4</c:f>
              <c:numCache>
                <c:formatCode>General</c:formatCode>
                <c:ptCount val="4"/>
              </c:numCache>
            </c:numRef>
          </c:val>
          <c:extLst>
            <c:ext xmlns:c16="http://schemas.microsoft.com/office/drawing/2014/chart" uri="{C3380CC4-5D6E-409C-BE32-E72D297353CC}">
              <c16:uniqueId val="{00000007-A847-442B-B184-8FDDE3F33364}"/>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Sheet1!$B$5:$E$5</c:f>
              <c:numCache>
                <c:formatCode>General</c:formatCode>
                <c:ptCount val="4"/>
              </c:numCache>
            </c:numRef>
          </c:val>
          <c:extLst>
            <c:ext xmlns:c16="http://schemas.microsoft.com/office/drawing/2014/chart" uri="{C3380CC4-5D6E-409C-BE32-E72D297353CC}">
              <c16:uniqueId val="{00000008-A847-442B-B184-8FDDE3F33364}"/>
            </c:ext>
          </c:extLst>
        </c:ser>
        <c:ser>
          <c:idx val="4"/>
          <c:order val="4"/>
          <c:tx>
            <c:strRef>
              <c:f>Sheet1!$A$6</c:f>
              <c:strCache>
                <c:ptCount val="1"/>
                <c:pt idx="0">
                  <c:v>Penmenvy</c:v>
                </c:pt>
              </c:strCache>
            </c:strRef>
          </c:tx>
          <c:spPr>
            <a:solidFill>
              <a:schemeClr val="accent6"/>
            </a:solidFill>
            <a:ln>
              <a:noFill/>
            </a:ln>
            <a:effectLst/>
          </c:spPr>
          <c:invertIfNegative val="0"/>
          <c:dLbls>
            <c:dLbl>
              <c:idx val="0"/>
              <c:layout>
                <c:manualLayout>
                  <c:x val="7.0002979260652784E-2"/>
                  <c:y val="-5.2843208610845384E-18"/>
                </c:manualLayout>
              </c:layout>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rgbClr val="937DAD"/>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847-442B-B184-8FDDE3F33364}"/>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Sheet1!$B$6:$E$6</c:f>
              <c:numCache>
                <c:formatCode>General</c:formatCode>
                <c:ptCount val="4"/>
              </c:numCache>
            </c:numRef>
          </c:val>
          <c:extLst>
            <c:ext xmlns:c16="http://schemas.microsoft.com/office/drawing/2014/chart" uri="{C3380CC4-5D6E-409C-BE32-E72D297353CC}">
              <c16:uniqueId val="{0000000A-A847-442B-B184-8FDDE3F33364}"/>
            </c:ext>
          </c:extLst>
        </c:ser>
        <c:ser>
          <c:idx val="5"/>
          <c:order val="5"/>
          <c:tx>
            <c:strRef>
              <c:f>Sheet1!$A$7</c:f>
              <c:strCache>
                <c:ptCount val="1"/>
                <c:pt idx="0">
                  <c:v>Penbraya</c:v>
                </c:pt>
              </c:strCache>
            </c:strRef>
          </c:tx>
          <c:spPr>
            <a:solidFill>
              <a:srgbClr val="937DAD"/>
            </a:solidFill>
            <a:ln>
              <a:noFill/>
            </a:ln>
            <a:effectLst/>
          </c:spPr>
          <c:invertIfNegative val="0"/>
          <c:cat>
            <c:strRef>
              <c:f>Sheet1!$B$1:$E$1</c:f>
              <c:strCache>
                <c:ptCount val="4"/>
                <c:pt idx="0">
                  <c:v>Current</c:v>
                </c:pt>
                <c:pt idx="1">
                  <c:v>Column3</c:v>
                </c:pt>
                <c:pt idx="2">
                  <c:v>Column2</c:v>
                </c:pt>
                <c:pt idx="3">
                  <c:v>Future</c:v>
                </c:pt>
              </c:strCache>
            </c:strRef>
          </c:cat>
          <c:val>
            <c:numRef>
              <c:f>Sheet1!$B$7:$E$7</c:f>
              <c:numCache>
                <c:formatCode>General</c:formatCode>
                <c:ptCount val="4"/>
              </c:numCache>
            </c:numRef>
          </c:val>
          <c:extLst>
            <c:ext xmlns:c16="http://schemas.microsoft.com/office/drawing/2014/chart" uri="{C3380CC4-5D6E-409C-BE32-E72D297353CC}">
              <c16:uniqueId val="{0000000B-A847-442B-B184-8FDDE3F33364}"/>
            </c:ext>
          </c:extLst>
        </c:ser>
        <c:dLbls>
          <c:showLegendKey val="0"/>
          <c:showVal val="0"/>
          <c:showCatName val="0"/>
          <c:showSerName val="0"/>
          <c:showPercent val="0"/>
          <c:showBubbleSize val="0"/>
        </c:dLbls>
        <c:gapWidth val="15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legend>
      <c:legendPos val="l"/>
      <c:layout>
        <c:manualLayout>
          <c:xMode val="edge"/>
          <c:yMode val="edge"/>
          <c:x val="0"/>
          <c:y val="3.2263523266653125E-2"/>
          <c:w val="0.97055027080526768"/>
          <c:h val="0.9612009518687797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2C2A-495A-B2E3-428A6AD8F15D}"/>
              </c:ext>
            </c:extLst>
          </c:dPt>
          <c:dPt>
            <c:idx val="1"/>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2C2A-495A-B2E3-428A6AD8F15D}"/>
              </c:ext>
            </c:extLst>
          </c:dPt>
          <c:dPt>
            <c:idx val="2"/>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2-2C2A-495A-B2E3-428A6AD8F15D}"/>
              </c:ext>
            </c:extLst>
          </c:dPt>
          <c:dPt>
            <c:idx val="3"/>
            <c:invertIfNegative val="0"/>
            <c:bubble3D val="0"/>
            <c:extLst>
              <c:ext xmlns:c16="http://schemas.microsoft.com/office/drawing/2014/chart" uri="{C3380CC4-5D6E-409C-BE32-E72D297353CC}">
                <c16:uniqueId val="{00000003-2C2A-495A-B2E3-428A6AD8F15D}"/>
              </c:ext>
            </c:extLst>
          </c:dPt>
          <c:dPt>
            <c:idx val="4"/>
            <c:invertIfNegative val="0"/>
            <c:bubble3D val="0"/>
            <c:extLst>
              <c:ext xmlns:c16="http://schemas.microsoft.com/office/drawing/2014/chart" uri="{C3380CC4-5D6E-409C-BE32-E72D297353CC}">
                <c16:uniqueId val="{00000004-2C2A-495A-B2E3-428A6AD8F15D}"/>
              </c:ext>
            </c:extLst>
          </c:dPt>
          <c:dLbls>
            <c:dLbl>
              <c:idx val="0"/>
              <c:tx>
                <c:rich>
                  <a:bodyPr/>
                  <a:lstStyle/>
                  <a:p>
                    <a:fld id="{1677D334-B0DE-49AF-B2B4-735EE0183AAF}" type="VALUE">
                      <a:rPr lang="en-US" smtClean="0"/>
                      <a:pPr/>
                      <a:t>[VALUE]</a:t>
                    </a:fld>
                    <a:r>
                      <a:rPr lang="en-US" baseline="40000"/>
                      <a:t>3</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C2A-495A-B2E3-428A6AD8F15D}"/>
                </c:ext>
              </c:extLst>
            </c:dLbl>
            <c:dLbl>
              <c:idx val="1"/>
              <c:tx>
                <c:rich>
                  <a:bodyPr/>
                  <a:lstStyle/>
                  <a:p>
                    <a:fld id="{3E6F5637-6C07-4DDA-A2AA-3A7F058725F5}" type="VALUE">
                      <a:rPr lang="en-US" smtClean="0"/>
                      <a:pPr/>
                      <a:t>[VALUE]</a:t>
                    </a:fld>
                    <a:r>
                      <a:rPr lang="en-US" baseline="40000"/>
                      <a:t>3</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C2A-495A-B2E3-428A6AD8F15D}"/>
                </c:ext>
              </c:extLst>
            </c:dLbl>
            <c:dLbl>
              <c:idx val="6"/>
              <c:layout>
                <c:manualLayout>
                  <c:x val="-3.6845545504104538E-3"/>
                  <c:y val="-4.6130252946343731E-3"/>
                </c:manualLayout>
              </c:layout>
              <c:tx>
                <c:rich>
                  <a:bodyPr/>
                  <a:lstStyle/>
                  <a:p>
                    <a:fld id="{232997A3-90DF-4BD0-9304-41D193171304}" type="VALUE">
                      <a:rPr lang="en-US" smtClean="0"/>
                      <a:pPr/>
                      <a:t>[VALUE]</a:t>
                    </a:fld>
                    <a:r>
                      <a:rPr lang="en-US" baseline="40000"/>
                      <a:t>3</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4C2F-4B91-A220-066BECC60484}"/>
                </c:ext>
              </c:extLst>
            </c:dLbl>
            <c:dLbl>
              <c:idx val="7"/>
              <c:layout>
                <c:manualLayout>
                  <c:x val="-1.228184850136878E-3"/>
                  <c:y val="-8.4571153428447489E-17"/>
                </c:manualLayout>
              </c:layout>
              <c:tx>
                <c:rich>
                  <a:bodyPr/>
                  <a:lstStyle/>
                  <a:p>
                    <a:fld id="{B0E2D7B2-A6E0-4C6F-9FF0-1537ABC2B050}" type="VALUE">
                      <a:rPr lang="en-US" smtClean="0"/>
                      <a:pPr/>
                      <a:t>[VALUE]</a:t>
                    </a:fld>
                    <a:r>
                      <a:rPr lang="en-US" baseline="40000"/>
                      <a:t>3</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0-4C2F-4B91-A220-066BECC60484}"/>
                </c:ext>
              </c:extLst>
            </c:dLbl>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Sheet1!$B$1:$J$1</c:f>
              <c:strCache>
                <c:ptCount val="9"/>
                <c:pt idx="0">
                  <c:v>Current Tier 1</c:v>
                </c:pt>
                <c:pt idx="1">
                  <c:v>Current Tier 2</c:v>
                </c:pt>
                <c:pt idx="2">
                  <c:v>Current Tier 3</c:v>
                </c:pt>
                <c:pt idx="3">
                  <c:v>Column3</c:v>
                </c:pt>
                <c:pt idx="4">
                  <c:v>Column4</c:v>
                </c:pt>
                <c:pt idx="5">
                  <c:v>Column2</c:v>
                </c:pt>
                <c:pt idx="6">
                  <c:v>Future Tier 1</c:v>
                </c:pt>
                <c:pt idx="7">
                  <c:v>Future Tier 2</c:v>
                </c:pt>
                <c:pt idx="8">
                  <c:v>Future Tier 3</c:v>
                </c:pt>
              </c:strCache>
            </c:strRef>
          </c:cat>
          <c:val>
            <c:numRef>
              <c:f>Sheet1!$B$2:$J$2</c:f>
              <c:numCache>
                <c:formatCode>0%</c:formatCode>
                <c:ptCount val="9"/>
                <c:pt idx="0">
                  <c:v>0.48</c:v>
                </c:pt>
                <c:pt idx="1">
                  <c:v>0.48</c:v>
                </c:pt>
                <c:pt idx="2">
                  <c:v>0.12</c:v>
                </c:pt>
                <c:pt idx="6">
                  <c:v>0.42</c:v>
                </c:pt>
                <c:pt idx="7">
                  <c:v>0.4</c:v>
                </c:pt>
                <c:pt idx="8">
                  <c:v>0.1</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2C2A-495A-B2E3-428A6AD8F15D}"/>
            </c:ext>
          </c:extLst>
        </c:ser>
        <c:ser>
          <c:idx val="1"/>
          <c:order val="1"/>
          <c:tx>
            <c:strRef>
              <c:f>Sheet1!$A$3</c:f>
              <c:strCache>
                <c:ptCount val="1"/>
                <c:pt idx="0">
                  <c:v>Menveo</c:v>
                </c:pt>
              </c:strCache>
            </c:strRef>
          </c:tx>
          <c:spPr>
            <a:solidFill>
              <a:srgbClr val="D80065"/>
            </a:solidFill>
            <a:ln>
              <a:noFill/>
            </a:ln>
            <a:effectLst/>
          </c:spPr>
          <c:invertIfNegative val="0"/>
          <c:dLbls>
            <c:dLbl>
              <c:idx val="0"/>
              <c:tx>
                <c:rich>
                  <a:bodyPr/>
                  <a:lstStyle/>
                  <a:p>
                    <a:fld id="{93D689F7-6EBE-4DBD-98BF-4069767F10A6}"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4C2F-4B91-A220-066BECC60484}"/>
                </c:ext>
              </c:extLst>
            </c:dLbl>
            <c:dLbl>
              <c:idx val="2"/>
              <c:tx>
                <c:rich>
                  <a:bodyPr/>
                  <a:lstStyle/>
                  <a:p>
                    <a:fld id="{49FAA336-09BB-4DDB-8C08-896DBA9AD586}" type="VALUE">
                      <a:rPr lang="en-US" smtClean="0"/>
                      <a:pPr/>
                      <a:t>[VALUE]</a:t>
                    </a:fld>
                    <a:r>
                      <a:rPr lang="en-US" baseline="40000"/>
                      <a:t>1,2</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4C2F-4B91-A220-066BECC60484}"/>
                </c:ext>
              </c:extLst>
            </c:dLbl>
            <c:dLbl>
              <c:idx val="6"/>
              <c:tx>
                <c:rich>
                  <a:bodyPr/>
                  <a:lstStyle/>
                  <a:p>
                    <a:fld id="{5C2C16E9-18AC-4693-AB1F-25F3949C98A7}"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4C2F-4B91-A220-066BECC60484}"/>
                </c:ext>
              </c:extLst>
            </c:dLbl>
            <c:dLbl>
              <c:idx val="8"/>
              <c:tx>
                <c:rich>
                  <a:bodyPr/>
                  <a:lstStyle/>
                  <a:p>
                    <a:fld id="{650F3331-77A4-4BA3-8198-1041E52CB72B}" type="VALUE">
                      <a:rPr lang="en-US" smtClean="0"/>
                      <a:pPr/>
                      <a:t>[VALUE]</a:t>
                    </a:fld>
                    <a:r>
                      <a:rPr lang="en-US" baseline="40000"/>
                      <a:t>1,2</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1-4C2F-4B91-A220-066BECC60484}"/>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Sheet1!$B$1:$J$1</c:f>
              <c:strCache>
                <c:ptCount val="9"/>
                <c:pt idx="0">
                  <c:v>Current Tier 1</c:v>
                </c:pt>
                <c:pt idx="1">
                  <c:v>Current Tier 2</c:v>
                </c:pt>
                <c:pt idx="2">
                  <c:v>Current Tier 3</c:v>
                </c:pt>
                <c:pt idx="3">
                  <c:v>Column3</c:v>
                </c:pt>
                <c:pt idx="4">
                  <c:v>Column4</c:v>
                </c:pt>
                <c:pt idx="5">
                  <c:v>Column2</c:v>
                </c:pt>
                <c:pt idx="6">
                  <c:v>Future Tier 1</c:v>
                </c:pt>
                <c:pt idx="7">
                  <c:v>Future Tier 2</c:v>
                </c:pt>
                <c:pt idx="8">
                  <c:v>Future Tier 3</c:v>
                </c:pt>
              </c:strCache>
            </c:strRef>
          </c:cat>
          <c:val>
            <c:numRef>
              <c:f>Sheet1!$B$3:$J$3</c:f>
              <c:numCache>
                <c:formatCode>0%</c:formatCode>
                <c:ptCount val="9"/>
                <c:pt idx="0">
                  <c:v>0.11</c:v>
                </c:pt>
                <c:pt idx="1">
                  <c:v>0.11</c:v>
                </c:pt>
                <c:pt idx="2">
                  <c:v>0.47</c:v>
                </c:pt>
                <c:pt idx="6">
                  <c:v>0.09</c:v>
                </c:pt>
                <c:pt idx="7">
                  <c:v>0.06</c:v>
                </c:pt>
                <c:pt idx="8">
                  <c:v>0.34</c:v>
                </c:pt>
              </c:numCache>
            </c:numRef>
          </c:val>
          <c:extLst>
            <c:ext xmlns:c16="http://schemas.microsoft.com/office/drawing/2014/chart" uri="{C3380CC4-5D6E-409C-BE32-E72D297353CC}">
              <c16:uniqueId val="{00000006-2C2A-495A-B2E3-428A6AD8F15D}"/>
            </c:ext>
          </c:extLst>
        </c:ser>
        <c:ser>
          <c:idx val="2"/>
          <c:order val="2"/>
          <c:tx>
            <c:strRef>
              <c:f>Sheet1!$A$4</c:f>
              <c:strCache>
                <c:ptCount val="1"/>
                <c:pt idx="0">
                  <c:v>Bexsero</c:v>
                </c:pt>
              </c:strCache>
            </c:strRef>
          </c:tx>
          <c:spPr>
            <a:solidFill>
              <a:srgbClr val="6F002C"/>
            </a:solidFill>
            <a:ln>
              <a:noFill/>
            </a:ln>
            <a:effectLst/>
          </c:spPr>
          <c:invertIfNegative val="0"/>
          <c:dLbls>
            <c:dLbl>
              <c:idx val="1"/>
              <c:tx>
                <c:rich>
                  <a:bodyPr/>
                  <a:lstStyle/>
                  <a:p>
                    <a:fld id="{300B791C-0E77-49A5-B922-E728C33BEC43}" type="VALUE">
                      <a:rPr lang="en-US" smtClean="0"/>
                      <a:pPr/>
                      <a:t>[VALUE]</a:t>
                    </a:fld>
                    <a:r>
                      <a:rPr lang="en-US" baseline="50000"/>
                      <a:t>1</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E0D1-4129-85D5-04C539DD1EED}"/>
                </c:ext>
              </c:extLst>
            </c:dLbl>
            <c:dLbl>
              <c:idx val="2"/>
              <c:tx>
                <c:rich>
                  <a:bodyPr/>
                  <a:lstStyle/>
                  <a:p>
                    <a:fld id="{C87A89D5-937B-42F1-9143-64E56A5B26CA}" type="VALUE">
                      <a:rPr lang="en-US" smtClean="0"/>
                      <a:pPr/>
                      <a:t>[VALUE]</a:t>
                    </a:fld>
                    <a:r>
                      <a:rPr lang="en-US" baseline="40000"/>
                      <a:t>1</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4C2F-4B91-A220-066BECC60484}"/>
                </c:ext>
              </c:extLst>
            </c:dLbl>
            <c:dLbl>
              <c:idx val="7"/>
              <c:layout>
                <c:manualLayout>
                  <c:x val="-3.6845545504103636E-3"/>
                  <c:y val="-8.4571153428447489E-17"/>
                </c:manualLayout>
              </c:layout>
              <c:tx>
                <c:rich>
                  <a:bodyPr/>
                  <a:lstStyle/>
                  <a:p>
                    <a:fld id="{E61B8BB1-8ED6-48F3-874B-8FDE16445148}" type="VALUE">
                      <a:rPr lang="en-US" smtClean="0"/>
                      <a:pPr/>
                      <a:t>[VALUE]</a:t>
                    </a:fld>
                    <a:r>
                      <a:rPr lang="en-US" baseline="40000"/>
                      <a:t>1,3</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E0D1-4129-85D5-04C539DD1EED}"/>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Sheet1!$B$1:$J$1</c:f>
              <c:strCache>
                <c:ptCount val="9"/>
                <c:pt idx="0">
                  <c:v>Current Tier 1</c:v>
                </c:pt>
                <c:pt idx="1">
                  <c:v>Current Tier 2</c:v>
                </c:pt>
                <c:pt idx="2">
                  <c:v>Current Tier 3</c:v>
                </c:pt>
                <c:pt idx="3">
                  <c:v>Column3</c:v>
                </c:pt>
                <c:pt idx="4">
                  <c:v>Column4</c:v>
                </c:pt>
                <c:pt idx="5">
                  <c:v>Column2</c:v>
                </c:pt>
                <c:pt idx="6">
                  <c:v>Future Tier 1</c:v>
                </c:pt>
                <c:pt idx="7">
                  <c:v>Future Tier 2</c:v>
                </c:pt>
                <c:pt idx="8">
                  <c:v>Future Tier 3</c:v>
                </c:pt>
              </c:strCache>
            </c:strRef>
          </c:cat>
          <c:val>
            <c:numRef>
              <c:f>Sheet1!$B$4:$J$4</c:f>
              <c:numCache>
                <c:formatCode>0%</c:formatCode>
                <c:ptCount val="9"/>
                <c:pt idx="0">
                  <c:v>0.19</c:v>
                </c:pt>
                <c:pt idx="1">
                  <c:v>0.33</c:v>
                </c:pt>
                <c:pt idx="2">
                  <c:v>0.28000000000000003</c:v>
                </c:pt>
                <c:pt idx="6">
                  <c:v>0.15</c:v>
                </c:pt>
                <c:pt idx="7">
                  <c:v>0.26</c:v>
                </c:pt>
                <c:pt idx="8">
                  <c:v>0.16</c:v>
                </c:pt>
              </c:numCache>
            </c:numRef>
          </c:val>
          <c:extLst>
            <c:ext xmlns:c16="http://schemas.microsoft.com/office/drawing/2014/chart" uri="{C3380CC4-5D6E-409C-BE32-E72D297353CC}">
              <c16:uniqueId val="{00000007-2C2A-495A-B2E3-428A6AD8F15D}"/>
            </c:ext>
          </c:extLst>
        </c:ser>
        <c:ser>
          <c:idx val="3"/>
          <c:order val="3"/>
          <c:tx>
            <c:strRef>
              <c:f>Sheet1!$A$5</c:f>
              <c:strCache>
                <c:ptCount val="1"/>
                <c:pt idx="0">
                  <c:v>Trumenba</c:v>
                </c:pt>
              </c:strCache>
            </c:strRef>
          </c:tx>
          <c:spPr>
            <a:solidFill>
              <a:srgbClr val="009F54"/>
            </a:solidFill>
            <a:ln>
              <a:noFill/>
            </a:ln>
            <a:effectLst/>
          </c:spPr>
          <c:invertIfNegative val="0"/>
          <c:dLbls>
            <c:dLbl>
              <c:idx val="0"/>
              <c:tx>
                <c:rich>
                  <a:bodyPr/>
                  <a:lstStyle/>
                  <a:p>
                    <a:fld id="{2A0A2178-38B4-4AB6-8D16-F372A4ACB40C}" type="VALUE">
                      <a:rPr lang="en-US" smtClean="0"/>
                      <a:pPr/>
                      <a:t>[VALUE]</a:t>
                    </a:fld>
                    <a:r>
                      <a:rPr lang="en-US" baseline="50000"/>
                      <a:t>2,3</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E0D1-4129-85D5-04C539DD1EED}"/>
                </c:ext>
              </c:extLst>
            </c:dLbl>
            <c:dLbl>
              <c:idx val="1"/>
              <c:layout>
                <c:manualLayout>
                  <c:x val="7.3691091008207272E-3"/>
                  <c:y val="1.3839075883902867E-2"/>
                </c:manualLayout>
              </c:layout>
              <c:tx>
                <c:rich>
                  <a:bodyPr/>
                  <a:lstStyle/>
                  <a:p>
                    <a:fld id="{DE9E787A-C1A9-47B2-BCBC-106D89890962}" type="VALUE">
                      <a:rPr lang="en-US" smtClean="0"/>
                      <a:pPr/>
                      <a:t>[VALUE]</a:t>
                    </a:fld>
                    <a:r>
                      <a:rPr lang="en-US" sz="900">
                        <a:sym typeface="Symbol" panose="05050102010706020507" pitchFamily="18" charset="2"/>
                      </a:rPr>
                      <a:t></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4C2F-4B91-A220-066BECC60484}"/>
                </c:ext>
              </c:extLst>
            </c:dLbl>
            <c:dLbl>
              <c:idx val="2"/>
              <c:layout>
                <c:manualLayout>
                  <c:x val="-1.2281848501367878E-3"/>
                  <c:y val="1.3839075883902867E-2"/>
                </c:manualLayout>
              </c:layout>
              <c:tx>
                <c:rich>
                  <a:bodyPr/>
                  <a:lstStyle/>
                  <a:p>
                    <a:fld id="{49A51314-EEAF-47D1-BB65-538F0FC1705C}" type="VALUE">
                      <a:rPr lang="en-US" smtClean="0"/>
                      <a:pPr/>
                      <a:t>[VALUE]</a:t>
                    </a:fld>
                    <a:r>
                      <a:rPr lang="en-US" baseline="50000"/>
                      <a:t>2</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E0D1-4129-85D5-04C539DD1EED}"/>
                </c:ext>
              </c:extLst>
            </c:dLbl>
            <c:dLbl>
              <c:idx val="6"/>
              <c:tx>
                <c:rich>
                  <a:bodyPr/>
                  <a:lstStyle/>
                  <a:p>
                    <a:fld id="{8DBF60A8-E4FB-423B-B095-D168EC8DFD00}" type="VALUE">
                      <a:rPr lang="en-US" smtClean="0"/>
                      <a:pPr/>
                      <a:t>[VALUE]</a:t>
                    </a:fld>
                    <a:r>
                      <a:rPr lang="en-US" baseline="40000"/>
                      <a:t>2</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E0D1-4129-85D5-04C539DD1EED}"/>
                </c:ext>
              </c:extLst>
            </c:dLbl>
            <c:dLbl>
              <c:idx val="7"/>
              <c:layout>
                <c:manualLayout>
                  <c:x val="1.2281848501366978E-3"/>
                  <c:y val="1.3839075883902867E-2"/>
                </c:manualLayout>
              </c:layout>
              <c:tx>
                <c:rich>
                  <a:bodyPr/>
                  <a:lstStyle/>
                  <a:p>
                    <a:fld id="{C2A2F3F5-5D65-45FA-AB36-BE99705A9FB8}" type="VALUE">
                      <a:rPr lang="en-US" smtClean="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4C2F-4B91-A220-066BECC60484}"/>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Sheet1!$B$1:$J$1</c:f>
              <c:strCache>
                <c:ptCount val="9"/>
                <c:pt idx="0">
                  <c:v>Current Tier 1</c:v>
                </c:pt>
                <c:pt idx="1">
                  <c:v>Current Tier 2</c:v>
                </c:pt>
                <c:pt idx="2">
                  <c:v>Current Tier 3</c:v>
                </c:pt>
                <c:pt idx="3">
                  <c:v>Column3</c:v>
                </c:pt>
                <c:pt idx="4">
                  <c:v>Column4</c:v>
                </c:pt>
                <c:pt idx="5">
                  <c:v>Column2</c:v>
                </c:pt>
                <c:pt idx="6">
                  <c:v>Future Tier 1</c:v>
                </c:pt>
                <c:pt idx="7">
                  <c:v>Future Tier 2</c:v>
                </c:pt>
                <c:pt idx="8">
                  <c:v>Future Tier 3</c:v>
                </c:pt>
              </c:strCache>
            </c:strRef>
          </c:cat>
          <c:val>
            <c:numRef>
              <c:f>Sheet1!$B$5:$J$5</c:f>
              <c:numCache>
                <c:formatCode>0%</c:formatCode>
                <c:ptCount val="9"/>
                <c:pt idx="0">
                  <c:v>0.17</c:v>
                </c:pt>
                <c:pt idx="1">
                  <c:v>0.03</c:v>
                </c:pt>
                <c:pt idx="2">
                  <c:v>0.09</c:v>
                </c:pt>
                <c:pt idx="6">
                  <c:v>0.17</c:v>
                </c:pt>
                <c:pt idx="7">
                  <c:v>0.05</c:v>
                </c:pt>
                <c:pt idx="8">
                  <c:v>0.11</c:v>
                </c:pt>
              </c:numCache>
            </c:numRef>
          </c:val>
          <c:extLst>
            <c:ext xmlns:c16="http://schemas.microsoft.com/office/drawing/2014/chart" uri="{C3380CC4-5D6E-409C-BE32-E72D297353CC}">
              <c16:uniqueId val="{00000008-2C2A-495A-B2E3-428A6AD8F15D}"/>
            </c:ext>
          </c:extLst>
        </c:ser>
        <c:ser>
          <c:idx val="4"/>
          <c:order val="4"/>
          <c:tx>
            <c:strRef>
              <c:f>Sheet1!$A$6</c:f>
              <c:strCache>
                <c:ptCount val="1"/>
                <c:pt idx="0">
                  <c:v>Penmenvy</c:v>
                </c:pt>
              </c:strCache>
            </c:strRef>
          </c:tx>
          <c:spPr>
            <a:solidFill>
              <a:schemeClr val="accent6">
                <a:lumMod val="60000"/>
                <a:lumOff val="40000"/>
              </a:schemeClr>
            </a:solidFill>
            <a:ln>
              <a:noFill/>
            </a:ln>
            <a:effectLst/>
          </c:spPr>
          <c:invertIfNegative val="0"/>
          <c:dLbls>
            <c:dLbl>
              <c:idx val="7"/>
              <c:layout>
                <c:manualLayout>
                  <c:x val="2.4563697002735756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852-4656-9958-22DF28DDBCB3}"/>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Sheet1!$B$1:$J$1</c:f>
              <c:strCache>
                <c:ptCount val="9"/>
                <c:pt idx="0">
                  <c:v>Current Tier 1</c:v>
                </c:pt>
                <c:pt idx="1">
                  <c:v>Current Tier 2</c:v>
                </c:pt>
                <c:pt idx="2">
                  <c:v>Current Tier 3</c:v>
                </c:pt>
                <c:pt idx="3">
                  <c:v>Column3</c:v>
                </c:pt>
                <c:pt idx="4">
                  <c:v>Column4</c:v>
                </c:pt>
                <c:pt idx="5">
                  <c:v>Column2</c:v>
                </c:pt>
                <c:pt idx="6">
                  <c:v>Future Tier 1</c:v>
                </c:pt>
                <c:pt idx="7">
                  <c:v>Future Tier 2</c:v>
                </c:pt>
                <c:pt idx="8">
                  <c:v>Future Tier 3</c:v>
                </c:pt>
              </c:strCache>
            </c:strRef>
          </c:cat>
          <c:val>
            <c:numRef>
              <c:f>Sheet1!$B$6:$J$6</c:f>
              <c:numCache>
                <c:formatCode>General</c:formatCode>
                <c:ptCount val="9"/>
                <c:pt idx="6" formatCode="0%">
                  <c:v>0.03</c:v>
                </c:pt>
                <c:pt idx="7" formatCode="0%">
                  <c:v>0.04</c:v>
                </c:pt>
                <c:pt idx="8" formatCode="0%">
                  <c:v>0.03</c:v>
                </c:pt>
              </c:numCache>
            </c:numRef>
          </c:val>
          <c:extLst>
            <c:ext xmlns:c16="http://schemas.microsoft.com/office/drawing/2014/chart" uri="{C3380CC4-5D6E-409C-BE32-E72D297353CC}">
              <c16:uniqueId val="{00000009-2C2A-495A-B2E3-428A6AD8F15D}"/>
            </c:ext>
          </c:extLst>
        </c:ser>
        <c:ser>
          <c:idx val="5"/>
          <c:order val="5"/>
          <c:tx>
            <c:strRef>
              <c:f>Sheet1!$A$7</c:f>
              <c:strCache>
                <c:ptCount val="1"/>
                <c:pt idx="0">
                  <c:v>Penbraya</c:v>
                </c:pt>
              </c:strCache>
            </c:strRef>
          </c:tx>
          <c:spPr>
            <a:solidFill>
              <a:srgbClr val="937DAD"/>
            </a:solidFill>
            <a:ln>
              <a:noFill/>
            </a:ln>
            <a:effectLst/>
          </c:spPr>
          <c:invertIfNegative val="0"/>
          <c:dLbls>
            <c:dLbl>
              <c:idx val="0"/>
              <c:layout>
                <c:manualLayout>
                  <c:x val="0"/>
                  <c:y val="9.226050589268567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0D1-4129-85D5-04C539DD1EED}"/>
                </c:ext>
              </c:extLst>
            </c:dLbl>
            <c:dLbl>
              <c:idx val="1"/>
              <c:layout>
                <c:manualLayout>
                  <c:x val="-1.10536636512310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0D1-4129-85D5-04C539DD1EED}"/>
                </c:ext>
              </c:extLst>
            </c:dLbl>
            <c:dLbl>
              <c:idx val="2"/>
              <c:layout>
                <c:manualLayout>
                  <c:x val="0"/>
                  <c:y val="1.38390758839028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0D1-4129-85D5-04C539DD1EED}"/>
                </c:ext>
              </c:extLst>
            </c:dLbl>
            <c:dLbl>
              <c:idx val="6"/>
              <c:layout>
                <c:manualLayout>
                  <c:x val="-9.0065848561662908E-17"/>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8F1-4907-9FF7-A751927412A0}"/>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8F1-4907-9FF7-A751927412A0}"/>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8F1-4907-9FF7-A751927412A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Sheet1!$B$1:$J$1</c:f>
              <c:strCache>
                <c:ptCount val="9"/>
                <c:pt idx="0">
                  <c:v>Current Tier 1</c:v>
                </c:pt>
                <c:pt idx="1">
                  <c:v>Current Tier 2</c:v>
                </c:pt>
                <c:pt idx="2">
                  <c:v>Current Tier 3</c:v>
                </c:pt>
                <c:pt idx="3">
                  <c:v>Column3</c:v>
                </c:pt>
                <c:pt idx="4">
                  <c:v>Column4</c:v>
                </c:pt>
                <c:pt idx="5">
                  <c:v>Column2</c:v>
                </c:pt>
                <c:pt idx="6">
                  <c:v>Future Tier 1</c:v>
                </c:pt>
                <c:pt idx="7">
                  <c:v>Future Tier 2</c:v>
                </c:pt>
                <c:pt idx="8">
                  <c:v>Future Tier 3</c:v>
                </c:pt>
              </c:strCache>
            </c:strRef>
          </c:cat>
          <c:val>
            <c:numRef>
              <c:f>Sheet1!$B$7:$J$7</c:f>
              <c:numCache>
                <c:formatCode>0%</c:formatCode>
                <c:ptCount val="9"/>
                <c:pt idx="0">
                  <c:v>0.05</c:v>
                </c:pt>
                <c:pt idx="1">
                  <c:v>0.05</c:v>
                </c:pt>
                <c:pt idx="2">
                  <c:v>0.05</c:v>
                </c:pt>
                <c:pt idx="6">
                  <c:v>0.15</c:v>
                </c:pt>
                <c:pt idx="7">
                  <c:v>0.18</c:v>
                </c:pt>
                <c:pt idx="8">
                  <c:v>0.26</c:v>
                </c:pt>
              </c:numCache>
            </c:numRef>
          </c:val>
          <c:extLst>
            <c:ext xmlns:c16="http://schemas.microsoft.com/office/drawing/2014/chart" uri="{C3380CC4-5D6E-409C-BE32-E72D297353CC}">
              <c16:uniqueId val="{00000005-18F1-4907-9FF7-A751927412A0}"/>
            </c:ext>
          </c:extLst>
        </c:ser>
        <c:dLbls>
          <c:showLegendKey val="0"/>
          <c:showVal val="0"/>
          <c:showCatName val="0"/>
          <c:showSerName val="0"/>
          <c:showPercent val="0"/>
          <c:showBubbleSize val="0"/>
        </c:dLbls>
        <c:gapWidth val="10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0-0DFA-48B4-B327-2D9C8F4A5AC7}"/>
              </c:ext>
            </c:extLst>
          </c:dPt>
          <c:dPt>
            <c:idx val="1"/>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0DFA-48B4-B327-2D9C8F4A5AC7}"/>
              </c:ext>
            </c:extLst>
          </c:dPt>
          <c:dPt>
            <c:idx val="4"/>
            <c:invertIfNegative val="0"/>
            <c:bubble3D val="0"/>
            <c:extLst>
              <c:ext xmlns:c16="http://schemas.microsoft.com/office/drawing/2014/chart" uri="{C3380CC4-5D6E-409C-BE32-E72D297353CC}">
                <c16:uniqueId val="{00000004-0DFA-48B4-B327-2D9C8F4A5AC7}"/>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Sheet1!$B$1:$C$1</c:f>
              <c:strCache>
                <c:ptCount val="2"/>
                <c:pt idx="0">
                  <c:v>Current</c:v>
                </c:pt>
                <c:pt idx="1">
                  <c:v>Future</c:v>
                </c:pt>
              </c:strCache>
            </c:strRef>
          </c:cat>
          <c:val>
            <c:numRef>
              <c:f>Sheet1!$B$2:$C$2</c:f>
              <c:numCache>
                <c:formatCode>0%</c:formatCode>
                <c:ptCount val="2"/>
                <c:pt idx="0">
                  <c:v>0.26</c:v>
                </c:pt>
                <c:pt idx="1">
                  <c:v>0.21</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0DFA-48B4-B327-2D9C8F4A5AC7}"/>
            </c:ext>
          </c:extLst>
        </c:ser>
        <c:ser>
          <c:idx val="1"/>
          <c:order val="1"/>
          <c:tx>
            <c:strRef>
              <c:f>Sheet1!$A$3</c:f>
              <c:strCache>
                <c:ptCount val="1"/>
                <c:pt idx="0">
                  <c:v>Menveo</c:v>
                </c:pt>
              </c:strCache>
            </c:strRef>
          </c:tx>
          <c:spPr>
            <a:solidFill>
              <a:srgbClr val="D8006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Sheet1!$B$3:$C$3</c:f>
              <c:numCache>
                <c:formatCode>0%</c:formatCode>
                <c:ptCount val="2"/>
                <c:pt idx="0">
                  <c:v>0.17</c:v>
                </c:pt>
                <c:pt idx="1">
                  <c:v>0.13</c:v>
                </c:pt>
              </c:numCache>
            </c:numRef>
          </c:val>
          <c:extLst>
            <c:ext xmlns:c16="http://schemas.microsoft.com/office/drawing/2014/chart" uri="{C3380CC4-5D6E-409C-BE32-E72D297353CC}">
              <c16:uniqueId val="{00000006-0DFA-48B4-B327-2D9C8F4A5AC7}"/>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Sheet1!$B$4:$C$4</c:f>
              <c:numCache>
                <c:formatCode>0%</c:formatCode>
                <c:ptCount val="2"/>
                <c:pt idx="0">
                  <c:v>0.14000000000000001</c:v>
                </c:pt>
                <c:pt idx="1">
                  <c:v>0.11</c:v>
                </c:pt>
              </c:numCache>
            </c:numRef>
          </c:val>
          <c:extLst>
            <c:ext xmlns:c16="http://schemas.microsoft.com/office/drawing/2014/chart" uri="{C3380CC4-5D6E-409C-BE32-E72D297353CC}">
              <c16:uniqueId val="{00000007-0DFA-48B4-B327-2D9C8F4A5AC7}"/>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Sheet1!$B$5:$C$5</c:f>
              <c:numCache>
                <c:formatCode>0%</c:formatCode>
                <c:ptCount val="2"/>
                <c:pt idx="0">
                  <c:v>0.16</c:v>
                </c:pt>
                <c:pt idx="1">
                  <c:v>0.12</c:v>
                </c:pt>
              </c:numCache>
            </c:numRef>
          </c:val>
          <c:extLst>
            <c:ext xmlns:c16="http://schemas.microsoft.com/office/drawing/2014/chart" uri="{C3380CC4-5D6E-409C-BE32-E72D297353CC}">
              <c16:uniqueId val="{00000008-0DFA-48B4-B327-2D9C8F4A5AC7}"/>
            </c:ext>
          </c:extLst>
        </c:ser>
        <c:ser>
          <c:idx val="4"/>
          <c:order val="4"/>
          <c:tx>
            <c:strRef>
              <c:f>Sheet1!$A$6</c:f>
              <c:strCache>
                <c:ptCount val="1"/>
                <c:pt idx="0">
                  <c:v>Penmenvy</c:v>
                </c:pt>
              </c:strCache>
            </c:strRef>
          </c:tx>
          <c:spPr>
            <a:solidFill>
              <a:schemeClr val="accent6">
                <a:lumMod val="60000"/>
                <a:lumOff val="40000"/>
              </a:schemeClr>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DFA-48B4-B327-2D9C8F4A5AC7}"/>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Sheet1!$B$6:$C$6</c:f>
              <c:numCache>
                <c:formatCode>0%</c:formatCode>
                <c:ptCount val="2"/>
                <c:pt idx="1">
                  <c:v>0.06</c:v>
                </c:pt>
              </c:numCache>
            </c:numRef>
          </c:val>
          <c:extLst>
            <c:ext xmlns:c16="http://schemas.microsoft.com/office/drawing/2014/chart" uri="{C3380CC4-5D6E-409C-BE32-E72D297353CC}">
              <c16:uniqueId val="{0000000A-0DFA-48B4-B327-2D9C8F4A5AC7}"/>
            </c:ext>
          </c:extLst>
        </c:ser>
        <c:ser>
          <c:idx val="5"/>
          <c:order val="5"/>
          <c:tx>
            <c:strRef>
              <c:f>Sheet1!$A$7</c:f>
              <c:strCache>
                <c:ptCount val="1"/>
                <c:pt idx="0">
                  <c:v>Penbraya</c:v>
                </c:pt>
              </c:strCache>
            </c:strRef>
          </c:tx>
          <c:spPr>
            <a:solidFill>
              <a:srgbClr val="937DA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Sheet1!$B$7:$C$7</c:f>
              <c:numCache>
                <c:formatCode>0%</c:formatCode>
                <c:ptCount val="2"/>
                <c:pt idx="0">
                  <c:v>0.28000000000000003</c:v>
                </c:pt>
                <c:pt idx="1">
                  <c:v>0.39</c:v>
                </c:pt>
              </c:numCache>
            </c:numRef>
          </c:val>
          <c:extLst>
            <c:ext xmlns:c16="http://schemas.microsoft.com/office/drawing/2014/chart" uri="{C3380CC4-5D6E-409C-BE32-E72D297353CC}">
              <c16:uniqueId val="{00000003-EA3D-40B5-9777-F43B730BEBAB}"/>
            </c:ext>
          </c:extLst>
        </c:ser>
        <c:dLbls>
          <c:showLegendKey val="0"/>
          <c:showVal val="0"/>
          <c:showCatName val="0"/>
          <c:showSerName val="0"/>
          <c:showPercent val="0"/>
          <c:showBubbleSize val="0"/>
        </c:dLbls>
        <c:gapWidth val="185"/>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6A7F-43C4-B0AB-6F2BCF4AD203}"/>
              </c:ext>
            </c:extLst>
          </c:dPt>
          <c:dPt>
            <c:idx val="1"/>
            <c:invertIfNegative val="0"/>
            <c:bubble3D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6A7F-43C4-B0AB-6F2BCF4AD203}"/>
              </c:ext>
            </c:extLst>
          </c:dPt>
          <c:dPt>
            <c:idx val="4"/>
            <c:invertIfNegative val="0"/>
            <c:bubble3D val="0"/>
            <c:extLst>
              <c:ext xmlns:c16="http://schemas.microsoft.com/office/drawing/2014/chart" uri="{C3380CC4-5D6E-409C-BE32-E72D297353CC}">
                <c16:uniqueId val="{00000002-6A7F-43C4-B0AB-6F2BCF4AD203}"/>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Sheet1!$B$1:$C$1</c:f>
              <c:strCache>
                <c:ptCount val="2"/>
                <c:pt idx="0">
                  <c:v>Current</c:v>
                </c:pt>
                <c:pt idx="1">
                  <c:v>Future</c:v>
                </c:pt>
              </c:strCache>
            </c:strRef>
          </c:cat>
          <c:val>
            <c:numRef>
              <c:f>Sheet1!$B$2:$C$2</c:f>
              <c:numCache>
                <c:formatCode>0%</c:formatCode>
                <c:ptCount val="2"/>
                <c:pt idx="0">
                  <c:v>0.47</c:v>
                </c:pt>
                <c:pt idx="1">
                  <c:v>0.4</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3-6A7F-43C4-B0AB-6F2BCF4AD203}"/>
            </c:ext>
          </c:extLst>
        </c:ser>
        <c:ser>
          <c:idx val="1"/>
          <c:order val="1"/>
          <c:tx>
            <c:strRef>
              <c:f>Sheet1!$A$3</c:f>
              <c:strCache>
                <c:ptCount val="1"/>
                <c:pt idx="0">
                  <c:v>Menveo</c:v>
                </c:pt>
              </c:strCache>
            </c:strRef>
          </c:tx>
          <c:spPr>
            <a:solidFill>
              <a:srgbClr val="D8006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Sheet1!$B$3:$C$3</c:f>
              <c:numCache>
                <c:formatCode>0%</c:formatCode>
                <c:ptCount val="2"/>
                <c:pt idx="0">
                  <c:v>0.16</c:v>
                </c:pt>
                <c:pt idx="1">
                  <c:v>0.12</c:v>
                </c:pt>
              </c:numCache>
            </c:numRef>
          </c:val>
          <c:extLst>
            <c:ext xmlns:c16="http://schemas.microsoft.com/office/drawing/2014/chart" uri="{C3380CC4-5D6E-409C-BE32-E72D297353CC}">
              <c16:uniqueId val="{00000004-6A7F-43C4-B0AB-6F2BCF4AD203}"/>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Sheet1!$B$4:$C$4</c:f>
              <c:numCache>
                <c:formatCode>0%</c:formatCode>
                <c:ptCount val="2"/>
                <c:pt idx="0">
                  <c:v>0.25</c:v>
                </c:pt>
                <c:pt idx="1">
                  <c:v>0.19</c:v>
                </c:pt>
              </c:numCache>
            </c:numRef>
          </c:val>
          <c:extLst>
            <c:ext xmlns:c16="http://schemas.microsoft.com/office/drawing/2014/chart" uri="{C3380CC4-5D6E-409C-BE32-E72D297353CC}">
              <c16:uniqueId val="{00000005-6A7F-43C4-B0AB-6F2BCF4AD203}"/>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Sheet1!$B$5:$C$5</c:f>
              <c:numCache>
                <c:formatCode>0%</c:formatCode>
                <c:ptCount val="2"/>
                <c:pt idx="0">
                  <c:v>0.13</c:v>
                </c:pt>
                <c:pt idx="1">
                  <c:v>0.14000000000000001</c:v>
                </c:pt>
              </c:numCache>
            </c:numRef>
          </c:val>
          <c:extLst>
            <c:ext xmlns:c16="http://schemas.microsoft.com/office/drawing/2014/chart" uri="{C3380CC4-5D6E-409C-BE32-E72D297353CC}">
              <c16:uniqueId val="{00000006-6A7F-43C4-B0AB-6F2BCF4AD203}"/>
            </c:ext>
          </c:extLst>
        </c:ser>
        <c:ser>
          <c:idx val="4"/>
          <c:order val="4"/>
          <c:tx>
            <c:strRef>
              <c:f>Sheet1!$A$6</c:f>
              <c:strCache>
                <c:ptCount val="1"/>
                <c:pt idx="0">
                  <c:v>Penmenvy</c:v>
                </c:pt>
              </c:strCache>
            </c:strRef>
          </c:tx>
          <c:spPr>
            <a:solidFill>
              <a:schemeClr val="accent6">
                <a:lumMod val="60000"/>
                <a:lumOff val="40000"/>
              </a:schemeClr>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A7F-43C4-B0AB-6F2BCF4AD203}"/>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Sheet1!$B$6:$C$6</c:f>
              <c:numCache>
                <c:formatCode>0%</c:formatCode>
                <c:ptCount val="2"/>
                <c:pt idx="1">
                  <c:v>0.02</c:v>
                </c:pt>
              </c:numCache>
            </c:numRef>
          </c:val>
          <c:extLst>
            <c:ext xmlns:c16="http://schemas.microsoft.com/office/drawing/2014/chart" uri="{C3380CC4-5D6E-409C-BE32-E72D297353CC}">
              <c16:uniqueId val="{00000008-6A7F-43C4-B0AB-6F2BCF4AD203}"/>
            </c:ext>
          </c:extLst>
        </c:ser>
        <c:ser>
          <c:idx val="5"/>
          <c:order val="5"/>
          <c:tx>
            <c:strRef>
              <c:f>Sheet1!$A$7</c:f>
              <c:strCache>
                <c:ptCount val="1"/>
                <c:pt idx="0">
                  <c:v>Penbraya</c:v>
                </c:pt>
              </c:strCache>
            </c:strRef>
          </c:tx>
          <c:spPr>
            <a:solidFill>
              <a:srgbClr val="937DA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Sheet1!$B$1:$C$1</c:f>
              <c:strCache>
                <c:ptCount val="2"/>
                <c:pt idx="0">
                  <c:v>Current</c:v>
                </c:pt>
                <c:pt idx="1">
                  <c:v>Future</c:v>
                </c:pt>
              </c:strCache>
            </c:strRef>
          </c:cat>
          <c:val>
            <c:numRef>
              <c:f>Sheet1!$B$7:$C$7</c:f>
              <c:numCache>
                <c:formatCode>0%</c:formatCode>
                <c:ptCount val="2"/>
                <c:pt idx="1">
                  <c:v>0.13</c:v>
                </c:pt>
              </c:numCache>
            </c:numRef>
          </c:val>
          <c:extLst>
            <c:ext xmlns:c16="http://schemas.microsoft.com/office/drawing/2014/chart" uri="{C3380CC4-5D6E-409C-BE32-E72D297353CC}">
              <c16:uniqueId val="{00000003-1455-4F6F-87EB-EE7E4CE223DA}"/>
            </c:ext>
          </c:extLst>
        </c:ser>
        <c:dLbls>
          <c:showLegendKey val="0"/>
          <c:showVal val="0"/>
          <c:showCatName val="0"/>
          <c:showSerName val="0"/>
          <c:showPercent val="0"/>
          <c:showBubbleSize val="0"/>
        </c:dLbls>
        <c:gapWidth val="185"/>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0-C5DD-4CA2-80B5-3373B45BF561}"/>
              </c:ext>
            </c:extLst>
          </c:dPt>
          <c:dPt>
            <c:idx val="1"/>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C5DD-4CA2-80B5-3373B45BF561}"/>
              </c:ext>
            </c:extLst>
          </c:dPt>
          <c:dPt>
            <c:idx val="2"/>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C5DD-4CA2-80B5-3373B45BF561}"/>
              </c:ext>
            </c:extLst>
          </c:dPt>
          <c:dPt>
            <c:idx val="3"/>
            <c:invertIfNegative val="0"/>
            <c:bubble3D val="0"/>
            <c:extLst>
              <c:ext xmlns:c16="http://schemas.microsoft.com/office/drawing/2014/chart" uri="{C3380CC4-5D6E-409C-BE32-E72D297353CC}">
                <c16:uniqueId val="{00000003-C5DD-4CA2-80B5-3373B45BF561}"/>
              </c:ext>
            </c:extLst>
          </c:dPt>
          <c:dPt>
            <c:idx val="4"/>
            <c:invertIfNegative val="0"/>
            <c:bubble3D val="0"/>
            <c:extLst>
              <c:ext xmlns:c16="http://schemas.microsoft.com/office/drawing/2014/chart" uri="{C3380CC4-5D6E-409C-BE32-E72D297353CC}">
                <c16:uniqueId val="{00000004-C5DD-4CA2-80B5-3373B45BF561}"/>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Sheet1!$B$2:$E$2</c:f>
              <c:numCache>
                <c:formatCode>General</c:formatCode>
                <c:ptCount val="4"/>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C5DD-4CA2-80B5-3373B45BF561}"/>
            </c:ext>
          </c:extLst>
        </c:ser>
        <c:ser>
          <c:idx val="1"/>
          <c:order val="1"/>
          <c:tx>
            <c:strRef>
              <c:f>Sheet1!$A$3</c:f>
              <c:strCache>
                <c:ptCount val="1"/>
                <c:pt idx="0">
                  <c:v>Menveo</c:v>
                </c:pt>
              </c:strCache>
            </c:strRef>
          </c:tx>
          <c:spPr>
            <a:solidFill>
              <a:srgbClr val="D8006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Sheet1!$B$3:$E$3</c:f>
              <c:numCache>
                <c:formatCode>General</c:formatCode>
                <c:ptCount val="4"/>
              </c:numCache>
            </c:numRef>
          </c:val>
          <c:extLst>
            <c:ext xmlns:c16="http://schemas.microsoft.com/office/drawing/2014/chart" uri="{C3380CC4-5D6E-409C-BE32-E72D297353CC}">
              <c16:uniqueId val="{00000006-C5DD-4CA2-80B5-3373B45BF561}"/>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Sheet1!$B$4:$E$4</c:f>
              <c:numCache>
                <c:formatCode>General</c:formatCode>
                <c:ptCount val="4"/>
              </c:numCache>
            </c:numRef>
          </c:val>
          <c:extLst>
            <c:ext xmlns:c16="http://schemas.microsoft.com/office/drawing/2014/chart" uri="{C3380CC4-5D6E-409C-BE32-E72D297353CC}">
              <c16:uniqueId val="{00000007-C5DD-4CA2-80B5-3373B45BF561}"/>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Sheet1!$B$5:$E$5</c:f>
              <c:numCache>
                <c:formatCode>General</c:formatCode>
                <c:ptCount val="4"/>
              </c:numCache>
            </c:numRef>
          </c:val>
          <c:extLst>
            <c:ext xmlns:c16="http://schemas.microsoft.com/office/drawing/2014/chart" uri="{C3380CC4-5D6E-409C-BE32-E72D297353CC}">
              <c16:uniqueId val="{00000008-C5DD-4CA2-80B5-3373B45BF561}"/>
            </c:ext>
          </c:extLst>
        </c:ser>
        <c:ser>
          <c:idx val="4"/>
          <c:order val="4"/>
          <c:tx>
            <c:strRef>
              <c:f>Sheet1!$A$6</c:f>
              <c:strCache>
                <c:ptCount val="1"/>
                <c:pt idx="0">
                  <c:v>Penmenvy</c:v>
                </c:pt>
              </c:strCache>
            </c:strRef>
          </c:tx>
          <c:spPr>
            <a:solidFill>
              <a:schemeClr val="accent6"/>
            </a:solidFill>
            <a:ln>
              <a:noFill/>
            </a:ln>
            <a:effectLst/>
          </c:spPr>
          <c:invertIfNegative val="0"/>
          <c:dLbls>
            <c:dLbl>
              <c:idx val="0"/>
              <c:layout>
                <c:manualLayout>
                  <c:x val="7.0002979260652784E-2"/>
                  <c:y val="-5.2843208610845384E-18"/>
                </c:manualLayout>
              </c:layout>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rgbClr val="937DAD"/>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5DD-4CA2-80B5-3373B45BF561}"/>
                </c:ext>
              </c:extLst>
            </c:dLbl>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Current</c:v>
                </c:pt>
                <c:pt idx="1">
                  <c:v>Column3</c:v>
                </c:pt>
                <c:pt idx="2">
                  <c:v>Column2</c:v>
                </c:pt>
                <c:pt idx="3">
                  <c:v>Future</c:v>
                </c:pt>
              </c:strCache>
            </c:strRef>
          </c:cat>
          <c:val>
            <c:numRef>
              <c:f>Sheet1!$B$6:$E$6</c:f>
              <c:numCache>
                <c:formatCode>General</c:formatCode>
                <c:ptCount val="4"/>
              </c:numCache>
            </c:numRef>
          </c:val>
          <c:extLst>
            <c:ext xmlns:c16="http://schemas.microsoft.com/office/drawing/2014/chart" uri="{C3380CC4-5D6E-409C-BE32-E72D297353CC}">
              <c16:uniqueId val="{0000000A-C5DD-4CA2-80B5-3373B45BF561}"/>
            </c:ext>
          </c:extLst>
        </c:ser>
        <c:ser>
          <c:idx val="5"/>
          <c:order val="5"/>
          <c:tx>
            <c:strRef>
              <c:f>Sheet1!$A$7</c:f>
              <c:strCache>
                <c:ptCount val="1"/>
                <c:pt idx="0">
                  <c:v>Penbraya</c:v>
                </c:pt>
              </c:strCache>
            </c:strRef>
          </c:tx>
          <c:spPr>
            <a:solidFill>
              <a:srgbClr val="937DAD"/>
            </a:solidFill>
            <a:ln>
              <a:noFill/>
            </a:ln>
            <a:effectLst/>
          </c:spPr>
          <c:invertIfNegative val="0"/>
          <c:cat>
            <c:strRef>
              <c:f>Sheet1!$B$1:$E$1</c:f>
              <c:strCache>
                <c:ptCount val="4"/>
                <c:pt idx="0">
                  <c:v>Current</c:v>
                </c:pt>
                <c:pt idx="1">
                  <c:v>Column3</c:v>
                </c:pt>
                <c:pt idx="2">
                  <c:v>Column2</c:v>
                </c:pt>
                <c:pt idx="3">
                  <c:v>Future</c:v>
                </c:pt>
              </c:strCache>
            </c:strRef>
          </c:cat>
          <c:val>
            <c:numRef>
              <c:f>Sheet1!$B$7:$E$7</c:f>
              <c:numCache>
                <c:formatCode>General</c:formatCode>
                <c:ptCount val="4"/>
              </c:numCache>
            </c:numRef>
          </c:val>
          <c:extLst>
            <c:ext xmlns:c16="http://schemas.microsoft.com/office/drawing/2014/chart" uri="{C3380CC4-5D6E-409C-BE32-E72D297353CC}">
              <c16:uniqueId val="{00000005-89FC-4070-BC6D-DE50261BBB1F}"/>
            </c:ext>
          </c:extLst>
        </c:ser>
        <c:dLbls>
          <c:showLegendKey val="0"/>
          <c:showVal val="0"/>
          <c:showCatName val="0"/>
          <c:showSerName val="0"/>
          <c:showPercent val="0"/>
          <c:showBubbleSize val="0"/>
        </c:dLbls>
        <c:gapWidth val="15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legend>
      <c:legendPos val="l"/>
      <c:layout>
        <c:manualLayout>
          <c:xMode val="edge"/>
          <c:yMode val="edge"/>
          <c:x val="0"/>
          <c:y val="3.2263523266653125E-2"/>
          <c:w val="0.97055027080526768"/>
          <c:h val="0.9612009518687797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6688409664986909E-2"/>
          <c:y val="4.9832693595348213E-2"/>
          <c:w val="0.90201825129409785"/>
          <c:h val="0.92794647260774987"/>
        </c:manualLayout>
      </c:layout>
      <c:barChart>
        <c:barDir val="bar"/>
        <c:grouping val="clustered"/>
        <c:varyColors val="0"/>
        <c:ser>
          <c:idx val="0"/>
          <c:order val="0"/>
          <c:tx>
            <c:strRef>
              <c:f>Sheet1!$B$1</c:f>
              <c:strCache>
                <c:ptCount val="1"/>
                <c:pt idx="0">
                  <c:v>Total</c:v>
                </c:pt>
              </c:strCache>
            </c:strRef>
          </c:tx>
          <c:spPr>
            <a:solidFill>
              <a:schemeClr val="accent3"/>
            </a:solidFill>
            <a:ln>
              <a:noFill/>
            </a:ln>
            <a:effectLst/>
          </c:spPr>
          <c:invertIfNegative val="0"/>
          <c:dPt>
            <c:idx val="1"/>
            <c:invertIfNegative val="0"/>
            <c:bubble3D val="0"/>
            <c:spPr>
              <a:solidFill>
                <a:schemeClr val="accent3"/>
              </a:solidFill>
              <a:ln>
                <a:noFill/>
              </a:ln>
              <a:effectLst/>
            </c:spPr>
            <c:extLst>
              <c:ext xmlns:c16="http://schemas.microsoft.com/office/drawing/2014/chart" uri="{C3380CC4-5D6E-409C-BE32-E72D297353CC}">
                <c16:uniqueId val="{00000001-F252-437D-8478-D1AA6417CFCA}"/>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3-F252-437D-8478-D1AA6417CFCA}"/>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5-F252-437D-8478-D1AA6417CFCA}"/>
              </c:ext>
            </c:extLst>
          </c:dPt>
          <c:dPt>
            <c:idx val="4"/>
            <c:invertIfNegative val="0"/>
            <c:bubble3D val="0"/>
            <c:spPr>
              <a:solidFill>
                <a:schemeClr val="accent3"/>
              </a:solidFill>
              <a:ln>
                <a:noFill/>
              </a:ln>
              <a:effectLst/>
            </c:spPr>
            <c:extLst>
              <c:ext xmlns:c16="http://schemas.microsoft.com/office/drawing/2014/chart" uri="{C3380CC4-5D6E-409C-BE32-E72D297353CC}">
                <c16:uniqueId val="{00000007-F252-437D-8478-D1AA6417CFCA}"/>
              </c:ext>
            </c:extLst>
          </c:dPt>
          <c:dPt>
            <c:idx val="5"/>
            <c:invertIfNegative val="0"/>
            <c:bubble3D val="0"/>
            <c:spPr>
              <a:solidFill>
                <a:schemeClr val="accent3"/>
              </a:solidFill>
              <a:ln>
                <a:noFill/>
              </a:ln>
              <a:effectLst/>
            </c:spPr>
            <c:extLst>
              <c:ext xmlns:c16="http://schemas.microsoft.com/office/drawing/2014/chart" uri="{C3380CC4-5D6E-409C-BE32-E72D297353CC}">
                <c16:uniqueId val="{00000009-F252-437D-8478-D1AA6417CFCA}"/>
              </c:ext>
            </c:extLst>
          </c:dPt>
          <c:dPt>
            <c:idx val="6"/>
            <c:invertIfNegative val="0"/>
            <c:bubble3D val="0"/>
            <c:spPr>
              <a:solidFill>
                <a:schemeClr val="accent3"/>
              </a:solidFill>
              <a:ln>
                <a:noFill/>
              </a:ln>
              <a:effectLst/>
            </c:spPr>
            <c:extLst>
              <c:ext xmlns:c16="http://schemas.microsoft.com/office/drawing/2014/chart" uri="{C3380CC4-5D6E-409C-BE32-E72D297353CC}">
                <c16:uniqueId val="{0000000B-F252-437D-8478-D1AA6417CFCA}"/>
              </c:ext>
            </c:extLst>
          </c:dPt>
          <c:dPt>
            <c:idx val="7"/>
            <c:invertIfNegative val="0"/>
            <c:bubble3D val="0"/>
            <c:spPr>
              <a:solidFill>
                <a:schemeClr val="accent3"/>
              </a:solidFill>
              <a:ln>
                <a:noFill/>
              </a:ln>
              <a:effectLst/>
            </c:spPr>
            <c:extLst>
              <c:ext xmlns:c16="http://schemas.microsoft.com/office/drawing/2014/chart" uri="{C3380CC4-5D6E-409C-BE32-E72D297353CC}">
                <c16:uniqueId val="{0000000D-F252-437D-8478-D1AA6417CFCA}"/>
              </c:ext>
            </c:extLst>
          </c:dPt>
          <c:dPt>
            <c:idx val="8"/>
            <c:invertIfNegative val="0"/>
            <c:bubble3D val="0"/>
            <c:spPr>
              <a:solidFill>
                <a:schemeClr val="accent3"/>
              </a:solidFill>
              <a:ln>
                <a:noFill/>
              </a:ln>
              <a:effectLst/>
            </c:spPr>
            <c:extLst>
              <c:ext xmlns:c16="http://schemas.microsoft.com/office/drawing/2014/chart" uri="{C3380CC4-5D6E-409C-BE32-E72D297353CC}">
                <c16:uniqueId val="{0000000F-F252-437D-8478-D1AA6417CFCA}"/>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1-F252-437D-8478-D1AA6417CFCA}"/>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3-F252-437D-8478-D1AA6417CFCA}"/>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5-F252-437D-8478-D1AA6417CFCA}"/>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7-F252-437D-8478-D1AA6417CFCA}"/>
              </c:ext>
            </c:extLst>
          </c:dPt>
          <c:dPt>
            <c:idx val="13"/>
            <c:invertIfNegative val="0"/>
            <c:bubble3D val="0"/>
            <c:spPr>
              <a:solidFill>
                <a:schemeClr val="accent3"/>
              </a:solidFill>
              <a:ln>
                <a:noFill/>
              </a:ln>
              <a:effectLst/>
            </c:spPr>
            <c:extLst>
              <c:ext xmlns:c16="http://schemas.microsoft.com/office/drawing/2014/chart" uri="{C3380CC4-5D6E-409C-BE32-E72D297353CC}">
                <c16:uniqueId val="{00000019-F252-437D-8478-D1AA6417CFCA}"/>
              </c:ext>
            </c:extLst>
          </c:dPt>
          <c:dPt>
            <c:idx val="14"/>
            <c:invertIfNegative val="0"/>
            <c:bubble3D val="0"/>
            <c:spPr>
              <a:solidFill>
                <a:schemeClr val="accent3"/>
              </a:solidFill>
              <a:ln>
                <a:noFill/>
              </a:ln>
              <a:effectLst/>
            </c:spPr>
            <c:extLst>
              <c:ext xmlns:c16="http://schemas.microsoft.com/office/drawing/2014/chart" uri="{C3380CC4-5D6E-409C-BE32-E72D297353CC}">
                <c16:uniqueId val="{0000001B-F252-437D-8478-D1AA6417CFCA}"/>
              </c:ext>
            </c:extLst>
          </c:dPt>
          <c:dPt>
            <c:idx val="15"/>
            <c:invertIfNegative val="0"/>
            <c:bubble3D val="0"/>
            <c:spPr>
              <a:solidFill>
                <a:schemeClr val="accent3"/>
              </a:solidFill>
              <a:ln>
                <a:noFill/>
              </a:ln>
              <a:effectLst/>
            </c:spPr>
            <c:extLst>
              <c:ext xmlns:c16="http://schemas.microsoft.com/office/drawing/2014/chart" uri="{C3380CC4-5D6E-409C-BE32-E72D297353CC}">
                <c16:uniqueId val="{0000001D-F252-437D-8478-D1AA6417CFCA}"/>
              </c:ext>
            </c:extLst>
          </c:dPt>
          <c:dPt>
            <c:idx val="16"/>
            <c:invertIfNegative val="0"/>
            <c:bubble3D val="0"/>
            <c:spPr>
              <a:solidFill>
                <a:schemeClr val="accent3"/>
              </a:solidFill>
              <a:ln>
                <a:noFill/>
              </a:ln>
              <a:effectLst/>
            </c:spPr>
            <c:extLst>
              <c:ext xmlns:c16="http://schemas.microsoft.com/office/drawing/2014/chart" uri="{C3380CC4-5D6E-409C-BE32-E72D297353CC}">
                <c16:uniqueId val="{0000001F-F252-437D-8478-D1AA6417CFCA}"/>
              </c:ext>
            </c:extLst>
          </c:dPt>
          <c:dPt>
            <c:idx val="19"/>
            <c:invertIfNegative val="0"/>
            <c:bubble3D val="0"/>
            <c:spPr>
              <a:solidFill>
                <a:schemeClr val="accent3"/>
              </a:solidFill>
              <a:ln>
                <a:noFill/>
              </a:ln>
              <a:effectLst/>
            </c:spPr>
            <c:extLst>
              <c:ext xmlns:c16="http://schemas.microsoft.com/office/drawing/2014/chart" uri="{C3380CC4-5D6E-409C-BE32-E72D297353CC}">
                <c16:uniqueId val="{00000021-F252-437D-8478-D1AA6417CFCA}"/>
              </c:ext>
            </c:extLst>
          </c:dPt>
          <c:dPt>
            <c:idx val="20"/>
            <c:invertIfNegative val="0"/>
            <c:bubble3D val="0"/>
            <c:spPr>
              <a:solidFill>
                <a:schemeClr val="accent3"/>
              </a:solidFill>
              <a:ln>
                <a:noFill/>
              </a:ln>
              <a:effectLst/>
            </c:spPr>
            <c:extLst>
              <c:ext xmlns:c16="http://schemas.microsoft.com/office/drawing/2014/chart" uri="{C3380CC4-5D6E-409C-BE32-E72D297353CC}">
                <c16:uniqueId val="{00000023-F252-437D-8478-D1AA6417CFCA}"/>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ACIP recco requires stocking multiple Vx brands (up to 3) which brings added operational complexity</c:v>
                </c:pt>
                <c:pt idx="1">
                  <c:v>ACIP recco requires stocking multiple Vx brands (up to 3) which may increase initial inventory carrying costs</c:v>
                </c:pt>
                <c:pt idx="2">
                  <c:v>Need to train staff on reconstitution process for Penbraya</c:v>
                </c:pt>
                <c:pt idx="3">
                  <c:v>Need to train staff on Penbraya Vx schedule</c:v>
                </c:pt>
                <c:pt idx="4">
                  <c:v>Stocking Pfizer’s Pentavalent requires the need to stock Trumenba</c:v>
                </c:pt>
                <c:pt idx="5">
                  <c:v>Increased risk of provider confusion as to which meningococcal Vx to administer [Non-Stockers]</c:v>
                </c:pt>
                <c:pt idx="6">
                  <c:v>Having to administer Trumenba 6 months after patient receives Penbraya</c:v>
                </c:pt>
                <c:pt idx="7">
                  <c:v>Changes to existing and long-standing supplier contracts/relationships</c:v>
                </c:pt>
                <c:pt idx="8">
                  <c:v>Losing rebates/discounts for Vx brands my practice originally stocked</c:v>
                </c:pt>
                <c:pt idx="9">
                  <c:v>Higher discount or more favorable contract terms on competitor vs. Pfizer vaccines</c:v>
                </c:pt>
                <c:pt idx="10">
                  <c:v>Lack of refrigerator storage space</c:v>
                </c:pt>
                <c:pt idx="11">
                  <c:v>Difficulty scheduling patients for second/booster dose</c:v>
                </c:pt>
                <c:pt idx="12">
                  <c:v>Increased difficulty measuring market share performance under performance-based Vx discount contracts</c:v>
                </c:pt>
                <c:pt idx="13">
                  <c:v>Difficulty in scheduling patients for initial/first dose</c:v>
                </c:pt>
                <c:pt idx="14">
                  <c:v>Vaccine package size</c:v>
                </c:pt>
              </c:strCache>
            </c:strRef>
          </c:cat>
          <c:val>
            <c:numRef>
              <c:f>Sheet1!$B$2:$B$16</c:f>
              <c:numCache>
                <c:formatCode>0%</c:formatCode>
                <c:ptCount val="15"/>
                <c:pt idx="0">
                  <c:v>0.57999999999999996</c:v>
                </c:pt>
                <c:pt idx="1">
                  <c:v>0.5</c:v>
                </c:pt>
                <c:pt idx="2">
                  <c:v>0.45</c:v>
                </c:pt>
                <c:pt idx="3">
                  <c:v>0.44</c:v>
                </c:pt>
                <c:pt idx="4">
                  <c:v>0.41</c:v>
                </c:pt>
                <c:pt idx="5">
                  <c:v>0.4</c:v>
                </c:pt>
                <c:pt idx="6">
                  <c:v>0.35</c:v>
                </c:pt>
                <c:pt idx="7">
                  <c:v>0.35</c:v>
                </c:pt>
                <c:pt idx="8">
                  <c:v>0.34</c:v>
                </c:pt>
                <c:pt idx="9">
                  <c:v>0.28000000000000003</c:v>
                </c:pt>
                <c:pt idx="10">
                  <c:v>0.25</c:v>
                </c:pt>
                <c:pt idx="11">
                  <c:v>0.19</c:v>
                </c:pt>
                <c:pt idx="12">
                  <c:v>0.14000000000000001</c:v>
                </c:pt>
                <c:pt idx="13">
                  <c:v>0.08</c:v>
                </c:pt>
                <c:pt idx="14">
                  <c:v>7.0000000000000007E-2</c:v>
                </c:pt>
              </c:numCache>
            </c:numRef>
          </c:val>
          <c:extLst>
            <c:ext xmlns:c16="http://schemas.microsoft.com/office/drawing/2014/chart" uri="{C3380CC4-5D6E-409C-BE32-E72D297353CC}">
              <c16:uniqueId val="{00000027-F252-437D-8478-D1AA6417CFCA}"/>
            </c:ext>
          </c:extLst>
        </c:ser>
        <c:dLbls>
          <c:dLblPos val="outEnd"/>
          <c:showLegendKey val="0"/>
          <c:showVal val="1"/>
          <c:showCatName val="0"/>
          <c:showSerName val="0"/>
          <c:showPercent val="0"/>
          <c:showBubbleSize val="0"/>
        </c:dLbls>
        <c:gapWidth val="100"/>
        <c:axId val="1544824944"/>
        <c:axId val="1544829264"/>
      </c:barChart>
      <c:catAx>
        <c:axId val="1544824944"/>
        <c:scaling>
          <c:orientation val="maxMin"/>
        </c:scaling>
        <c:delete val="1"/>
        <c:axPos val="l"/>
        <c:numFmt formatCode="General" sourceLinked="1"/>
        <c:majorTickMark val="none"/>
        <c:minorTickMark val="none"/>
        <c:tickLblPos val="nextTo"/>
        <c:crossAx val="1544829264"/>
        <c:crosses val="autoZero"/>
        <c:auto val="1"/>
        <c:lblAlgn val="ctr"/>
        <c:lblOffset val="100"/>
        <c:noMultiLvlLbl val="0"/>
      </c:catAx>
      <c:valAx>
        <c:axId val="1544829264"/>
        <c:scaling>
          <c:orientation val="minMax"/>
          <c:max val="1"/>
        </c:scaling>
        <c:delete val="1"/>
        <c:axPos val="t"/>
        <c:numFmt formatCode="0%" sourceLinked="1"/>
        <c:majorTickMark val="none"/>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803899461301079"/>
          <c:y val="4.9832537054763607E-2"/>
          <c:w val="0.60933217411429064"/>
          <c:h val="0.92794647260774987"/>
        </c:manualLayout>
      </c:layout>
      <c:barChart>
        <c:barDir val="bar"/>
        <c:grouping val="clustered"/>
        <c:varyColors val="0"/>
        <c:ser>
          <c:idx val="0"/>
          <c:order val="0"/>
          <c:tx>
            <c:strRef>
              <c:f>Sheet1!$B$1</c:f>
              <c:strCache>
                <c:ptCount val="1"/>
                <c:pt idx="0">
                  <c:v>Sep'25</c:v>
                </c:pt>
              </c:strCache>
            </c:strRef>
          </c:tx>
          <c:spPr>
            <a:solidFill>
              <a:schemeClr val="accent3"/>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24-24B0-4D6B-A3C3-48BA48BB9163}"/>
              </c:ext>
            </c:extLst>
          </c:dPt>
          <c:dPt>
            <c:idx val="1"/>
            <c:invertIfNegative val="0"/>
            <c:bubble3D val="0"/>
            <c:spPr>
              <a:solidFill>
                <a:srgbClr val="937DAD"/>
              </a:solidFill>
              <a:ln>
                <a:noFill/>
              </a:ln>
              <a:effectLst/>
            </c:spPr>
            <c:extLst>
              <c:ext xmlns:c16="http://schemas.microsoft.com/office/drawing/2014/chart" uri="{C3380CC4-5D6E-409C-BE32-E72D297353CC}">
                <c16:uniqueId val="{00000001-7FCE-428D-A91B-3F9EED24DF3B}"/>
              </c:ext>
            </c:extLst>
          </c:dPt>
          <c:dPt>
            <c:idx val="2"/>
            <c:invertIfNegative val="0"/>
            <c:bubble3D val="0"/>
            <c:spPr>
              <a:solidFill>
                <a:srgbClr val="D80065"/>
              </a:solidFill>
              <a:ln>
                <a:noFill/>
              </a:ln>
              <a:effectLst/>
            </c:spPr>
            <c:extLst>
              <c:ext xmlns:c16="http://schemas.microsoft.com/office/drawing/2014/chart" uri="{C3380CC4-5D6E-409C-BE32-E72D297353CC}">
                <c16:uniqueId val="{00000003-7FCE-428D-A91B-3F9EED24DF3B}"/>
              </c:ext>
            </c:extLst>
          </c:dPt>
          <c:dPt>
            <c:idx val="3"/>
            <c:invertIfNegative val="0"/>
            <c:bubble3D val="0"/>
            <c:spPr>
              <a:solidFill>
                <a:srgbClr val="6F002C"/>
              </a:solidFill>
              <a:ln>
                <a:noFill/>
              </a:ln>
              <a:effectLst/>
            </c:spPr>
            <c:extLst>
              <c:ext xmlns:c16="http://schemas.microsoft.com/office/drawing/2014/chart" uri="{C3380CC4-5D6E-409C-BE32-E72D297353CC}">
                <c16:uniqueId val="{00000005-7FCE-428D-A91B-3F9EED24DF3B}"/>
              </c:ext>
            </c:extLst>
          </c:dPt>
          <c:dPt>
            <c:idx val="4"/>
            <c:invertIfNegative val="0"/>
            <c:bubble3D val="0"/>
            <c:spPr>
              <a:solidFill>
                <a:srgbClr val="00B050"/>
              </a:solidFill>
              <a:ln>
                <a:noFill/>
              </a:ln>
              <a:effectLst/>
            </c:spPr>
            <c:extLst>
              <c:ext xmlns:c16="http://schemas.microsoft.com/office/drawing/2014/chart" uri="{C3380CC4-5D6E-409C-BE32-E72D297353CC}">
                <c16:uniqueId val="{00000007-7FCE-428D-A91B-3F9EED24DF3B}"/>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9-7FCE-428D-A91B-3F9EED24DF3B}"/>
              </c:ext>
            </c:extLst>
          </c:dPt>
          <c:dPt>
            <c:idx val="6"/>
            <c:invertIfNegative val="0"/>
            <c:bubble3D val="0"/>
            <c:spPr>
              <a:solidFill>
                <a:schemeClr val="accent3"/>
              </a:solidFill>
              <a:ln>
                <a:noFill/>
              </a:ln>
              <a:effectLst/>
            </c:spPr>
            <c:extLst>
              <c:ext xmlns:c16="http://schemas.microsoft.com/office/drawing/2014/chart" uri="{C3380CC4-5D6E-409C-BE32-E72D297353CC}">
                <c16:uniqueId val="{0000000B-7FCE-428D-A91B-3F9EED24DF3B}"/>
              </c:ext>
            </c:extLst>
          </c:dPt>
          <c:dPt>
            <c:idx val="7"/>
            <c:invertIfNegative val="0"/>
            <c:bubble3D val="0"/>
            <c:spPr>
              <a:solidFill>
                <a:schemeClr val="accent3"/>
              </a:solidFill>
              <a:ln>
                <a:noFill/>
              </a:ln>
              <a:effectLst/>
            </c:spPr>
            <c:extLst>
              <c:ext xmlns:c16="http://schemas.microsoft.com/office/drawing/2014/chart" uri="{C3380CC4-5D6E-409C-BE32-E72D297353CC}">
                <c16:uniqueId val="{0000000D-7FCE-428D-A91B-3F9EED24DF3B}"/>
              </c:ext>
            </c:extLst>
          </c:dPt>
          <c:dPt>
            <c:idx val="8"/>
            <c:invertIfNegative val="0"/>
            <c:bubble3D val="0"/>
            <c:spPr>
              <a:solidFill>
                <a:schemeClr val="accent3"/>
              </a:solidFill>
              <a:ln>
                <a:noFill/>
              </a:ln>
              <a:effectLst/>
            </c:spPr>
            <c:extLst>
              <c:ext xmlns:c16="http://schemas.microsoft.com/office/drawing/2014/chart" uri="{C3380CC4-5D6E-409C-BE32-E72D297353CC}">
                <c16:uniqueId val="{0000000F-7FCE-428D-A91B-3F9EED24DF3B}"/>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1-7FCE-428D-A91B-3F9EED24DF3B}"/>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3-7FCE-428D-A91B-3F9EED24DF3B}"/>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5-7FCE-428D-A91B-3F9EED24DF3B}"/>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7-7FCE-428D-A91B-3F9EED24DF3B}"/>
              </c:ext>
            </c:extLst>
          </c:dPt>
          <c:dPt>
            <c:idx val="13"/>
            <c:invertIfNegative val="0"/>
            <c:bubble3D val="0"/>
            <c:spPr>
              <a:solidFill>
                <a:schemeClr val="accent3"/>
              </a:solidFill>
              <a:ln>
                <a:noFill/>
              </a:ln>
              <a:effectLst/>
            </c:spPr>
            <c:extLst>
              <c:ext xmlns:c16="http://schemas.microsoft.com/office/drawing/2014/chart" uri="{C3380CC4-5D6E-409C-BE32-E72D297353CC}">
                <c16:uniqueId val="{00000019-7FCE-428D-A91B-3F9EED24DF3B}"/>
              </c:ext>
            </c:extLst>
          </c:dPt>
          <c:dPt>
            <c:idx val="14"/>
            <c:invertIfNegative val="0"/>
            <c:bubble3D val="0"/>
            <c:spPr>
              <a:solidFill>
                <a:schemeClr val="accent3"/>
              </a:solidFill>
              <a:ln>
                <a:noFill/>
              </a:ln>
              <a:effectLst/>
            </c:spPr>
            <c:extLst>
              <c:ext xmlns:c16="http://schemas.microsoft.com/office/drawing/2014/chart" uri="{C3380CC4-5D6E-409C-BE32-E72D297353CC}">
                <c16:uniqueId val="{0000001B-7FCE-428D-A91B-3F9EED24DF3B}"/>
              </c:ext>
            </c:extLst>
          </c:dPt>
          <c:dPt>
            <c:idx val="15"/>
            <c:invertIfNegative val="0"/>
            <c:bubble3D val="0"/>
            <c:spPr>
              <a:solidFill>
                <a:schemeClr val="accent3"/>
              </a:solidFill>
              <a:ln>
                <a:noFill/>
              </a:ln>
              <a:effectLst/>
            </c:spPr>
            <c:extLst>
              <c:ext xmlns:c16="http://schemas.microsoft.com/office/drawing/2014/chart" uri="{C3380CC4-5D6E-409C-BE32-E72D297353CC}">
                <c16:uniqueId val="{0000001D-7FCE-428D-A91B-3F9EED24DF3B}"/>
              </c:ext>
            </c:extLst>
          </c:dPt>
          <c:dPt>
            <c:idx val="16"/>
            <c:invertIfNegative val="0"/>
            <c:bubble3D val="0"/>
            <c:spPr>
              <a:solidFill>
                <a:schemeClr val="accent3"/>
              </a:solidFill>
              <a:ln>
                <a:noFill/>
              </a:ln>
              <a:effectLst/>
            </c:spPr>
            <c:extLst>
              <c:ext xmlns:c16="http://schemas.microsoft.com/office/drawing/2014/chart" uri="{C3380CC4-5D6E-409C-BE32-E72D297353CC}">
                <c16:uniqueId val="{0000001F-7FCE-428D-A91B-3F9EED24DF3B}"/>
              </c:ext>
            </c:extLst>
          </c:dPt>
          <c:dPt>
            <c:idx val="19"/>
            <c:invertIfNegative val="0"/>
            <c:bubble3D val="0"/>
            <c:spPr>
              <a:solidFill>
                <a:schemeClr val="accent3"/>
              </a:solidFill>
              <a:ln>
                <a:noFill/>
              </a:ln>
              <a:effectLst/>
            </c:spPr>
            <c:extLst>
              <c:ext xmlns:c16="http://schemas.microsoft.com/office/drawing/2014/chart" uri="{C3380CC4-5D6E-409C-BE32-E72D297353CC}">
                <c16:uniqueId val="{00000021-7FCE-428D-A91B-3F9EED24DF3B}"/>
              </c:ext>
            </c:extLst>
          </c:dPt>
          <c:dPt>
            <c:idx val="20"/>
            <c:invertIfNegative val="0"/>
            <c:bubble3D val="0"/>
            <c:spPr>
              <a:solidFill>
                <a:schemeClr val="accent3"/>
              </a:solidFill>
              <a:ln>
                <a:noFill/>
              </a:ln>
              <a:effectLst/>
            </c:spPr>
            <c:extLst>
              <c:ext xmlns:c16="http://schemas.microsoft.com/office/drawing/2014/chart" uri="{C3380CC4-5D6E-409C-BE32-E72D297353CC}">
                <c16:uniqueId val="{00000023-7FCE-428D-A91B-3F9EED24DF3B}"/>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None of the above</c:v>
                </c:pt>
                <c:pt idx="1">
                  <c:v>Penbraya</c:v>
                </c:pt>
                <c:pt idx="2">
                  <c:v>Menveo</c:v>
                </c:pt>
                <c:pt idx="3">
                  <c:v>Bexsero</c:v>
                </c:pt>
                <c:pt idx="4">
                  <c:v>Trumenba</c:v>
                </c:pt>
                <c:pt idx="5">
                  <c:v>MenQuadfi</c:v>
                </c:pt>
              </c:strCache>
            </c:strRef>
          </c:cat>
          <c:val>
            <c:numRef>
              <c:f>Sheet1!$B$2:$B$7</c:f>
              <c:numCache>
                <c:formatCode>0%</c:formatCode>
                <c:ptCount val="6"/>
                <c:pt idx="0">
                  <c:v>0.77</c:v>
                </c:pt>
                <c:pt idx="1">
                  <c:v>0.06</c:v>
                </c:pt>
                <c:pt idx="2">
                  <c:v>0.08</c:v>
                </c:pt>
                <c:pt idx="3">
                  <c:v>0.1</c:v>
                </c:pt>
                <c:pt idx="4">
                  <c:v>0.12</c:v>
                </c:pt>
                <c:pt idx="5">
                  <c:v>0.14000000000000001</c:v>
                </c:pt>
              </c:numCache>
            </c:numRef>
          </c:val>
          <c:extLst>
            <c:ext xmlns:c16="http://schemas.microsoft.com/office/drawing/2014/chart" uri="{C3380CC4-5D6E-409C-BE32-E72D297353CC}">
              <c16:uniqueId val="{00000024-7FCE-428D-A91B-3F9EED24DF3B}"/>
            </c:ext>
          </c:extLst>
        </c:ser>
        <c:dLbls>
          <c:dLblPos val="outEnd"/>
          <c:showLegendKey val="0"/>
          <c:showVal val="1"/>
          <c:showCatName val="0"/>
          <c:showSerName val="0"/>
          <c:showPercent val="0"/>
          <c:showBubbleSize val="0"/>
        </c:dLbls>
        <c:gapWidth val="125"/>
        <c:axId val="1544824944"/>
        <c:axId val="1544829264"/>
      </c:barChart>
      <c:catAx>
        <c:axId val="1544824944"/>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400" b="0" i="0" u="none" strike="noStrike" kern="1200" baseline="0">
                <a:solidFill>
                  <a:schemeClr val="tx1"/>
                </a:solidFill>
                <a:latin typeface="+mn-lt"/>
                <a:ea typeface="+mn-ea"/>
                <a:cs typeface="+mn-cs"/>
              </a:defRPr>
            </a:pPr>
            <a:endParaRPr lang="en-US"/>
          </a:p>
        </c:txPr>
        <c:crossAx val="1544829264"/>
        <c:crosses val="autoZero"/>
        <c:auto val="1"/>
        <c:lblAlgn val="ctr"/>
        <c:lblOffset val="100"/>
        <c:noMultiLvlLbl val="0"/>
      </c:catAx>
      <c:valAx>
        <c:axId val="1544829264"/>
        <c:scaling>
          <c:orientation val="minMax"/>
          <c:max val="1"/>
        </c:scaling>
        <c:delete val="1"/>
        <c:axPos val="b"/>
        <c:numFmt formatCode="0%" sourceLinked="1"/>
        <c:majorTickMark val="out"/>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6233008196596178"/>
          <c:y val="4.9832537054763607E-2"/>
          <c:w val="0.52504100067986015"/>
          <c:h val="0.92794647260774987"/>
        </c:manualLayout>
      </c:layout>
      <c:barChart>
        <c:barDir val="bar"/>
        <c:grouping val="clustered"/>
        <c:varyColors val="0"/>
        <c:ser>
          <c:idx val="0"/>
          <c:order val="0"/>
          <c:tx>
            <c:strRef>
              <c:f>Sheet1!$B$1</c:f>
              <c:strCache>
                <c:ptCount val="1"/>
                <c:pt idx="0">
                  <c:v>Sep'25</c:v>
                </c:pt>
              </c:strCache>
            </c:strRef>
          </c:tx>
          <c:spPr>
            <a:solidFill>
              <a:schemeClr val="accent3"/>
            </a:solidFill>
            <a:ln>
              <a:noFill/>
            </a:ln>
            <a:effectLst/>
          </c:spPr>
          <c:invertIfNegative val="0"/>
          <c:dPt>
            <c:idx val="0"/>
            <c:invertIfNegative val="0"/>
            <c:bubble3D val="0"/>
            <c:spPr>
              <a:solidFill>
                <a:srgbClr val="937DAD"/>
              </a:solidFill>
              <a:ln>
                <a:noFill/>
              </a:ln>
              <a:effectLst/>
            </c:spPr>
            <c:extLst>
              <c:ext xmlns:c16="http://schemas.microsoft.com/office/drawing/2014/chart" uri="{C3380CC4-5D6E-409C-BE32-E72D297353CC}">
                <c16:uniqueId val="{00000024-9FAB-4360-8A7C-0E3EBB237B84}"/>
              </c:ext>
            </c:extLst>
          </c:dPt>
          <c:dPt>
            <c:idx val="1"/>
            <c:invertIfNegative val="0"/>
            <c:bubble3D val="0"/>
            <c:spPr>
              <a:solidFill>
                <a:srgbClr val="937DAD"/>
              </a:solidFill>
              <a:ln>
                <a:noFill/>
              </a:ln>
              <a:effectLst/>
            </c:spPr>
            <c:extLst>
              <c:ext xmlns:c16="http://schemas.microsoft.com/office/drawing/2014/chart" uri="{C3380CC4-5D6E-409C-BE32-E72D297353CC}">
                <c16:uniqueId val="{00000001-8649-4395-90AB-54A53DDB0C3E}"/>
              </c:ext>
            </c:extLst>
          </c:dPt>
          <c:dPt>
            <c:idx val="2"/>
            <c:invertIfNegative val="0"/>
            <c:bubble3D val="0"/>
            <c:spPr>
              <a:solidFill>
                <a:srgbClr val="D80065"/>
              </a:solidFill>
              <a:ln>
                <a:noFill/>
              </a:ln>
              <a:effectLst/>
            </c:spPr>
            <c:extLst>
              <c:ext xmlns:c16="http://schemas.microsoft.com/office/drawing/2014/chart" uri="{C3380CC4-5D6E-409C-BE32-E72D297353CC}">
                <c16:uniqueId val="{00000003-8649-4395-90AB-54A53DDB0C3E}"/>
              </c:ext>
            </c:extLst>
          </c:dPt>
          <c:dPt>
            <c:idx val="3"/>
            <c:invertIfNegative val="0"/>
            <c:bubble3D val="0"/>
            <c:spPr>
              <a:solidFill>
                <a:srgbClr val="6F002C"/>
              </a:solidFill>
              <a:ln>
                <a:noFill/>
              </a:ln>
              <a:effectLst/>
            </c:spPr>
            <c:extLst>
              <c:ext xmlns:c16="http://schemas.microsoft.com/office/drawing/2014/chart" uri="{C3380CC4-5D6E-409C-BE32-E72D297353CC}">
                <c16:uniqueId val="{00000005-8649-4395-90AB-54A53DDB0C3E}"/>
              </c:ext>
            </c:extLst>
          </c:dPt>
          <c:dPt>
            <c:idx val="4"/>
            <c:invertIfNegative val="0"/>
            <c:bubble3D val="0"/>
            <c:spPr>
              <a:solidFill>
                <a:srgbClr val="00B050"/>
              </a:solidFill>
              <a:ln>
                <a:noFill/>
              </a:ln>
              <a:effectLst/>
            </c:spPr>
            <c:extLst>
              <c:ext xmlns:c16="http://schemas.microsoft.com/office/drawing/2014/chart" uri="{C3380CC4-5D6E-409C-BE32-E72D297353CC}">
                <c16:uniqueId val="{00000007-8649-4395-90AB-54A53DDB0C3E}"/>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9-8649-4395-90AB-54A53DDB0C3E}"/>
              </c:ext>
            </c:extLst>
          </c:dPt>
          <c:dPt>
            <c:idx val="6"/>
            <c:invertIfNegative val="0"/>
            <c:bubble3D val="0"/>
            <c:spPr>
              <a:solidFill>
                <a:schemeClr val="accent3"/>
              </a:solidFill>
              <a:ln>
                <a:noFill/>
              </a:ln>
              <a:effectLst/>
            </c:spPr>
            <c:extLst>
              <c:ext xmlns:c16="http://schemas.microsoft.com/office/drawing/2014/chart" uri="{C3380CC4-5D6E-409C-BE32-E72D297353CC}">
                <c16:uniqueId val="{0000000B-8649-4395-90AB-54A53DDB0C3E}"/>
              </c:ext>
            </c:extLst>
          </c:dPt>
          <c:dPt>
            <c:idx val="7"/>
            <c:invertIfNegative val="0"/>
            <c:bubble3D val="0"/>
            <c:spPr>
              <a:solidFill>
                <a:schemeClr val="accent3"/>
              </a:solidFill>
              <a:ln>
                <a:noFill/>
              </a:ln>
              <a:effectLst/>
            </c:spPr>
            <c:extLst>
              <c:ext xmlns:c16="http://schemas.microsoft.com/office/drawing/2014/chart" uri="{C3380CC4-5D6E-409C-BE32-E72D297353CC}">
                <c16:uniqueId val="{0000000D-8649-4395-90AB-54A53DDB0C3E}"/>
              </c:ext>
            </c:extLst>
          </c:dPt>
          <c:dPt>
            <c:idx val="8"/>
            <c:invertIfNegative val="0"/>
            <c:bubble3D val="0"/>
            <c:spPr>
              <a:solidFill>
                <a:schemeClr val="accent3"/>
              </a:solidFill>
              <a:ln>
                <a:noFill/>
              </a:ln>
              <a:effectLst/>
            </c:spPr>
            <c:extLst>
              <c:ext xmlns:c16="http://schemas.microsoft.com/office/drawing/2014/chart" uri="{C3380CC4-5D6E-409C-BE32-E72D297353CC}">
                <c16:uniqueId val="{0000000F-8649-4395-90AB-54A53DDB0C3E}"/>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1-8649-4395-90AB-54A53DDB0C3E}"/>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3-8649-4395-90AB-54A53DDB0C3E}"/>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5-8649-4395-90AB-54A53DDB0C3E}"/>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7-8649-4395-90AB-54A53DDB0C3E}"/>
              </c:ext>
            </c:extLst>
          </c:dPt>
          <c:dPt>
            <c:idx val="13"/>
            <c:invertIfNegative val="0"/>
            <c:bubble3D val="0"/>
            <c:spPr>
              <a:solidFill>
                <a:schemeClr val="accent3"/>
              </a:solidFill>
              <a:ln>
                <a:noFill/>
              </a:ln>
              <a:effectLst/>
            </c:spPr>
            <c:extLst>
              <c:ext xmlns:c16="http://schemas.microsoft.com/office/drawing/2014/chart" uri="{C3380CC4-5D6E-409C-BE32-E72D297353CC}">
                <c16:uniqueId val="{00000019-8649-4395-90AB-54A53DDB0C3E}"/>
              </c:ext>
            </c:extLst>
          </c:dPt>
          <c:dPt>
            <c:idx val="14"/>
            <c:invertIfNegative val="0"/>
            <c:bubble3D val="0"/>
            <c:spPr>
              <a:solidFill>
                <a:schemeClr val="accent3"/>
              </a:solidFill>
              <a:ln>
                <a:noFill/>
              </a:ln>
              <a:effectLst/>
            </c:spPr>
            <c:extLst>
              <c:ext xmlns:c16="http://schemas.microsoft.com/office/drawing/2014/chart" uri="{C3380CC4-5D6E-409C-BE32-E72D297353CC}">
                <c16:uniqueId val="{0000001B-8649-4395-90AB-54A53DDB0C3E}"/>
              </c:ext>
            </c:extLst>
          </c:dPt>
          <c:dPt>
            <c:idx val="15"/>
            <c:invertIfNegative val="0"/>
            <c:bubble3D val="0"/>
            <c:spPr>
              <a:solidFill>
                <a:schemeClr val="accent3"/>
              </a:solidFill>
              <a:ln>
                <a:noFill/>
              </a:ln>
              <a:effectLst/>
            </c:spPr>
            <c:extLst>
              <c:ext xmlns:c16="http://schemas.microsoft.com/office/drawing/2014/chart" uri="{C3380CC4-5D6E-409C-BE32-E72D297353CC}">
                <c16:uniqueId val="{0000001D-8649-4395-90AB-54A53DDB0C3E}"/>
              </c:ext>
            </c:extLst>
          </c:dPt>
          <c:dPt>
            <c:idx val="16"/>
            <c:invertIfNegative val="0"/>
            <c:bubble3D val="0"/>
            <c:spPr>
              <a:solidFill>
                <a:schemeClr val="accent3"/>
              </a:solidFill>
              <a:ln>
                <a:noFill/>
              </a:ln>
              <a:effectLst/>
            </c:spPr>
            <c:extLst>
              <c:ext xmlns:c16="http://schemas.microsoft.com/office/drawing/2014/chart" uri="{C3380CC4-5D6E-409C-BE32-E72D297353CC}">
                <c16:uniqueId val="{0000001F-8649-4395-90AB-54A53DDB0C3E}"/>
              </c:ext>
            </c:extLst>
          </c:dPt>
          <c:dPt>
            <c:idx val="19"/>
            <c:invertIfNegative val="0"/>
            <c:bubble3D val="0"/>
            <c:spPr>
              <a:solidFill>
                <a:schemeClr val="accent3"/>
              </a:solidFill>
              <a:ln>
                <a:noFill/>
              </a:ln>
              <a:effectLst/>
            </c:spPr>
            <c:extLst>
              <c:ext xmlns:c16="http://schemas.microsoft.com/office/drawing/2014/chart" uri="{C3380CC4-5D6E-409C-BE32-E72D297353CC}">
                <c16:uniqueId val="{00000021-8649-4395-90AB-54A53DDB0C3E}"/>
              </c:ext>
            </c:extLst>
          </c:dPt>
          <c:dPt>
            <c:idx val="20"/>
            <c:invertIfNegative val="0"/>
            <c:bubble3D val="0"/>
            <c:spPr>
              <a:solidFill>
                <a:schemeClr val="accent3"/>
              </a:solidFill>
              <a:ln>
                <a:noFill/>
              </a:ln>
              <a:effectLst/>
            </c:spPr>
            <c:extLst>
              <c:ext xmlns:c16="http://schemas.microsoft.com/office/drawing/2014/chart" uri="{C3380CC4-5D6E-409C-BE32-E72D297353CC}">
                <c16:uniqueId val="{00000023-8649-4395-90AB-54A53DDB0C3E}"/>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1">
                  <c:v>Penbraya</c:v>
                </c:pt>
                <c:pt idx="2">
                  <c:v>Menveo</c:v>
                </c:pt>
                <c:pt idx="3">
                  <c:v>Bexsero</c:v>
                </c:pt>
                <c:pt idx="4">
                  <c:v>Trumenba</c:v>
                </c:pt>
                <c:pt idx="5">
                  <c:v>MenQuadfi</c:v>
                </c:pt>
              </c:strCache>
            </c:strRef>
          </c:cat>
          <c:val>
            <c:numRef>
              <c:f>Sheet1!$B$2:$B$7</c:f>
              <c:numCache>
                <c:formatCode>0%</c:formatCode>
                <c:ptCount val="6"/>
                <c:pt idx="1">
                  <c:v>0.83</c:v>
                </c:pt>
                <c:pt idx="2">
                  <c:v>0.62</c:v>
                </c:pt>
                <c:pt idx="3">
                  <c:v>0.67</c:v>
                </c:pt>
                <c:pt idx="4">
                  <c:v>0.66</c:v>
                </c:pt>
                <c:pt idx="5">
                  <c:v>0.79</c:v>
                </c:pt>
              </c:numCache>
            </c:numRef>
          </c:val>
          <c:extLst>
            <c:ext xmlns:c16="http://schemas.microsoft.com/office/drawing/2014/chart" uri="{C3380CC4-5D6E-409C-BE32-E72D297353CC}">
              <c16:uniqueId val="{00000024-8649-4395-90AB-54A53DDB0C3E}"/>
            </c:ext>
          </c:extLst>
        </c:ser>
        <c:dLbls>
          <c:dLblPos val="outEnd"/>
          <c:showLegendKey val="0"/>
          <c:showVal val="1"/>
          <c:showCatName val="0"/>
          <c:showSerName val="0"/>
          <c:showPercent val="0"/>
          <c:showBubbleSize val="0"/>
        </c:dLbls>
        <c:gapWidth val="125"/>
        <c:axId val="1544824944"/>
        <c:axId val="1544829264"/>
      </c:barChart>
      <c:catAx>
        <c:axId val="1544824944"/>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400" b="0" i="0" u="none" strike="noStrike" kern="1200" baseline="0">
                <a:solidFill>
                  <a:schemeClr val="tx1"/>
                </a:solidFill>
                <a:latin typeface="+mn-lt"/>
                <a:ea typeface="+mn-ea"/>
                <a:cs typeface="+mn-cs"/>
              </a:defRPr>
            </a:pPr>
            <a:endParaRPr lang="en-US"/>
          </a:p>
        </c:txPr>
        <c:crossAx val="1544829264"/>
        <c:crosses val="autoZero"/>
        <c:auto val="1"/>
        <c:lblAlgn val="ctr"/>
        <c:lblOffset val="900"/>
        <c:noMultiLvlLbl val="0"/>
      </c:catAx>
      <c:valAx>
        <c:axId val="1544829264"/>
        <c:scaling>
          <c:orientation val="minMax"/>
          <c:max val="1"/>
        </c:scaling>
        <c:delete val="1"/>
        <c:axPos val="b"/>
        <c:numFmt formatCode="0%" sourceLinked="1"/>
        <c:majorTickMark val="out"/>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803899461301079"/>
          <c:y val="4.9832537054763607E-2"/>
          <c:w val="0.45041686376257106"/>
          <c:h val="0.92794647260774987"/>
        </c:manualLayout>
      </c:layout>
      <c:barChart>
        <c:barDir val="bar"/>
        <c:grouping val="stacked"/>
        <c:varyColors val="0"/>
        <c:ser>
          <c:idx val="0"/>
          <c:order val="0"/>
          <c:tx>
            <c:strRef>
              <c:f>Sheet1!$B$1</c:f>
              <c:strCache>
                <c:ptCount val="1"/>
                <c:pt idx="0">
                  <c:v>Low Comfort (1,2)</c:v>
                </c:pt>
              </c:strCache>
            </c:strRef>
          </c:tx>
          <c:spPr>
            <a:solidFill>
              <a:schemeClr val="accent6"/>
            </a:solidFill>
            <a:ln>
              <a:noFill/>
            </a:ln>
            <a:effectLst/>
          </c:spPr>
          <c:invertIfNegative val="0"/>
          <c:dPt>
            <c:idx val="1"/>
            <c:invertIfNegative val="0"/>
            <c:bubble3D val="0"/>
            <c:spPr>
              <a:solidFill>
                <a:schemeClr val="accent6"/>
              </a:solidFill>
              <a:ln>
                <a:noFill/>
              </a:ln>
              <a:effectLst/>
            </c:spPr>
            <c:extLst>
              <c:ext xmlns:c16="http://schemas.microsoft.com/office/drawing/2014/chart" uri="{C3380CC4-5D6E-409C-BE32-E72D297353CC}">
                <c16:uniqueId val="{00000001-C5B6-4A75-8A42-9F73DD0A0F43}"/>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3-C5B6-4A75-8A42-9F73DD0A0F43}"/>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5-C5B6-4A75-8A42-9F73DD0A0F43}"/>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7-C5B6-4A75-8A42-9F73DD0A0F43}"/>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9-C5B6-4A75-8A42-9F73DD0A0F43}"/>
              </c:ext>
            </c:extLst>
          </c:dPt>
          <c:dPt>
            <c:idx val="6"/>
            <c:invertIfNegative val="0"/>
            <c:bubble3D val="0"/>
            <c:spPr>
              <a:solidFill>
                <a:schemeClr val="accent6"/>
              </a:solidFill>
              <a:ln>
                <a:noFill/>
              </a:ln>
              <a:effectLst/>
            </c:spPr>
            <c:extLst>
              <c:ext xmlns:c16="http://schemas.microsoft.com/office/drawing/2014/chart" uri="{C3380CC4-5D6E-409C-BE32-E72D297353CC}">
                <c16:uniqueId val="{0000000B-C5B6-4A75-8A42-9F73DD0A0F43}"/>
              </c:ext>
            </c:extLst>
          </c:dPt>
          <c:dPt>
            <c:idx val="7"/>
            <c:invertIfNegative val="0"/>
            <c:bubble3D val="0"/>
            <c:spPr>
              <a:solidFill>
                <a:schemeClr val="accent6"/>
              </a:solidFill>
              <a:ln>
                <a:noFill/>
              </a:ln>
              <a:effectLst/>
            </c:spPr>
            <c:extLst>
              <c:ext xmlns:c16="http://schemas.microsoft.com/office/drawing/2014/chart" uri="{C3380CC4-5D6E-409C-BE32-E72D297353CC}">
                <c16:uniqueId val="{0000000D-C5B6-4A75-8A42-9F73DD0A0F43}"/>
              </c:ext>
            </c:extLst>
          </c:dPt>
          <c:dPt>
            <c:idx val="8"/>
            <c:invertIfNegative val="0"/>
            <c:bubble3D val="0"/>
            <c:spPr>
              <a:solidFill>
                <a:schemeClr val="accent6"/>
              </a:solidFill>
              <a:ln>
                <a:noFill/>
              </a:ln>
              <a:effectLst/>
            </c:spPr>
            <c:extLst>
              <c:ext xmlns:c16="http://schemas.microsoft.com/office/drawing/2014/chart" uri="{C3380CC4-5D6E-409C-BE32-E72D297353CC}">
                <c16:uniqueId val="{0000000F-C5B6-4A75-8A42-9F73DD0A0F43}"/>
              </c:ext>
            </c:extLst>
          </c:dPt>
          <c:dPt>
            <c:idx val="9"/>
            <c:invertIfNegative val="0"/>
            <c:bubble3D val="0"/>
            <c:spPr>
              <a:solidFill>
                <a:schemeClr val="accent6"/>
              </a:solidFill>
              <a:ln>
                <a:noFill/>
              </a:ln>
              <a:effectLst/>
            </c:spPr>
            <c:extLst>
              <c:ext xmlns:c16="http://schemas.microsoft.com/office/drawing/2014/chart" uri="{C3380CC4-5D6E-409C-BE32-E72D297353CC}">
                <c16:uniqueId val="{00000011-C5B6-4A75-8A42-9F73DD0A0F43}"/>
              </c:ext>
            </c:extLst>
          </c:dPt>
          <c:dPt>
            <c:idx val="10"/>
            <c:invertIfNegative val="0"/>
            <c:bubble3D val="0"/>
            <c:spPr>
              <a:solidFill>
                <a:schemeClr val="accent6"/>
              </a:solidFill>
              <a:ln>
                <a:noFill/>
              </a:ln>
              <a:effectLst/>
            </c:spPr>
            <c:extLst>
              <c:ext xmlns:c16="http://schemas.microsoft.com/office/drawing/2014/chart" uri="{C3380CC4-5D6E-409C-BE32-E72D297353CC}">
                <c16:uniqueId val="{00000013-C5B6-4A75-8A42-9F73DD0A0F43}"/>
              </c:ext>
            </c:extLst>
          </c:dPt>
          <c:dPt>
            <c:idx val="11"/>
            <c:invertIfNegative val="0"/>
            <c:bubble3D val="0"/>
            <c:spPr>
              <a:solidFill>
                <a:schemeClr val="accent6"/>
              </a:solidFill>
              <a:ln>
                <a:noFill/>
              </a:ln>
              <a:effectLst/>
            </c:spPr>
            <c:extLst>
              <c:ext xmlns:c16="http://schemas.microsoft.com/office/drawing/2014/chart" uri="{C3380CC4-5D6E-409C-BE32-E72D297353CC}">
                <c16:uniqueId val="{00000015-C5B6-4A75-8A42-9F73DD0A0F43}"/>
              </c:ext>
            </c:extLst>
          </c:dPt>
          <c:dPt>
            <c:idx val="12"/>
            <c:invertIfNegative val="0"/>
            <c:bubble3D val="0"/>
            <c:spPr>
              <a:solidFill>
                <a:schemeClr val="accent6"/>
              </a:solidFill>
              <a:ln>
                <a:noFill/>
              </a:ln>
              <a:effectLst/>
            </c:spPr>
            <c:extLst>
              <c:ext xmlns:c16="http://schemas.microsoft.com/office/drawing/2014/chart" uri="{C3380CC4-5D6E-409C-BE32-E72D297353CC}">
                <c16:uniqueId val="{00000017-C5B6-4A75-8A42-9F73DD0A0F43}"/>
              </c:ext>
            </c:extLst>
          </c:dPt>
          <c:dPt>
            <c:idx val="13"/>
            <c:invertIfNegative val="0"/>
            <c:bubble3D val="0"/>
            <c:spPr>
              <a:solidFill>
                <a:schemeClr val="accent6"/>
              </a:solidFill>
              <a:ln>
                <a:noFill/>
              </a:ln>
              <a:effectLst/>
            </c:spPr>
            <c:extLst>
              <c:ext xmlns:c16="http://schemas.microsoft.com/office/drawing/2014/chart" uri="{C3380CC4-5D6E-409C-BE32-E72D297353CC}">
                <c16:uniqueId val="{00000019-C5B6-4A75-8A42-9F73DD0A0F43}"/>
              </c:ext>
            </c:extLst>
          </c:dPt>
          <c:dPt>
            <c:idx val="14"/>
            <c:invertIfNegative val="0"/>
            <c:bubble3D val="0"/>
            <c:spPr>
              <a:solidFill>
                <a:schemeClr val="accent6"/>
              </a:solidFill>
              <a:ln>
                <a:noFill/>
              </a:ln>
              <a:effectLst/>
            </c:spPr>
            <c:extLst>
              <c:ext xmlns:c16="http://schemas.microsoft.com/office/drawing/2014/chart" uri="{C3380CC4-5D6E-409C-BE32-E72D297353CC}">
                <c16:uniqueId val="{0000001B-C5B6-4A75-8A42-9F73DD0A0F43}"/>
              </c:ext>
            </c:extLst>
          </c:dPt>
          <c:dPt>
            <c:idx val="15"/>
            <c:invertIfNegative val="0"/>
            <c:bubble3D val="0"/>
            <c:spPr>
              <a:solidFill>
                <a:schemeClr val="accent6"/>
              </a:solidFill>
              <a:ln>
                <a:noFill/>
              </a:ln>
              <a:effectLst/>
            </c:spPr>
            <c:extLst>
              <c:ext xmlns:c16="http://schemas.microsoft.com/office/drawing/2014/chart" uri="{C3380CC4-5D6E-409C-BE32-E72D297353CC}">
                <c16:uniqueId val="{0000001D-C5B6-4A75-8A42-9F73DD0A0F43}"/>
              </c:ext>
            </c:extLst>
          </c:dPt>
          <c:dPt>
            <c:idx val="16"/>
            <c:invertIfNegative val="0"/>
            <c:bubble3D val="0"/>
            <c:spPr>
              <a:solidFill>
                <a:schemeClr val="accent6"/>
              </a:solidFill>
              <a:ln>
                <a:noFill/>
              </a:ln>
              <a:effectLst/>
            </c:spPr>
            <c:extLst>
              <c:ext xmlns:c16="http://schemas.microsoft.com/office/drawing/2014/chart" uri="{C3380CC4-5D6E-409C-BE32-E72D297353CC}">
                <c16:uniqueId val="{0000001F-C5B6-4A75-8A42-9F73DD0A0F43}"/>
              </c:ext>
            </c:extLst>
          </c:dPt>
          <c:dPt>
            <c:idx val="19"/>
            <c:invertIfNegative val="0"/>
            <c:bubble3D val="0"/>
            <c:spPr>
              <a:solidFill>
                <a:schemeClr val="accent6"/>
              </a:solidFill>
              <a:ln>
                <a:noFill/>
              </a:ln>
              <a:effectLst/>
            </c:spPr>
            <c:extLst>
              <c:ext xmlns:c16="http://schemas.microsoft.com/office/drawing/2014/chart" uri="{C3380CC4-5D6E-409C-BE32-E72D297353CC}">
                <c16:uniqueId val="{00000021-C5B6-4A75-8A42-9F73DD0A0F43}"/>
              </c:ext>
            </c:extLst>
          </c:dPt>
          <c:dPt>
            <c:idx val="20"/>
            <c:invertIfNegative val="0"/>
            <c:bubble3D val="0"/>
            <c:spPr>
              <a:solidFill>
                <a:schemeClr val="accent6"/>
              </a:solidFill>
              <a:ln>
                <a:noFill/>
              </a:ln>
              <a:effectLst/>
            </c:spPr>
            <c:extLst>
              <c:ext xmlns:c16="http://schemas.microsoft.com/office/drawing/2014/chart" uri="{C3380CC4-5D6E-409C-BE32-E72D297353CC}">
                <c16:uniqueId val="{00000023-C5B6-4A75-8A42-9F73DD0A0F43}"/>
              </c:ext>
            </c:extLst>
          </c:dPt>
          <c:dLbls>
            <c:dLbl>
              <c:idx val="0"/>
              <c:layout>
                <c:manualLayout>
                  <c:x val="5.7853770164214462E-3"/>
                  <c:y val="-1.967709003778718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0B62-492E-A7AE-A42505844EBC}"/>
                </c:ext>
              </c:extLst>
            </c:dLbl>
            <c:dLbl>
              <c:idx val="1"/>
              <c:layout>
                <c:manualLayout>
                  <c:x val="9.756569743724874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5B6-4A75-8A42-9F73DD0A0F43}"/>
                </c:ext>
              </c:extLst>
            </c:dLbl>
            <c:dLbl>
              <c:idx val="2"/>
              <c:delete val="1"/>
              <c:extLst>
                <c:ext xmlns:c15="http://schemas.microsoft.com/office/drawing/2012/chart" uri="{CE6537A1-D6FC-4f65-9D91-7224C49458BB}"/>
                <c:ext xmlns:c16="http://schemas.microsoft.com/office/drawing/2014/chart" uri="{C3380CC4-5D6E-409C-BE32-E72D297353CC}">
                  <c16:uniqueId val="{00000003-C5B6-4A75-8A42-9F73DD0A0F43}"/>
                </c:ext>
              </c:extLst>
            </c:dLbl>
            <c:dLbl>
              <c:idx val="3"/>
              <c:delete val="1"/>
              <c:extLst>
                <c:ext xmlns:c15="http://schemas.microsoft.com/office/drawing/2012/chart" uri="{CE6537A1-D6FC-4f65-9D91-7224C49458BB}"/>
                <c:ext xmlns:c16="http://schemas.microsoft.com/office/drawing/2014/chart" uri="{C3380CC4-5D6E-409C-BE32-E72D297353CC}">
                  <c16:uniqueId val="{00000005-C5B6-4A75-8A42-9F73DD0A0F43}"/>
                </c:ext>
              </c:extLst>
            </c:dLbl>
            <c:dLbl>
              <c:idx val="4"/>
              <c:delete val="1"/>
              <c:extLst>
                <c:ext xmlns:c15="http://schemas.microsoft.com/office/drawing/2012/chart" uri="{CE6537A1-D6FC-4f65-9D91-7224C49458BB}"/>
                <c:ext xmlns:c16="http://schemas.microsoft.com/office/drawing/2014/chart" uri="{C3380CC4-5D6E-409C-BE32-E72D297353CC}">
                  <c16:uniqueId val="{00000007-C5B6-4A75-8A42-9F73DD0A0F43}"/>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Penbraya</c:v>
                </c:pt>
                <c:pt idx="1">
                  <c:v>Menveo</c:v>
                </c:pt>
                <c:pt idx="2">
                  <c:v>Trumenba</c:v>
                </c:pt>
                <c:pt idx="3">
                  <c:v>Bexsero</c:v>
                </c:pt>
                <c:pt idx="4">
                  <c:v>MenQuadfi</c:v>
                </c:pt>
              </c:strCache>
            </c:strRef>
          </c:cat>
          <c:val>
            <c:numRef>
              <c:f>Sheet1!$B$2:$B$6</c:f>
              <c:numCache>
                <c:formatCode>0%</c:formatCode>
                <c:ptCount val="5"/>
                <c:pt idx="0">
                  <c:v>0.08</c:v>
                </c:pt>
                <c:pt idx="1">
                  <c:v>7.0000000000000007E-2</c:v>
                </c:pt>
                <c:pt idx="2">
                  <c:v>0.04</c:v>
                </c:pt>
                <c:pt idx="3">
                  <c:v>0.03</c:v>
                </c:pt>
                <c:pt idx="4">
                  <c:v>0.01</c:v>
                </c:pt>
              </c:numCache>
            </c:numRef>
          </c:val>
          <c:extLst>
            <c:ext xmlns:c16="http://schemas.microsoft.com/office/drawing/2014/chart" uri="{C3380CC4-5D6E-409C-BE32-E72D297353CC}">
              <c16:uniqueId val="{00000024-C5B6-4A75-8A42-9F73DD0A0F43}"/>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Penbraya</c:v>
                </c:pt>
                <c:pt idx="1">
                  <c:v>Menveo</c:v>
                </c:pt>
                <c:pt idx="2">
                  <c:v>Trumenba</c:v>
                </c:pt>
                <c:pt idx="3">
                  <c:v>Bexsero</c:v>
                </c:pt>
                <c:pt idx="4">
                  <c:v>MenQuadfi</c:v>
                </c:pt>
              </c:strCache>
            </c:strRef>
          </c:cat>
          <c:val>
            <c:numRef>
              <c:f>Sheet1!$C$2:$C$6</c:f>
              <c:numCache>
                <c:formatCode>0%</c:formatCode>
                <c:ptCount val="5"/>
                <c:pt idx="0">
                  <c:v>0.4</c:v>
                </c:pt>
                <c:pt idx="1">
                  <c:v>0.27</c:v>
                </c:pt>
                <c:pt idx="2">
                  <c:v>0.19</c:v>
                </c:pt>
                <c:pt idx="3">
                  <c:v>0.15</c:v>
                </c:pt>
                <c:pt idx="4">
                  <c:v>0.14000000000000001</c:v>
                </c:pt>
              </c:numCache>
            </c:numRef>
          </c:val>
          <c:extLst>
            <c:ext xmlns:c16="http://schemas.microsoft.com/office/drawing/2014/chart" uri="{C3380CC4-5D6E-409C-BE32-E72D297353CC}">
              <c16:uniqueId val="{00000024-8678-4F59-8492-4D872DF1DE91}"/>
            </c:ext>
          </c:extLst>
        </c:ser>
        <c:ser>
          <c:idx val="2"/>
          <c:order val="2"/>
          <c:tx>
            <c:strRef>
              <c:f>Sheet1!$D$1</c:f>
              <c:strCache>
                <c:ptCount val="1"/>
                <c:pt idx="0">
                  <c:v>High Comfort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Penbraya</c:v>
                </c:pt>
                <c:pt idx="1">
                  <c:v>Menveo</c:v>
                </c:pt>
                <c:pt idx="2">
                  <c:v>Trumenba</c:v>
                </c:pt>
                <c:pt idx="3">
                  <c:v>Bexsero</c:v>
                </c:pt>
                <c:pt idx="4">
                  <c:v>MenQuadfi</c:v>
                </c:pt>
              </c:strCache>
            </c:strRef>
          </c:cat>
          <c:val>
            <c:numRef>
              <c:f>Sheet1!$D$2:$D$6</c:f>
              <c:numCache>
                <c:formatCode>0%</c:formatCode>
                <c:ptCount val="5"/>
                <c:pt idx="0">
                  <c:v>0.53</c:v>
                </c:pt>
                <c:pt idx="1">
                  <c:v>0.66</c:v>
                </c:pt>
                <c:pt idx="2">
                  <c:v>0.78</c:v>
                </c:pt>
                <c:pt idx="3">
                  <c:v>0.82</c:v>
                </c:pt>
                <c:pt idx="4">
                  <c:v>0.85</c:v>
                </c:pt>
              </c:numCache>
            </c:numRef>
          </c:val>
          <c:extLst>
            <c:ext xmlns:c16="http://schemas.microsoft.com/office/drawing/2014/chart" uri="{C3380CC4-5D6E-409C-BE32-E72D297353CC}">
              <c16:uniqueId val="{00000025-8678-4F59-8492-4D872DF1DE91}"/>
            </c:ext>
          </c:extLst>
        </c:ser>
        <c:dLbls>
          <c:showLegendKey val="0"/>
          <c:showVal val="1"/>
          <c:showCatName val="0"/>
          <c:showSerName val="0"/>
          <c:showPercent val="0"/>
          <c:showBubbleSize val="0"/>
        </c:dLbls>
        <c:gapWidth val="100"/>
        <c:overlap val="100"/>
        <c:axId val="1544824944"/>
        <c:axId val="1544829264"/>
      </c:barChart>
      <c:catAx>
        <c:axId val="1544824944"/>
        <c:scaling>
          <c:orientation val="minMax"/>
        </c:scaling>
        <c:delete val="0"/>
        <c:axPos val="l"/>
        <c:numFmt formatCode="General" sourceLinked="1"/>
        <c:majorTickMark val="none"/>
        <c:minorTickMark val="none"/>
        <c:tickLblPos val="nextTo"/>
        <c:spPr>
          <a:solidFill>
            <a:schemeClr val="bg1"/>
          </a:solidFill>
          <a:ln w="9525" cap="flat" cmpd="sng" algn="ctr">
            <a:noFill/>
            <a:round/>
          </a:ln>
          <a:effectLst/>
        </c:spPr>
        <c:txPr>
          <a:bodyPr rot="-60000000" spcFirstLastPara="1" vertOverflow="ellipsis" vert="horz" wrap="square" anchor="ctr" anchorCtr="1"/>
          <a:lstStyle/>
          <a:p>
            <a:pPr algn="r">
              <a:defRPr sz="1400" b="0" i="0" u="none" strike="noStrike" kern="1200" baseline="0">
                <a:solidFill>
                  <a:schemeClr val="tx1"/>
                </a:solidFill>
                <a:latin typeface="+mn-lt"/>
                <a:ea typeface="+mn-ea"/>
                <a:cs typeface="+mn-cs"/>
              </a:defRPr>
            </a:pPr>
            <a:endParaRPr lang="en-US"/>
          </a:p>
        </c:txPr>
        <c:crossAx val="1544829264"/>
        <c:crosses val="autoZero"/>
        <c:auto val="1"/>
        <c:lblAlgn val="ctr"/>
        <c:lblOffset val="900"/>
        <c:noMultiLvlLbl val="0"/>
      </c:catAx>
      <c:valAx>
        <c:axId val="1544829264"/>
        <c:scaling>
          <c:orientation val="minMax"/>
          <c:max val="1"/>
        </c:scaling>
        <c:delete val="1"/>
        <c:axPos val="b"/>
        <c:numFmt formatCode="0%" sourceLinked="1"/>
        <c:majorTickMark val="out"/>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803898185706527"/>
          <c:y val="4.9832348411060136E-2"/>
          <c:w val="0.45041686376257106"/>
          <c:h val="0.92794647260774987"/>
        </c:manualLayout>
      </c:layout>
      <c:barChart>
        <c:barDir val="bar"/>
        <c:grouping val="stacked"/>
        <c:varyColors val="0"/>
        <c:ser>
          <c:idx val="0"/>
          <c:order val="0"/>
          <c:tx>
            <c:strRef>
              <c:f>Sheet1!$B$1</c:f>
              <c:strCache>
                <c:ptCount val="1"/>
                <c:pt idx="0">
                  <c:v>Low Comfort (1,2)</c:v>
                </c:pt>
              </c:strCache>
            </c:strRef>
          </c:tx>
          <c:spPr>
            <a:solidFill>
              <a:schemeClr val="accent6"/>
            </a:solidFill>
            <a:ln>
              <a:noFill/>
            </a:ln>
            <a:effectLst/>
          </c:spPr>
          <c:invertIfNegative val="0"/>
          <c:dPt>
            <c:idx val="1"/>
            <c:invertIfNegative val="0"/>
            <c:bubble3D val="0"/>
            <c:spPr>
              <a:solidFill>
                <a:schemeClr val="accent6"/>
              </a:solidFill>
              <a:ln>
                <a:noFill/>
              </a:ln>
              <a:effectLst/>
            </c:spPr>
            <c:extLst>
              <c:ext xmlns:c16="http://schemas.microsoft.com/office/drawing/2014/chart" uri="{C3380CC4-5D6E-409C-BE32-E72D297353CC}">
                <c16:uniqueId val="{00000001-C5B6-4A75-8A42-9F73DD0A0F43}"/>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3-C5B6-4A75-8A42-9F73DD0A0F43}"/>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5-C5B6-4A75-8A42-9F73DD0A0F43}"/>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7-C5B6-4A75-8A42-9F73DD0A0F43}"/>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9-C5B6-4A75-8A42-9F73DD0A0F43}"/>
              </c:ext>
            </c:extLst>
          </c:dPt>
          <c:dPt>
            <c:idx val="6"/>
            <c:invertIfNegative val="0"/>
            <c:bubble3D val="0"/>
            <c:spPr>
              <a:solidFill>
                <a:schemeClr val="accent6"/>
              </a:solidFill>
              <a:ln>
                <a:noFill/>
              </a:ln>
              <a:effectLst/>
            </c:spPr>
            <c:extLst>
              <c:ext xmlns:c16="http://schemas.microsoft.com/office/drawing/2014/chart" uri="{C3380CC4-5D6E-409C-BE32-E72D297353CC}">
                <c16:uniqueId val="{0000000B-C5B6-4A75-8A42-9F73DD0A0F43}"/>
              </c:ext>
            </c:extLst>
          </c:dPt>
          <c:dPt>
            <c:idx val="7"/>
            <c:invertIfNegative val="0"/>
            <c:bubble3D val="0"/>
            <c:spPr>
              <a:solidFill>
                <a:schemeClr val="accent6"/>
              </a:solidFill>
              <a:ln>
                <a:noFill/>
              </a:ln>
              <a:effectLst/>
            </c:spPr>
            <c:extLst>
              <c:ext xmlns:c16="http://schemas.microsoft.com/office/drawing/2014/chart" uri="{C3380CC4-5D6E-409C-BE32-E72D297353CC}">
                <c16:uniqueId val="{0000000D-C5B6-4A75-8A42-9F73DD0A0F43}"/>
              </c:ext>
            </c:extLst>
          </c:dPt>
          <c:dPt>
            <c:idx val="8"/>
            <c:invertIfNegative val="0"/>
            <c:bubble3D val="0"/>
            <c:spPr>
              <a:solidFill>
                <a:schemeClr val="accent6"/>
              </a:solidFill>
              <a:ln>
                <a:noFill/>
              </a:ln>
              <a:effectLst/>
            </c:spPr>
            <c:extLst>
              <c:ext xmlns:c16="http://schemas.microsoft.com/office/drawing/2014/chart" uri="{C3380CC4-5D6E-409C-BE32-E72D297353CC}">
                <c16:uniqueId val="{0000000F-C5B6-4A75-8A42-9F73DD0A0F43}"/>
              </c:ext>
            </c:extLst>
          </c:dPt>
          <c:dPt>
            <c:idx val="9"/>
            <c:invertIfNegative val="0"/>
            <c:bubble3D val="0"/>
            <c:spPr>
              <a:solidFill>
                <a:schemeClr val="accent6"/>
              </a:solidFill>
              <a:ln>
                <a:noFill/>
              </a:ln>
              <a:effectLst/>
            </c:spPr>
            <c:extLst>
              <c:ext xmlns:c16="http://schemas.microsoft.com/office/drawing/2014/chart" uri="{C3380CC4-5D6E-409C-BE32-E72D297353CC}">
                <c16:uniqueId val="{00000011-C5B6-4A75-8A42-9F73DD0A0F43}"/>
              </c:ext>
            </c:extLst>
          </c:dPt>
          <c:dPt>
            <c:idx val="10"/>
            <c:invertIfNegative val="0"/>
            <c:bubble3D val="0"/>
            <c:spPr>
              <a:solidFill>
                <a:schemeClr val="accent6"/>
              </a:solidFill>
              <a:ln>
                <a:noFill/>
              </a:ln>
              <a:effectLst/>
            </c:spPr>
            <c:extLst>
              <c:ext xmlns:c16="http://schemas.microsoft.com/office/drawing/2014/chart" uri="{C3380CC4-5D6E-409C-BE32-E72D297353CC}">
                <c16:uniqueId val="{00000013-C5B6-4A75-8A42-9F73DD0A0F43}"/>
              </c:ext>
            </c:extLst>
          </c:dPt>
          <c:dPt>
            <c:idx val="11"/>
            <c:invertIfNegative val="0"/>
            <c:bubble3D val="0"/>
            <c:spPr>
              <a:solidFill>
                <a:schemeClr val="accent6"/>
              </a:solidFill>
              <a:ln>
                <a:noFill/>
              </a:ln>
              <a:effectLst/>
            </c:spPr>
            <c:extLst>
              <c:ext xmlns:c16="http://schemas.microsoft.com/office/drawing/2014/chart" uri="{C3380CC4-5D6E-409C-BE32-E72D297353CC}">
                <c16:uniqueId val="{00000015-C5B6-4A75-8A42-9F73DD0A0F43}"/>
              </c:ext>
            </c:extLst>
          </c:dPt>
          <c:dPt>
            <c:idx val="12"/>
            <c:invertIfNegative val="0"/>
            <c:bubble3D val="0"/>
            <c:spPr>
              <a:solidFill>
                <a:schemeClr val="accent6"/>
              </a:solidFill>
              <a:ln>
                <a:noFill/>
              </a:ln>
              <a:effectLst/>
            </c:spPr>
            <c:extLst>
              <c:ext xmlns:c16="http://schemas.microsoft.com/office/drawing/2014/chart" uri="{C3380CC4-5D6E-409C-BE32-E72D297353CC}">
                <c16:uniqueId val="{00000017-C5B6-4A75-8A42-9F73DD0A0F43}"/>
              </c:ext>
            </c:extLst>
          </c:dPt>
          <c:dPt>
            <c:idx val="13"/>
            <c:invertIfNegative val="0"/>
            <c:bubble3D val="0"/>
            <c:spPr>
              <a:solidFill>
                <a:schemeClr val="accent6"/>
              </a:solidFill>
              <a:ln>
                <a:noFill/>
              </a:ln>
              <a:effectLst/>
            </c:spPr>
            <c:extLst>
              <c:ext xmlns:c16="http://schemas.microsoft.com/office/drawing/2014/chart" uri="{C3380CC4-5D6E-409C-BE32-E72D297353CC}">
                <c16:uniqueId val="{00000019-C5B6-4A75-8A42-9F73DD0A0F43}"/>
              </c:ext>
            </c:extLst>
          </c:dPt>
          <c:dPt>
            <c:idx val="14"/>
            <c:invertIfNegative val="0"/>
            <c:bubble3D val="0"/>
            <c:spPr>
              <a:solidFill>
                <a:schemeClr val="accent6"/>
              </a:solidFill>
              <a:ln>
                <a:noFill/>
              </a:ln>
              <a:effectLst/>
            </c:spPr>
            <c:extLst>
              <c:ext xmlns:c16="http://schemas.microsoft.com/office/drawing/2014/chart" uri="{C3380CC4-5D6E-409C-BE32-E72D297353CC}">
                <c16:uniqueId val="{0000001B-C5B6-4A75-8A42-9F73DD0A0F43}"/>
              </c:ext>
            </c:extLst>
          </c:dPt>
          <c:dPt>
            <c:idx val="15"/>
            <c:invertIfNegative val="0"/>
            <c:bubble3D val="0"/>
            <c:spPr>
              <a:solidFill>
                <a:schemeClr val="accent6"/>
              </a:solidFill>
              <a:ln>
                <a:noFill/>
              </a:ln>
              <a:effectLst/>
            </c:spPr>
            <c:extLst>
              <c:ext xmlns:c16="http://schemas.microsoft.com/office/drawing/2014/chart" uri="{C3380CC4-5D6E-409C-BE32-E72D297353CC}">
                <c16:uniqueId val="{0000001D-C5B6-4A75-8A42-9F73DD0A0F43}"/>
              </c:ext>
            </c:extLst>
          </c:dPt>
          <c:dPt>
            <c:idx val="16"/>
            <c:invertIfNegative val="0"/>
            <c:bubble3D val="0"/>
            <c:spPr>
              <a:solidFill>
                <a:schemeClr val="accent6"/>
              </a:solidFill>
              <a:ln>
                <a:noFill/>
              </a:ln>
              <a:effectLst/>
            </c:spPr>
            <c:extLst>
              <c:ext xmlns:c16="http://schemas.microsoft.com/office/drawing/2014/chart" uri="{C3380CC4-5D6E-409C-BE32-E72D297353CC}">
                <c16:uniqueId val="{0000001F-C5B6-4A75-8A42-9F73DD0A0F43}"/>
              </c:ext>
            </c:extLst>
          </c:dPt>
          <c:dPt>
            <c:idx val="19"/>
            <c:invertIfNegative val="0"/>
            <c:bubble3D val="0"/>
            <c:spPr>
              <a:solidFill>
                <a:schemeClr val="accent6"/>
              </a:solidFill>
              <a:ln>
                <a:noFill/>
              </a:ln>
              <a:effectLst/>
            </c:spPr>
            <c:extLst>
              <c:ext xmlns:c16="http://schemas.microsoft.com/office/drawing/2014/chart" uri="{C3380CC4-5D6E-409C-BE32-E72D297353CC}">
                <c16:uniqueId val="{00000021-C5B6-4A75-8A42-9F73DD0A0F43}"/>
              </c:ext>
            </c:extLst>
          </c:dPt>
          <c:dPt>
            <c:idx val="20"/>
            <c:invertIfNegative val="0"/>
            <c:bubble3D val="0"/>
            <c:spPr>
              <a:solidFill>
                <a:schemeClr val="accent6"/>
              </a:solidFill>
              <a:ln>
                <a:noFill/>
              </a:ln>
              <a:effectLst/>
            </c:spPr>
            <c:extLst>
              <c:ext xmlns:c16="http://schemas.microsoft.com/office/drawing/2014/chart" uri="{C3380CC4-5D6E-409C-BE32-E72D297353CC}">
                <c16:uniqueId val="{00000023-C5B6-4A75-8A42-9F73DD0A0F43}"/>
              </c:ext>
            </c:extLst>
          </c:dPt>
          <c:dLbls>
            <c:dLbl>
              <c:idx val="0"/>
              <c:layout>
                <c:manualLayout>
                  <c:x val="9.6312355377424046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7898-46E8-8043-F99FA2AB5FD8}"/>
                </c:ext>
              </c:extLst>
            </c:dLbl>
            <c:dLbl>
              <c:idx val="1"/>
              <c:delete val="1"/>
              <c:extLst>
                <c:ext xmlns:c15="http://schemas.microsoft.com/office/drawing/2012/chart" uri="{CE6537A1-D6FC-4f65-9D91-7224C49458BB}"/>
                <c:ext xmlns:c16="http://schemas.microsoft.com/office/drawing/2014/chart" uri="{C3380CC4-5D6E-409C-BE32-E72D297353CC}">
                  <c16:uniqueId val="{00000001-C5B6-4A75-8A42-9F73DD0A0F43}"/>
                </c:ext>
              </c:extLst>
            </c:dLbl>
            <c:dLbl>
              <c:idx val="2"/>
              <c:delete val="1"/>
              <c:extLst>
                <c:ext xmlns:c15="http://schemas.microsoft.com/office/drawing/2012/chart" uri="{CE6537A1-D6FC-4f65-9D91-7224C49458BB}"/>
                <c:ext xmlns:c16="http://schemas.microsoft.com/office/drawing/2014/chart" uri="{C3380CC4-5D6E-409C-BE32-E72D297353CC}">
                  <c16:uniqueId val="{00000003-C5B6-4A75-8A42-9F73DD0A0F43}"/>
                </c:ext>
              </c:extLst>
            </c:dLbl>
            <c:dLbl>
              <c:idx val="3"/>
              <c:delete val="1"/>
              <c:extLst>
                <c:ext xmlns:c15="http://schemas.microsoft.com/office/drawing/2012/chart" uri="{CE6537A1-D6FC-4f65-9D91-7224C49458BB}"/>
                <c:ext xmlns:c16="http://schemas.microsoft.com/office/drawing/2014/chart" uri="{C3380CC4-5D6E-409C-BE32-E72D297353CC}">
                  <c16:uniqueId val="{00000005-C5B6-4A75-8A42-9F73DD0A0F43}"/>
                </c:ext>
              </c:extLst>
            </c:dLbl>
            <c:dLbl>
              <c:idx val="4"/>
              <c:delete val="1"/>
              <c:extLst>
                <c:ext xmlns:c15="http://schemas.microsoft.com/office/drawing/2012/chart" uri="{CE6537A1-D6FC-4f65-9D91-7224C49458BB}"/>
                <c:ext xmlns:c16="http://schemas.microsoft.com/office/drawing/2014/chart" uri="{C3380CC4-5D6E-409C-BE32-E72D297353CC}">
                  <c16:uniqueId val="{00000007-C5B6-4A75-8A42-9F73DD0A0F43}"/>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Penbraya</c:v>
                </c:pt>
                <c:pt idx="1">
                  <c:v>Trumenba</c:v>
                </c:pt>
                <c:pt idx="2">
                  <c:v>Bexsero</c:v>
                </c:pt>
                <c:pt idx="3">
                  <c:v>Menveo</c:v>
                </c:pt>
                <c:pt idx="4">
                  <c:v>MenQuadfi</c:v>
                </c:pt>
              </c:strCache>
            </c:strRef>
          </c:cat>
          <c:val>
            <c:numRef>
              <c:f>Sheet1!$B$2:$B$6</c:f>
              <c:numCache>
                <c:formatCode>0%</c:formatCode>
                <c:ptCount val="5"/>
                <c:pt idx="0">
                  <c:v>0.08</c:v>
                </c:pt>
                <c:pt idx="1">
                  <c:v>0.03</c:v>
                </c:pt>
                <c:pt idx="2">
                  <c:v>0.02</c:v>
                </c:pt>
                <c:pt idx="3">
                  <c:v>0.04</c:v>
                </c:pt>
                <c:pt idx="4">
                  <c:v>0.01</c:v>
                </c:pt>
              </c:numCache>
            </c:numRef>
          </c:val>
          <c:extLst>
            <c:ext xmlns:c16="http://schemas.microsoft.com/office/drawing/2014/chart" uri="{C3380CC4-5D6E-409C-BE32-E72D297353CC}">
              <c16:uniqueId val="{00000024-C5B6-4A75-8A42-9F73DD0A0F43}"/>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Penbraya</c:v>
                </c:pt>
                <c:pt idx="1">
                  <c:v>Trumenba</c:v>
                </c:pt>
                <c:pt idx="2">
                  <c:v>Bexsero</c:v>
                </c:pt>
                <c:pt idx="3">
                  <c:v>Menveo</c:v>
                </c:pt>
                <c:pt idx="4">
                  <c:v>MenQuadfi</c:v>
                </c:pt>
              </c:strCache>
            </c:strRef>
          </c:cat>
          <c:val>
            <c:numRef>
              <c:f>Sheet1!$C$2:$C$6</c:f>
              <c:numCache>
                <c:formatCode>0%</c:formatCode>
                <c:ptCount val="5"/>
                <c:pt idx="0">
                  <c:v>0.59</c:v>
                </c:pt>
                <c:pt idx="1">
                  <c:v>0.54</c:v>
                </c:pt>
                <c:pt idx="2">
                  <c:v>0.52</c:v>
                </c:pt>
                <c:pt idx="3">
                  <c:v>0.44</c:v>
                </c:pt>
                <c:pt idx="4">
                  <c:v>0.4</c:v>
                </c:pt>
              </c:numCache>
            </c:numRef>
          </c:val>
          <c:extLst>
            <c:ext xmlns:c16="http://schemas.microsoft.com/office/drawing/2014/chart" uri="{C3380CC4-5D6E-409C-BE32-E72D297353CC}">
              <c16:uniqueId val="{00000024-8678-4F59-8492-4D872DF1DE91}"/>
            </c:ext>
          </c:extLst>
        </c:ser>
        <c:ser>
          <c:idx val="2"/>
          <c:order val="2"/>
          <c:tx>
            <c:strRef>
              <c:f>Sheet1!$D$1</c:f>
              <c:strCache>
                <c:ptCount val="1"/>
                <c:pt idx="0">
                  <c:v>High Comfort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Penbraya</c:v>
                </c:pt>
                <c:pt idx="1">
                  <c:v>Trumenba</c:v>
                </c:pt>
                <c:pt idx="2">
                  <c:v>Bexsero</c:v>
                </c:pt>
                <c:pt idx="3">
                  <c:v>Menveo</c:v>
                </c:pt>
                <c:pt idx="4">
                  <c:v>MenQuadfi</c:v>
                </c:pt>
              </c:strCache>
            </c:strRef>
          </c:cat>
          <c:val>
            <c:numRef>
              <c:f>Sheet1!$D$2:$D$6</c:f>
              <c:numCache>
                <c:formatCode>0%</c:formatCode>
                <c:ptCount val="5"/>
                <c:pt idx="0">
                  <c:v>0.34</c:v>
                </c:pt>
                <c:pt idx="1">
                  <c:v>0.43</c:v>
                </c:pt>
                <c:pt idx="2">
                  <c:v>0.46</c:v>
                </c:pt>
                <c:pt idx="3">
                  <c:v>0.52</c:v>
                </c:pt>
                <c:pt idx="4">
                  <c:v>0.59</c:v>
                </c:pt>
              </c:numCache>
            </c:numRef>
          </c:val>
          <c:extLst>
            <c:ext xmlns:c16="http://schemas.microsoft.com/office/drawing/2014/chart" uri="{C3380CC4-5D6E-409C-BE32-E72D297353CC}">
              <c16:uniqueId val="{00000025-8678-4F59-8492-4D872DF1DE91}"/>
            </c:ext>
          </c:extLst>
        </c:ser>
        <c:dLbls>
          <c:showLegendKey val="0"/>
          <c:showVal val="1"/>
          <c:showCatName val="0"/>
          <c:showSerName val="0"/>
          <c:showPercent val="0"/>
          <c:showBubbleSize val="0"/>
        </c:dLbls>
        <c:gapWidth val="100"/>
        <c:overlap val="100"/>
        <c:axId val="1544824944"/>
        <c:axId val="1544829264"/>
      </c:barChart>
      <c:catAx>
        <c:axId val="1544824944"/>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400" b="0" i="0" u="none" strike="noStrike" kern="1200" baseline="0">
                <a:solidFill>
                  <a:schemeClr val="tx1"/>
                </a:solidFill>
                <a:latin typeface="+mn-lt"/>
                <a:ea typeface="+mn-ea"/>
                <a:cs typeface="+mn-cs"/>
              </a:defRPr>
            </a:pPr>
            <a:endParaRPr lang="en-US"/>
          </a:p>
        </c:txPr>
        <c:crossAx val="1544829264"/>
        <c:crosses val="autoZero"/>
        <c:auto val="1"/>
        <c:lblAlgn val="ctr"/>
        <c:lblOffset val="900"/>
        <c:noMultiLvlLbl val="0"/>
      </c:catAx>
      <c:valAx>
        <c:axId val="1544829264"/>
        <c:scaling>
          <c:orientation val="minMax"/>
          <c:max val="1"/>
        </c:scaling>
        <c:delete val="1"/>
        <c:axPos val="b"/>
        <c:numFmt formatCode="0%" sourceLinked="1"/>
        <c:majorTickMark val="out"/>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403053383104981"/>
          <c:y val="5.3883543451137085E-2"/>
          <c:w val="0.78137310522929859"/>
          <c:h val="0.86458615595410326"/>
        </c:manualLayout>
      </c:layout>
      <c:barChart>
        <c:barDir val="bar"/>
        <c:grouping val="stacked"/>
        <c:varyColors val="0"/>
        <c:ser>
          <c:idx val="0"/>
          <c:order val="0"/>
          <c:tx>
            <c:strRef>
              <c:f>Sheet1!$B$1</c:f>
              <c:strCache>
                <c:ptCount val="1"/>
                <c:pt idx="0">
                  <c:v>Low Comfort (1,2)</c:v>
                </c:pt>
              </c:strCache>
            </c:strRef>
          </c:tx>
          <c:spPr>
            <a:solidFill>
              <a:schemeClr val="accent6"/>
            </a:solidFill>
            <a:ln>
              <a:noFill/>
            </a:ln>
            <a:effectLst/>
          </c:spPr>
          <c:invertIfNegative val="0"/>
          <c:dPt>
            <c:idx val="0"/>
            <c:invertIfNegative val="0"/>
            <c:bubble3D val="0"/>
            <c:spPr>
              <a:solidFill>
                <a:schemeClr val="accent6"/>
              </a:solidFill>
              <a:ln>
                <a:noFill/>
              </a:ln>
              <a:effectLst/>
            </c:spPr>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3115-4A6F-B8F0-DA2FAA16523F}"/>
              </c:ext>
            </c:extLst>
          </c:dPt>
          <c:dPt>
            <c:idx val="1"/>
            <c:invertIfNegative val="0"/>
            <c:bubble3D val="0"/>
            <c:spPr>
              <a:solidFill>
                <a:schemeClr val="accent6"/>
              </a:solidFill>
              <a:ln>
                <a:noFill/>
              </a:ln>
              <a:effectLst/>
            </c:spPr>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3115-4A6F-B8F0-DA2FAA16523F}"/>
              </c:ext>
            </c:extLst>
          </c:dPt>
          <c:dPt>
            <c:idx val="2"/>
            <c:invertIfNegative val="0"/>
            <c:bubble3D val="0"/>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3115-4A6F-B8F0-DA2FAA16523F}"/>
              </c:ext>
            </c:extLst>
          </c:dPt>
          <c:dPt>
            <c:idx val="3"/>
            <c:invertIfNegative val="0"/>
            <c:bubble3D val="0"/>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3115-4A6F-B8F0-DA2FAA16523F}"/>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0"/>
              </c:ext>
            </c:extLst>
          </c:dLbls>
          <c:cat>
            <c:numRef>
              <c:f>Sheet1!$A$2:$A$3</c:f>
              <c:numCache>
                <c:formatCode>General</c:formatCode>
                <c:ptCount val="2"/>
              </c:numCache>
            </c:numRef>
          </c:cat>
          <c:val>
            <c:numRef>
              <c:f>Sheet1!$B$2:$B$3</c:f>
              <c:numCache>
                <c:formatCode>General</c:formatCode>
                <c:ptCount val="2"/>
              </c:numCache>
            </c:numRef>
          </c:val>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6-3115-4A6F-B8F0-DA2FAA16523F}"/>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0"/>
              </c:ext>
            </c:extLst>
          </c:dLbls>
          <c:cat>
            <c:numRef>
              <c:f>Sheet1!$A$2:$A$3</c:f>
              <c:numCache>
                <c:formatCode>General</c:formatCode>
                <c:ptCount val="2"/>
              </c:numCache>
            </c:numRef>
          </c:cat>
          <c:val>
            <c:numRef>
              <c:f>Sheet1!$C$2:$C$3</c:f>
              <c:numCache>
                <c:formatCode>General</c:formatCode>
                <c:ptCount val="2"/>
              </c:numCache>
            </c:numRef>
          </c:val>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3115-4A6F-B8F0-DA2FAA16523F}"/>
            </c:ext>
          </c:extLst>
        </c:ser>
        <c:ser>
          <c:idx val="2"/>
          <c:order val="2"/>
          <c:tx>
            <c:strRef>
              <c:f>Sheet1!$D$1</c:f>
              <c:strCache>
                <c:ptCount val="1"/>
                <c:pt idx="0">
                  <c:v>High Comfort (6,7)</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0"/>
              </c:ext>
            </c:extLst>
          </c:dLbls>
          <c:cat>
            <c:numRef>
              <c:f>Sheet1!$A$2:$A$3</c:f>
              <c:numCache>
                <c:formatCode>General</c:formatCode>
                <c:ptCount val="2"/>
              </c:numCache>
            </c:numRef>
          </c:cat>
          <c:val>
            <c:numRef>
              <c:f>Sheet1!$D$2:$D$3</c:f>
              <c:numCache>
                <c:formatCode>General</c:formatCode>
                <c:ptCount val="2"/>
              </c:numCache>
            </c:numRef>
          </c:val>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8-3115-4A6F-B8F0-DA2FAA16523F}"/>
            </c:ext>
          </c:extLst>
        </c:ser>
        <c:dLbls>
          <c:showLegendKey val="0"/>
          <c:showVal val="0"/>
          <c:showCatName val="0"/>
          <c:showSerName val="0"/>
          <c:showPercent val="0"/>
          <c:showBubbleSize val="0"/>
        </c:dLbls>
        <c:gapWidth val="60"/>
        <c:overlap val="100"/>
        <c:axId val="295108416"/>
        <c:axId val="294955632"/>
      </c:barChart>
      <c:catAx>
        <c:axId val="295108416"/>
        <c:scaling>
          <c:orientation val="maxMin"/>
        </c:scaling>
        <c:delete val="0"/>
        <c:axPos val="l"/>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94955632"/>
        <c:crosses val="autoZero"/>
        <c:auto val="1"/>
        <c:lblAlgn val="ctr"/>
        <c:lblOffset val="0"/>
        <c:noMultiLvlLbl val="0"/>
      </c:catAx>
      <c:valAx>
        <c:axId val="294955632"/>
        <c:scaling>
          <c:orientation val="minMax"/>
          <c:max val="1"/>
          <c:min val="0"/>
        </c:scaling>
        <c:delete val="0"/>
        <c:axPos val="b"/>
        <c:numFmt formatCode="0%" sourceLinked="0"/>
        <c:majorTickMark val="out"/>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95108416"/>
        <c:crosses val="max"/>
        <c:crossBetween val="between"/>
      </c:valAx>
      <c:spPr>
        <a:noFill/>
        <a:ln>
          <a:noFill/>
        </a:ln>
        <a:effectLst/>
      </c:spPr>
    </c:plotArea>
    <c:legend>
      <c:legendPos val="t"/>
      <c:layout>
        <c:manualLayout>
          <c:xMode val="edge"/>
          <c:yMode val="edge"/>
          <c:x val="2.5320388998533214E-2"/>
          <c:y val="0.10858475025507441"/>
          <c:w val="0.94689125312965661"/>
          <c:h val="0.7505514737316104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c15="http://schemas.microsoft.com/office/drawing/2012/char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630423429214205"/>
          <c:y val="4.9832537054763607E-2"/>
          <c:w val="0.63698025564601035"/>
          <c:h val="0.92794647260774987"/>
        </c:manualLayout>
      </c:layout>
      <c:barChart>
        <c:barDir val="bar"/>
        <c:grouping val="stacked"/>
        <c:varyColors val="0"/>
        <c:ser>
          <c:idx val="0"/>
          <c:order val="0"/>
          <c:tx>
            <c:strRef>
              <c:f>Sheet1!$B$1</c:f>
              <c:strCache>
                <c:ptCount val="1"/>
                <c:pt idx="0">
                  <c:v>Low Comfort (1,2)</c:v>
                </c:pt>
              </c:strCache>
            </c:strRef>
          </c:tx>
          <c:spPr>
            <a:solidFill>
              <a:schemeClr val="accent6"/>
            </a:solidFill>
            <a:ln>
              <a:noFill/>
            </a:ln>
            <a:effectLst/>
          </c:spPr>
          <c:invertIfNegative val="0"/>
          <c:dPt>
            <c:idx val="1"/>
            <c:invertIfNegative val="0"/>
            <c:bubble3D val="0"/>
            <c:spPr>
              <a:solidFill>
                <a:schemeClr val="accent6"/>
              </a:solidFill>
              <a:ln>
                <a:noFill/>
              </a:ln>
              <a:effectLst/>
            </c:spPr>
            <c:extLst>
              <c:ext xmlns:c16="http://schemas.microsoft.com/office/drawing/2014/chart" uri="{C3380CC4-5D6E-409C-BE32-E72D297353CC}">
                <c16:uniqueId val="{00000001-6522-4DCD-92E7-BAD46CEEB79B}"/>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3-6522-4DCD-92E7-BAD46CEEB79B}"/>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5-6522-4DCD-92E7-BAD46CEEB79B}"/>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7-6522-4DCD-92E7-BAD46CEEB79B}"/>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9-6522-4DCD-92E7-BAD46CEEB79B}"/>
              </c:ext>
            </c:extLst>
          </c:dPt>
          <c:dPt>
            <c:idx val="6"/>
            <c:invertIfNegative val="0"/>
            <c:bubble3D val="0"/>
            <c:spPr>
              <a:solidFill>
                <a:schemeClr val="accent6"/>
              </a:solidFill>
              <a:ln>
                <a:noFill/>
              </a:ln>
              <a:effectLst/>
            </c:spPr>
            <c:extLst>
              <c:ext xmlns:c16="http://schemas.microsoft.com/office/drawing/2014/chart" uri="{C3380CC4-5D6E-409C-BE32-E72D297353CC}">
                <c16:uniqueId val="{0000000B-6522-4DCD-92E7-BAD46CEEB79B}"/>
              </c:ext>
            </c:extLst>
          </c:dPt>
          <c:dPt>
            <c:idx val="7"/>
            <c:invertIfNegative val="0"/>
            <c:bubble3D val="0"/>
            <c:spPr>
              <a:solidFill>
                <a:schemeClr val="accent6"/>
              </a:solidFill>
              <a:ln>
                <a:noFill/>
              </a:ln>
              <a:effectLst/>
            </c:spPr>
            <c:extLst>
              <c:ext xmlns:c16="http://schemas.microsoft.com/office/drawing/2014/chart" uri="{C3380CC4-5D6E-409C-BE32-E72D297353CC}">
                <c16:uniqueId val="{0000000D-6522-4DCD-92E7-BAD46CEEB79B}"/>
              </c:ext>
            </c:extLst>
          </c:dPt>
          <c:dPt>
            <c:idx val="8"/>
            <c:invertIfNegative val="0"/>
            <c:bubble3D val="0"/>
            <c:spPr>
              <a:solidFill>
                <a:schemeClr val="accent6"/>
              </a:solidFill>
              <a:ln>
                <a:noFill/>
              </a:ln>
              <a:effectLst/>
            </c:spPr>
            <c:extLst>
              <c:ext xmlns:c16="http://schemas.microsoft.com/office/drawing/2014/chart" uri="{C3380CC4-5D6E-409C-BE32-E72D297353CC}">
                <c16:uniqueId val="{0000000F-6522-4DCD-92E7-BAD46CEEB79B}"/>
              </c:ext>
            </c:extLst>
          </c:dPt>
          <c:dPt>
            <c:idx val="9"/>
            <c:invertIfNegative val="0"/>
            <c:bubble3D val="0"/>
            <c:spPr>
              <a:solidFill>
                <a:schemeClr val="accent6"/>
              </a:solidFill>
              <a:ln>
                <a:noFill/>
              </a:ln>
              <a:effectLst/>
            </c:spPr>
            <c:extLst>
              <c:ext xmlns:c16="http://schemas.microsoft.com/office/drawing/2014/chart" uri="{C3380CC4-5D6E-409C-BE32-E72D297353CC}">
                <c16:uniqueId val="{00000011-6522-4DCD-92E7-BAD46CEEB79B}"/>
              </c:ext>
            </c:extLst>
          </c:dPt>
          <c:dPt>
            <c:idx val="10"/>
            <c:invertIfNegative val="0"/>
            <c:bubble3D val="0"/>
            <c:spPr>
              <a:solidFill>
                <a:schemeClr val="accent6"/>
              </a:solidFill>
              <a:ln>
                <a:noFill/>
              </a:ln>
              <a:effectLst/>
            </c:spPr>
            <c:extLst>
              <c:ext xmlns:c16="http://schemas.microsoft.com/office/drawing/2014/chart" uri="{C3380CC4-5D6E-409C-BE32-E72D297353CC}">
                <c16:uniqueId val="{00000013-6522-4DCD-92E7-BAD46CEEB79B}"/>
              </c:ext>
            </c:extLst>
          </c:dPt>
          <c:dPt>
            <c:idx val="11"/>
            <c:invertIfNegative val="0"/>
            <c:bubble3D val="0"/>
            <c:spPr>
              <a:solidFill>
                <a:schemeClr val="accent6"/>
              </a:solidFill>
              <a:ln>
                <a:noFill/>
              </a:ln>
              <a:effectLst/>
            </c:spPr>
            <c:extLst>
              <c:ext xmlns:c16="http://schemas.microsoft.com/office/drawing/2014/chart" uri="{C3380CC4-5D6E-409C-BE32-E72D297353CC}">
                <c16:uniqueId val="{00000015-6522-4DCD-92E7-BAD46CEEB79B}"/>
              </c:ext>
            </c:extLst>
          </c:dPt>
          <c:dPt>
            <c:idx val="12"/>
            <c:invertIfNegative val="0"/>
            <c:bubble3D val="0"/>
            <c:spPr>
              <a:solidFill>
                <a:schemeClr val="accent6"/>
              </a:solidFill>
              <a:ln>
                <a:noFill/>
              </a:ln>
              <a:effectLst/>
            </c:spPr>
            <c:extLst>
              <c:ext xmlns:c16="http://schemas.microsoft.com/office/drawing/2014/chart" uri="{C3380CC4-5D6E-409C-BE32-E72D297353CC}">
                <c16:uniqueId val="{00000017-6522-4DCD-92E7-BAD46CEEB79B}"/>
              </c:ext>
            </c:extLst>
          </c:dPt>
          <c:dPt>
            <c:idx val="13"/>
            <c:invertIfNegative val="0"/>
            <c:bubble3D val="0"/>
            <c:spPr>
              <a:solidFill>
                <a:schemeClr val="accent6"/>
              </a:solidFill>
              <a:ln>
                <a:noFill/>
              </a:ln>
              <a:effectLst/>
            </c:spPr>
            <c:extLst>
              <c:ext xmlns:c16="http://schemas.microsoft.com/office/drawing/2014/chart" uri="{C3380CC4-5D6E-409C-BE32-E72D297353CC}">
                <c16:uniqueId val="{00000019-6522-4DCD-92E7-BAD46CEEB79B}"/>
              </c:ext>
            </c:extLst>
          </c:dPt>
          <c:dPt>
            <c:idx val="14"/>
            <c:invertIfNegative val="0"/>
            <c:bubble3D val="0"/>
            <c:spPr>
              <a:solidFill>
                <a:schemeClr val="accent6"/>
              </a:solidFill>
              <a:ln>
                <a:noFill/>
              </a:ln>
              <a:effectLst/>
            </c:spPr>
            <c:extLst>
              <c:ext xmlns:c16="http://schemas.microsoft.com/office/drawing/2014/chart" uri="{C3380CC4-5D6E-409C-BE32-E72D297353CC}">
                <c16:uniqueId val="{0000001B-6522-4DCD-92E7-BAD46CEEB79B}"/>
              </c:ext>
            </c:extLst>
          </c:dPt>
          <c:dPt>
            <c:idx val="15"/>
            <c:invertIfNegative val="0"/>
            <c:bubble3D val="0"/>
            <c:spPr>
              <a:solidFill>
                <a:schemeClr val="accent6"/>
              </a:solidFill>
              <a:ln>
                <a:noFill/>
              </a:ln>
              <a:effectLst/>
            </c:spPr>
            <c:extLst>
              <c:ext xmlns:c16="http://schemas.microsoft.com/office/drawing/2014/chart" uri="{C3380CC4-5D6E-409C-BE32-E72D297353CC}">
                <c16:uniqueId val="{0000001D-6522-4DCD-92E7-BAD46CEEB79B}"/>
              </c:ext>
            </c:extLst>
          </c:dPt>
          <c:dPt>
            <c:idx val="16"/>
            <c:invertIfNegative val="0"/>
            <c:bubble3D val="0"/>
            <c:spPr>
              <a:solidFill>
                <a:schemeClr val="accent6"/>
              </a:solidFill>
              <a:ln>
                <a:noFill/>
              </a:ln>
              <a:effectLst/>
            </c:spPr>
            <c:extLst>
              <c:ext xmlns:c16="http://schemas.microsoft.com/office/drawing/2014/chart" uri="{C3380CC4-5D6E-409C-BE32-E72D297353CC}">
                <c16:uniqueId val="{0000001F-6522-4DCD-92E7-BAD46CEEB79B}"/>
              </c:ext>
            </c:extLst>
          </c:dPt>
          <c:dPt>
            <c:idx val="19"/>
            <c:invertIfNegative val="0"/>
            <c:bubble3D val="0"/>
            <c:spPr>
              <a:solidFill>
                <a:schemeClr val="accent6"/>
              </a:solidFill>
              <a:ln>
                <a:noFill/>
              </a:ln>
              <a:effectLst/>
            </c:spPr>
            <c:extLst>
              <c:ext xmlns:c16="http://schemas.microsoft.com/office/drawing/2014/chart" uri="{C3380CC4-5D6E-409C-BE32-E72D297353CC}">
                <c16:uniqueId val="{00000021-6522-4DCD-92E7-BAD46CEEB79B}"/>
              </c:ext>
            </c:extLst>
          </c:dPt>
          <c:dPt>
            <c:idx val="20"/>
            <c:invertIfNegative val="0"/>
            <c:bubble3D val="0"/>
            <c:spPr>
              <a:solidFill>
                <a:schemeClr val="accent6"/>
              </a:solidFill>
              <a:ln>
                <a:noFill/>
              </a:ln>
              <a:effectLst/>
            </c:spPr>
            <c:extLst>
              <c:ext xmlns:c16="http://schemas.microsoft.com/office/drawing/2014/chart" uri="{C3380CC4-5D6E-409C-BE32-E72D297353CC}">
                <c16:uniqueId val="{00000023-6522-4DCD-92E7-BAD46CEEB79B}"/>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3716-4091-B16D-43779A50B559}"/>
                </c:ext>
              </c:extLst>
            </c:dLbl>
            <c:spPr>
              <a:noFill/>
              <a:ln>
                <a:noFill/>
              </a:ln>
              <a:effectLst/>
            </c:spPr>
            <c:txPr>
              <a:bodyPr rot="0" spcFirstLastPara="1" vertOverflow="ellipsis" vert="horz" wrap="square" lIns="38100" tIns="19050" rIns="38100" bIns="19050" anchor="ctr" anchorCtr="0">
                <a:spAutoFit/>
              </a:bodyPr>
              <a:lstStyle/>
              <a:p>
                <a:pPr algn="ctr">
                  <a:defRPr lang="en-US" sz="1197"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COVID-19</c:v>
                </c:pt>
                <c:pt idx="1">
                  <c:v>HPV</c:v>
                </c:pt>
                <c:pt idx="2">
                  <c:v>Influenza</c:v>
                </c:pt>
                <c:pt idx="3">
                  <c:v>Tdap</c:v>
                </c:pt>
              </c:strCache>
            </c:strRef>
          </c:cat>
          <c:val>
            <c:numRef>
              <c:f>Sheet1!$B$2:$B$5</c:f>
              <c:numCache>
                <c:formatCode>0%</c:formatCode>
                <c:ptCount val="4"/>
                <c:pt idx="0">
                  <c:v>0.13</c:v>
                </c:pt>
                <c:pt idx="1">
                  <c:v>0.04</c:v>
                </c:pt>
                <c:pt idx="2">
                  <c:v>0.04</c:v>
                </c:pt>
                <c:pt idx="3">
                  <c:v>0.04</c:v>
                </c:pt>
              </c:numCache>
            </c:numRef>
          </c:val>
          <c:extLst>
            <c:ext xmlns:c16="http://schemas.microsoft.com/office/drawing/2014/chart" uri="{C3380CC4-5D6E-409C-BE32-E72D297353CC}">
              <c16:uniqueId val="{00000024-6522-4DCD-92E7-BAD46CEEB79B}"/>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COVID-19</c:v>
                </c:pt>
                <c:pt idx="1">
                  <c:v>HPV</c:v>
                </c:pt>
                <c:pt idx="2">
                  <c:v>Influenza</c:v>
                </c:pt>
                <c:pt idx="3">
                  <c:v>Tdap</c:v>
                </c:pt>
              </c:strCache>
            </c:strRef>
          </c:cat>
          <c:val>
            <c:numRef>
              <c:f>Sheet1!$C$2:$C$5</c:f>
              <c:numCache>
                <c:formatCode>0%</c:formatCode>
                <c:ptCount val="4"/>
                <c:pt idx="0">
                  <c:v>0.28999999999999998</c:v>
                </c:pt>
                <c:pt idx="1">
                  <c:v>0.24</c:v>
                </c:pt>
                <c:pt idx="2">
                  <c:v>0.22</c:v>
                </c:pt>
                <c:pt idx="3">
                  <c:v>0.21</c:v>
                </c:pt>
              </c:numCache>
            </c:numRef>
          </c:val>
          <c:extLst>
            <c:ext xmlns:c16="http://schemas.microsoft.com/office/drawing/2014/chart" uri="{C3380CC4-5D6E-409C-BE32-E72D297353CC}">
              <c16:uniqueId val="{00000025-6522-4DCD-92E7-BAD46CEEB79B}"/>
            </c:ext>
          </c:extLst>
        </c:ser>
        <c:ser>
          <c:idx val="2"/>
          <c:order val="2"/>
          <c:tx>
            <c:strRef>
              <c:f>Sheet1!$D$1</c:f>
              <c:strCache>
                <c:ptCount val="1"/>
                <c:pt idx="0">
                  <c:v>High Comfort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COVID-19</c:v>
                </c:pt>
                <c:pt idx="1">
                  <c:v>HPV</c:v>
                </c:pt>
                <c:pt idx="2">
                  <c:v>Influenza</c:v>
                </c:pt>
                <c:pt idx="3">
                  <c:v>Tdap</c:v>
                </c:pt>
              </c:strCache>
            </c:strRef>
          </c:cat>
          <c:val>
            <c:numRef>
              <c:f>Sheet1!$D$2:$D$5</c:f>
              <c:numCache>
                <c:formatCode>0%</c:formatCode>
                <c:ptCount val="4"/>
                <c:pt idx="0">
                  <c:v>0.59</c:v>
                </c:pt>
                <c:pt idx="1">
                  <c:v>0.73</c:v>
                </c:pt>
                <c:pt idx="2">
                  <c:v>0.75</c:v>
                </c:pt>
                <c:pt idx="3">
                  <c:v>0.76</c:v>
                </c:pt>
              </c:numCache>
            </c:numRef>
          </c:val>
          <c:extLst>
            <c:ext xmlns:c16="http://schemas.microsoft.com/office/drawing/2014/chart" uri="{C3380CC4-5D6E-409C-BE32-E72D297353CC}">
              <c16:uniqueId val="{00000026-6522-4DCD-92E7-BAD46CEEB79B}"/>
            </c:ext>
          </c:extLst>
        </c:ser>
        <c:dLbls>
          <c:showLegendKey val="0"/>
          <c:showVal val="1"/>
          <c:showCatName val="0"/>
          <c:showSerName val="0"/>
          <c:showPercent val="0"/>
          <c:showBubbleSize val="0"/>
        </c:dLbls>
        <c:gapWidth val="100"/>
        <c:overlap val="100"/>
        <c:axId val="1544824944"/>
        <c:axId val="1544829264"/>
      </c:barChart>
      <c:catAx>
        <c:axId val="1544824944"/>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400" b="0" i="0" u="none" strike="noStrike" kern="1200" baseline="0">
                <a:solidFill>
                  <a:schemeClr val="tx1"/>
                </a:solidFill>
                <a:latin typeface="+mn-lt"/>
                <a:ea typeface="+mn-ea"/>
                <a:cs typeface="+mn-cs"/>
              </a:defRPr>
            </a:pPr>
            <a:endParaRPr lang="en-US"/>
          </a:p>
        </c:txPr>
        <c:crossAx val="1544829264"/>
        <c:crosses val="autoZero"/>
        <c:auto val="1"/>
        <c:lblAlgn val="ctr"/>
        <c:lblOffset val="100"/>
        <c:noMultiLvlLbl val="0"/>
      </c:catAx>
      <c:valAx>
        <c:axId val="1544829264"/>
        <c:scaling>
          <c:orientation val="minMax"/>
          <c:max val="1"/>
        </c:scaling>
        <c:delete val="1"/>
        <c:axPos val="b"/>
        <c:numFmt formatCode="0%" sourceLinked="1"/>
        <c:majorTickMark val="out"/>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403053383104981"/>
          <c:y val="5.3883543451137085E-2"/>
          <c:w val="0.78137310522929859"/>
          <c:h val="0.86458615595410326"/>
        </c:manualLayout>
      </c:layout>
      <c:barChart>
        <c:barDir val="bar"/>
        <c:grouping val="stacked"/>
        <c:varyColors val="0"/>
        <c:ser>
          <c:idx val="0"/>
          <c:order val="0"/>
          <c:tx>
            <c:strRef>
              <c:f>Sheet1!$B$1</c:f>
              <c:strCache>
                <c:ptCount val="1"/>
                <c:pt idx="0">
                  <c:v>Low Willingness (1,2)</c:v>
                </c:pt>
              </c:strCache>
            </c:strRef>
          </c:tx>
          <c:spPr>
            <a:solidFill>
              <a:schemeClr val="accent6"/>
            </a:solidFill>
            <a:ln>
              <a:noFill/>
            </a:ln>
            <a:effectLst/>
          </c:spPr>
          <c:invertIfNegative val="0"/>
          <c:dPt>
            <c:idx val="0"/>
            <c:invertIfNegative val="0"/>
            <c:bubble3D val="0"/>
            <c:spPr>
              <a:solidFill>
                <a:schemeClr val="accent6"/>
              </a:solidFill>
              <a:ln>
                <a:noFill/>
              </a:ln>
              <a:effectLst/>
            </c:spPr>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http://schemas.microsoft.com/office/drawing/2014/chart" uri="{C3380CC4-5D6E-409C-BE32-E72D297353CC}">
                <c16:uniqueId val="{00000001-33FB-49EC-8404-F46970AC2651}"/>
              </c:ext>
            </c:extLst>
          </c:dPt>
          <c:dPt>
            <c:idx val="1"/>
            <c:invertIfNegative val="0"/>
            <c:bubble3D val="0"/>
            <c:spPr>
              <a:solidFill>
                <a:schemeClr val="accent6"/>
              </a:solidFill>
              <a:ln>
                <a:noFill/>
              </a:ln>
              <a:effectLst/>
            </c:spPr>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http://schemas.microsoft.com/office/drawing/2014/chart" uri="{C3380CC4-5D6E-409C-BE32-E72D297353CC}">
                <c16:uniqueId val="{00000003-33FB-49EC-8404-F46970AC2651}"/>
              </c:ext>
            </c:extLst>
          </c:dPt>
          <c:dPt>
            <c:idx val="2"/>
            <c:invertIfNegative val="0"/>
            <c:bubble3D val="0"/>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http://schemas.microsoft.com/office/drawing/2014/chart" uri="{C3380CC4-5D6E-409C-BE32-E72D297353CC}">
                <c16:uniqueId val="{00000004-33FB-49EC-8404-F46970AC2651}"/>
              </c:ext>
            </c:extLst>
          </c:dPt>
          <c:dPt>
            <c:idx val="3"/>
            <c:invertIfNegative val="0"/>
            <c:bubble3D val="0"/>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http://schemas.microsoft.com/office/drawing/2014/chart" uri="{C3380CC4-5D6E-409C-BE32-E72D297353CC}">
                <c16:uniqueId val="{00000005-33FB-49EC-8404-F46970AC2651}"/>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5="http://schemas.microsoft.com/office/drawing/2012/chart" uri="{CE6537A1-D6FC-4f65-9D91-7224C49458BB}">
                <c15:showLeaderLines val="0"/>
              </c:ext>
            </c:extLst>
          </c:dLbls>
          <c:cat>
            <c:numRef>
              <c:f>Sheet1!$A$2:$A$3</c:f>
              <c:numCache>
                <c:formatCode>General</c:formatCode>
                <c:ptCount val="2"/>
              </c:numCache>
            </c:numRef>
          </c:cat>
          <c:val>
            <c:numRef>
              <c:f>Sheet1!$B$2:$B$3</c:f>
              <c:numCache>
                <c:formatCode>General</c:formatCode>
                <c:ptCount val="2"/>
              </c:numCache>
            </c:numRef>
          </c:val>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http://schemas.microsoft.com/office/drawing/2014/chart" uri="{C3380CC4-5D6E-409C-BE32-E72D297353CC}">
              <c16:uniqueId val="{00000006-33FB-49EC-8404-F46970AC2651}"/>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5="http://schemas.microsoft.com/office/drawing/2012/chart" uri="{CE6537A1-D6FC-4f65-9D91-7224C49458BB}">
                <c15:showLeaderLines val="0"/>
              </c:ext>
            </c:extLst>
          </c:dLbls>
          <c:cat>
            <c:numRef>
              <c:f>Sheet1!$A$2:$A$3</c:f>
              <c:numCache>
                <c:formatCode>General</c:formatCode>
                <c:ptCount val="2"/>
              </c:numCache>
            </c:numRef>
          </c:cat>
          <c:val>
            <c:numRef>
              <c:f>Sheet1!$C$2:$C$3</c:f>
              <c:numCache>
                <c:formatCode>General</c:formatCode>
                <c:ptCount val="2"/>
              </c:numCache>
            </c:numRef>
          </c:val>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http://schemas.microsoft.com/office/drawing/2014/chart" uri="{C3380CC4-5D6E-409C-BE32-E72D297353CC}">
              <c16:uniqueId val="{00000007-33FB-49EC-8404-F46970AC2651}"/>
            </c:ext>
          </c:extLst>
        </c:ser>
        <c:ser>
          <c:idx val="2"/>
          <c:order val="2"/>
          <c:tx>
            <c:strRef>
              <c:f>Sheet1!$D$1</c:f>
              <c:strCache>
                <c:ptCount val="1"/>
                <c:pt idx="0">
                  <c:v>High Willingness (6,7)</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5="http://schemas.microsoft.com/office/drawing/2012/chart" uri="{CE6537A1-D6FC-4f65-9D91-7224C49458BB}">
                <c15:showLeaderLines val="0"/>
              </c:ext>
            </c:extLst>
          </c:dLbls>
          <c:cat>
            <c:numRef>
              <c:f>Sheet1!$A$2:$A$3</c:f>
              <c:numCache>
                <c:formatCode>General</c:formatCode>
                <c:ptCount val="2"/>
              </c:numCache>
            </c:numRef>
          </c:cat>
          <c:val>
            <c:numRef>
              <c:f>Sheet1!$D$2:$D$3</c:f>
              <c:numCache>
                <c:formatCode>General</c:formatCode>
                <c:ptCount val="2"/>
              </c:numCache>
            </c:numRef>
          </c:val>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http://schemas.microsoft.com/office/drawing/2014/chart" uri="{C3380CC4-5D6E-409C-BE32-E72D297353CC}">
              <c16:uniqueId val="{00000008-33FB-49EC-8404-F46970AC2651}"/>
            </c:ext>
          </c:extLst>
        </c:ser>
        <c:dLbls>
          <c:showLegendKey val="0"/>
          <c:showVal val="0"/>
          <c:showCatName val="0"/>
          <c:showSerName val="0"/>
          <c:showPercent val="0"/>
          <c:showBubbleSize val="0"/>
        </c:dLbls>
        <c:gapWidth val="60"/>
        <c:overlap val="100"/>
        <c:axId val="295108416"/>
        <c:axId val="294955632"/>
      </c:barChart>
      <c:catAx>
        <c:axId val="295108416"/>
        <c:scaling>
          <c:orientation val="maxMin"/>
        </c:scaling>
        <c:delete val="0"/>
        <c:axPos val="l"/>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94955632"/>
        <c:crosses val="autoZero"/>
        <c:auto val="1"/>
        <c:lblAlgn val="ctr"/>
        <c:lblOffset val="0"/>
        <c:noMultiLvlLbl val="0"/>
      </c:catAx>
      <c:valAx>
        <c:axId val="294955632"/>
        <c:scaling>
          <c:orientation val="minMax"/>
          <c:max val="1"/>
          <c:min val="0"/>
        </c:scaling>
        <c:delete val="0"/>
        <c:axPos val="b"/>
        <c:numFmt formatCode="0%" sourceLinked="0"/>
        <c:majorTickMark val="out"/>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95108416"/>
        <c:crosses val="max"/>
        <c:crossBetween val="between"/>
      </c:valAx>
      <c:spPr>
        <a:noFill/>
        <a:ln>
          <a:noFill/>
        </a:ln>
        <a:effectLst/>
      </c:spPr>
    </c:plotArea>
    <c:legend>
      <c:legendPos val="t"/>
      <c:layout>
        <c:manualLayout>
          <c:xMode val="edge"/>
          <c:yMode val="edge"/>
          <c:x val="2.5320388998533214E-2"/>
          <c:y val="0.10858475025507441"/>
          <c:w val="0.94689125312965661"/>
          <c:h val="0.7505514737316104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xmlns:c15="http://schemas.microsoft.com/office/drawing/2012/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en-US"/>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Disagree strongly (1)</c:v>
                </c:pt>
              </c:strCache>
            </c:strRef>
          </c:tx>
          <c:spPr>
            <a:solidFill>
              <a:srgbClr val="EBE3FD"/>
            </a:solidFill>
            <a:ln>
              <a:noFill/>
            </a:ln>
            <a:effectLst/>
          </c:spPr>
          <c:invertIfNegative val="0"/>
          <c:dPt>
            <c:idx val="0"/>
            <c:invertIfNegative val="0"/>
            <c:bubble3D val="0"/>
            <c:extLst>
              <c:ext xmlns:c16="http://schemas.microsoft.com/office/drawing/2014/chart" uri="{C3380CC4-5D6E-409C-BE32-E72D297353CC}">
                <c16:uniqueId val="{00000000-78B4-4B80-9E71-16F357C8519A}"/>
              </c:ext>
            </c:extLst>
          </c:dPt>
          <c:dPt>
            <c:idx val="1"/>
            <c:invertIfNegative val="0"/>
            <c:bubble3D val="0"/>
            <c:extLst>
              <c:ext xmlns:c16="http://schemas.microsoft.com/office/drawing/2014/chart" uri="{C3380CC4-5D6E-409C-BE32-E72D297353CC}">
                <c16:uniqueId val="{00000001-78B4-4B80-9E71-16F357C8519A}"/>
              </c:ext>
            </c:extLst>
          </c:dPt>
          <c:dPt>
            <c:idx val="2"/>
            <c:invertIfNegative val="0"/>
            <c:bubble3D val="0"/>
            <c:extLst>
              <c:ext xmlns:c16="http://schemas.microsoft.com/office/drawing/2014/chart" uri="{C3380CC4-5D6E-409C-BE32-E72D297353CC}">
                <c16:uniqueId val="{00000002-78B4-4B80-9E71-16F357C8519A}"/>
              </c:ext>
            </c:extLst>
          </c:dPt>
          <c:dPt>
            <c:idx val="3"/>
            <c:invertIfNegative val="0"/>
            <c:bubble3D val="0"/>
            <c:extLst>
              <c:ext xmlns:c16="http://schemas.microsoft.com/office/drawing/2014/chart" uri="{C3380CC4-5D6E-409C-BE32-E72D297353CC}">
                <c16:uniqueId val="{00000003-78B4-4B80-9E71-16F357C8519A}"/>
              </c:ext>
            </c:extLst>
          </c:dPt>
          <c:cat>
            <c:strRef>
              <c:f>Sheet1!$A$2</c:f>
              <c:strCache>
                <c:ptCount val="1"/>
                <c:pt idx="0">
                  <c:v>Sep'25</c:v>
                </c:pt>
              </c:strCache>
            </c:strRef>
          </c:cat>
          <c:val>
            <c:numRef>
              <c:f>Sheet1!$B$2</c:f>
              <c:numCache>
                <c:formatCode>0%</c:formatCode>
                <c:ptCount val="1"/>
                <c:pt idx="0">
                  <c:v>0.04</c:v>
                </c:pt>
              </c:numCache>
            </c:numRef>
          </c:val>
          <c:extLst>
            <c:ext xmlns:c16="http://schemas.microsoft.com/office/drawing/2014/chart" uri="{C3380CC4-5D6E-409C-BE32-E72D297353CC}">
              <c16:uniqueId val="{00000004-78B4-4B80-9E71-16F357C8519A}"/>
            </c:ext>
          </c:extLst>
        </c:ser>
        <c:ser>
          <c:idx val="1"/>
          <c:order val="1"/>
          <c:tx>
            <c:strRef>
              <c:f>Sheet1!$C$1</c:f>
              <c:strCache>
                <c:ptCount val="1"/>
                <c:pt idx="0">
                  <c:v>2</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0.09</c:v>
                </c:pt>
              </c:numCache>
            </c:numRef>
          </c:val>
          <c:extLst>
            <c:ext xmlns:c16="http://schemas.microsoft.com/office/drawing/2014/chart" uri="{C3380CC4-5D6E-409C-BE32-E72D297353CC}">
              <c16:uniqueId val="{00000005-78B4-4B80-9E71-16F357C8519A}"/>
            </c:ext>
          </c:extLst>
        </c:ser>
        <c:ser>
          <c:idx val="2"/>
          <c:order val="2"/>
          <c:tx>
            <c:strRef>
              <c:f>Sheet1!$D$1</c:f>
              <c:strCache>
                <c:ptCount val="1"/>
                <c:pt idx="0">
                  <c:v>3</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0.16</c:v>
                </c:pt>
              </c:numCache>
            </c:numRef>
          </c:val>
          <c:extLst>
            <c:ext xmlns:c16="http://schemas.microsoft.com/office/drawing/2014/chart" uri="{C3380CC4-5D6E-409C-BE32-E72D297353CC}">
              <c16:uniqueId val="{00000006-78B4-4B80-9E71-16F357C8519A}"/>
            </c:ext>
          </c:extLst>
        </c:ser>
        <c:ser>
          <c:idx val="3"/>
          <c:order val="3"/>
          <c:tx>
            <c:strRef>
              <c:f>Sheet1!$E$1</c:f>
              <c:strCache>
                <c:ptCount val="1"/>
                <c:pt idx="0">
                  <c:v>4</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Sheet1!$E$2</c:f>
              <c:numCache>
                <c:formatCode>0%</c:formatCode>
                <c:ptCount val="1"/>
                <c:pt idx="0">
                  <c:v>0.18</c:v>
                </c:pt>
              </c:numCache>
            </c:numRef>
          </c:val>
          <c:extLst>
            <c:ext xmlns:c16="http://schemas.microsoft.com/office/drawing/2014/chart" uri="{C3380CC4-5D6E-409C-BE32-E72D297353CC}">
              <c16:uniqueId val="{00000007-78B4-4B80-9E71-16F357C8519A}"/>
            </c:ext>
          </c:extLst>
        </c:ser>
        <c:ser>
          <c:idx val="4"/>
          <c:order val="4"/>
          <c:tx>
            <c:strRef>
              <c:f>Sheet1!$F$1</c:f>
              <c:strCache>
                <c:ptCount val="1"/>
                <c:pt idx="0">
                  <c:v>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Sheet1!$F$2</c:f>
              <c:numCache>
                <c:formatCode>0%</c:formatCode>
                <c:ptCount val="1"/>
                <c:pt idx="0">
                  <c:v>0.25</c:v>
                </c:pt>
              </c:numCache>
            </c:numRef>
          </c:val>
          <c:extLst>
            <c:ext xmlns:c16="http://schemas.microsoft.com/office/drawing/2014/chart" uri="{C3380CC4-5D6E-409C-BE32-E72D297353CC}">
              <c16:uniqueId val="{00000008-78B4-4B80-9E71-16F357C8519A}"/>
            </c:ext>
          </c:extLst>
        </c:ser>
        <c:ser>
          <c:idx val="5"/>
          <c:order val="5"/>
          <c:tx>
            <c:strRef>
              <c:f>Sheet1!$G$1</c:f>
              <c:strCache>
                <c:ptCount val="1"/>
                <c:pt idx="0">
                  <c:v>6</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Sheet1!$G$2</c:f>
              <c:numCache>
                <c:formatCode>0%</c:formatCode>
                <c:ptCount val="1"/>
                <c:pt idx="0">
                  <c:v>0.19</c:v>
                </c:pt>
              </c:numCache>
            </c:numRef>
          </c:val>
          <c:extLst>
            <c:ext xmlns:c16="http://schemas.microsoft.com/office/drawing/2014/chart" uri="{C3380CC4-5D6E-409C-BE32-E72D297353CC}">
              <c16:uniqueId val="{00000009-78B4-4B80-9E71-16F357C8519A}"/>
            </c:ext>
          </c:extLst>
        </c:ser>
        <c:ser>
          <c:idx val="6"/>
          <c:order val="6"/>
          <c:tx>
            <c:strRef>
              <c:f>Sheet1!$H$1</c:f>
              <c:strCache>
                <c:ptCount val="1"/>
                <c:pt idx="0">
                  <c:v>Agree strongly (7)</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Sheet1!$H$2</c:f>
              <c:numCache>
                <c:formatCode>0%</c:formatCode>
                <c:ptCount val="1"/>
                <c:pt idx="0">
                  <c:v>0.1</c:v>
                </c:pt>
              </c:numCache>
            </c:numRef>
          </c:val>
          <c:extLst>
            <c:ext xmlns:c16="http://schemas.microsoft.com/office/drawing/2014/chart" uri="{C3380CC4-5D6E-409C-BE32-E72D297353CC}">
              <c16:uniqueId val="{0000000A-78B4-4B80-9E71-16F357C8519A}"/>
            </c:ext>
          </c:extLst>
        </c:ser>
        <c:dLbls>
          <c:showLegendKey val="0"/>
          <c:showVal val="0"/>
          <c:showCatName val="0"/>
          <c:showSerName val="0"/>
          <c:showPercent val="0"/>
          <c:showBubbleSize val="0"/>
        </c:dLbls>
        <c:gapWidth val="3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6688409664986909E-2"/>
          <c:y val="3.9038413701621644E-2"/>
          <c:w val="0.84749480191436044"/>
          <c:h val="0.93874081843232116"/>
        </c:manualLayout>
      </c:layout>
      <c:barChart>
        <c:barDir val="bar"/>
        <c:grouping val="clustered"/>
        <c:varyColors val="0"/>
        <c:ser>
          <c:idx val="0"/>
          <c:order val="0"/>
          <c:tx>
            <c:strRef>
              <c:f>Sheet1!$B$1</c:f>
              <c:strCache>
                <c:ptCount val="1"/>
                <c:pt idx="0">
                  <c:v>Sep'25</c:v>
                </c:pt>
              </c:strCache>
            </c:strRef>
          </c:tx>
          <c:spPr>
            <a:solidFill>
              <a:schemeClr val="accent1">
                <a:lumMod val="60000"/>
                <a:lumOff val="40000"/>
              </a:schemeClr>
            </a:solidFill>
            <a:ln>
              <a:noFill/>
            </a:ln>
            <a:effectLst/>
          </c:spPr>
          <c:invertIfNegative val="0"/>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F2DC-42E7-9A92-DD6F1CC23C13}"/>
              </c:ext>
            </c:extLst>
          </c:dPt>
          <c:dPt>
            <c:idx val="2"/>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3-F2DC-42E7-9A92-DD6F1CC23C13}"/>
              </c:ext>
            </c:extLst>
          </c:dPt>
          <c:dPt>
            <c:idx val="3"/>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5-F2DC-42E7-9A92-DD6F1CC23C13}"/>
              </c:ext>
            </c:extLst>
          </c:dPt>
          <c:dPt>
            <c:idx val="4"/>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7-F2DC-42E7-9A92-DD6F1CC23C13}"/>
              </c:ext>
            </c:extLst>
          </c:dPt>
          <c:dPt>
            <c:idx val="5"/>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9-F2DC-42E7-9A92-DD6F1CC23C13}"/>
              </c:ext>
            </c:extLst>
          </c:dPt>
          <c:dPt>
            <c:idx val="6"/>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B-F2DC-42E7-9A92-DD6F1CC23C13}"/>
              </c:ext>
            </c:extLst>
          </c:dPt>
          <c:dPt>
            <c:idx val="7"/>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D-F2DC-42E7-9A92-DD6F1CC23C13}"/>
              </c:ext>
            </c:extLst>
          </c:dPt>
          <c:dPt>
            <c:idx val="8"/>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F-F2DC-42E7-9A92-DD6F1CC23C13}"/>
              </c:ext>
            </c:extLst>
          </c:dPt>
          <c:dPt>
            <c:idx val="9"/>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11-F2DC-42E7-9A92-DD6F1CC23C13}"/>
              </c:ext>
            </c:extLst>
          </c:dPt>
          <c:dPt>
            <c:idx val="10"/>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13-F2DC-42E7-9A92-DD6F1CC23C13}"/>
              </c:ext>
            </c:extLst>
          </c:dPt>
          <c:dPt>
            <c:idx val="1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15-F2DC-42E7-9A92-DD6F1CC23C13}"/>
              </c:ext>
            </c:extLst>
          </c:dPt>
          <c:dPt>
            <c:idx val="12"/>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17-F2DC-42E7-9A92-DD6F1CC23C13}"/>
              </c:ext>
            </c:extLst>
          </c:dPt>
          <c:dPt>
            <c:idx val="13"/>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19-F2DC-42E7-9A92-DD6F1CC23C13}"/>
              </c:ext>
            </c:extLst>
          </c:dPt>
          <c:dPt>
            <c:idx val="14"/>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1B-F2DC-42E7-9A92-DD6F1CC23C13}"/>
              </c:ext>
            </c:extLst>
          </c:dPt>
          <c:dPt>
            <c:idx val="15"/>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1D-F2DC-42E7-9A92-DD6F1CC23C13}"/>
              </c:ext>
            </c:extLst>
          </c:dPt>
          <c:dPt>
            <c:idx val="16"/>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1F-F2DC-42E7-9A92-DD6F1CC23C13}"/>
              </c:ext>
            </c:extLst>
          </c:dPt>
          <c:dPt>
            <c:idx val="19"/>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21-F2DC-42E7-9A92-DD6F1CC23C13}"/>
              </c:ext>
            </c:extLst>
          </c:dPt>
          <c:dPt>
            <c:idx val="2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23-F2DC-42E7-9A92-DD6F1CC23C13}"/>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Reimbursement amount variable unknown prior to purchase</c:v>
                </c:pt>
                <c:pt idx="1">
                  <c:v>Unclear insurance coverage policies</c:v>
                </c:pt>
                <c:pt idx="2">
                  <c:v>Challenging to determine patient insurance coverage</c:v>
                </c:pt>
                <c:pt idx="3">
                  <c:v>Need for prior authorization unclear</c:v>
                </c:pt>
                <c:pt idx="4">
                  <c:v>Reimbursement amount not enough </c:v>
                </c:pt>
                <c:pt idx="5">
                  <c:v>Lack of commercial insurance coverage</c:v>
                </c:pt>
                <c:pt idx="6">
                  <c:v>Patient out of pocket costs</c:v>
                </c:pt>
                <c:pt idx="7">
                  <c:v>Billing/coding requirement unclear</c:v>
                </c:pt>
                <c:pt idx="8">
                  <c:v>Reimbursement differs from other vaccines</c:v>
                </c:pt>
                <c:pt idx="9">
                  <c:v>Lack of medicaid insurance coverage</c:v>
                </c:pt>
                <c:pt idx="10">
                  <c:v>Reimbursement takes too long</c:v>
                </c:pt>
              </c:strCache>
            </c:strRef>
          </c:cat>
          <c:val>
            <c:numRef>
              <c:f>Sheet1!$B$2:$B$12</c:f>
              <c:numCache>
                <c:formatCode>0%</c:formatCode>
                <c:ptCount val="11"/>
                <c:pt idx="0">
                  <c:v>0.49</c:v>
                </c:pt>
                <c:pt idx="1">
                  <c:v>0.48</c:v>
                </c:pt>
                <c:pt idx="2">
                  <c:v>0.41000000000000003</c:v>
                </c:pt>
                <c:pt idx="3">
                  <c:v>0.28999999999999998</c:v>
                </c:pt>
                <c:pt idx="4">
                  <c:v>0.28000000000000003</c:v>
                </c:pt>
                <c:pt idx="5">
                  <c:v>0.28000000000000003</c:v>
                </c:pt>
                <c:pt idx="6">
                  <c:v>0.26</c:v>
                </c:pt>
                <c:pt idx="7">
                  <c:v>0.25</c:v>
                </c:pt>
                <c:pt idx="8">
                  <c:v>0.24</c:v>
                </c:pt>
                <c:pt idx="9">
                  <c:v>0.23</c:v>
                </c:pt>
                <c:pt idx="10">
                  <c:v>0.18</c:v>
                </c:pt>
              </c:numCache>
            </c:numRef>
          </c:val>
          <c:extLst>
            <c:ext xmlns:c16="http://schemas.microsoft.com/office/drawing/2014/chart" uri="{C3380CC4-5D6E-409C-BE32-E72D297353CC}">
              <c16:uniqueId val="{00000024-F2DC-42E7-9A92-DD6F1CC23C13}"/>
            </c:ext>
          </c:extLst>
        </c:ser>
        <c:dLbls>
          <c:dLblPos val="outEnd"/>
          <c:showLegendKey val="0"/>
          <c:showVal val="1"/>
          <c:showCatName val="0"/>
          <c:showSerName val="0"/>
          <c:showPercent val="0"/>
          <c:showBubbleSize val="0"/>
        </c:dLbls>
        <c:gapWidth val="100"/>
        <c:axId val="1544824944"/>
        <c:axId val="1544829264"/>
      </c:barChart>
      <c:catAx>
        <c:axId val="1544824944"/>
        <c:scaling>
          <c:orientation val="maxMin"/>
        </c:scaling>
        <c:delete val="1"/>
        <c:axPos val="l"/>
        <c:numFmt formatCode="General" sourceLinked="1"/>
        <c:majorTickMark val="none"/>
        <c:minorTickMark val="none"/>
        <c:tickLblPos val="nextTo"/>
        <c:crossAx val="1544829264"/>
        <c:crosses val="autoZero"/>
        <c:auto val="1"/>
        <c:lblAlgn val="ctr"/>
        <c:lblOffset val="100"/>
        <c:noMultiLvlLbl val="0"/>
      </c:catAx>
      <c:valAx>
        <c:axId val="1544829264"/>
        <c:scaling>
          <c:orientation val="minMax"/>
          <c:max val="1"/>
        </c:scaling>
        <c:delete val="1"/>
        <c:axPos val="t"/>
        <c:numFmt formatCode="0%" sourceLinked="1"/>
        <c:majorTickMark val="none"/>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Likelihood (1,2)</c:v>
                </c:pt>
              </c:strCache>
            </c:strRef>
          </c:tx>
          <c:spPr>
            <a:solidFill>
              <a:schemeClr val="accent6"/>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5B9A-4777-A4F3-35229244DEB9}"/>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5B9A-4777-A4F3-35229244DEB9}"/>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5B9A-4777-A4F3-35229244DEB9}"/>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7-5B9A-4777-A4F3-35229244DEB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0.25</c:v>
                </c:pt>
              </c:numCache>
            </c:numRef>
          </c:val>
          <c:extLst>
            <c:ext xmlns:c16="http://schemas.microsoft.com/office/drawing/2014/chart" uri="{C3380CC4-5D6E-409C-BE32-E72D297353CC}">
              <c16:uniqueId val="{00000008-5B9A-4777-A4F3-35229244DEB9}"/>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0.42</c:v>
                </c:pt>
              </c:numCache>
            </c:numRef>
          </c:val>
          <c:extLst>
            <c:ext xmlns:c16="http://schemas.microsoft.com/office/drawing/2014/chart" uri="{C3380CC4-5D6E-409C-BE32-E72D297353CC}">
              <c16:uniqueId val="{00000009-5B9A-4777-A4F3-35229244DEB9}"/>
            </c:ext>
          </c:extLst>
        </c:ser>
        <c:ser>
          <c:idx val="2"/>
          <c:order val="2"/>
          <c:tx>
            <c:strRef>
              <c:f>Sheet1!$D$1</c:f>
              <c:strCache>
                <c:ptCount val="1"/>
                <c:pt idx="0">
                  <c:v>High Likelihood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0.34</c:v>
                </c:pt>
              </c:numCache>
            </c:numRef>
          </c:val>
          <c:extLst>
            <c:ext xmlns:c16="http://schemas.microsoft.com/office/drawing/2014/chart" uri="{C3380CC4-5D6E-409C-BE32-E72D297353CC}">
              <c16:uniqueId val="{0000000A-5B9A-4777-A4F3-35229244DEB9}"/>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117343262934761E-4"/>
          <c:y val="3.4412112471089634E-2"/>
          <c:w val="0.92030188300350657"/>
          <c:h val="0.79801670943887648"/>
        </c:manualLayout>
      </c:layout>
      <c:barChart>
        <c:barDir val="col"/>
        <c:grouping val="stacked"/>
        <c:varyColors val="0"/>
        <c:ser>
          <c:idx val="0"/>
          <c:order val="0"/>
          <c:tx>
            <c:strRef>
              <c:f>Sheet1!$B$1</c:f>
              <c:strCache>
                <c:ptCount val="1"/>
                <c:pt idx="0">
                  <c:v>Unsure</c:v>
                </c:pt>
              </c:strCache>
            </c:strRef>
          </c:tx>
          <c:spPr>
            <a:solidFill>
              <a:schemeClr val="bg1">
                <a:lumMod val="65000"/>
              </a:schemeClr>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1-CF8F-41AC-BFAF-6D05B2B5784C}"/>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CF8F-41AC-BFAF-6D05B2B5784C}"/>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CF8F-41AC-BFAF-6D05B2B5784C}"/>
              </c:ext>
            </c:extLst>
          </c:dPt>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7-CF8F-41AC-BFAF-6D05B2B5784C}"/>
              </c:ext>
            </c:extLst>
          </c:dPt>
          <c:cat>
            <c:strRef>
              <c:f>Sheet1!$A$2</c:f>
              <c:strCache>
                <c:ptCount val="1"/>
                <c:pt idx="0">
                  <c:v>Sep'25</c:v>
                </c:pt>
              </c:strCache>
            </c:strRef>
          </c:cat>
          <c:val>
            <c:numRef>
              <c:f>Sheet1!$B$2</c:f>
              <c:numCache>
                <c:formatCode>0%</c:formatCode>
                <c:ptCount val="1"/>
                <c:pt idx="0">
                  <c:v>0.03</c:v>
                </c:pt>
              </c:numCache>
            </c:numRef>
          </c:val>
          <c:extLst>
            <c:ext xmlns:c16="http://schemas.microsoft.com/office/drawing/2014/chart" uri="{C3380CC4-5D6E-409C-BE32-E72D297353CC}">
              <c16:uniqueId val="{00000008-CF8F-41AC-BFAF-6D05B2B5784C}"/>
            </c:ext>
          </c:extLst>
        </c:ser>
        <c:ser>
          <c:idx val="1"/>
          <c:order val="1"/>
          <c:tx>
            <c:strRef>
              <c:f>Sheet1!$C$1</c:f>
              <c:strCache>
                <c:ptCount val="1"/>
                <c:pt idx="0">
                  <c:v>&gt; 12 mos </c:v>
                </c:pt>
              </c:strCache>
            </c:strRef>
          </c:tx>
          <c:spPr>
            <a:solidFill>
              <a:schemeClr val="accent6"/>
            </a:solidFill>
            <a:ln>
              <a:noFill/>
            </a:ln>
            <a:effectLst/>
          </c:spPr>
          <c:invertIfNegative val="0"/>
          <c:cat>
            <c:strRef>
              <c:f>Sheet1!$A$2</c:f>
              <c:strCache>
                <c:ptCount val="1"/>
                <c:pt idx="0">
                  <c:v>Sep'25</c:v>
                </c:pt>
              </c:strCache>
            </c:strRef>
          </c:cat>
          <c:val>
            <c:numRef>
              <c:f>Sheet1!$C$2</c:f>
              <c:numCache>
                <c:formatCode>0%</c:formatCode>
                <c:ptCount val="1"/>
                <c:pt idx="0">
                  <c:v>0.04</c:v>
                </c:pt>
              </c:numCache>
            </c:numRef>
          </c:val>
          <c:extLst>
            <c:ext xmlns:c16="http://schemas.microsoft.com/office/drawing/2014/chart" uri="{C3380CC4-5D6E-409C-BE32-E72D297353CC}">
              <c16:uniqueId val="{00000009-CF8F-41AC-BFAF-6D05B2B5784C}"/>
            </c:ext>
          </c:extLst>
        </c:ser>
        <c:ser>
          <c:idx val="2"/>
          <c:order val="2"/>
          <c:tx>
            <c:strRef>
              <c:f>Sheet1!$D$1</c:f>
              <c:strCache>
                <c:ptCount val="1"/>
                <c:pt idx="0">
                  <c:v>9 to &lt; 12 mos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7.0000000000000007E-2</c:v>
                </c:pt>
              </c:numCache>
            </c:numRef>
          </c:val>
          <c:extLst>
            <c:ext xmlns:c16="http://schemas.microsoft.com/office/drawing/2014/chart" uri="{C3380CC4-5D6E-409C-BE32-E72D297353CC}">
              <c16:uniqueId val="{0000000A-CF8F-41AC-BFAF-6D05B2B5784C}"/>
            </c:ext>
          </c:extLst>
        </c:ser>
        <c:ser>
          <c:idx val="3"/>
          <c:order val="3"/>
          <c:tx>
            <c:strRef>
              <c:f>Sheet1!$E$1</c:f>
              <c:strCache>
                <c:ptCount val="1"/>
                <c:pt idx="0">
                  <c:v>6 to &lt; 9 mos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Sheet1!$E$2</c:f>
              <c:numCache>
                <c:formatCode>0%</c:formatCode>
                <c:ptCount val="1"/>
                <c:pt idx="0">
                  <c:v>0.15</c:v>
                </c:pt>
              </c:numCache>
            </c:numRef>
          </c:val>
          <c:extLst>
            <c:ext xmlns:c16="http://schemas.microsoft.com/office/drawing/2014/chart" uri="{C3380CC4-5D6E-409C-BE32-E72D297353CC}">
              <c16:uniqueId val="{0000000B-CF8F-41AC-BFAF-6D05B2B5784C}"/>
            </c:ext>
          </c:extLst>
        </c:ser>
        <c:ser>
          <c:idx val="4"/>
          <c:order val="4"/>
          <c:tx>
            <c:strRef>
              <c:f>Sheet1!$F$1</c:f>
              <c:strCache>
                <c:ptCount val="1"/>
                <c:pt idx="0">
                  <c:v>3 to &lt; 6 mos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Sheet1!$F$2</c:f>
              <c:numCache>
                <c:formatCode>0%</c:formatCode>
                <c:ptCount val="1"/>
                <c:pt idx="0">
                  <c:v>0.3</c:v>
                </c:pt>
              </c:numCache>
            </c:numRef>
          </c:val>
          <c:extLst>
            <c:ext xmlns:c16="http://schemas.microsoft.com/office/drawing/2014/chart" uri="{C3380CC4-5D6E-409C-BE32-E72D297353CC}">
              <c16:uniqueId val="{0000000C-CF8F-41AC-BFAF-6D05B2B5784C}"/>
            </c:ext>
          </c:extLst>
        </c:ser>
        <c:ser>
          <c:idx val="5"/>
          <c:order val="5"/>
          <c:tx>
            <c:strRef>
              <c:f>Sheet1!$G$1</c:f>
              <c:strCache>
                <c:ptCount val="1"/>
                <c:pt idx="0">
                  <c:v>1 to &lt; 3 mos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Sheet1!$G$2</c:f>
              <c:numCache>
                <c:formatCode>0%</c:formatCode>
                <c:ptCount val="1"/>
                <c:pt idx="0">
                  <c:v>0.24</c:v>
                </c:pt>
              </c:numCache>
            </c:numRef>
          </c:val>
          <c:extLst>
            <c:ext xmlns:c16="http://schemas.microsoft.com/office/drawing/2014/chart" uri="{C3380CC4-5D6E-409C-BE32-E72D297353CC}">
              <c16:uniqueId val="{0000000D-CF8F-41AC-BFAF-6D05B2B5784C}"/>
            </c:ext>
          </c:extLst>
        </c:ser>
        <c:ser>
          <c:idx val="6"/>
          <c:order val="6"/>
          <c:tx>
            <c:strRef>
              <c:f>Sheet1!$H$1</c:f>
              <c:strCache>
                <c:ptCount val="1"/>
                <c:pt idx="0">
                  <c:v>&lt; 1 month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Sheet1!$H$2</c:f>
              <c:numCache>
                <c:formatCode>0%</c:formatCode>
                <c:ptCount val="1"/>
                <c:pt idx="0">
                  <c:v>0.16</c:v>
                </c:pt>
              </c:numCache>
            </c:numRef>
          </c:val>
          <c:extLst>
            <c:ext xmlns:c16="http://schemas.microsoft.com/office/drawing/2014/chart" uri="{C3380CC4-5D6E-409C-BE32-E72D297353CC}">
              <c16:uniqueId val="{0000000E-CF8F-41AC-BFAF-6D05B2B5784C}"/>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Unsure</c:v>
                </c:pt>
              </c:strCache>
            </c:strRef>
          </c:tx>
          <c:spPr>
            <a:solidFill>
              <a:schemeClr val="bg1">
                <a:lumMod val="65000"/>
              </a:schemeClr>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1-27EE-42A4-B188-64E17D9402E9}"/>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27EE-42A4-B188-64E17D9402E9}"/>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27EE-42A4-B188-64E17D9402E9}"/>
              </c:ext>
            </c:extLst>
          </c:dPt>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7-27EE-42A4-B188-64E17D9402E9}"/>
              </c:ext>
            </c:extLst>
          </c:dPt>
          <c:cat>
            <c:strRef>
              <c:f>Sheet1!$A$2</c:f>
              <c:strCache>
                <c:ptCount val="1"/>
                <c:pt idx="0">
                  <c:v>Sep'25</c:v>
                </c:pt>
              </c:strCache>
            </c:strRef>
          </c:cat>
          <c:val>
            <c:numRef>
              <c:f>Sheet1!$B$2</c:f>
              <c:numCache>
                <c:formatCode>0%</c:formatCode>
                <c:ptCount val="1"/>
                <c:pt idx="0">
                  <c:v>0.04</c:v>
                </c:pt>
              </c:numCache>
            </c:numRef>
          </c:val>
          <c:extLst>
            <c:ext xmlns:c16="http://schemas.microsoft.com/office/drawing/2014/chart" uri="{C3380CC4-5D6E-409C-BE32-E72D297353CC}">
              <c16:uniqueId val="{00000008-27EE-42A4-B188-64E17D9402E9}"/>
            </c:ext>
          </c:extLst>
        </c:ser>
        <c:ser>
          <c:idx val="1"/>
          <c:order val="1"/>
          <c:tx>
            <c:strRef>
              <c:f>Sheet1!$C$1</c:f>
              <c:strCache>
                <c:ptCount val="1"/>
                <c:pt idx="0">
                  <c:v>&gt; 12 mos </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0.12</c:v>
                </c:pt>
              </c:numCache>
            </c:numRef>
          </c:val>
          <c:extLst>
            <c:ext xmlns:c16="http://schemas.microsoft.com/office/drawing/2014/chart" uri="{C3380CC4-5D6E-409C-BE32-E72D297353CC}">
              <c16:uniqueId val="{00000009-27EE-42A4-B188-64E17D9402E9}"/>
            </c:ext>
          </c:extLst>
        </c:ser>
        <c:ser>
          <c:idx val="2"/>
          <c:order val="2"/>
          <c:tx>
            <c:strRef>
              <c:f>Sheet1!$D$1</c:f>
              <c:strCache>
                <c:ptCount val="1"/>
                <c:pt idx="0">
                  <c:v>9 to &lt; 12 mos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0.09</c:v>
                </c:pt>
              </c:numCache>
            </c:numRef>
          </c:val>
          <c:extLst>
            <c:ext xmlns:c16="http://schemas.microsoft.com/office/drawing/2014/chart" uri="{C3380CC4-5D6E-409C-BE32-E72D297353CC}">
              <c16:uniqueId val="{0000000A-27EE-42A4-B188-64E17D9402E9}"/>
            </c:ext>
          </c:extLst>
        </c:ser>
        <c:ser>
          <c:idx val="3"/>
          <c:order val="3"/>
          <c:tx>
            <c:strRef>
              <c:f>Sheet1!$E$1</c:f>
              <c:strCache>
                <c:ptCount val="1"/>
                <c:pt idx="0">
                  <c:v>6 to &lt; 9 mos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Sheet1!$E$2</c:f>
              <c:numCache>
                <c:formatCode>0%</c:formatCode>
                <c:ptCount val="1"/>
                <c:pt idx="0">
                  <c:v>0.19</c:v>
                </c:pt>
              </c:numCache>
            </c:numRef>
          </c:val>
          <c:extLst>
            <c:ext xmlns:c16="http://schemas.microsoft.com/office/drawing/2014/chart" uri="{C3380CC4-5D6E-409C-BE32-E72D297353CC}">
              <c16:uniqueId val="{0000000B-27EE-42A4-B188-64E17D9402E9}"/>
            </c:ext>
          </c:extLst>
        </c:ser>
        <c:ser>
          <c:idx val="4"/>
          <c:order val="4"/>
          <c:tx>
            <c:strRef>
              <c:f>Sheet1!$F$1</c:f>
              <c:strCache>
                <c:ptCount val="1"/>
                <c:pt idx="0">
                  <c:v>3 to &lt; 6 mos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Sheet1!$F$2</c:f>
              <c:numCache>
                <c:formatCode>0%</c:formatCode>
                <c:ptCount val="1"/>
                <c:pt idx="0">
                  <c:v>0.25</c:v>
                </c:pt>
              </c:numCache>
            </c:numRef>
          </c:val>
          <c:extLst>
            <c:ext xmlns:c16="http://schemas.microsoft.com/office/drawing/2014/chart" uri="{C3380CC4-5D6E-409C-BE32-E72D297353CC}">
              <c16:uniqueId val="{0000000C-27EE-42A4-B188-64E17D9402E9}"/>
            </c:ext>
          </c:extLst>
        </c:ser>
        <c:ser>
          <c:idx val="5"/>
          <c:order val="5"/>
          <c:tx>
            <c:strRef>
              <c:f>Sheet1!$G$1</c:f>
              <c:strCache>
                <c:ptCount val="1"/>
                <c:pt idx="0">
                  <c:v>1 to &lt; 3 mos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Sheet1!$G$2</c:f>
              <c:numCache>
                <c:formatCode>0%</c:formatCode>
                <c:ptCount val="1"/>
                <c:pt idx="0">
                  <c:v>0.16</c:v>
                </c:pt>
              </c:numCache>
            </c:numRef>
          </c:val>
          <c:extLst>
            <c:ext xmlns:c16="http://schemas.microsoft.com/office/drawing/2014/chart" uri="{C3380CC4-5D6E-409C-BE32-E72D297353CC}">
              <c16:uniqueId val="{0000000D-27EE-42A4-B188-64E17D9402E9}"/>
            </c:ext>
          </c:extLst>
        </c:ser>
        <c:ser>
          <c:idx val="6"/>
          <c:order val="6"/>
          <c:tx>
            <c:strRef>
              <c:f>Sheet1!$H$1</c:f>
              <c:strCache>
                <c:ptCount val="1"/>
                <c:pt idx="0">
                  <c:v>&lt; 1 month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Sheet1!$H$2</c:f>
              <c:numCache>
                <c:formatCode>0%</c:formatCode>
                <c:ptCount val="1"/>
                <c:pt idx="0">
                  <c:v>0.13</c:v>
                </c:pt>
              </c:numCache>
            </c:numRef>
          </c:val>
          <c:extLst>
            <c:ext xmlns:c16="http://schemas.microsoft.com/office/drawing/2014/chart" uri="{C3380CC4-5D6E-409C-BE32-E72D297353CC}">
              <c16:uniqueId val="{0000000E-27EE-42A4-B188-64E17D9402E9}"/>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9801670943887648"/>
        </c:manualLayout>
      </c:layout>
      <c:barChart>
        <c:barDir val="col"/>
        <c:grouping val="stacked"/>
        <c:varyColors val="0"/>
        <c:ser>
          <c:idx val="0"/>
          <c:order val="0"/>
          <c:tx>
            <c:strRef>
              <c:f>Sheet1!$B$1</c:f>
              <c:strCache>
                <c:ptCount val="1"/>
                <c:pt idx="0">
                  <c:v>Low Likelihood (1,2)</c:v>
                </c:pt>
              </c:strCache>
            </c:strRef>
          </c:tx>
          <c:spPr>
            <a:solidFill>
              <a:schemeClr val="accent6"/>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AC0F-4AA1-8C69-F07037E96AC6}"/>
              </c:ext>
            </c:extLst>
          </c:dPt>
          <c:dPt>
            <c:idx val="1"/>
            <c:invertIfNegative val="0"/>
            <c:bubble3D val="0"/>
            <c:extLst>
              <c:ext xmlns:c16="http://schemas.microsoft.com/office/drawing/2014/chart" uri="{C3380CC4-5D6E-409C-BE32-E72D297353CC}">
                <c16:uniqueId val="{00000002-AC0F-4AA1-8C69-F07037E96AC6}"/>
              </c:ext>
            </c:extLst>
          </c:dPt>
          <c:dPt>
            <c:idx val="2"/>
            <c:invertIfNegative val="0"/>
            <c:bubble3D val="0"/>
            <c:extLst>
              <c:ext xmlns:c16="http://schemas.microsoft.com/office/drawing/2014/chart" uri="{C3380CC4-5D6E-409C-BE32-E72D297353CC}">
                <c16:uniqueId val="{00000003-AC0F-4AA1-8C69-F07037E96AC6}"/>
              </c:ext>
            </c:extLst>
          </c:dPt>
          <c:dPt>
            <c:idx val="3"/>
            <c:invertIfNegative val="0"/>
            <c:bubble3D val="0"/>
            <c:extLst>
              <c:ext xmlns:c16="http://schemas.microsoft.com/office/drawing/2014/chart" uri="{C3380CC4-5D6E-409C-BE32-E72D297353CC}">
                <c16:uniqueId val="{00000004-AC0F-4AA1-8C69-F07037E96AC6}"/>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Sheet1!$B$2</c:f>
              <c:numCache>
                <c:formatCode>0%</c:formatCode>
                <c:ptCount val="1"/>
                <c:pt idx="0">
                  <c:v>0.21</c:v>
                </c:pt>
              </c:numCache>
            </c:numRef>
          </c:val>
          <c:extLst>
            <c:ext xmlns:c16="http://schemas.microsoft.com/office/drawing/2014/chart" uri="{C3380CC4-5D6E-409C-BE32-E72D297353CC}">
              <c16:uniqueId val="{00000005-AC0F-4AA1-8C69-F07037E96AC6}"/>
            </c:ext>
          </c:extLst>
        </c:ser>
        <c:ser>
          <c:idx val="1"/>
          <c:order val="1"/>
          <c:tx>
            <c:strRef>
              <c:f>Sheet1!$C$1</c:f>
              <c:strCache>
                <c:ptCount val="1"/>
                <c:pt idx="0">
                  <c:v>Moderate (3-5)</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Sep'25</c:v>
                </c:pt>
              </c:strCache>
            </c:strRef>
          </c:cat>
          <c:val>
            <c:numRef>
              <c:f>Sheet1!$C$2</c:f>
              <c:numCache>
                <c:formatCode>0%</c:formatCode>
                <c:ptCount val="1"/>
                <c:pt idx="0">
                  <c:v>0.43</c:v>
                </c:pt>
              </c:numCache>
            </c:numRef>
          </c:val>
          <c:extLst>
            <c:ext xmlns:c16="http://schemas.microsoft.com/office/drawing/2014/chart" uri="{C3380CC4-5D6E-409C-BE32-E72D297353CC}">
              <c16:uniqueId val="{00000006-AC0F-4AA1-8C69-F07037E96AC6}"/>
            </c:ext>
          </c:extLst>
        </c:ser>
        <c:ser>
          <c:idx val="2"/>
          <c:order val="2"/>
          <c:tx>
            <c:strRef>
              <c:f>Sheet1!$D$1</c:f>
              <c:strCache>
                <c:ptCount val="1"/>
                <c:pt idx="0">
                  <c:v>High Likelihood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Sep'25</c:v>
                </c:pt>
              </c:strCache>
            </c:strRef>
          </c:cat>
          <c:val>
            <c:numRef>
              <c:f>Sheet1!$D$2</c:f>
              <c:numCache>
                <c:formatCode>0%</c:formatCode>
                <c:ptCount val="1"/>
                <c:pt idx="0">
                  <c:v>0.36</c:v>
                </c:pt>
              </c:numCache>
            </c:numRef>
          </c:val>
          <c:extLst>
            <c:ext xmlns:c16="http://schemas.microsoft.com/office/drawing/2014/chart" uri="{C3380CC4-5D6E-409C-BE32-E72D297353CC}">
              <c16:uniqueId val="{00000007-AC0F-4AA1-8C69-F07037E96AC6}"/>
            </c:ext>
          </c:extLst>
        </c:ser>
        <c:dLbls>
          <c:showLegendKey val="0"/>
          <c:showVal val="0"/>
          <c:showCatName val="0"/>
          <c:showSerName val="0"/>
          <c:showPercent val="0"/>
          <c:showBubbleSize val="0"/>
        </c:dLbls>
        <c:gapWidth val="200"/>
        <c:overlap val="100"/>
        <c:axId val="1778824944"/>
        <c:axId val="478709055"/>
      </c:barChart>
      <c:catAx>
        <c:axId val="1778824944"/>
        <c:scaling>
          <c:orientation val="minMax"/>
        </c:scaling>
        <c:delete val="1"/>
        <c:axPos val="b"/>
        <c:numFmt formatCode="General" sourceLinked="1"/>
        <c:majorTickMark val="none"/>
        <c:minorTickMark val="none"/>
        <c:tickLblPos val="nextTo"/>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49058498246728E-2"/>
          <c:y val="3.4412013310079932E-2"/>
          <c:w val="0.92030188300350657"/>
          <c:h val="0.76201738116002693"/>
        </c:manualLayout>
      </c:layout>
      <c:barChart>
        <c:barDir val="col"/>
        <c:grouping val="stacked"/>
        <c:varyColors val="0"/>
        <c:ser>
          <c:idx val="0"/>
          <c:order val="0"/>
          <c:tx>
            <c:strRef>
              <c:f>Sheet1!$B$1</c:f>
              <c:strCache>
                <c:ptCount val="1"/>
                <c:pt idx="0">
                  <c:v>Low Improvement (1,2)</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00-4491-404C-B3CA-A9263A75BC41}"/>
              </c:ext>
            </c:extLst>
          </c:dPt>
          <c:dPt>
            <c:idx val="1"/>
            <c:invertIfNegative val="0"/>
            <c:bubble3D val="0"/>
            <c:extLst>
              <c:ext xmlns:c16="http://schemas.microsoft.com/office/drawing/2014/chart" uri="{C3380CC4-5D6E-409C-BE32-E72D297353CC}">
                <c16:uniqueId val="{00000001-4491-404C-B3CA-A9263A75BC41}"/>
              </c:ext>
            </c:extLst>
          </c:dPt>
          <c:dPt>
            <c:idx val="2"/>
            <c:invertIfNegative val="0"/>
            <c:bubble3D val="0"/>
            <c:extLst>
              <c:ext xmlns:c16="http://schemas.microsoft.com/office/drawing/2014/chart" uri="{C3380CC4-5D6E-409C-BE32-E72D297353CC}">
                <c16:uniqueId val="{00000002-4491-404C-B3CA-A9263A75BC41}"/>
              </c:ext>
            </c:extLst>
          </c:dPt>
          <c:dPt>
            <c:idx val="3"/>
            <c:invertIfNegative val="0"/>
            <c:bubble3D val="0"/>
            <c:extLst>
              <c:ext xmlns:c16="http://schemas.microsoft.com/office/drawing/2014/chart" uri="{C3380CC4-5D6E-409C-BE32-E72D297353CC}">
                <c16:uniqueId val="{00000003-4491-404C-B3CA-A9263A75BC4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MenACWY +
MenB vaccines</c:v>
                </c:pt>
                <c:pt idx="1">
                  <c:v>Penbraya</c:v>
                </c:pt>
              </c:strCache>
            </c:strRef>
          </c:cat>
          <c:val>
            <c:numRef>
              <c:f>Sheet1!$B$2:$B$3</c:f>
              <c:numCache>
                <c:formatCode>0%</c:formatCode>
                <c:ptCount val="2"/>
                <c:pt idx="0">
                  <c:v>0.18</c:v>
                </c:pt>
                <c:pt idx="1">
                  <c:v>0.33</c:v>
                </c:pt>
              </c:numCache>
            </c:numRef>
          </c:val>
          <c:extLst>
            <c:ext xmlns:c16="http://schemas.microsoft.com/office/drawing/2014/chart" uri="{C3380CC4-5D6E-409C-BE32-E72D297353CC}">
              <c16:uniqueId val="{00000004-4491-404C-B3CA-A9263A75BC41}"/>
            </c:ext>
          </c:extLst>
        </c:ser>
        <c:ser>
          <c:idx val="1"/>
          <c:order val="1"/>
          <c:tx>
            <c:strRef>
              <c:f>Sheet1!$C$1</c:f>
              <c:strCache>
                <c:ptCount val="1"/>
                <c:pt idx="0">
                  <c:v>Moderate (3-5)</c:v>
                </c:pt>
              </c:strCache>
            </c:strRef>
          </c:tx>
          <c:spPr>
            <a:solidFill>
              <a:schemeClr val="bg1">
                <a:lumMod val="6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6-4491-404C-B3CA-A9263A75BC41}"/>
              </c:ext>
            </c:extLst>
          </c:dPt>
          <c:dPt>
            <c:idx val="1"/>
            <c:invertIfNegative val="0"/>
            <c:bubble3D val="0"/>
            <c:spPr>
              <a:solidFill>
                <a:schemeClr val="bg1">
                  <a:lumMod val="75000"/>
                </a:schemeClr>
              </a:solidFill>
              <a:ln>
                <a:noFill/>
              </a:ln>
              <a:effectLst/>
            </c:spPr>
            <c:extLst>
              <c:ext xmlns:c16="http://schemas.microsoft.com/office/drawing/2014/chart" uri="{C3380CC4-5D6E-409C-BE32-E72D297353CC}">
                <c16:uniqueId val="{00000006-75B3-41A0-B1E9-0881071BC33C}"/>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MenACWY +
MenB vaccines</c:v>
                </c:pt>
                <c:pt idx="1">
                  <c:v>Penbraya</c:v>
                </c:pt>
              </c:strCache>
            </c:strRef>
          </c:cat>
          <c:val>
            <c:numRef>
              <c:f>Sheet1!$C$2:$C$3</c:f>
              <c:numCache>
                <c:formatCode>0%</c:formatCode>
                <c:ptCount val="2"/>
                <c:pt idx="0">
                  <c:v>0.53</c:v>
                </c:pt>
                <c:pt idx="1">
                  <c:v>0.43</c:v>
                </c:pt>
              </c:numCache>
            </c:numRef>
          </c:val>
          <c:extLst>
            <c:ext xmlns:c16="http://schemas.microsoft.com/office/drawing/2014/chart" uri="{C3380CC4-5D6E-409C-BE32-E72D297353CC}">
              <c16:uniqueId val="{00000007-4491-404C-B3CA-A9263A75BC41}"/>
            </c:ext>
          </c:extLst>
        </c:ser>
        <c:ser>
          <c:idx val="2"/>
          <c:order val="2"/>
          <c:tx>
            <c:strRef>
              <c:f>Sheet1!$D$1</c:f>
              <c:strCache>
                <c:ptCount val="1"/>
                <c:pt idx="0">
                  <c:v>High Improvement (6,7)</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MenACWY +
MenB vaccines</c:v>
                </c:pt>
                <c:pt idx="1">
                  <c:v>Penbraya</c:v>
                </c:pt>
              </c:strCache>
            </c:strRef>
          </c:cat>
          <c:val>
            <c:numRef>
              <c:f>Sheet1!$D$2:$D$3</c:f>
              <c:numCache>
                <c:formatCode>0%</c:formatCode>
                <c:ptCount val="2"/>
                <c:pt idx="0">
                  <c:v>0.3</c:v>
                </c:pt>
                <c:pt idx="1">
                  <c:v>0.25</c:v>
                </c:pt>
              </c:numCache>
            </c:numRef>
          </c:val>
          <c:extLst>
            <c:ext xmlns:c16="http://schemas.microsoft.com/office/drawing/2014/chart" uri="{C3380CC4-5D6E-409C-BE32-E72D297353CC}">
              <c16:uniqueId val="{00000008-4491-404C-B3CA-A9263A75BC41}"/>
            </c:ext>
          </c:extLst>
        </c:ser>
        <c:dLbls>
          <c:showLegendKey val="0"/>
          <c:showVal val="0"/>
          <c:showCatName val="0"/>
          <c:showSerName val="0"/>
          <c:showPercent val="0"/>
          <c:showBubbleSize val="0"/>
        </c:dLbls>
        <c:gapWidth val="300"/>
        <c:overlap val="100"/>
        <c:axId val="1778824944"/>
        <c:axId val="478709055"/>
      </c:barChart>
      <c:catAx>
        <c:axId val="1778824944"/>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478709055"/>
        <c:crosses val="autoZero"/>
        <c:auto val="1"/>
        <c:lblAlgn val="ctr"/>
        <c:lblOffset val="100"/>
        <c:noMultiLvlLbl val="0"/>
      </c:catAx>
      <c:valAx>
        <c:axId val="478709055"/>
        <c:scaling>
          <c:orientation val="minMax"/>
          <c:max val="1"/>
          <c:min val="0"/>
        </c:scaling>
        <c:delete val="1"/>
        <c:axPos val="l"/>
        <c:numFmt formatCode="0%" sourceLinked="1"/>
        <c:majorTickMark val="out"/>
        <c:minorTickMark val="none"/>
        <c:tickLblPos val="nextTo"/>
        <c:crossAx val="1778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965524242865114"/>
          <c:y val="6.6842732916272657E-2"/>
          <c:w val="0.58992890294380507"/>
          <c:h val="0.79086317329051281"/>
        </c:manualLayout>
      </c:layout>
      <c:doughnutChart>
        <c:varyColors val="1"/>
        <c:ser>
          <c:idx val="0"/>
          <c:order val="0"/>
          <c:tx>
            <c:strRef>
              <c:f>Sheet1!$B$1</c:f>
              <c:strCache>
                <c:ptCount val="1"/>
                <c:pt idx="0">
                  <c:v>Column2</c:v>
                </c:pt>
              </c:strCache>
            </c:strRef>
          </c:tx>
          <c:spPr>
            <a:ln w="28575">
              <a:solidFill>
                <a:schemeClr val="bg1"/>
              </a:solidFill>
            </a:ln>
          </c:spPr>
          <c:dPt>
            <c:idx val="0"/>
            <c:bubble3D val="0"/>
            <c:spPr>
              <a:solidFill>
                <a:schemeClr val="accent6"/>
              </a:solidFill>
              <a:ln w="28575">
                <a:solidFill>
                  <a:schemeClr val="bg1"/>
                </a:solidFill>
              </a:ln>
              <a:effectLst/>
            </c:spPr>
            <c:extLst>
              <c:ext xmlns:c16="http://schemas.microsoft.com/office/drawing/2014/chart" uri="{C3380CC4-5D6E-409C-BE32-E72D297353CC}">
                <c16:uniqueId val="{00000001-650E-4E88-8EA7-FA7E6C0E07E7}"/>
              </c:ext>
            </c:extLst>
          </c:dPt>
          <c:dPt>
            <c:idx val="1"/>
            <c:bubble3D val="0"/>
            <c:spPr>
              <a:solidFill>
                <a:schemeClr val="accent6">
                  <a:lumMod val="60000"/>
                  <a:lumOff val="40000"/>
                </a:schemeClr>
              </a:solidFill>
              <a:ln w="28575">
                <a:solidFill>
                  <a:schemeClr val="bg1"/>
                </a:solidFill>
              </a:ln>
              <a:effectLst/>
            </c:spPr>
            <c:extLst>
              <c:ext xmlns:c16="http://schemas.microsoft.com/office/drawing/2014/chart" uri="{C3380CC4-5D6E-409C-BE32-E72D297353CC}">
                <c16:uniqueId val="{00000003-650E-4E88-8EA7-FA7E6C0E07E7}"/>
              </c:ext>
            </c:extLst>
          </c:dPt>
          <c:dPt>
            <c:idx val="2"/>
            <c:bubble3D val="0"/>
            <c:spPr>
              <a:solidFill>
                <a:schemeClr val="bg1">
                  <a:lumMod val="65000"/>
                </a:schemeClr>
              </a:solidFill>
              <a:ln w="28575">
                <a:solidFill>
                  <a:schemeClr val="bg1"/>
                </a:solidFill>
              </a:ln>
              <a:effectLst/>
            </c:spPr>
            <c:extLst>
              <c:ext xmlns:c16="http://schemas.microsoft.com/office/drawing/2014/chart" uri="{C3380CC4-5D6E-409C-BE32-E72D297353CC}">
                <c16:uniqueId val="{00000005-650E-4E88-8EA7-FA7E6C0E07E7}"/>
              </c:ext>
            </c:extLst>
          </c:dPt>
          <c:dPt>
            <c:idx val="3"/>
            <c:bubble3D val="0"/>
            <c:spPr>
              <a:solidFill>
                <a:srgbClr val="937DAD">
                  <a:alpha val="45098"/>
                </a:srgbClr>
              </a:solidFill>
              <a:ln w="28575">
                <a:solidFill>
                  <a:schemeClr val="bg1"/>
                </a:solidFill>
              </a:ln>
              <a:effectLst/>
            </c:spPr>
            <c:extLst>
              <c:ext xmlns:c16="http://schemas.microsoft.com/office/drawing/2014/chart" uri="{C3380CC4-5D6E-409C-BE32-E72D297353CC}">
                <c16:uniqueId val="{00000007-650E-4E88-8EA7-FA7E6C0E07E7}"/>
              </c:ext>
            </c:extLst>
          </c:dPt>
          <c:dPt>
            <c:idx val="4"/>
            <c:bubble3D val="0"/>
            <c:spPr>
              <a:solidFill>
                <a:srgbClr val="937DAD"/>
              </a:solidFill>
              <a:ln w="28575">
                <a:solidFill>
                  <a:schemeClr val="bg1"/>
                </a:solidFill>
              </a:ln>
              <a:effectLst/>
            </c:spPr>
            <c:extLst>
              <c:ext xmlns:c16="http://schemas.microsoft.com/office/drawing/2014/chart" uri="{C3380CC4-5D6E-409C-BE32-E72D297353CC}">
                <c16:uniqueId val="{00000009-650E-4E88-8EA7-FA7E6C0E07E7}"/>
              </c:ext>
            </c:extLst>
          </c:dPt>
          <c:dPt>
            <c:idx val="5"/>
            <c:bubble3D val="0"/>
            <c:spPr>
              <a:noFill/>
              <a:ln w="28575">
                <a:noFill/>
              </a:ln>
              <a:effectLst/>
            </c:spPr>
            <c:extLst>
              <c:ext xmlns:c16="http://schemas.microsoft.com/office/drawing/2014/chart" uri="{C3380CC4-5D6E-409C-BE32-E72D297353CC}">
                <c16:uniqueId val="{0000000B-650E-4E88-8EA7-FA7E6C0E07E7}"/>
              </c:ext>
            </c:extLst>
          </c:dPt>
          <c:dPt>
            <c:idx val="6"/>
            <c:bubble3D val="0"/>
            <c:spPr>
              <a:solidFill>
                <a:srgbClr val="008000"/>
              </a:solidFill>
              <a:ln w="28575">
                <a:solidFill>
                  <a:schemeClr val="bg1"/>
                </a:solidFill>
              </a:ln>
              <a:effectLst/>
            </c:spPr>
            <c:extLst>
              <c:ext xmlns:c16="http://schemas.microsoft.com/office/drawing/2014/chart" uri="{C3380CC4-5D6E-409C-BE32-E72D297353CC}">
                <c16:uniqueId val="{0000000D-650E-4E88-8EA7-FA7E6C0E07E7}"/>
              </c:ext>
            </c:extLst>
          </c:dPt>
          <c:dPt>
            <c:idx val="7"/>
            <c:bubble3D val="0"/>
            <c:spPr>
              <a:noFill/>
              <a:ln w="28575">
                <a:noFill/>
              </a:ln>
              <a:effectLst/>
            </c:spPr>
            <c:extLst>
              <c:ext xmlns:c16="http://schemas.microsoft.com/office/drawing/2014/chart" uri="{C3380CC4-5D6E-409C-BE32-E72D297353CC}">
                <c16:uniqueId val="{0000000F-650E-4E88-8EA7-FA7E6C0E07E7}"/>
              </c:ext>
            </c:extLst>
          </c:dPt>
          <c:dLbls>
            <c:dLbl>
              <c:idx val="2"/>
              <c:layout>
                <c:manualLayout>
                  <c:x val="-1.0152154415068036E-2"/>
                  <c:y val="-2.495148000820778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50E-4E88-8EA7-FA7E6C0E07E7}"/>
                </c:ext>
              </c:extLst>
            </c:dLbl>
            <c:dLbl>
              <c:idx val="3"/>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937DAD"/>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650E-4E88-8EA7-FA7E6C0E07E7}"/>
                </c:ext>
              </c:extLst>
            </c:dLbl>
            <c:dLbl>
              <c:idx val="7"/>
              <c:delete val="1"/>
              <c:extLst>
                <c:ext xmlns:c15="http://schemas.microsoft.com/office/drawing/2012/chart" uri="{CE6537A1-D6FC-4f65-9D91-7224C49458BB}"/>
                <c:ext xmlns:c16="http://schemas.microsoft.com/office/drawing/2014/chart" uri="{C3380CC4-5D6E-409C-BE32-E72D297353CC}">
                  <c16:uniqueId val="{0000000F-650E-4E88-8EA7-FA7E6C0E07E7}"/>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5"/>
                <c:pt idx="0">
                  <c:v>Significantly more likely to recommend Penmenvy</c:v>
                </c:pt>
                <c:pt idx="1">
                  <c:v>Slightly more likely to recommend Penmenvy</c:v>
                </c:pt>
                <c:pt idx="2">
                  <c:v>Not likely to recommend one over the other</c:v>
                </c:pt>
                <c:pt idx="3">
                  <c:v>Slightly more likely torecommend Penbraya</c:v>
                </c:pt>
                <c:pt idx="4">
                  <c:v>Significantly more likely to recommend Penbraya</c:v>
                </c:pt>
              </c:strCache>
            </c:strRef>
          </c:cat>
          <c:val>
            <c:numRef>
              <c:f>Sheet1!$B$2:$B$7</c:f>
              <c:numCache>
                <c:formatCode>0%</c:formatCode>
                <c:ptCount val="6"/>
                <c:pt idx="0">
                  <c:v>0.1</c:v>
                </c:pt>
                <c:pt idx="1">
                  <c:v>0.13</c:v>
                </c:pt>
                <c:pt idx="2">
                  <c:v>0.5</c:v>
                </c:pt>
                <c:pt idx="3">
                  <c:v>0.16</c:v>
                </c:pt>
                <c:pt idx="4">
                  <c:v>0.12</c:v>
                </c:pt>
                <c:pt idx="5">
                  <c:v>1</c:v>
                </c:pt>
              </c:numCache>
            </c:numRef>
          </c:val>
          <c:extLst>
            <c:ext xmlns:c16="http://schemas.microsoft.com/office/drawing/2014/chart" uri="{C3380CC4-5D6E-409C-BE32-E72D297353CC}">
              <c16:uniqueId val="{00000010-650E-4E88-8EA7-FA7E6C0E07E7}"/>
            </c:ext>
          </c:extLst>
        </c:ser>
        <c:dLbls>
          <c:showLegendKey val="0"/>
          <c:showVal val="0"/>
          <c:showCatName val="0"/>
          <c:showSerName val="0"/>
          <c:showPercent val="0"/>
          <c:showBubbleSize val="0"/>
          <c:showLeaderLines val="1"/>
        </c:dLbls>
        <c:firstSliceAng val="270"/>
        <c:holeSize val="3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965524242865114"/>
          <c:y val="6.6842732916272657E-2"/>
          <c:w val="0.58992890294380507"/>
          <c:h val="0.79086317329051281"/>
        </c:manualLayout>
      </c:layout>
      <c:doughnutChart>
        <c:varyColors val="1"/>
        <c:ser>
          <c:idx val="0"/>
          <c:order val="0"/>
          <c:tx>
            <c:strRef>
              <c:f>Sheet1!$B$1</c:f>
              <c:strCache>
                <c:ptCount val="1"/>
                <c:pt idx="0">
                  <c:v>Column2</c:v>
                </c:pt>
              </c:strCache>
            </c:strRef>
          </c:tx>
          <c:spPr>
            <a:ln w="28575">
              <a:solidFill>
                <a:schemeClr val="bg1"/>
              </a:solidFill>
            </a:ln>
          </c:spPr>
          <c:dPt>
            <c:idx val="0"/>
            <c:bubble3D val="0"/>
            <c:spPr>
              <a:solidFill>
                <a:schemeClr val="accent6"/>
              </a:solidFill>
              <a:ln w="28575">
                <a:solidFill>
                  <a:schemeClr val="bg1"/>
                </a:solidFill>
              </a:ln>
              <a:effectLst/>
            </c:spPr>
            <c:extLst>
              <c:ext xmlns:c16="http://schemas.microsoft.com/office/drawing/2014/chart" uri="{C3380CC4-5D6E-409C-BE32-E72D297353CC}">
                <c16:uniqueId val="{00000001-2650-4CC0-BA0F-C079246AE60A}"/>
              </c:ext>
            </c:extLst>
          </c:dPt>
          <c:dPt>
            <c:idx val="1"/>
            <c:bubble3D val="0"/>
            <c:spPr>
              <a:solidFill>
                <a:schemeClr val="accent6">
                  <a:lumMod val="60000"/>
                  <a:lumOff val="40000"/>
                </a:schemeClr>
              </a:solidFill>
              <a:ln w="28575">
                <a:solidFill>
                  <a:schemeClr val="bg1"/>
                </a:solidFill>
              </a:ln>
              <a:effectLst/>
            </c:spPr>
            <c:extLst>
              <c:ext xmlns:c16="http://schemas.microsoft.com/office/drawing/2014/chart" uri="{C3380CC4-5D6E-409C-BE32-E72D297353CC}">
                <c16:uniqueId val="{00000003-2650-4CC0-BA0F-C079246AE60A}"/>
              </c:ext>
            </c:extLst>
          </c:dPt>
          <c:dPt>
            <c:idx val="2"/>
            <c:bubble3D val="0"/>
            <c:spPr>
              <a:solidFill>
                <a:schemeClr val="bg1">
                  <a:lumMod val="65000"/>
                </a:schemeClr>
              </a:solidFill>
              <a:ln w="28575">
                <a:solidFill>
                  <a:schemeClr val="bg1"/>
                </a:solidFill>
              </a:ln>
              <a:effectLst/>
            </c:spPr>
            <c:extLst>
              <c:ext xmlns:c16="http://schemas.microsoft.com/office/drawing/2014/chart" uri="{C3380CC4-5D6E-409C-BE32-E72D297353CC}">
                <c16:uniqueId val="{00000005-2650-4CC0-BA0F-C079246AE60A}"/>
              </c:ext>
            </c:extLst>
          </c:dPt>
          <c:dPt>
            <c:idx val="3"/>
            <c:bubble3D val="0"/>
            <c:spPr>
              <a:solidFill>
                <a:srgbClr val="937DAD">
                  <a:alpha val="45098"/>
                </a:srgbClr>
              </a:solidFill>
              <a:ln w="28575">
                <a:solidFill>
                  <a:schemeClr val="bg1"/>
                </a:solidFill>
              </a:ln>
              <a:effectLst/>
            </c:spPr>
            <c:extLst>
              <c:ext xmlns:c16="http://schemas.microsoft.com/office/drawing/2014/chart" uri="{C3380CC4-5D6E-409C-BE32-E72D297353CC}">
                <c16:uniqueId val="{00000007-2650-4CC0-BA0F-C079246AE60A}"/>
              </c:ext>
            </c:extLst>
          </c:dPt>
          <c:dPt>
            <c:idx val="4"/>
            <c:bubble3D val="0"/>
            <c:spPr>
              <a:solidFill>
                <a:srgbClr val="937DAD"/>
              </a:solidFill>
              <a:ln w="28575">
                <a:solidFill>
                  <a:schemeClr val="bg1"/>
                </a:solidFill>
              </a:ln>
              <a:effectLst/>
            </c:spPr>
            <c:extLst>
              <c:ext xmlns:c16="http://schemas.microsoft.com/office/drawing/2014/chart" uri="{C3380CC4-5D6E-409C-BE32-E72D297353CC}">
                <c16:uniqueId val="{00000009-2650-4CC0-BA0F-C079246AE60A}"/>
              </c:ext>
            </c:extLst>
          </c:dPt>
          <c:dPt>
            <c:idx val="5"/>
            <c:bubble3D val="0"/>
            <c:spPr>
              <a:noFill/>
              <a:ln w="28575">
                <a:noFill/>
              </a:ln>
              <a:effectLst/>
            </c:spPr>
            <c:extLst>
              <c:ext xmlns:c16="http://schemas.microsoft.com/office/drawing/2014/chart" uri="{C3380CC4-5D6E-409C-BE32-E72D297353CC}">
                <c16:uniqueId val="{0000000B-2650-4CC0-BA0F-C079246AE60A}"/>
              </c:ext>
            </c:extLst>
          </c:dPt>
          <c:dPt>
            <c:idx val="6"/>
            <c:bubble3D val="0"/>
            <c:spPr>
              <a:solidFill>
                <a:srgbClr val="008000"/>
              </a:solidFill>
              <a:ln w="28575">
                <a:solidFill>
                  <a:schemeClr val="bg1"/>
                </a:solidFill>
              </a:ln>
              <a:effectLst/>
            </c:spPr>
            <c:extLst>
              <c:ext xmlns:c16="http://schemas.microsoft.com/office/drawing/2014/chart" uri="{C3380CC4-5D6E-409C-BE32-E72D297353CC}">
                <c16:uniqueId val="{0000000D-2650-4CC0-BA0F-C079246AE60A}"/>
              </c:ext>
            </c:extLst>
          </c:dPt>
          <c:dPt>
            <c:idx val="7"/>
            <c:bubble3D val="0"/>
            <c:spPr>
              <a:noFill/>
              <a:ln w="28575">
                <a:noFill/>
              </a:ln>
              <a:effectLst/>
            </c:spPr>
            <c:extLst>
              <c:ext xmlns:c16="http://schemas.microsoft.com/office/drawing/2014/chart" uri="{C3380CC4-5D6E-409C-BE32-E72D297353CC}">
                <c16:uniqueId val="{0000000F-2650-4CC0-BA0F-C079246AE60A}"/>
              </c:ext>
            </c:extLst>
          </c:dPt>
          <c:dLbls>
            <c:dLbl>
              <c:idx val="1"/>
              <c:layout>
                <c:manualLayout>
                  <c:x val="2.0304308830136071E-2"/>
                  <c:y val="-2.495148000820778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650-4CC0-BA0F-C079246AE60A}"/>
                </c:ext>
              </c:extLst>
            </c:dLbl>
            <c:dLbl>
              <c:idx val="7"/>
              <c:delete val="1"/>
              <c:extLst>
                <c:ext xmlns:c15="http://schemas.microsoft.com/office/drawing/2012/chart" uri="{CE6537A1-D6FC-4f65-9D91-7224C49458BB}"/>
                <c:ext xmlns:c16="http://schemas.microsoft.com/office/drawing/2014/chart" uri="{C3380CC4-5D6E-409C-BE32-E72D297353CC}">
                  <c16:uniqueId val="{0000000F-2650-4CC0-BA0F-C079246AE60A}"/>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5"/>
                <c:pt idx="0">
                  <c:v>Significantly more likely to recommend Penmenvy</c:v>
                </c:pt>
                <c:pt idx="1">
                  <c:v>Slightly more likely to recommend Penmenvy</c:v>
                </c:pt>
                <c:pt idx="2">
                  <c:v>Not likely to recommend one over the other</c:v>
                </c:pt>
                <c:pt idx="3">
                  <c:v>Slightly more likely torecommend Penbraya</c:v>
                </c:pt>
                <c:pt idx="4">
                  <c:v>Significantly more likely to recommend Penbraya</c:v>
                </c:pt>
              </c:strCache>
            </c:strRef>
          </c:cat>
          <c:val>
            <c:numRef>
              <c:f>Sheet1!$B$2:$B$7</c:f>
              <c:numCache>
                <c:formatCode>0%</c:formatCode>
                <c:ptCount val="6"/>
                <c:pt idx="0">
                  <c:v>0.21</c:v>
                </c:pt>
                <c:pt idx="1">
                  <c:v>0.43</c:v>
                </c:pt>
                <c:pt idx="2">
                  <c:v>0.18</c:v>
                </c:pt>
                <c:pt idx="3">
                  <c:v>0.13</c:v>
                </c:pt>
                <c:pt idx="4">
                  <c:v>7.0000000000000007E-2</c:v>
                </c:pt>
                <c:pt idx="5">
                  <c:v>1</c:v>
                </c:pt>
              </c:numCache>
            </c:numRef>
          </c:val>
          <c:extLst>
            <c:ext xmlns:c16="http://schemas.microsoft.com/office/drawing/2014/chart" uri="{C3380CC4-5D6E-409C-BE32-E72D297353CC}">
              <c16:uniqueId val="{00000010-2650-4CC0-BA0F-C079246AE60A}"/>
            </c:ext>
          </c:extLst>
        </c:ser>
        <c:dLbls>
          <c:showLegendKey val="0"/>
          <c:showVal val="0"/>
          <c:showCatName val="0"/>
          <c:showSerName val="0"/>
          <c:showPercent val="0"/>
          <c:showBubbleSize val="0"/>
          <c:showLeaderLines val="1"/>
        </c:dLbls>
        <c:firstSliceAng val="270"/>
        <c:holeSize val="3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0727904498891518"/>
          <c:y val="4.9832537054763607E-2"/>
          <c:w val="0.24591296536962007"/>
          <c:h val="0.9200690119048881"/>
        </c:manualLayout>
      </c:layout>
      <c:barChart>
        <c:barDir val="bar"/>
        <c:grouping val="clustered"/>
        <c:varyColors val="0"/>
        <c:ser>
          <c:idx val="0"/>
          <c:order val="0"/>
          <c:tx>
            <c:strRef>
              <c:f>Sheet1!$B$1</c:f>
              <c:strCache>
                <c:ptCount val="1"/>
                <c:pt idx="0">
                  <c:v>High Comfort (6,7)</c:v>
                </c:pt>
              </c:strCache>
            </c:strRef>
          </c:tx>
          <c:spPr>
            <a:solidFill>
              <a:schemeClr val="accent3"/>
            </a:solidFill>
            <a:ln>
              <a:noFill/>
            </a:ln>
            <a:effectLst/>
          </c:spPr>
          <c:invertIfNegative val="0"/>
          <c:dPt>
            <c:idx val="1"/>
            <c:invertIfNegative val="0"/>
            <c:bubble3D val="0"/>
            <c:spPr>
              <a:solidFill>
                <a:schemeClr val="accent3"/>
              </a:solidFill>
              <a:ln>
                <a:noFill/>
              </a:ln>
              <a:effectLst/>
            </c:spPr>
            <c:extLst>
              <c:ext xmlns:c16="http://schemas.microsoft.com/office/drawing/2014/chart" uri="{C3380CC4-5D6E-409C-BE32-E72D297353CC}">
                <c16:uniqueId val="{00000001-F730-4C52-A6AB-DCEA2510FA44}"/>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3-F730-4C52-A6AB-DCEA2510FA44}"/>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5-F730-4C52-A6AB-DCEA2510FA44}"/>
              </c:ext>
            </c:extLst>
          </c:dPt>
          <c:dPt>
            <c:idx val="4"/>
            <c:invertIfNegative val="0"/>
            <c:bubble3D val="0"/>
            <c:spPr>
              <a:solidFill>
                <a:schemeClr val="accent3"/>
              </a:solidFill>
              <a:ln>
                <a:noFill/>
              </a:ln>
              <a:effectLst/>
            </c:spPr>
            <c:extLst>
              <c:ext xmlns:c16="http://schemas.microsoft.com/office/drawing/2014/chart" uri="{C3380CC4-5D6E-409C-BE32-E72D297353CC}">
                <c16:uniqueId val="{00000007-F730-4C52-A6AB-DCEA2510FA44}"/>
              </c:ext>
            </c:extLst>
          </c:dPt>
          <c:dPt>
            <c:idx val="5"/>
            <c:invertIfNegative val="0"/>
            <c:bubble3D val="0"/>
            <c:spPr>
              <a:solidFill>
                <a:schemeClr val="accent3"/>
              </a:solidFill>
              <a:ln>
                <a:noFill/>
              </a:ln>
              <a:effectLst/>
            </c:spPr>
            <c:extLst>
              <c:ext xmlns:c16="http://schemas.microsoft.com/office/drawing/2014/chart" uri="{C3380CC4-5D6E-409C-BE32-E72D297353CC}">
                <c16:uniqueId val="{00000009-F730-4C52-A6AB-DCEA2510FA44}"/>
              </c:ext>
            </c:extLst>
          </c:dPt>
          <c:dPt>
            <c:idx val="6"/>
            <c:invertIfNegative val="0"/>
            <c:bubble3D val="0"/>
            <c:spPr>
              <a:solidFill>
                <a:schemeClr val="accent3"/>
              </a:solidFill>
              <a:ln>
                <a:noFill/>
              </a:ln>
              <a:effectLst/>
            </c:spPr>
            <c:extLst>
              <c:ext xmlns:c16="http://schemas.microsoft.com/office/drawing/2014/chart" uri="{C3380CC4-5D6E-409C-BE32-E72D297353CC}">
                <c16:uniqueId val="{0000000B-F730-4C52-A6AB-DCEA2510FA44}"/>
              </c:ext>
            </c:extLst>
          </c:dPt>
          <c:dPt>
            <c:idx val="7"/>
            <c:invertIfNegative val="0"/>
            <c:bubble3D val="0"/>
            <c:spPr>
              <a:solidFill>
                <a:schemeClr val="accent3"/>
              </a:solidFill>
              <a:ln>
                <a:noFill/>
              </a:ln>
              <a:effectLst/>
            </c:spPr>
            <c:extLst>
              <c:ext xmlns:c16="http://schemas.microsoft.com/office/drawing/2014/chart" uri="{C3380CC4-5D6E-409C-BE32-E72D297353CC}">
                <c16:uniqueId val="{0000000D-F730-4C52-A6AB-DCEA2510FA44}"/>
              </c:ext>
            </c:extLst>
          </c:dPt>
          <c:dPt>
            <c:idx val="8"/>
            <c:invertIfNegative val="0"/>
            <c:bubble3D val="0"/>
            <c:spPr>
              <a:solidFill>
                <a:schemeClr val="accent3"/>
              </a:solidFill>
              <a:ln>
                <a:noFill/>
              </a:ln>
              <a:effectLst/>
            </c:spPr>
            <c:extLst>
              <c:ext xmlns:c16="http://schemas.microsoft.com/office/drawing/2014/chart" uri="{C3380CC4-5D6E-409C-BE32-E72D297353CC}">
                <c16:uniqueId val="{0000000F-F730-4C52-A6AB-DCEA2510FA44}"/>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1-F730-4C52-A6AB-DCEA2510FA44}"/>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3-F730-4C52-A6AB-DCEA2510FA44}"/>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5-F730-4C52-A6AB-DCEA2510FA44}"/>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7-F730-4C52-A6AB-DCEA2510FA44}"/>
              </c:ext>
            </c:extLst>
          </c:dPt>
          <c:dPt>
            <c:idx val="13"/>
            <c:invertIfNegative val="0"/>
            <c:bubble3D val="0"/>
            <c:spPr>
              <a:solidFill>
                <a:schemeClr val="accent3"/>
              </a:solidFill>
              <a:ln>
                <a:noFill/>
              </a:ln>
              <a:effectLst/>
            </c:spPr>
            <c:extLst>
              <c:ext xmlns:c16="http://schemas.microsoft.com/office/drawing/2014/chart" uri="{C3380CC4-5D6E-409C-BE32-E72D297353CC}">
                <c16:uniqueId val="{00000019-F730-4C52-A6AB-DCEA2510FA44}"/>
              </c:ext>
            </c:extLst>
          </c:dPt>
          <c:dPt>
            <c:idx val="14"/>
            <c:invertIfNegative val="0"/>
            <c:bubble3D val="0"/>
            <c:spPr>
              <a:solidFill>
                <a:schemeClr val="accent3"/>
              </a:solidFill>
              <a:ln>
                <a:noFill/>
              </a:ln>
              <a:effectLst/>
            </c:spPr>
            <c:extLst>
              <c:ext xmlns:c16="http://schemas.microsoft.com/office/drawing/2014/chart" uri="{C3380CC4-5D6E-409C-BE32-E72D297353CC}">
                <c16:uniqueId val="{0000001B-F730-4C52-A6AB-DCEA2510FA44}"/>
              </c:ext>
            </c:extLst>
          </c:dPt>
          <c:dPt>
            <c:idx val="15"/>
            <c:invertIfNegative val="0"/>
            <c:bubble3D val="0"/>
            <c:spPr>
              <a:solidFill>
                <a:schemeClr val="accent3"/>
              </a:solidFill>
              <a:ln>
                <a:noFill/>
              </a:ln>
              <a:effectLst/>
            </c:spPr>
            <c:extLst>
              <c:ext xmlns:c16="http://schemas.microsoft.com/office/drawing/2014/chart" uri="{C3380CC4-5D6E-409C-BE32-E72D297353CC}">
                <c16:uniqueId val="{0000001D-F730-4C52-A6AB-DCEA2510FA44}"/>
              </c:ext>
            </c:extLst>
          </c:dPt>
          <c:dPt>
            <c:idx val="16"/>
            <c:invertIfNegative val="0"/>
            <c:bubble3D val="0"/>
            <c:spPr>
              <a:solidFill>
                <a:schemeClr val="accent3"/>
              </a:solidFill>
              <a:ln>
                <a:noFill/>
              </a:ln>
              <a:effectLst/>
            </c:spPr>
            <c:extLst>
              <c:ext xmlns:c16="http://schemas.microsoft.com/office/drawing/2014/chart" uri="{C3380CC4-5D6E-409C-BE32-E72D297353CC}">
                <c16:uniqueId val="{0000001F-F730-4C52-A6AB-DCEA2510FA44}"/>
              </c:ext>
            </c:extLst>
          </c:dPt>
          <c:dPt>
            <c:idx val="19"/>
            <c:invertIfNegative val="0"/>
            <c:bubble3D val="0"/>
            <c:spPr>
              <a:solidFill>
                <a:schemeClr val="accent3"/>
              </a:solidFill>
              <a:ln>
                <a:noFill/>
              </a:ln>
              <a:effectLst/>
            </c:spPr>
            <c:extLst>
              <c:ext xmlns:c16="http://schemas.microsoft.com/office/drawing/2014/chart" uri="{C3380CC4-5D6E-409C-BE32-E72D297353CC}">
                <c16:uniqueId val="{00000021-F730-4C52-A6AB-DCEA2510FA44}"/>
              </c:ext>
            </c:extLst>
          </c:dPt>
          <c:dPt>
            <c:idx val="20"/>
            <c:invertIfNegative val="0"/>
            <c:bubble3D val="0"/>
            <c:spPr>
              <a:solidFill>
                <a:schemeClr val="accent3"/>
              </a:solidFill>
              <a:ln>
                <a:noFill/>
              </a:ln>
              <a:effectLst/>
            </c:spPr>
            <c:extLst>
              <c:ext xmlns:c16="http://schemas.microsoft.com/office/drawing/2014/chart" uri="{C3380CC4-5D6E-409C-BE32-E72D297353CC}">
                <c16:uniqueId val="{00000023-F730-4C52-A6AB-DCEA2510FA44}"/>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Robust clinical development data</c:v>
                </c:pt>
                <c:pt idx="1">
                  <c:v>Clinically demonstrated coverage diverse MenB strains</c:v>
                </c:pt>
                <c:pt idx="2">
                  <c:v>Included in  VFC program</c:v>
                </c:pt>
                <c:pt idx="3">
                  <c:v>Built on well-established meningococcal Vxs</c:v>
                </c:pt>
                <c:pt idx="4">
                  <c:v>Positive net acquisition cost implications / lower list price</c:v>
                </c:pt>
                <c:pt idx="5">
                  <c:v>Mfr. offers contracting that supports my use</c:v>
                </c:pt>
                <c:pt idx="6">
                  <c:v>High familiarity with Vx components</c:v>
                </c:pt>
                <c:pt idx="7">
                  <c:v>Mfr. offers full meningococcal portfolio of Vxs</c:v>
                </c:pt>
                <c:pt idx="8">
                  <c:v>Mfr.  trusted partner in pediatric and adolescent Vxs</c:v>
                </c:pt>
                <c:pt idx="9">
                  <c:v>Aligns with manufacturer use most for Vx purchases</c:v>
                </c:pt>
                <c:pt idx="10">
                  <c:v>Needle-free reconstitution</c:v>
                </c:pt>
              </c:strCache>
            </c:strRef>
          </c:cat>
          <c:val>
            <c:numRef>
              <c:f>Sheet1!$B$2:$B$12</c:f>
              <c:numCache>
                <c:formatCode>0%</c:formatCode>
                <c:ptCount val="11"/>
                <c:pt idx="0">
                  <c:v>0.84</c:v>
                </c:pt>
                <c:pt idx="1">
                  <c:v>0.79</c:v>
                </c:pt>
                <c:pt idx="2">
                  <c:v>0.74</c:v>
                </c:pt>
                <c:pt idx="3">
                  <c:v>0.67</c:v>
                </c:pt>
                <c:pt idx="4">
                  <c:v>0.6</c:v>
                </c:pt>
                <c:pt idx="5">
                  <c:v>0.57000000000000006</c:v>
                </c:pt>
                <c:pt idx="6">
                  <c:v>0.56000000000000005</c:v>
                </c:pt>
                <c:pt idx="7">
                  <c:v>0.55000000000000004</c:v>
                </c:pt>
                <c:pt idx="8">
                  <c:v>0.54</c:v>
                </c:pt>
                <c:pt idx="9">
                  <c:v>0.52</c:v>
                </c:pt>
                <c:pt idx="10">
                  <c:v>0.3</c:v>
                </c:pt>
              </c:numCache>
            </c:numRef>
          </c:val>
          <c:extLst>
            <c:ext xmlns:c16="http://schemas.microsoft.com/office/drawing/2014/chart" uri="{C3380CC4-5D6E-409C-BE32-E72D297353CC}">
              <c16:uniqueId val="{00000024-F730-4C52-A6AB-DCEA2510FA44}"/>
            </c:ext>
          </c:extLst>
        </c:ser>
        <c:dLbls>
          <c:showLegendKey val="0"/>
          <c:showVal val="1"/>
          <c:showCatName val="0"/>
          <c:showSerName val="0"/>
          <c:showPercent val="0"/>
          <c:showBubbleSize val="0"/>
        </c:dLbls>
        <c:gapWidth val="75"/>
        <c:axId val="1544824944"/>
        <c:axId val="1544829264"/>
      </c:barChart>
      <c:catAx>
        <c:axId val="1544824944"/>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200" b="0" i="0" u="none" strike="noStrike" kern="1200" baseline="0">
                <a:solidFill>
                  <a:schemeClr val="tx1"/>
                </a:solidFill>
                <a:latin typeface="+mn-lt"/>
                <a:ea typeface="+mn-ea"/>
                <a:cs typeface="+mn-cs"/>
              </a:defRPr>
            </a:pPr>
            <a:endParaRPr lang="en-US"/>
          </a:p>
        </c:txPr>
        <c:crossAx val="1544829264"/>
        <c:crosses val="autoZero"/>
        <c:auto val="1"/>
        <c:lblAlgn val="ctr"/>
        <c:lblOffset val="0"/>
        <c:noMultiLvlLbl val="0"/>
      </c:catAx>
      <c:valAx>
        <c:axId val="1544829264"/>
        <c:scaling>
          <c:orientation val="minMax"/>
          <c:max val="1"/>
        </c:scaling>
        <c:delete val="1"/>
        <c:axPos val="b"/>
        <c:numFmt formatCode="0%" sourceLinked="1"/>
        <c:majorTickMark val="out"/>
        <c:minorTickMark val="none"/>
        <c:tickLblPos val="nextTo"/>
        <c:crossAx val="154482494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253243403707181E-2"/>
          <c:y val="1.4456477276081795E-2"/>
          <c:w val="0.97549351319258559"/>
          <c:h val="0.49856238587435531"/>
        </c:manualLayout>
      </c:layout>
      <c:barChart>
        <c:barDir val="col"/>
        <c:grouping val="clustered"/>
        <c:varyColors val="0"/>
        <c:ser>
          <c:idx val="1"/>
          <c:order val="0"/>
          <c:tx>
            <c:strRef>
              <c:f>Sheet1!$B$1</c:f>
              <c:strCache>
                <c:ptCount val="1"/>
                <c:pt idx="0">
                  <c:v>Importance</c:v>
                </c:pt>
              </c:strCache>
            </c:strRef>
          </c:tx>
          <c:spPr>
            <a:solidFill>
              <a:schemeClr val="bg1">
                <a:lumMod val="85000"/>
              </a:schemeClr>
            </a:solidFill>
            <a:ln w="19050" cap="rnd">
              <a:noFill/>
              <a:round/>
            </a:ln>
            <a:effectLst/>
          </c:spPr>
          <c:invertIfNegative val="0"/>
          <c:dPt>
            <c:idx val="3"/>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1-2623-4551-B1CB-AD96EF727D88}"/>
              </c:ext>
            </c:extLst>
          </c:dPt>
          <c:dPt>
            <c:idx val="4"/>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3-2623-4551-B1CB-AD96EF727D88}"/>
              </c:ext>
            </c:extLst>
          </c:dPt>
          <c:dPt>
            <c:idx val="5"/>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5-2623-4551-B1CB-AD96EF727D88}"/>
              </c:ext>
            </c:extLst>
          </c:dPt>
          <c:dPt>
            <c:idx val="6"/>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7-2623-4551-B1CB-AD96EF727D88}"/>
              </c:ext>
            </c:extLst>
          </c:dPt>
          <c:dPt>
            <c:idx val="7"/>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9-2623-4551-B1CB-AD96EF727D88}"/>
              </c:ext>
            </c:extLst>
          </c:dPt>
          <c:dPt>
            <c:idx val="8"/>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B-2623-4551-B1CB-AD96EF727D88}"/>
              </c:ext>
            </c:extLst>
          </c:dPt>
          <c:dPt>
            <c:idx val="10"/>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D-2623-4551-B1CB-AD96EF727D88}"/>
              </c:ext>
            </c:extLst>
          </c:dPt>
          <c:dPt>
            <c:idx val="11"/>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0F-2623-4551-B1CB-AD96EF727D88}"/>
              </c:ext>
            </c:extLst>
          </c:dPt>
          <c:dPt>
            <c:idx val="13"/>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11-2623-4551-B1CB-AD96EF727D88}"/>
              </c:ext>
            </c:extLst>
          </c:dPt>
          <c:dPt>
            <c:idx val="14"/>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13-2623-4551-B1CB-AD96EF727D88}"/>
              </c:ext>
            </c:extLst>
          </c:dPt>
          <c:dPt>
            <c:idx val="15"/>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15-2623-4551-B1CB-AD96EF727D88}"/>
              </c:ext>
            </c:extLst>
          </c:dPt>
          <c:dPt>
            <c:idx val="17"/>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17-2623-4551-B1CB-AD96EF727D88}"/>
              </c:ext>
            </c:extLst>
          </c:dPt>
          <c:dPt>
            <c:idx val="18"/>
            <c:invertIfNegative val="0"/>
            <c:bubble3D val="0"/>
            <c:spPr>
              <a:solidFill>
                <a:schemeClr val="bg1">
                  <a:lumMod val="85000"/>
                </a:schemeClr>
              </a:solidFill>
              <a:ln w="19050" cap="rnd">
                <a:noFill/>
                <a:round/>
              </a:ln>
              <a:effectLst/>
            </c:spPr>
            <c:extLst>
              <c:ext xmlns:c16="http://schemas.microsoft.com/office/drawing/2014/chart" uri="{C3380CC4-5D6E-409C-BE32-E72D297353CC}">
                <c16:uniqueId val="{00000019-2623-4551-B1CB-AD96EF727D88}"/>
              </c:ext>
            </c:extLst>
          </c:dPt>
          <c:cat>
            <c:strRef>
              <c:f>Sheet1!$A$2:$A$12</c:f>
              <c:strCache>
                <c:ptCount val="11"/>
                <c:pt idx="0">
                  <c:v>Robust clinical development data</c:v>
                </c:pt>
                <c:pt idx="1">
                  <c:v>Clinically demonstrated coverage diverse MenB strains</c:v>
                </c:pt>
                <c:pt idx="2">
                  <c:v>Included in  VFC program</c:v>
                </c:pt>
                <c:pt idx="3">
                  <c:v>Built on well-established meningococcal Vxs</c:v>
                </c:pt>
                <c:pt idx="4">
                  <c:v>Positive net acquisition cost implications / lower list price</c:v>
                </c:pt>
                <c:pt idx="5">
                  <c:v>Mfr. offers contracting that supports my use</c:v>
                </c:pt>
                <c:pt idx="6">
                  <c:v>High familiarity with Vx components</c:v>
                </c:pt>
                <c:pt idx="7">
                  <c:v>Mfr. offers full meningococcal portfolio of Vxs</c:v>
                </c:pt>
                <c:pt idx="8">
                  <c:v>Mfr.  trusted partner in pediatric and adolescent Vxs</c:v>
                </c:pt>
                <c:pt idx="9">
                  <c:v>Aligns with manufacturer use most for Vx purchases</c:v>
                </c:pt>
                <c:pt idx="10">
                  <c:v>Needle-free reconstitution</c:v>
                </c:pt>
              </c:strCache>
            </c:strRef>
          </c:cat>
          <c:val>
            <c:numRef>
              <c:f>Sheet1!$B$2:$B$12</c:f>
              <c:numCache>
                <c:formatCode>0%</c:formatCode>
                <c:ptCount val="11"/>
                <c:pt idx="0">
                  <c:v>0.84</c:v>
                </c:pt>
                <c:pt idx="1">
                  <c:v>0.79</c:v>
                </c:pt>
                <c:pt idx="2">
                  <c:v>0.74</c:v>
                </c:pt>
                <c:pt idx="3">
                  <c:v>0.67</c:v>
                </c:pt>
                <c:pt idx="4">
                  <c:v>0.6</c:v>
                </c:pt>
                <c:pt idx="5">
                  <c:v>0.56999999999999995</c:v>
                </c:pt>
                <c:pt idx="6">
                  <c:v>0.56000000000000005</c:v>
                </c:pt>
                <c:pt idx="7">
                  <c:v>0.55000000000000004</c:v>
                </c:pt>
                <c:pt idx="8">
                  <c:v>0.54</c:v>
                </c:pt>
                <c:pt idx="9">
                  <c:v>0.52</c:v>
                </c:pt>
                <c:pt idx="10">
                  <c:v>0.3</c:v>
                </c:pt>
              </c:numCache>
            </c:numRef>
          </c:val>
          <c:extLst>
            <c:ext xmlns:c16="http://schemas.microsoft.com/office/drawing/2014/chart" uri="{C3380CC4-5D6E-409C-BE32-E72D297353CC}">
              <c16:uniqueId val="{0000001A-2623-4551-B1CB-AD96EF727D88}"/>
            </c:ext>
          </c:extLst>
        </c:ser>
        <c:dLbls>
          <c:showLegendKey val="0"/>
          <c:showVal val="0"/>
          <c:showCatName val="0"/>
          <c:showSerName val="0"/>
          <c:showPercent val="0"/>
          <c:showBubbleSize val="0"/>
        </c:dLbls>
        <c:gapWidth val="100"/>
        <c:axId val="530849743"/>
        <c:axId val="530852239"/>
      </c:barChart>
      <c:lineChart>
        <c:grouping val="standard"/>
        <c:varyColors val="0"/>
        <c:ser>
          <c:idx val="2"/>
          <c:order val="1"/>
          <c:tx>
            <c:strRef>
              <c:f>Sheet1!$C$1</c:f>
              <c:strCache>
                <c:ptCount val="1"/>
                <c:pt idx="0">
                  <c:v>Penbraya</c:v>
                </c:pt>
              </c:strCache>
            </c:strRef>
          </c:tx>
          <c:spPr>
            <a:ln w="25400" cap="rnd">
              <a:solidFill>
                <a:srgbClr val="937DAD"/>
              </a:solidFill>
              <a:round/>
            </a:ln>
            <a:effectLst/>
          </c:spPr>
          <c:marker>
            <c:symbol val="circle"/>
            <c:size val="8"/>
            <c:spPr>
              <a:solidFill>
                <a:srgbClr val="937DAD"/>
              </a:solidFill>
              <a:ln w="9525">
                <a:solidFill>
                  <a:srgbClr val="937DAD"/>
                </a:solidFill>
              </a:ln>
              <a:effectLst/>
            </c:spPr>
          </c:marker>
          <c:cat>
            <c:strRef>
              <c:f>Sheet1!$A$2:$A$12</c:f>
              <c:strCache>
                <c:ptCount val="11"/>
                <c:pt idx="0">
                  <c:v>Robust clinical development data</c:v>
                </c:pt>
                <c:pt idx="1">
                  <c:v>Clinically demonstrated coverage diverse MenB strains</c:v>
                </c:pt>
                <c:pt idx="2">
                  <c:v>Included in  VFC program</c:v>
                </c:pt>
                <c:pt idx="3">
                  <c:v>Built on well-established meningococcal Vxs</c:v>
                </c:pt>
                <c:pt idx="4">
                  <c:v>Positive net acquisition cost implications / lower list price</c:v>
                </c:pt>
                <c:pt idx="5">
                  <c:v>Mfr. offers contracting that supports my use</c:v>
                </c:pt>
                <c:pt idx="6">
                  <c:v>High familiarity with Vx components</c:v>
                </c:pt>
                <c:pt idx="7">
                  <c:v>Mfr. offers full meningococcal portfolio of Vxs</c:v>
                </c:pt>
                <c:pt idx="8">
                  <c:v>Mfr.  trusted partner in pediatric and adolescent Vxs</c:v>
                </c:pt>
                <c:pt idx="9">
                  <c:v>Aligns with manufacturer use most for Vx purchases</c:v>
                </c:pt>
                <c:pt idx="10">
                  <c:v>Needle-free reconstitution</c:v>
                </c:pt>
              </c:strCache>
            </c:strRef>
          </c:cat>
          <c:val>
            <c:numRef>
              <c:f>Sheet1!$C$2:$C$12</c:f>
              <c:numCache>
                <c:formatCode>0%</c:formatCode>
                <c:ptCount val="11"/>
                <c:pt idx="0">
                  <c:v>0.61</c:v>
                </c:pt>
                <c:pt idx="1">
                  <c:v>0.6</c:v>
                </c:pt>
                <c:pt idx="2">
                  <c:v>0.57000000000000006</c:v>
                </c:pt>
                <c:pt idx="3">
                  <c:v>0.62</c:v>
                </c:pt>
                <c:pt idx="4">
                  <c:v>0.22</c:v>
                </c:pt>
                <c:pt idx="5">
                  <c:v>0.31</c:v>
                </c:pt>
                <c:pt idx="6">
                  <c:v>0.49</c:v>
                </c:pt>
                <c:pt idx="7">
                  <c:v>0.53</c:v>
                </c:pt>
                <c:pt idx="8">
                  <c:v>0.63</c:v>
                </c:pt>
                <c:pt idx="9">
                  <c:v>0.33</c:v>
                </c:pt>
                <c:pt idx="10">
                  <c:v>0.47000000000000003</c:v>
                </c:pt>
              </c:numCache>
            </c:numRef>
          </c:val>
          <c:smooth val="0"/>
          <c:extLst>
            <c:ext xmlns:c16="http://schemas.microsoft.com/office/drawing/2014/chart" uri="{C3380CC4-5D6E-409C-BE32-E72D297353CC}">
              <c16:uniqueId val="{0000001B-2623-4551-B1CB-AD96EF727D88}"/>
            </c:ext>
          </c:extLst>
        </c:ser>
        <c:ser>
          <c:idx val="0"/>
          <c:order val="2"/>
          <c:tx>
            <c:strRef>
              <c:f>Sheet1!$D$1</c:f>
              <c:strCache>
                <c:ptCount val="1"/>
                <c:pt idx="0">
                  <c:v>Penmenvy</c:v>
                </c:pt>
              </c:strCache>
            </c:strRef>
          </c:tx>
          <c:spPr>
            <a:ln w="25400" cap="rnd">
              <a:solidFill>
                <a:schemeClr val="accent6">
                  <a:lumMod val="60000"/>
                  <a:lumOff val="40000"/>
                </a:schemeClr>
              </a:solidFill>
              <a:round/>
            </a:ln>
            <a:effectLst/>
          </c:spPr>
          <c:marker>
            <c:symbol val="circle"/>
            <c:size val="8"/>
            <c:spPr>
              <a:solidFill>
                <a:schemeClr val="accent6">
                  <a:lumMod val="60000"/>
                  <a:lumOff val="40000"/>
                </a:schemeClr>
              </a:solidFill>
              <a:ln w="9525">
                <a:solidFill>
                  <a:schemeClr val="accent6">
                    <a:lumMod val="60000"/>
                    <a:lumOff val="40000"/>
                  </a:schemeClr>
                </a:solidFill>
              </a:ln>
              <a:effectLst/>
            </c:spPr>
          </c:marker>
          <c:cat>
            <c:strRef>
              <c:f>Sheet1!$A$2:$A$12</c:f>
              <c:strCache>
                <c:ptCount val="11"/>
                <c:pt idx="0">
                  <c:v>Robust clinical development data</c:v>
                </c:pt>
                <c:pt idx="1">
                  <c:v>Clinically demonstrated coverage diverse MenB strains</c:v>
                </c:pt>
                <c:pt idx="2">
                  <c:v>Included in  VFC program</c:v>
                </c:pt>
                <c:pt idx="3">
                  <c:v>Built on well-established meningococcal Vxs</c:v>
                </c:pt>
                <c:pt idx="4">
                  <c:v>Positive net acquisition cost implications / lower list price</c:v>
                </c:pt>
                <c:pt idx="5">
                  <c:v>Mfr. offers contracting that supports my use</c:v>
                </c:pt>
                <c:pt idx="6">
                  <c:v>High familiarity with Vx components</c:v>
                </c:pt>
                <c:pt idx="7">
                  <c:v>Mfr. offers full meningococcal portfolio of Vxs</c:v>
                </c:pt>
                <c:pt idx="8">
                  <c:v>Mfr.  trusted partner in pediatric and adolescent Vxs</c:v>
                </c:pt>
                <c:pt idx="9">
                  <c:v>Aligns with manufacturer use most for Vx purchases</c:v>
                </c:pt>
                <c:pt idx="10">
                  <c:v>Needle-free reconstitution</c:v>
                </c:pt>
              </c:strCache>
            </c:strRef>
          </c:cat>
          <c:val>
            <c:numRef>
              <c:f>Sheet1!$D$2:$D$12</c:f>
              <c:numCache>
                <c:formatCode>0%</c:formatCode>
                <c:ptCount val="11"/>
                <c:pt idx="0">
                  <c:v>0.55000000000000004</c:v>
                </c:pt>
                <c:pt idx="1">
                  <c:v>0.63</c:v>
                </c:pt>
                <c:pt idx="3">
                  <c:v>0.56000000000000005</c:v>
                </c:pt>
                <c:pt idx="4">
                  <c:v>0.24</c:v>
                </c:pt>
                <c:pt idx="6">
                  <c:v>0.44</c:v>
                </c:pt>
                <c:pt idx="9">
                  <c:v>0.39</c:v>
                </c:pt>
                <c:pt idx="10">
                  <c:v>0.31</c:v>
                </c:pt>
              </c:numCache>
            </c:numRef>
          </c:val>
          <c:smooth val="0"/>
          <c:extLst>
            <c:ext xmlns:c16="http://schemas.microsoft.com/office/drawing/2014/chart" uri="{C3380CC4-5D6E-409C-BE32-E72D297353CC}">
              <c16:uniqueId val="{0000001C-2623-4551-B1CB-AD96EF727D88}"/>
            </c:ext>
          </c:extLst>
        </c:ser>
        <c:dLbls>
          <c:showLegendKey val="0"/>
          <c:showVal val="0"/>
          <c:showCatName val="0"/>
          <c:showSerName val="0"/>
          <c:showPercent val="0"/>
          <c:showBubbleSize val="0"/>
        </c:dLbls>
        <c:marker val="1"/>
        <c:smooth val="0"/>
        <c:axId val="530849743"/>
        <c:axId val="530852239"/>
      </c:lineChart>
      <c:catAx>
        <c:axId val="530849743"/>
        <c:scaling>
          <c:orientation val="minMax"/>
        </c:scaling>
        <c:delete val="0"/>
        <c:axPos val="b"/>
        <c:numFmt formatCode="General" sourceLinked="1"/>
        <c:majorTickMark val="none"/>
        <c:minorTickMark val="none"/>
        <c:tickLblPos val="none"/>
        <c:spPr>
          <a:noFill/>
          <a:ln w="9525" cap="flat" cmpd="sng" algn="ctr">
            <a:solidFill>
              <a:schemeClr val="bg1">
                <a:lumMod val="85000"/>
              </a:schemeClr>
            </a:solidFill>
            <a:round/>
          </a:ln>
          <a:effectLst/>
        </c:spPr>
        <c:txPr>
          <a:bodyPr rot="-60000000" spcFirstLastPara="1" vertOverflow="ellipsis" vert="horz" wrap="square" anchor="ctr" anchorCtr="1"/>
          <a:lstStyle/>
          <a:p>
            <a:pPr>
              <a:lnSpc>
                <a:spcPct val="90000"/>
              </a:lnSpc>
              <a:defRPr sz="900" b="0" i="0" u="none" strike="noStrike" kern="1200" baseline="0">
                <a:solidFill>
                  <a:schemeClr val="tx1">
                    <a:lumMod val="65000"/>
                    <a:lumOff val="35000"/>
                  </a:schemeClr>
                </a:solidFill>
                <a:latin typeface="+mn-lt"/>
                <a:ea typeface="+mn-ea"/>
                <a:cs typeface="+mn-cs"/>
              </a:defRPr>
            </a:pPr>
            <a:endParaRPr lang="en-US"/>
          </a:p>
        </c:txPr>
        <c:crossAx val="530852239"/>
        <c:crosses val="autoZero"/>
        <c:auto val="1"/>
        <c:lblAlgn val="ctr"/>
        <c:lblOffset val="100"/>
        <c:noMultiLvlLbl val="0"/>
      </c:catAx>
      <c:valAx>
        <c:axId val="530852239"/>
        <c:scaling>
          <c:orientation val="minMax"/>
          <c:max val="1.1000000000000001"/>
          <c:min val="0"/>
        </c:scaling>
        <c:delete val="1"/>
        <c:axPos val="l"/>
        <c:numFmt formatCode="0%" sourceLinked="1"/>
        <c:majorTickMark val="out"/>
        <c:minorTickMark val="none"/>
        <c:tickLblPos val="nextTo"/>
        <c:crossAx val="530849743"/>
        <c:crosses val="autoZero"/>
        <c:crossBetween val="between"/>
      </c:valAx>
      <c:spPr>
        <a:noFill/>
        <a:ln w="12700">
          <a:solidFill>
            <a:schemeClr val="bg1">
              <a:lumMod val="85000"/>
            </a:schemeClr>
          </a:solidFill>
          <a:prstDash val="solid"/>
        </a:ln>
        <a:effectLst/>
      </c:spPr>
    </c:plotArea>
    <c:legend>
      <c:legendPos val="t"/>
      <c:legendEntry>
        <c:idx val="1"/>
        <c:txPr>
          <a:bodyPr rot="0" spcFirstLastPara="1" vertOverflow="ellipsis" vert="horz" wrap="square" anchor="ctr" anchorCtr="1"/>
          <a:lstStyle/>
          <a:p>
            <a:pPr>
              <a:defRPr sz="1400" b="0" i="0" u="none" strike="noStrike" kern="1200" baseline="0">
                <a:solidFill>
                  <a:srgbClr val="937DAD"/>
                </a:solidFill>
                <a:latin typeface="+mn-lt"/>
                <a:ea typeface="+mn-ea"/>
                <a:cs typeface="+mn-cs"/>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D95776"/>
                </a:solidFill>
                <a:latin typeface="+mn-lt"/>
                <a:ea typeface="+mn-ea"/>
                <a:cs typeface="+mn-cs"/>
              </a:defRPr>
            </a:pPr>
            <a:endParaRPr lang="en-US"/>
          </a:p>
        </c:txPr>
      </c:legendEntry>
      <c:layout>
        <c:manualLayout>
          <c:xMode val="edge"/>
          <c:yMode val="edge"/>
          <c:x val="0.20913473147763326"/>
          <c:y val="1.6067203926976456E-2"/>
          <c:w val="0.54795856263663312"/>
          <c:h val="5.7530289420526383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99000721251177E-2"/>
          <c:y val="6.9093112253630087E-2"/>
          <c:w val="0.95521187338720981"/>
          <c:h val="0.89531700337507103"/>
        </c:manualLayout>
      </c:layout>
      <c:barChart>
        <c:barDir val="col"/>
        <c:grouping val="stacked"/>
        <c:varyColors val="0"/>
        <c:ser>
          <c:idx val="0"/>
          <c:order val="0"/>
          <c:tx>
            <c:strRef>
              <c:f>Sheet1!$A$2</c:f>
              <c:strCache>
                <c:ptCount val="1"/>
                <c:pt idx="0">
                  <c:v>MenQuadfi</c:v>
                </c:pt>
              </c:strCache>
            </c:strRef>
          </c:tx>
          <c:spPr>
            <a:solidFill>
              <a:srgbClr val="009CED"/>
            </a:solidFill>
            <a:ln>
              <a:noFill/>
            </a:ln>
            <a:effectLst/>
          </c:spPr>
          <c:invertIfNegative val="0"/>
          <c:dPt>
            <c:idx val="0"/>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0-E7AD-40E1-9213-87D9407A7660}"/>
              </c:ext>
            </c:extLst>
          </c:dPt>
          <c:dPt>
            <c:idx val="1"/>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E7AD-40E1-9213-87D9407A7660}"/>
              </c:ext>
            </c:extLst>
          </c:dPt>
          <c:dPt>
            <c:idx val="2"/>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E7AD-40E1-9213-87D9407A7660}"/>
              </c:ext>
            </c:extLst>
          </c:dPt>
          <c:dPt>
            <c:idx val="3"/>
            <c:invertIfNegative val="0"/>
            <c:bubble3D val="0"/>
            <c:extLst>
              <c:ext xmlns:c16="http://schemas.microsoft.com/office/drawing/2014/chart" uri="{C3380CC4-5D6E-409C-BE32-E72D297353CC}">
                <c16:uniqueId val="{00000003-E7AD-40E1-9213-87D9407A7660}"/>
              </c:ext>
            </c:extLst>
          </c:dPt>
          <c:dPt>
            <c:idx val="4"/>
            <c:invertIfNegative val="0"/>
            <c:bubble3D val="0"/>
            <c:extLst>
              <c:ext xmlns:c16="http://schemas.microsoft.com/office/drawing/2014/chart" uri="{C3380CC4-5D6E-409C-BE32-E72D297353CC}">
                <c16:uniqueId val="{00000004-E7AD-40E1-9213-87D9407A7660}"/>
              </c:ext>
            </c:extLst>
          </c:dPt>
          <c:dLbls>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Sheet1!$B$1:$E$1</c:f>
              <c:strCache>
                <c:ptCount val="4"/>
                <c:pt idx="0">
                  <c:v>Future P15</c:v>
                </c:pt>
                <c:pt idx="1">
                  <c:v>Column3</c:v>
                </c:pt>
                <c:pt idx="2">
                  <c:v>Column2</c:v>
                </c:pt>
                <c:pt idx="3">
                  <c:v>Future X12</c:v>
                </c:pt>
              </c:strCache>
            </c:strRef>
          </c:cat>
          <c:val>
            <c:numRef>
              <c:f>Sheet1!$B$2:$E$2</c:f>
              <c:numCache>
                <c:formatCode>General</c:formatCode>
                <c:ptCount val="4"/>
                <c:pt idx="0" formatCode="0%">
                  <c:v>0.35</c:v>
                </c:pt>
                <c:pt idx="3" formatCode="0%">
                  <c:v>0.32</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E7AD-40E1-9213-87D9407A7660}"/>
            </c:ext>
          </c:extLst>
        </c:ser>
        <c:ser>
          <c:idx val="1"/>
          <c:order val="1"/>
          <c:tx>
            <c:strRef>
              <c:f>Sheet1!$A$3</c:f>
              <c:strCache>
                <c:ptCount val="1"/>
                <c:pt idx="0">
                  <c:v>Menveo</c:v>
                </c:pt>
              </c:strCache>
            </c:strRef>
          </c:tx>
          <c:spPr>
            <a:solidFill>
              <a:srgbClr val="D8006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Future P15</c:v>
                </c:pt>
                <c:pt idx="1">
                  <c:v>Column3</c:v>
                </c:pt>
                <c:pt idx="2">
                  <c:v>Column2</c:v>
                </c:pt>
                <c:pt idx="3">
                  <c:v>Future X12</c:v>
                </c:pt>
              </c:strCache>
            </c:strRef>
          </c:cat>
          <c:val>
            <c:numRef>
              <c:f>Sheet1!$B$3:$E$3</c:f>
              <c:numCache>
                <c:formatCode>General</c:formatCode>
                <c:ptCount val="4"/>
                <c:pt idx="0" formatCode="0%">
                  <c:v>0.12</c:v>
                </c:pt>
                <c:pt idx="3" formatCode="0%">
                  <c:v>0.11</c:v>
                </c:pt>
              </c:numCache>
            </c:numRef>
          </c:val>
          <c:extLst>
            <c:ext xmlns:c16="http://schemas.microsoft.com/office/drawing/2014/chart" uri="{C3380CC4-5D6E-409C-BE32-E72D297353CC}">
              <c16:uniqueId val="{00000006-E7AD-40E1-9213-87D9407A7660}"/>
            </c:ext>
          </c:extLst>
        </c:ser>
        <c:ser>
          <c:idx val="2"/>
          <c:order val="2"/>
          <c:tx>
            <c:strRef>
              <c:f>Sheet1!$A$4</c:f>
              <c:strCache>
                <c:ptCount val="1"/>
                <c:pt idx="0">
                  <c:v>Bexsero</c:v>
                </c:pt>
              </c:strCache>
            </c:strRef>
          </c:tx>
          <c:spPr>
            <a:solidFill>
              <a:srgbClr val="6F002C"/>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Future P15</c:v>
                </c:pt>
                <c:pt idx="1">
                  <c:v>Column3</c:v>
                </c:pt>
                <c:pt idx="2">
                  <c:v>Column2</c:v>
                </c:pt>
                <c:pt idx="3">
                  <c:v>Future X12</c:v>
                </c:pt>
              </c:strCache>
            </c:strRef>
          </c:cat>
          <c:val>
            <c:numRef>
              <c:f>Sheet1!$B$4:$E$4</c:f>
              <c:numCache>
                <c:formatCode>General</c:formatCode>
                <c:ptCount val="4"/>
                <c:pt idx="0" formatCode="0%">
                  <c:v>0.17</c:v>
                </c:pt>
                <c:pt idx="3" formatCode="0%">
                  <c:v>0.17</c:v>
                </c:pt>
              </c:numCache>
            </c:numRef>
          </c:val>
          <c:extLst>
            <c:ext xmlns:c16="http://schemas.microsoft.com/office/drawing/2014/chart" uri="{C3380CC4-5D6E-409C-BE32-E72D297353CC}">
              <c16:uniqueId val="{00000007-E7AD-40E1-9213-87D9407A7660}"/>
            </c:ext>
          </c:extLst>
        </c:ser>
        <c:ser>
          <c:idx val="3"/>
          <c:order val="3"/>
          <c:tx>
            <c:strRef>
              <c:f>Sheet1!$A$5</c:f>
              <c:strCache>
                <c:ptCount val="1"/>
                <c:pt idx="0">
                  <c:v>Trumenba</c:v>
                </c:pt>
              </c:strCache>
            </c:strRef>
          </c:tx>
          <c:spPr>
            <a:solidFill>
              <a:srgbClr val="009F5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Future P15</c:v>
                </c:pt>
                <c:pt idx="1">
                  <c:v>Column3</c:v>
                </c:pt>
                <c:pt idx="2">
                  <c:v>Column2</c:v>
                </c:pt>
                <c:pt idx="3">
                  <c:v>Future X12</c:v>
                </c:pt>
              </c:strCache>
            </c:strRef>
          </c:cat>
          <c:val>
            <c:numRef>
              <c:f>Sheet1!$B$5:$E$5</c:f>
              <c:numCache>
                <c:formatCode>General</c:formatCode>
                <c:ptCount val="4"/>
                <c:pt idx="0" formatCode="0%">
                  <c:v>0.16</c:v>
                </c:pt>
                <c:pt idx="3" formatCode="0%">
                  <c:v>0.14000000000000001</c:v>
                </c:pt>
              </c:numCache>
            </c:numRef>
          </c:val>
          <c:extLst>
            <c:ext xmlns:c16="http://schemas.microsoft.com/office/drawing/2014/chart" uri="{C3380CC4-5D6E-409C-BE32-E72D297353CC}">
              <c16:uniqueId val="{00000008-E7AD-40E1-9213-87D9407A7660}"/>
            </c:ext>
          </c:extLst>
        </c:ser>
        <c:ser>
          <c:idx val="4"/>
          <c:order val="4"/>
          <c:tx>
            <c:strRef>
              <c:f>Sheet1!$A$6</c:f>
              <c:strCache>
                <c:ptCount val="1"/>
                <c:pt idx="0">
                  <c:v>Penmenvy</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Future P15</c:v>
                </c:pt>
                <c:pt idx="1">
                  <c:v>Column3</c:v>
                </c:pt>
                <c:pt idx="2">
                  <c:v>Column2</c:v>
                </c:pt>
                <c:pt idx="3">
                  <c:v>Future X12</c:v>
                </c:pt>
              </c:strCache>
            </c:strRef>
          </c:cat>
          <c:val>
            <c:numRef>
              <c:f>Sheet1!$B$6:$E$6</c:f>
              <c:numCache>
                <c:formatCode>General</c:formatCode>
                <c:ptCount val="4"/>
                <c:pt idx="0" formatCode="0%">
                  <c:v>0.03</c:v>
                </c:pt>
                <c:pt idx="3" formatCode="0%">
                  <c:v>0.09</c:v>
                </c:pt>
              </c:numCache>
            </c:numRef>
          </c:val>
          <c:extLst>
            <c:ext xmlns:c16="http://schemas.microsoft.com/office/drawing/2014/chart" uri="{C3380CC4-5D6E-409C-BE32-E72D297353CC}">
              <c16:uniqueId val="{00000009-E7AD-40E1-9213-87D9407A7660}"/>
            </c:ext>
          </c:extLst>
        </c:ser>
        <c:ser>
          <c:idx val="5"/>
          <c:order val="5"/>
          <c:tx>
            <c:strRef>
              <c:f>Sheet1!$A$7</c:f>
              <c:strCache>
                <c:ptCount val="1"/>
                <c:pt idx="0">
                  <c:v>Penbraya</c:v>
                </c:pt>
              </c:strCache>
            </c:strRef>
          </c:tx>
          <c:spPr>
            <a:solidFill>
              <a:srgbClr val="937DA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Sheet1!$B$1:$E$1</c:f>
              <c:strCache>
                <c:ptCount val="4"/>
                <c:pt idx="0">
                  <c:v>Future P15</c:v>
                </c:pt>
                <c:pt idx="1">
                  <c:v>Column3</c:v>
                </c:pt>
                <c:pt idx="2">
                  <c:v>Column2</c:v>
                </c:pt>
                <c:pt idx="3">
                  <c:v>Future X12</c:v>
                </c:pt>
              </c:strCache>
            </c:strRef>
          </c:cat>
          <c:val>
            <c:numRef>
              <c:f>Sheet1!$B$7:$E$7</c:f>
              <c:numCache>
                <c:formatCode>General</c:formatCode>
                <c:ptCount val="4"/>
                <c:pt idx="0" formatCode="0%">
                  <c:v>0.18</c:v>
                </c:pt>
                <c:pt idx="3" formatCode="0%">
                  <c:v>0.16</c:v>
                </c:pt>
              </c:numCache>
            </c:numRef>
          </c:val>
          <c:extLst>
            <c:ext xmlns:c16="http://schemas.microsoft.com/office/drawing/2014/chart" uri="{C3380CC4-5D6E-409C-BE32-E72D297353CC}">
              <c16:uniqueId val="{00000005-7563-4548-B563-80C579188BBD}"/>
            </c:ext>
          </c:extLst>
        </c:ser>
        <c:dLbls>
          <c:showLegendKey val="0"/>
          <c:showVal val="0"/>
          <c:showCatName val="0"/>
          <c:showSerName val="0"/>
          <c:showPercent val="0"/>
          <c:showBubbleSize val="0"/>
        </c:dLbls>
        <c:gapWidth val="150"/>
        <c:overlap val="100"/>
        <c:axId val="295108416"/>
        <c:axId val="294955632"/>
      </c:barChart>
      <c:catAx>
        <c:axId val="295108416"/>
        <c:scaling>
          <c:orientation val="minMax"/>
        </c:scaling>
        <c:delete val="0"/>
        <c:axPos val="b"/>
        <c:numFmt formatCode="General" sourceLinked="1"/>
        <c:majorTickMark val="none"/>
        <c:minorTickMark val="none"/>
        <c:tickLblPos val="none"/>
        <c:spPr>
          <a:noFill/>
          <a:ln w="9525"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en-US"/>
          </a:p>
        </c:txPr>
        <c:crossAx val="294955632"/>
        <c:crosses val="autoZero"/>
        <c:auto val="1"/>
        <c:lblAlgn val="ctr"/>
        <c:lblOffset val="0"/>
        <c:noMultiLvlLbl val="0"/>
      </c:catAx>
      <c:valAx>
        <c:axId val="294955632"/>
        <c:scaling>
          <c:orientation val="minMax"/>
          <c:max val="1"/>
        </c:scaling>
        <c:delete val="1"/>
        <c:axPos val="l"/>
        <c:numFmt formatCode="0%" sourceLinked="0"/>
        <c:majorTickMark val="out"/>
        <c:minorTickMark val="none"/>
        <c:tickLblPos val="nextTo"/>
        <c:crossAx val="295108416"/>
        <c:crosses val="autoZero"/>
        <c:crossBetween val="between"/>
      </c:valAx>
      <c:spPr>
        <a:noFill/>
        <a:ln>
          <a:noFill/>
        </a:ln>
        <a:effectLst/>
      </c:spPr>
    </c:plotArea>
    <c:legend>
      <c:legendPos val="l"/>
      <c:layout>
        <c:manualLayout>
          <c:xMode val="edge"/>
          <c:yMode val="edge"/>
          <c:x val="0.34254359407973228"/>
          <c:y val="5.0710820102179144E-2"/>
          <c:w val="0.15497130015651453"/>
          <c:h val="0.91268799992446781"/>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defRPr/>
      </a:pPr>
      <a:endParaRPr lang="en-US"/>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1382292829998981E-3"/>
          <c:y val="4.1295217608779751E-2"/>
          <c:w val="0.71411084710450523"/>
          <c:h val="0.80635539274347678"/>
        </c:manualLayout>
      </c:layout>
      <c:barChart>
        <c:barDir val="col"/>
        <c:grouping val="stacked"/>
        <c:varyColors val="0"/>
        <c:ser>
          <c:idx val="0"/>
          <c:order val="0"/>
          <c:tx>
            <c:strRef>
              <c:f>Sheet1!$B$1</c:f>
              <c:strCache>
                <c:ptCount val="1"/>
                <c:pt idx="0">
                  <c:v>Never</c:v>
                </c:pt>
              </c:strCache>
            </c:strRef>
          </c:tx>
          <c:spPr>
            <a:solidFill>
              <a:schemeClr val="bg1">
                <a:lumMod val="65000"/>
              </a:schemeClr>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Sheet1!$A$2:$A$5</c:f>
              <c:strCache>
                <c:ptCount val="4"/>
                <c:pt idx="0">
                  <c:v>Pfizer</c:v>
                </c:pt>
                <c:pt idx="1">
                  <c:v>GSK</c:v>
                </c:pt>
                <c:pt idx="2">
                  <c:v>Merck</c:v>
                </c:pt>
                <c:pt idx="3">
                  <c:v>Sanofi</c:v>
                </c:pt>
              </c:strCache>
            </c:strRef>
          </c:cat>
          <c:val>
            <c:numRef>
              <c:f>Sheet1!$B$2:$B$5</c:f>
              <c:numCache>
                <c:formatCode>0%</c:formatCode>
                <c:ptCount val="4"/>
                <c:pt idx="0">
                  <c:v>0.14000000000000001</c:v>
                </c:pt>
                <c:pt idx="1">
                  <c:v>0.17</c:v>
                </c:pt>
                <c:pt idx="2">
                  <c:v>0.16</c:v>
                </c:pt>
                <c:pt idx="3">
                  <c:v>0.17</c:v>
                </c:pt>
              </c:numCache>
            </c:numRef>
          </c:val>
          <c:extLst>
            <c:ext xmlns:c16="http://schemas.microsoft.com/office/drawing/2014/chart" uri="{C3380CC4-5D6E-409C-BE32-E72D297353CC}">
              <c16:uniqueId val="{00000000-1692-4098-9768-AA22061414A5}"/>
            </c:ext>
          </c:extLst>
        </c:ser>
        <c:ser>
          <c:idx val="1"/>
          <c:order val="1"/>
          <c:tx>
            <c:strRef>
              <c:f>Sheet1!$C$1</c:f>
              <c:strCache>
                <c:ptCount val="1"/>
                <c:pt idx="0">
                  <c:v>More than 6 months ago</c:v>
                </c:pt>
              </c:strCache>
            </c:strRef>
          </c:tx>
          <c:spPr>
            <a:solidFill>
              <a:schemeClr val="accent5"/>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Pfizer</c:v>
                </c:pt>
                <c:pt idx="1">
                  <c:v>GSK</c:v>
                </c:pt>
                <c:pt idx="2">
                  <c:v>Merck</c:v>
                </c:pt>
                <c:pt idx="3">
                  <c:v>Sanofi</c:v>
                </c:pt>
              </c:strCache>
            </c:strRef>
          </c:cat>
          <c:val>
            <c:numRef>
              <c:f>Sheet1!$C$2:$C$5</c:f>
              <c:numCache>
                <c:formatCode>0%</c:formatCode>
                <c:ptCount val="4"/>
                <c:pt idx="0">
                  <c:v>0.28000000000000003</c:v>
                </c:pt>
                <c:pt idx="1">
                  <c:v>0.33</c:v>
                </c:pt>
                <c:pt idx="2">
                  <c:v>0.31</c:v>
                </c:pt>
                <c:pt idx="3">
                  <c:v>0.28999999999999998</c:v>
                </c:pt>
              </c:numCache>
            </c:numRef>
          </c:val>
          <c:extLst>
            <c:ext xmlns:c16="http://schemas.microsoft.com/office/drawing/2014/chart" uri="{C3380CC4-5D6E-409C-BE32-E72D297353CC}">
              <c16:uniqueId val="{00000001-1692-4098-9768-AA22061414A5}"/>
            </c:ext>
          </c:extLst>
        </c:ser>
        <c:ser>
          <c:idx val="2"/>
          <c:order val="2"/>
          <c:tx>
            <c:strRef>
              <c:f>Sheet1!$D$1</c:f>
              <c:strCache>
                <c:ptCount val="1"/>
                <c:pt idx="0">
                  <c:v>3 to 6 months ago</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Sheet1!$A$2:$A$5</c:f>
              <c:strCache>
                <c:ptCount val="4"/>
                <c:pt idx="0">
                  <c:v>Pfizer</c:v>
                </c:pt>
                <c:pt idx="1">
                  <c:v>GSK</c:v>
                </c:pt>
                <c:pt idx="2">
                  <c:v>Merck</c:v>
                </c:pt>
                <c:pt idx="3">
                  <c:v>Sanofi</c:v>
                </c:pt>
              </c:strCache>
            </c:strRef>
          </c:cat>
          <c:val>
            <c:numRef>
              <c:f>Sheet1!$D$2:$D$5</c:f>
              <c:numCache>
                <c:formatCode>0%</c:formatCode>
                <c:ptCount val="4"/>
                <c:pt idx="0">
                  <c:v>0.17</c:v>
                </c:pt>
                <c:pt idx="1">
                  <c:v>0.12</c:v>
                </c:pt>
                <c:pt idx="2">
                  <c:v>0.15</c:v>
                </c:pt>
                <c:pt idx="3">
                  <c:v>0.17</c:v>
                </c:pt>
              </c:numCache>
            </c:numRef>
          </c:val>
          <c:extLst>
            <c:ext xmlns:c16="http://schemas.microsoft.com/office/drawing/2014/chart" uri="{C3380CC4-5D6E-409C-BE32-E72D297353CC}">
              <c16:uniqueId val="{00000002-1692-4098-9768-AA22061414A5}"/>
            </c:ext>
          </c:extLst>
        </c:ser>
        <c:ser>
          <c:idx val="3"/>
          <c:order val="3"/>
          <c:tx>
            <c:strRef>
              <c:f>Sheet1!$E$1</c:f>
              <c:strCache>
                <c:ptCount val="1"/>
                <c:pt idx="0">
                  <c:v>2 to 3 months ago</c:v>
                </c:pt>
              </c:strCache>
            </c:strRef>
          </c:tx>
          <c:spPr>
            <a:solidFill>
              <a:schemeClr val="accent3"/>
            </a:solidFill>
            <a:ln>
              <a:noFill/>
            </a:ln>
            <a:effectLst/>
          </c:spPr>
          <c:invertIfNegative val="0"/>
          <c:dLbls>
            <c:dLbl>
              <c:idx val="10"/>
              <c:layout>
                <c:manualLayout>
                  <c:x val="-1.575631835578401E-16"/>
                  <c:y val="-6.859271777580281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692-4098-9768-AA22061414A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Sheet1!$A$2:$A$5</c:f>
              <c:strCache>
                <c:ptCount val="4"/>
                <c:pt idx="0">
                  <c:v>Pfizer</c:v>
                </c:pt>
                <c:pt idx="1">
                  <c:v>GSK</c:v>
                </c:pt>
                <c:pt idx="2">
                  <c:v>Merck</c:v>
                </c:pt>
                <c:pt idx="3">
                  <c:v>Sanofi</c:v>
                </c:pt>
              </c:strCache>
            </c:strRef>
          </c:cat>
          <c:val>
            <c:numRef>
              <c:f>Sheet1!$E$2:$E$5</c:f>
              <c:numCache>
                <c:formatCode>0%</c:formatCode>
                <c:ptCount val="4"/>
                <c:pt idx="0">
                  <c:v>0.15</c:v>
                </c:pt>
                <c:pt idx="1">
                  <c:v>0.14000000000000001</c:v>
                </c:pt>
                <c:pt idx="2">
                  <c:v>0.11</c:v>
                </c:pt>
                <c:pt idx="3">
                  <c:v>0.12</c:v>
                </c:pt>
              </c:numCache>
            </c:numRef>
          </c:val>
          <c:extLst>
            <c:ext xmlns:c16="http://schemas.microsoft.com/office/drawing/2014/chart" uri="{C3380CC4-5D6E-409C-BE32-E72D297353CC}">
              <c16:uniqueId val="{00000004-1692-4098-9768-AA22061414A5}"/>
            </c:ext>
          </c:extLst>
        </c:ser>
        <c:ser>
          <c:idx val="4"/>
          <c:order val="4"/>
          <c:tx>
            <c:strRef>
              <c:f>Sheet1!$F$1</c:f>
              <c:strCache>
                <c:ptCount val="1"/>
                <c:pt idx="0">
                  <c:v>1 to 2 months ago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Sheet1!$A$2:$A$5</c:f>
              <c:strCache>
                <c:ptCount val="4"/>
                <c:pt idx="0">
                  <c:v>Pfizer</c:v>
                </c:pt>
                <c:pt idx="1">
                  <c:v>GSK</c:v>
                </c:pt>
                <c:pt idx="2">
                  <c:v>Merck</c:v>
                </c:pt>
                <c:pt idx="3">
                  <c:v>Sanofi</c:v>
                </c:pt>
              </c:strCache>
            </c:strRef>
          </c:cat>
          <c:val>
            <c:numRef>
              <c:f>Sheet1!$F$2:$F$5</c:f>
              <c:numCache>
                <c:formatCode>0%</c:formatCode>
                <c:ptCount val="4"/>
                <c:pt idx="0">
                  <c:v>0.16</c:v>
                </c:pt>
                <c:pt idx="1">
                  <c:v>0.13</c:v>
                </c:pt>
                <c:pt idx="2">
                  <c:v>0.14000000000000001</c:v>
                </c:pt>
                <c:pt idx="3">
                  <c:v>0.16</c:v>
                </c:pt>
              </c:numCache>
            </c:numRef>
          </c:val>
          <c:extLst>
            <c:ext xmlns:c16="http://schemas.microsoft.com/office/drawing/2014/chart" uri="{C3380CC4-5D6E-409C-BE32-E72D297353CC}">
              <c16:uniqueId val="{00000005-1692-4098-9768-AA22061414A5}"/>
            </c:ext>
          </c:extLst>
        </c:ser>
        <c:ser>
          <c:idx val="5"/>
          <c:order val="5"/>
          <c:tx>
            <c:strRef>
              <c:f>Sheet1!$G$1</c:f>
              <c:strCache>
                <c:ptCount val="1"/>
                <c:pt idx="0">
                  <c:v>Within the last month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Sheet1!$A$2:$A$5</c:f>
              <c:strCache>
                <c:ptCount val="4"/>
                <c:pt idx="0">
                  <c:v>Pfizer</c:v>
                </c:pt>
                <c:pt idx="1">
                  <c:v>GSK</c:v>
                </c:pt>
                <c:pt idx="2">
                  <c:v>Merck</c:v>
                </c:pt>
                <c:pt idx="3">
                  <c:v>Sanofi</c:v>
                </c:pt>
              </c:strCache>
            </c:strRef>
          </c:cat>
          <c:val>
            <c:numRef>
              <c:f>Sheet1!$G$2:$G$5</c:f>
              <c:numCache>
                <c:formatCode>0%</c:formatCode>
                <c:ptCount val="4"/>
                <c:pt idx="0">
                  <c:v>0.11</c:v>
                </c:pt>
                <c:pt idx="1">
                  <c:v>0.13</c:v>
                </c:pt>
                <c:pt idx="2">
                  <c:v>0.14000000000000001</c:v>
                </c:pt>
                <c:pt idx="3">
                  <c:v>0.11</c:v>
                </c:pt>
              </c:numCache>
            </c:numRef>
          </c:val>
          <c:extLst>
            <c:ext xmlns:c16="http://schemas.microsoft.com/office/drawing/2014/chart" uri="{C3380CC4-5D6E-409C-BE32-E72D297353CC}">
              <c16:uniqueId val="{00000006-1692-4098-9768-AA22061414A5}"/>
            </c:ext>
          </c:extLst>
        </c:ser>
        <c:dLbls>
          <c:showLegendKey val="0"/>
          <c:showVal val="1"/>
          <c:showCatName val="0"/>
          <c:showSerName val="0"/>
          <c:showPercent val="0"/>
          <c:showBubbleSize val="0"/>
        </c:dLbls>
        <c:gapWidth val="150"/>
        <c:overlap val="100"/>
        <c:axId val="181534080"/>
        <c:axId val="181601408"/>
      </c:barChart>
      <c:catAx>
        <c:axId val="181534080"/>
        <c:scaling>
          <c:orientation val="minMax"/>
        </c:scaling>
        <c:delete val="0"/>
        <c:axPos val="b"/>
        <c:numFmt formatCode="General" sourceLinked="0"/>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81601408"/>
        <c:crosses val="autoZero"/>
        <c:auto val="1"/>
        <c:lblAlgn val="ctr"/>
        <c:lblOffset val="100"/>
        <c:noMultiLvlLbl val="0"/>
      </c:catAx>
      <c:valAx>
        <c:axId val="181601408"/>
        <c:scaling>
          <c:orientation val="minMax"/>
          <c:max val="1"/>
          <c:min val="0"/>
        </c:scaling>
        <c:delete val="1"/>
        <c:axPos val="l"/>
        <c:numFmt formatCode="0%" sourceLinked="1"/>
        <c:majorTickMark val="out"/>
        <c:minorTickMark val="none"/>
        <c:tickLblPos val="nextTo"/>
        <c:crossAx val="181534080"/>
        <c:crosses val="autoZero"/>
        <c:crossBetween val="between"/>
        <c:majorUnit val="0.2"/>
      </c:valAx>
      <c:spPr>
        <a:noFill/>
        <a:ln>
          <a:noFill/>
        </a:ln>
        <a:effectLst/>
      </c:spPr>
    </c:plotArea>
    <c:legend>
      <c:legendPos val="r"/>
      <c:layout>
        <c:manualLayout>
          <c:xMode val="edge"/>
          <c:yMode val="edge"/>
          <c:x val="0.76669011273758925"/>
          <c:y val="3.5192180227329291E-2"/>
          <c:w val="0.22334155383245033"/>
          <c:h val="0.82009052761782264"/>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prstDash val="solid"/>
    </a:ln>
    <a:effectLst/>
  </c:spPr>
  <c:txPr>
    <a:bodyPr/>
    <a:lstStyle/>
    <a:p>
      <a:pPr>
        <a:defRPr sz="1200"/>
      </a:pPr>
      <a:endParaRPr lang="en-US"/>
    </a:p>
  </c:txPr>
  <c:externalData r:id="rId3">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463091101521843"/>
          <c:y val="4.9832537054763607E-2"/>
          <c:w val="0.47274011852823805"/>
          <c:h val="0.92794647260774987"/>
        </c:manualLayout>
      </c:layout>
      <c:barChart>
        <c:barDir val="bar"/>
        <c:grouping val="clustered"/>
        <c:varyColors val="0"/>
        <c:ser>
          <c:idx val="0"/>
          <c:order val="0"/>
          <c:tx>
            <c:strRef>
              <c:f>Sheet1!$B$1</c:f>
              <c:strCache>
                <c:ptCount val="1"/>
                <c:pt idx="0">
                  <c:v>Sep'25</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B27A-4086-B21A-AD96852C24D1}"/>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3-B27A-4086-B21A-AD96852C24D1}"/>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5-B27A-4086-B21A-AD96852C24D1}"/>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7-B27A-4086-B21A-AD96852C24D1}"/>
              </c:ext>
            </c:extLst>
          </c:dPt>
          <c:dPt>
            <c:idx val="5"/>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9-B27A-4086-B21A-AD96852C24D1}"/>
              </c:ext>
            </c:extLst>
          </c:dPt>
          <c:dPt>
            <c:idx val="6"/>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B-B27A-4086-B21A-AD96852C24D1}"/>
              </c:ext>
            </c:extLst>
          </c:dPt>
          <c:dPt>
            <c:idx val="7"/>
            <c:invertIfNegative val="0"/>
            <c:bubble3D val="0"/>
            <c:spPr>
              <a:solidFill>
                <a:schemeClr val="accent1"/>
              </a:solidFill>
              <a:ln>
                <a:noFill/>
              </a:ln>
              <a:effectLst/>
            </c:spPr>
            <c:extLst>
              <c:ext xmlns:c16="http://schemas.microsoft.com/office/drawing/2014/chart" uri="{C3380CC4-5D6E-409C-BE32-E72D297353CC}">
                <c16:uniqueId val="{0000000D-B27A-4086-B21A-AD96852C24D1}"/>
              </c:ext>
            </c:extLst>
          </c:dPt>
          <c:dPt>
            <c:idx val="8"/>
            <c:invertIfNegative val="0"/>
            <c:bubble3D val="0"/>
            <c:spPr>
              <a:solidFill>
                <a:schemeClr val="accent1"/>
              </a:solidFill>
              <a:ln>
                <a:noFill/>
              </a:ln>
              <a:effectLst/>
            </c:spPr>
            <c:extLst>
              <c:ext xmlns:c16="http://schemas.microsoft.com/office/drawing/2014/chart" uri="{C3380CC4-5D6E-409C-BE32-E72D297353CC}">
                <c16:uniqueId val="{0000000F-B27A-4086-B21A-AD96852C24D1}"/>
              </c:ext>
            </c:extLst>
          </c:dPt>
          <c:dPt>
            <c:idx val="9"/>
            <c:invertIfNegative val="0"/>
            <c:bubble3D val="0"/>
            <c:spPr>
              <a:solidFill>
                <a:schemeClr val="accent1"/>
              </a:solidFill>
              <a:ln>
                <a:noFill/>
              </a:ln>
              <a:effectLst/>
            </c:spPr>
            <c:extLst>
              <c:ext xmlns:c16="http://schemas.microsoft.com/office/drawing/2014/chart" uri="{C3380CC4-5D6E-409C-BE32-E72D297353CC}">
                <c16:uniqueId val="{00000011-B27A-4086-B21A-AD96852C24D1}"/>
              </c:ext>
            </c:extLst>
          </c:dPt>
          <c:dPt>
            <c:idx val="10"/>
            <c:invertIfNegative val="0"/>
            <c:bubble3D val="0"/>
            <c:spPr>
              <a:solidFill>
                <a:schemeClr val="accent1"/>
              </a:solidFill>
              <a:ln>
                <a:noFill/>
              </a:ln>
              <a:effectLst/>
            </c:spPr>
            <c:extLst>
              <c:ext xmlns:c16="http://schemas.microsoft.com/office/drawing/2014/chart" uri="{C3380CC4-5D6E-409C-BE32-E72D297353CC}">
                <c16:uniqueId val="{00000013-B27A-4086-B21A-AD96852C24D1}"/>
              </c:ext>
            </c:extLst>
          </c:dPt>
          <c:dPt>
            <c:idx val="11"/>
            <c:invertIfNegative val="0"/>
            <c:bubble3D val="0"/>
            <c:spPr>
              <a:solidFill>
                <a:schemeClr val="accent1"/>
              </a:solidFill>
              <a:ln>
                <a:noFill/>
              </a:ln>
              <a:effectLst/>
            </c:spPr>
            <c:extLst>
              <c:ext xmlns:c16="http://schemas.microsoft.com/office/drawing/2014/chart" uri="{C3380CC4-5D6E-409C-BE32-E72D297353CC}">
                <c16:uniqueId val="{00000015-B27A-4086-B21A-AD96852C24D1}"/>
              </c:ext>
            </c:extLst>
          </c:dPt>
          <c:dPt>
            <c:idx val="12"/>
            <c:invertIfNegative val="0"/>
            <c:bubble3D val="0"/>
            <c:spPr>
              <a:solidFill>
                <a:schemeClr val="accent1"/>
              </a:solidFill>
              <a:ln>
                <a:noFill/>
              </a:ln>
              <a:effectLst/>
            </c:spPr>
            <c:extLst>
              <c:ext xmlns:c16="http://schemas.microsoft.com/office/drawing/2014/chart" uri="{C3380CC4-5D6E-409C-BE32-E72D297353CC}">
                <c16:uniqueId val="{00000017-B27A-4086-B21A-AD96852C24D1}"/>
              </c:ext>
            </c:extLst>
          </c:dPt>
          <c:dPt>
            <c:idx val="13"/>
            <c:invertIfNegative val="0"/>
            <c:bubble3D val="0"/>
            <c:spPr>
              <a:solidFill>
                <a:schemeClr val="accent1"/>
              </a:solidFill>
              <a:ln>
                <a:noFill/>
              </a:ln>
              <a:effectLst/>
            </c:spPr>
            <c:extLst>
              <c:ext xmlns:c16="http://schemas.microsoft.com/office/drawing/2014/chart" uri="{C3380CC4-5D6E-409C-BE32-E72D297353CC}">
                <c16:uniqueId val="{00000019-B27A-4086-B21A-AD96852C24D1}"/>
              </c:ext>
            </c:extLst>
          </c:dPt>
          <c:dPt>
            <c:idx val="14"/>
            <c:invertIfNegative val="0"/>
            <c:bubble3D val="0"/>
            <c:spPr>
              <a:solidFill>
                <a:schemeClr val="accent1"/>
              </a:solidFill>
              <a:ln>
                <a:noFill/>
              </a:ln>
              <a:effectLst/>
            </c:spPr>
            <c:extLst>
              <c:ext xmlns:c16="http://schemas.microsoft.com/office/drawing/2014/chart" uri="{C3380CC4-5D6E-409C-BE32-E72D297353CC}">
                <c16:uniqueId val="{0000001B-B27A-4086-B21A-AD96852C24D1}"/>
              </c:ext>
            </c:extLst>
          </c:dPt>
          <c:dPt>
            <c:idx val="15"/>
            <c:invertIfNegative val="0"/>
            <c:bubble3D val="0"/>
            <c:spPr>
              <a:solidFill>
                <a:schemeClr val="accent1"/>
              </a:solidFill>
              <a:ln>
                <a:noFill/>
              </a:ln>
              <a:effectLst/>
            </c:spPr>
            <c:extLst>
              <c:ext xmlns:c16="http://schemas.microsoft.com/office/drawing/2014/chart" uri="{C3380CC4-5D6E-409C-BE32-E72D297353CC}">
                <c16:uniqueId val="{0000001D-B27A-4086-B21A-AD96852C24D1}"/>
              </c:ext>
            </c:extLst>
          </c:dPt>
          <c:dPt>
            <c:idx val="16"/>
            <c:invertIfNegative val="0"/>
            <c:bubble3D val="0"/>
            <c:spPr>
              <a:solidFill>
                <a:schemeClr val="accent1"/>
              </a:solidFill>
              <a:ln>
                <a:noFill/>
              </a:ln>
              <a:effectLst/>
            </c:spPr>
            <c:extLst>
              <c:ext xmlns:c16="http://schemas.microsoft.com/office/drawing/2014/chart" uri="{C3380CC4-5D6E-409C-BE32-E72D297353CC}">
                <c16:uniqueId val="{0000001F-B27A-4086-B21A-AD96852C24D1}"/>
              </c:ext>
            </c:extLst>
          </c:dPt>
          <c:dPt>
            <c:idx val="19"/>
            <c:invertIfNegative val="0"/>
            <c:bubble3D val="0"/>
            <c:spPr>
              <a:solidFill>
                <a:schemeClr val="accent1"/>
              </a:solidFill>
              <a:ln>
                <a:noFill/>
              </a:ln>
              <a:effectLst/>
            </c:spPr>
            <c:extLst>
              <c:ext xmlns:c16="http://schemas.microsoft.com/office/drawing/2014/chart" uri="{C3380CC4-5D6E-409C-BE32-E72D297353CC}">
                <c16:uniqueId val="{00000021-B27A-4086-B21A-AD96852C24D1}"/>
              </c:ext>
            </c:extLst>
          </c:dPt>
          <c:dPt>
            <c:idx val="20"/>
            <c:invertIfNegative val="0"/>
            <c:bubble3D val="0"/>
            <c:spPr>
              <a:solidFill>
                <a:schemeClr val="accent1"/>
              </a:solidFill>
              <a:ln>
                <a:noFill/>
              </a:ln>
              <a:effectLst/>
            </c:spPr>
            <c:extLst>
              <c:ext xmlns:c16="http://schemas.microsoft.com/office/drawing/2014/chart" uri="{C3380CC4-5D6E-409C-BE32-E72D297353CC}">
                <c16:uniqueId val="{00000023-B27A-4086-B21A-AD96852C24D1}"/>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Prevnar 20</c:v>
                </c:pt>
                <c:pt idx="1">
                  <c:v>Penbraya</c:v>
                </c:pt>
                <c:pt idx="2">
                  <c:v>Trumenba</c:v>
                </c:pt>
                <c:pt idx="3">
                  <c:v>ABRYSVO </c:v>
                </c:pt>
                <c:pt idx="4">
                  <c:v>Comirnaty </c:v>
                </c:pt>
              </c:strCache>
            </c:strRef>
          </c:cat>
          <c:val>
            <c:numRef>
              <c:f>Sheet1!$B$2:$B$6</c:f>
              <c:numCache>
                <c:formatCode>0%</c:formatCode>
                <c:ptCount val="5"/>
                <c:pt idx="0">
                  <c:v>0.74</c:v>
                </c:pt>
                <c:pt idx="1">
                  <c:v>0.59</c:v>
                </c:pt>
                <c:pt idx="2">
                  <c:v>0.46</c:v>
                </c:pt>
                <c:pt idx="3">
                  <c:v>0.27</c:v>
                </c:pt>
                <c:pt idx="4">
                  <c:v>0.15</c:v>
                </c:pt>
              </c:numCache>
            </c:numRef>
          </c:val>
          <c:extLst>
            <c:ext xmlns:c16="http://schemas.microsoft.com/office/drawing/2014/chart" uri="{C3380CC4-5D6E-409C-BE32-E72D297353CC}">
              <c16:uniqueId val="{00000024-B27A-4086-B21A-AD96852C24D1}"/>
            </c:ext>
          </c:extLst>
        </c:ser>
        <c:dLbls>
          <c:dLblPos val="outEnd"/>
          <c:showLegendKey val="0"/>
          <c:showVal val="1"/>
          <c:showCatName val="0"/>
          <c:showSerName val="0"/>
          <c:showPercent val="0"/>
          <c:showBubbleSize val="0"/>
        </c:dLbls>
        <c:gapWidth val="125"/>
        <c:axId val="1544824944"/>
        <c:axId val="1544829264"/>
      </c:barChart>
      <c:catAx>
        <c:axId val="1544824944"/>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300" b="0" i="0" u="none" strike="noStrike" kern="1200" baseline="0">
                <a:solidFill>
                  <a:schemeClr val="tx1"/>
                </a:solidFill>
                <a:latin typeface="+mn-lt"/>
                <a:ea typeface="+mn-ea"/>
                <a:cs typeface="+mn-cs"/>
              </a:defRPr>
            </a:pPr>
            <a:endParaRPr lang="en-US"/>
          </a:p>
        </c:txPr>
        <c:crossAx val="1544829264"/>
        <c:crosses val="autoZero"/>
        <c:auto val="1"/>
        <c:lblAlgn val="ctr"/>
        <c:lblOffset val="100"/>
        <c:noMultiLvlLbl val="0"/>
      </c:catAx>
      <c:valAx>
        <c:axId val="1544829264"/>
        <c:scaling>
          <c:orientation val="minMax"/>
          <c:max val="1"/>
        </c:scaling>
        <c:delete val="1"/>
        <c:axPos val="t"/>
        <c:numFmt formatCode="0%" sourceLinked="1"/>
        <c:majorTickMark val="out"/>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39006202463931"/>
          <c:y val="4.9832537054763607E-2"/>
          <c:w val="0.44347040929706344"/>
          <c:h val="0.92794647260774987"/>
        </c:manualLayout>
      </c:layout>
      <c:barChart>
        <c:barDir val="bar"/>
        <c:grouping val="clustered"/>
        <c:varyColors val="0"/>
        <c:ser>
          <c:idx val="0"/>
          <c:order val="0"/>
          <c:tx>
            <c:strRef>
              <c:f>Sheet1!$B$1</c:f>
              <c:strCache>
                <c:ptCount val="1"/>
                <c:pt idx="0">
                  <c:v>Sep'25</c:v>
                </c:pt>
              </c:strCache>
            </c:strRef>
          </c:tx>
          <c:spPr>
            <a:solidFill>
              <a:schemeClr val="tx2"/>
            </a:solidFill>
            <a:ln>
              <a:noFill/>
            </a:ln>
            <a:effectLst/>
          </c:spPr>
          <c:invertIfNegative val="0"/>
          <c:dPt>
            <c:idx val="1"/>
            <c:invertIfNegative val="0"/>
            <c:bubble3D val="0"/>
            <c:spPr>
              <a:solidFill>
                <a:schemeClr val="tx2"/>
              </a:solidFill>
              <a:ln>
                <a:noFill/>
              </a:ln>
              <a:effectLst/>
            </c:spPr>
            <c:extLst>
              <c:ext xmlns:c16="http://schemas.microsoft.com/office/drawing/2014/chart" uri="{C3380CC4-5D6E-409C-BE32-E72D297353CC}">
                <c16:uniqueId val="{00000001-B27A-4086-B21A-AD96852C24D1}"/>
              </c:ext>
            </c:extLst>
          </c:dPt>
          <c:dPt>
            <c:idx val="2"/>
            <c:invertIfNegative val="0"/>
            <c:bubble3D val="0"/>
            <c:spPr>
              <a:solidFill>
                <a:schemeClr val="tx2"/>
              </a:solidFill>
              <a:ln>
                <a:noFill/>
              </a:ln>
              <a:effectLst/>
            </c:spPr>
            <c:extLst>
              <c:ext xmlns:c16="http://schemas.microsoft.com/office/drawing/2014/chart" uri="{C3380CC4-5D6E-409C-BE32-E72D297353CC}">
                <c16:uniqueId val="{00000003-B27A-4086-B21A-AD96852C24D1}"/>
              </c:ext>
            </c:extLst>
          </c:dPt>
          <c:dPt>
            <c:idx val="3"/>
            <c:invertIfNegative val="0"/>
            <c:bubble3D val="0"/>
            <c:spPr>
              <a:solidFill>
                <a:schemeClr val="tx2"/>
              </a:solidFill>
              <a:ln>
                <a:noFill/>
              </a:ln>
              <a:effectLst/>
            </c:spPr>
            <c:extLst>
              <c:ext xmlns:c16="http://schemas.microsoft.com/office/drawing/2014/chart" uri="{C3380CC4-5D6E-409C-BE32-E72D297353CC}">
                <c16:uniqueId val="{00000005-B27A-4086-B21A-AD96852C24D1}"/>
              </c:ext>
            </c:extLst>
          </c:dPt>
          <c:dPt>
            <c:idx val="4"/>
            <c:invertIfNegative val="0"/>
            <c:bubble3D val="0"/>
            <c:spPr>
              <a:solidFill>
                <a:schemeClr val="tx2"/>
              </a:solidFill>
              <a:ln>
                <a:noFill/>
              </a:ln>
              <a:effectLst/>
            </c:spPr>
            <c:extLst>
              <c:ext xmlns:c16="http://schemas.microsoft.com/office/drawing/2014/chart" uri="{C3380CC4-5D6E-409C-BE32-E72D297353CC}">
                <c16:uniqueId val="{00000007-B27A-4086-B21A-AD96852C24D1}"/>
              </c:ext>
            </c:extLst>
          </c:dPt>
          <c:dPt>
            <c:idx val="5"/>
            <c:invertIfNegative val="0"/>
            <c:bubble3D val="0"/>
            <c:spPr>
              <a:solidFill>
                <a:schemeClr val="tx2"/>
              </a:solidFill>
              <a:ln>
                <a:noFill/>
              </a:ln>
              <a:effectLst/>
            </c:spPr>
            <c:extLst>
              <c:ext xmlns:c16="http://schemas.microsoft.com/office/drawing/2014/chart" uri="{C3380CC4-5D6E-409C-BE32-E72D297353CC}">
                <c16:uniqueId val="{00000009-B27A-4086-B21A-AD96852C24D1}"/>
              </c:ext>
            </c:extLst>
          </c:dPt>
          <c:dPt>
            <c:idx val="6"/>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B-B27A-4086-B21A-AD96852C24D1}"/>
              </c:ext>
            </c:extLst>
          </c:dPt>
          <c:dPt>
            <c:idx val="7"/>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D-B27A-4086-B21A-AD96852C24D1}"/>
              </c:ext>
            </c:extLst>
          </c:dPt>
          <c:dPt>
            <c:idx val="8"/>
            <c:invertIfNegative val="0"/>
            <c:bubble3D val="0"/>
            <c:spPr>
              <a:solidFill>
                <a:schemeClr val="tx2"/>
              </a:solidFill>
              <a:ln>
                <a:noFill/>
              </a:ln>
              <a:effectLst/>
            </c:spPr>
            <c:extLst>
              <c:ext xmlns:c16="http://schemas.microsoft.com/office/drawing/2014/chart" uri="{C3380CC4-5D6E-409C-BE32-E72D297353CC}">
                <c16:uniqueId val="{0000000F-B27A-4086-B21A-AD96852C24D1}"/>
              </c:ext>
            </c:extLst>
          </c:dPt>
          <c:dPt>
            <c:idx val="9"/>
            <c:invertIfNegative val="0"/>
            <c:bubble3D val="0"/>
            <c:spPr>
              <a:solidFill>
                <a:schemeClr val="tx2"/>
              </a:solidFill>
              <a:ln>
                <a:noFill/>
              </a:ln>
              <a:effectLst/>
            </c:spPr>
            <c:extLst>
              <c:ext xmlns:c16="http://schemas.microsoft.com/office/drawing/2014/chart" uri="{C3380CC4-5D6E-409C-BE32-E72D297353CC}">
                <c16:uniqueId val="{00000011-B27A-4086-B21A-AD96852C24D1}"/>
              </c:ext>
            </c:extLst>
          </c:dPt>
          <c:dPt>
            <c:idx val="10"/>
            <c:invertIfNegative val="0"/>
            <c:bubble3D val="0"/>
            <c:spPr>
              <a:solidFill>
                <a:schemeClr val="tx2"/>
              </a:solidFill>
              <a:ln>
                <a:noFill/>
              </a:ln>
              <a:effectLst/>
            </c:spPr>
            <c:extLst>
              <c:ext xmlns:c16="http://schemas.microsoft.com/office/drawing/2014/chart" uri="{C3380CC4-5D6E-409C-BE32-E72D297353CC}">
                <c16:uniqueId val="{00000013-B27A-4086-B21A-AD96852C24D1}"/>
              </c:ext>
            </c:extLst>
          </c:dPt>
          <c:dPt>
            <c:idx val="11"/>
            <c:invertIfNegative val="0"/>
            <c:bubble3D val="0"/>
            <c:spPr>
              <a:solidFill>
                <a:schemeClr val="tx2"/>
              </a:solidFill>
              <a:ln>
                <a:noFill/>
              </a:ln>
              <a:effectLst/>
            </c:spPr>
            <c:extLst>
              <c:ext xmlns:c16="http://schemas.microsoft.com/office/drawing/2014/chart" uri="{C3380CC4-5D6E-409C-BE32-E72D297353CC}">
                <c16:uniqueId val="{00000015-B27A-4086-B21A-AD96852C24D1}"/>
              </c:ext>
            </c:extLst>
          </c:dPt>
          <c:dPt>
            <c:idx val="12"/>
            <c:invertIfNegative val="0"/>
            <c:bubble3D val="0"/>
            <c:spPr>
              <a:solidFill>
                <a:schemeClr val="tx2"/>
              </a:solidFill>
              <a:ln>
                <a:noFill/>
              </a:ln>
              <a:effectLst/>
            </c:spPr>
            <c:extLst>
              <c:ext xmlns:c16="http://schemas.microsoft.com/office/drawing/2014/chart" uri="{C3380CC4-5D6E-409C-BE32-E72D297353CC}">
                <c16:uniqueId val="{00000017-B27A-4086-B21A-AD96852C24D1}"/>
              </c:ext>
            </c:extLst>
          </c:dPt>
          <c:dPt>
            <c:idx val="13"/>
            <c:invertIfNegative val="0"/>
            <c:bubble3D val="0"/>
            <c:spPr>
              <a:solidFill>
                <a:schemeClr val="tx2"/>
              </a:solidFill>
              <a:ln>
                <a:noFill/>
              </a:ln>
              <a:effectLst/>
            </c:spPr>
            <c:extLst>
              <c:ext xmlns:c16="http://schemas.microsoft.com/office/drawing/2014/chart" uri="{C3380CC4-5D6E-409C-BE32-E72D297353CC}">
                <c16:uniqueId val="{00000019-B27A-4086-B21A-AD96852C24D1}"/>
              </c:ext>
            </c:extLst>
          </c:dPt>
          <c:dPt>
            <c:idx val="14"/>
            <c:invertIfNegative val="0"/>
            <c:bubble3D val="0"/>
            <c:spPr>
              <a:solidFill>
                <a:schemeClr val="tx2"/>
              </a:solidFill>
              <a:ln>
                <a:noFill/>
              </a:ln>
              <a:effectLst/>
            </c:spPr>
            <c:extLst>
              <c:ext xmlns:c16="http://schemas.microsoft.com/office/drawing/2014/chart" uri="{C3380CC4-5D6E-409C-BE32-E72D297353CC}">
                <c16:uniqueId val="{0000001B-B27A-4086-B21A-AD96852C24D1}"/>
              </c:ext>
            </c:extLst>
          </c:dPt>
          <c:dPt>
            <c:idx val="15"/>
            <c:invertIfNegative val="0"/>
            <c:bubble3D val="0"/>
            <c:spPr>
              <a:solidFill>
                <a:schemeClr val="tx2"/>
              </a:solidFill>
              <a:ln>
                <a:noFill/>
              </a:ln>
              <a:effectLst/>
            </c:spPr>
            <c:extLst>
              <c:ext xmlns:c16="http://schemas.microsoft.com/office/drawing/2014/chart" uri="{C3380CC4-5D6E-409C-BE32-E72D297353CC}">
                <c16:uniqueId val="{0000001D-B27A-4086-B21A-AD96852C24D1}"/>
              </c:ext>
            </c:extLst>
          </c:dPt>
          <c:dPt>
            <c:idx val="16"/>
            <c:invertIfNegative val="0"/>
            <c:bubble3D val="0"/>
            <c:spPr>
              <a:solidFill>
                <a:schemeClr val="tx2"/>
              </a:solidFill>
              <a:ln>
                <a:noFill/>
              </a:ln>
              <a:effectLst/>
            </c:spPr>
            <c:extLst>
              <c:ext xmlns:c16="http://schemas.microsoft.com/office/drawing/2014/chart" uri="{C3380CC4-5D6E-409C-BE32-E72D297353CC}">
                <c16:uniqueId val="{0000001F-B27A-4086-B21A-AD96852C24D1}"/>
              </c:ext>
            </c:extLst>
          </c:dPt>
          <c:dPt>
            <c:idx val="19"/>
            <c:invertIfNegative val="0"/>
            <c:bubble3D val="0"/>
            <c:spPr>
              <a:solidFill>
                <a:schemeClr val="tx2"/>
              </a:solidFill>
              <a:ln>
                <a:noFill/>
              </a:ln>
              <a:effectLst/>
            </c:spPr>
            <c:extLst>
              <c:ext xmlns:c16="http://schemas.microsoft.com/office/drawing/2014/chart" uri="{C3380CC4-5D6E-409C-BE32-E72D297353CC}">
                <c16:uniqueId val="{00000021-B27A-4086-B21A-AD96852C24D1}"/>
              </c:ext>
            </c:extLst>
          </c:dPt>
          <c:dPt>
            <c:idx val="20"/>
            <c:invertIfNegative val="0"/>
            <c:bubble3D val="0"/>
            <c:spPr>
              <a:solidFill>
                <a:schemeClr val="tx2"/>
              </a:solidFill>
              <a:ln>
                <a:noFill/>
              </a:ln>
              <a:effectLst/>
            </c:spPr>
            <c:extLst>
              <c:ext xmlns:c16="http://schemas.microsoft.com/office/drawing/2014/chart" uri="{C3380CC4-5D6E-409C-BE32-E72D297353CC}">
                <c16:uniqueId val="{00000023-B27A-4086-B21A-AD96852C24D1}"/>
              </c:ext>
            </c:extLst>
          </c:dPt>
          <c:dLbls>
            <c:spPr>
              <a:noFill/>
              <a:ln>
                <a:noFill/>
              </a:ln>
              <a:effectLst/>
            </c:spPr>
            <c:txPr>
              <a:bodyPr rot="0" spcFirstLastPara="1" vertOverflow="ellipsis" vert="horz" wrap="square" anchor="ctr" anchorCtr="1"/>
              <a:lstStyle/>
              <a:p>
                <a:pPr>
                  <a:defRPr sz="13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Bexsero</c:v>
                </c:pt>
                <c:pt idx="1">
                  <c:v>Penmenvy</c:v>
                </c:pt>
                <c:pt idx="2">
                  <c:v>Menveo</c:v>
                </c:pt>
                <c:pt idx="3">
                  <c:v>Pediarix</c:v>
                </c:pt>
                <c:pt idx="4">
                  <c:v>Kinrix</c:v>
                </c:pt>
                <c:pt idx="5">
                  <c:v>Cervarix</c:v>
                </c:pt>
              </c:strCache>
            </c:strRef>
          </c:cat>
          <c:val>
            <c:numRef>
              <c:f>Sheet1!$B$2:$B$7</c:f>
              <c:numCache>
                <c:formatCode>0%</c:formatCode>
                <c:ptCount val="6"/>
                <c:pt idx="0">
                  <c:v>0.71</c:v>
                </c:pt>
                <c:pt idx="1">
                  <c:v>0.49</c:v>
                </c:pt>
                <c:pt idx="2">
                  <c:v>0.38</c:v>
                </c:pt>
                <c:pt idx="3">
                  <c:v>0.26</c:v>
                </c:pt>
                <c:pt idx="4">
                  <c:v>0.15</c:v>
                </c:pt>
                <c:pt idx="5">
                  <c:v>0.05</c:v>
                </c:pt>
              </c:numCache>
            </c:numRef>
          </c:val>
          <c:extLst>
            <c:ext xmlns:c16="http://schemas.microsoft.com/office/drawing/2014/chart" uri="{C3380CC4-5D6E-409C-BE32-E72D297353CC}">
              <c16:uniqueId val="{00000024-B27A-4086-B21A-AD96852C24D1}"/>
            </c:ext>
          </c:extLst>
        </c:ser>
        <c:dLbls>
          <c:dLblPos val="outEnd"/>
          <c:showLegendKey val="0"/>
          <c:showVal val="1"/>
          <c:showCatName val="0"/>
          <c:showSerName val="0"/>
          <c:showPercent val="0"/>
          <c:showBubbleSize val="0"/>
        </c:dLbls>
        <c:gapWidth val="125"/>
        <c:axId val="1544824944"/>
        <c:axId val="1544829264"/>
      </c:barChart>
      <c:catAx>
        <c:axId val="1544824944"/>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r">
              <a:defRPr sz="1300" b="0" i="0" u="none" strike="noStrike" kern="1200" baseline="0">
                <a:solidFill>
                  <a:schemeClr val="tx1">
                    <a:lumMod val="65000"/>
                    <a:lumOff val="35000"/>
                  </a:schemeClr>
                </a:solidFill>
                <a:latin typeface="+mn-lt"/>
                <a:ea typeface="+mn-ea"/>
                <a:cs typeface="+mn-cs"/>
              </a:defRPr>
            </a:pPr>
            <a:endParaRPr lang="en-US"/>
          </a:p>
        </c:txPr>
        <c:crossAx val="1544829264"/>
        <c:crosses val="autoZero"/>
        <c:auto val="1"/>
        <c:lblAlgn val="ctr"/>
        <c:lblOffset val="100"/>
        <c:noMultiLvlLbl val="0"/>
      </c:catAx>
      <c:valAx>
        <c:axId val="1544829264"/>
        <c:scaling>
          <c:orientation val="minMax"/>
          <c:max val="1"/>
        </c:scaling>
        <c:delete val="1"/>
        <c:axPos val="t"/>
        <c:numFmt formatCode="0%" sourceLinked="1"/>
        <c:majorTickMark val="out"/>
        <c:minorTickMark val="none"/>
        <c:tickLblPos val="nextTo"/>
        <c:crossAx val="1544824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3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2.xml><?xml version="1.0" encoding="utf-8"?>
<cs:colorStyle xmlns:cs="http://schemas.microsoft.com/office/drawing/2012/chartStyle" xmlns:a="http://schemas.openxmlformats.org/drawingml/2006/main" meth="withinLinear" id="14">
  <a:schemeClr val="accent1"/>
</cs:colorStyle>
</file>

<file path=ppt/charts/colors6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9.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7739" cy="469424"/>
          </a:xfrm>
          <a:prstGeom prst="rect">
            <a:avLst/>
          </a:prstGeom>
        </p:spPr>
        <p:txBody>
          <a:bodyPr vert="horz" lIns="91429" tIns="45714" rIns="91429" bIns="45714" rtlCol="0"/>
          <a:lstStyle>
            <a:lvl1pPr algn="l">
              <a:defRPr sz="1200"/>
            </a:lvl1pPr>
          </a:lstStyle>
          <a:p>
            <a:endParaRPr lang="en-US" sz="1000"/>
          </a:p>
        </p:txBody>
      </p:sp>
      <p:sp>
        <p:nvSpPr>
          <p:cNvPr id="3" name="Date Placeholder 2"/>
          <p:cNvSpPr>
            <a:spLocks noGrp="1"/>
          </p:cNvSpPr>
          <p:nvPr>
            <p:ph type="dt" sz="quarter" idx="1"/>
          </p:nvPr>
        </p:nvSpPr>
        <p:spPr>
          <a:xfrm>
            <a:off x="4023095" y="0"/>
            <a:ext cx="3077739" cy="469424"/>
          </a:xfrm>
          <a:prstGeom prst="rect">
            <a:avLst/>
          </a:prstGeom>
        </p:spPr>
        <p:txBody>
          <a:bodyPr vert="horz" lIns="91429" tIns="45714" rIns="91429" bIns="45714" rtlCol="0"/>
          <a:lstStyle>
            <a:lvl1pPr algn="r">
              <a:defRPr sz="1200"/>
            </a:lvl1pPr>
          </a:lstStyle>
          <a:p>
            <a:fld id="{090D53B4-B4FE-442B-BCF3-9023F49641CC}" type="datetimeFigureOut">
              <a:rPr lang="en-US" sz="1000"/>
              <a:t>1/8/2026</a:t>
            </a:fld>
            <a:endParaRPr lang="en-US" sz="1000"/>
          </a:p>
        </p:txBody>
      </p:sp>
      <p:sp>
        <p:nvSpPr>
          <p:cNvPr id="4" name="Footer Placeholder 3"/>
          <p:cNvSpPr>
            <a:spLocks noGrp="1"/>
          </p:cNvSpPr>
          <p:nvPr>
            <p:ph type="ftr" sz="quarter" idx="2"/>
          </p:nvPr>
        </p:nvSpPr>
        <p:spPr>
          <a:xfrm>
            <a:off x="1" y="8917422"/>
            <a:ext cx="3077739" cy="469424"/>
          </a:xfrm>
          <a:prstGeom prst="rect">
            <a:avLst/>
          </a:prstGeom>
        </p:spPr>
        <p:txBody>
          <a:bodyPr vert="horz" lIns="91429" tIns="45714" rIns="91429" bIns="45714" rtlCol="0" anchor="b"/>
          <a:lstStyle>
            <a:lvl1pPr algn="l">
              <a:defRPr sz="1200"/>
            </a:lvl1pPr>
          </a:lstStyle>
          <a:p>
            <a:endParaRPr lang="en-US" sz="1000"/>
          </a:p>
        </p:txBody>
      </p:sp>
      <p:sp>
        <p:nvSpPr>
          <p:cNvPr id="5" name="Slide Number Placeholder 4"/>
          <p:cNvSpPr>
            <a:spLocks noGrp="1"/>
          </p:cNvSpPr>
          <p:nvPr>
            <p:ph type="sldNum" sz="quarter" idx="3"/>
          </p:nvPr>
        </p:nvSpPr>
        <p:spPr>
          <a:xfrm>
            <a:off x="4023095" y="8917422"/>
            <a:ext cx="3077739" cy="469424"/>
          </a:xfrm>
          <a:prstGeom prst="rect">
            <a:avLst/>
          </a:prstGeom>
        </p:spPr>
        <p:txBody>
          <a:bodyPr vert="horz" lIns="91429" tIns="45714" rIns="91429" bIns="45714" rtlCol="0" anchor="b"/>
          <a:lstStyle>
            <a:lvl1pPr algn="r">
              <a:defRPr sz="1200"/>
            </a:lvl1pPr>
          </a:lstStyle>
          <a:p>
            <a:fld id="{15E3EEC0-60C9-482C-B113-4433E60F7642}" type="slidenum">
              <a:rPr lang="en-US" sz="1000"/>
              <a:t>‹#›</a:t>
            </a:fld>
            <a:endParaRPr lang="en-US" sz="1000"/>
          </a:p>
        </p:txBody>
      </p:sp>
    </p:spTree>
    <p:extLst>
      <p:ext uri="{BB962C8B-B14F-4D97-AF65-F5344CB8AC3E}">
        <p14:creationId xmlns:p14="http://schemas.microsoft.com/office/powerpoint/2010/main" val="12625604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6600" y="330200"/>
            <a:ext cx="5629275" cy="3167063"/>
          </a:xfrm>
          <a:prstGeom prst="rect">
            <a:avLst/>
          </a:prstGeom>
          <a:noFill/>
          <a:ln w="12700">
            <a:solidFill>
              <a:prstClr val="black"/>
            </a:solidFill>
          </a:ln>
        </p:spPr>
        <p:txBody>
          <a:bodyPr vert="horz" lIns="91429" tIns="45714" rIns="91429" bIns="45714" rtlCol="0" anchor="ctr"/>
          <a:lstStyle/>
          <a:p>
            <a:endParaRPr lang="en-US"/>
          </a:p>
        </p:txBody>
      </p:sp>
      <p:sp>
        <p:nvSpPr>
          <p:cNvPr id="8" name="Slide Number Placeholder 6"/>
          <p:cNvSpPr>
            <a:spLocks noGrp="1"/>
          </p:cNvSpPr>
          <p:nvPr>
            <p:ph type="sldNum" sz="quarter" idx="5"/>
          </p:nvPr>
        </p:nvSpPr>
        <p:spPr>
          <a:xfrm>
            <a:off x="1" y="9103657"/>
            <a:ext cx="7100832" cy="283189"/>
          </a:xfrm>
          <a:prstGeom prst="rect">
            <a:avLst/>
          </a:prstGeom>
        </p:spPr>
        <p:txBody>
          <a:bodyPr vert="horz" lIns="91429" tIns="45714" rIns="91429" bIns="45714" rtlCol="0" anchor="b"/>
          <a:lstStyle>
            <a:lvl1pPr algn="ctr">
              <a:defRPr sz="900">
                <a:solidFill>
                  <a:schemeClr val="tx1"/>
                </a:solidFill>
                <a:latin typeface="+mn-lt"/>
                <a:cs typeface="Arial" pitchFamily="34" charset="0"/>
              </a:defRPr>
            </a:lvl1pPr>
          </a:lstStyle>
          <a:p>
            <a:fld id="{D5F8523C-8729-40F0-9536-D6C4CA3AD238}" type="slidenum">
              <a:rPr lang="en-US" smtClean="0"/>
              <a:pPr/>
              <a:t>‹#›</a:t>
            </a:fld>
            <a:endParaRPr lang="en-US"/>
          </a:p>
        </p:txBody>
      </p:sp>
      <p:sp>
        <p:nvSpPr>
          <p:cNvPr id="9" name="Notes Placeholder 1"/>
          <p:cNvSpPr>
            <a:spLocks noGrp="1"/>
          </p:cNvSpPr>
          <p:nvPr>
            <p:ph type="body" sz="quarter" idx="3"/>
          </p:nvPr>
        </p:nvSpPr>
        <p:spPr>
          <a:xfrm>
            <a:off x="710248" y="3706494"/>
            <a:ext cx="5681980" cy="5281017"/>
          </a:xfrm>
          <a:prstGeom prst="rect">
            <a:avLst/>
          </a:prstGeom>
        </p:spPr>
        <p:txBody>
          <a:bodyPr vert="horz" lIns="91429" tIns="45714" rIns="91429" bIns="457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842946"/>
      </p:ext>
    </p:extLst>
  </p:cSld>
  <p:clrMap bg1="lt1" tx1="dk1" bg2="lt2" tx2="dk2" accent1="accent1" accent2="accent2" accent3="accent3" accent4="accent4" accent5="accent5" accent6="accent6" hlink="hlink" folHlink="folHlink"/>
  <p:hf hdr="0" ftr="0" dt="0"/>
  <p:notesStyle>
    <a:lvl1pPr marL="174625" indent="-174625" algn="l" defTabSz="914400" rtl="0" eaLnBrk="1" latinLnBrk="0" hangingPunct="1">
      <a:lnSpc>
        <a:spcPct val="90000"/>
      </a:lnSpc>
      <a:spcBef>
        <a:spcPts val="1200"/>
      </a:spcBef>
      <a:buClrTx/>
      <a:buSzPct val="100000"/>
      <a:buFont typeface="Arial" panose="020B0604020202020204" pitchFamily="34" charset="0"/>
      <a:buChar char="•"/>
      <a:tabLst/>
      <a:defRPr lang="en-US" sz="1050" kern="1200" dirty="0" smtClean="0">
        <a:solidFill>
          <a:schemeClr val="tx1"/>
        </a:solidFill>
        <a:effectLst/>
        <a:latin typeface="+mn-lt"/>
        <a:ea typeface="+mn-ea"/>
        <a:cs typeface="+mn-cs"/>
      </a:defRPr>
    </a:lvl1pPr>
    <a:lvl2pPr marL="339725" indent="-114300" algn="l" defTabSz="914400" rtl="0" eaLnBrk="1" latinLnBrk="0" hangingPunct="1">
      <a:lnSpc>
        <a:spcPct val="90000"/>
      </a:lnSpc>
      <a:spcBef>
        <a:spcPts val="600"/>
      </a:spcBef>
      <a:buClrTx/>
      <a:buFont typeface="Arial" panose="020B0604020202020204" pitchFamily="34" charset="0"/>
      <a:buChar char="•"/>
      <a:defRPr lang="en-US" sz="1000" kern="1200" dirty="0" smtClean="0">
        <a:solidFill>
          <a:schemeClr val="tx1"/>
        </a:solidFill>
        <a:effectLst/>
        <a:latin typeface="+mn-lt"/>
        <a:ea typeface="+mn-ea"/>
        <a:cs typeface="+mn-cs"/>
      </a:defRPr>
    </a:lvl2pPr>
    <a:lvl3pPr marL="517525" indent="-119063" algn="l" defTabSz="914400" rtl="0" eaLnBrk="1" latinLnBrk="0" hangingPunct="1">
      <a:lnSpc>
        <a:spcPct val="90000"/>
      </a:lnSpc>
      <a:spcBef>
        <a:spcPts val="300"/>
      </a:spcBef>
      <a:buClrTx/>
      <a:buFont typeface="Arial" panose="020B0604020202020204" pitchFamily="34" charset="0"/>
      <a:buChar char="•"/>
      <a:defRPr lang="en-US" sz="800" kern="1200" dirty="0" smtClean="0">
        <a:solidFill>
          <a:schemeClr val="tx1"/>
        </a:solidFill>
        <a:effectLst/>
        <a:latin typeface="+mn-lt"/>
        <a:ea typeface="+mn-ea"/>
        <a:cs typeface="+mn-cs"/>
      </a:defRPr>
    </a:lvl3pPr>
    <a:lvl4pPr marL="682625" indent="-114300" algn="l" defTabSz="914400" rtl="0" eaLnBrk="1" latinLnBrk="0" hangingPunct="1">
      <a:lnSpc>
        <a:spcPct val="90000"/>
      </a:lnSpc>
      <a:spcBef>
        <a:spcPts val="200"/>
      </a:spcBef>
      <a:buClrTx/>
      <a:buFont typeface="Arial" panose="020B0604020202020204" pitchFamily="34" charset="0"/>
      <a:buChar char="•"/>
      <a:defRPr lang="en-US" sz="700" kern="1200" dirty="0" smtClean="0">
        <a:solidFill>
          <a:schemeClr val="tx1"/>
        </a:solidFill>
        <a:effectLst/>
        <a:latin typeface="+mn-lt"/>
        <a:ea typeface="+mn-ea"/>
        <a:cs typeface="+mn-cs"/>
      </a:defRPr>
    </a:lvl4pPr>
    <a:lvl5pPr marL="860425" indent="-114300" algn="l" defTabSz="914400" rtl="0" eaLnBrk="1" latinLnBrk="0" hangingPunct="1">
      <a:lnSpc>
        <a:spcPct val="90000"/>
      </a:lnSpc>
      <a:spcBef>
        <a:spcPts val="100"/>
      </a:spcBef>
      <a:buClrTx/>
      <a:buSzPct val="100000"/>
      <a:buFont typeface="Arial" panose="020B0604020202020204" pitchFamily="34" charset="0"/>
      <a:buChar char="•"/>
      <a:defRPr lang="en-US" sz="600" kern="1200" dirty="0">
        <a:solidFill>
          <a:schemeClr val="tx1"/>
        </a:solidFill>
        <a:effectLst/>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1662">
              <a:defRPr sz="1000" b="1">
                <a:solidFill>
                  <a:schemeClr val="tx1"/>
                </a:solidFill>
                <a:latin typeface="Arial" charset="0"/>
                <a:ea typeface="ＭＳ Ｐゴシック" charset="-128"/>
              </a:defRPr>
            </a:lvl1pPr>
            <a:lvl2pPr marL="750763" indent="-288756" defTabSz="941662">
              <a:defRPr sz="1000" b="1">
                <a:solidFill>
                  <a:schemeClr val="tx1"/>
                </a:solidFill>
                <a:latin typeface="Arial" charset="0"/>
                <a:ea typeface="ＭＳ Ｐゴシック" charset="-128"/>
              </a:defRPr>
            </a:lvl2pPr>
            <a:lvl3pPr marL="1155020" indent="-231005" defTabSz="941662">
              <a:defRPr sz="1000" b="1">
                <a:solidFill>
                  <a:schemeClr val="tx1"/>
                </a:solidFill>
                <a:latin typeface="Arial" charset="0"/>
                <a:ea typeface="ＭＳ Ｐゴシック" charset="-128"/>
              </a:defRPr>
            </a:lvl3pPr>
            <a:lvl4pPr marL="1617027" indent="-231005" defTabSz="941662">
              <a:defRPr sz="1000" b="1">
                <a:solidFill>
                  <a:schemeClr val="tx1"/>
                </a:solidFill>
                <a:latin typeface="Arial" charset="0"/>
                <a:ea typeface="ＭＳ Ｐゴシック" charset="-128"/>
              </a:defRPr>
            </a:lvl4pPr>
            <a:lvl5pPr marL="2079033" indent="-231005" defTabSz="941662">
              <a:defRPr sz="1000" b="1">
                <a:solidFill>
                  <a:schemeClr val="tx1"/>
                </a:solidFill>
                <a:latin typeface="Arial" charset="0"/>
                <a:ea typeface="ＭＳ Ｐゴシック" charset="-128"/>
              </a:defRPr>
            </a:lvl5pPr>
            <a:lvl6pPr marL="2541042" indent="-231005" algn="ctr" defTabSz="941662" eaLnBrk="0" fontAlgn="base" hangingPunct="0">
              <a:spcBef>
                <a:spcPct val="0"/>
              </a:spcBef>
              <a:spcAft>
                <a:spcPct val="0"/>
              </a:spcAft>
              <a:defRPr sz="1000" b="1">
                <a:solidFill>
                  <a:schemeClr val="tx1"/>
                </a:solidFill>
                <a:latin typeface="Arial" charset="0"/>
                <a:ea typeface="ＭＳ Ｐゴシック" charset="-128"/>
              </a:defRPr>
            </a:lvl6pPr>
            <a:lvl7pPr marL="3003049" indent="-231005" algn="ctr" defTabSz="941662" eaLnBrk="0" fontAlgn="base" hangingPunct="0">
              <a:spcBef>
                <a:spcPct val="0"/>
              </a:spcBef>
              <a:spcAft>
                <a:spcPct val="0"/>
              </a:spcAft>
              <a:defRPr sz="1000" b="1">
                <a:solidFill>
                  <a:schemeClr val="tx1"/>
                </a:solidFill>
                <a:latin typeface="Arial" charset="0"/>
                <a:ea typeface="ＭＳ Ｐゴシック" charset="-128"/>
              </a:defRPr>
            </a:lvl7pPr>
            <a:lvl8pPr marL="3465058" indent="-231005" algn="ctr" defTabSz="941662" eaLnBrk="0" fontAlgn="base" hangingPunct="0">
              <a:spcBef>
                <a:spcPct val="0"/>
              </a:spcBef>
              <a:spcAft>
                <a:spcPct val="0"/>
              </a:spcAft>
              <a:defRPr sz="1000" b="1">
                <a:solidFill>
                  <a:schemeClr val="tx1"/>
                </a:solidFill>
                <a:latin typeface="Arial" charset="0"/>
                <a:ea typeface="ＭＳ Ｐゴシック" charset="-128"/>
              </a:defRPr>
            </a:lvl8pPr>
            <a:lvl9pPr marL="3927066" indent="-231005" algn="ctr" defTabSz="941662" eaLnBrk="0" fontAlgn="base" hangingPunct="0">
              <a:spcBef>
                <a:spcPct val="0"/>
              </a:spcBef>
              <a:spcAft>
                <a:spcPct val="0"/>
              </a:spcAft>
              <a:defRPr sz="1000" b="1">
                <a:solidFill>
                  <a:schemeClr val="tx1"/>
                </a:solidFill>
                <a:latin typeface="Arial" charset="0"/>
                <a:ea typeface="ＭＳ Ｐゴシック" charset="-128"/>
              </a:defRPr>
            </a:lvl9pPr>
          </a:lstStyle>
          <a:p>
            <a:pPr marL="0" marR="0" lvl="0" indent="0" algn="r" defTabSz="941662" rtl="0" eaLnBrk="1" fontAlgn="auto" latinLnBrk="0" hangingPunct="1">
              <a:lnSpc>
                <a:spcPct val="100000"/>
              </a:lnSpc>
              <a:spcBef>
                <a:spcPts val="0"/>
              </a:spcBef>
              <a:spcAft>
                <a:spcPts val="0"/>
              </a:spcAft>
              <a:buClrTx/>
              <a:buSzTx/>
              <a:buFontTx/>
              <a:buNone/>
              <a:tabLst/>
              <a:defRPr/>
            </a:pPr>
            <a:fld id="{0A9C315F-319A-4704-A465-BB888B4C1E12}"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128"/>
                <a:cs typeface="Arial" pitchFamily="34" charset="0"/>
              </a:rPr>
              <a:pPr marL="0" marR="0" lvl="0" indent="0" algn="r" defTabSz="94166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charset="0"/>
              <a:ea typeface="ＭＳ Ｐゴシック" charset="-128"/>
              <a:cs typeface="Arial" pitchFamily="34" charset="0"/>
            </a:endParaRPr>
          </a:p>
        </p:txBody>
      </p:sp>
      <p:sp>
        <p:nvSpPr>
          <p:cNvPr id="59395" name="Rectangle 2"/>
          <p:cNvSpPr>
            <a:spLocks noGrp="1" noRot="1" noChangeAspect="1" noChangeArrowheads="1" noTextEdit="1"/>
          </p:cNvSpPr>
          <p:nvPr>
            <p:ph type="sldImg"/>
          </p:nvPr>
        </p:nvSpPr>
        <p:spPr>
          <a:ln/>
        </p:spPr>
        <p:txBody>
          <a:bodyPr/>
          <a:lstStyle/>
          <a:p>
            <a:endParaRPr lang="en-US"/>
          </a:p>
        </p:txBody>
      </p:sp>
      <p:sp>
        <p:nvSpPr>
          <p:cNvPr id="59396" name="Rectangle 3"/>
          <p:cNvSpPr>
            <a:spLocks noGrp="1" noChangeArrowheads="1"/>
          </p:cNvSpPr>
          <p:nvPr>
            <p:ph type="body" idx="1"/>
          </p:nvPr>
        </p:nvSpPr>
        <p:spPr>
          <a:xfrm>
            <a:off x="702647" y="4509485"/>
            <a:ext cx="5616301" cy="42743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68046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3</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1896465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4</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469298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5</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3566647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7</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101896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D41A9-1F0C-677A-B5DA-B0865BD92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74FE8-97CC-60AC-2E57-8A19727F8E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14208A-80E8-745B-C914-03E87DD4C9B2}"/>
              </a:ext>
            </a:extLst>
          </p:cNvPr>
          <p:cNvSpPr>
            <a:spLocks noGrp="1"/>
          </p:cNvSpPr>
          <p:nvPr>
            <p:ph type="body" idx="1"/>
          </p:nvPr>
        </p:nvSpPr>
        <p:spPr/>
        <p:txBody>
          <a:bodyPr/>
          <a:lstStyle/>
          <a:p>
            <a:pPr marL="0" indent="0">
              <a:buNone/>
            </a:pPr>
            <a:r>
              <a:rPr lang="en-US" b="0"/>
              <a:t>S8. What percent of your time is spent in each of the following settings?</a:t>
            </a:r>
          </a:p>
          <a:p>
            <a:pPr marL="0" indent="0">
              <a:buNone/>
            </a:pPr>
            <a:r>
              <a:rPr lang="en-US" b="0"/>
              <a:t>D5. Which one best describes the public clinic or community center in which you practice most? </a:t>
            </a:r>
          </a:p>
          <a:p>
            <a:pPr marL="0" indent="0">
              <a:buNone/>
            </a:pPr>
            <a:r>
              <a:rPr lang="en-US" b="0"/>
              <a:t>D6. Does the practice or clinic at which you spend the majority of your time purchase pediatric vaccines through a physician buying group (PBG)?</a:t>
            </a:r>
          </a:p>
          <a:p>
            <a:pPr marL="0" indent="0">
              <a:buNone/>
            </a:pPr>
            <a:r>
              <a:rPr lang="en-US" b="0"/>
              <a:t>D7. Is the practice or clinic at which you spend the majority of your time part of an Integrated Delivery Network (IDN)?</a:t>
            </a:r>
          </a:p>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b="0"/>
              <a:t>D4. Which of the following best characterizes your primary practice?</a:t>
            </a:r>
          </a:p>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b="0"/>
              <a:t>S11. </a:t>
            </a:r>
            <a:r>
              <a:rPr lang="en-US" sz="1050" b="0">
                <a:effectLst/>
                <a:latin typeface="Calibri" panose="020F0502020204030204" pitchFamily="34" charset="0"/>
                <a:ea typeface="Times New Roman" panose="02020603050405020304" pitchFamily="18" charset="0"/>
              </a:rPr>
              <a:t>Which of the following best describes your involvement in the decision-making process regarding the vaccines that are stocked and administered in your practice?</a:t>
            </a:r>
          </a:p>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sz="1050" b="1" kern="1200">
                <a:solidFill>
                  <a:srgbClr val="FF0000"/>
                </a:solidFill>
                <a:effectLst/>
                <a:latin typeface="+mn-lt"/>
                <a:ea typeface="+mn-ea"/>
                <a:cs typeface="+mn-cs"/>
              </a:rPr>
              <a:t>(New) </a:t>
            </a:r>
            <a:r>
              <a:rPr lang="en-US" b="0"/>
              <a:t>D8. </a:t>
            </a:r>
            <a:r>
              <a:rPr lang="en-US" sz="1050" kern="1200">
                <a:solidFill>
                  <a:schemeClr val="tx1"/>
                </a:solidFill>
                <a:effectLst/>
                <a:latin typeface="+mn-lt"/>
                <a:ea typeface="+mn-ea"/>
                <a:cs typeface="+mn-cs"/>
              </a:rPr>
              <a:t>In which setting is your practice currently located?</a:t>
            </a:r>
          </a:p>
          <a:p>
            <a:pPr marL="0" indent="0">
              <a:buNone/>
            </a:pPr>
            <a:r>
              <a:rPr lang="en-US" b="0"/>
              <a:t>S7. How many years have you been in practice post-residency?</a:t>
            </a:r>
          </a:p>
          <a:p>
            <a:pPr marL="0" indent="0">
              <a:buNone/>
            </a:pPr>
            <a:r>
              <a:rPr lang="en-US" b="0"/>
              <a:t>S9. Approximately what percentage of your professional time is spent in direct patient care?</a:t>
            </a:r>
          </a:p>
        </p:txBody>
      </p:sp>
      <p:sp>
        <p:nvSpPr>
          <p:cNvPr id="4" name="Slide Number Placeholder 3">
            <a:extLst>
              <a:ext uri="{FF2B5EF4-FFF2-40B4-BE49-F238E27FC236}">
                <a16:creationId xmlns:a16="http://schemas.microsoft.com/office/drawing/2014/main" id="{789D3211-C9B2-FC22-1E43-76ECFF9D339D}"/>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816038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3D6A5-D44E-274B-B0AA-32D8E197C2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C2B20-85B7-8487-99FF-B3C6F40FB5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1F2445-758E-26F4-E5BF-1E6639A66EE1}"/>
              </a:ext>
            </a:extLst>
          </p:cNvPr>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sz="1050" b="1" kern="1200">
                <a:solidFill>
                  <a:srgbClr val="FF0000"/>
                </a:solidFill>
                <a:effectLst/>
                <a:latin typeface="+mn-lt"/>
                <a:ea typeface="+mn-ea"/>
                <a:cs typeface="+mn-cs"/>
              </a:rPr>
              <a:t>(New) </a:t>
            </a:r>
            <a:r>
              <a:rPr lang="en-US" sz="1050" b="0" kern="1200">
                <a:solidFill>
                  <a:schemeClr val="tx1"/>
                </a:solidFill>
                <a:effectLst/>
                <a:latin typeface="+mn-lt"/>
                <a:ea typeface="+mn-ea"/>
                <a:cs typeface="+mn-cs"/>
              </a:rPr>
              <a:t>D9. </a:t>
            </a:r>
            <a:r>
              <a:rPr lang="en-US" sz="1050" kern="1200">
                <a:solidFill>
                  <a:schemeClr val="tx1"/>
                </a:solidFill>
                <a:effectLst/>
                <a:latin typeface="+mn-lt"/>
                <a:ea typeface="+mn-ea"/>
                <a:cs typeface="+mn-cs"/>
              </a:rPr>
              <a:t>Which of the following does your organization use for vaccine purchases?</a:t>
            </a:r>
            <a:endParaRPr lang="en-US" b="0"/>
          </a:p>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b="0"/>
              <a:t>S19. In your practice, what percent of your patients 16 to 18 years of age have each of the following types of vaccine coverage?</a:t>
            </a:r>
          </a:p>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b="0"/>
              <a:t>S20.  Approximately what percent of your pediatric patients receive vaccines through the VFC (Vaccines for Children) program?</a:t>
            </a:r>
          </a:p>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b="0"/>
              <a:t>S6. Which of the following is the closest city to where you primarily practice/spend the majority of your professional time? </a:t>
            </a:r>
          </a:p>
          <a:p>
            <a:pPr marL="0" marR="0" lvl="0" indent="0" algn="l" defTabSz="9144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b="0"/>
              <a:t>C6_1&gt;0. What percent of your total stock of Meningococcal vaccines does each brand represent?</a:t>
            </a:r>
          </a:p>
          <a:p>
            <a:pPr marL="0" indent="0">
              <a:buNone/>
            </a:pPr>
            <a:r>
              <a:rPr lang="en-US" sz="1800" b="0">
                <a:effectLst/>
                <a:latin typeface="Calibri" panose="020F0502020204030204" pitchFamily="34" charset="0"/>
              </a:rPr>
              <a:t>S14. </a:t>
            </a:r>
            <a:r>
              <a:rPr lang="en-US" sz="1800" b="0">
                <a:effectLst/>
                <a:latin typeface="Calibri" panose="020F0502020204030204" pitchFamily="34" charset="0"/>
                <a:ea typeface="Times New Roman" panose="02020603050405020304" pitchFamily="18" charset="0"/>
              </a:rPr>
              <a:t>Thinking of your </a:t>
            </a:r>
            <a:r>
              <a:rPr lang="en-US" sz="1800" b="0" u="sng">
                <a:effectLst/>
                <a:latin typeface="Calibri" panose="020F0502020204030204" pitchFamily="34" charset="0"/>
                <a:ea typeface="Times New Roman" panose="02020603050405020304" pitchFamily="18" charset="0"/>
              </a:rPr>
              <a:t>entire primary practice as a whole</a:t>
            </a:r>
            <a:r>
              <a:rPr lang="en-US" sz="1800" b="0">
                <a:effectLst/>
                <a:latin typeface="Calibri" panose="020F0502020204030204" pitchFamily="34" charset="0"/>
                <a:ea typeface="Times New Roman" panose="02020603050405020304" pitchFamily="18" charset="0"/>
              </a:rPr>
              <a:t>, approximately how many doses of each of the following Meningococcal vaccines have been administered to patients in the </a:t>
            </a:r>
            <a:r>
              <a:rPr lang="en-US" sz="1800" b="0" u="sng">
                <a:effectLst/>
                <a:latin typeface="Calibri" panose="020F0502020204030204" pitchFamily="34" charset="0"/>
                <a:ea typeface="Times New Roman" panose="02020603050405020304" pitchFamily="18" charset="0"/>
              </a:rPr>
              <a:t>past 6 months</a:t>
            </a:r>
            <a:r>
              <a:rPr lang="en-US" sz="1800" b="0">
                <a:effectLst/>
                <a:latin typeface="Calibri" panose="020F0502020204030204" pitchFamily="34" charset="0"/>
                <a:ea typeface="Times New Roman" panose="02020603050405020304" pitchFamily="18" charset="0"/>
              </a:rPr>
              <a:t>?</a:t>
            </a:r>
          </a:p>
          <a:p>
            <a:pPr marL="0" indent="0">
              <a:buNone/>
            </a:pPr>
            <a:r>
              <a:rPr lang="en-US" sz="1800">
                <a:effectLst/>
                <a:latin typeface="Calibri" panose="020F0502020204030204" pitchFamily="34" charset="0"/>
              </a:rPr>
              <a:t>S15. </a:t>
            </a:r>
            <a:r>
              <a:rPr lang="en-US" sz="1800">
                <a:effectLst/>
                <a:latin typeface="Calibri" panose="020F0502020204030204" pitchFamily="34" charset="0"/>
                <a:ea typeface="Times New Roman" panose="02020603050405020304" pitchFamily="18" charset="0"/>
              </a:rPr>
              <a:t>What percentage of your eligible patients </a:t>
            </a:r>
            <a:r>
              <a:rPr lang="en-US" sz="1800" b="1" u="sng">
                <a:effectLst/>
                <a:latin typeface="Calibri" panose="020F0502020204030204" pitchFamily="34" charset="0"/>
                <a:ea typeface="Times New Roman" panose="02020603050405020304" pitchFamily="18" charset="0"/>
              </a:rPr>
              <a:t>16 to 18 years of age</a:t>
            </a:r>
            <a:r>
              <a:rPr lang="en-US" sz="1800">
                <a:effectLst/>
                <a:latin typeface="Calibri" panose="020F0502020204030204" pitchFamily="34" charset="0"/>
                <a:ea typeface="Times New Roman" panose="02020603050405020304" pitchFamily="18" charset="0"/>
              </a:rPr>
              <a:t> will receive </a:t>
            </a:r>
            <a:r>
              <a:rPr lang="en-US" sz="1800" u="sng">
                <a:effectLst/>
                <a:latin typeface="Calibri" panose="020F0502020204030204" pitchFamily="34" charset="0"/>
                <a:ea typeface="Times New Roman" panose="02020603050405020304" pitchFamily="18" charset="0"/>
              </a:rPr>
              <a:t>at least one dose</a:t>
            </a:r>
            <a:r>
              <a:rPr lang="en-US" sz="1800">
                <a:effectLst/>
                <a:latin typeface="Calibri" panose="020F0502020204030204" pitchFamily="34" charset="0"/>
                <a:ea typeface="Times New Roman" panose="02020603050405020304" pitchFamily="18" charset="0"/>
              </a:rPr>
              <a:t> of each of the following meningococcal vaccines?</a:t>
            </a:r>
            <a:endParaRPr lang="en-US"/>
          </a:p>
        </p:txBody>
      </p:sp>
      <p:sp>
        <p:nvSpPr>
          <p:cNvPr id="4" name="Slide Number Placeholder 3">
            <a:extLst>
              <a:ext uri="{FF2B5EF4-FFF2-40B4-BE49-F238E27FC236}">
                <a16:creationId xmlns:a16="http://schemas.microsoft.com/office/drawing/2014/main" id="{BA8DBEA7-127A-1062-9C7D-90A76E9511FE}"/>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455037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10</a:t>
            </a:fld>
            <a:endParaRPr lang="en-US"/>
          </a:p>
        </p:txBody>
      </p:sp>
    </p:spTree>
    <p:extLst>
      <p:ext uri="{BB962C8B-B14F-4D97-AF65-F5344CB8AC3E}">
        <p14:creationId xmlns:p14="http://schemas.microsoft.com/office/powerpoint/2010/main" val="2988804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13</a:t>
            </a:fld>
            <a:endParaRPr lang="en-US"/>
          </a:p>
        </p:txBody>
      </p:sp>
    </p:spTree>
    <p:extLst>
      <p:ext uri="{BB962C8B-B14F-4D97-AF65-F5344CB8AC3E}">
        <p14:creationId xmlns:p14="http://schemas.microsoft.com/office/powerpoint/2010/main" val="1440703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2C90E-2D23-553C-000E-7717C4760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F9B16-3786-115F-2637-C766D371BA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C42613-8F47-F0CA-C924-7629B26F688A}"/>
              </a:ext>
            </a:extLst>
          </p:cNvPr>
          <p:cNvSpPr>
            <a:spLocks noGrp="1"/>
          </p:cNvSpPr>
          <p:nvPr>
            <p:ph type="body" idx="1"/>
          </p:nvPr>
        </p:nvSpPr>
        <p:spPr/>
        <p:txBody>
          <a:bodyPr/>
          <a:lstStyle/>
          <a:p>
            <a:r>
              <a:rPr lang="en-US" sz="1900" b="1"/>
              <a:t>C1. </a:t>
            </a:r>
            <a:r>
              <a:rPr lang="en-US" sz="1900"/>
              <a:t>What manufacturers are you aware of, if any, that have a Meningococcal vaccine under development or recently launched a Meningococcal vaccine?</a:t>
            </a:r>
            <a:endParaRPr lang="en-US" sz="1900" b="1"/>
          </a:p>
          <a:p>
            <a:r>
              <a:rPr lang="en-US" sz="1900" b="1"/>
              <a:t>C3. </a:t>
            </a:r>
            <a:r>
              <a:rPr lang="en-US" sz="1900"/>
              <a:t>To confirm, are you aware of a recently approved (October 2023) pentavalent Meningococcal vaccine that covers five serogroups A,B,C,W,Y?</a:t>
            </a:r>
          </a:p>
          <a:p>
            <a:pPr defTabSz="942289">
              <a:lnSpc>
                <a:spcPct val="90000"/>
              </a:lnSpc>
              <a:spcBef>
                <a:spcPts val="1237"/>
              </a:spcBef>
              <a:buSzPct val="100000"/>
              <a:defRPr/>
            </a:pPr>
            <a:r>
              <a:rPr lang="en-US" sz="1900" b="1"/>
              <a:t>A1.</a:t>
            </a:r>
            <a:r>
              <a:rPr lang="en-US" sz="1900"/>
              <a:t> How knowledgeable do you feel when it comes to the following diseases?</a:t>
            </a:r>
            <a:r>
              <a:rPr lang="en-US" sz="1900" i="1"/>
              <a:t> 1= Not at all knowledgeable and 5 = Extremely knowledgeable.</a:t>
            </a:r>
          </a:p>
          <a:p>
            <a:pPr defTabSz="942289">
              <a:lnSpc>
                <a:spcPct val="90000"/>
              </a:lnSpc>
              <a:spcBef>
                <a:spcPts val="1237"/>
              </a:spcBef>
              <a:buSzPct val="100000"/>
              <a:defRPr/>
            </a:pPr>
            <a:r>
              <a:rPr lang="en-US" sz="1900" b="1"/>
              <a:t>A2.</a:t>
            </a:r>
            <a:r>
              <a:rPr lang="en-US" sz="1900"/>
              <a:t> How concerned are you about your 16-18 year old patients contracting each of these diseases? </a:t>
            </a:r>
            <a:r>
              <a:rPr lang="en-US" sz="1900" i="1"/>
              <a:t>1= Not at all concerned and 5 = Extremely concerned.</a:t>
            </a:r>
            <a:endParaRPr lang="en-US" sz="1900" i="1">
              <a:cs typeface="Arial"/>
            </a:endParaRPr>
          </a:p>
          <a:p>
            <a:pPr defTabSz="942289">
              <a:lnSpc>
                <a:spcPct val="90000"/>
              </a:lnSpc>
              <a:spcBef>
                <a:spcPts val="1237"/>
              </a:spcBef>
              <a:buSzPct val="100000"/>
              <a:defRPr/>
            </a:pPr>
            <a:r>
              <a:rPr lang="en-US" sz="1900" b="1"/>
              <a:t>A3.</a:t>
            </a:r>
            <a:r>
              <a:rPr lang="en-US" sz="1900"/>
              <a:t> How much of a priority is discussing each of these diseases during conversations with your 16-18 year old patients and/or their caregivers? </a:t>
            </a:r>
            <a:r>
              <a:rPr lang="en-US" sz="1900" i="1"/>
              <a:t>1= Not at all a priority and 5 = A top priority.	</a:t>
            </a:r>
          </a:p>
          <a:p>
            <a:pPr defTabSz="942289">
              <a:lnSpc>
                <a:spcPct val="90000"/>
              </a:lnSpc>
              <a:spcBef>
                <a:spcPts val="1237"/>
              </a:spcBef>
              <a:buSzPct val="100000"/>
              <a:defRPr/>
            </a:pPr>
            <a:r>
              <a:rPr lang="en-US" sz="1900" b="1"/>
              <a:t>C12.</a:t>
            </a:r>
            <a:r>
              <a:rPr lang="en-US" sz="1900"/>
              <a:t> Which of these other vaccines, if any, do you commonly administer the MenACWY booster dose with?</a:t>
            </a:r>
            <a:endParaRPr lang="en-US" sz="1900">
              <a:cs typeface="Arial" panose="020B0604020202020204"/>
            </a:endParaRPr>
          </a:p>
        </p:txBody>
      </p:sp>
      <p:sp>
        <p:nvSpPr>
          <p:cNvPr id="4" name="Slide Number Placeholder 3">
            <a:extLst>
              <a:ext uri="{FF2B5EF4-FFF2-40B4-BE49-F238E27FC236}">
                <a16:creationId xmlns:a16="http://schemas.microsoft.com/office/drawing/2014/main" id="{28992CDB-2796-182D-CBDF-14D595BB5606}"/>
              </a:ext>
            </a:extLst>
          </p:cNvPr>
          <p:cNvSpPr>
            <a:spLocks noGrp="1"/>
          </p:cNvSpPr>
          <p:nvPr>
            <p:ph type="sldNum" sz="quarter" idx="5"/>
          </p:nvPr>
        </p:nvSpPr>
        <p:spPr/>
        <p:txBody>
          <a:bodyPr/>
          <a:lstStyle/>
          <a:p>
            <a:pPr algn="ctr" defTabSz="1082083">
              <a:defRPr/>
            </a:pPr>
            <a:fld id="{D5F8523C-8729-40F0-9536-D6C4CA3AD238}" type="slidenum">
              <a:rPr lang="en-US" sz="900">
                <a:solidFill>
                  <a:srgbClr val="000000"/>
                </a:solidFill>
                <a:latin typeface="Arial" panose="020B0604020202020204"/>
                <a:cs typeface="Arial" pitchFamily="34" charset="0"/>
              </a:rPr>
              <a:pPr algn="ctr" defTabSz="1082083">
                <a:defRPr/>
              </a:pPr>
              <a:t>14</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3981341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DBBF7-DBF5-E814-951A-AA33F6F16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7BFDD-090D-33F3-3B2E-DE3FD191D3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DB8ECC-DDF2-E2B0-714D-F9CD3153EFEC}"/>
              </a:ext>
            </a:extLst>
          </p:cNvPr>
          <p:cNvSpPr>
            <a:spLocks noGrp="1"/>
          </p:cNvSpPr>
          <p:nvPr>
            <p:ph type="body" idx="1"/>
          </p:nvPr>
        </p:nvSpPr>
        <p:spPr/>
        <p:txBody>
          <a:bodyPr/>
          <a:lstStyle/>
          <a:p>
            <a:r>
              <a:rPr lang="en-US" sz="1100" b="1" dirty="0"/>
              <a:t>C2.</a:t>
            </a:r>
            <a:r>
              <a:rPr lang="en-US" sz="1100" dirty="0"/>
              <a:t> In the text boxes below please type vaccines you are aware of, if any, that are in </a:t>
            </a:r>
            <a:r>
              <a:rPr lang="en-US" sz="1100" u="sng" dirty="0"/>
              <a:t>development or were recently launched for the prevention of Meningococcal disease</a:t>
            </a:r>
            <a:r>
              <a:rPr lang="en-US" sz="1100" dirty="0"/>
              <a:t>.</a:t>
            </a:r>
          </a:p>
          <a:p>
            <a:r>
              <a:rPr lang="en-US" sz="1100" b="1" dirty="0"/>
              <a:t>C5.</a:t>
            </a:r>
            <a:r>
              <a:rPr lang="en-US" sz="1100" dirty="0"/>
              <a:t> How familiar are you with the following Meningococcal vaccines?</a:t>
            </a:r>
          </a:p>
          <a:p>
            <a:r>
              <a:rPr lang="en-US" sz="1100" b="1" dirty="0"/>
              <a:t>C6_1&gt;0. </a:t>
            </a:r>
            <a:r>
              <a:rPr lang="en-US" sz="1100" dirty="0"/>
              <a:t>What percent of your total stock of Meningococcal vaccines does each brand represent? </a:t>
            </a:r>
            <a:r>
              <a:rPr lang="en-US" sz="1100" b="1" dirty="0"/>
              <a:t>(% HCPs loosely compared to C4 in Jan’24/Jun’24)</a:t>
            </a:r>
          </a:p>
          <a:p>
            <a:r>
              <a:rPr lang="en-US" sz="1100" b="1" dirty="0"/>
              <a:t>P1. </a:t>
            </a:r>
            <a:r>
              <a:rPr lang="en-US" sz="1100" dirty="0"/>
              <a:t>How likely are you to </a:t>
            </a:r>
            <a:r>
              <a:rPr lang="en-US" sz="1100" u="sng" dirty="0"/>
              <a:t>stock Penbraya</a:t>
            </a:r>
            <a:r>
              <a:rPr lang="en-US" sz="1100" dirty="0"/>
              <a:t> (Pfizer's 5-in-1 Pentavalent vaccine for </a:t>
            </a:r>
            <a:r>
              <a:rPr lang="en-US" sz="1100" dirty="0" err="1"/>
              <a:t>MenABCWY</a:t>
            </a:r>
            <a:r>
              <a:rPr lang="en-US" sz="1100" dirty="0"/>
              <a:t>) in your practice?</a:t>
            </a:r>
            <a:r>
              <a:rPr lang="en-US" sz="1100" i="1" dirty="0"/>
              <a:t> 1 = Extremely unlikely and 7 = Extremely likely. </a:t>
            </a:r>
            <a:r>
              <a:rPr lang="en-US" sz="1100" b="1" dirty="0">
                <a:solidFill>
                  <a:srgbClr val="FF0000"/>
                </a:solidFill>
              </a:rPr>
              <a:t>(</a:t>
            </a:r>
            <a:r>
              <a:rPr lang="en-US" sz="1100" b="1" dirty="0"/>
              <a:t>Jan’24/Jun’24 asked </a:t>
            </a:r>
            <a:r>
              <a:rPr lang="en-US" sz="1100" b="1" dirty="0">
                <a:solidFill>
                  <a:srgbClr val="FF0000"/>
                </a:solidFill>
              </a:rPr>
              <a:t>on a 4-point scale D6)</a:t>
            </a:r>
          </a:p>
          <a:p>
            <a:pPr defTabSz="1000645">
              <a:defRPr/>
            </a:pPr>
            <a:r>
              <a:rPr lang="en-US" sz="1100" b="1" dirty="0"/>
              <a:t>X1. </a:t>
            </a:r>
            <a:r>
              <a:rPr lang="en-US" sz="1100" b="0" dirty="0"/>
              <a:t>How likely are you to stock </a:t>
            </a:r>
            <a:r>
              <a:rPr lang="en-US" sz="1100" b="0" dirty="0" err="1"/>
              <a:t>Penmenvy</a:t>
            </a:r>
            <a:r>
              <a:rPr lang="en-US" sz="1100" b="0" dirty="0"/>
              <a:t> (GSK's 5-in-1 Pentavalent vaccine for </a:t>
            </a:r>
            <a:r>
              <a:rPr lang="en-US" sz="1100" b="0" dirty="0" err="1"/>
              <a:t>MenABCWY</a:t>
            </a:r>
            <a:r>
              <a:rPr lang="en-US" sz="1100" b="0" dirty="0"/>
              <a:t>)  in your practice, assuming cost and financial factors are not a barrier to use?</a:t>
            </a:r>
          </a:p>
          <a:p>
            <a:pPr defTabSz="1000645">
              <a:defRPr/>
            </a:pPr>
            <a:r>
              <a:rPr lang="en-US" sz="1100" b="1" dirty="0"/>
              <a:t>P2. </a:t>
            </a:r>
            <a:r>
              <a:rPr lang="en-US" sz="1100" dirty="0"/>
              <a:t>How long would it take for you to first recommend / stock Penbraya (Pfizer's 5-in-1 Pentavalent vaccine for </a:t>
            </a:r>
            <a:r>
              <a:rPr lang="en-US" sz="1100" dirty="0" err="1"/>
              <a:t>MenABCWY</a:t>
            </a:r>
            <a:r>
              <a:rPr lang="en-US" sz="1100" dirty="0"/>
              <a:t>) in your practice? </a:t>
            </a:r>
            <a:r>
              <a:rPr lang="en-US" sz="1100" b="1" dirty="0">
                <a:solidFill>
                  <a:srgbClr val="FF0000"/>
                </a:solidFill>
              </a:rPr>
              <a:t>(</a:t>
            </a:r>
            <a:r>
              <a:rPr lang="en-US" sz="1100" b="1" dirty="0"/>
              <a:t>Jan’24/Jun’24 asked </a:t>
            </a:r>
            <a:r>
              <a:rPr lang="en-US" sz="1100" b="1" dirty="0">
                <a:solidFill>
                  <a:srgbClr val="FF0000"/>
                </a:solidFill>
              </a:rPr>
              <a:t>following MMWR in D7.2 and after VFC approval in D7.42)</a:t>
            </a:r>
            <a:endParaRPr lang="en-US" sz="1100" dirty="0"/>
          </a:p>
          <a:p>
            <a:pPr defTabSz="1000645">
              <a:defRPr/>
            </a:pPr>
            <a:r>
              <a:rPr lang="en-US" sz="1100" b="1" dirty="0"/>
              <a:t>P3. </a:t>
            </a:r>
            <a:r>
              <a:rPr lang="en-US" sz="1100" dirty="0"/>
              <a:t>How long would it take for you to fully incorporate Penbraya (Pfizer's 5-in-1 Pentavalent vaccine for </a:t>
            </a:r>
            <a:r>
              <a:rPr lang="en-US" sz="1100" dirty="0" err="1"/>
              <a:t>MenABCWY</a:t>
            </a:r>
            <a:r>
              <a:rPr lang="en-US" sz="1100" dirty="0"/>
              <a:t>) in your practice?</a:t>
            </a:r>
            <a:r>
              <a:rPr lang="en-US" sz="1100" b="1" dirty="0">
                <a:solidFill>
                  <a:srgbClr val="FF0000"/>
                </a:solidFill>
              </a:rPr>
              <a:t> (</a:t>
            </a:r>
            <a:r>
              <a:rPr lang="en-US" sz="1100" b="1" dirty="0"/>
              <a:t>Jan’24/Jun’24 asked </a:t>
            </a:r>
            <a:r>
              <a:rPr lang="en-US" sz="1100" b="1" dirty="0">
                <a:solidFill>
                  <a:srgbClr val="FF0000"/>
                </a:solidFill>
              </a:rPr>
              <a:t>following MMWR in D7.3 and after VFC approval in D7.5)</a:t>
            </a:r>
            <a:endParaRPr lang="en-US" sz="1100" dirty="0"/>
          </a:p>
          <a:p>
            <a:pPr defTabSz="1000645">
              <a:lnSpc>
                <a:spcPct val="90000"/>
              </a:lnSpc>
              <a:spcBef>
                <a:spcPts val="1275"/>
              </a:spcBef>
              <a:buSzPct val="100000"/>
              <a:defRPr/>
            </a:pPr>
            <a:r>
              <a:rPr lang="en-US" sz="1400" b="1" dirty="0"/>
              <a:t>P4. </a:t>
            </a:r>
            <a:r>
              <a:rPr lang="en-US" sz="1100" dirty="0"/>
              <a:t>In three months from now, what percent of your total stock of Meningococcal vaccines do you anticipate each brand will represent? </a:t>
            </a:r>
            <a:endParaRPr lang="en-US" sz="1400" b="1" dirty="0"/>
          </a:p>
          <a:p>
            <a:pPr defTabSz="1000645">
              <a:lnSpc>
                <a:spcPct val="90000"/>
              </a:lnSpc>
              <a:spcBef>
                <a:spcPts val="1275"/>
              </a:spcBef>
              <a:buSzPct val="100000"/>
              <a:defRPr/>
            </a:pPr>
            <a:r>
              <a:rPr lang="en-US" sz="1100" b="1" dirty="0"/>
              <a:t>. </a:t>
            </a:r>
            <a:r>
              <a:rPr lang="en-US" sz="1100" dirty="0"/>
              <a:t>How likely are you to </a:t>
            </a:r>
            <a:r>
              <a:rPr lang="en-US" sz="1100" u="sng" dirty="0"/>
              <a:t>recommend Penbraya</a:t>
            </a:r>
            <a:r>
              <a:rPr lang="en-US" sz="1100" dirty="0"/>
              <a:t> (Pfizer's 5-in-1 Pentavalent vaccine for </a:t>
            </a:r>
            <a:r>
              <a:rPr lang="en-US" sz="1100" dirty="0" err="1"/>
              <a:t>MenABCWY</a:t>
            </a:r>
            <a:r>
              <a:rPr lang="en-US" sz="1100" dirty="0"/>
              <a:t>) for </a:t>
            </a:r>
            <a:r>
              <a:rPr lang="en-US" sz="1100" b="1" dirty="0"/>
              <a:t>eligible </a:t>
            </a:r>
            <a:r>
              <a:rPr lang="en-US" sz="1100" dirty="0"/>
              <a:t>16-18 year old patients? </a:t>
            </a:r>
            <a:r>
              <a:rPr lang="en-US" sz="1100" i="1" dirty="0"/>
              <a:t>1 = Extremely unlikely and 7 = Extremely likely. </a:t>
            </a:r>
            <a:br>
              <a:rPr lang="en-US" sz="1100" i="1" dirty="0"/>
            </a:br>
            <a:r>
              <a:rPr lang="en-US" sz="1100" b="1" dirty="0">
                <a:solidFill>
                  <a:srgbClr val="FF0000"/>
                </a:solidFill>
              </a:rPr>
              <a:t>(</a:t>
            </a:r>
            <a:r>
              <a:rPr lang="en-US" sz="1100" b="1" dirty="0"/>
              <a:t>Jan’24/Jun’24 asked </a:t>
            </a:r>
            <a:r>
              <a:rPr lang="en-US" sz="1100" b="1" dirty="0">
                <a:solidFill>
                  <a:srgbClr val="FF0000"/>
                </a:solidFill>
              </a:rPr>
              <a:t>on a 4-point scale D7)</a:t>
            </a:r>
          </a:p>
          <a:p>
            <a:pPr defTabSz="1000645">
              <a:lnSpc>
                <a:spcPct val="90000"/>
              </a:lnSpc>
              <a:spcBef>
                <a:spcPts val="1275"/>
              </a:spcBef>
              <a:buSzPct val="100000"/>
              <a:defRPr/>
            </a:pPr>
            <a:r>
              <a:rPr lang="en-US" sz="1100" b="1" dirty="0">
                <a:solidFill>
                  <a:srgbClr val="FF0000"/>
                </a:solidFill>
              </a:rPr>
              <a:t>X4. </a:t>
            </a:r>
            <a:r>
              <a:rPr lang="en-US" sz="1100" b="0" dirty="0">
                <a:solidFill>
                  <a:srgbClr val="FF0000"/>
                </a:solidFill>
              </a:rPr>
              <a:t>How likely are you to recommend </a:t>
            </a:r>
            <a:r>
              <a:rPr lang="en-US" sz="1100" b="0" dirty="0" err="1">
                <a:solidFill>
                  <a:srgbClr val="FF0000"/>
                </a:solidFill>
              </a:rPr>
              <a:t>Penmenvy</a:t>
            </a:r>
            <a:r>
              <a:rPr lang="en-US" sz="1100" b="0" dirty="0">
                <a:solidFill>
                  <a:srgbClr val="FF0000"/>
                </a:solidFill>
              </a:rPr>
              <a:t> (GSK's 5-in-1 Pentavalent vaccine for </a:t>
            </a:r>
            <a:r>
              <a:rPr lang="en-US" sz="1100" b="0" dirty="0" err="1">
                <a:solidFill>
                  <a:srgbClr val="FF0000"/>
                </a:solidFill>
              </a:rPr>
              <a:t>MenABCWY</a:t>
            </a:r>
            <a:r>
              <a:rPr lang="en-US" sz="1100" b="0" dirty="0">
                <a:solidFill>
                  <a:srgbClr val="FF0000"/>
                </a:solidFill>
              </a:rPr>
              <a:t>) for your 16-18 year old patients?</a:t>
            </a:r>
          </a:p>
        </p:txBody>
      </p:sp>
      <p:sp>
        <p:nvSpPr>
          <p:cNvPr id="4" name="Slide Number Placeholder 3">
            <a:extLst>
              <a:ext uri="{FF2B5EF4-FFF2-40B4-BE49-F238E27FC236}">
                <a16:creationId xmlns:a16="http://schemas.microsoft.com/office/drawing/2014/main" id="{DD9A4F65-1A8B-9D48-E79C-FE1723B59E83}"/>
              </a:ext>
            </a:extLst>
          </p:cNvPr>
          <p:cNvSpPr>
            <a:spLocks noGrp="1"/>
          </p:cNvSpPr>
          <p:nvPr>
            <p:ph type="sldNum" sz="quarter" idx="5"/>
          </p:nvPr>
        </p:nvSpPr>
        <p:spPr/>
        <p:txBody>
          <a:bodyPr/>
          <a:lstStyle/>
          <a:p>
            <a:pPr algn="ctr" defTabSz="1082083">
              <a:defRPr/>
            </a:pPr>
            <a:fld id="{D5F8523C-8729-40F0-9536-D6C4CA3AD238}" type="slidenum">
              <a:rPr lang="en-US" sz="900">
                <a:solidFill>
                  <a:srgbClr val="000000"/>
                </a:solidFill>
                <a:latin typeface="Arial" panose="020B0604020202020204"/>
                <a:cs typeface="Arial" pitchFamily="34" charset="0"/>
              </a:rPr>
              <a:pPr algn="ctr" defTabSz="1082083">
                <a:defRPr/>
              </a:pPr>
              <a:t>15</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2795535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16</a:t>
            </a:fld>
            <a:endParaRPr lang="en-US"/>
          </a:p>
        </p:txBody>
      </p:sp>
    </p:spTree>
    <p:extLst>
      <p:ext uri="{BB962C8B-B14F-4D97-AF65-F5344CB8AC3E}">
        <p14:creationId xmlns:p14="http://schemas.microsoft.com/office/powerpoint/2010/main" val="423013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24230-0770-DA83-A0BD-77D7ECE01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245E8-C50F-FF25-0743-E77E9C8CEF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E3B575-78D1-7D7B-25C8-E8027D1741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72AE6D-77F0-E9CF-3DED-F97E9CC80A8D}"/>
              </a:ext>
            </a:extLst>
          </p:cNvPr>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17</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2503473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18</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4279669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8840D-18FE-A6F4-5D1F-7BCA3BB28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6FFEA-3CCE-AB7B-4FF5-F66305F5F8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B61928-249E-740E-7FBA-D8F01EABFE61}"/>
              </a:ext>
            </a:extLst>
          </p:cNvPr>
          <p:cNvSpPr>
            <a:spLocks noGrp="1"/>
          </p:cNvSpPr>
          <p:nvPr>
            <p:ph type="body" idx="1"/>
          </p:nvPr>
        </p:nvSpPr>
        <p:spPr/>
        <p:txBody>
          <a:bodyPr/>
          <a:lstStyle/>
          <a:p>
            <a:pPr defTabSz="942289">
              <a:lnSpc>
                <a:spcPct val="90000"/>
              </a:lnSpc>
              <a:spcBef>
                <a:spcPts val="1237"/>
              </a:spcBef>
              <a:buSzPct val="100000"/>
              <a:defRPr/>
            </a:pPr>
            <a:r>
              <a:rPr lang="en-US" sz="1100"/>
              <a:t>Note: Jan’24/Jun’24 reported a combination of unaided responses from this question and another broader question that asks for Mening. Vx Manufacturers overall.</a:t>
            </a:r>
          </a:p>
          <a:p>
            <a:endParaRPr lang="en-US"/>
          </a:p>
        </p:txBody>
      </p:sp>
      <p:sp>
        <p:nvSpPr>
          <p:cNvPr id="4" name="Slide Number Placeholder 3">
            <a:extLst>
              <a:ext uri="{FF2B5EF4-FFF2-40B4-BE49-F238E27FC236}">
                <a16:creationId xmlns:a16="http://schemas.microsoft.com/office/drawing/2014/main" id="{C286DD3B-4AC3-D0D0-C343-73ED00AE83AF}"/>
              </a:ext>
            </a:extLst>
          </p:cNvPr>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19</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3832934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D2CFF-8182-709A-8642-7966317C6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4C2AF-2119-F42F-9ABA-E7E51DA635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A972E4-0F42-F58A-892E-04A2EB729183}"/>
              </a:ext>
            </a:extLst>
          </p:cNvPr>
          <p:cNvSpPr>
            <a:spLocks noGrp="1"/>
          </p:cNvSpPr>
          <p:nvPr>
            <p:ph type="body" idx="1"/>
          </p:nvPr>
        </p:nvSpPr>
        <p:spPr/>
        <p:txBody>
          <a:bodyPr/>
          <a:lstStyle/>
          <a:p>
            <a:endParaRPr lang="en-US">
              <a:cs typeface="Arial"/>
            </a:endParaRPr>
          </a:p>
        </p:txBody>
      </p:sp>
      <p:sp>
        <p:nvSpPr>
          <p:cNvPr id="4" name="Slide Number Placeholder 3">
            <a:extLst>
              <a:ext uri="{FF2B5EF4-FFF2-40B4-BE49-F238E27FC236}">
                <a16:creationId xmlns:a16="http://schemas.microsoft.com/office/drawing/2014/main" id="{66B7247C-49EE-388C-8EE8-1A17A87D092B}"/>
              </a:ext>
            </a:extLst>
          </p:cNvPr>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20</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3468563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21</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266384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CC37-45D2-88DC-8A40-3E9679D50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5065C-5248-EA49-8740-3AC834086F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3B960B-CB6F-A2EF-B693-C5D05A6696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A7B162-5CA6-8FF2-164A-4C436B2664D5}"/>
              </a:ext>
            </a:extLst>
          </p:cNvPr>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22</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2769454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23</a:t>
            </a:fld>
            <a:endParaRPr lang="en-US"/>
          </a:p>
        </p:txBody>
      </p:sp>
    </p:spTree>
    <p:extLst>
      <p:ext uri="{BB962C8B-B14F-4D97-AF65-F5344CB8AC3E}">
        <p14:creationId xmlns:p14="http://schemas.microsoft.com/office/powerpoint/2010/main" val="3100786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24</a:t>
            </a:fld>
            <a:endParaRPr lang="en-US"/>
          </a:p>
        </p:txBody>
      </p:sp>
    </p:spTree>
    <p:extLst>
      <p:ext uri="{BB962C8B-B14F-4D97-AF65-F5344CB8AC3E}">
        <p14:creationId xmlns:p14="http://schemas.microsoft.com/office/powerpoint/2010/main" val="1873378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64917-C15E-64BD-C984-CBB3F07D4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51C7A-BB33-F9A1-766F-F567B70832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3D9287-7075-AE39-3A39-CE3BA7E3377F}"/>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8DF3D921-7CB3-F814-AA30-BFA7DEAEC4CE}"/>
              </a:ext>
            </a:extLst>
          </p:cNvPr>
          <p:cNvSpPr>
            <a:spLocks noGrp="1"/>
          </p:cNvSpPr>
          <p:nvPr>
            <p:ph type="sldNum" sz="quarter" idx="5"/>
          </p:nvPr>
        </p:nvSpPr>
        <p:spPr/>
        <p:txBody>
          <a:bodyPr/>
          <a:lstStyle/>
          <a:p>
            <a:fld id="{D5F8523C-8729-40F0-9536-D6C4CA3AD238}" type="slidenum">
              <a:rPr lang="en-US" smtClean="0"/>
              <a:pPr/>
              <a:t>25</a:t>
            </a:fld>
            <a:endParaRPr lang="en-US"/>
          </a:p>
        </p:txBody>
      </p:sp>
    </p:spTree>
    <p:extLst>
      <p:ext uri="{BB962C8B-B14F-4D97-AF65-F5344CB8AC3E}">
        <p14:creationId xmlns:p14="http://schemas.microsoft.com/office/powerpoint/2010/main" val="3275489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63BB7-7E45-85A8-F77A-0F08DA0A5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8FE13-4B11-A469-44DB-951F51A906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FA19FC-7DD6-A5F6-204B-8FF155E8752D}"/>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465FF0A6-D5A9-0FE8-1744-3C2A3685DA9E}"/>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2525482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27</a:t>
            </a:fld>
            <a:endParaRPr lang="en-US"/>
          </a:p>
        </p:txBody>
      </p:sp>
    </p:spTree>
    <p:extLst>
      <p:ext uri="{BB962C8B-B14F-4D97-AF65-F5344CB8AC3E}">
        <p14:creationId xmlns:p14="http://schemas.microsoft.com/office/powerpoint/2010/main" val="753120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28</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1003227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2909-71A1-5DD5-59B4-1FBF1B140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57DC3-0BD6-1228-EB62-3972E97826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4DD763-F2F9-DA0E-D61C-B3D0561CF2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5B8000-C157-86D5-2CD5-27A3FBB925ED}"/>
              </a:ext>
            </a:extLst>
          </p:cNvPr>
          <p:cNvSpPr>
            <a:spLocks noGrp="1"/>
          </p:cNvSpPr>
          <p:nvPr>
            <p:ph type="sldNum" sz="quarter" idx="5"/>
          </p:nvPr>
        </p:nvSpPr>
        <p:spPr/>
        <p:txBody>
          <a:bodyPr/>
          <a:lstStyle/>
          <a:p>
            <a:pPr marL="0" marR="0" lvl="0" indent="0" algn="ctr" defTabSz="942289"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rPr>
              <a:pPr marL="0" marR="0" lvl="0" indent="0" algn="ctr" defTabSz="942289" rtl="0" eaLnBrk="1" fontAlgn="auto" latinLnBrk="0" hangingPunct="1">
                <a:lnSpc>
                  <a:spcPct val="100000"/>
                </a:lnSpc>
                <a:spcBef>
                  <a:spcPts val="0"/>
                </a:spcBef>
                <a:spcAft>
                  <a:spcPts val="0"/>
                </a:spcAft>
                <a:buClrTx/>
                <a:buSzTx/>
                <a:buFontTx/>
                <a:buNone/>
                <a:tabLst/>
                <a:defRPr/>
              </a:pPr>
              <a:t>29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1842576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30</a:t>
            </a:fld>
            <a:endParaRPr lang="en-US"/>
          </a:p>
        </p:txBody>
      </p:sp>
    </p:spTree>
    <p:extLst>
      <p:ext uri="{BB962C8B-B14F-4D97-AF65-F5344CB8AC3E}">
        <p14:creationId xmlns:p14="http://schemas.microsoft.com/office/powerpoint/2010/main" val="3699234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31</a:t>
            </a:fld>
            <a:endParaRPr lang="en-US"/>
          </a:p>
        </p:txBody>
      </p:sp>
    </p:spTree>
    <p:extLst>
      <p:ext uri="{BB962C8B-B14F-4D97-AF65-F5344CB8AC3E}">
        <p14:creationId xmlns:p14="http://schemas.microsoft.com/office/powerpoint/2010/main" val="23723500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ctr" defTabSz="942289"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rPr>
              <a:pPr marL="0" marR="0" lvl="0" indent="0" algn="ctr" defTabSz="942289"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26109347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35</a:t>
            </a:fld>
            <a:endParaRPr lang="en-US"/>
          </a:p>
        </p:txBody>
      </p:sp>
    </p:spTree>
    <p:extLst>
      <p:ext uri="{BB962C8B-B14F-4D97-AF65-F5344CB8AC3E}">
        <p14:creationId xmlns:p14="http://schemas.microsoft.com/office/powerpoint/2010/main" val="182825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36</a:t>
            </a:fld>
            <a:endParaRPr lang="en-US"/>
          </a:p>
        </p:txBody>
      </p:sp>
    </p:spTree>
    <p:extLst>
      <p:ext uri="{BB962C8B-B14F-4D97-AF65-F5344CB8AC3E}">
        <p14:creationId xmlns:p14="http://schemas.microsoft.com/office/powerpoint/2010/main" val="1508061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37</a:t>
            </a:fld>
            <a:endParaRPr lang="en-US"/>
          </a:p>
        </p:txBody>
      </p:sp>
    </p:spTree>
    <p:extLst>
      <p:ext uri="{BB962C8B-B14F-4D97-AF65-F5344CB8AC3E}">
        <p14:creationId xmlns:p14="http://schemas.microsoft.com/office/powerpoint/2010/main" val="4955749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35273-76C3-68C4-7F4F-D334E8099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21F8E-75C2-1D46-DEEE-1E3620CEEF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E13C89-2CF7-176B-0947-6AF317191DE2}"/>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4E37B2BC-44BC-D874-5377-FCF7C56F48BF}"/>
              </a:ext>
            </a:extLst>
          </p:cNvPr>
          <p:cNvSpPr>
            <a:spLocks noGrp="1"/>
          </p:cNvSpPr>
          <p:nvPr>
            <p:ph type="sldNum" sz="quarter" idx="5"/>
          </p:nvPr>
        </p:nvSpPr>
        <p:spPr/>
        <p:txBody>
          <a:bodyPr/>
          <a:lstStyle/>
          <a:p>
            <a:fld id="{D5F8523C-8729-40F0-9536-D6C4CA3AD238}" type="slidenum">
              <a:rPr lang="en-US" smtClean="0"/>
              <a:pPr/>
              <a:t>38</a:t>
            </a:fld>
            <a:endParaRPr lang="en-US"/>
          </a:p>
        </p:txBody>
      </p:sp>
    </p:spTree>
    <p:extLst>
      <p:ext uri="{BB962C8B-B14F-4D97-AF65-F5344CB8AC3E}">
        <p14:creationId xmlns:p14="http://schemas.microsoft.com/office/powerpoint/2010/main" val="3297548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CBCB7-EB7A-1F7D-DEE6-18F60DE04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466E5-B6EE-6E78-C599-4885C4EBC6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DEFFB2-B5CE-E255-2656-371EAA01D460}"/>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1E456BD4-A6A2-CD99-AFD9-A94A73FB31F0}"/>
              </a:ext>
            </a:extLst>
          </p:cNvPr>
          <p:cNvSpPr>
            <a:spLocks noGrp="1"/>
          </p:cNvSpPr>
          <p:nvPr>
            <p:ph type="sldNum" sz="quarter" idx="5"/>
          </p:nvPr>
        </p:nvSpPr>
        <p:spPr/>
        <p:txBody>
          <a:bodyPr/>
          <a:lstStyle/>
          <a:p>
            <a:fld id="{D5F8523C-8729-40F0-9536-D6C4CA3AD238}" type="slidenum">
              <a:rPr lang="en-US" smtClean="0"/>
              <a:pPr/>
              <a:t>39</a:t>
            </a:fld>
            <a:endParaRPr lang="en-US"/>
          </a:p>
        </p:txBody>
      </p:sp>
    </p:spTree>
    <p:extLst>
      <p:ext uri="{BB962C8B-B14F-4D97-AF65-F5344CB8AC3E}">
        <p14:creationId xmlns:p14="http://schemas.microsoft.com/office/powerpoint/2010/main" val="27409504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AA3E4-ABFC-CD52-0DB2-2DB630AD2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26F06-11BF-E095-18CF-B9AE7C9BFA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8D1E6E0-335D-FAC8-F9D8-71C61DAF3266}"/>
              </a:ext>
            </a:extLst>
          </p:cNvPr>
          <p:cNvSpPr>
            <a:spLocks noGrp="1"/>
          </p:cNvSpPr>
          <p:nvPr>
            <p:ph type="body" idx="1"/>
          </p:nvPr>
        </p:nvSpPr>
        <p:spPr/>
        <p:txBody>
          <a:bodyPr/>
          <a:lstStyle/>
          <a:p>
            <a:pPr marL="0" indent="0">
              <a:buNone/>
            </a:pPr>
            <a:endParaRPr lang="en-US" b="0"/>
          </a:p>
        </p:txBody>
      </p:sp>
      <p:sp>
        <p:nvSpPr>
          <p:cNvPr id="4" name="Slide Number Placeholder 3">
            <a:extLst>
              <a:ext uri="{FF2B5EF4-FFF2-40B4-BE49-F238E27FC236}">
                <a16:creationId xmlns:a16="http://schemas.microsoft.com/office/drawing/2014/main" id="{E1E4C941-23E6-DEB0-54BC-C629191162BC}"/>
              </a:ext>
            </a:extLst>
          </p:cNvPr>
          <p:cNvSpPr>
            <a:spLocks noGrp="1"/>
          </p:cNvSpPr>
          <p:nvPr>
            <p:ph type="sldNum" sz="quarter" idx="5"/>
          </p:nvPr>
        </p:nvSpPr>
        <p:spPr/>
        <p:txBody>
          <a:bodyPr/>
          <a:lstStyle/>
          <a:p>
            <a:fld id="{D5F8523C-8729-40F0-9536-D6C4CA3AD238}" type="slidenum">
              <a:rPr lang="en-US" smtClean="0"/>
              <a:pPr/>
              <a:t>40</a:t>
            </a:fld>
            <a:endParaRPr lang="en-US"/>
          </a:p>
        </p:txBody>
      </p:sp>
    </p:spTree>
    <p:extLst>
      <p:ext uri="{BB962C8B-B14F-4D97-AF65-F5344CB8AC3E}">
        <p14:creationId xmlns:p14="http://schemas.microsoft.com/office/powerpoint/2010/main" val="382202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0754-E7B0-CDF1-47DB-B65419DDB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609E5-F46A-1A07-305F-97FFB6DED9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C995CE-B08D-2CC8-8F46-0CF9872ECDF7}"/>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B0428305-913A-3DC8-250C-CD2134C9C8CF}"/>
              </a:ext>
            </a:extLst>
          </p:cNvPr>
          <p:cNvSpPr>
            <a:spLocks noGrp="1"/>
          </p:cNvSpPr>
          <p:nvPr>
            <p:ph type="sldNum" sz="quarter" idx="5"/>
          </p:nvPr>
        </p:nvSpPr>
        <p:spPr/>
        <p:txBody>
          <a:bodyPr/>
          <a:lstStyle/>
          <a:p>
            <a:fld id="{D5F8523C-8729-40F0-9536-D6C4CA3AD238}" type="slidenum">
              <a:rPr lang="en-US" smtClean="0"/>
              <a:pPr/>
              <a:t>41</a:t>
            </a:fld>
            <a:endParaRPr lang="en-US"/>
          </a:p>
        </p:txBody>
      </p:sp>
    </p:spTree>
    <p:extLst>
      <p:ext uri="{BB962C8B-B14F-4D97-AF65-F5344CB8AC3E}">
        <p14:creationId xmlns:p14="http://schemas.microsoft.com/office/powerpoint/2010/main" val="16601708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b="0"/>
          </a:p>
        </p:txBody>
      </p:sp>
      <p:sp>
        <p:nvSpPr>
          <p:cNvPr id="4" name="Slide Number Placeholder 3"/>
          <p:cNvSpPr>
            <a:spLocks noGrp="1"/>
          </p:cNvSpPr>
          <p:nvPr>
            <p:ph type="sldNum" sz="quarter" idx="5"/>
          </p:nvPr>
        </p:nvSpPr>
        <p:spPr/>
        <p:txBody>
          <a:bodyPr/>
          <a:lstStyle/>
          <a:p>
            <a:fld id="{D5F8523C-8729-40F0-9536-D6C4CA3AD238}" type="slidenum">
              <a:rPr lang="en-US" smtClean="0"/>
              <a:pPr/>
              <a:t>42</a:t>
            </a:fld>
            <a:endParaRPr lang="en-US"/>
          </a:p>
        </p:txBody>
      </p:sp>
    </p:spTree>
    <p:extLst>
      <p:ext uri="{BB962C8B-B14F-4D97-AF65-F5344CB8AC3E}">
        <p14:creationId xmlns:p14="http://schemas.microsoft.com/office/powerpoint/2010/main" val="40667452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44</a:t>
            </a:fld>
            <a:endParaRPr lang="en-US"/>
          </a:p>
        </p:txBody>
      </p:sp>
    </p:spTree>
    <p:extLst>
      <p:ext uri="{BB962C8B-B14F-4D97-AF65-F5344CB8AC3E}">
        <p14:creationId xmlns:p14="http://schemas.microsoft.com/office/powerpoint/2010/main" val="18345552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78D8D-5D77-08AA-8CD0-406A173CE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57D45-82EB-1C5B-F45E-8FAB6B4B91F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5152BC-FF24-BE7B-81B5-A826DFC050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75BEED-8D58-541E-585E-E32019382F33}"/>
              </a:ext>
            </a:extLst>
          </p:cNvPr>
          <p:cNvSpPr>
            <a:spLocks noGrp="1"/>
          </p:cNvSpPr>
          <p:nvPr>
            <p:ph type="sldNum" sz="quarter" idx="5"/>
          </p:nvPr>
        </p:nvSpPr>
        <p:spPr/>
        <p:txBody>
          <a:bodyPr/>
          <a:lstStyle/>
          <a:p>
            <a:pPr marL="0" marR="0" lvl="0" indent="0" algn="ctr" defTabSz="942289"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rPr>
              <a:pPr marL="0" marR="0" lvl="0" indent="0" algn="ctr" defTabSz="942289" rtl="0" eaLnBrk="1" fontAlgn="auto" latinLnBrk="0" hangingPunct="1">
                <a:lnSpc>
                  <a:spcPct val="100000"/>
                </a:lnSpc>
                <a:spcBef>
                  <a:spcPts val="0"/>
                </a:spcBef>
                <a:spcAft>
                  <a:spcPts val="0"/>
                </a:spcAft>
                <a:buClrTx/>
                <a:buSzTx/>
                <a:buFontTx/>
                <a:buNone/>
                <a:tabLst/>
                <a:defRPr/>
              </a:pPr>
              <a:t>45</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42178933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28069433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ctr" defTabSz="942289"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rPr>
              <a:pPr marL="0" marR="0" lvl="0" indent="0" algn="ctr" defTabSz="942289" rtl="0" eaLnBrk="1" fontAlgn="auto" latinLnBrk="0" hangingPunct="1">
                <a:lnSpc>
                  <a:spcPct val="100000"/>
                </a:lnSpc>
                <a:spcBef>
                  <a:spcPts val="0"/>
                </a:spcBef>
                <a:spcAft>
                  <a:spcPts val="0"/>
                </a:spcAft>
                <a:buClrTx/>
                <a:buSzTx/>
                <a:buFontTx/>
                <a:buNone/>
                <a:tabLst/>
                <a:defRPr/>
              </a:pPr>
              <a:t>47</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41160453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48</a:t>
            </a:fld>
            <a:endParaRPr lang="en-US"/>
          </a:p>
        </p:txBody>
      </p:sp>
    </p:spTree>
    <p:extLst>
      <p:ext uri="{BB962C8B-B14F-4D97-AF65-F5344CB8AC3E}">
        <p14:creationId xmlns:p14="http://schemas.microsoft.com/office/powerpoint/2010/main" val="14026359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49</a:t>
            </a:fld>
            <a:endParaRPr lang="en-US"/>
          </a:p>
        </p:txBody>
      </p:sp>
    </p:spTree>
    <p:extLst>
      <p:ext uri="{BB962C8B-B14F-4D97-AF65-F5344CB8AC3E}">
        <p14:creationId xmlns:p14="http://schemas.microsoft.com/office/powerpoint/2010/main" val="4195389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D85A0-B523-5C04-69DA-20F3EDCF6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303D8-818C-AAD7-6DBB-2ADFC8B209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ACE1C0-A1E4-F10B-93D0-5E49F8EBEF02}"/>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84C9EFA5-F5F8-1F22-183C-B5ED104ADCD4}"/>
              </a:ext>
            </a:extLst>
          </p:cNvPr>
          <p:cNvSpPr>
            <a:spLocks noGrp="1"/>
          </p:cNvSpPr>
          <p:nvPr>
            <p:ph type="sldNum" sz="quarter" idx="5"/>
          </p:nvPr>
        </p:nvSpPr>
        <p:spPr/>
        <p:txBody>
          <a:bodyPr/>
          <a:lstStyle/>
          <a:p>
            <a:fld id="{D5F8523C-8729-40F0-9536-D6C4CA3AD238}" type="slidenum">
              <a:rPr lang="en-US" smtClean="0"/>
              <a:pPr/>
              <a:t>50</a:t>
            </a:fld>
            <a:endParaRPr lang="en-US"/>
          </a:p>
        </p:txBody>
      </p:sp>
    </p:spTree>
    <p:extLst>
      <p:ext uri="{BB962C8B-B14F-4D97-AF65-F5344CB8AC3E}">
        <p14:creationId xmlns:p14="http://schemas.microsoft.com/office/powerpoint/2010/main" val="6720249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4D60C-69D7-0526-56C1-E9141D5F4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DC7DF-2F8A-F3D9-06D4-44A5811784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63F77F-85D9-8480-DE70-E769EFF5C5D5}"/>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E1B4B538-5B1A-AE46-4971-222294866992}"/>
              </a:ext>
            </a:extLst>
          </p:cNvPr>
          <p:cNvSpPr>
            <a:spLocks noGrp="1"/>
          </p:cNvSpPr>
          <p:nvPr>
            <p:ph type="sldNum" sz="quarter" idx="5"/>
          </p:nvPr>
        </p:nvSpPr>
        <p:spPr/>
        <p:txBody>
          <a:bodyPr/>
          <a:lstStyle/>
          <a:p>
            <a:fld id="{D5F8523C-8729-40F0-9536-D6C4CA3AD238}" type="slidenum">
              <a:rPr lang="en-US" smtClean="0"/>
              <a:pPr/>
              <a:t>51</a:t>
            </a:fld>
            <a:endParaRPr lang="en-US"/>
          </a:p>
        </p:txBody>
      </p:sp>
    </p:spTree>
    <p:extLst>
      <p:ext uri="{BB962C8B-B14F-4D97-AF65-F5344CB8AC3E}">
        <p14:creationId xmlns:p14="http://schemas.microsoft.com/office/powerpoint/2010/main" val="3250527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11242721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EBFB5-8E81-96EC-A792-262B20977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A1952-4763-17CE-18E7-5B73A13E18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F2DE3B-218A-52DE-DD42-187E3F37AF29}"/>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D8BD9488-4DC5-C439-F701-B75832E11BB5}"/>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53</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31245664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54</a:t>
            </a:fld>
            <a:endParaRPr lang="en-US"/>
          </a:p>
        </p:txBody>
      </p:sp>
    </p:spTree>
    <p:extLst>
      <p:ext uri="{BB962C8B-B14F-4D97-AF65-F5344CB8AC3E}">
        <p14:creationId xmlns:p14="http://schemas.microsoft.com/office/powerpoint/2010/main" val="13557303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defTabSz="924641">
              <a:defRPr/>
            </a:pPr>
            <a:fld id="{D5F8523C-8729-40F0-9536-D6C4CA3AD238}" type="slidenum">
              <a:rPr lang="en-US">
                <a:solidFill>
                  <a:srgbClr val="000000"/>
                </a:solidFill>
                <a:latin typeface="Arial" panose="020B0604020202020204"/>
              </a:rPr>
              <a:pPr defTabSz="924641">
                <a:defRPr/>
              </a:pPr>
              <a:t>55</a:t>
            </a:fld>
            <a:endParaRPr lang="en-US">
              <a:solidFill>
                <a:srgbClr val="000000"/>
              </a:solidFill>
              <a:latin typeface="Arial" panose="020B0604020202020204"/>
            </a:endParaRPr>
          </a:p>
        </p:txBody>
      </p:sp>
    </p:spTree>
    <p:extLst>
      <p:ext uri="{BB962C8B-B14F-4D97-AF65-F5344CB8AC3E}">
        <p14:creationId xmlns:p14="http://schemas.microsoft.com/office/powerpoint/2010/main" val="18450027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56</a:t>
            </a:fld>
            <a:endParaRPr lang="en-US"/>
          </a:p>
        </p:txBody>
      </p:sp>
    </p:spTree>
    <p:extLst>
      <p:ext uri="{BB962C8B-B14F-4D97-AF65-F5344CB8AC3E}">
        <p14:creationId xmlns:p14="http://schemas.microsoft.com/office/powerpoint/2010/main" val="34235206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57</a:t>
            </a:fld>
            <a:endParaRPr lang="en-US"/>
          </a:p>
        </p:txBody>
      </p:sp>
    </p:spTree>
    <p:extLst>
      <p:ext uri="{BB962C8B-B14F-4D97-AF65-F5344CB8AC3E}">
        <p14:creationId xmlns:p14="http://schemas.microsoft.com/office/powerpoint/2010/main" val="1457176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58</a:t>
            </a:fld>
            <a:endParaRPr lang="en-US"/>
          </a:p>
        </p:txBody>
      </p:sp>
    </p:spTree>
    <p:extLst>
      <p:ext uri="{BB962C8B-B14F-4D97-AF65-F5344CB8AC3E}">
        <p14:creationId xmlns:p14="http://schemas.microsoft.com/office/powerpoint/2010/main" val="25784423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11395445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61</a:t>
            </a:fld>
            <a:endParaRPr lang="en-US"/>
          </a:p>
        </p:txBody>
      </p:sp>
    </p:spTree>
    <p:extLst>
      <p:ext uri="{BB962C8B-B14F-4D97-AF65-F5344CB8AC3E}">
        <p14:creationId xmlns:p14="http://schemas.microsoft.com/office/powerpoint/2010/main" val="22420435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AF374-A890-57AE-FE4E-65C4ACE5C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DB801-E9BD-92D8-443B-A6400AD0A7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36B037-821F-3BC8-D773-3FC2C7E04BBF}"/>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229FBAD1-C0A0-F41B-CFC7-BE72F39B6D34}"/>
              </a:ext>
            </a:extLst>
          </p:cNvPr>
          <p:cNvSpPr>
            <a:spLocks noGrp="1"/>
          </p:cNvSpPr>
          <p:nvPr>
            <p:ph type="sldNum" sz="quarter" idx="5"/>
          </p:nvPr>
        </p:nvSpPr>
        <p:spPr/>
        <p:txBody>
          <a:bodyPr/>
          <a:lstStyle/>
          <a:p>
            <a:fld id="{D5F8523C-8729-40F0-9536-D6C4CA3AD238}" type="slidenum">
              <a:rPr lang="en-US" smtClean="0"/>
              <a:pPr/>
              <a:t>62</a:t>
            </a:fld>
            <a:endParaRPr lang="en-US"/>
          </a:p>
        </p:txBody>
      </p:sp>
    </p:spTree>
    <p:extLst>
      <p:ext uri="{BB962C8B-B14F-4D97-AF65-F5344CB8AC3E}">
        <p14:creationId xmlns:p14="http://schemas.microsoft.com/office/powerpoint/2010/main" val="40105769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528D0-42D8-2887-88AE-0E0D4222B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DF30B-DEC9-45FD-FA9F-E1BD3CC582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255E65-BDEF-3231-246F-A3F568243E6B}"/>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2A77189B-9332-50C7-A978-902ED9EC230F}"/>
              </a:ext>
            </a:extLst>
          </p:cNvPr>
          <p:cNvSpPr>
            <a:spLocks noGrp="1"/>
          </p:cNvSpPr>
          <p:nvPr>
            <p:ph type="sldNum" sz="quarter" idx="5"/>
          </p:nvPr>
        </p:nvSpPr>
        <p:spPr/>
        <p:txBody>
          <a:bodyPr/>
          <a:lstStyle/>
          <a:p>
            <a:fld id="{D5F8523C-8729-40F0-9536-D6C4CA3AD238}" type="slidenum">
              <a:rPr lang="en-US" smtClean="0"/>
              <a:pPr/>
              <a:t>63</a:t>
            </a:fld>
            <a:endParaRPr lang="en-US"/>
          </a:p>
        </p:txBody>
      </p:sp>
    </p:spTree>
    <p:extLst>
      <p:ext uri="{BB962C8B-B14F-4D97-AF65-F5344CB8AC3E}">
        <p14:creationId xmlns:p14="http://schemas.microsoft.com/office/powerpoint/2010/main" val="13095634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64</a:t>
            </a:fld>
            <a:endParaRPr lang="en-US"/>
          </a:p>
        </p:txBody>
      </p:sp>
    </p:spTree>
    <p:extLst>
      <p:ext uri="{BB962C8B-B14F-4D97-AF65-F5344CB8AC3E}">
        <p14:creationId xmlns:p14="http://schemas.microsoft.com/office/powerpoint/2010/main" val="26335703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0E76C-1AF2-B9A1-B390-186AF283D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613CA-176A-B039-6206-EFC7E1F1C2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A1A01E-FEF3-D9A4-F796-FAF19900DE7E}"/>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134457AD-5EA5-0F67-5CB1-BEF819679343}"/>
              </a:ext>
            </a:extLst>
          </p:cNvPr>
          <p:cNvSpPr>
            <a:spLocks noGrp="1"/>
          </p:cNvSpPr>
          <p:nvPr>
            <p:ph type="sldNum" sz="quarter" idx="5"/>
          </p:nvPr>
        </p:nvSpPr>
        <p:spPr/>
        <p:txBody>
          <a:bodyPr/>
          <a:lstStyle/>
          <a:p>
            <a:fld id="{D5F8523C-8729-40F0-9536-D6C4CA3AD238}" type="slidenum">
              <a:rPr lang="en-US" smtClean="0"/>
              <a:pPr/>
              <a:t>65</a:t>
            </a:fld>
            <a:endParaRPr lang="en-US"/>
          </a:p>
        </p:txBody>
      </p:sp>
    </p:spTree>
    <p:extLst>
      <p:ext uri="{BB962C8B-B14F-4D97-AF65-F5344CB8AC3E}">
        <p14:creationId xmlns:p14="http://schemas.microsoft.com/office/powerpoint/2010/main" val="25912654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66</a:t>
            </a:fld>
            <a:endParaRPr lang="en-US"/>
          </a:p>
        </p:txBody>
      </p:sp>
    </p:spTree>
    <p:extLst>
      <p:ext uri="{BB962C8B-B14F-4D97-AF65-F5344CB8AC3E}">
        <p14:creationId xmlns:p14="http://schemas.microsoft.com/office/powerpoint/2010/main" val="769964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6D837-19FA-CB12-4FEA-46451DA64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79865-E13B-8B50-1CE3-9B23194E5E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0C216F-4FA6-654B-B3F0-2DD5042D424D}"/>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5835D78A-C952-849D-01B8-86D568DB88A1}"/>
              </a:ext>
            </a:extLst>
          </p:cNvPr>
          <p:cNvSpPr>
            <a:spLocks noGrp="1"/>
          </p:cNvSpPr>
          <p:nvPr>
            <p:ph type="sldNum" sz="quarter" idx="5"/>
          </p:nvPr>
        </p:nvSpPr>
        <p:spPr/>
        <p:txBody>
          <a:bodyPr/>
          <a:lstStyle/>
          <a:p>
            <a:fld id="{D5F8523C-8729-40F0-9536-D6C4CA3AD238}" type="slidenum">
              <a:rPr lang="en-US" smtClean="0"/>
              <a:pPr/>
              <a:t>67</a:t>
            </a:fld>
            <a:endParaRPr lang="en-US"/>
          </a:p>
        </p:txBody>
      </p:sp>
    </p:spTree>
    <p:extLst>
      <p:ext uri="{BB962C8B-B14F-4D97-AF65-F5344CB8AC3E}">
        <p14:creationId xmlns:p14="http://schemas.microsoft.com/office/powerpoint/2010/main" val="15661535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D5F8523C-8729-40F0-9536-D6C4CA3AD238}" type="slidenum">
              <a:rPr lang="en-US" smtClean="0"/>
              <a:pPr/>
              <a:t>68</a:t>
            </a:fld>
            <a:endParaRPr lang="en-US"/>
          </a:p>
        </p:txBody>
      </p:sp>
    </p:spTree>
    <p:extLst>
      <p:ext uri="{BB962C8B-B14F-4D97-AF65-F5344CB8AC3E}">
        <p14:creationId xmlns:p14="http://schemas.microsoft.com/office/powerpoint/2010/main" val="16875286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69</a:t>
            </a:fld>
            <a:endParaRPr lang="en-US"/>
          </a:p>
        </p:txBody>
      </p:sp>
    </p:spTree>
    <p:extLst>
      <p:ext uri="{BB962C8B-B14F-4D97-AF65-F5344CB8AC3E}">
        <p14:creationId xmlns:p14="http://schemas.microsoft.com/office/powerpoint/2010/main" val="132929512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D5F8523C-8729-40F0-9536-D6C4CA3AD238}" type="slidenum">
              <a:rPr lang="en-US" smtClean="0"/>
              <a:pPr/>
              <a:t>70</a:t>
            </a:fld>
            <a:endParaRPr lang="en-US"/>
          </a:p>
        </p:txBody>
      </p:sp>
    </p:spTree>
    <p:extLst>
      <p:ext uri="{BB962C8B-B14F-4D97-AF65-F5344CB8AC3E}">
        <p14:creationId xmlns:p14="http://schemas.microsoft.com/office/powerpoint/2010/main" val="29340623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99F4C-6822-EAEA-99C7-9BF80BE75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24552-DEC5-01FC-5938-6299F67E72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A15CB8-DA94-B947-1574-E74FF785937C}"/>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757BF2AC-0545-B1A1-858D-2B4224D682F8}"/>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71</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4440867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CC74A-5933-DF97-04C0-B445CE3CF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31015-9D94-B48D-7269-84DFC2E394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1657B4-2D8E-6D50-6AA6-9F9B3CEE9268}"/>
              </a:ext>
            </a:extLst>
          </p:cNvPr>
          <p:cNvSpPr>
            <a:spLocks noGrp="1"/>
          </p:cNvSpPr>
          <p:nvPr>
            <p:ph type="body" idx="1"/>
          </p:nvPr>
        </p:nvSpPr>
        <p:spPr/>
        <p:txBody>
          <a:bodyPr/>
          <a:lstStyle/>
          <a:p>
            <a:pPr defTabSz="977436">
              <a:spcBef>
                <a:spcPts val="1283"/>
              </a:spcBef>
              <a:defRPr/>
            </a:pPr>
            <a:endParaRPr lang="en-US"/>
          </a:p>
        </p:txBody>
      </p:sp>
      <p:sp>
        <p:nvSpPr>
          <p:cNvPr id="4" name="Slide Number Placeholder 3">
            <a:extLst>
              <a:ext uri="{FF2B5EF4-FFF2-40B4-BE49-F238E27FC236}">
                <a16:creationId xmlns:a16="http://schemas.microsoft.com/office/drawing/2014/main" id="{69AEFFEB-1BA1-356F-7AF4-CAC425D5DCB3}"/>
              </a:ext>
            </a:extLst>
          </p:cNvPr>
          <p:cNvSpPr>
            <a:spLocks noGrp="1"/>
          </p:cNvSpPr>
          <p:nvPr>
            <p:ph type="sldNum" sz="quarter" idx="5"/>
          </p:nvPr>
        </p:nvSpPr>
        <p:spPr/>
        <p:txBody>
          <a:bodyPr/>
          <a:lstStyle/>
          <a:p>
            <a:pPr algn="ctr" defTabSz="977436">
              <a:defRPr/>
            </a:pPr>
            <a:fld id="{D5F8523C-8729-40F0-9536-D6C4CA3AD238}" type="slidenum">
              <a:rPr lang="en-US" sz="900">
                <a:solidFill>
                  <a:srgbClr val="000000"/>
                </a:solidFill>
                <a:latin typeface="Arial" panose="020B0604020202020204"/>
                <a:cs typeface="Arial" pitchFamily="34" charset="0"/>
              </a:rPr>
              <a:pPr algn="ctr" defTabSz="977436">
                <a:defRPr/>
              </a:pPr>
              <a:t>72</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40574482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ctr" defTabSz="942289">
              <a:defRPr/>
            </a:pPr>
            <a:fld id="{D5F8523C-8729-40F0-9536-D6C4CA3AD238}" type="slidenum">
              <a:rPr lang="en-US" sz="900">
                <a:solidFill>
                  <a:srgbClr val="000000"/>
                </a:solidFill>
                <a:latin typeface="Arial" panose="020B0604020202020204"/>
                <a:cs typeface="Arial" pitchFamily="34" charset="0"/>
              </a:rPr>
              <a:pPr algn="ctr" defTabSz="942289">
                <a:defRPr/>
              </a:pPr>
              <a:t>73</a:t>
            </a:fld>
            <a:endParaRPr lang="en-US" sz="900">
              <a:solidFill>
                <a:srgbClr val="000000"/>
              </a:solidFill>
              <a:latin typeface="Arial" panose="020B0604020202020204"/>
              <a:cs typeface="Arial" pitchFamily="34" charset="0"/>
            </a:endParaRPr>
          </a:p>
        </p:txBody>
      </p:sp>
    </p:spTree>
    <p:extLst>
      <p:ext uri="{BB962C8B-B14F-4D97-AF65-F5344CB8AC3E}">
        <p14:creationId xmlns:p14="http://schemas.microsoft.com/office/powerpoint/2010/main" val="9152455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EBE3E-671E-ED01-64D6-DF9572C07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13C51-7E35-4380-2471-EEFAD70735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00184E-7DAE-2B1E-9526-74E51B5AD2F8}"/>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D8CB0FAE-522C-409B-0ADF-BDBF90429DFB}"/>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74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11104310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D480-A0EE-46B1-00BF-F5FD1B6D7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2195D-A09E-D02F-E3CF-B5699E38C5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D2829B-E27E-2017-0D76-F4172CE23307}"/>
              </a:ext>
            </a:extLst>
          </p:cNvPr>
          <p:cNvSpPr>
            <a:spLocks noGrp="1"/>
          </p:cNvSpPr>
          <p:nvPr>
            <p:ph type="body" idx="1"/>
          </p:nvPr>
        </p:nvSpPr>
        <p:spPr/>
        <p:txBody>
          <a:bodyPr/>
          <a:lstStyle/>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3AA18B6-71AC-E4D2-8002-76E94FFE40F3}"/>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5F8523C-8729-40F0-9536-D6C4CA3AD238}"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75</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25462125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39.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40.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1.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2.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3.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4.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5.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6.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7.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8.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9.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0.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2.xml"/><Relationship Id="rId1" Type="http://schemas.openxmlformats.org/officeDocument/2006/relationships/tags" Target="../tags/tag5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5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54.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5.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6.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7.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8.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9.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0.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1.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2.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3.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2.xml"/><Relationship Id="rId1" Type="http://schemas.openxmlformats.org/officeDocument/2006/relationships/tags" Target="../tags/tag65.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6.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7.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8.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3.xml"/><Relationship Id="rId1" Type="http://schemas.openxmlformats.org/officeDocument/2006/relationships/tags" Target="../tags/tag7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3.xml"/><Relationship Id="rId1" Type="http://schemas.openxmlformats.org/officeDocument/2006/relationships/tags" Target="../tags/tag72.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3.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4.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5.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6.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7.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8.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9.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0.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1.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2.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3.xml"/><Relationship Id="rId1" Type="http://schemas.openxmlformats.org/officeDocument/2006/relationships/tags" Target="../tags/tag8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3.xml"/><Relationship Id="rId1" Type="http://schemas.openxmlformats.org/officeDocument/2006/relationships/tags" Target="../tags/tag8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3.xml"/><Relationship Id="rId1" Type="http://schemas.openxmlformats.org/officeDocument/2006/relationships/tags" Target="../tags/tag86.xml"/></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7.xml"/></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8.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9.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0.xml"/></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1.xml"/></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2.xml"/></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3.xml"/></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4.xml"/></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5.xml"/></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6.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3.xml"/><Relationship Id="rId1" Type="http://schemas.openxmlformats.org/officeDocument/2006/relationships/tags" Target="../tags/tag97.xml"/></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8.xml"/></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9.xml"/></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00.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4.xml"/><Relationship Id="rId1" Type="http://schemas.openxmlformats.org/officeDocument/2006/relationships/tags" Target="../tags/tag10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4.xml"/><Relationship Id="rId1" Type="http://schemas.openxmlformats.org/officeDocument/2006/relationships/tags" Target="../tags/tag104.xml"/></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5.xml"/></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6.xml"/></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7.xml"/></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8.xml"/></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9.xml"/></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0.xml"/></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1.xml"/></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2.xml"/></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3.xml"/></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4.xml"/></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5.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4.xml"/><Relationship Id="rId1" Type="http://schemas.openxmlformats.org/officeDocument/2006/relationships/tags" Target="../tags/tag116.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4.xml"/><Relationship Id="rId1" Type="http://schemas.openxmlformats.org/officeDocument/2006/relationships/tags" Target="../tags/tag117.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4.xml"/><Relationship Id="rId1" Type="http://schemas.openxmlformats.org/officeDocument/2006/relationships/tags" Target="../tags/tag118.xml"/></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9.xml"/></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0.xml"/></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1.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2.xml"/></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3.xml"/></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4.xml"/></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5.xml"/></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6.xml"/></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7.xml"/></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8.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4.xml"/><Relationship Id="rId1" Type="http://schemas.openxmlformats.org/officeDocument/2006/relationships/tags" Target="../tags/tag129.xml"/></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30.xml"/></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31.xml"/></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32.xml"/></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3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5.xml"/><Relationship Id="rId1" Type="http://schemas.openxmlformats.org/officeDocument/2006/relationships/tags" Target="../tags/tag136.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5.xml"/><Relationship Id="rId1" Type="http://schemas.openxmlformats.org/officeDocument/2006/relationships/tags" Target="../tags/tag137.xml"/></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38.xml"/></Relationships>
</file>

<file path=ppt/slideLayouts/_rels/slideLayout12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39.xml"/></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0.xml"/></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1.xml"/></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2.xml"/></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3.xml"/></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4.xml"/></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5.xml"/></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6.xml"/></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7.xml"/></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8.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5.xml"/><Relationship Id="rId1" Type="http://schemas.openxmlformats.org/officeDocument/2006/relationships/tags" Target="../tags/tag149.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5.xml"/><Relationship Id="rId1" Type="http://schemas.openxmlformats.org/officeDocument/2006/relationships/tags" Target="../tags/tag150.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5.xml"/><Relationship Id="rId1" Type="http://schemas.openxmlformats.org/officeDocument/2006/relationships/tags" Target="../tags/tag151.xml"/></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2.xml"/></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3.xml"/></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4.xml"/></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5.xml"/></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6.xml"/></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7.xml"/></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8.xml"/></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9.xml"/></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0.xml"/></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1.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5.xml"/><Relationship Id="rId1" Type="http://schemas.openxmlformats.org/officeDocument/2006/relationships/tags" Target="../tags/tag162.xml"/></Relationships>
</file>

<file path=ppt/slideLayouts/_rels/slideLayout1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3.xml"/></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4.xml"/></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5.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6.xml"/><Relationship Id="rId1" Type="http://schemas.openxmlformats.org/officeDocument/2006/relationships/tags" Target="../tags/tag168.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6.xml"/><Relationship Id="rId1" Type="http://schemas.openxmlformats.org/officeDocument/2006/relationships/tags" Target="../tags/tag169.xml"/></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0.xml"/></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1.xml"/></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2.xml"/></Relationships>
</file>

<file path=ppt/slideLayouts/_rels/slideLayout16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3.xml"/></Relationships>
</file>

<file path=ppt/slideLayouts/_rels/slideLayout16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4.xml"/></Relationships>
</file>

<file path=ppt/slideLayouts/_rels/slideLayout16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5.xml"/></Relationships>
</file>

<file path=ppt/slideLayouts/_rels/slideLayout1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6.xml"/></Relationships>
</file>

<file path=ppt/slideLayouts/_rels/slideLayout1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7.xml"/></Relationships>
</file>

<file path=ppt/slideLayouts/_rels/slideLayout1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8.xml"/></Relationships>
</file>

<file path=ppt/slideLayouts/_rels/slideLayout1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79.xml"/></Relationships>
</file>

<file path=ppt/slideLayouts/_rels/slideLayout1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80.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6.xml"/><Relationship Id="rId1" Type="http://schemas.openxmlformats.org/officeDocument/2006/relationships/tags" Target="../tags/tag181.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6.xml"/><Relationship Id="rId1" Type="http://schemas.openxmlformats.org/officeDocument/2006/relationships/tags" Target="../tags/tag182.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6.xml"/><Relationship Id="rId1" Type="http://schemas.openxmlformats.org/officeDocument/2006/relationships/tags" Target="../tags/tag183.xml"/></Relationships>
</file>

<file path=ppt/slideLayouts/_rels/slideLayout1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84.xml"/></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85.xml"/></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86.xml"/></Relationships>
</file>

<file path=ppt/slideLayouts/_rels/slideLayout1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87.xml"/></Relationships>
</file>

<file path=ppt/slideLayouts/_rels/slideLayout1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88.xml"/></Relationships>
</file>

<file path=ppt/slideLayouts/_rels/slideLayout1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89.xml"/></Relationships>
</file>

<file path=ppt/slideLayouts/_rels/slideLayout1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90.xml"/></Relationships>
</file>

<file path=ppt/slideLayouts/_rels/slideLayout17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91.xml"/></Relationships>
</file>

<file path=ppt/slideLayouts/_rels/slideLayout17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92.xml"/></Relationships>
</file>

<file path=ppt/slideLayouts/_rels/slideLayout18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93.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Master" Target="../slideMasters/slideMaster6.xml"/><Relationship Id="rId1" Type="http://schemas.openxmlformats.org/officeDocument/2006/relationships/tags" Target="../tags/tag194.xml"/></Relationships>
</file>

<file path=ppt/slideLayouts/_rels/slideLayout18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95.xml"/></Relationships>
</file>

<file path=ppt/slideLayouts/_rels/slideLayout18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96.xml"/></Relationships>
</file>

<file path=ppt/slideLayouts/_rels/slideLayout18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9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lumMod val="95000"/>
          </a:schemeClr>
        </a:solid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832344CB-3534-45AD-AFD7-41E2E682067F}"/>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b="4849"/>
          <a:stretch/>
        </p:blipFill>
        <p:spPr bwMode="gray">
          <a:xfrm>
            <a:off x="4830612" y="-10346"/>
            <a:ext cx="7358214" cy="6735001"/>
          </a:xfrm>
          <a:prstGeom prst="rect">
            <a:avLst/>
          </a:prstGeom>
        </p:spPr>
      </p:pic>
      <p:sp>
        <p:nvSpPr>
          <p:cNvPr id="49" name="Title 1"/>
          <p:cNvSpPr>
            <a:spLocks noGrp="1"/>
          </p:cNvSpPr>
          <p:nvPr userDrawn="1">
            <p:ph type="ctrTitle"/>
          </p:nvPr>
        </p:nvSpPr>
        <p:spPr bwMode="gray">
          <a:xfrm>
            <a:off x="448056" y="923544"/>
            <a:ext cx="4233672" cy="1901952"/>
          </a:xfrm>
        </p:spPr>
        <p:txBody>
          <a:bodyPr vert="horz" lIns="0" tIns="0" rIns="0" bIns="0" rtlCol="0" anchor="t" anchorCtr="0">
            <a:noAutofit/>
          </a:bodyPr>
          <a:lstStyle>
            <a:lvl1pPr>
              <a:spcBef>
                <a:spcPts val="0"/>
              </a:spcBef>
              <a:defRPr lang="en-US" sz="3400"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6" y="3849624"/>
            <a:ext cx="4233672" cy="905256"/>
          </a:xfrm>
        </p:spPr>
        <p:txBody>
          <a:bodyPr lIns="0" tIns="0" rIns="0" bIns="0" anchor="b" anchorCtr="0"/>
          <a:lstStyle>
            <a:lvl1pPr marL="0" indent="0">
              <a:spcBef>
                <a:spcPts val="600"/>
              </a:spcBef>
              <a:buNone/>
              <a:defRPr sz="1800">
                <a:solidFill>
                  <a:schemeClr val="tx1"/>
                </a:solidFill>
                <a:latin typeface="+mn-lt"/>
              </a:defRPr>
            </a:lvl1pPr>
            <a:lvl2pPr marL="400050" indent="0">
              <a:buNone/>
              <a:defRPr/>
            </a:lvl2pPr>
            <a:lvl3pPr marL="742950" indent="0">
              <a:buNone/>
              <a:defRPr/>
            </a:lvl3pPr>
            <a:lvl4pPr marL="1095375" indent="0">
              <a:buNone/>
              <a:defRPr/>
            </a:lvl4pPr>
            <a:lvl5pPr marL="1370012"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6"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798"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0" y="6216149"/>
            <a:ext cx="12188825" cy="641784"/>
          </a:xfrm>
          <a:prstGeom prst="rect">
            <a:avLst/>
          </a:prstGeom>
          <a:solidFill>
            <a:schemeClr val="lt1"/>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4" cstate="email">
            <a:extLst>
              <a:ext uri="{28A0092B-C50C-407E-A947-70E740481C1C}">
                <a14:useLocalDpi xmlns:a14="http://schemas.microsoft.com/office/drawing/2010/main"/>
              </a:ext>
            </a:extLst>
          </a:blip>
          <a:srcRect t="787" b="787"/>
          <a:stretch/>
        </p:blipFill>
        <p:spPr bwMode="gray">
          <a:xfrm>
            <a:off x="446798" y="6346662"/>
            <a:ext cx="914400" cy="371811"/>
          </a:xfrm>
          <a:prstGeom prst="rect">
            <a:avLst/>
          </a:prstGeom>
          <a:noFill/>
          <a:ln>
            <a:noFill/>
          </a:ln>
        </p:spPr>
      </p:pic>
    </p:spTree>
    <p:custDataLst>
      <p:tags r:id="rId1"/>
    </p:custDataLst>
    <p:extLst>
      <p:ext uri="{BB962C8B-B14F-4D97-AF65-F5344CB8AC3E}">
        <p14:creationId xmlns:p14="http://schemas.microsoft.com/office/powerpoint/2010/main" val="3251514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Slide">
    <p:bg bwMode="gray">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Placeholder 4" descr="A picture containing accessory, umbrella, sunglasses, spectacles&#10;&#10;Description automatically generated">
            <a:extLst>
              <a:ext uri="{FF2B5EF4-FFF2-40B4-BE49-F238E27FC236}">
                <a16:creationId xmlns:a16="http://schemas.microsoft.com/office/drawing/2014/main" id="{2DC16F02-BAF4-4EBA-B856-EE0B01A67E69}"/>
              </a:ext>
            </a:extLst>
          </p:cNvPr>
          <p:cNvPicPr>
            <a:picLocks noChangeAspect="1"/>
          </p:cNvPicPr>
          <p:nvPr userDrawn="1"/>
        </p:nvPicPr>
        <p:blipFill rotWithShape="1">
          <a:blip r:embed="rId3" cstate="email">
            <a:clrChange>
              <a:clrFrom>
                <a:srgbClr val="E0E0E0"/>
              </a:clrFrom>
              <a:clrTo>
                <a:srgbClr val="E0E0E0">
                  <a:alpha val="0"/>
                </a:srgbClr>
              </a:clrTo>
            </a:clrChange>
            <a:extLst>
              <a:ext uri="{28A0092B-C50C-407E-A947-70E740481C1C}">
                <a14:useLocalDpi xmlns:a14="http://schemas.microsoft.com/office/drawing/2010/main"/>
              </a:ext>
            </a:extLst>
          </a:blip>
          <a:srcRect/>
          <a:stretch/>
        </p:blipFill>
        <p:spPr bwMode="gray">
          <a:xfrm>
            <a:off x="0" y="0"/>
            <a:ext cx="12188825" cy="6856214"/>
          </a:xfrm>
          <a:prstGeom prst="rect">
            <a:avLst/>
          </a:prstGeom>
        </p:spPr>
      </p:pic>
      <p:sp>
        <p:nvSpPr>
          <p:cNvPr id="5" name="Text Placeholder 4"/>
          <p:cNvSpPr>
            <a:spLocks noGrp="1"/>
          </p:cNvSpPr>
          <p:nvPr>
            <p:ph type="body" sz="quarter" idx="10"/>
          </p:nvPr>
        </p:nvSpPr>
        <p:spPr bwMode="gray">
          <a:xfrm>
            <a:off x="448056" y="4215384"/>
            <a:ext cx="4233672" cy="905256"/>
          </a:xfrm>
        </p:spPr>
        <p:txBody>
          <a:bodyPr lIns="0" tIns="0" rIns="0" bIns="0"/>
          <a:lstStyle>
            <a:lvl1pPr marL="0" indent="0">
              <a:spcBef>
                <a:spcPts val="600"/>
              </a:spcBef>
              <a:buNone/>
              <a:defRPr sz="1800">
                <a:solidFill>
                  <a:schemeClr val="tx1"/>
                </a:solidFill>
                <a:latin typeface="+mn-lt"/>
              </a:defRPr>
            </a:lvl1pPr>
            <a:lvl2pPr marL="400050" indent="0">
              <a:buNone/>
              <a:defRPr/>
            </a:lvl2pPr>
            <a:lvl3pPr marL="742950" indent="0">
              <a:buNone/>
              <a:defRPr/>
            </a:lvl3pPr>
            <a:lvl4pPr marL="1095375" indent="0">
              <a:buNone/>
              <a:defRPr/>
            </a:lvl4pPr>
            <a:lvl5pPr marL="1370012" indent="0">
              <a:buNone/>
              <a:defRPr/>
            </a:lvl5pPr>
          </a:lstStyle>
          <a:p>
            <a:pPr lvl="0"/>
            <a:r>
              <a:rPr lang="en-US"/>
              <a:t>Click to edit Master text styles</a:t>
            </a:r>
          </a:p>
        </p:txBody>
      </p:sp>
      <p:sp>
        <p:nvSpPr>
          <p:cNvPr id="2" name="Title 1"/>
          <p:cNvSpPr>
            <a:spLocks noGrp="1"/>
          </p:cNvSpPr>
          <p:nvPr>
            <p:ph type="ctrTitle"/>
          </p:nvPr>
        </p:nvSpPr>
        <p:spPr bwMode="gray">
          <a:xfrm>
            <a:off x="448056" y="2560320"/>
            <a:ext cx="4233672" cy="1508760"/>
          </a:xfrm>
        </p:spPr>
        <p:txBody>
          <a:bodyPr vert="horz" lIns="0" tIns="0" rIns="0" bIns="0" rtlCol="0" anchor="b" anchorCtr="0">
            <a:noAutofit/>
          </a:bodyPr>
          <a:lstStyle>
            <a:lvl1pPr>
              <a:defRPr lang="en-US" sz="2800"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0" y="6216149"/>
            <a:ext cx="12188825" cy="641784"/>
          </a:xfrm>
          <a:prstGeom prst="rect">
            <a:avLst/>
          </a:prstGeom>
          <a:solidFill>
            <a:schemeClr val="lt1"/>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4" cstate="email">
            <a:extLst>
              <a:ext uri="{28A0092B-C50C-407E-A947-70E740481C1C}">
                <a14:useLocalDpi xmlns:a14="http://schemas.microsoft.com/office/drawing/2010/main"/>
              </a:ext>
            </a:extLst>
          </a:blip>
          <a:srcRect t="787" b="787"/>
          <a:stretch/>
        </p:blipFill>
        <p:spPr bwMode="gray">
          <a:xfrm>
            <a:off x="446798" y="6346662"/>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1914639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805386-786F-0B08-8328-5E35C30F42EE}"/>
              </a:ext>
            </a:extLst>
          </p:cNvPr>
          <p:cNvSpPr>
            <a:spLocks noGrp="1"/>
          </p:cNvSpPr>
          <p:nvPr>
            <p:ph type="body" sz="quarter" idx="16" hasCustomPrompt="1"/>
          </p:nvPr>
        </p:nvSpPr>
        <p:spPr bwMode="gray">
          <a:xfrm>
            <a:off x="1571624" y="6514188"/>
            <a:ext cx="9239251" cy="173124"/>
          </a:xfrm>
        </p:spPr>
        <p:txBody>
          <a:bodyPr vert="horz" lIns="45720" tIns="27432" rIns="0" bIns="27432" rtlCol="0" anchor="b">
            <a:spAutoFit/>
          </a:bodyPr>
          <a:lstStyle>
            <a:lvl1pPr marL="0" indent="0">
              <a:lnSpc>
                <a:spcPct val="100000"/>
              </a:lnSpc>
              <a:buNone/>
              <a:defRPr lang="en-US" sz="900">
                <a:solidFill>
                  <a:schemeClr val="bg1">
                    <a:lumMod val="50000"/>
                  </a:schemeClr>
                </a:solidFill>
                <a:cs typeface="Arial" pitchFamily="34" charset="0"/>
              </a:defRPr>
            </a:lvl1pPr>
          </a:lstStyle>
          <a:p>
            <a:pPr marL="228600" lvl="0" indent="-228600">
              <a:lnSpc>
                <a:spcPct val="85000"/>
              </a:lnSpc>
              <a:spcBef>
                <a:spcPts val="200"/>
              </a:spcBef>
              <a:buClr>
                <a:schemeClr val="accent2"/>
              </a:buClr>
              <a:buSzPct val="85000"/>
              <a:tabLst>
                <a:tab pos="174625" algn="r"/>
                <a:tab pos="228600" algn="l"/>
              </a:tabLst>
            </a:pPr>
            <a:r>
              <a:rPr lang="en-US"/>
              <a:t>Click to edit source</a:t>
            </a:r>
          </a:p>
        </p:txBody>
      </p:sp>
    </p:spTree>
    <p:custDataLst>
      <p:tags r:id="rId1"/>
    </p:custDataLst>
    <p:extLst>
      <p:ext uri="{BB962C8B-B14F-4D97-AF65-F5344CB8AC3E}">
        <p14:creationId xmlns:p14="http://schemas.microsoft.com/office/powerpoint/2010/main" val="28284165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_Title and Footnot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4" name="Text Placeholder 16">
            <a:extLst>
              <a:ext uri="{FF2B5EF4-FFF2-40B4-BE49-F238E27FC236}">
                <a16:creationId xmlns:a16="http://schemas.microsoft.com/office/drawing/2014/main" id="{FCDC9E86-CC9E-4C86-DBDD-B34138A87870}"/>
              </a:ext>
            </a:extLst>
          </p:cNvPr>
          <p:cNvSpPr>
            <a:spLocks noGrp="1"/>
          </p:cNvSpPr>
          <p:nvPr>
            <p:ph type="body" sz="quarter" idx="16"/>
          </p:nvPr>
        </p:nvSpPr>
        <p:spPr>
          <a:xfrm>
            <a:off x="1571625" y="6564681"/>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733126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900" kern="1200" dirty="0">
                <a:solidFill>
                  <a:schemeClr val="bg1">
                    <a:lumMod val="50000"/>
                  </a:schemeClr>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872625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534668"/>
            <a:ext cx="11292840" cy="3950208"/>
          </a:xfrm>
        </p:spPr>
        <p:txBody>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p:cNvSpPr>
            <a:spLocks noGrp="1"/>
          </p:cNvSpPr>
          <p:nvPr>
            <p:ph type="body" sz="quarter" idx="15" hasCustomPrompt="1"/>
          </p:nvPr>
        </p:nvSpPr>
        <p:spPr bwMode="gray">
          <a:xfrm>
            <a:off x="448055" y="10408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4" name="Text Placeholder 16">
            <a:extLst>
              <a:ext uri="{FF2B5EF4-FFF2-40B4-BE49-F238E27FC236}">
                <a16:creationId xmlns:a16="http://schemas.microsoft.com/office/drawing/2014/main" id="{CE74780C-0F98-5493-FE5F-5FA47A8C7074}"/>
              </a:ext>
            </a:extLst>
          </p:cNvPr>
          <p:cNvSpPr>
            <a:spLocks noGrp="1"/>
          </p:cNvSpPr>
          <p:nvPr>
            <p:ph type="body" sz="quarter" idx="17"/>
          </p:nvPr>
        </p:nvSpPr>
        <p:spPr>
          <a:xfrm>
            <a:off x="1571625" y="6564681"/>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2888828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900" indent="-342900">
              <a:buFont typeface="+mj-lt"/>
              <a:buAutoNum type="arabicPeriod"/>
              <a:defRPr/>
            </a:lvl1pPr>
            <a:lvl2pPr marL="571500" indent="-169863">
              <a:defRPr/>
            </a:lvl2pPr>
            <a:lvl3pPr marL="742950" indent="-171450">
              <a:defRPr/>
            </a:lvl3pPr>
            <a:lvl4pPr marL="971550" indent="-171450">
              <a:defRPr/>
            </a:lvl4pPr>
            <a:lvl5pPr marL="1171575" indent="-14287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600485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268803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7367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4150799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6"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5"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197000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6"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5"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398740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600"/>
            </a:lvl1pPr>
            <a:lvl2pPr marL="461963" indent="-233363">
              <a:defRPr sz="3200"/>
            </a:lvl2pPr>
            <a:lvl3pPr marL="738188" indent="-225425">
              <a:defRPr sz="2800"/>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820451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600">
                <a:solidFill>
                  <a:schemeClr val="bg1"/>
                </a:solidFill>
              </a:defRPr>
            </a:lvl1pPr>
            <a:lvl2pPr marL="461963" indent="-233363">
              <a:defRPr sz="3200">
                <a:solidFill>
                  <a:schemeClr val="bg1"/>
                </a:solidFill>
              </a:defRPr>
            </a:lvl2pPr>
            <a:lvl3pPr marL="738188" indent="-225425">
              <a:defRPr sz="28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2"/>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798"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3184824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7" y="923544"/>
            <a:ext cx="4233672" cy="1901952"/>
          </a:xfrm>
        </p:spPr>
        <p:txBody>
          <a:bodyPr vert="horz" lIns="0" tIns="0" rIns="0" bIns="0" rtlCol="0" anchor="t" anchorCtr="0">
            <a:noAutofit/>
          </a:bodyPr>
          <a:lstStyle>
            <a:lvl1pPr>
              <a:spcBef>
                <a:spcPts val="0"/>
              </a:spcBef>
              <a:defRPr lang="en-US" sz="3399"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7" y="3849624"/>
            <a:ext cx="4233672" cy="905256"/>
          </a:xfrm>
        </p:spPr>
        <p:txBody>
          <a:bodyPr lIns="0" tIns="0" rIns="0" bIns="0" anchor="b" anchorCtr="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7"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799"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Tree>
    <p:custDataLst>
      <p:tags r:id="rId1"/>
    </p:custDataLst>
    <p:extLst>
      <p:ext uri="{BB962C8B-B14F-4D97-AF65-F5344CB8AC3E}">
        <p14:creationId xmlns:p14="http://schemas.microsoft.com/office/powerpoint/2010/main" val="4136826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7" y="4215384"/>
            <a:ext cx="4233672" cy="905256"/>
          </a:xfrm>
        </p:spPr>
        <p:txBody>
          <a:bodyPr lIns="0" tIns="0" rIns="0" bIns="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2" name="Title 1"/>
          <p:cNvSpPr>
            <a:spLocks noGrp="1"/>
          </p:cNvSpPr>
          <p:nvPr>
            <p:ph type="ctrTitle"/>
          </p:nvPr>
        </p:nvSpPr>
        <p:spPr bwMode="gray">
          <a:xfrm>
            <a:off x="448057" y="2560320"/>
            <a:ext cx="4233672" cy="1508760"/>
          </a:xfrm>
        </p:spPr>
        <p:txBody>
          <a:bodyPr vert="horz" lIns="0" tIns="0" rIns="0" bIns="0" rtlCol="0" anchor="b" anchorCtr="0">
            <a:noAutofit/>
          </a:bodyPr>
          <a:lstStyle>
            <a:lvl1pPr>
              <a:defRPr lang="en-US" sz="2799"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749815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7597883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2089894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0686723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797" indent="-342797">
              <a:buFont typeface="+mj-lt"/>
              <a:buAutoNum type="arabicPeriod"/>
              <a:defRPr/>
            </a:lvl1pPr>
            <a:lvl2pPr marL="571329" indent="-169812">
              <a:defRPr/>
            </a:lvl2pPr>
            <a:lvl3pPr marL="742727" indent="-171399">
              <a:defRPr/>
            </a:lvl3pPr>
            <a:lvl4pPr marL="971259" indent="-171399">
              <a:defRPr/>
            </a:lvl4pPr>
            <a:lvl5pPr marL="1171224" indent="-14283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131327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26831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5864257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2853787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6"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9098432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6"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8495173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9"/>
            </a:lvl1pPr>
            <a:lvl2pPr marL="461824" indent="-233293">
              <a:defRPr sz="3199"/>
            </a:lvl2pPr>
            <a:lvl3pPr marL="737967" indent="-225357">
              <a:defRPr sz="2799"/>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983956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9">
                <a:solidFill>
                  <a:schemeClr val="bg1"/>
                </a:solidFill>
              </a:defRPr>
            </a:lvl1pPr>
            <a:lvl2pPr marL="461824" indent="-233293">
              <a:defRPr sz="3199">
                <a:solidFill>
                  <a:schemeClr val="bg1"/>
                </a:solidFill>
              </a:defRPr>
            </a:lvl2pPr>
            <a:lvl3pPr marL="737967" indent="-225357">
              <a:defRPr sz="2799">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4"/>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799"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35748060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984287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8808629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7_Title and Content, Box">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09B7312-1A43-6E61-2A5A-F4C2A8FC14A5}"/>
              </a:ext>
            </a:extLst>
          </p:cNvPr>
          <p:cNvSpPr>
            <a:spLocks noGrp="1"/>
          </p:cNvSpPr>
          <p:nvPr>
            <p:ph type="title"/>
          </p:nvPr>
        </p:nvSpPr>
        <p:spPr bwMode="gray">
          <a:xfrm>
            <a:off x="1141412" y="152400"/>
            <a:ext cx="10598226" cy="400110"/>
          </a:xfrm>
        </p:spPr>
        <p:txBody>
          <a:bodyPr/>
          <a:lstStyle>
            <a:lvl1pPr>
              <a:defRPr sz="1999"/>
            </a:lvl1pPr>
          </a:lstStyle>
          <a:p>
            <a:r>
              <a:rPr lang="en-US"/>
              <a:t>Click to edit Master title style</a:t>
            </a:r>
          </a:p>
        </p:txBody>
      </p:sp>
    </p:spTree>
    <p:custDataLst>
      <p:tags r:id="rId1"/>
    </p:custDataLst>
    <p:extLst>
      <p:ext uri="{BB962C8B-B14F-4D97-AF65-F5344CB8AC3E}">
        <p14:creationId xmlns:p14="http://schemas.microsoft.com/office/powerpoint/2010/main" val="26565550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94360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900" kern="1200" dirty="0">
                <a:solidFill>
                  <a:schemeClr val="tx1">
                    <a:lumMod val="65000"/>
                    <a:lumOff val="35000"/>
                  </a:schemeClr>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1645644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1885238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94360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900" kern="1200" dirty="0">
                <a:solidFill>
                  <a:schemeClr val="tx1">
                    <a:lumMod val="65000"/>
                    <a:lumOff val="35000"/>
                  </a:schemeClr>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9246080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7" y="923544"/>
            <a:ext cx="4233672" cy="1901952"/>
          </a:xfrm>
        </p:spPr>
        <p:txBody>
          <a:bodyPr vert="horz" lIns="0" tIns="0" rIns="0" bIns="0" rtlCol="0" anchor="t" anchorCtr="0">
            <a:noAutofit/>
          </a:bodyPr>
          <a:lstStyle>
            <a:lvl1pPr>
              <a:spcBef>
                <a:spcPts val="0"/>
              </a:spcBef>
              <a:defRPr lang="en-US" sz="3399"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7" y="3849624"/>
            <a:ext cx="4233672" cy="905256"/>
          </a:xfrm>
        </p:spPr>
        <p:txBody>
          <a:bodyPr lIns="0" tIns="0" rIns="0" bIns="0" anchor="b" anchorCtr="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7"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799"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Tree>
    <p:custDataLst>
      <p:tags r:id="rId1"/>
    </p:custDataLst>
    <p:extLst>
      <p:ext uri="{BB962C8B-B14F-4D97-AF65-F5344CB8AC3E}">
        <p14:creationId xmlns:p14="http://schemas.microsoft.com/office/powerpoint/2010/main" val="9382366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7" y="4215384"/>
            <a:ext cx="4233672" cy="905256"/>
          </a:xfrm>
        </p:spPr>
        <p:txBody>
          <a:bodyPr lIns="0" tIns="0" rIns="0" bIns="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2" name="Title 1"/>
          <p:cNvSpPr>
            <a:spLocks noGrp="1"/>
          </p:cNvSpPr>
          <p:nvPr>
            <p:ph type="ctrTitle"/>
          </p:nvPr>
        </p:nvSpPr>
        <p:spPr bwMode="gray">
          <a:xfrm>
            <a:off x="448057" y="2560320"/>
            <a:ext cx="4233672" cy="1508760"/>
          </a:xfrm>
        </p:spPr>
        <p:txBody>
          <a:bodyPr vert="horz" lIns="0" tIns="0" rIns="0" bIns="0" rtlCol="0" anchor="b" anchorCtr="0">
            <a:noAutofit/>
          </a:bodyPr>
          <a:lstStyle>
            <a:lvl1pPr>
              <a:defRPr lang="en-US" sz="2799"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42127159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805386-786F-0B08-8328-5E35C30F42EE}"/>
              </a:ext>
            </a:extLst>
          </p:cNvPr>
          <p:cNvSpPr>
            <a:spLocks noGrp="1"/>
          </p:cNvSpPr>
          <p:nvPr>
            <p:ph type="body" sz="quarter" idx="16" hasCustomPrompt="1"/>
          </p:nvPr>
        </p:nvSpPr>
        <p:spPr bwMode="gray">
          <a:xfrm>
            <a:off x="1571625" y="6514188"/>
            <a:ext cx="9239251" cy="173124"/>
          </a:xfrm>
        </p:spPr>
        <p:txBody>
          <a:bodyPr vert="horz" lIns="45720" tIns="27432" rIns="0" bIns="27432" rtlCol="0" anchor="b">
            <a:spAutoFit/>
          </a:bodyPr>
          <a:lstStyle>
            <a:lvl1pPr marL="0" indent="0">
              <a:lnSpc>
                <a:spcPct val="100000"/>
              </a:lnSpc>
              <a:buNone/>
              <a:defRPr lang="en-US" sz="900">
                <a:solidFill>
                  <a:schemeClr val="bg1">
                    <a:lumMod val="50000"/>
                  </a:schemeClr>
                </a:solidFill>
                <a:cs typeface="Arial" pitchFamily="34" charset="0"/>
              </a:defRPr>
            </a:lvl1pPr>
          </a:lstStyle>
          <a:p>
            <a:pPr marL="228531" lvl="0" indent="-228531">
              <a:lnSpc>
                <a:spcPct val="85000"/>
              </a:lnSpc>
              <a:spcBef>
                <a:spcPts val="200"/>
              </a:spcBef>
              <a:buClr>
                <a:schemeClr val="accent2"/>
              </a:buClr>
              <a:buSzPct val="85000"/>
              <a:tabLst>
                <a:tab pos="174573" algn="r"/>
                <a:tab pos="228531" algn="l"/>
              </a:tabLst>
            </a:pPr>
            <a:r>
              <a:rPr lang="en-US"/>
              <a:t>Click to edit source</a:t>
            </a:r>
          </a:p>
        </p:txBody>
      </p:sp>
    </p:spTree>
    <p:custDataLst>
      <p:tags r:id="rId1"/>
    </p:custDataLst>
    <p:extLst>
      <p:ext uri="{BB962C8B-B14F-4D97-AF65-F5344CB8AC3E}">
        <p14:creationId xmlns:p14="http://schemas.microsoft.com/office/powerpoint/2010/main" val="16375106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_Title and Footnot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4" name="Text Placeholder 16">
            <a:extLst>
              <a:ext uri="{FF2B5EF4-FFF2-40B4-BE49-F238E27FC236}">
                <a16:creationId xmlns:a16="http://schemas.microsoft.com/office/drawing/2014/main" id="{FCDC9E86-CC9E-4C86-DBDD-B34138A87870}"/>
              </a:ext>
            </a:extLst>
          </p:cNvPr>
          <p:cNvSpPr>
            <a:spLocks noGrp="1"/>
          </p:cNvSpPr>
          <p:nvPr>
            <p:ph type="body" sz="quarter" idx="16"/>
          </p:nvPr>
        </p:nvSpPr>
        <p:spPr>
          <a:xfrm>
            <a:off x="1571625" y="6564683"/>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18293980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900" kern="1200" dirty="0">
                <a:solidFill>
                  <a:schemeClr val="bg1">
                    <a:lumMod val="50000"/>
                  </a:schemeClr>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1993063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534668"/>
            <a:ext cx="11292840" cy="3950208"/>
          </a:xfrm>
        </p:spPr>
        <p:txBody>
          <a:bodyPr/>
          <a:lstStyle>
            <a:lvl1pPr>
              <a:defRPr sz="1799"/>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p:cNvSpPr>
            <a:spLocks noGrp="1"/>
          </p:cNvSpPr>
          <p:nvPr>
            <p:ph type="body" sz="quarter" idx="15" hasCustomPrompt="1"/>
          </p:nvPr>
        </p:nvSpPr>
        <p:spPr bwMode="gray">
          <a:xfrm>
            <a:off x="448055" y="10408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4" name="Text Placeholder 16">
            <a:extLst>
              <a:ext uri="{FF2B5EF4-FFF2-40B4-BE49-F238E27FC236}">
                <a16:creationId xmlns:a16="http://schemas.microsoft.com/office/drawing/2014/main" id="{CE74780C-0F98-5493-FE5F-5FA47A8C7074}"/>
              </a:ext>
            </a:extLst>
          </p:cNvPr>
          <p:cNvSpPr>
            <a:spLocks noGrp="1"/>
          </p:cNvSpPr>
          <p:nvPr>
            <p:ph type="body" sz="quarter" idx="17"/>
          </p:nvPr>
        </p:nvSpPr>
        <p:spPr>
          <a:xfrm>
            <a:off x="1571625" y="6564683"/>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6780766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797" indent="-342797">
              <a:buFont typeface="+mj-lt"/>
              <a:buAutoNum type="arabicPeriod"/>
              <a:defRPr/>
            </a:lvl1pPr>
            <a:lvl2pPr marL="571329" indent="-169812">
              <a:defRPr/>
            </a:lvl2pPr>
            <a:lvl3pPr marL="742727" indent="-171399">
              <a:defRPr/>
            </a:lvl3pPr>
            <a:lvl4pPr marL="971259" indent="-171399">
              <a:defRPr/>
            </a:lvl4pPr>
            <a:lvl5pPr marL="1171224" indent="-14283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7563036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4635855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9625708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7173373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6"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5149746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6"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2220581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9"/>
            </a:lvl1pPr>
            <a:lvl2pPr marL="461824" indent="-233293">
              <a:defRPr sz="3199"/>
            </a:lvl2pPr>
            <a:lvl3pPr marL="737967" indent="-225357">
              <a:defRPr sz="2799"/>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0501884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9">
                <a:solidFill>
                  <a:schemeClr val="bg1"/>
                </a:solidFill>
              </a:defRPr>
            </a:lvl1pPr>
            <a:lvl2pPr marL="461824" indent="-233293">
              <a:defRPr sz="3199">
                <a:solidFill>
                  <a:schemeClr val="bg1"/>
                </a:solidFill>
              </a:defRPr>
            </a:lvl2pPr>
            <a:lvl3pPr marL="737967" indent="-225357">
              <a:defRPr sz="2799">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4"/>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799"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40304508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8" y="923544"/>
            <a:ext cx="4233672" cy="1901952"/>
          </a:xfrm>
        </p:spPr>
        <p:txBody>
          <a:bodyPr vert="horz" lIns="0" tIns="0" rIns="0" bIns="0" rtlCol="0" anchor="t" anchorCtr="0">
            <a:noAutofit/>
          </a:bodyPr>
          <a:lstStyle>
            <a:lvl1pPr>
              <a:spcBef>
                <a:spcPts val="0"/>
              </a:spcBef>
              <a:defRPr lang="en-US" sz="3398"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8" y="3849624"/>
            <a:ext cx="4233672" cy="905256"/>
          </a:xfrm>
        </p:spPr>
        <p:txBody>
          <a:bodyPr lIns="0" tIns="0" rIns="0" bIns="0" anchor="b" anchorCtr="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8"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800"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Tree>
    <p:custDataLst>
      <p:tags r:id="rId1"/>
    </p:custDataLst>
    <p:extLst>
      <p:ext uri="{BB962C8B-B14F-4D97-AF65-F5344CB8AC3E}">
        <p14:creationId xmlns:p14="http://schemas.microsoft.com/office/powerpoint/2010/main" val="37976113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8" y="4215384"/>
            <a:ext cx="4233672" cy="905256"/>
          </a:xfrm>
        </p:spPr>
        <p:txBody>
          <a:bodyPr lIns="0" tIns="0" rIns="0" bIns="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2" name="Title 1"/>
          <p:cNvSpPr>
            <a:spLocks noGrp="1"/>
          </p:cNvSpPr>
          <p:nvPr>
            <p:ph type="ctrTitle"/>
          </p:nvPr>
        </p:nvSpPr>
        <p:spPr bwMode="gray">
          <a:xfrm>
            <a:off x="448058" y="2560320"/>
            <a:ext cx="4233672" cy="1508760"/>
          </a:xfrm>
        </p:spPr>
        <p:txBody>
          <a:bodyPr vert="horz" lIns="0" tIns="0" rIns="0" bIns="0" rtlCol="0" anchor="b" anchorCtr="0">
            <a:noAutofit/>
          </a:bodyPr>
          <a:lstStyle>
            <a:lvl1pPr>
              <a:defRPr lang="en-US" sz="2798"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7145388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3091996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40026313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8386901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694" indent="-342694">
              <a:buFont typeface="+mj-lt"/>
              <a:buAutoNum type="arabicPeriod"/>
              <a:defRPr/>
            </a:lvl1pPr>
            <a:lvl2pPr marL="571158" indent="-169761">
              <a:defRPr/>
            </a:lvl2pPr>
            <a:lvl3pPr marL="742504" indent="-171348">
              <a:defRPr/>
            </a:lvl3pPr>
            <a:lvl4pPr marL="970968" indent="-171348">
              <a:defRPr/>
            </a:lvl4pPr>
            <a:lvl5pPr marL="1170873" indent="-142789">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0753656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7061844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1044295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642761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7"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0578535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6943899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8"/>
            </a:lvl1pPr>
            <a:lvl2pPr marL="461685" indent="-233223">
              <a:defRPr sz="3198"/>
            </a:lvl2pPr>
            <a:lvl3pPr marL="737746" indent="-225289">
              <a:defRPr sz="2798"/>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0729914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_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8">
                <a:solidFill>
                  <a:schemeClr val="bg1"/>
                </a:solidFill>
              </a:defRPr>
            </a:lvl1pPr>
            <a:lvl2pPr marL="461685" indent="-233223">
              <a:defRPr sz="3198">
                <a:solidFill>
                  <a:schemeClr val="bg1"/>
                </a:solidFill>
              </a:defRPr>
            </a:lvl2pPr>
            <a:lvl3pPr marL="737746" indent="-225289">
              <a:defRPr sz="2798">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6"/>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800"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21009403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9557283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5926703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7_Title and Content, Box">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09B7312-1A43-6E61-2A5A-F4C2A8FC14A5}"/>
              </a:ext>
            </a:extLst>
          </p:cNvPr>
          <p:cNvSpPr>
            <a:spLocks noGrp="1"/>
          </p:cNvSpPr>
          <p:nvPr>
            <p:ph type="title"/>
          </p:nvPr>
        </p:nvSpPr>
        <p:spPr bwMode="gray">
          <a:xfrm>
            <a:off x="1141412" y="152400"/>
            <a:ext cx="10598226" cy="400110"/>
          </a:xfrm>
        </p:spPr>
        <p:txBody>
          <a:bodyPr/>
          <a:lstStyle>
            <a:lvl1pPr>
              <a:defRPr sz="1998"/>
            </a:lvl1pPr>
          </a:lstStyle>
          <a:p>
            <a:r>
              <a:rPr lang="en-US"/>
              <a:t>Click to edit Master title style</a:t>
            </a:r>
          </a:p>
        </p:txBody>
      </p:sp>
    </p:spTree>
    <p:custDataLst>
      <p:tags r:id="rId1"/>
    </p:custDataLst>
    <p:extLst>
      <p:ext uri="{BB962C8B-B14F-4D97-AF65-F5344CB8AC3E}">
        <p14:creationId xmlns:p14="http://schemas.microsoft.com/office/powerpoint/2010/main" val="59625855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6" y="923544"/>
            <a:ext cx="4233672" cy="1901952"/>
          </a:xfrm>
        </p:spPr>
        <p:txBody>
          <a:bodyPr vert="horz" lIns="0" tIns="0" rIns="0" bIns="0" rtlCol="0" anchor="t" anchorCtr="0">
            <a:noAutofit/>
          </a:bodyPr>
          <a:lstStyle>
            <a:lvl1pPr>
              <a:spcBef>
                <a:spcPts val="0"/>
              </a:spcBef>
              <a:defRPr lang="en-US" sz="3400"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6" y="3849624"/>
            <a:ext cx="4233672" cy="905256"/>
          </a:xfrm>
        </p:spPr>
        <p:txBody>
          <a:bodyPr lIns="0" tIns="0" rIns="0" bIns="0" anchor="b" anchorCtr="0"/>
          <a:lstStyle>
            <a:lvl1pPr marL="0" indent="0">
              <a:spcBef>
                <a:spcPts val="600"/>
              </a:spcBef>
              <a:buNone/>
              <a:defRPr sz="1800">
                <a:solidFill>
                  <a:schemeClr val="tx1"/>
                </a:solidFill>
                <a:latin typeface="+mn-lt"/>
              </a:defRPr>
            </a:lvl1pPr>
            <a:lvl2pPr marL="400050" indent="0">
              <a:buNone/>
              <a:defRPr/>
            </a:lvl2pPr>
            <a:lvl3pPr marL="742950" indent="0">
              <a:buNone/>
              <a:defRPr/>
            </a:lvl3pPr>
            <a:lvl4pPr marL="1095375" indent="0">
              <a:buNone/>
              <a:defRPr/>
            </a:lvl4pPr>
            <a:lvl5pPr marL="1370012"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6"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798"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0" y="6216149"/>
            <a:ext cx="12188825" cy="641784"/>
          </a:xfrm>
          <a:prstGeom prst="rect">
            <a:avLst/>
          </a:prstGeom>
          <a:solidFill>
            <a:schemeClr val="lt1"/>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2"/>
            <a:ext cx="914400" cy="371811"/>
          </a:xfrm>
          <a:prstGeom prst="rect">
            <a:avLst/>
          </a:prstGeom>
          <a:noFill/>
          <a:ln>
            <a:noFill/>
          </a:ln>
        </p:spPr>
      </p:pic>
    </p:spTree>
    <p:custDataLst>
      <p:tags r:id="rId1"/>
    </p:custDataLst>
    <p:extLst>
      <p:ext uri="{BB962C8B-B14F-4D97-AF65-F5344CB8AC3E}">
        <p14:creationId xmlns:p14="http://schemas.microsoft.com/office/powerpoint/2010/main" val="36050968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6" y="4215384"/>
            <a:ext cx="4233672" cy="905256"/>
          </a:xfrm>
        </p:spPr>
        <p:txBody>
          <a:bodyPr lIns="0" tIns="0" rIns="0" bIns="0"/>
          <a:lstStyle>
            <a:lvl1pPr marL="0" indent="0">
              <a:spcBef>
                <a:spcPts val="600"/>
              </a:spcBef>
              <a:buNone/>
              <a:defRPr sz="1800">
                <a:solidFill>
                  <a:schemeClr val="tx1"/>
                </a:solidFill>
                <a:latin typeface="+mn-lt"/>
              </a:defRPr>
            </a:lvl1pPr>
            <a:lvl2pPr marL="400050" indent="0">
              <a:buNone/>
              <a:defRPr/>
            </a:lvl2pPr>
            <a:lvl3pPr marL="742950" indent="0">
              <a:buNone/>
              <a:defRPr/>
            </a:lvl3pPr>
            <a:lvl4pPr marL="1095375" indent="0">
              <a:buNone/>
              <a:defRPr/>
            </a:lvl4pPr>
            <a:lvl5pPr marL="1370012" indent="0">
              <a:buNone/>
              <a:defRPr/>
            </a:lvl5pPr>
          </a:lstStyle>
          <a:p>
            <a:pPr lvl="0"/>
            <a:r>
              <a:rPr lang="en-US"/>
              <a:t>Click to edit Master text styles</a:t>
            </a:r>
          </a:p>
        </p:txBody>
      </p:sp>
      <p:sp>
        <p:nvSpPr>
          <p:cNvPr id="2" name="Title 1"/>
          <p:cNvSpPr>
            <a:spLocks noGrp="1"/>
          </p:cNvSpPr>
          <p:nvPr>
            <p:ph type="ctrTitle"/>
          </p:nvPr>
        </p:nvSpPr>
        <p:spPr bwMode="gray">
          <a:xfrm>
            <a:off x="448056" y="2560320"/>
            <a:ext cx="4233672" cy="1508760"/>
          </a:xfrm>
        </p:spPr>
        <p:txBody>
          <a:bodyPr vert="horz" lIns="0" tIns="0" rIns="0" bIns="0" rtlCol="0" anchor="b" anchorCtr="0">
            <a:noAutofit/>
          </a:bodyPr>
          <a:lstStyle>
            <a:lvl1pPr>
              <a:defRPr lang="en-US" sz="2800"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0" y="6216149"/>
            <a:ext cx="12188825" cy="641784"/>
          </a:xfrm>
          <a:prstGeom prst="rect">
            <a:avLst/>
          </a:prstGeom>
          <a:solidFill>
            <a:schemeClr val="lt1"/>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2"/>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42161710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805386-786F-0B08-8328-5E35C30F42EE}"/>
              </a:ext>
            </a:extLst>
          </p:cNvPr>
          <p:cNvSpPr>
            <a:spLocks noGrp="1"/>
          </p:cNvSpPr>
          <p:nvPr>
            <p:ph type="body" sz="quarter" idx="16" hasCustomPrompt="1"/>
          </p:nvPr>
        </p:nvSpPr>
        <p:spPr bwMode="gray">
          <a:xfrm>
            <a:off x="1571624" y="6514188"/>
            <a:ext cx="9239251" cy="173124"/>
          </a:xfrm>
        </p:spPr>
        <p:txBody>
          <a:bodyPr vert="horz" lIns="45720" tIns="27432" rIns="0" bIns="27432" rtlCol="0" anchor="b">
            <a:spAutoFit/>
          </a:bodyPr>
          <a:lstStyle>
            <a:lvl1pPr marL="0" indent="0">
              <a:lnSpc>
                <a:spcPct val="100000"/>
              </a:lnSpc>
              <a:buNone/>
              <a:defRPr lang="en-US" sz="900">
                <a:solidFill>
                  <a:schemeClr val="bg1">
                    <a:lumMod val="50000"/>
                  </a:schemeClr>
                </a:solidFill>
                <a:cs typeface="Arial" pitchFamily="34" charset="0"/>
              </a:defRPr>
            </a:lvl1pPr>
          </a:lstStyle>
          <a:p>
            <a:pPr marL="228600" lvl="0" indent="-228600">
              <a:lnSpc>
                <a:spcPct val="85000"/>
              </a:lnSpc>
              <a:spcBef>
                <a:spcPts val="200"/>
              </a:spcBef>
              <a:buClr>
                <a:schemeClr val="accent2"/>
              </a:buClr>
              <a:buSzPct val="85000"/>
              <a:tabLst>
                <a:tab pos="174625" algn="r"/>
                <a:tab pos="228600" algn="l"/>
              </a:tabLst>
            </a:pPr>
            <a:r>
              <a:rPr lang="en-US"/>
              <a:t>Click to edit source</a:t>
            </a:r>
          </a:p>
        </p:txBody>
      </p:sp>
    </p:spTree>
    <p:custDataLst>
      <p:tags r:id="rId1"/>
    </p:custDataLst>
    <p:extLst>
      <p:ext uri="{BB962C8B-B14F-4D97-AF65-F5344CB8AC3E}">
        <p14:creationId xmlns:p14="http://schemas.microsoft.com/office/powerpoint/2010/main" val="20806247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ust_Title and Footnot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4" name="Text Placeholder 16">
            <a:extLst>
              <a:ext uri="{FF2B5EF4-FFF2-40B4-BE49-F238E27FC236}">
                <a16:creationId xmlns:a16="http://schemas.microsoft.com/office/drawing/2014/main" id="{FCDC9E86-CC9E-4C86-DBDD-B34138A87870}"/>
              </a:ext>
            </a:extLst>
          </p:cNvPr>
          <p:cNvSpPr>
            <a:spLocks noGrp="1"/>
          </p:cNvSpPr>
          <p:nvPr>
            <p:ph type="body" sz="quarter" idx="16"/>
          </p:nvPr>
        </p:nvSpPr>
        <p:spPr>
          <a:xfrm>
            <a:off x="1571625" y="6564681"/>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95919492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900" kern="1200" dirty="0">
                <a:solidFill>
                  <a:schemeClr val="bg1">
                    <a:lumMod val="50000"/>
                  </a:schemeClr>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407367387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534668"/>
            <a:ext cx="11292840" cy="3950208"/>
          </a:xfrm>
        </p:spPr>
        <p:txBody>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p:cNvSpPr>
            <a:spLocks noGrp="1"/>
          </p:cNvSpPr>
          <p:nvPr>
            <p:ph type="body" sz="quarter" idx="15" hasCustomPrompt="1"/>
          </p:nvPr>
        </p:nvSpPr>
        <p:spPr bwMode="gray">
          <a:xfrm>
            <a:off x="448055" y="10408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4" name="Text Placeholder 16">
            <a:extLst>
              <a:ext uri="{FF2B5EF4-FFF2-40B4-BE49-F238E27FC236}">
                <a16:creationId xmlns:a16="http://schemas.microsoft.com/office/drawing/2014/main" id="{CE74780C-0F98-5493-FE5F-5FA47A8C7074}"/>
              </a:ext>
            </a:extLst>
          </p:cNvPr>
          <p:cNvSpPr>
            <a:spLocks noGrp="1"/>
          </p:cNvSpPr>
          <p:nvPr>
            <p:ph type="body" sz="quarter" idx="17"/>
          </p:nvPr>
        </p:nvSpPr>
        <p:spPr>
          <a:xfrm>
            <a:off x="1571625" y="6564681"/>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22293182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900" indent="-342900">
              <a:buFont typeface="+mj-lt"/>
              <a:buAutoNum type="arabicPeriod"/>
              <a:defRPr/>
            </a:lvl1pPr>
            <a:lvl2pPr marL="571500" indent="-169863">
              <a:defRPr/>
            </a:lvl2pPr>
            <a:lvl3pPr marL="742950" indent="-171450">
              <a:defRPr/>
            </a:lvl3pPr>
            <a:lvl4pPr marL="971550" indent="-171450">
              <a:defRPr/>
            </a:lvl4pPr>
            <a:lvl5pPr marL="1171575" indent="-14287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407596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49867750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053660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64915313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6"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5"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92859543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6"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6"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5"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80870520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600"/>
            </a:lvl1pPr>
            <a:lvl2pPr marL="461963" indent="-233363">
              <a:defRPr sz="3200"/>
            </a:lvl2pPr>
            <a:lvl3pPr marL="738188" indent="-225425">
              <a:defRPr sz="2800"/>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427170878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600">
                <a:solidFill>
                  <a:schemeClr val="bg1"/>
                </a:solidFill>
              </a:defRPr>
            </a:lvl1pPr>
            <a:lvl2pPr marL="461963" indent="-233363">
              <a:defRPr sz="3200">
                <a:solidFill>
                  <a:schemeClr val="bg1"/>
                </a:solidFill>
              </a:defRPr>
            </a:lvl2pPr>
            <a:lvl3pPr marL="738188" indent="-225425">
              <a:defRPr sz="28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2"/>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798"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372496029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7" y="923544"/>
            <a:ext cx="4233672" cy="1901952"/>
          </a:xfrm>
        </p:spPr>
        <p:txBody>
          <a:bodyPr vert="horz" lIns="0" tIns="0" rIns="0" bIns="0" rtlCol="0" anchor="t" anchorCtr="0">
            <a:noAutofit/>
          </a:bodyPr>
          <a:lstStyle>
            <a:lvl1pPr>
              <a:spcBef>
                <a:spcPts val="0"/>
              </a:spcBef>
              <a:defRPr lang="en-US" sz="3399"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7" y="3849624"/>
            <a:ext cx="4233672" cy="905256"/>
          </a:xfrm>
        </p:spPr>
        <p:txBody>
          <a:bodyPr lIns="0" tIns="0" rIns="0" bIns="0" anchor="b" anchorCtr="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7"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799"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Tree>
    <p:custDataLst>
      <p:tags r:id="rId1"/>
    </p:custDataLst>
    <p:extLst>
      <p:ext uri="{BB962C8B-B14F-4D97-AF65-F5344CB8AC3E}">
        <p14:creationId xmlns:p14="http://schemas.microsoft.com/office/powerpoint/2010/main" val="335922234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_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7" y="4215384"/>
            <a:ext cx="4233672" cy="905256"/>
          </a:xfrm>
        </p:spPr>
        <p:txBody>
          <a:bodyPr lIns="0" tIns="0" rIns="0" bIns="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2" name="Title 1"/>
          <p:cNvSpPr>
            <a:spLocks noGrp="1"/>
          </p:cNvSpPr>
          <p:nvPr>
            <p:ph type="ctrTitle"/>
          </p:nvPr>
        </p:nvSpPr>
        <p:spPr bwMode="gray">
          <a:xfrm>
            <a:off x="448057" y="2560320"/>
            <a:ext cx="4233672" cy="1508760"/>
          </a:xfrm>
        </p:spPr>
        <p:txBody>
          <a:bodyPr vert="horz" lIns="0" tIns="0" rIns="0" bIns="0" rtlCol="0" anchor="b" anchorCtr="0">
            <a:noAutofit/>
          </a:bodyPr>
          <a:lstStyle>
            <a:lvl1pPr>
              <a:defRPr lang="en-US" sz="2799"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18728433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6384315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65412365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36566245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797" indent="-342797">
              <a:buFont typeface="+mj-lt"/>
              <a:buAutoNum type="arabicPeriod"/>
              <a:defRPr/>
            </a:lvl1pPr>
            <a:lvl2pPr marL="571329" indent="-169812">
              <a:defRPr/>
            </a:lvl2pPr>
            <a:lvl3pPr marL="742727" indent="-171399">
              <a:defRPr/>
            </a:lvl3pPr>
            <a:lvl4pPr marL="971259" indent="-171399">
              <a:defRPr/>
            </a:lvl4pPr>
            <a:lvl5pPr marL="1171224" indent="-14283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427581267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57386100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09172876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26319615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6"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11637764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6"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17663508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9"/>
            </a:lvl1pPr>
            <a:lvl2pPr marL="461824" indent="-233293">
              <a:defRPr sz="3199"/>
            </a:lvl2pPr>
            <a:lvl3pPr marL="737967" indent="-225357">
              <a:defRPr sz="2799"/>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95008885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9">
                <a:solidFill>
                  <a:schemeClr val="bg1"/>
                </a:solidFill>
              </a:defRPr>
            </a:lvl1pPr>
            <a:lvl2pPr marL="461824" indent="-233293">
              <a:defRPr sz="3199">
                <a:solidFill>
                  <a:schemeClr val="bg1"/>
                </a:solidFill>
              </a:defRPr>
            </a:lvl2pPr>
            <a:lvl3pPr marL="737967" indent="-225357">
              <a:defRPr sz="2799">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4"/>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799"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400100208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60100644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2"/>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84059408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7_Title and Content, Box">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09B7312-1A43-6E61-2A5A-F4C2A8FC14A5}"/>
              </a:ext>
            </a:extLst>
          </p:cNvPr>
          <p:cNvSpPr>
            <a:spLocks noGrp="1"/>
          </p:cNvSpPr>
          <p:nvPr>
            <p:ph type="title"/>
          </p:nvPr>
        </p:nvSpPr>
        <p:spPr bwMode="gray">
          <a:xfrm>
            <a:off x="1141412" y="152400"/>
            <a:ext cx="10598226" cy="400110"/>
          </a:xfrm>
        </p:spPr>
        <p:txBody>
          <a:bodyPr/>
          <a:lstStyle>
            <a:lvl1pPr>
              <a:defRPr sz="1999"/>
            </a:lvl1pPr>
          </a:lstStyle>
          <a:p>
            <a:r>
              <a:rPr lang="en-US"/>
              <a:t>Click to edit Master title style</a:t>
            </a:r>
          </a:p>
        </p:txBody>
      </p:sp>
    </p:spTree>
    <p:custDataLst>
      <p:tags r:id="rId1"/>
    </p:custDataLst>
    <p:extLst>
      <p:ext uri="{BB962C8B-B14F-4D97-AF65-F5344CB8AC3E}">
        <p14:creationId xmlns:p14="http://schemas.microsoft.com/office/powerpoint/2010/main" val="136868129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7" y="923544"/>
            <a:ext cx="4233672" cy="1901952"/>
          </a:xfrm>
        </p:spPr>
        <p:txBody>
          <a:bodyPr vert="horz" lIns="0" tIns="0" rIns="0" bIns="0" rtlCol="0" anchor="t" anchorCtr="0">
            <a:noAutofit/>
          </a:bodyPr>
          <a:lstStyle>
            <a:lvl1pPr>
              <a:spcBef>
                <a:spcPts val="0"/>
              </a:spcBef>
              <a:defRPr lang="en-US" sz="3399"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7" y="3849624"/>
            <a:ext cx="4233672" cy="905256"/>
          </a:xfrm>
        </p:spPr>
        <p:txBody>
          <a:bodyPr lIns="0" tIns="0" rIns="0" bIns="0" anchor="b" anchorCtr="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7"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799"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Tree>
    <p:custDataLst>
      <p:tags r:id="rId1"/>
    </p:custDataLst>
    <p:extLst>
      <p:ext uri="{BB962C8B-B14F-4D97-AF65-F5344CB8AC3E}">
        <p14:creationId xmlns:p14="http://schemas.microsoft.com/office/powerpoint/2010/main" val="28563294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7" y="4215384"/>
            <a:ext cx="4233672" cy="905256"/>
          </a:xfrm>
        </p:spPr>
        <p:txBody>
          <a:bodyPr lIns="0" tIns="0" rIns="0" bIns="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2" name="Title 1"/>
          <p:cNvSpPr>
            <a:spLocks noGrp="1"/>
          </p:cNvSpPr>
          <p:nvPr>
            <p:ph type="ctrTitle"/>
          </p:nvPr>
        </p:nvSpPr>
        <p:spPr bwMode="gray">
          <a:xfrm>
            <a:off x="448057" y="2560320"/>
            <a:ext cx="4233672" cy="1508760"/>
          </a:xfrm>
        </p:spPr>
        <p:txBody>
          <a:bodyPr vert="horz" lIns="0" tIns="0" rIns="0" bIns="0" rtlCol="0" anchor="b" anchorCtr="0">
            <a:noAutofit/>
          </a:bodyPr>
          <a:lstStyle>
            <a:lvl1pPr>
              <a:defRPr lang="en-US" sz="2799"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5652804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805386-786F-0B08-8328-5E35C30F42EE}"/>
              </a:ext>
            </a:extLst>
          </p:cNvPr>
          <p:cNvSpPr>
            <a:spLocks noGrp="1"/>
          </p:cNvSpPr>
          <p:nvPr>
            <p:ph type="body" sz="quarter" idx="16" hasCustomPrompt="1"/>
          </p:nvPr>
        </p:nvSpPr>
        <p:spPr bwMode="gray">
          <a:xfrm>
            <a:off x="1571625" y="6514188"/>
            <a:ext cx="9239251" cy="173124"/>
          </a:xfrm>
        </p:spPr>
        <p:txBody>
          <a:bodyPr vert="horz" lIns="45720" tIns="27432" rIns="0" bIns="27432" rtlCol="0" anchor="b">
            <a:spAutoFit/>
          </a:bodyPr>
          <a:lstStyle>
            <a:lvl1pPr marL="0" indent="0">
              <a:lnSpc>
                <a:spcPct val="100000"/>
              </a:lnSpc>
              <a:buNone/>
              <a:defRPr lang="en-US" sz="900">
                <a:solidFill>
                  <a:schemeClr val="bg1">
                    <a:lumMod val="50000"/>
                  </a:schemeClr>
                </a:solidFill>
                <a:cs typeface="Arial" pitchFamily="34" charset="0"/>
              </a:defRPr>
            </a:lvl1pPr>
          </a:lstStyle>
          <a:p>
            <a:pPr marL="228531" lvl="0" indent="-228531">
              <a:lnSpc>
                <a:spcPct val="85000"/>
              </a:lnSpc>
              <a:spcBef>
                <a:spcPts val="200"/>
              </a:spcBef>
              <a:buClr>
                <a:schemeClr val="accent2"/>
              </a:buClr>
              <a:buSzPct val="85000"/>
              <a:tabLst>
                <a:tab pos="174573" algn="r"/>
                <a:tab pos="228531" algn="l"/>
              </a:tabLst>
            </a:pPr>
            <a:r>
              <a:rPr lang="en-US"/>
              <a:t>Click to edit source</a:t>
            </a:r>
          </a:p>
        </p:txBody>
      </p:sp>
    </p:spTree>
    <p:custDataLst>
      <p:tags r:id="rId1"/>
    </p:custDataLst>
    <p:extLst>
      <p:ext uri="{BB962C8B-B14F-4D97-AF65-F5344CB8AC3E}">
        <p14:creationId xmlns:p14="http://schemas.microsoft.com/office/powerpoint/2010/main" val="21757209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ust_Title and Footnot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4" name="Text Placeholder 16">
            <a:extLst>
              <a:ext uri="{FF2B5EF4-FFF2-40B4-BE49-F238E27FC236}">
                <a16:creationId xmlns:a16="http://schemas.microsoft.com/office/drawing/2014/main" id="{FCDC9E86-CC9E-4C86-DBDD-B34138A87870}"/>
              </a:ext>
            </a:extLst>
          </p:cNvPr>
          <p:cNvSpPr>
            <a:spLocks noGrp="1"/>
          </p:cNvSpPr>
          <p:nvPr>
            <p:ph type="body" sz="quarter" idx="16"/>
          </p:nvPr>
        </p:nvSpPr>
        <p:spPr>
          <a:xfrm>
            <a:off x="1571625" y="6564683"/>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8918419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900" kern="1200" dirty="0">
                <a:solidFill>
                  <a:schemeClr val="bg1">
                    <a:lumMod val="50000"/>
                  </a:schemeClr>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8231022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534668"/>
            <a:ext cx="11292840" cy="3950208"/>
          </a:xfrm>
        </p:spPr>
        <p:txBody>
          <a:bodyPr/>
          <a:lstStyle>
            <a:lvl1pPr>
              <a:defRPr sz="1799"/>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p:cNvSpPr>
            <a:spLocks noGrp="1"/>
          </p:cNvSpPr>
          <p:nvPr>
            <p:ph type="body" sz="quarter" idx="15" hasCustomPrompt="1"/>
          </p:nvPr>
        </p:nvSpPr>
        <p:spPr bwMode="gray">
          <a:xfrm>
            <a:off x="448055" y="10408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4" name="Text Placeholder 16">
            <a:extLst>
              <a:ext uri="{FF2B5EF4-FFF2-40B4-BE49-F238E27FC236}">
                <a16:creationId xmlns:a16="http://schemas.microsoft.com/office/drawing/2014/main" id="{CE74780C-0F98-5493-FE5F-5FA47A8C7074}"/>
              </a:ext>
            </a:extLst>
          </p:cNvPr>
          <p:cNvSpPr>
            <a:spLocks noGrp="1"/>
          </p:cNvSpPr>
          <p:nvPr>
            <p:ph type="body" sz="quarter" idx="17"/>
          </p:nvPr>
        </p:nvSpPr>
        <p:spPr>
          <a:xfrm>
            <a:off x="1571625" y="6564683"/>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4093954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797" indent="-342797">
              <a:buFont typeface="+mj-lt"/>
              <a:buAutoNum type="arabicPeriod"/>
              <a:defRPr/>
            </a:lvl1pPr>
            <a:lvl2pPr marL="571329" indent="-169812">
              <a:defRPr/>
            </a:lvl2pPr>
            <a:lvl3pPr marL="742727" indent="-171399">
              <a:defRPr/>
            </a:lvl3pPr>
            <a:lvl4pPr marL="971259" indent="-171399">
              <a:defRPr/>
            </a:lvl4pPr>
            <a:lvl5pPr marL="1171224" indent="-14283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6641055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5579909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6158052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61601061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6"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8599408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6"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4450896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9"/>
            </a:lvl1pPr>
            <a:lvl2pPr marL="461824" indent="-233293">
              <a:defRPr sz="3199"/>
            </a:lvl2pPr>
            <a:lvl3pPr marL="737967" indent="-225357">
              <a:defRPr sz="2799"/>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6576569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9">
                <a:solidFill>
                  <a:schemeClr val="bg1"/>
                </a:solidFill>
              </a:defRPr>
            </a:lvl1pPr>
            <a:lvl2pPr marL="461824" indent="-233293">
              <a:defRPr sz="3199">
                <a:solidFill>
                  <a:schemeClr val="bg1"/>
                </a:solidFill>
              </a:defRPr>
            </a:lvl2pPr>
            <a:lvl3pPr marL="737967" indent="-225357">
              <a:defRPr sz="2799">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4"/>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799"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20741542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1_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8" y="923544"/>
            <a:ext cx="4233672" cy="1901952"/>
          </a:xfrm>
        </p:spPr>
        <p:txBody>
          <a:bodyPr vert="horz" lIns="0" tIns="0" rIns="0" bIns="0" rtlCol="0" anchor="t" anchorCtr="0">
            <a:noAutofit/>
          </a:bodyPr>
          <a:lstStyle>
            <a:lvl1pPr>
              <a:spcBef>
                <a:spcPts val="0"/>
              </a:spcBef>
              <a:defRPr lang="en-US" sz="3398"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8" y="3849624"/>
            <a:ext cx="4233672" cy="905256"/>
          </a:xfrm>
        </p:spPr>
        <p:txBody>
          <a:bodyPr lIns="0" tIns="0" rIns="0" bIns="0" anchor="b" anchorCtr="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8"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800"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Tree>
    <p:custDataLst>
      <p:tags r:id="rId1"/>
    </p:custDataLst>
    <p:extLst>
      <p:ext uri="{BB962C8B-B14F-4D97-AF65-F5344CB8AC3E}">
        <p14:creationId xmlns:p14="http://schemas.microsoft.com/office/powerpoint/2010/main" val="3446531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1_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8" y="4215384"/>
            <a:ext cx="4233672" cy="905256"/>
          </a:xfrm>
        </p:spPr>
        <p:txBody>
          <a:bodyPr lIns="0" tIns="0" rIns="0" bIns="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2" name="Title 1"/>
          <p:cNvSpPr>
            <a:spLocks noGrp="1"/>
          </p:cNvSpPr>
          <p:nvPr>
            <p:ph type="ctrTitle"/>
          </p:nvPr>
        </p:nvSpPr>
        <p:spPr bwMode="gray">
          <a:xfrm>
            <a:off x="448058" y="2560320"/>
            <a:ext cx="4233672" cy="1508760"/>
          </a:xfrm>
        </p:spPr>
        <p:txBody>
          <a:bodyPr vert="horz" lIns="0" tIns="0" rIns="0" bIns="0" rtlCol="0" anchor="b" anchorCtr="0">
            <a:noAutofit/>
          </a:bodyPr>
          <a:lstStyle>
            <a:lvl1pPr>
              <a:defRPr lang="en-US" sz="2798"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37045803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738289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5759329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5572806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694" indent="-342694">
              <a:buFont typeface="+mj-lt"/>
              <a:buAutoNum type="arabicPeriod"/>
              <a:defRPr/>
            </a:lvl1pPr>
            <a:lvl2pPr marL="571158" indent="-169761">
              <a:defRPr/>
            </a:lvl2pPr>
            <a:lvl3pPr marL="742504" indent="-171348">
              <a:defRPr/>
            </a:lvl3pPr>
            <a:lvl4pPr marL="970968" indent="-171348">
              <a:defRPr/>
            </a:lvl4pPr>
            <a:lvl5pPr marL="1170873" indent="-142789">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0005752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0811668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4067260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1647999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7"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7630213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7737468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8"/>
            </a:lvl1pPr>
            <a:lvl2pPr marL="461685" indent="-233223">
              <a:defRPr sz="3198"/>
            </a:lvl2pPr>
            <a:lvl3pPr marL="737746" indent="-225289">
              <a:defRPr sz="2798"/>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96512781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1_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8">
                <a:solidFill>
                  <a:schemeClr val="bg1"/>
                </a:solidFill>
              </a:defRPr>
            </a:lvl1pPr>
            <a:lvl2pPr marL="461685" indent="-233223">
              <a:defRPr sz="3198">
                <a:solidFill>
                  <a:schemeClr val="bg1"/>
                </a:solidFill>
              </a:defRPr>
            </a:lvl2pPr>
            <a:lvl3pPr marL="737746" indent="-225289">
              <a:defRPr sz="2798">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6"/>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800"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18246858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3798016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3324565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7_Title and Content, Box">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09B7312-1A43-6E61-2A5A-F4C2A8FC14A5}"/>
              </a:ext>
            </a:extLst>
          </p:cNvPr>
          <p:cNvSpPr>
            <a:spLocks noGrp="1"/>
          </p:cNvSpPr>
          <p:nvPr>
            <p:ph type="title"/>
          </p:nvPr>
        </p:nvSpPr>
        <p:spPr bwMode="gray">
          <a:xfrm>
            <a:off x="1141412" y="152400"/>
            <a:ext cx="10598226" cy="400110"/>
          </a:xfrm>
        </p:spPr>
        <p:txBody>
          <a:bodyPr/>
          <a:lstStyle>
            <a:lvl1pPr>
              <a:defRPr sz="1998"/>
            </a:lvl1pPr>
          </a:lstStyle>
          <a:p>
            <a:r>
              <a:rPr lang="en-US"/>
              <a:t>Click to edit Master title style</a:t>
            </a:r>
          </a:p>
        </p:txBody>
      </p:sp>
    </p:spTree>
    <p:custDataLst>
      <p:tags r:id="rId1"/>
    </p:custDataLst>
    <p:extLst>
      <p:ext uri="{BB962C8B-B14F-4D97-AF65-F5344CB8AC3E}">
        <p14:creationId xmlns:p14="http://schemas.microsoft.com/office/powerpoint/2010/main" val="6570622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94360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900" kern="1200" dirty="0">
                <a:solidFill>
                  <a:schemeClr val="tx1">
                    <a:lumMod val="65000"/>
                    <a:lumOff val="35000"/>
                  </a:schemeClr>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0330658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8" y="923544"/>
            <a:ext cx="4233672" cy="1901952"/>
          </a:xfrm>
        </p:spPr>
        <p:txBody>
          <a:bodyPr vert="horz" lIns="0" tIns="0" rIns="0" bIns="0" rtlCol="0" anchor="t" anchorCtr="0">
            <a:noAutofit/>
          </a:bodyPr>
          <a:lstStyle>
            <a:lvl1pPr>
              <a:spcBef>
                <a:spcPts val="0"/>
              </a:spcBef>
              <a:defRPr lang="en-US" sz="3398"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8" y="3849624"/>
            <a:ext cx="4233672" cy="905256"/>
          </a:xfrm>
        </p:spPr>
        <p:txBody>
          <a:bodyPr lIns="0" tIns="0" rIns="0" bIns="0" anchor="b" anchorCtr="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8"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800"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Tree>
    <p:custDataLst>
      <p:tags r:id="rId1"/>
    </p:custDataLst>
    <p:extLst>
      <p:ext uri="{BB962C8B-B14F-4D97-AF65-F5344CB8AC3E}">
        <p14:creationId xmlns:p14="http://schemas.microsoft.com/office/powerpoint/2010/main" val="17776770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8" y="4215384"/>
            <a:ext cx="4233672" cy="905256"/>
          </a:xfrm>
        </p:spPr>
        <p:txBody>
          <a:bodyPr lIns="0" tIns="0" rIns="0" bIns="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2" name="Title 1"/>
          <p:cNvSpPr>
            <a:spLocks noGrp="1"/>
          </p:cNvSpPr>
          <p:nvPr>
            <p:ph type="ctrTitle"/>
          </p:nvPr>
        </p:nvSpPr>
        <p:spPr bwMode="gray">
          <a:xfrm>
            <a:off x="448058" y="2560320"/>
            <a:ext cx="4233672" cy="1508760"/>
          </a:xfrm>
        </p:spPr>
        <p:txBody>
          <a:bodyPr vert="horz" lIns="0" tIns="0" rIns="0" bIns="0" rtlCol="0" anchor="b" anchorCtr="0">
            <a:noAutofit/>
          </a:bodyPr>
          <a:lstStyle>
            <a:lvl1pPr>
              <a:defRPr lang="en-US" sz="2798"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36908086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805386-786F-0B08-8328-5E35C30F42EE}"/>
              </a:ext>
            </a:extLst>
          </p:cNvPr>
          <p:cNvSpPr>
            <a:spLocks noGrp="1"/>
          </p:cNvSpPr>
          <p:nvPr>
            <p:ph type="body" sz="quarter" idx="16" hasCustomPrompt="1"/>
          </p:nvPr>
        </p:nvSpPr>
        <p:spPr bwMode="gray">
          <a:xfrm>
            <a:off x="1571626" y="6514188"/>
            <a:ext cx="9239251" cy="173124"/>
          </a:xfrm>
        </p:spPr>
        <p:txBody>
          <a:bodyPr vert="horz" lIns="45720" tIns="27432" rIns="0" bIns="27432" rtlCol="0" anchor="b">
            <a:spAutoFit/>
          </a:bodyPr>
          <a:lstStyle>
            <a:lvl1pPr marL="0" indent="0">
              <a:lnSpc>
                <a:spcPct val="100000"/>
              </a:lnSpc>
              <a:buNone/>
              <a:defRPr lang="en-US" sz="900">
                <a:solidFill>
                  <a:schemeClr val="bg1">
                    <a:lumMod val="50000"/>
                  </a:schemeClr>
                </a:solidFill>
                <a:cs typeface="Arial" pitchFamily="34" charset="0"/>
              </a:defRPr>
            </a:lvl1pPr>
          </a:lstStyle>
          <a:p>
            <a:pPr marL="228462" lvl="0" indent="-228462">
              <a:lnSpc>
                <a:spcPct val="85000"/>
              </a:lnSpc>
              <a:spcBef>
                <a:spcPts val="200"/>
              </a:spcBef>
              <a:buClr>
                <a:schemeClr val="accent2"/>
              </a:buClr>
              <a:buSzPct val="85000"/>
              <a:tabLst>
                <a:tab pos="174521" algn="r"/>
                <a:tab pos="228462" algn="l"/>
              </a:tabLst>
            </a:pPr>
            <a:r>
              <a:rPr lang="en-US"/>
              <a:t>Click to edit source</a:t>
            </a:r>
          </a:p>
        </p:txBody>
      </p:sp>
    </p:spTree>
    <p:custDataLst>
      <p:tags r:id="rId1"/>
    </p:custDataLst>
    <p:extLst>
      <p:ext uri="{BB962C8B-B14F-4D97-AF65-F5344CB8AC3E}">
        <p14:creationId xmlns:p14="http://schemas.microsoft.com/office/powerpoint/2010/main" val="2583123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ust_Title and Footnot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4" name="Text Placeholder 16">
            <a:extLst>
              <a:ext uri="{FF2B5EF4-FFF2-40B4-BE49-F238E27FC236}">
                <a16:creationId xmlns:a16="http://schemas.microsoft.com/office/drawing/2014/main" id="{FCDC9E86-CC9E-4C86-DBDD-B34138A87870}"/>
              </a:ext>
            </a:extLst>
          </p:cNvPr>
          <p:cNvSpPr>
            <a:spLocks noGrp="1"/>
          </p:cNvSpPr>
          <p:nvPr>
            <p:ph type="body" sz="quarter" idx="16"/>
          </p:nvPr>
        </p:nvSpPr>
        <p:spPr>
          <a:xfrm>
            <a:off x="1571625" y="6564685"/>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647003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900" kern="1200" dirty="0">
                <a:solidFill>
                  <a:schemeClr val="bg1">
                    <a:lumMod val="50000"/>
                  </a:schemeClr>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7207794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534668"/>
            <a:ext cx="11292840" cy="3950208"/>
          </a:xfrm>
        </p:spPr>
        <p:txBody>
          <a:bodyPr/>
          <a:lstStyle>
            <a:lvl1pPr>
              <a:defRPr sz="1798"/>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p:cNvSpPr>
            <a:spLocks noGrp="1"/>
          </p:cNvSpPr>
          <p:nvPr>
            <p:ph type="body" sz="quarter" idx="15" hasCustomPrompt="1"/>
          </p:nvPr>
        </p:nvSpPr>
        <p:spPr bwMode="gray">
          <a:xfrm>
            <a:off x="448055" y="10408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4" name="Text Placeholder 16">
            <a:extLst>
              <a:ext uri="{FF2B5EF4-FFF2-40B4-BE49-F238E27FC236}">
                <a16:creationId xmlns:a16="http://schemas.microsoft.com/office/drawing/2014/main" id="{CE74780C-0F98-5493-FE5F-5FA47A8C7074}"/>
              </a:ext>
            </a:extLst>
          </p:cNvPr>
          <p:cNvSpPr>
            <a:spLocks noGrp="1"/>
          </p:cNvSpPr>
          <p:nvPr>
            <p:ph type="body" sz="quarter" idx="17"/>
          </p:nvPr>
        </p:nvSpPr>
        <p:spPr>
          <a:xfrm>
            <a:off x="1571625" y="6564685"/>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7721666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694" indent="-342694">
              <a:buFont typeface="+mj-lt"/>
              <a:buAutoNum type="arabicPeriod"/>
              <a:defRPr/>
            </a:lvl1pPr>
            <a:lvl2pPr marL="571158" indent="-169761">
              <a:defRPr/>
            </a:lvl2pPr>
            <a:lvl3pPr marL="742504" indent="-171348">
              <a:defRPr/>
            </a:lvl3pPr>
            <a:lvl4pPr marL="970968" indent="-171348">
              <a:defRPr/>
            </a:lvl4pPr>
            <a:lvl5pPr marL="1170873" indent="-142789">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41857109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2162806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211107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6859932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7"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4730233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40958730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8"/>
            </a:lvl1pPr>
            <a:lvl2pPr marL="461685" indent="-233223">
              <a:defRPr sz="3198"/>
            </a:lvl2pPr>
            <a:lvl3pPr marL="737746" indent="-225289">
              <a:defRPr sz="2798"/>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6094377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8">
                <a:solidFill>
                  <a:schemeClr val="bg1"/>
                </a:solidFill>
              </a:defRPr>
            </a:lvl1pPr>
            <a:lvl2pPr marL="461685" indent="-233223">
              <a:defRPr sz="3198">
                <a:solidFill>
                  <a:schemeClr val="bg1"/>
                </a:solidFill>
              </a:defRPr>
            </a:lvl2pPr>
            <a:lvl3pPr marL="737746" indent="-225289">
              <a:defRPr sz="2798">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6"/>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800"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4206313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1_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9" y="923544"/>
            <a:ext cx="4233672" cy="1901952"/>
          </a:xfrm>
        </p:spPr>
        <p:txBody>
          <a:bodyPr vert="horz" lIns="0" tIns="0" rIns="0" bIns="0" rtlCol="0" anchor="t" anchorCtr="0">
            <a:noAutofit/>
          </a:bodyPr>
          <a:lstStyle>
            <a:lvl1pPr>
              <a:spcBef>
                <a:spcPts val="0"/>
              </a:spcBef>
              <a:defRPr lang="en-US" sz="3397"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9" y="3849624"/>
            <a:ext cx="4233672" cy="905256"/>
          </a:xfrm>
        </p:spPr>
        <p:txBody>
          <a:bodyPr lIns="0" tIns="0" rIns="0" bIns="0" anchor="b" anchorCtr="0"/>
          <a:lstStyle>
            <a:lvl1pPr marL="0" indent="0">
              <a:spcBef>
                <a:spcPts val="600"/>
              </a:spcBef>
              <a:buNone/>
              <a:defRPr sz="1797">
                <a:solidFill>
                  <a:schemeClr val="tx1"/>
                </a:solidFill>
                <a:latin typeface="+mn-lt"/>
              </a:defRPr>
            </a:lvl1pPr>
            <a:lvl2pPr marL="399690" indent="0">
              <a:buNone/>
              <a:defRPr/>
            </a:lvl2pPr>
            <a:lvl3pPr marL="742281" indent="0">
              <a:buNone/>
              <a:defRPr/>
            </a:lvl3pPr>
            <a:lvl4pPr marL="1094389" indent="0">
              <a:buNone/>
              <a:defRPr/>
            </a:lvl4pPr>
            <a:lvl5pPr marL="1368779"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9"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801"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4"/>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4"/>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3" y="6216149"/>
            <a:ext cx="12188825" cy="641784"/>
          </a:xfrm>
          <a:prstGeom prst="rect">
            <a:avLst/>
          </a:prstGeom>
          <a:solidFill>
            <a:schemeClr val="lt1"/>
          </a:solidFill>
          <a:ln>
            <a:noFill/>
          </a:ln>
        </p:spPr>
        <p:txBody>
          <a:bodyPr spcFirstLastPara="1" wrap="square" lIns="121772" tIns="121772" rIns="121772" bIns="121772" anchor="ctr" anchorCtr="0">
            <a:noAutofit/>
          </a:bodyPr>
          <a:lstStyle/>
          <a:p>
            <a:pPr marL="0" lvl="0" indent="0" algn="l" rtl="0">
              <a:spcBef>
                <a:spcPts val="0"/>
              </a:spcBef>
              <a:spcAft>
                <a:spcPts val="0"/>
              </a:spcAft>
              <a:buNone/>
            </a:pPr>
            <a:endParaRPr sz="2484"/>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8"/>
            <a:ext cx="914400" cy="371811"/>
          </a:xfrm>
          <a:prstGeom prst="rect">
            <a:avLst/>
          </a:prstGeom>
          <a:noFill/>
          <a:ln>
            <a:noFill/>
          </a:ln>
        </p:spPr>
      </p:pic>
    </p:spTree>
    <p:custDataLst>
      <p:tags r:id="rId1"/>
    </p:custDataLst>
    <p:extLst>
      <p:ext uri="{BB962C8B-B14F-4D97-AF65-F5344CB8AC3E}">
        <p14:creationId xmlns:p14="http://schemas.microsoft.com/office/powerpoint/2010/main" val="10932394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1_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9" y="4215384"/>
            <a:ext cx="4233672" cy="905256"/>
          </a:xfrm>
        </p:spPr>
        <p:txBody>
          <a:bodyPr lIns="0" tIns="0" rIns="0" bIns="0"/>
          <a:lstStyle>
            <a:lvl1pPr marL="0" indent="0">
              <a:spcBef>
                <a:spcPts val="600"/>
              </a:spcBef>
              <a:buNone/>
              <a:defRPr sz="1797">
                <a:solidFill>
                  <a:schemeClr val="tx1"/>
                </a:solidFill>
                <a:latin typeface="+mn-lt"/>
              </a:defRPr>
            </a:lvl1pPr>
            <a:lvl2pPr marL="399690" indent="0">
              <a:buNone/>
              <a:defRPr/>
            </a:lvl2pPr>
            <a:lvl3pPr marL="742281" indent="0">
              <a:buNone/>
              <a:defRPr/>
            </a:lvl3pPr>
            <a:lvl4pPr marL="1094389" indent="0">
              <a:buNone/>
              <a:defRPr/>
            </a:lvl4pPr>
            <a:lvl5pPr marL="1368779" indent="0">
              <a:buNone/>
              <a:defRPr/>
            </a:lvl5pPr>
          </a:lstStyle>
          <a:p>
            <a:pPr lvl="0"/>
            <a:r>
              <a:rPr lang="en-US"/>
              <a:t>Click to edit Master text styles</a:t>
            </a:r>
          </a:p>
        </p:txBody>
      </p:sp>
      <p:sp>
        <p:nvSpPr>
          <p:cNvPr id="2" name="Title 1"/>
          <p:cNvSpPr>
            <a:spLocks noGrp="1"/>
          </p:cNvSpPr>
          <p:nvPr>
            <p:ph type="ctrTitle"/>
          </p:nvPr>
        </p:nvSpPr>
        <p:spPr bwMode="gray">
          <a:xfrm>
            <a:off x="448059" y="2560320"/>
            <a:ext cx="4233672" cy="1508760"/>
          </a:xfrm>
        </p:spPr>
        <p:txBody>
          <a:bodyPr vert="horz" lIns="0" tIns="0" rIns="0" bIns="0" rtlCol="0" anchor="b" anchorCtr="0">
            <a:noAutofit/>
          </a:bodyPr>
          <a:lstStyle>
            <a:lvl1pPr>
              <a:defRPr lang="en-US" sz="2797"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3" y="6216149"/>
            <a:ext cx="12188825" cy="641784"/>
          </a:xfrm>
          <a:prstGeom prst="rect">
            <a:avLst/>
          </a:prstGeom>
          <a:solidFill>
            <a:schemeClr val="lt1"/>
          </a:solidFill>
          <a:ln>
            <a:noFill/>
          </a:ln>
        </p:spPr>
        <p:txBody>
          <a:bodyPr spcFirstLastPara="1" wrap="square" lIns="121772" tIns="121772" rIns="121772" bIns="121772" anchor="ctr" anchorCtr="0">
            <a:noAutofit/>
          </a:bodyPr>
          <a:lstStyle/>
          <a:p>
            <a:pPr marL="0" lvl="0" indent="0" algn="l" rtl="0">
              <a:spcBef>
                <a:spcPts val="0"/>
              </a:spcBef>
              <a:spcAft>
                <a:spcPts val="0"/>
              </a:spcAft>
              <a:buNone/>
            </a:pPr>
            <a:endParaRPr sz="2484"/>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8"/>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21927215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6877999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6984343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9853459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591" indent="-342591">
              <a:buFont typeface="+mj-lt"/>
              <a:buAutoNum type="arabicPeriod"/>
              <a:defRPr/>
            </a:lvl1pPr>
            <a:lvl2pPr marL="570987" indent="-169710">
              <a:defRPr/>
            </a:lvl2pPr>
            <a:lvl3pPr marL="742281" indent="-171297">
              <a:defRPr/>
            </a:lvl3pPr>
            <a:lvl4pPr marL="970677" indent="-171297">
              <a:defRPr/>
            </a:lvl4pPr>
            <a:lvl5pPr marL="1170522" indent="-142746">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4467795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3948543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9" y="2368296"/>
            <a:ext cx="5486400" cy="3383280"/>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8"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8185810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9" y="2368296"/>
            <a:ext cx="5486400" cy="3383280"/>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8"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5768302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9" y="236829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8"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9" y="447141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8"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1632054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9" y="236829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393" indent="-228393" algn="l" defTabSz="913578" rtl="0" eaLnBrk="1" latinLnBrk="0" hangingPunct="1">
              <a:lnSpc>
                <a:spcPct val="85000"/>
              </a:lnSpc>
              <a:spcBef>
                <a:spcPts val="200"/>
              </a:spcBef>
              <a:buClr>
                <a:schemeClr val="accent2"/>
              </a:buClr>
              <a:buSzPct val="85000"/>
              <a:buFont typeface="Arial" pitchFamily="34" charset="0"/>
              <a:buNone/>
              <a:tabLst>
                <a:tab pos="174469" algn="r"/>
                <a:tab pos="228393"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8"/>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7"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7"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7"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8"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9" y="447141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8"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882" indent="-172882">
              <a:spcBef>
                <a:spcPts val="1000"/>
              </a:spcBef>
              <a:defRPr sz="1600"/>
            </a:lvl1pPr>
            <a:lvl2pPr marL="347351" indent="-118955">
              <a:spcBef>
                <a:spcPts val="500"/>
              </a:spcBef>
              <a:defRPr sz="1400"/>
            </a:lvl2pPr>
            <a:lvl3pPr marL="512301" indent="-107854">
              <a:spcBef>
                <a:spcPts val="200"/>
              </a:spcBef>
              <a:defRPr sz="1200"/>
            </a:lvl3pPr>
            <a:lvl4pPr marL="685182" indent="-109439">
              <a:spcBef>
                <a:spcPts val="200"/>
              </a:spcBef>
              <a:defRPr sz="1100"/>
            </a:lvl4pPr>
            <a:lvl5pPr marL="858065" indent="-11737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7"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6927427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7"/>
            </a:lvl1pPr>
            <a:lvl2pPr marL="461546" indent="-233153">
              <a:defRPr sz="3197"/>
            </a:lvl2pPr>
            <a:lvl3pPr marL="737525" indent="-225221">
              <a:defRPr sz="2797"/>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0229393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1_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7">
                <a:solidFill>
                  <a:schemeClr val="bg1"/>
                </a:solidFill>
              </a:defRPr>
            </a:lvl1pPr>
            <a:lvl2pPr marL="461546" indent="-233153">
              <a:defRPr sz="3197">
                <a:solidFill>
                  <a:schemeClr val="bg1"/>
                </a:solidFill>
              </a:defRPr>
            </a:lvl2pPr>
            <a:lvl3pPr marL="737525" indent="-225221">
              <a:defRPr sz="2797">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8"/>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801"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4"/>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4"/>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3715153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2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5688378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3175675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7_Title and Content, Box">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09B7312-1A43-6E61-2A5A-F4C2A8FC14A5}"/>
              </a:ext>
            </a:extLst>
          </p:cNvPr>
          <p:cNvSpPr>
            <a:spLocks noGrp="1"/>
          </p:cNvSpPr>
          <p:nvPr>
            <p:ph type="title"/>
          </p:nvPr>
        </p:nvSpPr>
        <p:spPr bwMode="gray">
          <a:xfrm>
            <a:off x="1141412" y="152400"/>
            <a:ext cx="10598226" cy="400110"/>
          </a:xfrm>
        </p:spPr>
        <p:txBody>
          <a:bodyPr/>
          <a:lstStyle>
            <a:lvl1pPr>
              <a:defRPr sz="1997"/>
            </a:lvl1pPr>
          </a:lstStyle>
          <a:p>
            <a:r>
              <a:rPr lang="en-US"/>
              <a:t>Click to edit Master title style</a:t>
            </a:r>
          </a:p>
        </p:txBody>
      </p:sp>
    </p:spTree>
    <p:custDataLst>
      <p:tags r:id="rId1"/>
    </p:custDataLst>
    <p:extLst>
      <p:ext uri="{BB962C8B-B14F-4D97-AF65-F5344CB8AC3E}">
        <p14:creationId xmlns:p14="http://schemas.microsoft.com/office/powerpoint/2010/main" val="207179177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7" y="923544"/>
            <a:ext cx="4233672" cy="1901952"/>
          </a:xfrm>
        </p:spPr>
        <p:txBody>
          <a:bodyPr vert="horz" lIns="0" tIns="0" rIns="0" bIns="0" rtlCol="0" anchor="t" anchorCtr="0">
            <a:noAutofit/>
          </a:bodyPr>
          <a:lstStyle>
            <a:lvl1pPr>
              <a:spcBef>
                <a:spcPts val="0"/>
              </a:spcBef>
              <a:defRPr lang="en-US" sz="3399"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7" y="3849624"/>
            <a:ext cx="4233672" cy="905256"/>
          </a:xfrm>
        </p:spPr>
        <p:txBody>
          <a:bodyPr lIns="0" tIns="0" rIns="0" bIns="0" anchor="b" anchorCtr="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7"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799"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Tree>
    <p:custDataLst>
      <p:tags r:id="rId1"/>
    </p:custDataLst>
    <p:extLst>
      <p:ext uri="{BB962C8B-B14F-4D97-AF65-F5344CB8AC3E}">
        <p14:creationId xmlns:p14="http://schemas.microsoft.com/office/powerpoint/2010/main" val="40992523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7" y="4215384"/>
            <a:ext cx="4233672" cy="905256"/>
          </a:xfrm>
        </p:spPr>
        <p:txBody>
          <a:bodyPr lIns="0" tIns="0" rIns="0" bIns="0"/>
          <a:lstStyle>
            <a:lvl1pPr marL="0" indent="0">
              <a:spcBef>
                <a:spcPts val="600"/>
              </a:spcBef>
              <a:buNone/>
              <a:defRPr sz="1799">
                <a:solidFill>
                  <a:schemeClr val="tx1"/>
                </a:solidFill>
                <a:latin typeface="+mn-lt"/>
              </a:defRPr>
            </a:lvl1pPr>
            <a:lvl2pPr marL="399930" indent="0">
              <a:buNone/>
              <a:defRPr/>
            </a:lvl2pPr>
            <a:lvl3pPr marL="742727" indent="0">
              <a:buNone/>
              <a:defRPr/>
            </a:lvl3pPr>
            <a:lvl4pPr marL="1095046" indent="0">
              <a:buNone/>
              <a:defRPr/>
            </a:lvl4pPr>
            <a:lvl5pPr marL="1369601" indent="0">
              <a:buNone/>
              <a:defRPr/>
            </a:lvl5pPr>
          </a:lstStyle>
          <a:p>
            <a:pPr lvl="0"/>
            <a:r>
              <a:rPr lang="en-US"/>
              <a:t>Click to edit Master text styles</a:t>
            </a:r>
          </a:p>
        </p:txBody>
      </p:sp>
      <p:sp>
        <p:nvSpPr>
          <p:cNvPr id="2" name="Title 1"/>
          <p:cNvSpPr>
            <a:spLocks noGrp="1"/>
          </p:cNvSpPr>
          <p:nvPr>
            <p:ph type="ctrTitle"/>
          </p:nvPr>
        </p:nvSpPr>
        <p:spPr bwMode="gray">
          <a:xfrm>
            <a:off x="448057" y="2560320"/>
            <a:ext cx="4233672" cy="1508760"/>
          </a:xfrm>
        </p:spPr>
        <p:txBody>
          <a:bodyPr vert="horz" lIns="0" tIns="0" rIns="0" bIns="0" rtlCol="0" anchor="b" anchorCtr="0">
            <a:noAutofit/>
          </a:bodyPr>
          <a:lstStyle>
            <a:lvl1pPr>
              <a:defRPr lang="en-US" sz="2799"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1" y="6216149"/>
            <a:ext cx="12188825" cy="641784"/>
          </a:xfrm>
          <a:prstGeom prst="rect">
            <a:avLst/>
          </a:prstGeom>
          <a:solidFill>
            <a:schemeClr val="lt1"/>
          </a:solidFill>
          <a:ln>
            <a:noFill/>
          </a:ln>
        </p:spPr>
        <p:txBody>
          <a:bodyPr spcFirstLastPara="1" wrap="square" lIns="121836" tIns="121836" rIns="121836" bIns="121836" anchor="ctr" anchorCtr="0">
            <a:noAutofit/>
          </a:bodyPr>
          <a:lstStyle/>
          <a:p>
            <a:pPr marL="0" lvl="0" indent="0" algn="l" rtl="0">
              <a:spcBef>
                <a:spcPts val="0"/>
              </a:spcBef>
              <a:spcAft>
                <a:spcPts val="0"/>
              </a:spcAft>
              <a:buNone/>
            </a:pPr>
            <a:endParaRPr sz="2486"/>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4181687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805386-786F-0B08-8328-5E35C30F42EE}"/>
              </a:ext>
            </a:extLst>
          </p:cNvPr>
          <p:cNvSpPr>
            <a:spLocks noGrp="1"/>
          </p:cNvSpPr>
          <p:nvPr>
            <p:ph type="body" sz="quarter" idx="16" hasCustomPrompt="1"/>
          </p:nvPr>
        </p:nvSpPr>
        <p:spPr bwMode="gray">
          <a:xfrm>
            <a:off x="1571625" y="6514188"/>
            <a:ext cx="9239251" cy="173124"/>
          </a:xfrm>
        </p:spPr>
        <p:txBody>
          <a:bodyPr vert="horz" lIns="45720" tIns="27432" rIns="0" bIns="27432" rtlCol="0" anchor="b">
            <a:spAutoFit/>
          </a:bodyPr>
          <a:lstStyle>
            <a:lvl1pPr marL="0" indent="0">
              <a:lnSpc>
                <a:spcPct val="100000"/>
              </a:lnSpc>
              <a:buNone/>
              <a:defRPr lang="en-US" sz="900">
                <a:solidFill>
                  <a:schemeClr val="bg1">
                    <a:lumMod val="50000"/>
                  </a:schemeClr>
                </a:solidFill>
                <a:cs typeface="Arial" pitchFamily="34" charset="0"/>
              </a:defRPr>
            </a:lvl1pPr>
          </a:lstStyle>
          <a:p>
            <a:pPr marL="228531" lvl="0" indent="-228531">
              <a:lnSpc>
                <a:spcPct val="85000"/>
              </a:lnSpc>
              <a:spcBef>
                <a:spcPts val="200"/>
              </a:spcBef>
              <a:buClr>
                <a:schemeClr val="accent2"/>
              </a:buClr>
              <a:buSzPct val="85000"/>
              <a:tabLst>
                <a:tab pos="174573" algn="r"/>
                <a:tab pos="228531" algn="l"/>
              </a:tabLst>
            </a:pPr>
            <a:r>
              <a:rPr lang="en-US"/>
              <a:t>Click to edit source</a:t>
            </a:r>
          </a:p>
        </p:txBody>
      </p:sp>
    </p:spTree>
    <p:custDataLst>
      <p:tags r:id="rId1"/>
    </p:custDataLst>
    <p:extLst>
      <p:ext uri="{BB962C8B-B14F-4D97-AF65-F5344CB8AC3E}">
        <p14:creationId xmlns:p14="http://schemas.microsoft.com/office/powerpoint/2010/main" val="40813859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ust_Title and Footnot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142123" y="170307"/>
            <a:ext cx="10411702" cy="850392"/>
          </a:xfrm>
        </p:spPr>
        <p:txBody>
          <a:bodyPr/>
          <a:lstStyle/>
          <a:p>
            <a:r>
              <a:rPr lang="en-US"/>
              <a:t>Click to edit Master title style</a:t>
            </a:r>
          </a:p>
        </p:txBody>
      </p:sp>
      <p:sp>
        <p:nvSpPr>
          <p:cNvPr id="4" name="Text Placeholder 16">
            <a:extLst>
              <a:ext uri="{FF2B5EF4-FFF2-40B4-BE49-F238E27FC236}">
                <a16:creationId xmlns:a16="http://schemas.microsoft.com/office/drawing/2014/main" id="{FCDC9E86-CC9E-4C86-DBDD-B34138A87870}"/>
              </a:ext>
            </a:extLst>
          </p:cNvPr>
          <p:cNvSpPr>
            <a:spLocks noGrp="1"/>
          </p:cNvSpPr>
          <p:nvPr>
            <p:ph type="body" sz="quarter" idx="16"/>
          </p:nvPr>
        </p:nvSpPr>
        <p:spPr>
          <a:xfrm>
            <a:off x="1571625" y="6564683"/>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36020598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900" kern="1200" dirty="0">
                <a:solidFill>
                  <a:schemeClr val="bg1">
                    <a:lumMod val="50000"/>
                  </a:schemeClr>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34072785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534668"/>
            <a:ext cx="11292840" cy="3950208"/>
          </a:xfrm>
        </p:spPr>
        <p:txBody>
          <a:bodyPr/>
          <a:lstStyle>
            <a:lvl1pPr>
              <a:defRPr sz="1799"/>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p:cNvSpPr>
            <a:spLocks noGrp="1"/>
          </p:cNvSpPr>
          <p:nvPr>
            <p:ph type="body" sz="quarter" idx="15" hasCustomPrompt="1"/>
          </p:nvPr>
        </p:nvSpPr>
        <p:spPr bwMode="gray">
          <a:xfrm>
            <a:off x="448055" y="10408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4" name="Text Placeholder 16">
            <a:extLst>
              <a:ext uri="{FF2B5EF4-FFF2-40B4-BE49-F238E27FC236}">
                <a16:creationId xmlns:a16="http://schemas.microsoft.com/office/drawing/2014/main" id="{CE74780C-0F98-5493-FE5F-5FA47A8C7074}"/>
              </a:ext>
            </a:extLst>
          </p:cNvPr>
          <p:cNvSpPr>
            <a:spLocks noGrp="1"/>
          </p:cNvSpPr>
          <p:nvPr>
            <p:ph type="body" sz="quarter" idx="17"/>
          </p:nvPr>
        </p:nvSpPr>
        <p:spPr>
          <a:xfrm>
            <a:off x="1571625" y="6564683"/>
            <a:ext cx="9239250" cy="180049"/>
          </a:xfrm>
        </p:spPr>
        <p:txBody>
          <a:bodyPr lIns="45720" tIns="27432" bIns="27432" anchor="b" anchorCtr="0">
            <a:spAutoFit/>
          </a:bodyPr>
          <a:lstStyle>
            <a:lvl1pPr marL="0" indent="0">
              <a:spcBef>
                <a:spcPts val="200"/>
              </a:spcBef>
              <a:buNone/>
              <a:defRPr sz="900">
                <a:solidFill>
                  <a:schemeClr val="bg1">
                    <a:lumMod val="50000"/>
                  </a:schemeClr>
                </a:solidFill>
              </a:defRPr>
            </a:lvl1pPr>
          </a:lstStyle>
          <a:p>
            <a:endParaRPr lang="en-US"/>
          </a:p>
        </p:txBody>
      </p:sp>
    </p:spTree>
    <p:custDataLst>
      <p:tags r:id="rId1"/>
    </p:custDataLst>
    <p:extLst>
      <p:ext uri="{BB962C8B-B14F-4D97-AF65-F5344CB8AC3E}">
        <p14:creationId xmlns:p14="http://schemas.microsoft.com/office/powerpoint/2010/main" val="41132999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797" indent="-342797">
              <a:buFont typeface="+mj-lt"/>
              <a:buAutoNum type="arabicPeriod"/>
              <a:defRPr/>
            </a:lvl1pPr>
            <a:lvl2pPr marL="571329" indent="-169812">
              <a:defRPr/>
            </a:lvl2pPr>
            <a:lvl3pPr marL="742727" indent="-171399">
              <a:defRPr/>
            </a:lvl3pPr>
            <a:lvl4pPr marL="971259" indent="-171399">
              <a:defRPr/>
            </a:lvl4pPr>
            <a:lvl5pPr marL="1171224" indent="-14283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3004527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6895436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2557241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765934875"/>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6"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017107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6"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6"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86" indent="-172986">
              <a:spcBef>
                <a:spcPts val="1000"/>
              </a:spcBef>
              <a:defRPr sz="1600"/>
            </a:lvl1pPr>
            <a:lvl2pPr marL="347559" indent="-119027">
              <a:spcBef>
                <a:spcPts val="500"/>
              </a:spcBef>
              <a:defRPr sz="1400"/>
            </a:lvl2pPr>
            <a:lvl3pPr marL="512609" indent="-107918">
              <a:spcBef>
                <a:spcPts val="200"/>
              </a:spcBef>
              <a:defRPr sz="1200"/>
            </a:lvl3pPr>
            <a:lvl4pPr marL="685594" indent="-109505">
              <a:spcBef>
                <a:spcPts val="200"/>
              </a:spcBef>
              <a:defRPr sz="1100"/>
            </a:lvl4pPr>
            <a:lvl5pPr marL="858580" indent="-117440">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9"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7720278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9"/>
            </a:lvl1pPr>
            <a:lvl2pPr marL="461824" indent="-233293">
              <a:defRPr sz="3199"/>
            </a:lvl2pPr>
            <a:lvl3pPr marL="737967" indent="-225357">
              <a:defRPr sz="2799"/>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51202144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9">
                <a:solidFill>
                  <a:schemeClr val="bg1"/>
                </a:solidFill>
              </a:defRPr>
            </a:lvl1pPr>
            <a:lvl2pPr marL="461824" indent="-233293">
              <a:defRPr sz="3199">
                <a:solidFill>
                  <a:schemeClr val="bg1"/>
                </a:solidFill>
              </a:defRPr>
            </a:lvl2pPr>
            <a:lvl3pPr marL="737967" indent="-225357">
              <a:defRPr sz="2799">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4"/>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799"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33811983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Title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49" name="Title 1"/>
          <p:cNvSpPr>
            <a:spLocks noGrp="1"/>
          </p:cNvSpPr>
          <p:nvPr userDrawn="1">
            <p:ph type="ctrTitle"/>
          </p:nvPr>
        </p:nvSpPr>
        <p:spPr bwMode="gray">
          <a:xfrm>
            <a:off x="448058" y="923544"/>
            <a:ext cx="4233672" cy="1901952"/>
          </a:xfrm>
        </p:spPr>
        <p:txBody>
          <a:bodyPr vert="horz" lIns="0" tIns="0" rIns="0" bIns="0" rtlCol="0" anchor="t" anchorCtr="0">
            <a:noAutofit/>
          </a:bodyPr>
          <a:lstStyle>
            <a:lvl1pPr>
              <a:spcBef>
                <a:spcPts val="0"/>
              </a:spcBef>
              <a:defRPr lang="en-US" sz="3398"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058" y="3849624"/>
            <a:ext cx="4233672" cy="905256"/>
          </a:xfrm>
        </p:spPr>
        <p:txBody>
          <a:bodyPr lIns="0" tIns="0" rIns="0" bIns="0" anchor="b" anchorCtr="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058" y="4974336"/>
            <a:ext cx="4233672"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800" y="591197"/>
            <a:ext cx="587631"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Tree>
    <p:custDataLst>
      <p:tags r:id="rId1"/>
    </p:custDataLst>
    <p:extLst>
      <p:ext uri="{BB962C8B-B14F-4D97-AF65-F5344CB8AC3E}">
        <p14:creationId xmlns:p14="http://schemas.microsoft.com/office/powerpoint/2010/main" val="37567210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1_Section Divider Slide">
    <p:bg bwMode="gray">
      <p:bgPr>
        <a:solidFill>
          <a:schemeClr val="bg1">
            <a:lumMod val="95000"/>
          </a:schemeClr>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448058" y="4215384"/>
            <a:ext cx="4233672" cy="905256"/>
          </a:xfrm>
        </p:spPr>
        <p:txBody>
          <a:bodyPr lIns="0" tIns="0" rIns="0" bIns="0"/>
          <a:lstStyle>
            <a:lvl1pPr marL="0" indent="0">
              <a:spcBef>
                <a:spcPts val="600"/>
              </a:spcBef>
              <a:buNone/>
              <a:defRPr sz="1798">
                <a:solidFill>
                  <a:schemeClr val="tx1"/>
                </a:solidFill>
                <a:latin typeface="+mn-lt"/>
              </a:defRPr>
            </a:lvl1pPr>
            <a:lvl2pPr marL="399810" indent="0">
              <a:buNone/>
              <a:defRPr/>
            </a:lvl2pPr>
            <a:lvl3pPr marL="742504" indent="0">
              <a:buNone/>
              <a:defRPr/>
            </a:lvl3pPr>
            <a:lvl4pPr marL="1094717" indent="0">
              <a:buNone/>
              <a:defRPr/>
            </a:lvl4pPr>
            <a:lvl5pPr marL="1369190" indent="0">
              <a:buNone/>
              <a:defRPr/>
            </a:lvl5pPr>
          </a:lstStyle>
          <a:p>
            <a:pPr lvl="0"/>
            <a:r>
              <a:rPr lang="en-US"/>
              <a:t>Click to edit Master text styles</a:t>
            </a:r>
          </a:p>
        </p:txBody>
      </p:sp>
      <p:sp>
        <p:nvSpPr>
          <p:cNvPr id="2" name="Title 1"/>
          <p:cNvSpPr>
            <a:spLocks noGrp="1"/>
          </p:cNvSpPr>
          <p:nvPr>
            <p:ph type="ctrTitle"/>
          </p:nvPr>
        </p:nvSpPr>
        <p:spPr bwMode="gray">
          <a:xfrm>
            <a:off x="448058" y="2560320"/>
            <a:ext cx="4233672" cy="1508760"/>
          </a:xfrm>
        </p:spPr>
        <p:txBody>
          <a:bodyPr vert="horz" lIns="0" tIns="0" rIns="0" bIns="0" rtlCol="0" anchor="b" anchorCtr="0">
            <a:noAutofit/>
          </a:bodyPr>
          <a:lstStyle>
            <a:lvl1pPr>
              <a:defRPr lang="en-US" sz="2798" b="0" dirty="0">
                <a:solidFill>
                  <a:schemeClr val="tx1"/>
                </a:solidFill>
              </a:defRPr>
            </a:lvl1pPr>
          </a:lstStyle>
          <a:p>
            <a:pPr lvl="0"/>
            <a:r>
              <a:rPr lang="en-US"/>
              <a:t>Click to edit Master title style</a:t>
            </a:r>
          </a:p>
        </p:txBody>
      </p:sp>
      <p:sp>
        <p:nvSpPr>
          <p:cNvPr id="13" name="Google Shape;49;p7">
            <a:extLst>
              <a:ext uri="{FF2B5EF4-FFF2-40B4-BE49-F238E27FC236}">
                <a16:creationId xmlns:a16="http://schemas.microsoft.com/office/drawing/2014/main" id="{D01DEFE8-92EA-4D72-9911-E9444EF4C65B}"/>
              </a:ext>
            </a:extLst>
          </p:cNvPr>
          <p:cNvSpPr/>
          <p:nvPr userDrawn="1"/>
        </p:nvSpPr>
        <p:spPr bwMode="gray">
          <a:xfrm>
            <a:off x="2" y="6216149"/>
            <a:ext cx="12188825" cy="641784"/>
          </a:xfrm>
          <a:prstGeom prst="rect">
            <a:avLst/>
          </a:prstGeom>
          <a:solidFill>
            <a:schemeClr val="lt1"/>
          </a:solidFill>
          <a:ln>
            <a:noFill/>
          </a:ln>
        </p:spPr>
        <p:txBody>
          <a:bodyPr spcFirstLastPara="1" wrap="square" lIns="121804" tIns="121804" rIns="121804" bIns="121804" anchor="ctr" anchorCtr="0">
            <a:noAutofit/>
          </a:bodyPr>
          <a:lstStyle/>
          <a:p>
            <a:pPr marL="0" lvl="0" indent="0" algn="l" rtl="0">
              <a:spcBef>
                <a:spcPts val="0"/>
              </a:spcBef>
              <a:spcAft>
                <a:spcPts val="0"/>
              </a:spcAft>
              <a:buNone/>
            </a:pPr>
            <a:endParaRPr sz="2485"/>
          </a:p>
        </p:txBody>
      </p:sp>
      <p:pic>
        <p:nvPicPr>
          <p:cNvPr id="19" name="Google Shape;53;p7">
            <a:extLst>
              <a:ext uri="{FF2B5EF4-FFF2-40B4-BE49-F238E27FC236}">
                <a16:creationId xmlns:a16="http://schemas.microsoft.com/office/drawing/2014/main" id="{BE63A6E2-6A45-48C5-AAB5-635C131502E0}"/>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
        <p:nvSpPr>
          <p:cNvPr id="10" name="Slide Number Placeholder 5">
            <a:extLst>
              <a:ext uri="{FF2B5EF4-FFF2-40B4-BE49-F238E27FC236}">
                <a16:creationId xmlns:a16="http://schemas.microsoft.com/office/drawing/2014/main" id="{CCDF916F-8B26-4E62-8230-AE3626C83AC8}"/>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2" name="Google Shape;52;p7">
            <a:extLst>
              <a:ext uri="{FF2B5EF4-FFF2-40B4-BE49-F238E27FC236}">
                <a16:creationId xmlns:a16="http://schemas.microsoft.com/office/drawing/2014/main" id="{D17E9775-5F61-47C4-BE37-0F43B8E05FC5}"/>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16" name="Text Placeholder 3">
            <a:extLst>
              <a:ext uri="{FF2B5EF4-FFF2-40B4-BE49-F238E27FC236}">
                <a16:creationId xmlns:a16="http://schemas.microsoft.com/office/drawing/2014/main" id="{773288A9-E236-4EC3-9C85-F698E18DFB67}"/>
              </a:ext>
            </a:extLst>
          </p:cNvPr>
          <p:cNvSpPr txBox="1">
            <a:spLocks/>
          </p:cNvSpPr>
          <p:nvPr userDrawn="1"/>
        </p:nvSpPr>
        <p:spPr bwMode="gray">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spTree>
    <p:custDataLst>
      <p:tags r:id="rId1"/>
    </p:custDataLst>
    <p:extLst>
      <p:ext uri="{BB962C8B-B14F-4D97-AF65-F5344CB8AC3E}">
        <p14:creationId xmlns:p14="http://schemas.microsoft.com/office/powerpoint/2010/main" val="39914479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40271775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8680121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283891754"/>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lvl1pPr marL="342694" indent="-342694">
              <a:buFont typeface="+mj-lt"/>
              <a:buAutoNum type="arabicPeriod"/>
              <a:defRPr/>
            </a:lvl1pPr>
            <a:lvl2pPr marL="571158" indent="-169761">
              <a:defRPr/>
            </a:lvl2pPr>
            <a:lvl3pPr marL="742504" indent="-171348">
              <a:defRPr/>
            </a:lvl3pPr>
            <a:lvl4pPr marL="970968" indent="-171348">
              <a:defRPr/>
            </a:lvl4pPr>
            <a:lvl5pPr marL="1170873" indent="-142789">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2072759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Title and Content, Box">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2368296"/>
            <a:ext cx="11291583"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5" y="1801368"/>
            <a:ext cx="1129284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7684145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51513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One Left Two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48AB6F3-8F33-46C5-B8AF-C6C2DBA35DAC}"/>
              </a:ext>
            </a:extLst>
          </p:cNvPr>
          <p:cNvSpPr>
            <a:spLocks noGrp="1"/>
          </p:cNvSpPr>
          <p:nvPr>
            <p:ph idx="20"/>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9EA1C6BA-0114-4F33-85B2-4176902D0145}"/>
              </a:ext>
            </a:extLst>
          </p:cNvPr>
          <p:cNvSpPr>
            <a:spLocks noGrp="1"/>
          </p:cNvSpPr>
          <p:nvPr>
            <p:ph type="body" sz="quarter" idx="21"/>
          </p:nvPr>
        </p:nvSpPr>
        <p:spPr bwMode="gray">
          <a:xfrm>
            <a:off x="6262957" y="3911906"/>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2286325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_Two Left One Right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3383280"/>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264FB57-BAFB-4669-B9D9-AAA93D307B4A}"/>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80B37F4-BA1F-4599-9BF4-169E2382E79A}"/>
              </a:ext>
            </a:extLst>
          </p:cNvPr>
          <p:cNvSpPr>
            <a:spLocks noGrp="1"/>
          </p:cNvSpPr>
          <p:nvPr>
            <p:ph type="body" sz="quarter" idx="21"/>
          </p:nvPr>
        </p:nvSpPr>
        <p:spPr bwMode="gray">
          <a:xfrm>
            <a:off x="448057" y="391363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10976347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8"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5" y="5806440"/>
            <a:ext cx="11292840" cy="347472"/>
          </a:xfrm>
        </p:spPr>
        <p:txBody>
          <a:bodyPr lIns="0" tIns="0" rIns="0" bIns="0" anchor="b"/>
          <a:lstStyle>
            <a:lvl1pPr marL="228462" indent="-228462" algn="l" defTabSz="913852" rtl="0" eaLnBrk="1" latinLnBrk="0" hangingPunct="1">
              <a:lnSpc>
                <a:spcPct val="85000"/>
              </a:lnSpc>
              <a:spcBef>
                <a:spcPts val="200"/>
              </a:spcBef>
              <a:buClr>
                <a:schemeClr val="accent2"/>
              </a:buClr>
              <a:buSzPct val="85000"/>
              <a:buFont typeface="Arial" pitchFamily="34" charset="0"/>
              <a:buNone/>
              <a:tabLst>
                <a:tab pos="174521" algn="r"/>
                <a:tab pos="228462"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6"/>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8"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8"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8"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0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2957" y="236829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2957" y="1801368"/>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2A8F3BDE-5536-412E-9331-650A7E2E8AB3}"/>
              </a:ext>
            </a:extLst>
          </p:cNvPr>
          <p:cNvSpPr>
            <a:spLocks noGrp="1"/>
          </p:cNvSpPr>
          <p:nvPr>
            <p:ph idx="20"/>
          </p:nvPr>
        </p:nvSpPr>
        <p:spPr bwMode="gray">
          <a:xfrm>
            <a:off x="448058"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6466D6BA-4968-4105-B0D7-E7BD687A8068}"/>
              </a:ext>
            </a:extLst>
          </p:cNvPr>
          <p:cNvSpPr>
            <a:spLocks noGrp="1"/>
          </p:cNvSpPr>
          <p:nvPr>
            <p:ph type="body" sz="quarter" idx="21"/>
          </p:nvPr>
        </p:nvSpPr>
        <p:spPr bwMode="gray">
          <a:xfrm>
            <a:off x="4480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870E3D72-4322-4600-80EE-32F1EA906711}"/>
              </a:ext>
            </a:extLst>
          </p:cNvPr>
          <p:cNvSpPr>
            <a:spLocks noGrp="1"/>
          </p:cNvSpPr>
          <p:nvPr>
            <p:ph idx="22"/>
          </p:nvPr>
        </p:nvSpPr>
        <p:spPr bwMode="gray">
          <a:xfrm>
            <a:off x="6262957" y="4471416"/>
            <a:ext cx="5486400" cy="1276312"/>
          </a:xfrm>
        </p:spPr>
        <p:txBody>
          <a:bodyPr/>
          <a:lstStyle>
            <a:lvl1pPr marL="172934" indent="-172934">
              <a:spcBef>
                <a:spcPts val="1000"/>
              </a:spcBef>
              <a:defRPr sz="1600"/>
            </a:lvl1pPr>
            <a:lvl2pPr marL="347455" indent="-118991">
              <a:spcBef>
                <a:spcPts val="500"/>
              </a:spcBef>
              <a:defRPr sz="1400"/>
            </a:lvl2pPr>
            <a:lvl3pPr marL="512455" indent="-107886">
              <a:spcBef>
                <a:spcPts val="200"/>
              </a:spcBef>
              <a:defRPr sz="1200"/>
            </a:lvl3pPr>
            <a:lvl4pPr marL="685388" indent="-109472">
              <a:spcBef>
                <a:spcPts val="200"/>
              </a:spcBef>
              <a:defRPr sz="1100"/>
            </a:lvl4pPr>
            <a:lvl5pPr marL="858322" indent="-11740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CFA8F5A1-9096-48CF-8981-DA7C92908DC8}"/>
              </a:ext>
            </a:extLst>
          </p:cNvPr>
          <p:cNvSpPr>
            <a:spLocks noGrp="1"/>
          </p:cNvSpPr>
          <p:nvPr>
            <p:ph type="body" sz="quarter" idx="23"/>
          </p:nvPr>
        </p:nvSpPr>
        <p:spPr bwMode="gray">
          <a:xfrm>
            <a:off x="6262957" y="3914022"/>
            <a:ext cx="5486400"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798"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1714220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Bold Statem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lIns="0" rIns="0"/>
          <a:lstStyle>
            <a:lvl1pPr marL="0" indent="0">
              <a:lnSpc>
                <a:spcPct val="110000"/>
              </a:lnSpc>
              <a:buNone/>
              <a:defRPr sz="3598"/>
            </a:lvl1pPr>
            <a:lvl2pPr marL="461685" indent="-233223">
              <a:defRPr sz="3198"/>
            </a:lvl2pPr>
            <a:lvl3pPr marL="737746" indent="-225289">
              <a:defRPr sz="2798"/>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9549101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1_Bold Statement Blue">
    <p:bg>
      <p:bgPr>
        <a:solidFill>
          <a:srgbClr val="00004E"/>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48055" y="1801368"/>
            <a:ext cx="11292840" cy="3950208"/>
          </a:xfrm>
        </p:spPr>
        <p:txBody>
          <a:bodyPr lIns="0" rIns="0"/>
          <a:lstStyle>
            <a:lvl1pPr marL="0" indent="0">
              <a:lnSpc>
                <a:spcPct val="110000"/>
              </a:lnSpc>
              <a:buNone/>
              <a:defRPr sz="3598">
                <a:solidFill>
                  <a:schemeClr val="bg1"/>
                </a:solidFill>
              </a:defRPr>
            </a:lvl1pPr>
            <a:lvl2pPr marL="461685" indent="-233223">
              <a:defRPr sz="3198">
                <a:solidFill>
                  <a:schemeClr val="bg1"/>
                </a:solidFill>
              </a:defRPr>
            </a:lvl2pPr>
            <a:lvl3pPr marL="737746" indent="-225289">
              <a:defRPr sz="2798">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bwMode="auto"/>
        <p:txBody>
          <a:bodyPr/>
          <a:lstStyle>
            <a:lvl1pPr>
              <a:defRPr>
                <a:solidFill>
                  <a:schemeClr val="bg1"/>
                </a:solidFill>
              </a:defRPr>
            </a:lvl1pPr>
          </a:lstStyle>
          <a:p>
            <a:r>
              <a:rPr lang="en-US"/>
              <a:t>Click to edit Master title style</a:t>
            </a:r>
          </a:p>
        </p:txBody>
      </p:sp>
      <p:pic>
        <p:nvPicPr>
          <p:cNvPr id="4" name="Google Shape;311;p30">
            <a:extLst>
              <a:ext uri="{FF2B5EF4-FFF2-40B4-BE49-F238E27FC236}">
                <a16:creationId xmlns:a16="http://schemas.microsoft.com/office/drawing/2014/main" id="{90C4AA53-0CE6-42BF-A73D-4ABB5CCDDA5E}"/>
              </a:ext>
            </a:extLst>
          </p:cNvPr>
          <p:cNvPicPr preferRelativeResize="0">
            <a:picLocks noChangeAspect="1"/>
          </p:cNvPicPr>
          <p:nvPr userDrawn="1"/>
        </p:nvPicPr>
        <p:blipFill>
          <a:blip r:embed="rId3" cstate="email">
            <a:extLst>
              <a:ext uri="{28A0092B-C50C-407E-A947-70E740481C1C}">
                <a14:useLocalDpi xmlns:a14="http://schemas.microsoft.com/office/drawing/2010/main"/>
              </a:ext>
            </a:extLst>
          </a:blip>
          <a:srcRect t="1866" b="1866"/>
          <a:stretch/>
        </p:blipFill>
        <p:spPr bwMode="invGray">
          <a:xfrm>
            <a:off x="446798" y="6346666"/>
            <a:ext cx="914400" cy="371811"/>
          </a:xfrm>
          <a:prstGeom prst="rect">
            <a:avLst/>
          </a:prstGeom>
          <a:noFill/>
          <a:ln>
            <a:noFill/>
          </a:ln>
        </p:spPr>
      </p:pic>
      <p:grpSp>
        <p:nvGrpSpPr>
          <p:cNvPr id="5" name="Group 4">
            <a:extLst>
              <a:ext uri="{FF2B5EF4-FFF2-40B4-BE49-F238E27FC236}">
                <a16:creationId xmlns:a16="http://schemas.microsoft.com/office/drawing/2014/main" id="{F4F9877C-A82F-4B6B-BD9C-066CF647CE7A}"/>
              </a:ext>
            </a:extLst>
          </p:cNvPr>
          <p:cNvGrpSpPr/>
          <p:nvPr userDrawn="1"/>
        </p:nvGrpSpPr>
        <p:grpSpPr bwMode="black">
          <a:xfrm>
            <a:off x="446800" y="326296"/>
            <a:ext cx="587631" cy="45600"/>
            <a:chOff x="616542" y="591197"/>
            <a:chExt cx="587631" cy="45600"/>
          </a:xfrm>
          <a:solidFill>
            <a:schemeClr val="bg1"/>
          </a:solidFill>
        </p:grpSpPr>
        <p:sp>
          <p:nvSpPr>
            <p:cNvPr id="6" name="Google Shape;17;p2">
              <a:extLst>
                <a:ext uri="{FF2B5EF4-FFF2-40B4-BE49-F238E27FC236}">
                  <a16:creationId xmlns:a16="http://schemas.microsoft.com/office/drawing/2014/main" id="{E37A9FAD-22CF-483D-BFEE-A660FD0A10AC}"/>
                </a:ext>
              </a:extLst>
            </p:cNvPr>
            <p:cNvSpPr/>
            <p:nvPr userDrawn="1"/>
          </p:nvSpPr>
          <p:spPr bwMode="black">
            <a:xfrm>
              <a:off x="616542"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7" name="Google Shape;18;p2">
              <a:extLst>
                <a:ext uri="{FF2B5EF4-FFF2-40B4-BE49-F238E27FC236}">
                  <a16:creationId xmlns:a16="http://schemas.microsoft.com/office/drawing/2014/main" id="{03F89CAE-CCC7-471C-BADA-2585024AD7C1}"/>
                </a:ext>
              </a:extLst>
            </p:cNvPr>
            <p:cNvSpPr/>
            <p:nvPr userDrawn="1"/>
          </p:nvSpPr>
          <p:spPr bwMode="black">
            <a:xfrm>
              <a:off x="910250" y="591197"/>
              <a:ext cx="293923" cy="45600"/>
            </a:xfrm>
            <a:prstGeom prst="rect">
              <a:avLst/>
            </a:prstGeom>
            <a:grp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sp>
        <p:nvSpPr>
          <p:cNvPr id="11" name="Slide Number Placeholder 5">
            <a:extLst>
              <a:ext uri="{FF2B5EF4-FFF2-40B4-BE49-F238E27FC236}">
                <a16:creationId xmlns:a16="http://schemas.microsoft.com/office/drawing/2014/main" id="{3904B2BB-C8F1-419C-B295-DA30917AB874}"/>
              </a:ext>
            </a:extLst>
          </p:cNvPr>
          <p:cNvSpPr txBox="1">
            <a:spLocks/>
          </p:cNvSpPr>
          <p:nvPr userDrawn="1"/>
        </p:nvSpPr>
        <p:spPr bwMode="auto">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chemeClr val="bg1"/>
                </a:solidFill>
                <a:latin typeface="+mn-lt"/>
              </a:rPr>
              <a:pPr/>
              <a:t>‹#›</a:t>
            </a:fld>
            <a:endParaRPr lang="en-US" sz="800">
              <a:solidFill>
                <a:schemeClr val="bg1"/>
              </a:solidFill>
              <a:latin typeface="+mn-lt"/>
            </a:endParaRPr>
          </a:p>
        </p:txBody>
      </p:sp>
      <p:sp>
        <p:nvSpPr>
          <p:cNvPr id="12" name="Google Shape;52;p7">
            <a:extLst>
              <a:ext uri="{FF2B5EF4-FFF2-40B4-BE49-F238E27FC236}">
                <a16:creationId xmlns:a16="http://schemas.microsoft.com/office/drawing/2014/main" id="{00AEBF66-5FB7-44F3-9514-9E7517B063CF}"/>
              </a:ext>
            </a:extLst>
          </p:cNvPr>
          <p:cNvSpPr txBox="1"/>
          <p:nvPr userDrawn="1"/>
        </p:nvSpPr>
        <p:spPr bwMode="auto">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chemeClr val="bg1"/>
                </a:solidFill>
              </a:rPr>
              <a:t>Confidential</a:t>
            </a:r>
            <a:endParaRPr sz="800" b="1">
              <a:solidFill>
                <a:schemeClr val="bg1"/>
              </a:solidFill>
            </a:endParaRPr>
          </a:p>
        </p:txBody>
      </p:sp>
      <p:sp>
        <p:nvSpPr>
          <p:cNvPr id="13" name="Text Placeholder 3">
            <a:extLst>
              <a:ext uri="{FF2B5EF4-FFF2-40B4-BE49-F238E27FC236}">
                <a16:creationId xmlns:a16="http://schemas.microsoft.com/office/drawing/2014/main" id="{4D3DC3BA-3E54-47E4-A501-F4F0AEBBDF35}"/>
              </a:ext>
            </a:extLst>
          </p:cNvPr>
          <p:cNvSpPr txBox="1">
            <a:spLocks/>
          </p:cNvSpPr>
          <p:nvPr userDrawn="1"/>
        </p:nvSpPr>
        <p:spPr bwMode="auto">
          <a:xfrm>
            <a:off x="1728216" y="6303596"/>
            <a:ext cx="4142232"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chemeClr val="bg1"/>
                </a:solidFill>
              </a:rPr>
              <a:t>Business Group</a:t>
            </a:r>
            <a:r>
              <a:rPr lang="en-US" sz="800" b="0">
                <a:solidFill>
                  <a:schemeClr val="bg1"/>
                </a:solidFill>
              </a:rPr>
              <a:t>  Business Subgroup</a:t>
            </a:r>
          </a:p>
        </p:txBody>
      </p:sp>
    </p:spTree>
    <p:custDataLst>
      <p:tags r:id="rId1"/>
    </p:custDataLst>
    <p:extLst>
      <p:ext uri="{BB962C8B-B14F-4D97-AF65-F5344CB8AC3E}">
        <p14:creationId xmlns:p14="http://schemas.microsoft.com/office/powerpoint/2010/main" val="71102074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2_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0633311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055" y="1801368"/>
            <a:ext cx="11292840"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056" y="5806440"/>
            <a:ext cx="11292840" cy="347472"/>
          </a:xfrm>
        </p:spPr>
        <p:txBody>
          <a:bodyPr lIns="0" tIns="0" rIns="0" bIns="0" anchor="b"/>
          <a:lstStyle>
            <a:lvl1pPr marL="228531" indent="-228531" algn="l" defTabSz="914126" rtl="0" eaLnBrk="1" latinLnBrk="0" hangingPunct="1">
              <a:lnSpc>
                <a:spcPct val="85000"/>
              </a:lnSpc>
              <a:spcBef>
                <a:spcPts val="200"/>
              </a:spcBef>
              <a:buClr>
                <a:schemeClr val="accent2"/>
              </a:buClr>
              <a:buSzPct val="85000"/>
              <a:buFont typeface="Arial" pitchFamily="34" charset="0"/>
              <a:buNone/>
              <a:tabLst>
                <a:tab pos="174573" algn="r"/>
                <a:tab pos="228531"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055" y="1307594"/>
            <a:ext cx="11292840"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1999"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199"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199"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416661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7_Title and Content, Box">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09B7312-1A43-6E61-2A5A-F4C2A8FC14A5}"/>
              </a:ext>
            </a:extLst>
          </p:cNvPr>
          <p:cNvSpPr>
            <a:spLocks noGrp="1"/>
          </p:cNvSpPr>
          <p:nvPr>
            <p:ph type="title"/>
          </p:nvPr>
        </p:nvSpPr>
        <p:spPr bwMode="gray">
          <a:xfrm>
            <a:off x="1141412" y="152400"/>
            <a:ext cx="10598226" cy="400110"/>
          </a:xfrm>
        </p:spPr>
        <p:txBody>
          <a:bodyPr/>
          <a:lstStyle>
            <a:lvl1pPr>
              <a:defRPr sz="1998"/>
            </a:lvl1pPr>
          </a:lstStyle>
          <a:p>
            <a:r>
              <a:rPr lang="en-US"/>
              <a:t>Click to edit Master title style</a:t>
            </a:r>
          </a:p>
        </p:txBody>
      </p:sp>
    </p:spTree>
    <p:custDataLst>
      <p:tags r:id="rId1"/>
    </p:custDataLst>
    <p:extLst>
      <p:ext uri="{BB962C8B-B14F-4D97-AF65-F5344CB8AC3E}">
        <p14:creationId xmlns:p14="http://schemas.microsoft.com/office/powerpoint/2010/main" val="16909689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emf"/><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oleObject" Target="../embeddings/oleObject2.bin"/><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tags" Target="../tags/tag3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tags" Target="../tags/tag3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36" Type="http://schemas.openxmlformats.org/officeDocument/2006/relationships/image" Target="../media/image2.emf"/><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theme" Target="../theme/theme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image" Target="../media/image1.emf"/><Relationship Id="rId8"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6.xml"/><Relationship Id="rId18" Type="http://schemas.openxmlformats.org/officeDocument/2006/relationships/slideLayout" Target="../slideLayouts/slideLayout81.xml"/><Relationship Id="rId26" Type="http://schemas.openxmlformats.org/officeDocument/2006/relationships/slideLayout" Target="../slideLayouts/slideLayout89.xml"/><Relationship Id="rId3" Type="http://schemas.openxmlformats.org/officeDocument/2006/relationships/slideLayout" Target="../slideLayouts/slideLayout66.xml"/><Relationship Id="rId21" Type="http://schemas.openxmlformats.org/officeDocument/2006/relationships/slideLayout" Target="../slideLayouts/slideLayout84.xml"/><Relationship Id="rId34" Type="http://schemas.openxmlformats.org/officeDocument/2006/relationships/oleObject" Target="../embeddings/oleObject3.bin"/><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5" Type="http://schemas.openxmlformats.org/officeDocument/2006/relationships/slideLayout" Target="../slideLayouts/slideLayout88.xml"/><Relationship Id="rId33" Type="http://schemas.openxmlformats.org/officeDocument/2006/relationships/tags" Target="../tags/tag70.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20" Type="http://schemas.openxmlformats.org/officeDocument/2006/relationships/slideLayout" Target="../slideLayouts/slideLayout83.xml"/><Relationship Id="rId29" Type="http://schemas.openxmlformats.org/officeDocument/2006/relationships/slideLayout" Target="../slideLayouts/slideLayout92.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slideLayout" Target="../slideLayouts/slideLayout87.xml"/><Relationship Id="rId32" Type="http://schemas.openxmlformats.org/officeDocument/2006/relationships/tags" Target="../tags/tag69.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slideLayout" Target="../slideLayouts/slideLayout86.xml"/><Relationship Id="rId28" Type="http://schemas.openxmlformats.org/officeDocument/2006/relationships/slideLayout" Target="../slideLayouts/slideLayout91.xml"/><Relationship Id="rId36" Type="http://schemas.openxmlformats.org/officeDocument/2006/relationships/image" Target="../media/image2.emf"/><Relationship Id="rId10" Type="http://schemas.openxmlformats.org/officeDocument/2006/relationships/slideLayout" Target="../slideLayouts/slideLayout73.xml"/><Relationship Id="rId19" Type="http://schemas.openxmlformats.org/officeDocument/2006/relationships/slideLayout" Target="../slideLayouts/slideLayout82.xml"/><Relationship Id="rId31" Type="http://schemas.openxmlformats.org/officeDocument/2006/relationships/theme" Target="../theme/theme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slideLayout" Target="../slideLayouts/slideLayout85.xml"/><Relationship Id="rId27" Type="http://schemas.openxmlformats.org/officeDocument/2006/relationships/slideLayout" Target="../slideLayouts/slideLayout90.xml"/><Relationship Id="rId30" Type="http://schemas.openxmlformats.org/officeDocument/2006/relationships/slideLayout" Target="../slideLayouts/slideLayout93.xml"/><Relationship Id="rId35" Type="http://schemas.openxmlformats.org/officeDocument/2006/relationships/image" Target="../media/image1.emf"/><Relationship Id="rId8" Type="http://schemas.openxmlformats.org/officeDocument/2006/relationships/slideLayout" Target="../slideLayouts/slideLayout7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06.xml"/><Relationship Id="rId18" Type="http://schemas.openxmlformats.org/officeDocument/2006/relationships/slideLayout" Target="../slideLayouts/slideLayout111.xml"/><Relationship Id="rId26" Type="http://schemas.openxmlformats.org/officeDocument/2006/relationships/slideLayout" Target="../slideLayouts/slideLayout119.xml"/><Relationship Id="rId21" Type="http://schemas.openxmlformats.org/officeDocument/2006/relationships/slideLayout" Target="../slideLayouts/slideLayout114.xml"/><Relationship Id="rId34" Type="http://schemas.openxmlformats.org/officeDocument/2006/relationships/tags" Target="../tags/tag102.xml"/><Relationship Id="rId7" Type="http://schemas.openxmlformats.org/officeDocument/2006/relationships/slideLayout" Target="../slideLayouts/slideLayout100.xml"/><Relationship Id="rId12" Type="http://schemas.openxmlformats.org/officeDocument/2006/relationships/slideLayout" Target="../slideLayouts/slideLayout105.xml"/><Relationship Id="rId17" Type="http://schemas.openxmlformats.org/officeDocument/2006/relationships/slideLayout" Target="../slideLayouts/slideLayout110.xml"/><Relationship Id="rId25" Type="http://schemas.openxmlformats.org/officeDocument/2006/relationships/slideLayout" Target="../slideLayouts/slideLayout118.xml"/><Relationship Id="rId33" Type="http://schemas.openxmlformats.org/officeDocument/2006/relationships/tags" Target="../tags/tag101.xml"/><Relationship Id="rId2" Type="http://schemas.openxmlformats.org/officeDocument/2006/relationships/slideLayout" Target="../slideLayouts/slideLayout95.xml"/><Relationship Id="rId16" Type="http://schemas.openxmlformats.org/officeDocument/2006/relationships/slideLayout" Target="../slideLayouts/slideLayout109.xml"/><Relationship Id="rId20" Type="http://schemas.openxmlformats.org/officeDocument/2006/relationships/slideLayout" Target="../slideLayouts/slideLayout113.xml"/><Relationship Id="rId29" Type="http://schemas.openxmlformats.org/officeDocument/2006/relationships/slideLayout" Target="../slideLayouts/slideLayout122.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24" Type="http://schemas.openxmlformats.org/officeDocument/2006/relationships/slideLayout" Target="../slideLayouts/slideLayout117.xml"/><Relationship Id="rId32" Type="http://schemas.openxmlformats.org/officeDocument/2006/relationships/theme" Target="../theme/theme4.xml"/><Relationship Id="rId37" Type="http://schemas.openxmlformats.org/officeDocument/2006/relationships/image" Target="../media/image2.emf"/><Relationship Id="rId5" Type="http://schemas.openxmlformats.org/officeDocument/2006/relationships/slideLayout" Target="../slideLayouts/slideLayout98.xml"/><Relationship Id="rId15" Type="http://schemas.openxmlformats.org/officeDocument/2006/relationships/slideLayout" Target="../slideLayouts/slideLayout108.xml"/><Relationship Id="rId23" Type="http://schemas.openxmlformats.org/officeDocument/2006/relationships/slideLayout" Target="../slideLayouts/slideLayout116.xml"/><Relationship Id="rId28" Type="http://schemas.openxmlformats.org/officeDocument/2006/relationships/slideLayout" Target="../slideLayouts/slideLayout121.xml"/><Relationship Id="rId36" Type="http://schemas.openxmlformats.org/officeDocument/2006/relationships/image" Target="../media/image1.emf"/><Relationship Id="rId10" Type="http://schemas.openxmlformats.org/officeDocument/2006/relationships/slideLayout" Target="../slideLayouts/slideLayout103.xml"/><Relationship Id="rId19" Type="http://schemas.openxmlformats.org/officeDocument/2006/relationships/slideLayout" Target="../slideLayouts/slideLayout112.xml"/><Relationship Id="rId31" Type="http://schemas.openxmlformats.org/officeDocument/2006/relationships/slideLayout" Target="../slideLayouts/slideLayout124.xml"/><Relationship Id="rId4" Type="http://schemas.openxmlformats.org/officeDocument/2006/relationships/slideLayout" Target="../slideLayouts/slideLayout97.xml"/><Relationship Id="rId9" Type="http://schemas.openxmlformats.org/officeDocument/2006/relationships/slideLayout" Target="../slideLayouts/slideLayout102.xml"/><Relationship Id="rId14" Type="http://schemas.openxmlformats.org/officeDocument/2006/relationships/slideLayout" Target="../slideLayouts/slideLayout107.xml"/><Relationship Id="rId22" Type="http://schemas.openxmlformats.org/officeDocument/2006/relationships/slideLayout" Target="../slideLayouts/slideLayout115.xml"/><Relationship Id="rId27" Type="http://schemas.openxmlformats.org/officeDocument/2006/relationships/slideLayout" Target="../slideLayouts/slideLayout120.xml"/><Relationship Id="rId30" Type="http://schemas.openxmlformats.org/officeDocument/2006/relationships/slideLayout" Target="../slideLayouts/slideLayout123.xml"/><Relationship Id="rId35" Type="http://schemas.openxmlformats.org/officeDocument/2006/relationships/oleObject" Target="../embeddings/oleObject4.bin"/><Relationship Id="rId8" Type="http://schemas.openxmlformats.org/officeDocument/2006/relationships/slideLayout" Target="../slideLayouts/slideLayout101.xml"/><Relationship Id="rId3" Type="http://schemas.openxmlformats.org/officeDocument/2006/relationships/slideLayout" Target="../slideLayouts/slideLayout9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26" Type="http://schemas.openxmlformats.org/officeDocument/2006/relationships/slideLayout" Target="../slideLayouts/slideLayout150.xml"/><Relationship Id="rId3" Type="http://schemas.openxmlformats.org/officeDocument/2006/relationships/slideLayout" Target="../slideLayouts/slideLayout127.xml"/><Relationship Id="rId21" Type="http://schemas.openxmlformats.org/officeDocument/2006/relationships/slideLayout" Target="../slideLayouts/slideLayout145.xml"/><Relationship Id="rId34" Type="http://schemas.openxmlformats.org/officeDocument/2006/relationships/oleObject" Target="../embeddings/oleObject5.bin"/><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5" Type="http://schemas.openxmlformats.org/officeDocument/2006/relationships/slideLayout" Target="../slideLayouts/slideLayout149.xml"/><Relationship Id="rId33" Type="http://schemas.openxmlformats.org/officeDocument/2006/relationships/tags" Target="../tags/tag135.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29" Type="http://schemas.openxmlformats.org/officeDocument/2006/relationships/slideLayout" Target="../slideLayouts/slideLayout153.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24" Type="http://schemas.openxmlformats.org/officeDocument/2006/relationships/slideLayout" Target="../slideLayouts/slideLayout148.xml"/><Relationship Id="rId32" Type="http://schemas.openxmlformats.org/officeDocument/2006/relationships/tags" Target="../tags/tag134.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23" Type="http://schemas.openxmlformats.org/officeDocument/2006/relationships/slideLayout" Target="../slideLayouts/slideLayout147.xml"/><Relationship Id="rId28" Type="http://schemas.openxmlformats.org/officeDocument/2006/relationships/slideLayout" Target="../slideLayouts/slideLayout152.xml"/><Relationship Id="rId36" Type="http://schemas.openxmlformats.org/officeDocument/2006/relationships/image" Target="../media/image2.emf"/><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31" Type="http://schemas.openxmlformats.org/officeDocument/2006/relationships/theme" Target="../theme/theme5.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slideLayout" Target="../slideLayouts/slideLayout146.xml"/><Relationship Id="rId27" Type="http://schemas.openxmlformats.org/officeDocument/2006/relationships/slideLayout" Target="../slideLayouts/slideLayout151.xml"/><Relationship Id="rId30" Type="http://schemas.openxmlformats.org/officeDocument/2006/relationships/slideLayout" Target="../slideLayouts/slideLayout154.xml"/><Relationship Id="rId35" Type="http://schemas.openxmlformats.org/officeDocument/2006/relationships/image" Target="../media/image1.emf"/><Relationship Id="rId8" Type="http://schemas.openxmlformats.org/officeDocument/2006/relationships/slideLayout" Target="../slideLayouts/slideLayout132.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67.xml"/><Relationship Id="rId18" Type="http://schemas.openxmlformats.org/officeDocument/2006/relationships/slideLayout" Target="../slideLayouts/slideLayout172.xml"/><Relationship Id="rId26" Type="http://schemas.openxmlformats.org/officeDocument/2006/relationships/slideLayout" Target="../slideLayouts/slideLayout180.xml"/><Relationship Id="rId3" Type="http://schemas.openxmlformats.org/officeDocument/2006/relationships/slideLayout" Target="../slideLayouts/slideLayout157.xml"/><Relationship Id="rId21" Type="http://schemas.openxmlformats.org/officeDocument/2006/relationships/slideLayout" Target="../slideLayouts/slideLayout175.xml"/><Relationship Id="rId34" Type="http://schemas.openxmlformats.org/officeDocument/2006/relationships/oleObject" Target="../embeddings/oleObject6.bin"/><Relationship Id="rId7" Type="http://schemas.openxmlformats.org/officeDocument/2006/relationships/slideLayout" Target="../slideLayouts/slideLayout161.xml"/><Relationship Id="rId12" Type="http://schemas.openxmlformats.org/officeDocument/2006/relationships/slideLayout" Target="../slideLayouts/slideLayout166.xml"/><Relationship Id="rId17" Type="http://schemas.openxmlformats.org/officeDocument/2006/relationships/slideLayout" Target="../slideLayouts/slideLayout171.xml"/><Relationship Id="rId25" Type="http://schemas.openxmlformats.org/officeDocument/2006/relationships/slideLayout" Target="../slideLayouts/slideLayout179.xml"/><Relationship Id="rId33" Type="http://schemas.openxmlformats.org/officeDocument/2006/relationships/tags" Target="../tags/tag167.xml"/><Relationship Id="rId2" Type="http://schemas.openxmlformats.org/officeDocument/2006/relationships/slideLayout" Target="../slideLayouts/slideLayout156.xml"/><Relationship Id="rId16" Type="http://schemas.openxmlformats.org/officeDocument/2006/relationships/slideLayout" Target="../slideLayouts/slideLayout170.xml"/><Relationship Id="rId20" Type="http://schemas.openxmlformats.org/officeDocument/2006/relationships/slideLayout" Target="../slideLayouts/slideLayout174.xml"/><Relationship Id="rId29" Type="http://schemas.openxmlformats.org/officeDocument/2006/relationships/slideLayout" Target="../slideLayouts/slideLayout183.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24" Type="http://schemas.openxmlformats.org/officeDocument/2006/relationships/slideLayout" Target="../slideLayouts/slideLayout178.xml"/><Relationship Id="rId32" Type="http://schemas.openxmlformats.org/officeDocument/2006/relationships/tags" Target="../tags/tag166.xml"/><Relationship Id="rId5" Type="http://schemas.openxmlformats.org/officeDocument/2006/relationships/slideLayout" Target="../slideLayouts/slideLayout159.xml"/><Relationship Id="rId15" Type="http://schemas.openxmlformats.org/officeDocument/2006/relationships/slideLayout" Target="../slideLayouts/slideLayout169.xml"/><Relationship Id="rId23" Type="http://schemas.openxmlformats.org/officeDocument/2006/relationships/slideLayout" Target="../slideLayouts/slideLayout177.xml"/><Relationship Id="rId28" Type="http://schemas.openxmlformats.org/officeDocument/2006/relationships/slideLayout" Target="../slideLayouts/slideLayout182.xml"/><Relationship Id="rId36" Type="http://schemas.openxmlformats.org/officeDocument/2006/relationships/image" Target="../media/image2.emf"/><Relationship Id="rId10" Type="http://schemas.openxmlformats.org/officeDocument/2006/relationships/slideLayout" Target="../slideLayouts/slideLayout164.xml"/><Relationship Id="rId19" Type="http://schemas.openxmlformats.org/officeDocument/2006/relationships/slideLayout" Target="../slideLayouts/slideLayout173.xml"/><Relationship Id="rId31" Type="http://schemas.openxmlformats.org/officeDocument/2006/relationships/theme" Target="../theme/theme6.xml"/><Relationship Id="rId4" Type="http://schemas.openxmlformats.org/officeDocument/2006/relationships/slideLayout" Target="../slideLayouts/slideLayout158.xml"/><Relationship Id="rId9" Type="http://schemas.openxmlformats.org/officeDocument/2006/relationships/slideLayout" Target="../slideLayouts/slideLayout163.xml"/><Relationship Id="rId14" Type="http://schemas.openxmlformats.org/officeDocument/2006/relationships/slideLayout" Target="../slideLayouts/slideLayout168.xml"/><Relationship Id="rId22" Type="http://schemas.openxmlformats.org/officeDocument/2006/relationships/slideLayout" Target="../slideLayouts/slideLayout176.xml"/><Relationship Id="rId27" Type="http://schemas.openxmlformats.org/officeDocument/2006/relationships/slideLayout" Target="../slideLayouts/slideLayout181.xml"/><Relationship Id="rId30" Type="http://schemas.openxmlformats.org/officeDocument/2006/relationships/slideLayout" Target="../slideLayouts/slideLayout184.xml"/><Relationship Id="rId35" Type="http://schemas.openxmlformats.org/officeDocument/2006/relationships/image" Target="../media/image1.emf"/><Relationship Id="rId8" Type="http://schemas.openxmlformats.org/officeDocument/2006/relationships/slideLayout" Target="../slideLayouts/slideLayout1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1461BCD-F823-C665-7892-4EC77143B806}"/>
              </a:ext>
            </a:extLst>
          </p:cNvPr>
          <p:cNvGraphicFramePr>
            <a:graphicFrameLocks noChangeAspect="1"/>
          </p:cNvGraphicFramePr>
          <p:nvPr userDrawn="1">
            <p:custDataLst>
              <p:tags r:id="rId36"/>
            </p:custDataLst>
            <p:extLst>
              <p:ext uri="{D42A27DB-BD31-4B8C-83A1-F6EECF244321}">
                <p14:modId xmlns:p14="http://schemas.microsoft.com/office/powerpoint/2010/main" val="3199449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512" imgH="511" progId="TCLayout.ActiveDocument.1">
                  <p:embed/>
                </p:oleObj>
              </mc:Choice>
              <mc:Fallback>
                <p:oleObj name="think-cell Slide" r:id="rId37" imgW="512" imgH="511" progId="TCLayout.ActiveDocument.1">
                  <p:embed/>
                  <p:pic>
                    <p:nvPicPr>
                      <p:cNvPr id="5" name="think-cell data - do not delete" hidden="1">
                        <a:extLst>
                          <a:ext uri="{FF2B5EF4-FFF2-40B4-BE49-F238E27FC236}">
                            <a16:creationId xmlns:a16="http://schemas.microsoft.com/office/drawing/2014/main" id="{71461BCD-F823-C665-7892-4EC77143B806}"/>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bwMode="gray">
          <a:xfrm>
            <a:off x="446796" y="1801368"/>
            <a:ext cx="11292840" cy="3950208"/>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userDrawn="1">
            <p:ph type="title"/>
          </p:nvPr>
        </p:nvSpPr>
        <p:spPr bwMode="gray">
          <a:xfrm>
            <a:off x="1142123" y="170307"/>
            <a:ext cx="10754602" cy="850392"/>
          </a:xfrm>
          <a:prstGeom prst="rect">
            <a:avLst/>
          </a:prstGeom>
        </p:spPr>
        <p:txBody>
          <a:bodyPr vert="horz" lIns="0" tIns="45720" rIns="0" bIns="45720" rtlCol="0" anchor="t" anchorCtr="0">
            <a:noAutofit/>
          </a:bodyPr>
          <a:lstStyle/>
          <a:p>
            <a:pPr lvl="0"/>
            <a:r>
              <a:rPr lang="en-US"/>
              <a:t>Click to edit Master title style</a:t>
            </a:r>
          </a:p>
        </p:txBody>
      </p:sp>
      <p:grpSp>
        <p:nvGrpSpPr>
          <p:cNvPr id="12" name="Group 11">
            <a:extLst>
              <a:ext uri="{FF2B5EF4-FFF2-40B4-BE49-F238E27FC236}">
                <a16:creationId xmlns:a16="http://schemas.microsoft.com/office/drawing/2014/main" id="{554DB309-1BC3-452B-AA12-02F70E3CF3C4}"/>
              </a:ext>
            </a:extLst>
          </p:cNvPr>
          <p:cNvGrpSpPr/>
          <p:nvPr userDrawn="1"/>
        </p:nvGrpSpPr>
        <p:grpSpPr bwMode="gray">
          <a:xfrm>
            <a:off x="446798" y="326296"/>
            <a:ext cx="587631" cy="45600"/>
            <a:chOff x="616542" y="591197"/>
            <a:chExt cx="587631" cy="45600"/>
          </a:xfrm>
        </p:grpSpPr>
        <p:sp>
          <p:nvSpPr>
            <p:cNvPr id="13" name="Google Shape;17;p2">
              <a:extLst>
                <a:ext uri="{FF2B5EF4-FFF2-40B4-BE49-F238E27FC236}">
                  <a16:creationId xmlns:a16="http://schemas.microsoft.com/office/drawing/2014/main" id="{C75766B0-97F2-444A-9E42-E0CBE795461F}"/>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14" name="Google Shape;18;p2">
              <a:extLst>
                <a:ext uri="{FF2B5EF4-FFF2-40B4-BE49-F238E27FC236}">
                  <a16:creationId xmlns:a16="http://schemas.microsoft.com/office/drawing/2014/main" id="{05F9DAF3-DD76-41B5-93EF-0334C2738E2C}"/>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pic>
        <p:nvPicPr>
          <p:cNvPr id="19" name="Google Shape;53;p7">
            <a:extLst>
              <a:ext uri="{FF2B5EF4-FFF2-40B4-BE49-F238E27FC236}">
                <a16:creationId xmlns:a16="http://schemas.microsoft.com/office/drawing/2014/main" id="{F9F93DF4-D19B-46BE-B88F-8BB1DA82CA35}"/>
              </a:ext>
            </a:extLst>
          </p:cNvPr>
          <p:cNvPicPr preferRelativeResize="0">
            <a:picLocks noChangeAspect="1"/>
          </p:cNvPicPr>
          <p:nvPr userDrawn="1"/>
        </p:nvPicPr>
        <p:blipFill>
          <a:blip r:embed="rId39" cstate="email">
            <a:extLst>
              <a:ext uri="{28A0092B-C50C-407E-A947-70E740481C1C}">
                <a14:useLocalDpi xmlns:a14="http://schemas.microsoft.com/office/drawing/2010/main"/>
              </a:ext>
            </a:extLst>
          </a:blip>
          <a:srcRect t="787" b="787"/>
          <a:stretch/>
        </p:blipFill>
        <p:spPr bwMode="gray">
          <a:xfrm>
            <a:off x="446798" y="6346662"/>
            <a:ext cx="914400" cy="371811"/>
          </a:xfrm>
          <a:prstGeom prst="rect">
            <a:avLst/>
          </a:prstGeom>
          <a:noFill/>
          <a:ln>
            <a:noFill/>
          </a:ln>
        </p:spPr>
      </p:pic>
      <p:sp>
        <p:nvSpPr>
          <p:cNvPr id="11" name="Slide Number Placeholder 5">
            <a:extLst>
              <a:ext uri="{FF2B5EF4-FFF2-40B4-BE49-F238E27FC236}">
                <a16:creationId xmlns:a16="http://schemas.microsoft.com/office/drawing/2014/main" id="{146C14D5-25B9-40A9-A7B3-25F17FEDDC36}"/>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5" name="Google Shape;52;p7">
            <a:extLst>
              <a:ext uri="{FF2B5EF4-FFF2-40B4-BE49-F238E27FC236}">
                <a16:creationId xmlns:a16="http://schemas.microsoft.com/office/drawing/2014/main" id="{32B9580A-B465-4E15-BAF0-0919554158D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Tree>
    <p:custDataLst>
      <p:tags r:id="rId35"/>
    </p:custDataLst>
    <p:extLst>
      <p:ext uri="{BB962C8B-B14F-4D97-AF65-F5344CB8AC3E}">
        <p14:creationId xmlns:p14="http://schemas.microsoft.com/office/powerpoint/2010/main" val="1633675084"/>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4" r:id="rId3"/>
    <p:sldLayoutId id="2147483702" r:id="rId4"/>
    <p:sldLayoutId id="2147483663" r:id="rId5"/>
    <p:sldLayoutId id="2147483650" r:id="rId6"/>
    <p:sldLayoutId id="2147483666" r:id="rId7"/>
    <p:sldLayoutId id="2147483669" r:id="rId8"/>
    <p:sldLayoutId id="2147483670" r:id="rId9"/>
    <p:sldLayoutId id="2147483671" r:id="rId10"/>
    <p:sldLayoutId id="2147483672" r:id="rId11"/>
    <p:sldLayoutId id="2147483673" r:id="rId12"/>
    <p:sldLayoutId id="2147483667" r:id="rId13"/>
    <p:sldLayoutId id="214748366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678" r:id="rId28"/>
    <p:sldLayoutId id="2147483679" r:id="rId29"/>
    <p:sldLayoutId id="2147483704" r:id="rId30"/>
    <p:sldLayoutId id="2147483748" r:id="rId31"/>
    <p:sldLayoutId id="2147483886" r:id="rId32"/>
    <p:sldLayoutId id="2147483887" r:id="rId33"/>
  </p:sldLayoutIdLst>
  <p:txStyles>
    <p:titleStyle>
      <a:lvl1pPr algn="l" defTabSz="914400" rtl="0" eaLnBrk="1" latinLnBrk="0" hangingPunct="1">
        <a:lnSpc>
          <a:spcPct val="85000"/>
        </a:lnSpc>
        <a:spcBef>
          <a:spcPts val="0"/>
        </a:spcBef>
        <a:buNone/>
        <a:defRPr lang="en-US" sz="2000" b="0" kern="1200" dirty="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E98E950-14DF-162B-1E77-F0F6A43B20DE}"/>
              </a:ext>
            </a:extLst>
          </p:cNvPr>
          <p:cNvGraphicFramePr>
            <a:graphicFrameLocks noChangeAspect="1"/>
          </p:cNvGraphicFramePr>
          <p:nvPr userDrawn="1">
            <p:custDataLst>
              <p:tags r:id="rId33"/>
            </p:custDataLst>
            <p:extLst>
              <p:ext uri="{D42A27DB-BD31-4B8C-83A1-F6EECF244321}">
                <p14:modId xmlns:p14="http://schemas.microsoft.com/office/powerpoint/2010/main" val="807000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512" imgH="511" progId="TCLayout.ActiveDocument.1">
                  <p:embed/>
                </p:oleObj>
              </mc:Choice>
              <mc:Fallback>
                <p:oleObj name="think-cell Slide" r:id="rId34" imgW="512" imgH="511" progId="TCLayout.ActiveDocument.1">
                  <p:embed/>
                  <p:pic>
                    <p:nvPicPr>
                      <p:cNvPr id="5" name="think-cell data - do not delete" hidden="1">
                        <a:extLst>
                          <a:ext uri="{FF2B5EF4-FFF2-40B4-BE49-F238E27FC236}">
                            <a16:creationId xmlns:a16="http://schemas.microsoft.com/office/drawing/2014/main" id="{0E98E950-14DF-162B-1E77-F0F6A43B20DE}"/>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bwMode="gray">
          <a:xfrm>
            <a:off x="446796" y="1801368"/>
            <a:ext cx="11292840" cy="3950208"/>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userDrawn="1">
            <p:ph type="title"/>
          </p:nvPr>
        </p:nvSpPr>
        <p:spPr bwMode="gray">
          <a:xfrm>
            <a:off x="1142124" y="170307"/>
            <a:ext cx="10754602" cy="850392"/>
          </a:xfrm>
          <a:prstGeom prst="rect">
            <a:avLst/>
          </a:prstGeom>
        </p:spPr>
        <p:txBody>
          <a:bodyPr vert="horz" lIns="0" tIns="45720" rIns="0" bIns="45720" rtlCol="0" anchor="t" anchorCtr="0">
            <a:noAutofit/>
          </a:bodyPr>
          <a:lstStyle/>
          <a:p>
            <a:pPr lvl="0"/>
            <a:r>
              <a:rPr lang="en-US"/>
              <a:t>Click to edit Master title style</a:t>
            </a:r>
          </a:p>
        </p:txBody>
      </p:sp>
      <p:grpSp>
        <p:nvGrpSpPr>
          <p:cNvPr id="12" name="Group 11">
            <a:extLst>
              <a:ext uri="{FF2B5EF4-FFF2-40B4-BE49-F238E27FC236}">
                <a16:creationId xmlns:a16="http://schemas.microsoft.com/office/drawing/2014/main" id="{554DB309-1BC3-452B-AA12-02F70E3CF3C4}"/>
              </a:ext>
            </a:extLst>
          </p:cNvPr>
          <p:cNvGrpSpPr/>
          <p:nvPr userDrawn="1"/>
        </p:nvGrpSpPr>
        <p:grpSpPr bwMode="gray">
          <a:xfrm>
            <a:off x="446799" y="326296"/>
            <a:ext cx="587631" cy="45600"/>
            <a:chOff x="616542" y="591197"/>
            <a:chExt cx="587631" cy="45600"/>
          </a:xfrm>
        </p:grpSpPr>
        <p:sp>
          <p:nvSpPr>
            <p:cNvPr id="13" name="Google Shape;17;p2">
              <a:extLst>
                <a:ext uri="{FF2B5EF4-FFF2-40B4-BE49-F238E27FC236}">
                  <a16:creationId xmlns:a16="http://schemas.microsoft.com/office/drawing/2014/main" id="{C75766B0-97F2-444A-9E42-E0CBE795461F}"/>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14" name="Google Shape;18;p2">
              <a:extLst>
                <a:ext uri="{FF2B5EF4-FFF2-40B4-BE49-F238E27FC236}">
                  <a16:creationId xmlns:a16="http://schemas.microsoft.com/office/drawing/2014/main" id="{05F9DAF3-DD76-41B5-93EF-0334C2738E2C}"/>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pic>
        <p:nvPicPr>
          <p:cNvPr id="19" name="Google Shape;53;p7">
            <a:extLst>
              <a:ext uri="{FF2B5EF4-FFF2-40B4-BE49-F238E27FC236}">
                <a16:creationId xmlns:a16="http://schemas.microsoft.com/office/drawing/2014/main" id="{F9F93DF4-D19B-46BE-B88F-8BB1DA82CA35}"/>
              </a:ext>
            </a:extLst>
          </p:cNvPr>
          <p:cNvPicPr preferRelativeResize="0">
            <a:picLocks noChangeAspect="1"/>
          </p:cNvPicPr>
          <p:nvPr userDrawn="1"/>
        </p:nvPicPr>
        <p:blipFill>
          <a:blip r:embed="rId36"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1" name="Slide Number Placeholder 5">
            <a:extLst>
              <a:ext uri="{FF2B5EF4-FFF2-40B4-BE49-F238E27FC236}">
                <a16:creationId xmlns:a16="http://schemas.microsoft.com/office/drawing/2014/main" id="{146C14D5-25B9-40A9-A7B3-25F17FEDDC36}"/>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5" name="Google Shape;52;p7">
            <a:extLst>
              <a:ext uri="{FF2B5EF4-FFF2-40B4-BE49-F238E27FC236}">
                <a16:creationId xmlns:a16="http://schemas.microsoft.com/office/drawing/2014/main" id="{32B9580A-B465-4E15-BAF0-0919554158D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Tree>
    <p:custDataLst>
      <p:tags r:id="rId32"/>
    </p:custDataLst>
    <p:extLst>
      <p:ext uri="{BB962C8B-B14F-4D97-AF65-F5344CB8AC3E}">
        <p14:creationId xmlns:p14="http://schemas.microsoft.com/office/powerpoint/2010/main" val="2664172748"/>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7" r:id="rId28"/>
    <p:sldLayoutId id="2147483738" r:id="rId29"/>
    <p:sldLayoutId id="2147483747" r:id="rId30"/>
  </p:sldLayoutIdLst>
  <p:txStyles>
    <p:titleStyle>
      <a:lvl1pPr algn="l" defTabSz="914126" rtl="0" eaLnBrk="1" latinLnBrk="0" hangingPunct="1">
        <a:lnSpc>
          <a:spcPct val="85000"/>
        </a:lnSpc>
        <a:spcBef>
          <a:spcPts val="0"/>
        </a:spcBef>
        <a:buNone/>
        <a:defRPr lang="en-US" sz="1999" b="0" kern="1200" dirty="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999"/>
        </a:spcBef>
        <a:buClrTx/>
        <a:buSzPct val="100000"/>
        <a:buFont typeface="Arial" panose="020B0604020202020204" pitchFamily="34" charset="0"/>
        <a:buChar char="•"/>
        <a:defRPr lang="en-US" sz="1999" kern="1200" dirty="0" smtClean="0">
          <a:solidFill>
            <a:schemeClr val="tx1"/>
          </a:solidFill>
          <a:latin typeface="+mn-lt"/>
          <a:ea typeface="+mn-ea"/>
          <a:cs typeface="+mn-cs"/>
        </a:defRPr>
      </a:lvl1pPr>
      <a:lvl2pPr marL="457063" indent="-169812" algn="l" defTabSz="914126" rtl="0" eaLnBrk="1" latinLnBrk="0" hangingPunct="1">
        <a:lnSpc>
          <a:spcPct val="90000"/>
        </a:lnSpc>
        <a:spcBef>
          <a:spcPts val="1000"/>
        </a:spcBef>
        <a:buClrTx/>
        <a:buFont typeface="Arial" panose="020B0604020202020204" pitchFamily="34" charset="0"/>
        <a:buChar char="•"/>
        <a:defRPr sz="1799" kern="1200">
          <a:solidFill>
            <a:schemeClr val="tx1"/>
          </a:solidFill>
          <a:latin typeface="+mn-lt"/>
          <a:ea typeface="+mn-ea"/>
          <a:cs typeface="+mn-cs"/>
        </a:defRPr>
      </a:lvl2pPr>
      <a:lvl3pPr marL="685594" indent="-171399" algn="l" defTabSz="914126"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126" indent="-171399" algn="l" defTabSz="914126"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8698" indent="-114266" algn="l" defTabSz="914126"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5C201D7-412E-DAD6-95C4-B11DC15AD7E7}"/>
              </a:ext>
            </a:extLst>
          </p:cNvPr>
          <p:cNvGraphicFramePr>
            <a:graphicFrameLocks noChangeAspect="1"/>
          </p:cNvGraphicFramePr>
          <p:nvPr userDrawn="1">
            <p:custDataLst>
              <p:tags r:id="rId33"/>
            </p:custDataLst>
            <p:extLst>
              <p:ext uri="{D42A27DB-BD31-4B8C-83A1-F6EECF244321}">
                <p14:modId xmlns:p14="http://schemas.microsoft.com/office/powerpoint/2010/main" val="4195582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512" imgH="511" progId="TCLayout.ActiveDocument.1">
                  <p:embed/>
                </p:oleObj>
              </mc:Choice>
              <mc:Fallback>
                <p:oleObj name="think-cell Slide" r:id="rId34" imgW="512" imgH="511" progId="TCLayout.ActiveDocument.1">
                  <p:embed/>
                  <p:pic>
                    <p:nvPicPr>
                      <p:cNvPr id="5" name="think-cell data - do not delete" hidden="1">
                        <a:extLst>
                          <a:ext uri="{FF2B5EF4-FFF2-40B4-BE49-F238E27FC236}">
                            <a16:creationId xmlns:a16="http://schemas.microsoft.com/office/drawing/2014/main" id="{75C201D7-412E-DAD6-95C4-B11DC15AD7E7}"/>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bwMode="gray">
          <a:xfrm>
            <a:off x="446796" y="1801368"/>
            <a:ext cx="11292840" cy="3950208"/>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userDrawn="1">
            <p:ph type="title"/>
          </p:nvPr>
        </p:nvSpPr>
        <p:spPr bwMode="gray">
          <a:xfrm>
            <a:off x="1142123" y="170307"/>
            <a:ext cx="10754602" cy="850392"/>
          </a:xfrm>
          <a:prstGeom prst="rect">
            <a:avLst/>
          </a:prstGeom>
        </p:spPr>
        <p:txBody>
          <a:bodyPr vert="horz" lIns="0" tIns="45720" rIns="0" bIns="45720" rtlCol="0" anchor="t" anchorCtr="0">
            <a:noAutofit/>
          </a:bodyPr>
          <a:lstStyle/>
          <a:p>
            <a:pPr lvl="0"/>
            <a:r>
              <a:rPr lang="en-US"/>
              <a:t>Click to edit Master title style</a:t>
            </a:r>
          </a:p>
        </p:txBody>
      </p:sp>
      <p:grpSp>
        <p:nvGrpSpPr>
          <p:cNvPr id="12" name="Group 11">
            <a:extLst>
              <a:ext uri="{FF2B5EF4-FFF2-40B4-BE49-F238E27FC236}">
                <a16:creationId xmlns:a16="http://schemas.microsoft.com/office/drawing/2014/main" id="{554DB309-1BC3-452B-AA12-02F70E3CF3C4}"/>
              </a:ext>
            </a:extLst>
          </p:cNvPr>
          <p:cNvGrpSpPr/>
          <p:nvPr userDrawn="1"/>
        </p:nvGrpSpPr>
        <p:grpSpPr bwMode="gray">
          <a:xfrm>
            <a:off x="446798" y="326296"/>
            <a:ext cx="587631" cy="45600"/>
            <a:chOff x="616542" y="591197"/>
            <a:chExt cx="587631" cy="45600"/>
          </a:xfrm>
        </p:grpSpPr>
        <p:sp>
          <p:nvSpPr>
            <p:cNvPr id="13" name="Google Shape;17;p2">
              <a:extLst>
                <a:ext uri="{FF2B5EF4-FFF2-40B4-BE49-F238E27FC236}">
                  <a16:creationId xmlns:a16="http://schemas.microsoft.com/office/drawing/2014/main" id="{C75766B0-97F2-444A-9E42-E0CBE795461F}"/>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14" name="Google Shape;18;p2">
              <a:extLst>
                <a:ext uri="{FF2B5EF4-FFF2-40B4-BE49-F238E27FC236}">
                  <a16:creationId xmlns:a16="http://schemas.microsoft.com/office/drawing/2014/main" id="{05F9DAF3-DD76-41B5-93EF-0334C2738E2C}"/>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pic>
        <p:nvPicPr>
          <p:cNvPr id="19" name="Google Shape;53;p7">
            <a:extLst>
              <a:ext uri="{FF2B5EF4-FFF2-40B4-BE49-F238E27FC236}">
                <a16:creationId xmlns:a16="http://schemas.microsoft.com/office/drawing/2014/main" id="{F9F93DF4-D19B-46BE-B88F-8BB1DA82CA35}"/>
              </a:ext>
            </a:extLst>
          </p:cNvPr>
          <p:cNvPicPr preferRelativeResize="0">
            <a:picLocks noChangeAspect="1"/>
          </p:cNvPicPr>
          <p:nvPr userDrawn="1"/>
        </p:nvPicPr>
        <p:blipFill>
          <a:blip r:embed="rId36" cstate="email">
            <a:extLst>
              <a:ext uri="{28A0092B-C50C-407E-A947-70E740481C1C}">
                <a14:useLocalDpi xmlns:a14="http://schemas.microsoft.com/office/drawing/2010/main"/>
              </a:ext>
            </a:extLst>
          </a:blip>
          <a:srcRect t="787" b="787"/>
          <a:stretch/>
        </p:blipFill>
        <p:spPr bwMode="gray">
          <a:xfrm>
            <a:off x="446798" y="6346662"/>
            <a:ext cx="914400" cy="371811"/>
          </a:xfrm>
          <a:prstGeom prst="rect">
            <a:avLst/>
          </a:prstGeom>
          <a:noFill/>
          <a:ln>
            <a:noFill/>
          </a:ln>
        </p:spPr>
      </p:pic>
      <p:sp>
        <p:nvSpPr>
          <p:cNvPr id="11" name="Slide Number Placeholder 5">
            <a:extLst>
              <a:ext uri="{FF2B5EF4-FFF2-40B4-BE49-F238E27FC236}">
                <a16:creationId xmlns:a16="http://schemas.microsoft.com/office/drawing/2014/main" id="{146C14D5-25B9-40A9-A7B3-25F17FEDDC36}"/>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5" name="Google Shape;52;p7">
            <a:extLst>
              <a:ext uri="{FF2B5EF4-FFF2-40B4-BE49-F238E27FC236}">
                <a16:creationId xmlns:a16="http://schemas.microsoft.com/office/drawing/2014/main" id="{32B9580A-B465-4E15-BAF0-0919554158D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Tree>
    <p:custDataLst>
      <p:tags r:id="rId32"/>
    </p:custDataLst>
    <p:extLst>
      <p:ext uri="{BB962C8B-B14F-4D97-AF65-F5344CB8AC3E}">
        <p14:creationId xmlns:p14="http://schemas.microsoft.com/office/powerpoint/2010/main" val="244062786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 id="2147483772" r:id="rId22"/>
    <p:sldLayoutId id="2147483773" r:id="rId23"/>
    <p:sldLayoutId id="2147483774" r:id="rId24"/>
    <p:sldLayoutId id="2147483775" r:id="rId25"/>
    <p:sldLayoutId id="2147483776" r:id="rId26"/>
    <p:sldLayoutId id="2147483777" r:id="rId27"/>
    <p:sldLayoutId id="2147483781" r:id="rId28"/>
    <p:sldLayoutId id="2147483782" r:id="rId29"/>
    <p:sldLayoutId id="2147483791" r:id="rId30"/>
  </p:sldLayoutIdLst>
  <p:txStyles>
    <p:titleStyle>
      <a:lvl1pPr algn="l" defTabSz="914400" rtl="0" eaLnBrk="1" latinLnBrk="0" hangingPunct="1">
        <a:lnSpc>
          <a:spcPct val="85000"/>
        </a:lnSpc>
        <a:spcBef>
          <a:spcPts val="0"/>
        </a:spcBef>
        <a:buNone/>
        <a:defRPr lang="en-US" sz="2000" b="0" kern="1200" dirty="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A1AC934-297A-8613-53D1-4B4CE6E3FA01}"/>
              </a:ext>
            </a:extLst>
          </p:cNvPr>
          <p:cNvGraphicFramePr>
            <a:graphicFrameLocks noChangeAspect="1"/>
          </p:cNvGraphicFramePr>
          <p:nvPr userDrawn="1">
            <p:custDataLst>
              <p:tags r:id="rId34"/>
            </p:custDataLst>
            <p:extLst>
              <p:ext uri="{D42A27DB-BD31-4B8C-83A1-F6EECF244321}">
                <p14:modId xmlns:p14="http://schemas.microsoft.com/office/powerpoint/2010/main" val="1043207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512" imgH="511" progId="TCLayout.ActiveDocument.1">
                  <p:embed/>
                </p:oleObj>
              </mc:Choice>
              <mc:Fallback>
                <p:oleObj name="think-cell Slide" r:id="rId35" imgW="512" imgH="511" progId="TCLayout.ActiveDocument.1">
                  <p:embed/>
                  <p:pic>
                    <p:nvPicPr>
                      <p:cNvPr id="5" name="think-cell data - do not delete" hidden="1">
                        <a:extLst>
                          <a:ext uri="{FF2B5EF4-FFF2-40B4-BE49-F238E27FC236}">
                            <a16:creationId xmlns:a16="http://schemas.microsoft.com/office/drawing/2014/main" id="{FA1AC934-297A-8613-53D1-4B4CE6E3FA01}"/>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bwMode="gray">
          <a:xfrm>
            <a:off x="446796" y="1801368"/>
            <a:ext cx="11292840" cy="3950208"/>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userDrawn="1">
            <p:ph type="title"/>
          </p:nvPr>
        </p:nvSpPr>
        <p:spPr bwMode="gray">
          <a:xfrm>
            <a:off x="1142124" y="170307"/>
            <a:ext cx="10754602" cy="850392"/>
          </a:xfrm>
          <a:prstGeom prst="rect">
            <a:avLst/>
          </a:prstGeom>
        </p:spPr>
        <p:txBody>
          <a:bodyPr vert="horz" lIns="0" tIns="45720" rIns="0" bIns="45720" rtlCol="0" anchor="t" anchorCtr="0">
            <a:noAutofit/>
          </a:bodyPr>
          <a:lstStyle/>
          <a:p>
            <a:pPr lvl="0"/>
            <a:r>
              <a:rPr lang="en-US"/>
              <a:t>Click to edit Master title style</a:t>
            </a:r>
          </a:p>
        </p:txBody>
      </p:sp>
      <p:grpSp>
        <p:nvGrpSpPr>
          <p:cNvPr id="12" name="Group 11">
            <a:extLst>
              <a:ext uri="{FF2B5EF4-FFF2-40B4-BE49-F238E27FC236}">
                <a16:creationId xmlns:a16="http://schemas.microsoft.com/office/drawing/2014/main" id="{554DB309-1BC3-452B-AA12-02F70E3CF3C4}"/>
              </a:ext>
            </a:extLst>
          </p:cNvPr>
          <p:cNvGrpSpPr/>
          <p:nvPr userDrawn="1"/>
        </p:nvGrpSpPr>
        <p:grpSpPr bwMode="gray">
          <a:xfrm>
            <a:off x="446799" y="326296"/>
            <a:ext cx="587631" cy="45600"/>
            <a:chOff x="616542" y="591197"/>
            <a:chExt cx="587631" cy="45600"/>
          </a:xfrm>
        </p:grpSpPr>
        <p:sp>
          <p:nvSpPr>
            <p:cNvPr id="13" name="Google Shape;17;p2">
              <a:extLst>
                <a:ext uri="{FF2B5EF4-FFF2-40B4-BE49-F238E27FC236}">
                  <a16:creationId xmlns:a16="http://schemas.microsoft.com/office/drawing/2014/main" id="{C75766B0-97F2-444A-9E42-E0CBE795461F}"/>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14" name="Google Shape;18;p2">
              <a:extLst>
                <a:ext uri="{FF2B5EF4-FFF2-40B4-BE49-F238E27FC236}">
                  <a16:creationId xmlns:a16="http://schemas.microsoft.com/office/drawing/2014/main" id="{05F9DAF3-DD76-41B5-93EF-0334C2738E2C}"/>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pic>
        <p:nvPicPr>
          <p:cNvPr id="19" name="Google Shape;53;p7">
            <a:extLst>
              <a:ext uri="{FF2B5EF4-FFF2-40B4-BE49-F238E27FC236}">
                <a16:creationId xmlns:a16="http://schemas.microsoft.com/office/drawing/2014/main" id="{F9F93DF4-D19B-46BE-B88F-8BB1DA82CA35}"/>
              </a:ext>
            </a:extLst>
          </p:cNvPr>
          <p:cNvPicPr preferRelativeResize="0">
            <a:picLocks noChangeAspect="1"/>
          </p:cNvPicPr>
          <p:nvPr userDrawn="1"/>
        </p:nvPicPr>
        <p:blipFill>
          <a:blip r:embed="rId37"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1" name="Slide Number Placeholder 5">
            <a:extLst>
              <a:ext uri="{FF2B5EF4-FFF2-40B4-BE49-F238E27FC236}">
                <a16:creationId xmlns:a16="http://schemas.microsoft.com/office/drawing/2014/main" id="{146C14D5-25B9-40A9-A7B3-25F17FEDDC36}"/>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5" name="Google Shape;52;p7">
            <a:extLst>
              <a:ext uri="{FF2B5EF4-FFF2-40B4-BE49-F238E27FC236}">
                <a16:creationId xmlns:a16="http://schemas.microsoft.com/office/drawing/2014/main" id="{32B9580A-B465-4E15-BAF0-0919554158D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Tree>
    <p:custDataLst>
      <p:tags r:id="rId33"/>
    </p:custDataLst>
    <p:extLst>
      <p:ext uri="{BB962C8B-B14F-4D97-AF65-F5344CB8AC3E}">
        <p14:creationId xmlns:p14="http://schemas.microsoft.com/office/powerpoint/2010/main" val="144383607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 id="2147483821" r:id="rId29"/>
    <p:sldLayoutId id="2147483822" r:id="rId30"/>
    <p:sldLayoutId id="2147483823" r:id="rId31"/>
  </p:sldLayoutIdLst>
  <p:txStyles>
    <p:titleStyle>
      <a:lvl1pPr algn="l" defTabSz="914126" rtl="0" eaLnBrk="1" latinLnBrk="0" hangingPunct="1">
        <a:lnSpc>
          <a:spcPct val="85000"/>
        </a:lnSpc>
        <a:spcBef>
          <a:spcPts val="0"/>
        </a:spcBef>
        <a:buNone/>
        <a:defRPr lang="en-US" sz="1999" b="0" kern="1200" dirty="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999"/>
        </a:spcBef>
        <a:buClrTx/>
        <a:buSzPct val="100000"/>
        <a:buFont typeface="Arial" panose="020B0604020202020204" pitchFamily="34" charset="0"/>
        <a:buChar char="•"/>
        <a:defRPr lang="en-US" sz="1999" kern="1200" dirty="0" smtClean="0">
          <a:solidFill>
            <a:schemeClr val="tx1"/>
          </a:solidFill>
          <a:latin typeface="+mn-lt"/>
          <a:ea typeface="+mn-ea"/>
          <a:cs typeface="+mn-cs"/>
        </a:defRPr>
      </a:lvl1pPr>
      <a:lvl2pPr marL="457063" indent="-169812" algn="l" defTabSz="914126" rtl="0" eaLnBrk="1" latinLnBrk="0" hangingPunct="1">
        <a:lnSpc>
          <a:spcPct val="90000"/>
        </a:lnSpc>
        <a:spcBef>
          <a:spcPts val="1000"/>
        </a:spcBef>
        <a:buClrTx/>
        <a:buFont typeface="Arial" panose="020B0604020202020204" pitchFamily="34" charset="0"/>
        <a:buChar char="•"/>
        <a:defRPr sz="1799" kern="1200">
          <a:solidFill>
            <a:schemeClr val="tx1"/>
          </a:solidFill>
          <a:latin typeface="+mn-lt"/>
          <a:ea typeface="+mn-ea"/>
          <a:cs typeface="+mn-cs"/>
        </a:defRPr>
      </a:lvl2pPr>
      <a:lvl3pPr marL="685594" indent="-171399" algn="l" defTabSz="914126"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126" indent="-171399" algn="l" defTabSz="914126"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8698" indent="-114266" algn="l" defTabSz="914126"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93F14FB-2E26-41F1-ED10-F52CD972E305}"/>
              </a:ext>
            </a:extLst>
          </p:cNvPr>
          <p:cNvGraphicFramePr>
            <a:graphicFrameLocks noChangeAspect="1"/>
          </p:cNvGraphicFramePr>
          <p:nvPr userDrawn="1">
            <p:custDataLst>
              <p:tags r:id="rId33"/>
            </p:custDataLst>
            <p:extLst>
              <p:ext uri="{D42A27DB-BD31-4B8C-83A1-F6EECF244321}">
                <p14:modId xmlns:p14="http://schemas.microsoft.com/office/powerpoint/2010/main" val="39711780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512" imgH="511" progId="TCLayout.ActiveDocument.1">
                  <p:embed/>
                </p:oleObj>
              </mc:Choice>
              <mc:Fallback>
                <p:oleObj name="think-cell Slide" r:id="rId34" imgW="512" imgH="511" progId="TCLayout.ActiveDocument.1">
                  <p:embed/>
                  <p:pic>
                    <p:nvPicPr>
                      <p:cNvPr id="5" name="think-cell data - do not delete" hidden="1">
                        <a:extLst>
                          <a:ext uri="{FF2B5EF4-FFF2-40B4-BE49-F238E27FC236}">
                            <a16:creationId xmlns:a16="http://schemas.microsoft.com/office/drawing/2014/main" id="{993F14FB-2E26-41F1-ED10-F52CD972E305}"/>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bwMode="gray">
          <a:xfrm>
            <a:off x="446796" y="1801368"/>
            <a:ext cx="11292840" cy="3950208"/>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userDrawn="1">
            <p:ph type="title"/>
          </p:nvPr>
        </p:nvSpPr>
        <p:spPr bwMode="gray">
          <a:xfrm>
            <a:off x="1142125" y="170307"/>
            <a:ext cx="10754602" cy="850392"/>
          </a:xfrm>
          <a:prstGeom prst="rect">
            <a:avLst/>
          </a:prstGeom>
        </p:spPr>
        <p:txBody>
          <a:bodyPr vert="horz" lIns="0" tIns="45720" rIns="0" bIns="45720" rtlCol="0" anchor="t" anchorCtr="0">
            <a:noAutofit/>
          </a:bodyPr>
          <a:lstStyle/>
          <a:p>
            <a:pPr lvl="0"/>
            <a:r>
              <a:rPr lang="en-US"/>
              <a:t>Click to edit Master title style</a:t>
            </a:r>
          </a:p>
        </p:txBody>
      </p:sp>
      <p:grpSp>
        <p:nvGrpSpPr>
          <p:cNvPr id="12" name="Group 11">
            <a:extLst>
              <a:ext uri="{FF2B5EF4-FFF2-40B4-BE49-F238E27FC236}">
                <a16:creationId xmlns:a16="http://schemas.microsoft.com/office/drawing/2014/main" id="{554DB309-1BC3-452B-AA12-02F70E3CF3C4}"/>
              </a:ext>
            </a:extLst>
          </p:cNvPr>
          <p:cNvGrpSpPr/>
          <p:nvPr userDrawn="1"/>
        </p:nvGrpSpPr>
        <p:grpSpPr bwMode="gray">
          <a:xfrm>
            <a:off x="446800" y="326296"/>
            <a:ext cx="587631" cy="45600"/>
            <a:chOff x="616542" y="591197"/>
            <a:chExt cx="587631" cy="45600"/>
          </a:xfrm>
        </p:grpSpPr>
        <p:sp>
          <p:nvSpPr>
            <p:cNvPr id="13" name="Google Shape;17;p2">
              <a:extLst>
                <a:ext uri="{FF2B5EF4-FFF2-40B4-BE49-F238E27FC236}">
                  <a16:creationId xmlns:a16="http://schemas.microsoft.com/office/drawing/2014/main" id="{C75766B0-97F2-444A-9E42-E0CBE795461F}"/>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sp>
          <p:nvSpPr>
            <p:cNvPr id="14" name="Google Shape;18;p2">
              <a:extLst>
                <a:ext uri="{FF2B5EF4-FFF2-40B4-BE49-F238E27FC236}">
                  <a16:creationId xmlns:a16="http://schemas.microsoft.com/office/drawing/2014/main" id="{05F9DAF3-DD76-41B5-93EF-0334C2738E2C}"/>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5"/>
            </a:p>
          </p:txBody>
        </p:sp>
      </p:grpSp>
      <p:pic>
        <p:nvPicPr>
          <p:cNvPr id="19" name="Google Shape;53;p7">
            <a:extLst>
              <a:ext uri="{FF2B5EF4-FFF2-40B4-BE49-F238E27FC236}">
                <a16:creationId xmlns:a16="http://schemas.microsoft.com/office/drawing/2014/main" id="{F9F93DF4-D19B-46BE-B88F-8BB1DA82CA35}"/>
              </a:ext>
            </a:extLst>
          </p:cNvPr>
          <p:cNvPicPr preferRelativeResize="0">
            <a:picLocks noChangeAspect="1"/>
          </p:cNvPicPr>
          <p:nvPr userDrawn="1"/>
        </p:nvPicPr>
        <p:blipFill>
          <a:blip r:embed="rId36" cstate="email">
            <a:extLst>
              <a:ext uri="{28A0092B-C50C-407E-A947-70E740481C1C}">
                <a14:useLocalDpi xmlns:a14="http://schemas.microsoft.com/office/drawing/2010/main"/>
              </a:ext>
            </a:extLst>
          </a:blip>
          <a:srcRect t="787" b="787"/>
          <a:stretch/>
        </p:blipFill>
        <p:spPr bwMode="gray">
          <a:xfrm>
            <a:off x="446798" y="6346666"/>
            <a:ext cx="914400" cy="371811"/>
          </a:xfrm>
          <a:prstGeom prst="rect">
            <a:avLst/>
          </a:prstGeom>
          <a:noFill/>
          <a:ln>
            <a:noFill/>
          </a:ln>
        </p:spPr>
      </p:pic>
      <p:sp>
        <p:nvSpPr>
          <p:cNvPr id="11" name="Slide Number Placeholder 5">
            <a:extLst>
              <a:ext uri="{FF2B5EF4-FFF2-40B4-BE49-F238E27FC236}">
                <a16:creationId xmlns:a16="http://schemas.microsoft.com/office/drawing/2014/main" id="{146C14D5-25B9-40A9-A7B3-25F17FEDDC36}"/>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5" name="Google Shape;52;p7">
            <a:extLst>
              <a:ext uri="{FF2B5EF4-FFF2-40B4-BE49-F238E27FC236}">
                <a16:creationId xmlns:a16="http://schemas.microsoft.com/office/drawing/2014/main" id="{32B9580A-B465-4E15-BAF0-0919554158D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Tree>
    <p:custDataLst>
      <p:tags r:id="rId32"/>
    </p:custDataLst>
    <p:extLst>
      <p:ext uri="{BB962C8B-B14F-4D97-AF65-F5344CB8AC3E}">
        <p14:creationId xmlns:p14="http://schemas.microsoft.com/office/powerpoint/2010/main" val="744978215"/>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Lst>
  <p:txStyles>
    <p:titleStyle>
      <a:lvl1pPr algn="l" defTabSz="913852" rtl="0" eaLnBrk="1" latinLnBrk="0" hangingPunct="1">
        <a:lnSpc>
          <a:spcPct val="85000"/>
        </a:lnSpc>
        <a:spcBef>
          <a:spcPts val="0"/>
        </a:spcBef>
        <a:buNone/>
        <a:defRPr lang="en-US" sz="1998" b="0" kern="1200" dirty="0">
          <a:solidFill>
            <a:schemeClr val="tx1"/>
          </a:solidFill>
          <a:latin typeface="+mj-lt"/>
          <a:ea typeface="+mj-ea"/>
          <a:cs typeface="+mj-cs"/>
        </a:defRPr>
      </a:lvl1pPr>
    </p:titleStyle>
    <p:bodyStyle>
      <a:lvl1pPr marL="228462" indent="-228462" algn="l" defTabSz="913852" rtl="0" eaLnBrk="1" latinLnBrk="0" hangingPunct="1">
        <a:lnSpc>
          <a:spcPct val="90000"/>
        </a:lnSpc>
        <a:spcBef>
          <a:spcPts val="1998"/>
        </a:spcBef>
        <a:buClrTx/>
        <a:buSzPct val="100000"/>
        <a:buFont typeface="Arial" panose="020B0604020202020204" pitchFamily="34" charset="0"/>
        <a:buChar char="•"/>
        <a:defRPr lang="en-US" sz="1998" kern="1200" dirty="0" smtClean="0">
          <a:solidFill>
            <a:schemeClr val="tx1"/>
          </a:solidFill>
          <a:latin typeface="+mn-lt"/>
          <a:ea typeface="+mn-ea"/>
          <a:cs typeface="+mn-cs"/>
        </a:defRPr>
      </a:lvl1pPr>
      <a:lvl2pPr marL="456926" indent="-169761" algn="l" defTabSz="913852" rtl="0" eaLnBrk="1" latinLnBrk="0" hangingPunct="1">
        <a:lnSpc>
          <a:spcPct val="90000"/>
        </a:lnSpc>
        <a:spcBef>
          <a:spcPts val="1000"/>
        </a:spcBef>
        <a:buClrTx/>
        <a:buFont typeface="Arial" panose="020B0604020202020204" pitchFamily="34" charset="0"/>
        <a:buChar char="•"/>
        <a:defRPr sz="1798" kern="1200">
          <a:solidFill>
            <a:schemeClr val="tx1"/>
          </a:solidFill>
          <a:latin typeface="+mn-lt"/>
          <a:ea typeface="+mn-ea"/>
          <a:cs typeface="+mn-cs"/>
        </a:defRPr>
      </a:lvl2pPr>
      <a:lvl3pPr marL="685388" indent="-171348" algn="l" defTabSz="913852"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3852" indent="-171348" algn="l" defTabSz="913852"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8371" indent="-114232" algn="l" defTabSz="913852"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3092" indent="-228462" algn="l" defTabSz="913852" rtl="0" eaLnBrk="1" latinLnBrk="0" hangingPunct="1">
        <a:spcBef>
          <a:spcPct val="20000"/>
        </a:spcBef>
        <a:buFont typeface="Arial" pitchFamily="34" charset="0"/>
        <a:buChar char="•"/>
        <a:defRPr sz="1998" kern="1200">
          <a:solidFill>
            <a:schemeClr val="tx1"/>
          </a:solidFill>
          <a:latin typeface="+mn-lt"/>
          <a:ea typeface="+mn-ea"/>
          <a:cs typeface="+mn-cs"/>
        </a:defRPr>
      </a:lvl6pPr>
      <a:lvl7pPr marL="2970017" indent="-228462" algn="l" defTabSz="913852" rtl="0" eaLnBrk="1" latinLnBrk="0" hangingPunct="1">
        <a:spcBef>
          <a:spcPct val="20000"/>
        </a:spcBef>
        <a:buFont typeface="Arial" pitchFamily="34" charset="0"/>
        <a:buChar char="•"/>
        <a:defRPr sz="1998" kern="1200">
          <a:solidFill>
            <a:schemeClr val="tx1"/>
          </a:solidFill>
          <a:latin typeface="+mn-lt"/>
          <a:ea typeface="+mn-ea"/>
          <a:cs typeface="+mn-cs"/>
        </a:defRPr>
      </a:lvl7pPr>
      <a:lvl8pPr marL="3426943" indent="-228462" algn="l" defTabSz="913852" rtl="0" eaLnBrk="1" latinLnBrk="0" hangingPunct="1">
        <a:spcBef>
          <a:spcPct val="20000"/>
        </a:spcBef>
        <a:buFont typeface="Arial" pitchFamily="34" charset="0"/>
        <a:buChar char="•"/>
        <a:defRPr sz="1998" kern="1200">
          <a:solidFill>
            <a:schemeClr val="tx1"/>
          </a:solidFill>
          <a:latin typeface="+mn-lt"/>
          <a:ea typeface="+mn-ea"/>
          <a:cs typeface="+mn-cs"/>
        </a:defRPr>
      </a:lvl8pPr>
      <a:lvl9pPr marL="3883868" indent="-228462" algn="l" defTabSz="913852" rtl="0" eaLnBrk="1" latinLnBrk="0" hangingPunct="1">
        <a:spcBef>
          <a:spcPct val="20000"/>
        </a:spcBef>
        <a:buFont typeface="Arial" pitchFamily="34" charset="0"/>
        <a:buChar char="•"/>
        <a:defRPr sz="1998" kern="1200">
          <a:solidFill>
            <a:schemeClr val="tx1"/>
          </a:solidFill>
          <a:latin typeface="+mn-lt"/>
          <a:ea typeface="+mn-ea"/>
          <a:cs typeface="+mn-cs"/>
        </a:defRPr>
      </a:lvl9pPr>
    </p:bodyStyle>
    <p:otherStyle>
      <a:defPPr>
        <a:defRPr lang="en-US"/>
      </a:defPPr>
      <a:lvl1pPr marL="0" algn="l" defTabSz="913852" rtl="0" eaLnBrk="1" latinLnBrk="0" hangingPunct="1">
        <a:defRPr sz="1798" kern="1200">
          <a:solidFill>
            <a:schemeClr val="tx1"/>
          </a:solidFill>
          <a:latin typeface="+mn-lt"/>
          <a:ea typeface="+mn-ea"/>
          <a:cs typeface="+mn-cs"/>
        </a:defRPr>
      </a:lvl1pPr>
      <a:lvl2pPr marL="456926" algn="l" defTabSz="913852" rtl="0" eaLnBrk="1" latinLnBrk="0" hangingPunct="1">
        <a:defRPr sz="1798" kern="1200">
          <a:solidFill>
            <a:schemeClr val="tx1"/>
          </a:solidFill>
          <a:latin typeface="+mn-lt"/>
          <a:ea typeface="+mn-ea"/>
          <a:cs typeface="+mn-cs"/>
        </a:defRPr>
      </a:lvl2pPr>
      <a:lvl3pPr marL="913852" algn="l" defTabSz="913852" rtl="0" eaLnBrk="1" latinLnBrk="0" hangingPunct="1">
        <a:defRPr sz="1798" kern="1200">
          <a:solidFill>
            <a:schemeClr val="tx1"/>
          </a:solidFill>
          <a:latin typeface="+mn-lt"/>
          <a:ea typeface="+mn-ea"/>
          <a:cs typeface="+mn-cs"/>
        </a:defRPr>
      </a:lvl3pPr>
      <a:lvl4pPr marL="1370778" algn="l" defTabSz="913852" rtl="0" eaLnBrk="1" latinLnBrk="0" hangingPunct="1">
        <a:defRPr sz="1798" kern="1200">
          <a:solidFill>
            <a:schemeClr val="tx1"/>
          </a:solidFill>
          <a:latin typeface="+mn-lt"/>
          <a:ea typeface="+mn-ea"/>
          <a:cs typeface="+mn-cs"/>
        </a:defRPr>
      </a:lvl4pPr>
      <a:lvl5pPr marL="1827703" algn="l" defTabSz="913852" rtl="0" eaLnBrk="1" latinLnBrk="0" hangingPunct="1">
        <a:defRPr sz="1798" kern="1200">
          <a:solidFill>
            <a:schemeClr val="tx1"/>
          </a:solidFill>
          <a:latin typeface="+mn-lt"/>
          <a:ea typeface="+mn-ea"/>
          <a:cs typeface="+mn-cs"/>
        </a:defRPr>
      </a:lvl5pPr>
      <a:lvl6pPr marL="2284628" algn="l" defTabSz="913852" rtl="0" eaLnBrk="1" latinLnBrk="0" hangingPunct="1">
        <a:defRPr sz="1798" kern="1200">
          <a:solidFill>
            <a:schemeClr val="tx1"/>
          </a:solidFill>
          <a:latin typeface="+mn-lt"/>
          <a:ea typeface="+mn-ea"/>
          <a:cs typeface="+mn-cs"/>
        </a:defRPr>
      </a:lvl6pPr>
      <a:lvl7pPr marL="2741554" algn="l" defTabSz="913852" rtl="0" eaLnBrk="1" latinLnBrk="0" hangingPunct="1">
        <a:defRPr sz="1798" kern="1200">
          <a:solidFill>
            <a:schemeClr val="tx1"/>
          </a:solidFill>
          <a:latin typeface="+mn-lt"/>
          <a:ea typeface="+mn-ea"/>
          <a:cs typeface="+mn-cs"/>
        </a:defRPr>
      </a:lvl7pPr>
      <a:lvl8pPr marL="3198480" algn="l" defTabSz="913852" rtl="0" eaLnBrk="1" latinLnBrk="0" hangingPunct="1">
        <a:defRPr sz="1798" kern="1200">
          <a:solidFill>
            <a:schemeClr val="tx1"/>
          </a:solidFill>
          <a:latin typeface="+mn-lt"/>
          <a:ea typeface="+mn-ea"/>
          <a:cs typeface="+mn-cs"/>
        </a:defRPr>
      </a:lvl8pPr>
      <a:lvl9pPr marL="3655406" algn="l" defTabSz="913852"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02222BE-8BBA-825B-8C9C-A87F6638C5A8}"/>
              </a:ext>
            </a:extLst>
          </p:cNvPr>
          <p:cNvGraphicFramePr>
            <a:graphicFrameLocks noChangeAspect="1"/>
          </p:cNvGraphicFramePr>
          <p:nvPr userDrawn="1">
            <p:custDataLst>
              <p:tags r:id="rId33"/>
            </p:custDataLst>
            <p:extLst>
              <p:ext uri="{D42A27DB-BD31-4B8C-83A1-F6EECF244321}">
                <p14:modId xmlns:p14="http://schemas.microsoft.com/office/powerpoint/2010/main" val="22588235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512" imgH="511" progId="TCLayout.ActiveDocument.1">
                  <p:embed/>
                </p:oleObj>
              </mc:Choice>
              <mc:Fallback>
                <p:oleObj name="think-cell Slide" r:id="rId34" imgW="512" imgH="511" progId="TCLayout.ActiveDocument.1">
                  <p:embed/>
                  <p:pic>
                    <p:nvPicPr>
                      <p:cNvPr id="5" name="think-cell data - do not delete" hidden="1">
                        <a:extLst>
                          <a:ext uri="{FF2B5EF4-FFF2-40B4-BE49-F238E27FC236}">
                            <a16:creationId xmlns:a16="http://schemas.microsoft.com/office/drawing/2014/main" id="{602222BE-8BBA-825B-8C9C-A87F6638C5A8}"/>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bwMode="gray">
          <a:xfrm>
            <a:off x="446796" y="1801368"/>
            <a:ext cx="11292840" cy="3950208"/>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userDrawn="1">
            <p:ph type="title"/>
          </p:nvPr>
        </p:nvSpPr>
        <p:spPr bwMode="gray">
          <a:xfrm>
            <a:off x="1142124" y="170307"/>
            <a:ext cx="10754602" cy="850392"/>
          </a:xfrm>
          <a:prstGeom prst="rect">
            <a:avLst/>
          </a:prstGeom>
        </p:spPr>
        <p:txBody>
          <a:bodyPr vert="horz" lIns="0" tIns="45720" rIns="0" bIns="45720" rtlCol="0" anchor="t" anchorCtr="0">
            <a:noAutofit/>
          </a:bodyPr>
          <a:lstStyle/>
          <a:p>
            <a:pPr lvl="0"/>
            <a:r>
              <a:rPr lang="en-US"/>
              <a:t>Click to edit Master title style</a:t>
            </a:r>
          </a:p>
        </p:txBody>
      </p:sp>
      <p:grpSp>
        <p:nvGrpSpPr>
          <p:cNvPr id="12" name="Group 11">
            <a:extLst>
              <a:ext uri="{FF2B5EF4-FFF2-40B4-BE49-F238E27FC236}">
                <a16:creationId xmlns:a16="http://schemas.microsoft.com/office/drawing/2014/main" id="{554DB309-1BC3-452B-AA12-02F70E3CF3C4}"/>
              </a:ext>
            </a:extLst>
          </p:cNvPr>
          <p:cNvGrpSpPr/>
          <p:nvPr userDrawn="1"/>
        </p:nvGrpSpPr>
        <p:grpSpPr bwMode="gray">
          <a:xfrm>
            <a:off x="446799" y="326296"/>
            <a:ext cx="587631" cy="45600"/>
            <a:chOff x="616542" y="591197"/>
            <a:chExt cx="587631" cy="45600"/>
          </a:xfrm>
        </p:grpSpPr>
        <p:sp>
          <p:nvSpPr>
            <p:cNvPr id="13" name="Google Shape;17;p2">
              <a:extLst>
                <a:ext uri="{FF2B5EF4-FFF2-40B4-BE49-F238E27FC236}">
                  <a16:creationId xmlns:a16="http://schemas.microsoft.com/office/drawing/2014/main" id="{C75766B0-97F2-444A-9E42-E0CBE795461F}"/>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sp>
          <p:nvSpPr>
            <p:cNvPr id="14" name="Google Shape;18;p2">
              <a:extLst>
                <a:ext uri="{FF2B5EF4-FFF2-40B4-BE49-F238E27FC236}">
                  <a16:creationId xmlns:a16="http://schemas.microsoft.com/office/drawing/2014/main" id="{05F9DAF3-DD76-41B5-93EF-0334C2738E2C}"/>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6"/>
            </a:p>
          </p:txBody>
        </p:sp>
      </p:grpSp>
      <p:pic>
        <p:nvPicPr>
          <p:cNvPr id="19" name="Google Shape;53;p7">
            <a:extLst>
              <a:ext uri="{FF2B5EF4-FFF2-40B4-BE49-F238E27FC236}">
                <a16:creationId xmlns:a16="http://schemas.microsoft.com/office/drawing/2014/main" id="{F9F93DF4-D19B-46BE-B88F-8BB1DA82CA35}"/>
              </a:ext>
            </a:extLst>
          </p:cNvPr>
          <p:cNvPicPr preferRelativeResize="0">
            <a:picLocks noChangeAspect="1"/>
          </p:cNvPicPr>
          <p:nvPr userDrawn="1"/>
        </p:nvPicPr>
        <p:blipFill>
          <a:blip r:embed="rId36" cstate="email">
            <a:extLst>
              <a:ext uri="{28A0092B-C50C-407E-A947-70E740481C1C}">
                <a14:useLocalDpi xmlns:a14="http://schemas.microsoft.com/office/drawing/2010/main"/>
              </a:ext>
            </a:extLst>
          </a:blip>
          <a:srcRect t="787" b="787"/>
          <a:stretch/>
        </p:blipFill>
        <p:spPr bwMode="gray">
          <a:xfrm>
            <a:off x="446798" y="6346664"/>
            <a:ext cx="914400" cy="371811"/>
          </a:xfrm>
          <a:prstGeom prst="rect">
            <a:avLst/>
          </a:prstGeom>
          <a:noFill/>
          <a:ln>
            <a:noFill/>
          </a:ln>
        </p:spPr>
      </p:pic>
      <p:sp>
        <p:nvSpPr>
          <p:cNvPr id="11" name="Slide Number Placeholder 5">
            <a:extLst>
              <a:ext uri="{FF2B5EF4-FFF2-40B4-BE49-F238E27FC236}">
                <a16:creationId xmlns:a16="http://schemas.microsoft.com/office/drawing/2014/main" id="{146C14D5-25B9-40A9-A7B3-25F17FEDDC36}"/>
              </a:ext>
            </a:extLst>
          </p:cNvPr>
          <p:cNvSpPr txBox="1">
            <a:spLocks/>
          </p:cNvSpPr>
          <p:nvPr userDrawn="1"/>
        </p:nvSpPr>
        <p:spPr bwMode="gray">
          <a:xfrm>
            <a:off x="11463338" y="6303596"/>
            <a:ext cx="276298"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5" name="Google Shape;52;p7">
            <a:extLst>
              <a:ext uri="{FF2B5EF4-FFF2-40B4-BE49-F238E27FC236}">
                <a16:creationId xmlns:a16="http://schemas.microsoft.com/office/drawing/2014/main" id="{32B9580A-B465-4E15-BAF0-0919554158DC}"/>
              </a:ext>
            </a:extLst>
          </p:cNvPr>
          <p:cNvSpPr txBox="1"/>
          <p:nvPr userDrawn="1"/>
        </p:nvSpPr>
        <p:spPr bwMode="gray">
          <a:xfrm>
            <a:off x="6094412" y="6303596"/>
            <a:ext cx="5347496"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Tree>
    <p:custDataLst>
      <p:tags r:id="rId32"/>
    </p:custDataLst>
    <p:extLst>
      <p:ext uri="{BB962C8B-B14F-4D97-AF65-F5344CB8AC3E}">
        <p14:creationId xmlns:p14="http://schemas.microsoft.com/office/powerpoint/2010/main" val="2176792578"/>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 id="2147483872" r:id="rId17"/>
    <p:sldLayoutId id="2147483873" r:id="rId18"/>
    <p:sldLayoutId id="2147483874" r:id="rId19"/>
    <p:sldLayoutId id="2147483875" r:id="rId20"/>
    <p:sldLayoutId id="2147483876" r:id="rId21"/>
    <p:sldLayoutId id="2147483877" r:id="rId22"/>
    <p:sldLayoutId id="2147483878" r:id="rId23"/>
    <p:sldLayoutId id="2147483879" r:id="rId24"/>
    <p:sldLayoutId id="2147483880" r:id="rId25"/>
    <p:sldLayoutId id="2147483881" r:id="rId26"/>
    <p:sldLayoutId id="2147483882" r:id="rId27"/>
    <p:sldLayoutId id="2147483883" r:id="rId28"/>
    <p:sldLayoutId id="2147483884" r:id="rId29"/>
    <p:sldLayoutId id="2147483885" r:id="rId30"/>
  </p:sldLayoutIdLst>
  <p:txStyles>
    <p:titleStyle>
      <a:lvl1pPr algn="l" defTabSz="914126" rtl="0" eaLnBrk="1" latinLnBrk="0" hangingPunct="1">
        <a:lnSpc>
          <a:spcPct val="85000"/>
        </a:lnSpc>
        <a:spcBef>
          <a:spcPts val="0"/>
        </a:spcBef>
        <a:buNone/>
        <a:defRPr lang="en-US" sz="1999" b="0" kern="1200" dirty="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999"/>
        </a:spcBef>
        <a:buClrTx/>
        <a:buSzPct val="100000"/>
        <a:buFont typeface="Arial" panose="020B0604020202020204" pitchFamily="34" charset="0"/>
        <a:buChar char="•"/>
        <a:defRPr lang="en-US" sz="1999" kern="1200" dirty="0" smtClean="0">
          <a:solidFill>
            <a:schemeClr val="tx1"/>
          </a:solidFill>
          <a:latin typeface="+mn-lt"/>
          <a:ea typeface="+mn-ea"/>
          <a:cs typeface="+mn-cs"/>
        </a:defRPr>
      </a:lvl1pPr>
      <a:lvl2pPr marL="457063" indent="-169812" algn="l" defTabSz="914126" rtl="0" eaLnBrk="1" latinLnBrk="0" hangingPunct="1">
        <a:lnSpc>
          <a:spcPct val="90000"/>
        </a:lnSpc>
        <a:spcBef>
          <a:spcPts val="1000"/>
        </a:spcBef>
        <a:buClrTx/>
        <a:buFont typeface="Arial" panose="020B0604020202020204" pitchFamily="34" charset="0"/>
        <a:buChar char="•"/>
        <a:defRPr sz="1799" kern="1200">
          <a:solidFill>
            <a:schemeClr val="tx1"/>
          </a:solidFill>
          <a:latin typeface="+mn-lt"/>
          <a:ea typeface="+mn-ea"/>
          <a:cs typeface="+mn-cs"/>
        </a:defRPr>
      </a:lvl2pPr>
      <a:lvl3pPr marL="685594" indent="-171399" algn="l" defTabSz="914126"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126" indent="-171399" algn="l" defTabSz="914126"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8698" indent="-114266" algn="l" defTabSz="914126"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chart" Target="../charts/chart1.xml"/><Relationship Id="rId7" Type="http://schemas.openxmlformats.org/officeDocument/2006/relationships/chart" Target="../charts/chart5.xml"/><Relationship Id="rId12"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chart" Target="../charts/chart4.xml"/><Relationship Id="rId11" Type="http://schemas.openxmlformats.org/officeDocument/2006/relationships/image" Target="../media/image41.svg"/><Relationship Id="rId5" Type="http://schemas.openxmlformats.org/officeDocument/2006/relationships/chart" Target="../charts/chart3.xml"/><Relationship Id="rId10" Type="http://schemas.openxmlformats.org/officeDocument/2006/relationships/image" Target="../media/image40.png"/><Relationship Id="rId4" Type="http://schemas.openxmlformats.org/officeDocument/2006/relationships/chart" Target="../charts/chart2.xml"/><Relationship Id="rId9" Type="http://schemas.openxmlformats.org/officeDocument/2006/relationships/image" Target="../media/image39.svg"/></Relationships>
</file>

<file path=ppt/slides/_rels/slide9.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image" Target="../media/image42.png"/><Relationship Id="rId7" Type="http://schemas.openxmlformats.org/officeDocument/2006/relationships/chart" Target="../charts/chart9.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chart" Target="../charts/chart8.xml"/><Relationship Id="rId5" Type="http://schemas.openxmlformats.org/officeDocument/2006/relationships/chart" Target="../charts/chart7.xml"/><Relationship Id="rId10" Type="http://schemas.openxmlformats.org/officeDocument/2006/relationships/chart" Target="../charts/chart12.xml"/><Relationship Id="rId4" Type="http://schemas.openxmlformats.org/officeDocument/2006/relationships/image" Target="../media/image43.svg"/><Relationship Id="rId9" Type="http://schemas.openxmlformats.org/officeDocument/2006/relationships/chart" Target="../charts/char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30.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chart" Target="../charts/chart15.xml"/><Relationship Id="rId4" Type="http://schemas.openxmlformats.org/officeDocument/2006/relationships/chart" Target="../charts/chart14.xml"/></Relationships>
</file>

<file path=ppt/slides/_rels/slide18.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chart" Target="../charts/chart17.xml"/></Relationships>
</file>

<file path=ppt/slides/_rels/slide1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image" Target="../media/image37.jpeg"/><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chart" Target="../charts/chart18.xml"/></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chart" Target="../charts/chart19.xml"/><Relationship Id="rId5" Type="http://schemas.openxmlformats.org/officeDocument/2006/relationships/image" Target="../media/image49.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chart" Target="../charts/chart23.xml"/></Relationships>
</file>

<file path=ppt/slides/_rels/slide24.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37.jpeg"/></Relationships>
</file>

<file path=ppt/slides/_rels/slide25.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chart" Target="../charts/chart28.xml"/><Relationship Id="rId4" Type="http://schemas.openxmlformats.org/officeDocument/2006/relationships/chart" Target="../charts/char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notesSlide" Target="../notesSlides/notesSlide25.xml"/><Relationship Id="rId1" Type="http://schemas.openxmlformats.org/officeDocument/2006/relationships/slideLayout" Target="../slideLayouts/slideLayout9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28.xml"/><Relationship Id="rId1" Type="http://schemas.openxmlformats.org/officeDocument/2006/relationships/slideLayout" Target="../slideLayouts/slideLayout128.xml"/><Relationship Id="rId6" Type="http://schemas.openxmlformats.org/officeDocument/2006/relationships/chart" Target="../charts/chart34.xml"/><Relationship Id="rId5" Type="http://schemas.openxmlformats.org/officeDocument/2006/relationships/chart" Target="../charts/chart33.xml"/><Relationship Id="rId4" Type="http://schemas.openxmlformats.org/officeDocument/2006/relationships/chart" Target="../charts/chart32.xml"/></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chart" Target="../charts/chart35.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chart" Target="../charts/chart38.xml"/></Relationships>
</file>

<file path=ppt/slides/_rels/slide37.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chart" Target="../charts/chart42.xml"/><Relationship Id="rId3" Type="http://schemas.openxmlformats.org/officeDocument/2006/relationships/notesSlide" Target="../notesSlides/notesSlide32.xml"/><Relationship Id="rId7" Type="http://schemas.openxmlformats.org/officeDocument/2006/relationships/chart" Target="../charts/chart41.xml"/><Relationship Id="rId2" Type="http://schemas.openxmlformats.org/officeDocument/2006/relationships/slideLayout" Target="../slideLayouts/slideLayout4.xml"/><Relationship Id="rId1" Type="http://schemas.openxmlformats.org/officeDocument/2006/relationships/tags" Target="../tags/tag198.xml"/><Relationship Id="rId6" Type="http://schemas.openxmlformats.org/officeDocument/2006/relationships/chart" Target="../charts/chart40.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3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chart" Target="../charts/chart44.xml"/><Relationship Id="rId4" Type="http://schemas.openxmlformats.org/officeDocument/2006/relationships/chart" Target="../charts/chart43.xml"/></Relationships>
</file>

<file path=ppt/slides/_rels/slide40.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chart" Target="../charts/chart47.xml"/><Relationship Id="rId5" Type="http://schemas.openxmlformats.org/officeDocument/2006/relationships/image" Target="../media/image62.jpeg"/><Relationship Id="rId4" Type="http://schemas.openxmlformats.org/officeDocument/2006/relationships/chart" Target="../charts/chart46.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64.png"/><Relationship Id="rId4" Type="http://schemas.openxmlformats.org/officeDocument/2006/relationships/chart" Target="../charts/chart48.xml"/></Relationships>
</file>

<file path=ppt/slides/_rels/slide42.xml.rels><?xml version="1.0" encoding="UTF-8" standalone="yes"?>
<Relationships xmlns="http://schemas.openxmlformats.org/package/2006/relationships"><Relationship Id="rId3" Type="http://schemas.openxmlformats.org/officeDocument/2006/relationships/chart" Target="../charts/chart49.xml"/><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37.jpeg"/><Relationship Id="rId4" Type="http://schemas.openxmlformats.org/officeDocument/2006/relationships/chart" Target="../charts/chart50.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chart" Target="../charts/chart52.xml"/><Relationship Id="rId2" Type="http://schemas.openxmlformats.org/officeDocument/2006/relationships/notesSlide" Target="../notesSlides/notesSlide38.xml"/><Relationship Id="rId1" Type="http://schemas.openxmlformats.org/officeDocument/2006/relationships/slideLayout" Target="../slideLayouts/slideLayout158.xml"/><Relationship Id="rId4" Type="http://schemas.openxmlformats.org/officeDocument/2006/relationships/chart" Target="../charts/chart53.xml"/></Relationships>
</file>

<file path=ppt/slides/_rels/slide46.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notesSlide" Target="../notesSlides/notesSlide39.xml"/><Relationship Id="rId1" Type="http://schemas.openxmlformats.org/officeDocument/2006/relationships/slideLayout" Target="../slideLayouts/slideLayout158.xml"/><Relationship Id="rId4" Type="http://schemas.openxmlformats.org/officeDocument/2006/relationships/chart" Target="../charts/chart55.xml"/></Relationships>
</file>

<file path=ppt/slides/_rels/slide47.xml.rels><?xml version="1.0" encoding="UTF-8" standalone="yes"?>
<Relationships xmlns="http://schemas.openxmlformats.org/package/2006/relationships"><Relationship Id="rId3" Type="http://schemas.openxmlformats.org/officeDocument/2006/relationships/chart" Target="../charts/chart56.xml"/><Relationship Id="rId2" Type="http://schemas.openxmlformats.org/officeDocument/2006/relationships/notesSlide" Target="../notesSlides/notesSlide40.xml"/><Relationship Id="rId1" Type="http://schemas.openxmlformats.org/officeDocument/2006/relationships/slideLayout" Target="../slideLayouts/slideLayout158.xml"/><Relationship Id="rId5" Type="http://schemas.openxmlformats.org/officeDocument/2006/relationships/chart" Target="../charts/chart58.xml"/><Relationship Id="rId4" Type="http://schemas.openxmlformats.org/officeDocument/2006/relationships/chart" Target="../charts/chart5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chart" Target="../charts/chart59.xml"/><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chart" Target="../charts/chart60.xml"/><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chart" Target="../charts/chart61.xml"/></Relationships>
</file>

<file path=ppt/slides/_rels/slide53.xml.rels><?xml version="1.0" encoding="UTF-8" standalone="yes"?>
<Relationships xmlns="http://schemas.openxmlformats.org/package/2006/relationships"><Relationship Id="rId3" Type="http://schemas.openxmlformats.org/officeDocument/2006/relationships/chart" Target="../charts/chart62.xml"/><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chart" Target="../charts/chart64.xml"/><Relationship Id="rId4" Type="http://schemas.openxmlformats.org/officeDocument/2006/relationships/chart" Target="../charts/chart63.xml"/></Relationships>
</file>

<file path=ppt/slides/_rels/slide54.xml.rels><?xml version="1.0" encoding="UTF-8" standalone="yes"?>
<Relationships xmlns="http://schemas.openxmlformats.org/package/2006/relationships"><Relationship Id="rId3" Type="http://schemas.openxmlformats.org/officeDocument/2006/relationships/chart" Target="../charts/chart65.xml"/><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chart" Target="../charts/chart66.xml"/></Relationships>
</file>

<file path=ppt/slides/_rels/slide55.xml.rels><?xml version="1.0" encoding="UTF-8" standalone="yes"?>
<Relationships xmlns="http://schemas.openxmlformats.org/package/2006/relationships"><Relationship Id="rId3" Type="http://schemas.openxmlformats.org/officeDocument/2006/relationships/chart" Target="../charts/chart67.xml"/><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chart" Target="../charts/chart6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chart" Target="../charts/chart69.xml"/><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chart" Target="../charts/chart71.xml"/><Relationship Id="rId4" Type="http://schemas.openxmlformats.org/officeDocument/2006/relationships/chart" Target="../charts/chart70.xml"/></Relationships>
</file>

<file path=ppt/slides/_rels/slide59.xml.rels><?xml version="1.0" encoding="UTF-8" standalone="yes"?>
<Relationships xmlns="http://schemas.openxmlformats.org/package/2006/relationships"><Relationship Id="rId3" Type="http://schemas.openxmlformats.org/officeDocument/2006/relationships/chart" Target="../charts/chart72.xml"/><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chart" Target="../charts/chart73.xml"/><Relationship Id="rId2" Type="http://schemas.openxmlformats.org/officeDocument/2006/relationships/notesSlide" Target="../notesSlides/notesSlide52.xml"/><Relationship Id="rId1" Type="http://schemas.openxmlformats.org/officeDocument/2006/relationships/slideLayout" Target="../slideLayouts/slideLayout67.xml"/><Relationship Id="rId4" Type="http://schemas.openxmlformats.org/officeDocument/2006/relationships/image" Target="../media/image44.png"/></Relationships>
</file>

<file path=ppt/slides/_rels/slide6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3.png"/><Relationship Id="rId7" Type="http://schemas.openxmlformats.org/officeDocument/2006/relationships/image" Target="../media/image66.png"/><Relationship Id="rId2" Type="http://schemas.openxmlformats.org/officeDocument/2006/relationships/notesSlide" Target="../notesSlides/notesSlide53.xml"/><Relationship Id="rId1" Type="http://schemas.openxmlformats.org/officeDocument/2006/relationships/slideLayout" Target="../slideLayouts/slideLayout6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chart" Target="../charts/chart74.xml"/></Relationships>
</file>

<file path=ppt/slides/_rels/slide6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4.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5.xml"/><Relationship Id="rId1" Type="http://schemas.openxmlformats.org/officeDocument/2006/relationships/slideLayout" Target="../slideLayouts/slideLayout4.xml"/><Relationship Id="rId5" Type="http://schemas.openxmlformats.org/officeDocument/2006/relationships/image" Target="../media/image64.png"/><Relationship Id="rId4" Type="http://schemas.openxmlformats.org/officeDocument/2006/relationships/chart" Target="../charts/chart75.xml"/></Relationships>
</file>

<file path=ppt/slides/_rels/slide64.xml.rels><?xml version="1.0" encoding="UTF-8" standalone="yes"?>
<Relationships xmlns="http://schemas.openxmlformats.org/package/2006/relationships"><Relationship Id="rId3" Type="http://schemas.openxmlformats.org/officeDocument/2006/relationships/chart" Target="../charts/chart76.xml"/><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chart" Target="../charts/chart77.xml"/><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67.xml.rels><?xml version="1.0" encoding="UTF-8" standalone="yes"?>
<Relationships xmlns="http://schemas.openxmlformats.org/package/2006/relationships"><Relationship Id="rId3" Type="http://schemas.openxmlformats.org/officeDocument/2006/relationships/chart" Target="../charts/chart78.xml"/><Relationship Id="rId2" Type="http://schemas.openxmlformats.org/officeDocument/2006/relationships/notesSlide" Target="../notesSlides/notesSlide59.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chart" Target="../charts/chart79.xml"/><Relationship Id="rId7" Type="http://schemas.openxmlformats.org/officeDocument/2006/relationships/image" Target="../media/image55.png"/><Relationship Id="rId2" Type="http://schemas.openxmlformats.org/officeDocument/2006/relationships/notesSlide" Target="../notesSlides/notesSlide61.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4.png"/><Relationship Id="rId4" Type="http://schemas.openxmlformats.org/officeDocument/2006/relationships/image" Target="../media/image2.emf"/></Relationships>
</file>

<file path=ppt/slides/_rels/slide70.xml.rels><?xml version="1.0" encoding="UTF-8" standalone="yes"?>
<Relationships xmlns="http://schemas.openxmlformats.org/package/2006/relationships"><Relationship Id="rId3" Type="http://schemas.openxmlformats.org/officeDocument/2006/relationships/chart" Target="../charts/chart80.xml"/><Relationship Id="rId2" Type="http://schemas.openxmlformats.org/officeDocument/2006/relationships/notesSlide" Target="../notesSlides/notesSlide62.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67.png"/><Relationship Id="rId4" Type="http://schemas.openxmlformats.org/officeDocument/2006/relationships/chart" Target="../charts/chart8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64.xml"/><Relationship Id="rId1" Type="http://schemas.openxmlformats.org/officeDocument/2006/relationships/slideLayout" Target="../slideLayouts/slideLayout32.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ctrTitle"/>
          </p:nvPr>
        </p:nvSpPr>
        <p:spPr>
          <a:xfrm>
            <a:off x="448056" y="1245140"/>
            <a:ext cx="5514999" cy="1706056"/>
          </a:xfrm>
        </p:spPr>
        <p:txBody>
          <a:bodyPr/>
          <a:lstStyle/>
          <a:p>
            <a:pPr>
              <a:lnSpc>
                <a:spcPct val="150000"/>
              </a:lnSpc>
            </a:pPr>
            <a:r>
              <a:rPr lang="en-US" sz="3200" dirty="0"/>
              <a:t>Penbraya HCP ATU</a:t>
            </a:r>
            <a:br>
              <a:rPr lang="en-US" sz="3200" dirty="0"/>
            </a:br>
            <a:r>
              <a:rPr lang="en-US" sz="2800" dirty="0"/>
              <a:t>Wave 5 (Sep’25)</a:t>
            </a:r>
            <a:br>
              <a:rPr lang="en-US" sz="2800" dirty="0"/>
            </a:br>
            <a:br>
              <a:rPr lang="en-US" sz="2800" dirty="0"/>
            </a:br>
            <a:endParaRPr lang="en-US" sz="2800" dirty="0"/>
          </a:p>
        </p:txBody>
      </p:sp>
      <p:sp>
        <p:nvSpPr>
          <p:cNvPr id="14" name="Subtitle 2">
            <a:extLst>
              <a:ext uri="{FF2B5EF4-FFF2-40B4-BE49-F238E27FC236}">
                <a16:creationId xmlns:a16="http://schemas.microsoft.com/office/drawing/2014/main" id="{7D9B2235-4BBE-B903-5FF0-2CB2722CFD98}"/>
              </a:ext>
            </a:extLst>
          </p:cNvPr>
          <p:cNvSpPr>
            <a:spLocks noGrp="1"/>
          </p:cNvSpPr>
          <p:nvPr>
            <p:ph type="body" sz="quarter" idx="10"/>
          </p:nvPr>
        </p:nvSpPr>
        <p:spPr>
          <a:xfrm>
            <a:off x="448056" y="3436819"/>
            <a:ext cx="4233672" cy="1304090"/>
          </a:xfrm>
        </p:spPr>
        <p:txBody>
          <a:bodyPr anchor="t" anchorCtr="0"/>
          <a:lstStyle/>
          <a:p>
            <a:r>
              <a:rPr lang="en-US" sz="1400" dirty="0"/>
              <a:t>Fielded: </a:t>
            </a:r>
            <a:r>
              <a:rPr lang="en-US" sz="1400" cap="none" dirty="0"/>
              <a:t>August 22 – October 1, 2025</a:t>
            </a:r>
            <a:endParaRPr lang="en-US" sz="1400" dirty="0"/>
          </a:p>
          <a:p>
            <a:endParaRPr lang="en-US" sz="1400" dirty="0"/>
          </a:p>
          <a:p>
            <a:endParaRPr lang="en-US" sz="1400" dirty="0"/>
          </a:p>
          <a:p>
            <a:r>
              <a:rPr lang="en-US" sz="1400" dirty="0">
                <a:latin typeface="+mj-lt"/>
              </a:rPr>
              <a:t>Presented: November 13, 2025</a:t>
            </a:r>
            <a:br>
              <a:rPr lang="en-US" sz="1400" dirty="0">
                <a:latin typeface="+mj-lt"/>
              </a:rPr>
            </a:br>
            <a:br>
              <a:rPr lang="en-US" sz="1400" dirty="0">
                <a:latin typeface="+mj-lt"/>
              </a:rPr>
            </a:br>
            <a:br>
              <a:rPr lang="en-US" sz="1400" dirty="0">
                <a:latin typeface="+mj-lt"/>
              </a:rPr>
            </a:br>
            <a:endParaRPr lang="en-US" sz="1400" dirty="0">
              <a:latin typeface="+mj-lt"/>
            </a:endParaRPr>
          </a:p>
        </p:txBody>
      </p:sp>
      <p:sp>
        <p:nvSpPr>
          <p:cNvPr id="7" name="Subtitle 2">
            <a:extLst>
              <a:ext uri="{FF2B5EF4-FFF2-40B4-BE49-F238E27FC236}">
                <a16:creationId xmlns:a16="http://schemas.microsoft.com/office/drawing/2014/main" id="{9785AE90-D5CB-4165-A9D5-9B641E535A67}"/>
              </a:ext>
            </a:extLst>
          </p:cNvPr>
          <p:cNvSpPr txBox="1">
            <a:spLocks/>
          </p:cNvSpPr>
          <p:nvPr/>
        </p:nvSpPr>
        <p:spPr bwMode="gray">
          <a:xfrm>
            <a:off x="6391108" y="5522564"/>
            <a:ext cx="5163670" cy="928350"/>
          </a:xfrm>
          <a:prstGeom prst="rect">
            <a:avLst/>
          </a:prstGeom>
        </p:spPr>
        <p:txBody>
          <a:bodyPr vert="horz" lIns="91392" tIns="0" rIns="91392" bIns="0" rtlCol="0">
            <a:noAutofit/>
          </a:bodyPr>
          <a:lstStyle>
            <a:lvl1pPr marL="0" indent="0" algn="l" defTabSz="914400" rtl="0" eaLnBrk="1" latinLnBrk="0" hangingPunct="1">
              <a:lnSpc>
                <a:spcPct val="90000"/>
              </a:lnSpc>
              <a:spcBef>
                <a:spcPts val="200"/>
              </a:spcBef>
              <a:buClrTx/>
              <a:buSzPct val="85000"/>
              <a:buFont typeface="Arial" pitchFamily="34" charset="0"/>
              <a:buNone/>
              <a:defRPr sz="2000" kern="1200">
                <a:solidFill>
                  <a:schemeClr val="tx2"/>
                </a:solidFill>
                <a:latin typeface="+mn-lt"/>
                <a:ea typeface="+mn-ea"/>
                <a:cs typeface="+mn-cs"/>
              </a:defRPr>
            </a:lvl1pPr>
            <a:lvl2pPr marL="457200" indent="0" algn="ctr" defTabSz="914400" rtl="0" eaLnBrk="1" latinLnBrk="0" hangingPunct="1">
              <a:lnSpc>
                <a:spcPct val="90000"/>
              </a:lnSpc>
              <a:spcBef>
                <a:spcPts val="1000"/>
              </a:spcBef>
              <a:buClrTx/>
              <a:buFont typeface="Arial" pitchFamily="34" charset="0"/>
              <a:buNone/>
              <a:defRPr sz="1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ClrTx/>
              <a:buFont typeface="Arial" pitchFamily="34" charset="0"/>
              <a:buNone/>
              <a:defRPr sz="12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200"/>
              </a:spcBef>
              <a:buClrTx/>
              <a:buFont typeface="Arial" panose="020B0604020202020204" pitchFamily="34" charset="0"/>
              <a:buNone/>
              <a:defRPr sz="11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100"/>
              </a:spcBef>
              <a:buClrTx/>
              <a:buFont typeface="Arial" pitchFamily="34" charset="0"/>
              <a:buNone/>
              <a:defRPr sz="105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l" defTabSz="914126" rtl="0" eaLnBrk="1" fontAlgn="auto" latinLnBrk="0" hangingPunct="1">
              <a:lnSpc>
                <a:spcPct val="90000"/>
              </a:lnSpc>
              <a:spcBef>
                <a:spcPts val="200"/>
              </a:spcBef>
              <a:spcAft>
                <a:spcPts val="0"/>
              </a:spcAft>
              <a:buClrTx/>
              <a:buSzPct val="85000"/>
              <a:buFont typeface="Arial" pitchFamily="34" charset="0"/>
              <a:buNone/>
              <a:tabLst/>
              <a:defRPr/>
            </a:pPr>
            <a:endParaRPr kumimoji="0" lang="en-US" sz="1400" b="0"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603034A-E47F-CE50-ECE9-78DA11E9D63F}"/>
              </a:ext>
            </a:extLst>
          </p:cNvPr>
          <p:cNvSpPr txBox="1">
            <a:spLocks/>
          </p:cNvSpPr>
          <p:nvPr/>
        </p:nvSpPr>
        <p:spPr bwMode="gray">
          <a:xfrm>
            <a:off x="5530061" y="2650812"/>
            <a:ext cx="6210708" cy="2397624"/>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ts val="0"/>
              </a:spcBef>
              <a:buNone/>
              <a:defRPr lang="en-US" sz="34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highlight>
                <a:srgbClr val="D95776"/>
              </a:highlight>
              <a:uLnTx/>
              <a:uFillTx/>
              <a:latin typeface="Arial" panose="020B0604020202020204"/>
              <a:ea typeface="+mj-ea"/>
              <a:cs typeface="+mj-cs"/>
            </a:endParaRPr>
          </a:p>
        </p:txBody>
      </p:sp>
      <p:pic>
        <p:nvPicPr>
          <p:cNvPr id="2050" name="Picture 2" descr="Penbraya / Пенбрайя (вакцина против менингококковой инфекции)">
            <a:extLst>
              <a:ext uri="{FF2B5EF4-FFF2-40B4-BE49-F238E27FC236}">
                <a16:creationId xmlns:a16="http://schemas.microsoft.com/office/drawing/2014/main" id="{0CFDC164-644A-47E9-C574-FCB06A92C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361" y="-36160"/>
            <a:ext cx="3603274" cy="1122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037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BEC53CC-5409-0558-E2E0-8ABDCB57F8EC}"/>
              </a:ext>
            </a:extLst>
          </p:cNvPr>
          <p:cNvSpPr txBox="1">
            <a:spLocks/>
          </p:cNvSpPr>
          <p:nvPr/>
        </p:nvSpPr>
        <p:spPr>
          <a:xfrm>
            <a:off x="1203083" y="908939"/>
            <a:ext cx="9594774" cy="5452930"/>
          </a:xfrm>
          <a:prstGeom prst="rect">
            <a:avLst/>
          </a:prstGeom>
          <a:noFill/>
        </p:spPr>
        <p:txBody>
          <a:bodyPr/>
          <a:lst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09588" indent="-163513">
              <a:lnSpc>
                <a:spcPct val="100000"/>
              </a:lnSpc>
              <a:spcBef>
                <a:spcPts val="300"/>
              </a:spcBef>
              <a:spcAft>
                <a:spcPts val="300"/>
              </a:spcAft>
              <a:buFont typeface="Arial" panose="020B0604020202020204" pitchFamily="34" charset="0"/>
              <a:buNone/>
              <a:tabLst>
                <a:tab pos="9207500" algn="r"/>
              </a:tabLst>
            </a:pPr>
            <a:r>
              <a:rPr lang="en-US" b="1" dirty="0">
                <a:highlight>
                  <a:srgbClr val="F7F7F7"/>
                </a:highlight>
              </a:rPr>
              <a:t>	</a:t>
            </a:r>
            <a:r>
              <a:rPr lang="en-US" sz="1800" dirty="0">
                <a:solidFill>
                  <a:schemeClr val="tx1">
                    <a:lumMod val="75000"/>
                    <a:lumOff val="25000"/>
                  </a:schemeClr>
                </a:solidFill>
                <a:highlight>
                  <a:srgbClr val="F7F7F7"/>
                </a:highlight>
              </a:rPr>
              <a:t>Research Objectives &amp; Roadmap	3</a:t>
            </a:r>
          </a:p>
          <a:p>
            <a:pPr marL="509588" indent="-163513">
              <a:lnSpc>
                <a:spcPct val="100000"/>
              </a:lnSpc>
              <a:spcBef>
                <a:spcPts val="1200"/>
              </a:spcBef>
              <a:spcAft>
                <a:spcPts val="300"/>
              </a:spcAft>
              <a:buFont typeface="Arial" panose="020B0604020202020204" pitchFamily="34" charset="0"/>
              <a:buNone/>
              <a:tabLst>
                <a:tab pos="9207500" algn="r"/>
              </a:tabLst>
            </a:pPr>
            <a:r>
              <a:rPr lang="en-US" sz="1800" dirty="0">
                <a:solidFill>
                  <a:schemeClr val="tx1">
                    <a:lumMod val="75000"/>
                    <a:lumOff val="25000"/>
                  </a:schemeClr>
                </a:solidFill>
                <a:highlight>
                  <a:srgbClr val="F7F7F7"/>
                </a:highlight>
              </a:rPr>
              <a:t>	Study Design, Research Notes, Respondent / Vaccine Demographics	5</a:t>
            </a:r>
          </a:p>
          <a:p>
            <a:pPr marL="509588" indent="-163513">
              <a:lnSpc>
                <a:spcPct val="100000"/>
              </a:lnSpc>
              <a:spcBef>
                <a:spcPts val="1200"/>
              </a:spcBef>
              <a:spcAft>
                <a:spcPts val="300"/>
              </a:spcAft>
              <a:buFont typeface="Arial" panose="020B0604020202020204" pitchFamily="34" charset="0"/>
              <a:buNone/>
              <a:tabLst>
                <a:tab pos="9207500" algn="r"/>
              </a:tabLst>
            </a:pPr>
            <a:r>
              <a:rPr lang="en-US" sz="1800" dirty="0">
                <a:solidFill>
                  <a:schemeClr val="tx1">
                    <a:lumMod val="75000"/>
                    <a:lumOff val="25000"/>
                  </a:schemeClr>
                </a:solidFill>
                <a:highlight>
                  <a:srgbClr val="F7F7F7"/>
                </a:highlight>
              </a:rPr>
              <a:t>	Executive Summary	10</a:t>
            </a:r>
          </a:p>
          <a:p>
            <a:pPr marL="509588" indent="-163513">
              <a:lnSpc>
                <a:spcPct val="100000"/>
              </a:lnSpc>
              <a:spcBef>
                <a:spcPts val="1200"/>
              </a:spcBef>
              <a:spcAft>
                <a:spcPts val="300"/>
              </a:spcAft>
              <a:buFont typeface="Arial" panose="020B0604020202020204" pitchFamily="34" charset="0"/>
              <a:buNone/>
              <a:tabLst>
                <a:tab pos="9207500" algn="r"/>
              </a:tabLst>
            </a:pPr>
            <a:r>
              <a:rPr lang="en-US" sz="1800" dirty="0">
                <a:solidFill>
                  <a:schemeClr val="tx1">
                    <a:lumMod val="75000"/>
                    <a:lumOff val="25000"/>
                  </a:schemeClr>
                </a:solidFill>
                <a:highlight>
                  <a:srgbClr val="F7F7F7"/>
                </a:highlight>
              </a:rPr>
              <a:t>	Key Metrics Summary	13</a:t>
            </a:r>
          </a:p>
          <a:p>
            <a:pPr marL="509588" indent="-163513">
              <a:lnSpc>
                <a:spcPct val="100000"/>
              </a:lnSpc>
              <a:spcBef>
                <a:spcPts val="1200"/>
              </a:spcBef>
              <a:spcAft>
                <a:spcPts val="300"/>
              </a:spcAft>
              <a:buFont typeface="Arial" panose="020B0604020202020204" pitchFamily="34" charset="0"/>
              <a:buNone/>
              <a:tabLst>
                <a:tab pos="9207500" algn="r"/>
              </a:tabLst>
            </a:pPr>
            <a:r>
              <a:rPr lang="en-US" sz="1800" dirty="0">
                <a:solidFill>
                  <a:schemeClr val="tx1">
                    <a:lumMod val="75000"/>
                    <a:lumOff val="25000"/>
                  </a:schemeClr>
                </a:solidFill>
                <a:highlight>
                  <a:srgbClr val="F7F7F7"/>
                </a:highlight>
              </a:rPr>
              <a:t>	Detailed Findings</a:t>
            </a:r>
            <a:r>
              <a:rPr lang="en-US" dirty="0">
                <a:solidFill>
                  <a:schemeClr val="tx1">
                    <a:lumMod val="75000"/>
                    <a:lumOff val="25000"/>
                  </a:schemeClr>
                </a:solidFill>
                <a:highlight>
                  <a:srgbClr val="F0F0F0"/>
                </a:highlight>
              </a:rPr>
              <a:t>	</a:t>
            </a:r>
            <a:r>
              <a:rPr lang="en-US" dirty="0">
                <a:solidFill>
                  <a:schemeClr val="bg1">
                    <a:lumMod val="95000"/>
                  </a:schemeClr>
                </a:solidFill>
                <a:highlight>
                  <a:srgbClr val="F0F0F0"/>
                </a:highlight>
              </a:rPr>
              <a:t>16</a:t>
            </a:r>
          </a:p>
          <a:p>
            <a:pPr marL="801688" lvl="1" indent="-225425">
              <a:lnSpc>
                <a:spcPct val="150000"/>
              </a:lnSpc>
              <a:spcBef>
                <a:spcPts val="300"/>
              </a:spcBef>
              <a:buClr>
                <a:schemeClr val="tx1">
                  <a:lumMod val="50000"/>
                  <a:lumOff val="50000"/>
                </a:schemeClr>
              </a:buClr>
              <a:tabLst>
                <a:tab pos="9207500" algn="r"/>
              </a:tabLst>
            </a:pPr>
            <a:r>
              <a:rPr lang="en-US" dirty="0">
                <a:solidFill>
                  <a:schemeClr val="tx1">
                    <a:lumMod val="75000"/>
                    <a:lumOff val="25000"/>
                  </a:schemeClr>
                </a:solidFill>
              </a:rPr>
              <a:t>Meningococcal Vaccine Perceptions, Awareness and Knowledge	16</a:t>
            </a:r>
          </a:p>
          <a:p>
            <a:pPr marL="801688" lvl="1" indent="-225425">
              <a:lnSpc>
                <a:spcPct val="150000"/>
              </a:lnSpc>
              <a:spcBef>
                <a:spcPts val="300"/>
              </a:spcBef>
              <a:buClr>
                <a:schemeClr val="tx1">
                  <a:lumMod val="50000"/>
                  <a:lumOff val="50000"/>
                </a:schemeClr>
              </a:buClr>
              <a:tabLst>
                <a:tab pos="9207500" algn="r"/>
              </a:tabLst>
            </a:pPr>
            <a:r>
              <a:rPr lang="en-US" dirty="0">
                <a:solidFill>
                  <a:schemeClr val="tx1">
                    <a:lumMod val="75000"/>
                    <a:lumOff val="25000"/>
                  </a:schemeClr>
                </a:solidFill>
              </a:rPr>
              <a:t>Current Stocking Practices	27</a:t>
            </a:r>
          </a:p>
          <a:p>
            <a:pPr marL="801688" lvl="1" indent="-225425">
              <a:lnSpc>
                <a:spcPct val="150000"/>
              </a:lnSpc>
              <a:spcBef>
                <a:spcPts val="300"/>
              </a:spcBef>
              <a:buClr>
                <a:schemeClr val="tx1">
                  <a:lumMod val="50000"/>
                  <a:lumOff val="50000"/>
                </a:schemeClr>
              </a:buClr>
              <a:tabLst>
                <a:tab pos="9207500" algn="r"/>
              </a:tabLst>
            </a:pPr>
            <a:r>
              <a:rPr lang="en-US" dirty="0">
                <a:solidFill>
                  <a:schemeClr val="tx1">
                    <a:lumMod val="75000"/>
                    <a:lumOff val="25000"/>
                  </a:schemeClr>
                </a:solidFill>
              </a:rPr>
              <a:t>Perceptions following Penbraya TPP	30</a:t>
            </a:r>
          </a:p>
          <a:p>
            <a:pPr marL="801688" lvl="1" indent="-225425">
              <a:lnSpc>
                <a:spcPct val="150000"/>
              </a:lnSpc>
              <a:spcBef>
                <a:spcPts val="300"/>
              </a:spcBef>
              <a:buClr>
                <a:schemeClr val="tx1">
                  <a:lumMod val="50000"/>
                  <a:lumOff val="50000"/>
                </a:schemeClr>
              </a:buClr>
              <a:tabLst>
                <a:tab pos="9207500" algn="r"/>
              </a:tabLst>
            </a:pPr>
            <a:r>
              <a:rPr lang="en-US" dirty="0">
                <a:solidFill>
                  <a:schemeClr val="tx1">
                    <a:lumMod val="75000"/>
                    <a:lumOff val="25000"/>
                  </a:schemeClr>
                </a:solidFill>
              </a:rPr>
              <a:t>Barriers to Penbraya Use	49</a:t>
            </a:r>
          </a:p>
          <a:p>
            <a:pPr marL="801688" lvl="1" indent="-225425">
              <a:lnSpc>
                <a:spcPct val="150000"/>
              </a:lnSpc>
              <a:spcBef>
                <a:spcPts val="300"/>
              </a:spcBef>
              <a:buClr>
                <a:schemeClr val="tx1">
                  <a:lumMod val="50000"/>
                  <a:lumOff val="50000"/>
                </a:schemeClr>
              </a:buClr>
              <a:tabLst>
                <a:tab pos="9207500" algn="r"/>
              </a:tabLst>
            </a:pPr>
            <a:r>
              <a:rPr lang="en-US" dirty="0">
                <a:solidFill>
                  <a:schemeClr val="tx1">
                    <a:lumMod val="75000"/>
                    <a:lumOff val="25000"/>
                  </a:schemeClr>
                </a:solidFill>
              </a:rPr>
              <a:t>GSK’s </a:t>
            </a:r>
            <a:r>
              <a:rPr lang="en-US" dirty="0" err="1">
                <a:solidFill>
                  <a:schemeClr val="tx1">
                    <a:lumMod val="75000"/>
                    <a:lumOff val="25000"/>
                  </a:schemeClr>
                </a:solidFill>
              </a:rPr>
              <a:t>Penmenvy</a:t>
            </a:r>
            <a:r>
              <a:rPr lang="en-US" dirty="0">
                <a:solidFill>
                  <a:schemeClr val="tx1">
                    <a:lumMod val="75000"/>
                    <a:lumOff val="25000"/>
                  </a:schemeClr>
                </a:solidFill>
              </a:rPr>
              <a:t> Competitive Evaluation	57</a:t>
            </a:r>
          </a:p>
          <a:p>
            <a:pPr marL="801688" lvl="1" indent="-225425">
              <a:lnSpc>
                <a:spcPct val="150000"/>
              </a:lnSpc>
              <a:spcBef>
                <a:spcPts val="300"/>
              </a:spcBef>
              <a:buClr>
                <a:schemeClr val="tx1">
                  <a:lumMod val="50000"/>
                  <a:lumOff val="50000"/>
                </a:schemeClr>
              </a:buClr>
              <a:tabLst>
                <a:tab pos="9207500" algn="r"/>
              </a:tabLst>
            </a:pPr>
            <a:r>
              <a:rPr lang="en-US" dirty="0">
                <a:solidFill>
                  <a:schemeClr val="tx1">
                    <a:lumMod val="75000"/>
                    <a:lumOff val="25000"/>
                  </a:schemeClr>
                </a:solidFill>
              </a:rPr>
              <a:t>Vaccine Manufacturer Interactions</a:t>
            </a:r>
            <a:r>
              <a:rPr lang="en-US" dirty="0">
                <a:solidFill>
                  <a:schemeClr val="tx1">
                    <a:lumMod val="65000"/>
                    <a:lumOff val="35000"/>
                  </a:schemeClr>
                </a:solidFill>
              </a:rPr>
              <a:t>	69</a:t>
            </a:r>
          </a:p>
          <a:p>
            <a:pPr marL="576263" lvl="1" indent="0">
              <a:lnSpc>
                <a:spcPct val="150000"/>
              </a:lnSpc>
              <a:spcBef>
                <a:spcPts val="300"/>
              </a:spcBef>
              <a:buClr>
                <a:schemeClr val="tx1">
                  <a:lumMod val="50000"/>
                  <a:lumOff val="50000"/>
                </a:schemeClr>
              </a:buClr>
              <a:buNone/>
              <a:tabLst>
                <a:tab pos="9207500" algn="r"/>
              </a:tabLst>
            </a:pPr>
            <a:r>
              <a:rPr lang="en-US" dirty="0">
                <a:solidFill>
                  <a:srgbClr val="000000">
                    <a:lumMod val="75000"/>
                    <a:lumOff val="25000"/>
                  </a:srgbClr>
                </a:solidFill>
                <a:highlight>
                  <a:srgbClr val="F7F7F7"/>
                </a:highlight>
                <a:latin typeface="Arial" panose="020B0604020202020204"/>
              </a:rPr>
              <a:t>Penbraya HCP and Consumer Insights Comparison    </a:t>
            </a:r>
            <a:r>
              <a:rPr lang="en-US" sz="1600" dirty="0">
                <a:solidFill>
                  <a:srgbClr val="000000">
                    <a:lumMod val="75000"/>
                    <a:lumOff val="25000"/>
                  </a:srgbClr>
                </a:solidFill>
                <a:highlight>
                  <a:srgbClr val="F7F7F7"/>
                </a:highlight>
                <a:latin typeface="Arial" panose="020B0604020202020204"/>
              </a:rPr>
              <a:t>               	</a:t>
            </a:r>
            <a:r>
              <a:rPr lang="en-US" dirty="0">
                <a:solidFill>
                  <a:srgbClr val="000000">
                    <a:lumMod val="75000"/>
                    <a:lumOff val="25000"/>
                  </a:srgbClr>
                </a:solidFill>
                <a:highlight>
                  <a:srgbClr val="F7F7F7"/>
                </a:highlight>
                <a:latin typeface="Arial" panose="020B0604020202020204"/>
              </a:rPr>
              <a:t>72</a:t>
            </a:r>
            <a:endParaRPr lang="en-US" dirty="0">
              <a:solidFill>
                <a:schemeClr val="tx1">
                  <a:lumMod val="65000"/>
                  <a:lumOff val="35000"/>
                </a:schemeClr>
              </a:solidFill>
            </a:endParaRPr>
          </a:p>
        </p:txBody>
      </p:sp>
      <p:sp>
        <p:nvSpPr>
          <p:cNvPr id="4" name="Title 3">
            <a:extLst>
              <a:ext uri="{FF2B5EF4-FFF2-40B4-BE49-F238E27FC236}">
                <a16:creationId xmlns:a16="http://schemas.microsoft.com/office/drawing/2014/main" id="{43294075-2583-99C0-22BB-26F3F9B6277E}"/>
              </a:ext>
            </a:extLst>
          </p:cNvPr>
          <p:cNvSpPr>
            <a:spLocks noGrp="1"/>
          </p:cNvSpPr>
          <p:nvPr>
            <p:ph type="title"/>
          </p:nvPr>
        </p:nvSpPr>
        <p:spPr>
          <a:xfrm>
            <a:off x="1142123" y="170307"/>
            <a:ext cx="10411702" cy="850392"/>
          </a:xfrm>
        </p:spPr>
        <p:txBody>
          <a:bodyPr/>
          <a:lstStyle/>
          <a:p>
            <a:r>
              <a:rPr lang="en-US" sz="2800"/>
              <a:t>Table of Contents</a:t>
            </a:r>
          </a:p>
        </p:txBody>
      </p:sp>
      <p:grpSp>
        <p:nvGrpSpPr>
          <p:cNvPr id="35" name="Group 34">
            <a:extLst>
              <a:ext uri="{FF2B5EF4-FFF2-40B4-BE49-F238E27FC236}">
                <a16:creationId xmlns:a16="http://schemas.microsoft.com/office/drawing/2014/main" id="{9C013AA2-56CB-858B-08CA-C43F487A32A6}"/>
              </a:ext>
            </a:extLst>
          </p:cNvPr>
          <p:cNvGrpSpPr/>
          <p:nvPr/>
        </p:nvGrpSpPr>
        <p:grpSpPr>
          <a:xfrm>
            <a:off x="1382820" y="1893910"/>
            <a:ext cx="327312" cy="327312"/>
            <a:chOff x="1217612" y="3121757"/>
            <a:chExt cx="874713" cy="874713"/>
          </a:xfrm>
        </p:grpSpPr>
        <p:sp>
          <p:nvSpPr>
            <p:cNvPr id="36" name="Freeform 8">
              <a:extLst>
                <a:ext uri="{FF2B5EF4-FFF2-40B4-BE49-F238E27FC236}">
                  <a16:creationId xmlns:a16="http://schemas.microsoft.com/office/drawing/2014/main" id="{8F16BB8C-C472-97B2-9AE9-4287CEBC4226}"/>
                </a:ext>
              </a:extLst>
            </p:cNvPr>
            <p:cNvSpPr>
              <a:spLocks/>
            </p:cNvSpPr>
            <p:nvPr/>
          </p:nvSpPr>
          <p:spPr bwMode="auto">
            <a:xfrm>
              <a:off x="1217612" y="3121757"/>
              <a:ext cx="874713" cy="874713"/>
            </a:xfrm>
            <a:custGeom>
              <a:avLst/>
              <a:gdLst>
                <a:gd name="T0" fmla="*/ 1822 w 3305"/>
                <a:gd name="T1" fmla="*/ 9 h 3307"/>
                <a:gd name="T2" fmla="*/ 2066 w 3305"/>
                <a:gd name="T3" fmla="*/ 53 h 3307"/>
                <a:gd name="T4" fmla="*/ 2296 w 3305"/>
                <a:gd name="T5" fmla="*/ 130 h 3307"/>
                <a:gd name="T6" fmla="*/ 2510 w 3305"/>
                <a:gd name="T7" fmla="*/ 240 h 3307"/>
                <a:gd name="T8" fmla="*/ 2705 w 3305"/>
                <a:gd name="T9" fmla="*/ 378 h 3307"/>
                <a:gd name="T10" fmla="*/ 2877 w 3305"/>
                <a:gd name="T11" fmla="*/ 542 h 3307"/>
                <a:gd name="T12" fmla="*/ 3024 w 3305"/>
                <a:gd name="T13" fmla="*/ 730 h 3307"/>
                <a:gd name="T14" fmla="*/ 3143 w 3305"/>
                <a:gd name="T15" fmla="*/ 937 h 3307"/>
                <a:gd name="T16" fmla="*/ 3231 w 3305"/>
                <a:gd name="T17" fmla="*/ 1162 h 3307"/>
                <a:gd name="T18" fmla="*/ 3286 w 3305"/>
                <a:gd name="T19" fmla="*/ 1402 h 3307"/>
                <a:gd name="T20" fmla="*/ 3305 w 3305"/>
                <a:gd name="T21" fmla="*/ 1653 h 3307"/>
                <a:gd name="T22" fmla="*/ 3286 w 3305"/>
                <a:gd name="T23" fmla="*/ 1905 h 3307"/>
                <a:gd name="T24" fmla="*/ 3231 w 3305"/>
                <a:gd name="T25" fmla="*/ 2145 h 3307"/>
                <a:gd name="T26" fmla="*/ 3143 w 3305"/>
                <a:gd name="T27" fmla="*/ 2371 h 3307"/>
                <a:gd name="T28" fmla="*/ 3024 w 3305"/>
                <a:gd name="T29" fmla="*/ 2578 h 3307"/>
                <a:gd name="T30" fmla="*/ 2877 w 3305"/>
                <a:gd name="T31" fmla="*/ 2765 h 3307"/>
                <a:gd name="T32" fmla="*/ 2705 w 3305"/>
                <a:gd name="T33" fmla="*/ 2930 h 3307"/>
                <a:gd name="T34" fmla="*/ 2510 w 3305"/>
                <a:gd name="T35" fmla="*/ 3068 h 3307"/>
                <a:gd name="T36" fmla="*/ 2296 w 3305"/>
                <a:gd name="T37" fmla="*/ 3176 h 3307"/>
                <a:gd name="T38" fmla="*/ 2066 w 3305"/>
                <a:gd name="T39" fmla="*/ 3254 h 3307"/>
                <a:gd name="T40" fmla="*/ 1822 w 3305"/>
                <a:gd name="T41" fmla="*/ 3298 h 3307"/>
                <a:gd name="T42" fmla="*/ 1568 w 3305"/>
                <a:gd name="T43" fmla="*/ 3304 h 3307"/>
                <a:gd name="T44" fmla="*/ 1320 w 3305"/>
                <a:gd name="T45" fmla="*/ 3273 h 3307"/>
                <a:gd name="T46" fmla="*/ 1084 w 3305"/>
                <a:gd name="T47" fmla="*/ 3206 h 3307"/>
                <a:gd name="T48" fmla="*/ 865 w 3305"/>
                <a:gd name="T49" fmla="*/ 3107 h 3307"/>
                <a:gd name="T50" fmla="*/ 664 w 3305"/>
                <a:gd name="T51" fmla="*/ 2978 h 3307"/>
                <a:gd name="T52" fmla="*/ 484 w 3305"/>
                <a:gd name="T53" fmla="*/ 2822 h 3307"/>
                <a:gd name="T54" fmla="*/ 329 w 3305"/>
                <a:gd name="T55" fmla="*/ 2642 h 3307"/>
                <a:gd name="T56" fmla="*/ 200 w 3305"/>
                <a:gd name="T57" fmla="*/ 2441 h 3307"/>
                <a:gd name="T58" fmla="*/ 100 w 3305"/>
                <a:gd name="T59" fmla="*/ 2222 h 3307"/>
                <a:gd name="T60" fmla="*/ 34 w 3305"/>
                <a:gd name="T61" fmla="*/ 1987 h 3307"/>
                <a:gd name="T62" fmla="*/ 2 w 3305"/>
                <a:gd name="T63" fmla="*/ 1739 h 3307"/>
                <a:gd name="T64" fmla="*/ 9 w 3305"/>
                <a:gd name="T65" fmla="*/ 1485 h 3307"/>
                <a:gd name="T66" fmla="*/ 52 w 3305"/>
                <a:gd name="T67" fmla="*/ 1240 h 3307"/>
                <a:gd name="T68" fmla="*/ 130 w 3305"/>
                <a:gd name="T69" fmla="*/ 1010 h 3307"/>
                <a:gd name="T70" fmla="*/ 239 w 3305"/>
                <a:gd name="T71" fmla="*/ 796 h 3307"/>
                <a:gd name="T72" fmla="*/ 377 w 3305"/>
                <a:gd name="T73" fmla="*/ 602 h 3307"/>
                <a:gd name="T74" fmla="*/ 541 w 3305"/>
                <a:gd name="T75" fmla="*/ 430 h 3307"/>
                <a:gd name="T76" fmla="*/ 728 w 3305"/>
                <a:gd name="T77" fmla="*/ 283 h 3307"/>
                <a:gd name="T78" fmla="*/ 936 w 3305"/>
                <a:gd name="T79" fmla="*/ 164 h 3307"/>
                <a:gd name="T80" fmla="*/ 1162 w 3305"/>
                <a:gd name="T81" fmla="*/ 75 h 3307"/>
                <a:gd name="T82" fmla="*/ 1401 w 3305"/>
                <a:gd name="T83" fmla="*/ 19 h 3307"/>
                <a:gd name="T84" fmla="*/ 1653 w 3305"/>
                <a:gd name="T85" fmla="*/ 0 h 3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05" h="3307">
                  <a:moveTo>
                    <a:pt x="1653" y="0"/>
                  </a:moveTo>
                  <a:lnTo>
                    <a:pt x="1739" y="2"/>
                  </a:lnTo>
                  <a:lnTo>
                    <a:pt x="1822" y="9"/>
                  </a:lnTo>
                  <a:lnTo>
                    <a:pt x="1905" y="19"/>
                  </a:lnTo>
                  <a:lnTo>
                    <a:pt x="1987" y="34"/>
                  </a:lnTo>
                  <a:lnTo>
                    <a:pt x="2066" y="53"/>
                  </a:lnTo>
                  <a:lnTo>
                    <a:pt x="2145" y="75"/>
                  </a:lnTo>
                  <a:lnTo>
                    <a:pt x="2221" y="101"/>
                  </a:lnTo>
                  <a:lnTo>
                    <a:pt x="2296" y="130"/>
                  </a:lnTo>
                  <a:lnTo>
                    <a:pt x="2369" y="164"/>
                  </a:lnTo>
                  <a:lnTo>
                    <a:pt x="2441" y="200"/>
                  </a:lnTo>
                  <a:lnTo>
                    <a:pt x="2510" y="240"/>
                  </a:lnTo>
                  <a:lnTo>
                    <a:pt x="2577" y="283"/>
                  </a:lnTo>
                  <a:lnTo>
                    <a:pt x="2642" y="329"/>
                  </a:lnTo>
                  <a:lnTo>
                    <a:pt x="2705" y="378"/>
                  </a:lnTo>
                  <a:lnTo>
                    <a:pt x="2764" y="430"/>
                  </a:lnTo>
                  <a:lnTo>
                    <a:pt x="2822" y="485"/>
                  </a:lnTo>
                  <a:lnTo>
                    <a:pt x="2877" y="542"/>
                  </a:lnTo>
                  <a:lnTo>
                    <a:pt x="2928" y="602"/>
                  </a:lnTo>
                  <a:lnTo>
                    <a:pt x="2978" y="665"/>
                  </a:lnTo>
                  <a:lnTo>
                    <a:pt x="3024" y="730"/>
                  </a:lnTo>
                  <a:lnTo>
                    <a:pt x="3066" y="796"/>
                  </a:lnTo>
                  <a:lnTo>
                    <a:pt x="3107" y="865"/>
                  </a:lnTo>
                  <a:lnTo>
                    <a:pt x="3143" y="937"/>
                  </a:lnTo>
                  <a:lnTo>
                    <a:pt x="3176" y="1010"/>
                  </a:lnTo>
                  <a:lnTo>
                    <a:pt x="3206" y="1085"/>
                  </a:lnTo>
                  <a:lnTo>
                    <a:pt x="3231" y="1162"/>
                  </a:lnTo>
                  <a:lnTo>
                    <a:pt x="3254" y="1240"/>
                  </a:lnTo>
                  <a:lnTo>
                    <a:pt x="3273" y="1320"/>
                  </a:lnTo>
                  <a:lnTo>
                    <a:pt x="3286" y="1402"/>
                  </a:lnTo>
                  <a:lnTo>
                    <a:pt x="3298" y="1485"/>
                  </a:lnTo>
                  <a:lnTo>
                    <a:pt x="3304" y="1568"/>
                  </a:lnTo>
                  <a:lnTo>
                    <a:pt x="3305" y="1653"/>
                  </a:lnTo>
                  <a:lnTo>
                    <a:pt x="3304" y="1739"/>
                  </a:lnTo>
                  <a:lnTo>
                    <a:pt x="3298" y="1823"/>
                  </a:lnTo>
                  <a:lnTo>
                    <a:pt x="3286" y="1905"/>
                  </a:lnTo>
                  <a:lnTo>
                    <a:pt x="3273" y="1987"/>
                  </a:lnTo>
                  <a:lnTo>
                    <a:pt x="3254" y="2066"/>
                  </a:lnTo>
                  <a:lnTo>
                    <a:pt x="3231" y="2145"/>
                  </a:lnTo>
                  <a:lnTo>
                    <a:pt x="3206" y="2222"/>
                  </a:lnTo>
                  <a:lnTo>
                    <a:pt x="3176" y="2296"/>
                  </a:lnTo>
                  <a:lnTo>
                    <a:pt x="3143" y="2371"/>
                  </a:lnTo>
                  <a:lnTo>
                    <a:pt x="3107" y="2441"/>
                  </a:lnTo>
                  <a:lnTo>
                    <a:pt x="3066" y="2511"/>
                  </a:lnTo>
                  <a:lnTo>
                    <a:pt x="3024" y="2578"/>
                  </a:lnTo>
                  <a:lnTo>
                    <a:pt x="2978" y="2642"/>
                  </a:lnTo>
                  <a:lnTo>
                    <a:pt x="2928" y="2705"/>
                  </a:lnTo>
                  <a:lnTo>
                    <a:pt x="2877" y="2765"/>
                  </a:lnTo>
                  <a:lnTo>
                    <a:pt x="2822" y="2822"/>
                  </a:lnTo>
                  <a:lnTo>
                    <a:pt x="2764" y="2877"/>
                  </a:lnTo>
                  <a:lnTo>
                    <a:pt x="2705" y="2930"/>
                  </a:lnTo>
                  <a:lnTo>
                    <a:pt x="2642" y="2978"/>
                  </a:lnTo>
                  <a:lnTo>
                    <a:pt x="2577" y="3024"/>
                  </a:lnTo>
                  <a:lnTo>
                    <a:pt x="2510" y="3068"/>
                  </a:lnTo>
                  <a:lnTo>
                    <a:pt x="2441" y="3107"/>
                  </a:lnTo>
                  <a:lnTo>
                    <a:pt x="2369" y="3144"/>
                  </a:lnTo>
                  <a:lnTo>
                    <a:pt x="2296" y="3176"/>
                  </a:lnTo>
                  <a:lnTo>
                    <a:pt x="2221" y="3206"/>
                  </a:lnTo>
                  <a:lnTo>
                    <a:pt x="2145" y="3233"/>
                  </a:lnTo>
                  <a:lnTo>
                    <a:pt x="2066" y="3254"/>
                  </a:lnTo>
                  <a:lnTo>
                    <a:pt x="1987" y="3273"/>
                  </a:lnTo>
                  <a:lnTo>
                    <a:pt x="1905" y="3288"/>
                  </a:lnTo>
                  <a:lnTo>
                    <a:pt x="1822" y="3298"/>
                  </a:lnTo>
                  <a:lnTo>
                    <a:pt x="1739" y="3304"/>
                  </a:lnTo>
                  <a:lnTo>
                    <a:pt x="1653" y="3307"/>
                  </a:lnTo>
                  <a:lnTo>
                    <a:pt x="1568" y="3304"/>
                  </a:lnTo>
                  <a:lnTo>
                    <a:pt x="1484" y="3298"/>
                  </a:lnTo>
                  <a:lnTo>
                    <a:pt x="1401" y="3288"/>
                  </a:lnTo>
                  <a:lnTo>
                    <a:pt x="1320" y="3273"/>
                  </a:lnTo>
                  <a:lnTo>
                    <a:pt x="1240" y="3254"/>
                  </a:lnTo>
                  <a:lnTo>
                    <a:pt x="1162" y="3233"/>
                  </a:lnTo>
                  <a:lnTo>
                    <a:pt x="1084" y="3206"/>
                  </a:lnTo>
                  <a:lnTo>
                    <a:pt x="1009" y="3176"/>
                  </a:lnTo>
                  <a:lnTo>
                    <a:pt x="936" y="3144"/>
                  </a:lnTo>
                  <a:lnTo>
                    <a:pt x="865" y="3107"/>
                  </a:lnTo>
                  <a:lnTo>
                    <a:pt x="796" y="3068"/>
                  </a:lnTo>
                  <a:lnTo>
                    <a:pt x="728" y="3024"/>
                  </a:lnTo>
                  <a:lnTo>
                    <a:pt x="664" y="2978"/>
                  </a:lnTo>
                  <a:lnTo>
                    <a:pt x="602" y="2930"/>
                  </a:lnTo>
                  <a:lnTo>
                    <a:pt x="541" y="2877"/>
                  </a:lnTo>
                  <a:lnTo>
                    <a:pt x="484" y="2822"/>
                  </a:lnTo>
                  <a:lnTo>
                    <a:pt x="430" y="2765"/>
                  </a:lnTo>
                  <a:lnTo>
                    <a:pt x="377" y="2705"/>
                  </a:lnTo>
                  <a:lnTo>
                    <a:pt x="329" y="2642"/>
                  </a:lnTo>
                  <a:lnTo>
                    <a:pt x="283" y="2578"/>
                  </a:lnTo>
                  <a:lnTo>
                    <a:pt x="239" y="2511"/>
                  </a:lnTo>
                  <a:lnTo>
                    <a:pt x="200" y="2441"/>
                  </a:lnTo>
                  <a:lnTo>
                    <a:pt x="163" y="2371"/>
                  </a:lnTo>
                  <a:lnTo>
                    <a:pt x="130" y="2296"/>
                  </a:lnTo>
                  <a:lnTo>
                    <a:pt x="100" y="2222"/>
                  </a:lnTo>
                  <a:lnTo>
                    <a:pt x="74" y="2145"/>
                  </a:lnTo>
                  <a:lnTo>
                    <a:pt x="52" y="2066"/>
                  </a:lnTo>
                  <a:lnTo>
                    <a:pt x="34" y="1987"/>
                  </a:lnTo>
                  <a:lnTo>
                    <a:pt x="19" y="1905"/>
                  </a:lnTo>
                  <a:lnTo>
                    <a:pt x="9" y="1823"/>
                  </a:lnTo>
                  <a:lnTo>
                    <a:pt x="2" y="1739"/>
                  </a:lnTo>
                  <a:lnTo>
                    <a:pt x="0" y="1653"/>
                  </a:lnTo>
                  <a:lnTo>
                    <a:pt x="2" y="1568"/>
                  </a:lnTo>
                  <a:lnTo>
                    <a:pt x="9" y="1485"/>
                  </a:lnTo>
                  <a:lnTo>
                    <a:pt x="19" y="1402"/>
                  </a:lnTo>
                  <a:lnTo>
                    <a:pt x="34" y="1320"/>
                  </a:lnTo>
                  <a:lnTo>
                    <a:pt x="52" y="1240"/>
                  </a:lnTo>
                  <a:lnTo>
                    <a:pt x="74" y="1162"/>
                  </a:lnTo>
                  <a:lnTo>
                    <a:pt x="100" y="1085"/>
                  </a:lnTo>
                  <a:lnTo>
                    <a:pt x="130" y="1010"/>
                  </a:lnTo>
                  <a:lnTo>
                    <a:pt x="163" y="937"/>
                  </a:lnTo>
                  <a:lnTo>
                    <a:pt x="200" y="865"/>
                  </a:lnTo>
                  <a:lnTo>
                    <a:pt x="239" y="796"/>
                  </a:lnTo>
                  <a:lnTo>
                    <a:pt x="283" y="730"/>
                  </a:lnTo>
                  <a:lnTo>
                    <a:pt x="329" y="665"/>
                  </a:lnTo>
                  <a:lnTo>
                    <a:pt x="377" y="602"/>
                  </a:lnTo>
                  <a:lnTo>
                    <a:pt x="430" y="542"/>
                  </a:lnTo>
                  <a:lnTo>
                    <a:pt x="484" y="485"/>
                  </a:lnTo>
                  <a:lnTo>
                    <a:pt x="541" y="430"/>
                  </a:lnTo>
                  <a:lnTo>
                    <a:pt x="602" y="378"/>
                  </a:lnTo>
                  <a:lnTo>
                    <a:pt x="664" y="329"/>
                  </a:lnTo>
                  <a:lnTo>
                    <a:pt x="728" y="283"/>
                  </a:lnTo>
                  <a:lnTo>
                    <a:pt x="796" y="240"/>
                  </a:lnTo>
                  <a:lnTo>
                    <a:pt x="865" y="200"/>
                  </a:lnTo>
                  <a:lnTo>
                    <a:pt x="936" y="164"/>
                  </a:lnTo>
                  <a:lnTo>
                    <a:pt x="1009" y="130"/>
                  </a:lnTo>
                  <a:lnTo>
                    <a:pt x="1084" y="101"/>
                  </a:lnTo>
                  <a:lnTo>
                    <a:pt x="1162" y="75"/>
                  </a:lnTo>
                  <a:lnTo>
                    <a:pt x="1240" y="53"/>
                  </a:lnTo>
                  <a:lnTo>
                    <a:pt x="1320" y="34"/>
                  </a:lnTo>
                  <a:lnTo>
                    <a:pt x="1401" y="19"/>
                  </a:lnTo>
                  <a:lnTo>
                    <a:pt x="1484" y="9"/>
                  </a:lnTo>
                  <a:lnTo>
                    <a:pt x="1568" y="2"/>
                  </a:lnTo>
                  <a:lnTo>
                    <a:pt x="1653"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9">
              <a:extLst>
                <a:ext uri="{FF2B5EF4-FFF2-40B4-BE49-F238E27FC236}">
                  <a16:creationId xmlns:a16="http://schemas.microsoft.com/office/drawing/2014/main" id="{5488EB3E-6DA5-EFFD-1A55-E75057C53F75}"/>
                </a:ext>
              </a:extLst>
            </p:cNvPr>
            <p:cNvSpPr>
              <a:spLocks/>
            </p:cNvSpPr>
            <p:nvPr/>
          </p:nvSpPr>
          <p:spPr bwMode="auto">
            <a:xfrm>
              <a:off x="1266825" y="3170969"/>
              <a:ext cx="776288" cy="776288"/>
            </a:xfrm>
            <a:custGeom>
              <a:avLst/>
              <a:gdLst>
                <a:gd name="T0" fmla="*/ 1616 w 2932"/>
                <a:gd name="T1" fmla="*/ 7 h 2931"/>
                <a:gd name="T2" fmla="*/ 1832 w 2932"/>
                <a:gd name="T3" fmla="*/ 46 h 2931"/>
                <a:gd name="T4" fmla="*/ 2036 w 2932"/>
                <a:gd name="T5" fmla="*/ 115 h 2931"/>
                <a:gd name="T6" fmla="*/ 2226 w 2932"/>
                <a:gd name="T7" fmla="*/ 212 h 2931"/>
                <a:gd name="T8" fmla="*/ 2399 w 2932"/>
                <a:gd name="T9" fmla="*/ 334 h 2931"/>
                <a:gd name="T10" fmla="*/ 2552 w 2932"/>
                <a:gd name="T11" fmla="*/ 480 h 2931"/>
                <a:gd name="T12" fmla="*/ 2682 w 2932"/>
                <a:gd name="T13" fmla="*/ 646 h 2931"/>
                <a:gd name="T14" fmla="*/ 2787 w 2932"/>
                <a:gd name="T15" fmla="*/ 830 h 2931"/>
                <a:gd name="T16" fmla="*/ 2866 w 2932"/>
                <a:gd name="T17" fmla="*/ 1030 h 2931"/>
                <a:gd name="T18" fmla="*/ 2915 w 2932"/>
                <a:gd name="T19" fmla="*/ 1242 h 2931"/>
                <a:gd name="T20" fmla="*/ 2932 w 2932"/>
                <a:gd name="T21" fmla="*/ 1465 h 2931"/>
                <a:gd name="T22" fmla="*/ 2915 w 2932"/>
                <a:gd name="T23" fmla="*/ 1689 h 2931"/>
                <a:gd name="T24" fmla="*/ 2866 w 2932"/>
                <a:gd name="T25" fmla="*/ 1902 h 2931"/>
                <a:gd name="T26" fmla="*/ 2787 w 2932"/>
                <a:gd name="T27" fmla="*/ 2101 h 2931"/>
                <a:gd name="T28" fmla="*/ 2682 w 2932"/>
                <a:gd name="T29" fmla="*/ 2285 h 2931"/>
                <a:gd name="T30" fmla="*/ 2552 w 2932"/>
                <a:gd name="T31" fmla="*/ 2451 h 2931"/>
                <a:gd name="T32" fmla="*/ 2399 w 2932"/>
                <a:gd name="T33" fmla="*/ 2597 h 2931"/>
                <a:gd name="T34" fmla="*/ 2226 w 2932"/>
                <a:gd name="T35" fmla="*/ 2719 h 2931"/>
                <a:gd name="T36" fmla="*/ 2036 w 2932"/>
                <a:gd name="T37" fmla="*/ 2817 h 2931"/>
                <a:gd name="T38" fmla="*/ 1832 w 2932"/>
                <a:gd name="T39" fmla="*/ 2885 h 2931"/>
                <a:gd name="T40" fmla="*/ 1616 w 2932"/>
                <a:gd name="T41" fmla="*/ 2924 h 2931"/>
                <a:gd name="T42" fmla="*/ 1391 w 2932"/>
                <a:gd name="T43" fmla="*/ 2930 h 2931"/>
                <a:gd name="T44" fmla="*/ 1170 w 2932"/>
                <a:gd name="T45" fmla="*/ 2902 h 2931"/>
                <a:gd name="T46" fmla="*/ 962 w 2932"/>
                <a:gd name="T47" fmla="*/ 2843 h 2931"/>
                <a:gd name="T48" fmla="*/ 767 w 2932"/>
                <a:gd name="T49" fmla="*/ 2755 h 2931"/>
                <a:gd name="T50" fmla="*/ 589 w 2932"/>
                <a:gd name="T51" fmla="*/ 2640 h 2931"/>
                <a:gd name="T52" fmla="*/ 429 w 2932"/>
                <a:gd name="T53" fmla="*/ 2502 h 2931"/>
                <a:gd name="T54" fmla="*/ 291 w 2932"/>
                <a:gd name="T55" fmla="*/ 2343 h 2931"/>
                <a:gd name="T56" fmla="*/ 177 w 2932"/>
                <a:gd name="T57" fmla="*/ 2165 h 2931"/>
                <a:gd name="T58" fmla="*/ 89 w 2932"/>
                <a:gd name="T59" fmla="*/ 1969 h 2931"/>
                <a:gd name="T60" fmla="*/ 30 w 2932"/>
                <a:gd name="T61" fmla="*/ 1761 h 2931"/>
                <a:gd name="T62" fmla="*/ 2 w 2932"/>
                <a:gd name="T63" fmla="*/ 1541 h 2931"/>
                <a:gd name="T64" fmla="*/ 7 w 2932"/>
                <a:gd name="T65" fmla="*/ 1316 h 2931"/>
                <a:gd name="T66" fmla="*/ 46 w 2932"/>
                <a:gd name="T67" fmla="*/ 1099 h 2931"/>
                <a:gd name="T68" fmla="*/ 115 w 2932"/>
                <a:gd name="T69" fmla="*/ 895 h 2931"/>
                <a:gd name="T70" fmla="*/ 213 w 2932"/>
                <a:gd name="T71" fmla="*/ 705 h 2931"/>
                <a:gd name="T72" fmla="*/ 335 w 2932"/>
                <a:gd name="T73" fmla="*/ 533 h 2931"/>
                <a:gd name="T74" fmla="*/ 480 w 2932"/>
                <a:gd name="T75" fmla="*/ 380 h 2931"/>
                <a:gd name="T76" fmla="*/ 646 w 2932"/>
                <a:gd name="T77" fmla="*/ 250 h 2931"/>
                <a:gd name="T78" fmla="*/ 830 w 2932"/>
                <a:gd name="T79" fmla="*/ 144 h 2931"/>
                <a:gd name="T80" fmla="*/ 1030 w 2932"/>
                <a:gd name="T81" fmla="*/ 66 h 2931"/>
                <a:gd name="T82" fmla="*/ 1243 w 2932"/>
                <a:gd name="T83" fmla="*/ 16 h 2931"/>
                <a:gd name="T84" fmla="*/ 1466 w 2932"/>
                <a:gd name="T85" fmla="*/ 0 h 2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2" h="2931">
                  <a:moveTo>
                    <a:pt x="1466" y="0"/>
                  </a:moveTo>
                  <a:lnTo>
                    <a:pt x="1541" y="2"/>
                  </a:lnTo>
                  <a:lnTo>
                    <a:pt x="1616" y="7"/>
                  </a:lnTo>
                  <a:lnTo>
                    <a:pt x="1690" y="16"/>
                  </a:lnTo>
                  <a:lnTo>
                    <a:pt x="1761" y="30"/>
                  </a:lnTo>
                  <a:lnTo>
                    <a:pt x="1832" y="46"/>
                  </a:lnTo>
                  <a:lnTo>
                    <a:pt x="1902" y="66"/>
                  </a:lnTo>
                  <a:lnTo>
                    <a:pt x="1970" y="88"/>
                  </a:lnTo>
                  <a:lnTo>
                    <a:pt x="2036" y="115"/>
                  </a:lnTo>
                  <a:lnTo>
                    <a:pt x="2102" y="144"/>
                  </a:lnTo>
                  <a:lnTo>
                    <a:pt x="2164" y="177"/>
                  </a:lnTo>
                  <a:lnTo>
                    <a:pt x="2226" y="212"/>
                  </a:lnTo>
                  <a:lnTo>
                    <a:pt x="2286" y="250"/>
                  </a:lnTo>
                  <a:lnTo>
                    <a:pt x="2343" y="290"/>
                  </a:lnTo>
                  <a:lnTo>
                    <a:pt x="2399" y="334"/>
                  </a:lnTo>
                  <a:lnTo>
                    <a:pt x="2452" y="380"/>
                  </a:lnTo>
                  <a:lnTo>
                    <a:pt x="2502" y="429"/>
                  </a:lnTo>
                  <a:lnTo>
                    <a:pt x="2552" y="480"/>
                  </a:lnTo>
                  <a:lnTo>
                    <a:pt x="2598" y="533"/>
                  </a:lnTo>
                  <a:lnTo>
                    <a:pt x="2640" y="589"/>
                  </a:lnTo>
                  <a:lnTo>
                    <a:pt x="2682" y="646"/>
                  </a:lnTo>
                  <a:lnTo>
                    <a:pt x="2720" y="705"/>
                  </a:lnTo>
                  <a:lnTo>
                    <a:pt x="2755" y="767"/>
                  </a:lnTo>
                  <a:lnTo>
                    <a:pt x="2787" y="830"/>
                  </a:lnTo>
                  <a:lnTo>
                    <a:pt x="2816" y="895"/>
                  </a:lnTo>
                  <a:lnTo>
                    <a:pt x="2843" y="961"/>
                  </a:lnTo>
                  <a:lnTo>
                    <a:pt x="2866" y="1030"/>
                  </a:lnTo>
                  <a:lnTo>
                    <a:pt x="2886" y="1099"/>
                  </a:lnTo>
                  <a:lnTo>
                    <a:pt x="2902" y="1170"/>
                  </a:lnTo>
                  <a:lnTo>
                    <a:pt x="2915" y="1242"/>
                  </a:lnTo>
                  <a:lnTo>
                    <a:pt x="2924" y="1316"/>
                  </a:lnTo>
                  <a:lnTo>
                    <a:pt x="2930" y="1390"/>
                  </a:lnTo>
                  <a:lnTo>
                    <a:pt x="2932" y="1465"/>
                  </a:lnTo>
                  <a:lnTo>
                    <a:pt x="2930" y="1541"/>
                  </a:lnTo>
                  <a:lnTo>
                    <a:pt x="2924" y="1616"/>
                  </a:lnTo>
                  <a:lnTo>
                    <a:pt x="2915" y="1689"/>
                  </a:lnTo>
                  <a:lnTo>
                    <a:pt x="2902" y="1761"/>
                  </a:lnTo>
                  <a:lnTo>
                    <a:pt x="2886" y="1832"/>
                  </a:lnTo>
                  <a:lnTo>
                    <a:pt x="2866" y="1902"/>
                  </a:lnTo>
                  <a:lnTo>
                    <a:pt x="2843" y="1969"/>
                  </a:lnTo>
                  <a:lnTo>
                    <a:pt x="2816" y="2037"/>
                  </a:lnTo>
                  <a:lnTo>
                    <a:pt x="2787" y="2101"/>
                  </a:lnTo>
                  <a:lnTo>
                    <a:pt x="2755" y="2165"/>
                  </a:lnTo>
                  <a:lnTo>
                    <a:pt x="2720" y="2225"/>
                  </a:lnTo>
                  <a:lnTo>
                    <a:pt x="2682" y="2285"/>
                  </a:lnTo>
                  <a:lnTo>
                    <a:pt x="2640" y="2343"/>
                  </a:lnTo>
                  <a:lnTo>
                    <a:pt x="2598" y="2398"/>
                  </a:lnTo>
                  <a:lnTo>
                    <a:pt x="2552" y="2451"/>
                  </a:lnTo>
                  <a:lnTo>
                    <a:pt x="2502" y="2502"/>
                  </a:lnTo>
                  <a:lnTo>
                    <a:pt x="2452" y="2551"/>
                  </a:lnTo>
                  <a:lnTo>
                    <a:pt x="2399" y="2597"/>
                  </a:lnTo>
                  <a:lnTo>
                    <a:pt x="2343" y="2640"/>
                  </a:lnTo>
                  <a:lnTo>
                    <a:pt x="2286" y="2681"/>
                  </a:lnTo>
                  <a:lnTo>
                    <a:pt x="2226" y="2719"/>
                  </a:lnTo>
                  <a:lnTo>
                    <a:pt x="2164" y="2755"/>
                  </a:lnTo>
                  <a:lnTo>
                    <a:pt x="2102" y="2786"/>
                  </a:lnTo>
                  <a:lnTo>
                    <a:pt x="2036" y="2817"/>
                  </a:lnTo>
                  <a:lnTo>
                    <a:pt x="1970" y="2843"/>
                  </a:lnTo>
                  <a:lnTo>
                    <a:pt x="1902" y="2866"/>
                  </a:lnTo>
                  <a:lnTo>
                    <a:pt x="1832" y="2885"/>
                  </a:lnTo>
                  <a:lnTo>
                    <a:pt x="1761" y="2902"/>
                  </a:lnTo>
                  <a:lnTo>
                    <a:pt x="1690" y="2914"/>
                  </a:lnTo>
                  <a:lnTo>
                    <a:pt x="1616" y="2924"/>
                  </a:lnTo>
                  <a:lnTo>
                    <a:pt x="1541" y="2930"/>
                  </a:lnTo>
                  <a:lnTo>
                    <a:pt x="1466" y="2931"/>
                  </a:lnTo>
                  <a:lnTo>
                    <a:pt x="1391" y="2930"/>
                  </a:lnTo>
                  <a:lnTo>
                    <a:pt x="1316" y="2924"/>
                  </a:lnTo>
                  <a:lnTo>
                    <a:pt x="1243" y="2914"/>
                  </a:lnTo>
                  <a:lnTo>
                    <a:pt x="1170" y="2902"/>
                  </a:lnTo>
                  <a:lnTo>
                    <a:pt x="1099" y="2885"/>
                  </a:lnTo>
                  <a:lnTo>
                    <a:pt x="1030" y="2866"/>
                  </a:lnTo>
                  <a:lnTo>
                    <a:pt x="962" y="2843"/>
                  </a:lnTo>
                  <a:lnTo>
                    <a:pt x="895" y="2817"/>
                  </a:lnTo>
                  <a:lnTo>
                    <a:pt x="830" y="2786"/>
                  </a:lnTo>
                  <a:lnTo>
                    <a:pt x="767" y="2755"/>
                  </a:lnTo>
                  <a:lnTo>
                    <a:pt x="705" y="2719"/>
                  </a:lnTo>
                  <a:lnTo>
                    <a:pt x="646" y="2681"/>
                  </a:lnTo>
                  <a:lnTo>
                    <a:pt x="589" y="2640"/>
                  </a:lnTo>
                  <a:lnTo>
                    <a:pt x="534" y="2597"/>
                  </a:lnTo>
                  <a:lnTo>
                    <a:pt x="480" y="2551"/>
                  </a:lnTo>
                  <a:lnTo>
                    <a:pt x="429" y="2502"/>
                  </a:lnTo>
                  <a:lnTo>
                    <a:pt x="381" y="2451"/>
                  </a:lnTo>
                  <a:lnTo>
                    <a:pt x="335" y="2398"/>
                  </a:lnTo>
                  <a:lnTo>
                    <a:pt x="291" y="2343"/>
                  </a:lnTo>
                  <a:lnTo>
                    <a:pt x="251" y="2285"/>
                  </a:lnTo>
                  <a:lnTo>
                    <a:pt x="213" y="2225"/>
                  </a:lnTo>
                  <a:lnTo>
                    <a:pt x="177" y="2165"/>
                  </a:lnTo>
                  <a:lnTo>
                    <a:pt x="144" y="2101"/>
                  </a:lnTo>
                  <a:lnTo>
                    <a:pt x="115" y="2037"/>
                  </a:lnTo>
                  <a:lnTo>
                    <a:pt x="89" y="1969"/>
                  </a:lnTo>
                  <a:lnTo>
                    <a:pt x="66" y="1902"/>
                  </a:lnTo>
                  <a:lnTo>
                    <a:pt x="46" y="1832"/>
                  </a:lnTo>
                  <a:lnTo>
                    <a:pt x="30" y="1761"/>
                  </a:lnTo>
                  <a:lnTo>
                    <a:pt x="17" y="1689"/>
                  </a:lnTo>
                  <a:lnTo>
                    <a:pt x="7" y="1616"/>
                  </a:lnTo>
                  <a:lnTo>
                    <a:pt x="2" y="1541"/>
                  </a:lnTo>
                  <a:lnTo>
                    <a:pt x="0" y="1465"/>
                  </a:lnTo>
                  <a:lnTo>
                    <a:pt x="2" y="1390"/>
                  </a:lnTo>
                  <a:lnTo>
                    <a:pt x="7" y="1316"/>
                  </a:lnTo>
                  <a:lnTo>
                    <a:pt x="17" y="1242"/>
                  </a:lnTo>
                  <a:lnTo>
                    <a:pt x="30" y="1170"/>
                  </a:lnTo>
                  <a:lnTo>
                    <a:pt x="46" y="1099"/>
                  </a:lnTo>
                  <a:lnTo>
                    <a:pt x="66" y="1030"/>
                  </a:lnTo>
                  <a:lnTo>
                    <a:pt x="89" y="961"/>
                  </a:lnTo>
                  <a:lnTo>
                    <a:pt x="115" y="895"/>
                  </a:lnTo>
                  <a:lnTo>
                    <a:pt x="144" y="830"/>
                  </a:lnTo>
                  <a:lnTo>
                    <a:pt x="177" y="767"/>
                  </a:lnTo>
                  <a:lnTo>
                    <a:pt x="213" y="705"/>
                  </a:lnTo>
                  <a:lnTo>
                    <a:pt x="251" y="646"/>
                  </a:lnTo>
                  <a:lnTo>
                    <a:pt x="291" y="589"/>
                  </a:lnTo>
                  <a:lnTo>
                    <a:pt x="335" y="533"/>
                  </a:lnTo>
                  <a:lnTo>
                    <a:pt x="381" y="480"/>
                  </a:lnTo>
                  <a:lnTo>
                    <a:pt x="429" y="429"/>
                  </a:lnTo>
                  <a:lnTo>
                    <a:pt x="480" y="380"/>
                  </a:lnTo>
                  <a:lnTo>
                    <a:pt x="534" y="334"/>
                  </a:lnTo>
                  <a:lnTo>
                    <a:pt x="589" y="290"/>
                  </a:lnTo>
                  <a:lnTo>
                    <a:pt x="646" y="250"/>
                  </a:lnTo>
                  <a:lnTo>
                    <a:pt x="705" y="212"/>
                  </a:lnTo>
                  <a:lnTo>
                    <a:pt x="767" y="177"/>
                  </a:lnTo>
                  <a:lnTo>
                    <a:pt x="830" y="144"/>
                  </a:lnTo>
                  <a:lnTo>
                    <a:pt x="895" y="115"/>
                  </a:lnTo>
                  <a:lnTo>
                    <a:pt x="962" y="88"/>
                  </a:lnTo>
                  <a:lnTo>
                    <a:pt x="1030" y="66"/>
                  </a:lnTo>
                  <a:lnTo>
                    <a:pt x="1099" y="46"/>
                  </a:lnTo>
                  <a:lnTo>
                    <a:pt x="1170" y="30"/>
                  </a:lnTo>
                  <a:lnTo>
                    <a:pt x="1243" y="16"/>
                  </a:lnTo>
                  <a:lnTo>
                    <a:pt x="1316" y="7"/>
                  </a:lnTo>
                  <a:lnTo>
                    <a:pt x="1391" y="2"/>
                  </a:lnTo>
                  <a:lnTo>
                    <a:pt x="1466" y="0"/>
                  </a:lnTo>
                  <a:close/>
                </a:path>
              </a:pathLst>
            </a:cu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4">
              <a:extLst>
                <a:ext uri="{FF2B5EF4-FFF2-40B4-BE49-F238E27FC236}">
                  <a16:creationId xmlns:a16="http://schemas.microsoft.com/office/drawing/2014/main" id="{37E54B9F-F342-3A1C-D90D-C438BB905233}"/>
                </a:ext>
              </a:extLst>
            </p:cNvPr>
            <p:cNvSpPr>
              <a:spLocks/>
            </p:cNvSpPr>
            <p:nvPr/>
          </p:nvSpPr>
          <p:spPr bwMode="auto">
            <a:xfrm>
              <a:off x="1328142" y="3282094"/>
              <a:ext cx="676275" cy="625475"/>
            </a:xfrm>
            <a:custGeom>
              <a:avLst/>
              <a:gdLst>
                <a:gd name="T0" fmla="*/ 2508 w 2552"/>
                <a:gd name="T1" fmla="*/ 1224 h 2365"/>
                <a:gd name="T2" fmla="*/ 2457 w 2552"/>
                <a:gd name="T3" fmla="*/ 1448 h 2365"/>
                <a:gd name="T4" fmla="*/ 2367 w 2552"/>
                <a:gd name="T5" fmla="*/ 1656 h 2365"/>
                <a:gd name="T6" fmla="*/ 2243 w 2552"/>
                <a:gd name="T7" fmla="*/ 1842 h 2365"/>
                <a:gd name="T8" fmla="*/ 2091 w 2552"/>
                <a:gd name="T9" fmla="*/ 2004 h 2365"/>
                <a:gd name="T10" fmla="*/ 1911 w 2552"/>
                <a:gd name="T11" fmla="*/ 2136 h 2365"/>
                <a:gd name="T12" fmla="*/ 1710 w 2552"/>
                <a:gd name="T13" fmla="*/ 2237 h 2365"/>
                <a:gd name="T14" fmla="*/ 1490 w 2552"/>
                <a:gd name="T15" fmla="*/ 2301 h 2365"/>
                <a:gd name="T16" fmla="*/ 1362 w 2552"/>
                <a:gd name="T17" fmla="*/ 2320 h 2365"/>
                <a:gd name="T18" fmla="*/ 1266 w 2552"/>
                <a:gd name="T19" fmla="*/ 2326 h 2365"/>
                <a:gd name="T20" fmla="*/ 1169 w 2552"/>
                <a:gd name="T21" fmla="*/ 2324 h 2365"/>
                <a:gd name="T22" fmla="*/ 1074 w 2552"/>
                <a:gd name="T23" fmla="*/ 2315 h 2365"/>
                <a:gd name="T24" fmla="*/ 987 w 2552"/>
                <a:gd name="T25" fmla="*/ 2300 h 2365"/>
                <a:gd name="T26" fmla="*/ 806 w 2552"/>
                <a:gd name="T27" fmla="*/ 2250 h 2365"/>
                <a:gd name="T28" fmla="*/ 635 w 2552"/>
                <a:gd name="T29" fmla="*/ 2173 h 2365"/>
                <a:gd name="T30" fmla="*/ 479 w 2552"/>
                <a:gd name="T31" fmla="*/ 2073 h 2365"/>
                <a:gd name="T32" fmla="*/ 340 w 2552"/>
                <a:gd name="T33" fmla="*/ 1953 h 2365"/>
                <a:gd name="T34" fmla="*/ 219 w 2552"/>
                <a:gd name="T35" fmla="*/ 1814 h 2365"/>
                <a:gd name="T36" fmla="*/ 119 w 2552"/>
                <a:gd name="T37" fmla="*/ 1659 h 2365"/>
                <a:gd name="T38" fmla="*/ 41 w 2552"/>
                <a:gd name="T39" fmla="*/ 1490 h 2365"/>
                <a:gd name="T40" fmla="*/ 0 w 2552"/>
                <a:gd name="T41" fmla="*/ 1354 h 2365"/>
                <a:gd name="T42" fmla="*/ 46 w 2552"/>
                <a:gd name="T43" fmla="*/ 1513 h 2365"/>
                <a:gd name="T44" fmla="*/ 137 w 2552"/>
                <a:gd name="T45" fmla="*/ 1710 h 2365"/>
                <a:gd name="T46" fmla="*/ 258 w 2552"/>
                <a:gd name="T47" fmla="*/ 1887 h 2365"/>
                <a:gd name="T48" fmla="*/ 406 w 2552"/>
                <a:gd name="T49" fmla="*/ 2042 h 2365"/>
                <a:gd name="T50" fmla="*/ 578 w 2552"/>
                <a:gd name="T51" fmla="*/ 2170 h 2365"/>
                <a:gd name="T52" fmla="*/ 771 w 2552"/>
                <a:gd name="T53" fmla="*/ 2269 h 2365"/>
                <a:gd name="T54" fmla="*/ 980 w 2552"/>
                <a:gd name="T55" fmla="*/ 2335 h 2365"/>
                <a:gd name="T56" fmla="*/ 1203 w 2552"/>
                <a:gd name="T57" fmla="*/ 2364 h 2365"/>
                <a:gd name="T58" fmla="*/ 1403 w 2552"/>
                <a:gd name="T59" fmla="*/ 2357 h 2365"/>
                <a:gd name="T60" fmla="*/ 1586 w 2552"/>
                <a:gd name="T61" fmla="*/ 2324 h 2365"/>
                <a:gd name="T62" fmla="*/ 1775 w 2552"/>
                <a:gd name="T63" fmla="*/ 2259 h 2365"/>
                <a:gd name="T64" fmla="*/ 1956 w 2552"/>
                <a:gd name="T65" fmla="*/ 2162 h 2365"/>
                <a:gd name="T66" fmla="*/ 2119 w 2552"/>
                <a:gd name="T67" fmla="*/ 2039 h 2365"/>
                <a:gd name="T68" fmla="*/ 2259 w 2552"/>
                <a:gd name="T69" fmla="*/ 1893 h 2365"/>
                <a:gd name="T70" fmla="*/ 2376 w 2552"/>
                <a:gd name="T71" fmla="*/ 1725 h 2365"/>
                <a:gd name="T72" fmla="*/ 2465 w 2552"/>
                <a:gd name="T73" fmla="*/ 1540 h 2365"/>
                <a:gd name="T74" fmla="*/ 2524 w 2552"/>
                <a:gd name="T75" fmla="*/ 1340 h 2365"/>
                <a:gd name="T76" fmla="*/ 2551 w 2552"/>
                <a:gd name="T77" fmla="*/ 1128 h 2365"/>
                <a:gd name="T78" fmla="*/ 2545 w 2552"/>
                <a:gd name="T79" fmla="*/ 950 h 2365"/>
                <a:gd name="T80" fmla="*/ 2521 w 2552"/>
                <a:gd name="T81" fmla="*/ 789 h 2365"/>
                <a:gd name="T82" fmla="*/ 2476 w 2552"/>
                <a:gd name="T83" fmla="*/ 636 h 2365"/>
                <a:gd name="T84" fmla="*/ 2413 w 2552"/>
                <a:gd name="T85" fmla="*/ 491 h 2365"/>
                <a:gd name="T86" fmla="*/ 2334 w 2552"/>
                <a:gd name="T87" fmla="*/ 356 h 2365"/>
                <a:gd name="T88" fmla="*/ 2240 w 2552"/>
                <a:gd name="T89" fmla="*/ 233 h 2365"/>
                <a:gd name="T90" fmla="*/ 2131 w 2552"/>
                <a:gd name="T91" fmla="*/ 120 h 2365"/>
                <a:gd name="T92" fmla="*/ 2010 w 2552"/>
                <a:gd name="T93" fmla="*/ 23 h 2365"/>
                <a:gd name="T94" fmla="*/ 2067 w 2552"/>
                <a:gd name="T95" fmla="*/ 70 h 2365"/>
                <a:gd name="T96" fmla="*/ 2176 w 2552"/>
                <a:gd name="T97" fmla="*/ 173 h 2365"/>
                <a:gd name="T98" fmla="*/ 2273 w 2552"/>
                <a:gd name="T99" fmla="*/ 289 h 2365"/>
                <a:gd name="T100" fmla="*/ 2355 w 2552"/>
                <a:gd name="T101" fmla="*/ 416 h 2365"/>
                <a:gd name="T102" fmla="*/ 2422 w 2552"/>
                <a:gd name="T103" fmla="*/ 551 h 2365"/>
                <a:gd name="T104" fmla="*/ 2472 w 2552"/>
                <a:gd name="T105" fmla="*/ 696 h 2365"/>
                <a:gd name="T106" fmla="*/ 2506 w 2552"/>
                <a:gd name="T107" fmla="*/ 848 h 2365"/>
                <a:gd name="T108" fmla="*/ 2521 w 2552"/>
                <a:gd name="T109" fmla="*/ 1006 h 2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52" h="2365">
                  <a:moveTo>
                    <a:pt x="2521" y="1046"/>
                  </a:moveTo>
                  <a:lnTo>
                    <a:pt x="2520" y="1106"/>
                  </a:lnTo>
                  <a:lnTo>
                    <a:pt x="2515" y="1165"/>
                  </a:lnTo>
                  <a:lnTo>
                    <a:pt x="2508" y="1224"/>
                  </a:lnTo>
                  <a:lnTo>
                    <a:pt x="2499" y="1281"/>
                  </a:lnTo>
                  <a:lnTo>
                    <a:pt x="2488" y="1338"/>
                  </a:lnTo>
                  <a:lnTo>
                    <a:pt x="2474" y="1393"/>
                  </a:lnTo>
                  <a:lnTo>
                    <a:pt x="2457" y="1448"/>
                  </a:lnTo>
                  <a:lnTo>
                    <a:pt x="2438" y="1502"/>
                  </a:lnTo>
                  <a:lnTo>
                    <a:pt x="2416" y="1554"/>
                  </a:lnTo>
                  <a:lnTo>
                    <a:pt x="2393" y="1605"/>
                  </a:lnTo>
                  <a:lnTo>
                    <a:pt x="2367" y="1656"/>
                  </a:lnTo>
                  <a:lnTo>
                    <a:pt x="2339" y="1704"/>
                  </a:lnTo>
                  <a:lnTo>
                    <a:pt x="2310" y="1751"/>
                  </a:lnTo>
                  <a:lnTo>
                    <a:pt x="2277" y="1797"/>
                  </a:lnTo>
                  <a:lnTo>
                    <a:pt x="2243" y="1842"/>
                  </a:lnTo>
                  <a:lnTo>
                    <a:pt x="2208" y="1885"/>
                  </a:lnTo>
                  <a:lnTo>
                    <a:pt x="2170" y="1926"/>
                  </a:lnTo>
                  <a:lnTo>
                    <a:pt x="2131" y="1966"/>
                  </a:lnTo>
                  <a:lnTo>
                    <a:pt x="2091" y="2004"/>
                  </a:lnTo>
                  <a:lnTo>
                    <a:pt x="2048" y="2040"/>
                  </a:lnTo>
                  <a:lnTo>
                    <a:pt x="2004" y="2074"/>
                  </a:lnTo>
                  <a:lnTo>
                    <a:pt x="1958" y="2106"/>
                  </a:lnTo>
                  <a:lnTo>
                    <a:pt x="1911" y="2136"/>
                  </a:lnTo>
                  <a:lnTo>
                    <a:pt x="1863" y="2165"/>
                  </a:lnTo>
                  <a:lnTo>
                    <a:pt x="1814" y="2191"/>
                  </a:lnTo>
                  <a:lnTo>
                    <a:pt x="1762" y="2215"/>
                  </a:lnTo>
                  <a:lnTo>
                    <a:pt x="1710" y="2237"/>
                  </a:lnTo>
                  <a:lnTo>
                    <a:pt x="1656" y="2256"/>
                  </a:lnTo>
                  <a:lnTo>
                    <a:pt x="1603" y="2274"/>
                  </a:lnTo>
                  <a:lnTo>
                    <a:pt x="1548" y="2289"/>
                  </a:lnTo>
                  <a:lnTo>
                    <a:pt x="1490" y="2301"/>
                  </a:lnTo>
                  <a:lnTo>
                    <a:pt x="1433" y="2311"/>
                  </a:lnTo>
                  <a:lnTo>
                    <a:pt x="1409" y="2315"/>
                  </a:lnTo>
                  <a:lnTo>
                    <a:pt x="1386" y="2318"/>
                  </a:lnTo>
                  <a:lnTo>
                    <a:pt x="1362" y="2320"/>
                  </a:lnTo>
                  <a:lnTo>
                    <a:pt x="1339" y="2323"/>
                  </a:lnTo>
                  <a:lnTo>
                    <a:pt x="1314" y="2324"/>
                  </a:lnTo>
                  <a:lnTo>
                    <a:pt x="1291" y="2325"/>
                  </a:lnTo>
                  <a:lnTo>
                    <a:pt x="1266" y="2326"/>
                  </a:lnTo>
                  <a:lnTo>
                    <a:pt x="1242" y="2326"/>
                  </a:lnTo>
                  <a:lnTo>
                    <a:pt x="1218" y="2326"/>
                  </a:lnTo>
                  <a:lnTo>
                    <a:pt x="1193" y="2325"/>
                  </a:lnTo>
                  <a:lnTo>
                    <a:pt x="1169" y="2324"/>
                  </a:lnTo>
                  <a:lnTo>
                    <a:pt x="1146" y="2323"/>
                  </a:lnTo>
                  <a:lnTo>
                    <a:pt x="1121" y="2320"/>
                  </a:lnTo>
                  <a:lnTo>
                    <a:pt x="1097" y="2318"/>
                  </a:lnTo>
                  <a:lnTo>
                    <a:pt x="1074" y="2315"/>
                  </a:lnTo>
                  <a:lnTo>
                    <a:pt x="1050" y="2311"/>
                  </a:lnTo>
                  <a:lnTo>
                    <a:pt x="1042" y="2310"/>
                  </a:lnTo>
                  <a:lnTo>
                    <a:pt x="1035" y="2309"/>
                  </a:lnTo>
                  <a:lnTo>
                    <a:pt x="987" y="2300"/>
                  </a:lnTo>
                  <a:lnTo>
                    <a:pt x="941" y="2290"/>
                  </a:lnTo>
                  <a:lnTo>
                    <a:pt x="895" y="2278"/>
                  </a:lnTo>
                  <a:lnTo>
                    <a:pt x="849" y="2264"/>
                  </a:lnTo>
                  <a:lnTo>
                    <a:pt x="806" y="2250"/>
                  </a:lnTo>
                  <a:lnTo>
                    <a:pt x="762" y="2233"/>
                  </a:lnTo>
                  <a:lnTo>
                    <a:pt x="719" y="2214"/>
                  </a:lnTo>
                  <a:lnTo>
                    <a:pt x="677" y="2195"/>
                  </a:lnTo>
                  <a:lnTo>
                    <a:pt x="635" y="2173"/>
                  </a:lnTo>
                  <a:lnTo>
                    <a:pt x="595" y="2150"/>
                  </a:lnTo>
                  <a:lnTo>
                    <a:pt x="555" y="2126"/>
                  </a:lnTo>
                  <a:lnTo>
                    <a:pt x="517" y="2100"/>
                  </a:lnTo>
                  <a:lnTo>
                    <a:pt x="479" y="2073"/>
                  </a:lnTo>
                  <a:lnTo>
                    <a:pt x="443" y="2045"/>
                  </a:lnTo>
                  <a:lnTo>
                    <a:pt x="407" y="2016"/>
                  </a:lnTo>
                  <a:lnTo>
                    <a:pt x="374" y="1985"/>
                  </a:lnTo>
                  <a:lnTo>
                    <a:pt x="340" y="1953"/>
                  </a:lnTo>
                  <a:lnTo>
                    <a:pt x="307" y="1921"/>
                  </a:lnTo>
                  <a:lnTo>
                    <a:pt x="277" y="1886"/>
                  </a:lnTo>
                  <a:lnTo>
                    <a:pt x="248" y="1851"/>
                  </a:lnTo>
                  <a:lnTo>
                    <a:pt x="219" y="1814"/>
                  </a:lnTo>
                  <a:lnTo>
                    <a:pt x="192" y="1777"/>
                  </a:lnTo>
                  <a:lnTo>
                    <a:pt x="166" y="1739"/>
                  </a:lnTo>
                  <a:lnTo>
                    <a:pt x="142" y="1700"/>
                  </a:lnTo>
                  <a:lnTo>
                    <a:pt x="119" y="1659"/>
                  </a:lnTo>
                  <a:lnTo>
                    <a:pt x="97" y="1618"/>
                  </a:lnTo>
                  <a:lnTo>
                    <a:pt x="77" y="1576"/>
                  </a:lnTo>
                  <a:lnTo>
                    <a:pt x="59" y="1533"/>
                  </a:lnTo>
                  <a:lnTo>
                    <a:pt x="41" y="1490"/>
                  </a:lnTo>
                  <a:lnTo>
                    <a:pt x="27" y="1445"/>
                  </a:lnTo>
                  <a:lnTo>
                    <a:pt x="12" y="1400"/>
                  </a:lnTo>
                  <a:lnTo>
                    <a:pt x="0" y="1354"/>
                  </a:lnTo>
                  <a:lnTo>
                    <a:pt x="0" y="1354"/>
                  </a:lnTo>
                  <a:lnTo>
                    <a:pt x="0" y="1354"/>
                  </a:lnTo>
                  <a:lnTo>
                    <a:pt x="13" y="1408"/>
                  </a:lnTo>
                  <a:lnTo>
                    <a:pt x="29" y="1461"/>
                  </a:lnTo>
                  <a:lnTo>
                    <a:pt x="46" y="1513"/>
                  </a:lnTo>
                  <a:lnTo>
                    <a:pt x="66" y="1564"/>
                  </a:lnTo>
                  <a:lnTo>
                    <a:pt x="87" y="1613"/>
                  </a:lnTo>
                  <a:lnTo>
                    <a:pt x="111" y="1663"/>
                  </a:lnTo>
                  <a:lnTo>
                    <a:pt x="137" y="1710"/>
                  </a:lnTo>
                  <a:lnTo>
                    <a:pt x="165" y="1756"/>
                  </a:lnTo>
                  <a:lnTo>
                    <a:pt x="194" y="1802"/>
                  </a:lnTo>
                  <a:lnTo>
                    <a:pt x="225" y="1845"/>
                  </a:lnTo>
                  <a:lnTo>
                    <a:pt x="258" y="1887"/>
                  </a:lnTo>
                  <a:lnTo>
                    <a:pt x="293" y="1929"/>
                  </a:lnTo>
                  <a:lnTo>
                    <a:pt x="329" y="1968"/>
                  </a:lnTo>
                  <a:lnTo>
                    <a:pt x="367" y="2006"/>
                  </a:lnTo>
                  <a:lnTo>
                    <a:pt x="406" y="2042"/>
                  </a:lnTo>
                  <a:lnTo>
                    <a:pt x="448" y="2077"/>
                  </a:lnTo>
                  <a:lnTo>
                    <a:pt x="489" y="2109"/>
                  </a:lnTo>
                  <a:lnTo>
                    <a:pt x="533" y="2141"/>
                  </a:lnTo>
                  <a:lnTo>
                    <a:pt x="578" y="2170"/>
                  </a:lnTo>
                  <a:lnTo>
                    <a:pt x="625" y="2198"/>
                  </a:lnTo>
                  <a:lnTo>
                    <a:pt x="672" y="2224"/>
                  </a:lnTo>
                  <a:lnTo>
                    <a:pt x="720" y="2247"/>
                  </a:lnTo>
                  <a:lnTo>
                    <a:pt x="771" y="2269"/>
                  </a:lnTo>
                  <a:lnTo>
                    <a:pt x="821" y="2289"/>
                  </a:lnTo>
                  <a:lnTo>
                    <a:pt x="873" y="2306"/>
                  </a:lnTo>
                  <a:lnTo>
                    <a:pt x="927" y="2321"/>
                  </a:lnTo>
                  <a:lnTo>
                    <a:pt x="980" y="2335"/>
                  </a:lnTo>
                  <a:lnTo>
                    <a:pt x="1035" y="2345"/>
                  </a:lnTo>
                  <a:lnTo>
                    <a:pt x="1090" y="2354"/>
                  </a:lnTo>
                  <a:lnTo>
                    <a:pt x="1147" y="2360"/>
                  </a:lnTo>
                  <a:lnTo>
                    <a:pt x="1203" y="2364"/>
                  </a:lnTo>
                  <a:lnTo>
                    <a:pt x="1260" y="2365"/>
                  </a:lnTo>
                  <a:lnTo>
                    <a:pt x="1308" y="2364"/>
                  </a:lnTo>
                  <a:lnTo>
                    <a:pt x="1356" y="2362"/>
                  </a:lnTo>
                  <a:lnTo>
                    <a:pt x="1403" y="2357"/>
                  </a:lnTo>
                  <a:lnTo>
                    <a:pt x="1450" y="2352"/>
                  </a:lnTo>
                  <a:lnTo>
                    <a:pt x="1496" y="2344"/>
                  </a:lnTo>
                  <a:lnTo>
                    <a:pt x="1541" y="2335"/>
                  </a:lnTo>
                  <a:lnTo>
                    <a:pt x="1586" y="2324"/>
                  </a:lnTo>
                  <a:lnTo>
                    <a:pt x="1629" y="2311"/>
                  </a:lnTo>
                  <a:lnTo>
                    <a:pt x="1680" y="2296"/>
                  </a:lnTo>
                  <a:lnTo>
                    <a:pt x="1728" y="2278"/>
                  </a:lnTo>
                  <a:lnTo>
                    <a:pt x="1775" y="2259"/>
                  </a:lnTo>
                  <a:lnTo>
                    <a:pt x="1823" y="2236"/>
                  </a:lnTo>
                  <a:lnTo>
                    <a:pt x="1869" y="2214"/>
                  </a:lnTo>
                  <a:lnTo>
                    <a:pt x="1913" y="2188"/>
                  </a:lnTo>
                  <a:lnTo>
                    <a:pt x="1956" y="2162"/>
                  </a:lnTo>
                  <a:lnTo>
                    <a:pt x="1999" y="2133"/>
                  </a:lnTo>
                  <a:lnTo>
                    <a:pt x="2040" y="2104"/>
                  </a:lnTo>
                  <a:lnTo>
                    <a:pt x="2080" y="2072"/>
                  </a:lnTo>
                  <a:lnTo>
                    <a:pt x="2119" y="2039"/>
                  </a:lnTo>
                  <a:lnTo>
                    <a:pt x="2156" y="2004"/>
                  </a:lnTo>
                  <a:lnTo>
                    <a:pt x="2192" y="1968"/>
                  </a:lnTo>
                  <a:lnTo>
                    <a:pt x="2227" y="1931"/>
                  </a:lnTo>
                  <a:lnTo>
                    <a:pt x="2259" y="1893"/>
                  </a:lnTo>
                  <a:lnTo>
                    <a:pt x="2291" y="1852"/>
                  </a:lnTo>
                  <a:lnTo>
                    <a:pt x="2321" y="1811"/>
                  </a:lnTo>
                  <a:lnTo>
                    <a:pt x="2349" y="1769"/>
                  </a:lnTo>
                  <a:lnTo>
                    <a:pt x="2376" y="1725"/>
                  </a:lnTo>
                  <a:lnTo>
                    <a:pt x="2401" y="1681"/>
                  </a:lnTo>
                  <a:lnTo>
                    <a:pt x="2424" y="1634"/>
                  </a:lnTo>
                  <a:lnTo>
                    <a:pt x="2445" y="1588"/>
                  </a:lnTo>
                  <a:lnTo>
                    <a:pt x="2465" y="1540"/>
                  </a:lnTo>
                  <a:lnTo>
                    <a:pt x="2482" y="1492"/>
                  </a:lnTo>
                  <a:lnTo>
                    <a:pt x="2498" y="1443"/>
                  </a:lnTo>
                  <a:lnTo>
                    <a:pt x="2513" y="1392"/>
                  </a:lnTo>
                  <a:lnTo>
                    <a:pt x="2524" y="1340"/>
                  </a:lnTo>
                  <a:lnTo>
                    <a:pt x="2534" y="1289"/>
                  </a:lnTo>
                  <a:lnTo>
                    <a:pt x="2542" y="1236"/>
                  </a:lnTo>
                  <a:lnTo>
                    <a:pt x="2548" y="1182"/>
                  </a:lnTo>
                  <a:lnTo>
                    <a:pt x="2551" y="1128"/>
                  </a:lnTo>
                  <a:lnTo>
                    <a:pt x="2552" y="1074"/>
                  </a:lnTo>
                  <a:lnTo>
                    <a:pt x="2551" y="1032"/>
                  </a:lnTo>
                  <a:lnTo>
                    <a:pt x="2549" y="990"/>
                  </a:lnTo>
                  <a:lnTo>
                    <a:pt x="2545" y="950"/>
                  </a:lnTo>
                  <a:lnTo>
                    <a:pt x="2541" y="908"/>
                  </a:lnTo>
                  <a:lnTo>
                    <a:pt x="2535" y="869"/>
                  </a:lnTo>
                  <a:lnTo>
                    <a:pt x="2529" y="829"/>
                  </a:lnTo>
                  <a:lnTo>
                    <a:pt x="2521" y="789"/>
                  </a:lnTo>
                  <a:lnTo>
                    <a:pt x="2511" y="750"/>
                  </a:lnTo>
                  <a:lnTo>
                    <a:pt x="2500" y="712"/>
                  </a:lnTo>
                  <a:lnTo>
                    <a:pt x="2488" y="674"/>
                  </a:lnTo>
                  <a:lnTo>
                    <a:pt x="2476" y="636"/>
                  </a:lnTo>
                  <a:lnTo>
                    <a:pt x="2461" y="599"/>
                  </a:lnTo>
                  <a:lnTo>
                    <a:pt x="2447" y="563"/>
                  </a:lnTo>
                  <a:lnTo>
                    <a:pt x="2430" y="527"/>
                  </a:lnTo>
                  <a:lnTo>
                    <a:pt x="2413" y="491"/>
                  </a:lnTo>
                  <a:lnTo>
                    <a:pt x="2395" y="456"/>
                  </a:lnTo>
                  <a:lnTo>
                    <a:pt x="2376" y="422"/>
                  </a:lnTo>
                  <a:lnTo>
                    <a:pt x="2355" y="389"/>
                  </a:lnTo>
                  <a:lnTo>
                    <a:pt x="2334" y="356"/>
                  </a:lnTo>
                  <a:lnTo>
                    <a:pt x="2312" y="324"/>
                  </a:lnTo>
                  <a:lnTo>
                    <a:pt x="2288" y="292"/>
                  </a:lnTo>
                  <a:lnTo>
                    <a:pt x="2265" y="262"/>
                  </a:lnTo>
                  <a:lnTo>
                    <a:pt x="2240" y="233"/>
                  </a:lnTo>
                  <a:lnTo>
                    <a:pt x="2213" y="203"/>
                  </a:lnTo>
                  <a:lnTo>
                    <a:pt x="2187" y="174"/>
                  </a:lnTo>
                  <a:lnTo>
                    <a:pt x="2159" y="147"/>
                  </a:lnTo>
                  <a:lnTo>
                    <a:pt x="2131" y="120"/>
                  </a:lnTo>
                  <a:lnTo>
                    <a:pt x="2102" y="95"/>
                  </a:lnTo>
                  <a:lnTo>
                    <a:pt x="2072" y="70"/>
                  </a:lnTo>
                  <a:lnTo>
                    <a:pt x="2041" y="46"/>
                  </a:lnTo>
                  <a:lnTo>
                    <a:pt x="2010" y="23"/>
                  </a:lnTo>
                  <a:lnTo>
                    <a:pt x="1979" y="0"/>
                  </a:lnTo>
                  <a:lnTo>
                    <a:pt x="2009" y="23"/>
                  </a:lnTo>
                  <a:lnTo>
                    <a:pt x="2038" y="45"/>
                  </a:lnTo>
                  <a:lnTo>
                    <a:pt x="2067" y="70"/>
                  </a:lnTo>
                  <a:lnTo>
                    <a:pt x="2095" y="95"/>
                  </a:lnTo>
                  <a:lnTo>
                    <a:pt x="2123" y="119"/>
                  </a:lnTo>
                  <a:lnTo>
                    <a:pt x="2150" y="146"/>
                  </a:lnTo>
                  <a:lnTo>
                    <a:pt x="2176" y="173"/>
                  </a:lnTo>
                  <a:lnTo>
                    <a:pt x="2202" y="201"/>
                  </a:lnTo>
                  <a:lnTo>
                    <a:pt x="2225" y="229"/>
                  </a:lnTo>
                  <a:lnTo>
                    <a:pt x="2249" y="258"/>
                  </a:lnTo>
                  <a:lnTo>
                    <a:pt x="2273" y="289"/>
                  </a:lnTo>
                  <a:lnTo>
                    <a:pt x="2294" y="319"/>
                  </a:lnTo>
                  <a:lnTo>
                    <a:pt x="2315" y="350"/>
                  </a:lnTo>
                  <a:lnTo>
                    <a:pt x="2335" y="382"/>
                  </a:lnTo>
                  <a:lnTo>
                    <a:pt x="2355" y="416"/>
                  </a:lnTo>
                  <a:lnTo>
                    <a:pt x="2372" y="448"/>
                  </a:lnTo>
                  <a:lnTo>
                    <a:pt x="2390" y="482"/>
                  </a:lnTo>
                  <a:lnTo>
                    <a:pt x="2406" y="517"/>
                  </a:lnTo>
                  <a:lnTo>
                    <a:pt x="2422" y="551"/>
                  </a:lnTo>
                  <a:lnTo>
                    <a:pt x="2435" y="586"/>
                  </a:lnTo>
                  <a:lnTo>
                    <a:pt x="2449" y="622"/>
                  </a:lnTo>
                  <a:lnTo>
                    <a:pt x="2461" y="659"/>
                  </a:lnTo>
                  <a:lnTo>
                    <a:pt x="2472" y="696"/>
                  </a:lnTo>
                  <a:lnTo>
                    <a:pt x="2482" y="733"/>
                  </a:lnTo>
                  <a:lnTo>
                    <a:pt x="2491" y="771"/>
                  </a:lnTo>
                  <a:lnTo>
                    <a:pt x="2499" y="810"/>
                  </a:lnTo>
                  <a:lnTo>
                    <a:pt x="2506" y="848"/>
                  </a:lnTo>
                  <a:lnTo>
                    <a:pt x="2512" y="887"/>
                  </a:lnTo>
                  <a:lnTo>
                    <a:pt x="2515" y="926"/>
                  </a:lnTo>
                  <a:lnTo>
                    <a:pt x="2518" y="966"/>
                  </a:lnTo>
                  <a:lnTo>
                    <a:pt x="2521" y="1006"/>
                  </a:lnTo>
                  <a:lnTo>
                    <a:pt x="2521" y="1046"/>
                  </a:lnTo>
                  <a:close/>
                </a:path>
              </a:pathLst>
            </a:custGeom>
            <a:solidFill>
              <a:schemeClr val="accent3">
                <a:lumMod val="50000"/>
              </a:schemeClr>
            </a:solidFill>
            <a:ln>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en-US"/>
            </a:p>
          </p:txBody>
        </p:sp>
        <p:sp>
          <p:nvSpPr>
            <p:cNvPr id="38" name="Freeform 10">
              <a:extLst>
                <a:ext uri="{FF2B5EF4-FFF2-40B4-BE49-F238E27FC236}">
                  <a16:creationId xmlns:a16="http://schemas.microsoft.com/office/drawing/2014/main" id="{ABE06A42-377A-60ED-5823-62DF349059FA}"/>
                </a:ext>
              </a:extLst>
            </p:cNvPr>
            <p:cNvSpPr>
              <a:spLocks/>
            </p:cNvSpPr>
            <p:nvPr/>
          </p:nvSpPr>
          <p:spPr bwMode="auto">
            <a:xfrm>
              <a:off x="1320087" y="3216133"/>
              <a:ext cx="677862" cy="676274"/>
            </a:xfrm>
            <a:custGeom>
              <a:avLst/>
              <a:gdLst>
                <a:gd name="T0" fmla="*/ 1409 w 2558"/>
                <a:gd name="T1" fmla="*/ 6 h 2558"/>
                <a:gd name="T2" fmla="*/ 1599 w 2558"/>
                <a:gd name="T3" fmla="*/ 39 h 2558"/>
                <a:gd name="T4" fmla="*/ 1776 w 2558"/>
                <a:gd name="T5" fmla="*/ 100 h 2558"/>
                <a:gd name="T6" fmla="*/ 1943 w 2558"/>
                <a:gd name="T7" fmla="*/ 185 h 2558"/>
                <a:gd name="T8" fmla="*/ 2093 w 2558"/>
                <a:gd name="T9" fmla="*/ 292 h 2558"/>
                <a:gd name="T10" fmla="*/ 2225 w 2558"/>
                <a:gd name="T11" fmla="*/ 419 h 2558"/>
                <a:gd name="T12" fmla="*/ 2340 w 2558"/>
                <a:gd name="T13" fmla="*/ 563 h 2558"/>
                <a:gd name="T14" fmla="*/ 2432 w 2558"/>
                <a:gd name="T15" fmla="*/ 724 h 2558"/>
                <a:gd name="T16" fmla="*/ 2500 w 2558"/>
                <a:gd name="T17" fmla="*/ 898 h 2558"/>
                <a:gd name="T18" fmla="*/ 2543 w 2558"/>
                <a:gd name="T19" fmla="*/ 1084 h 2558"/>
                <a:gd name="T20" fmla="*/ 2558 w 2558"/>
                <a:gd name="T21" fmla="*/ 1278 h 2558"/>
                <a:gd name="T22" fmla="*/ 2543 w 2558"/>
                <a:gd name="T23" fmla="*/ 1474 h 2558"/>
                <a:gd name="T24" fmla="*/ 2500 w 2558"/>
                <a:gd name="T25" fmla="*/ 1659 h 2558"/>
                <a:gd name="T26" fmla="*/ 2432 w 2558"/>
                <a:gd name="T27" fmla="*/ 1833 h 2558"/>
                <a:gd name="T28" fmla="*/ 2340 w 2558"/>
                <a:gd name="T29" fmla="*/ 1993 h 2558"/>
                <a:gd name="T30" fmla="*/ 2225 w 2558"/>
                <a:gd name="T31" fmla="*/ 2138 h 2558"/>
                <a:gd name="T32" fmla="*/ 2093 w 2558"/>
                <a:gd name="T33" fmla="*/ 2265 h 2558"/>
                <a:gd name="T34" fmla="*/ 1943 w 2558"/>
                <a:gd name="T35" fmla="*/ 2373 h 2558"/>
                <a:gd name="T36" fmla="*/ 1776 w 2558"/>
                <a:gd name="T37" fmla="*/ 2457 h 2558"/>
                <a:gd name="T38" fmla="*/ 1599 w 2558"/>
                <a:gd name="T39" fmla="*/ 2517 h 2558"/>
                <a:gd name="T40" fmla="*/ 1409 w 2558"/>
                <a:gd name="T41" fmla="*/ 2551 h 2558"/>
                <a:gd name="T42" fmla="*/ 1213 w 2558"/>
                <a:gd name="T43" fmla="*/ 2556 h 2558"/>
                <a:gd name="T44" fmla="*/ 1021 w 2558"/>
                <a:gd name="T45" fmla="*/ 2532 h 2558"/>
                <a:gd name="T46" fmla="*/ 839 w 2558"/>
                <a:gd name="T47" fmla="*/ 2480 h 2558"/>
                <a:gd name="T48" fmla="*/ 670 w 2558"/>
                <a:gd name="T49" fmla="*/ 2403 h 2558"/>
                <a:gd name="T50" fmla="*/ 514 w 2558"/>
                <a:gd name="T51" fmla="*/ 2303 h 2558"/>
                <a:gd name="T52" fmla="*/ 375 w 2558"/>
                <a:gd name="T53" fmla="*/ 2183 h 2558"/>
                <a:gd name="T54" fmla="*/ 255 w 2558"/>
                <a:gd name="T55" fmla="*/ 2044 h 2558"/>
                <a:gd name="T56" fmla="*/ 155 w 2558"/>
                <a:gd name="T57" fmla="*/ 1888 h 2558"/>
                <a:gd name="T58" fmla="*/ 77 w 2558"/>
                <a:gd name="T59" fmla="*/ 1718 h 2558"/>
                <a:gd name="T60" fmla="*/ 26 w 2558"/>
                <a:gd name="T61" fmla="*/ 1537 h 2558"/>
                <a:gd name="T62" fmla="*/ 2 w 2558"/>
                <a:gd name="T63" fmla="*/ 1345 h 2558"/>
                <a:gd name="T64" fmla="*/ 6 w 2558"/>
                <a:gd name="T65" fmla="*/ 1148 h 2558"/>
                <a:gd name="T66" fmla="*/ 40 w 2558"/>
                <a:gd name="T67" fmla="*/ 958 h 2558"/>
                <a:gd name="T68" fmla="*/ 101 w 2558"/>
                <a:gd name="T69" fmla="*/ 781 h 2558"/>
                <a:gd name="T70" fmla="*/ 185 w 2558"/>
                <a:gd name="T71" fmla="*/ 615 h 2558"/>
                <a:gd name="T72" fmla="*/ 292 w 2558"/>
                <a:gd name="T73" fmla="*/ 465 h 2558"/>
                <a:gd name="T74" fmla="*/ 418 w 2558"/>
                <a:gd name="T75" fmla="*/ 332 h 2558"/>
                <a:gd name="T76" fmla="*/ 564 w 2558"/>
                <a:gd name="T77" fmla="*/ 218 h 2558"/>
                <a:gd name="T78" fmla="*/ 725 w 2558"/>
                <a:gd name="T79" fmla="*/ 126 h 2558"/>
                <a:gd name="T80" fmla="*/ 899 w 2558"/>
                <a:gd name="T81" fmla="*/ 57 h 2558"/>
                <a:gd name="T82" fmla="*/ 1084 w 2558"/>
                <a:gd name="T83" fmla="*/ 15 h 2558"/>
                <a:gd name="T84" fmla="*/ 1279 w 2558"/>
                <a:gd name="T85" fmla="*/ 0 h 2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58" h="2558">
                  <a:moveTo>
                    <a:pt x="1279" y="0"/>
                  </a:moveTo>
                  <a:lnTo>
                    <a:pt x="1344" y="1"/>
                  </a:lnTo>
                  <a:lnTo>
                    <a:pt x="1409" y="6"/>
                  </a:lnTo>
                  <a:lnTo>
                    <a:pt x="1473" y="15"/>
                  </a:lnTo>
                  <a:lnTo>
                    <a:pt x="1536" y="26"/>
                  </a:lnTo>
                  <a:lnTo>
                    <a:pt x="1599" y="39"/>
                  </a:lnTo>
                  <a:lnTo>
                    <a:pt x="1660" y="57"/>
                  </a:lnTo>
                  <a:lnTo>
                    <a:pt x="1719" y="77"/>
                  </a:lnTo>
                  <a:lnTo>
                    <a:pt x="1776" y="100"/>
                  </a:lnTo>
                  <a:lnTo>
                    <a:pt x="1834" y="126"/>
                  </a:lnTo>
                  <a:lnTo>
                    <a:pt x="1889" y="154"/>
                  </a:lnTo>
                  <a:lnTo>
                    <a:pt x="1943" y="185"/>
                  </a:lnTo>
                  <a:lnTo>
                    <a:pt x="1994" y="218"/>
                  </a:lnTo>
                  <a:lnTo>
                    <a:pt x="2045" y="254"/>
                  </a:lnTo>
                  <a:lnTo>
                    <a:pt x="2093" y="292"/>
                  </a:lnTo>
                  <a:lnTo>
                    <a:pt x="2139" y="332"/>
                  </a:lnTo>
                  <a:lnTo>
                    <a:pt x="2184" y="374"/>
                  </a:lnTo>
                  <a:lnTo>
                    <a:pt x="2225" y="419"/>
                  </a:lnTo>
                  <a:lnTo>
                    <a:pt x="2266" y="465"/>
                  </a:lnTo>
                  <a:lnTo>
                    <a:pt x="2304" y="513"/>
                  </a:lnTo>
                  <a:lnTo>
                    <a:pt x="2340" y="563"/>
                  </a:lnTo>
                  <a:lnTo>
                    <a:pt x="2372" y="615"/>
                  </a:lnTo>
                  <a:lnTo>
                    <a:pt x="2404" y="669"/>
                  </a:lnTo>
                  <a:lnTo>
                    <a:pt x="2432" y="724"/>
                  </a:lnTo>
                  <a:lnTo>
                    <a:pt x="2458" y="781"/>
                  </a:lnTo>
                  <a:lnTo>
                    <a:pt x="2480" y="838"/>
                  </a:lnTo>
                  <a:lnTo>
                    <a:pt x="2500" y="898"/>
                  </a:lnTo>
                  <a:lnTo>
                    <a:pt x="2517" y="958"/>
                  </a:lnTo>
                  <a:lnTo>
                    <a:pt x="2532" y="1020"/>
                  </a:lnTo>
                  <a:lnTo>
                    <a:pt x="2543" y="1084"/>
                  </a:lnTo>
                  <a:lnTo>
                    <a:pt x="2551" y="1148"/>
                  </a:lnTo>
                  <a:lnTo>
                    <a:pt x="2557" y="1212"/>
                  </a:lnTo>
                  <a:lnTo>
                    <a:pt x="2558" y="1278"/>
                  </a:lnTo>
                  <a:lnTo>
                    <a:pt x="2557" y="1345"/>
                  </a:lnTo>
                  <a:lnTo>
                    <a:pt x="2551" y="1410"/>
                  </a:lnTo>
                  <a:lnTo>
                    <a:pt x="2543" y="1474"/>
                  </a:lnTo>
                  <a:lnTo>
                    <a:pt x="2532" y="1537"/>
                  </a:lnTo>
                  <a:lnTo>
                    <a:pt x="2517" y="1598"/>
                  </a:lnTo>
                  <a:lnTo>
                    <a:pt x="2500" y="1659"/>
                  </a:lnTo>
                  <a:lnTo>
                    <a:pt x="2480" y="1718"/>
                  </a:lnTo>
                  <a:lnTo>
                    <a:pt x="2458" y="1777"/>
                  </a:lnTo>
                  <a:lnTo>
                    <a:pt x="2432" y="1833"/>
                  </a:lnTo>
                  <a:lnTo>
                    <a:pt x="2404" y="1888"/>
                  </a:lnTo>
                  <a:lnTo>
                    <a:pt x="2372" y="1942"/>
                  </a:lnTo>
                  <a:lnTo>
                    <a:pt x="2340" y="1993"/>
                  </a:lnTo>
                  <a:lnTo>
                    <a:pt x="2304" y="2044"/>
                  </a:lnTo>
                  <a:lnTo>
                    <a:pt x="2266" y="2092"/>
                  </a:lnTo>
                  <a:lnTo>
                    <a:pt x="2225" y="2138"/>
                  </a:lnTo>
                  <a:lnTo>
                    <a:pt x="2184" y="2183"/>
                  </a:lnTo>
                  <a:lnTo>
                    <a:pt x="2139" y="2226"/>
                  </a:lnTo>
                  <a:lnTo>
                    <a:pt x="2093" y="2265"/>
                  </a:lnTo>
                  <a:lnTo>
                    <a:pt x="2045" y="2303"/>
                  </a:lnTo>
                  <a:lnTo>
                    <a:pt x="1994" y="2339"/>
                  </a:lnTo>
                  <a:lnTo>
                    <a:pt x="1943" y="2373"/>
                  </a:lnTo>
                  <a:lnTo>
                    <a:pt x="1889" y="2403"/>
                  </a:lnTo>
                  <a:lnTo>
                    <a:pt x="1834" y="2431"/>
                  </a:lnTo>
                  <a:lnTo>
                    <a:pt x="1776" y="2457"/>
                  </a:lnTo>
                  <a:lnTo>
                    <a:pt x="1719" y="2480"/>
                  </a:lnTo>
                  <a:lnTo>
                    <a:pt x="1660" y="2500"/>
                  </a:lnTo>
                  <a:lnTo>
                    <a:pt x="1599" y="2517"/>
                  </a:lnTo>
                  <a:lnTo>
                    <a:pt x="1536" y="2532"/>
                  </a:lnTo>
                  <a:lnTo>
                    <a:pt x="1473" y="2543"/>
                  </a:lnTo>
                  <a:lnTo>
                    <a:pt x="1409" y="2551"/>
                  </a:lnTo>
                  <a:lnTo>
                    <a:pt x="1344" y="2556"/>
                  </a:lnTo>
                  <a:lnTo>
                    <a:pt x="1279" y="2558"/>
                  </a:lnTo>
                  <a:lnTo>
                    <a:pt x="1213" y="2556"/>
                  </a:lnTo>
                  <a:lnTo>
                    <a:pt x="1148" y="2551"/>
                  </a:lnTo>
                  <a:lnTo>
                    <a:pt x="1084" y="2543"/>
                  </a:lnTo>
                  <a:lnTo>
                    <a:pt x="1021" y="2532"/>
                  </a:lnTo>
                  <a:lnTo>
                    <a:pt x="959" y="2517"/>
                  </a:lnTo>
                  <a:lnTo>
                    <a:pt x="899" y="2500"/>
                  </a:lnTo>
                  <a:lnTo>
                    <a:pt x="839" y="2480"/>
                  </a:lnTo>
                  <a:lnTo>
                    <a:pt x="781" y="2457"/>
                  </a:lnTo>
                  <a:lnTo>
                    <a:pt x="725" y="2431"/>
                  </a:lnTo>
                  <a:lnTo>
                    <a:pt x="670" y="2403"/>
                  </a:lnTo>
                  <a:lnTo>
                    <a:pt x="616" y="2373"/>
                  </a:lnTo>
                  <a:lnTo>
                    <a:pt x="564" y="2339"/>
                  </a:lnTo>
                  <a:lnTo>
                    <a:pt x="514" y="2303"/>
                  </a:lnTo>
                  <a:lnTo>
                    <a:pt x="466" y="2265"/>
                  </a:lnTo>
                  <a:lnTo>
                    <a:pt x="418" y="2226"/>
                  </a:lnTo>
                  <a:lnTo>
                    <a:pt x="375" y="2183"/>
                  </a:lnTo>
                  <a:lnTo>
                    <a:pt x="332" y="2138"/>
                  </a:lnTo>
                  <a:lnTo>
                    <a:pt x="292" y="2092"/>
                  </a:lnTo>
                  <a:lnTo>
                    <a:pt x="255" y="2044"/>
                  </a:lnTo>
                  <a:lnTo>
                    <a:pt x="219" y="1993"/>
                  </a:lnTo>
                  <a:lnTo>
                    <a:pt x="185" y="1942"/>
                  </a:lnTo>
                  <a:lnTo>
                    <a:pt x="155" y="1888"/>
                  </a:lnTo>
                  <a:lnTo>
                    <a:pt x="127" y="1833"/>
                  </a:lnTo>
                  <a:lnTo>
                    <a:pt x="101" y="1777"/>
                  </a:lnTo>
                  <a:lnTo>
                    <a:pt x="77" y="1718"/>
                  </a:lnTo>
                  <a:lnTo>
                    <a:pt x="57" y="1659"/>
                  </a:lnTo>
                  <a:lnTo>
                    <a:pt x="40" y="1598"/>
                  </a:lnTo>
                  <a:lnTo>
                    <a:pt x="26" y="1537"/>
                  </a:lnTo>
                  <a:lnTo>
                    <a:pt x="14" y="1474"/>
                  </a:lnTo>
                  <a:lnTo>
                    <a:pt x="6" y="1410"/>
                  </a:lnTo>
                  <a:lnTo>
                    <a:pt x="2" y="1345"/>
                  </a:lnTo>
                  <a:lnTo>
                    <a:pt x="0" y="1278"/>
                  </a:lnTo>
                  <a:lnTo>
                    <a:pt x="2" y="1212"/>
                  </a:lnTo>
                  <a:lnTo>
                    <a:pt x="6" y="1148"/>
                  </a:lnTo>
                  <a:lnTo>
                    <a:pt x="14" y="1084"/>
                  </a:lnTo>
                  <a:lnTo>
                    <a:pt x="26" y="1020"/>
                  </a:lnTo>
                  <a:lnTo>
                    <a:pt x="40" y="958"/>
                  </a:lnTo>
                  <a:lnTo>
                    <a:pt x="57" y="898"/>
                  </a:lnTo>
                  <a:lnTo>
                    <a:pt x="77" y="838"/>
                  </a:lnTo>
                  <a:lnTo>
                    <a:pt x="101" y="781"/>
                  </a:lnTo>
                  <a:lnTo>
                    <a:pt x="127" y="724"/>
                  </a:lnTo>
                  <a:lnTo>
                    <a:pt x="155" y="669"/>
                  </a:lnTo>
                  <a:lnTo>
                    <a:pt x="185" y="615"/>
                  </a:lnTo>
                  <a:lnTo>
                    <a:pt x="219" y="563"/>
                  </a:lnTo>
                  <a:lnTo>
                    <a:pt x="255" y="513"/>
                  </a:lnTo>
                  <a:lnTo>
                    <a:pt x="292" y="465"/>
                  </a:lnTo>
                  <a:lnTo>
                    <a:pt x="332" y="419"/>
                  </a:lnTo>
                  <a:lnTo>
                    <a:pt x="375" y="374"/>
                  </a:lnTo>
                  <a:lnTo>
                    <a:pt x="418" y="332"/>
                  </a:lnTo>
                  <a:lnTo>
                    <a:pt x="466" y="292"/>
                  </a:lnTo>
                  <a:lnTo>
                    <a:pt x="514" y="254"/>
                  </a:lnTo>
                  <a:lnTo>
                    <a:pt x="564" y="218"/>
                  </a:lnTo>
                  <a:lnTo>
                    <a:pt x="616" y="185"/>
                  </a:lnTo>
                  <a:lnTo>
                    <a:pt x="670" y="154"/>
                  </a:lnTo>
                  <a:lnTo>
                    <a:pt x="725" y="126"/>
                  </a:lnTo>
                  <a:lnTo>
                    <a:pt x="781" y="100"/>
                  </a:lnTo>
                  <a:lnTo>
                    <a:pt x="839" y="77"/>
                  </a:lnTo>
                  <a:lnTo>
                    <a:pt x="899" y="57"/>
                  </a:lnTo>
                  <a:lnTo>
                    <a:pt x="959" y="39"/>
                  </a:lnTo>
                  <a:lnTo>
                    <a:pt x="1021" y="26"/>
                  </a:lnTo>
                  <a:lnTo>
                    <a:pt x="1084" y="15"/>
                  </a:lnTo>
                  <a:lnTo>
                    <a:pt x="1148" y="6"/>
                  </a:lnTo>
                  <a:lnTo>
                    <a:pt x="1213" y="1"/>
                  </a:lnTo>
                  <a:lnTo>
                    <a:pt x="1279" y="0"/>
                  </a:ln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a:p>
          </p:txBody>
        </p:sp>
        <p:pic>
          <p:nvPicPr>
            <p:cNvPr id="40" name="Graphic 39" descr="Head with Gears">
              <a:extLst>
                <a:ext uri="{FF2B5EF4-FFF2-40B4-BE49-F238E27FC236}">
                  <a16:creationId xmlns:a16="http://schemas.microsoft.com/office/drawing/2014/main" id="{4F64954F-3D5B-BA62-F411-01BFF9D6A9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70984" y="3272308"/>
              <a:ext cx="588765" cy="588765"/>
            </a:xfrm>
            <a:prstGeom prst="rect">
              <a:avLst/>
            </a:prstGeom>
          </p:spPr>
        </p:pic>
      </p:grpSp>
      <p:sp>
        <p:nvSpPr>
          <p:cNvPr id="6" name="Freeform 8">
            <a:extLst>
              <a:ext uri="{FF2B5EF4-FFF2-40B4-BE49-F238E27FC236}">
                <a16:creationId xmlns:a16="http://schemas.microsoft.com/office/drawing/2014/main" id="{D26B8197-3548-EC27-8756-96A4DDB38865}"/>
              </a:ext>
            </a:extLst>
          </p:cNvPr>
          <p:cNvSpPr>
            <a:spLocks/>
          </p:cNvSpPr>
          <p:nvPr/>
        </p:nvSpPr>
        <p:spPr bwMode="auto">
          <a:xfrm>
            <a:off x="1382820" y="2341207"/>
            <a:ext cx="327312" cy="327312"/>
          </a:xfrm>
          <a:custGeom>
            <a:avLst/>
            <a:gdLst>
              <a:gd name="T0" fmla="*/ 1822 w 3305"/>
              <a:gd name="T1" fmla="*/ 9 h 3307"/>
              <a:gd name="T2" fmla="*/ 2066 w 3305"/>
              <a:gd name="T3" fmla="*/ 53 h 3307"/>
              <a:gd name="T4" fmla="*/ 2296 w 3305"/>
              <a:gd name="T5" fmla="*/ 130 h 3307"/>
              <a:gd name="T6" fmla="*/ 2510 w 3305"/>
              <a:gd name="T7" fmla="*/ 240 h 3307"/>
              <a:gd name="T8" fmla="*/ 2705 w 3305"/>
              <a:gd name="T9" fmla="*/ 378 h 3307"/>
              <a:gd name="T10" fmla="*/ 2877 w 3305"/>
              <a:gd name="T11" fmla="*/ 542 h 3307"/>
              <a:gd name="T12" fmla="*/ 3024 w 3305"/>
              <a:gd name="T13" fmla="*/ 730 h 3307"/>
              <a:gd name="T14" fmla="*/ 3143 w 3305"/>
              <a:gd name="T15" fmla="*/ 937 h 3307"/>
              <a:gd name="T16" fmla="*/ 3231 w 3305"/>
              <a:gd name="T17" fmla="*/ 1162 h 3307"/>
              <a:gd name="T18" fmla="*/ 3286 w 3305"/>
              <a:gd name="T19" fmla="*/ 1402 h 3307"/>
              <a:gd name="T20" fmla="*/ 3305 w 3305"/>
              <a:gd name="T21" fmla="*/ 1653 h 3307"/>
              <a:gd name="T22" fmla="*/ 3286 w 3305"/>
              <a:gd name="T23" fmla="*/ 1905 h 3307"/>
              <a:gd name="T24" fmla="*/ 3231 w 3305"/>
              <a:gd name="T25" fmla="*/ 2145 h 3307"/>
              <a:gd name="T26" fmla="*/ 3143 w 3305"/>
              <a:gd name="T27" fmla="*/ 2371 h 3307"/>
              <a:gd name="T28" fmla="*/ 3024 w 3305"/>
              <a:gd name="T29" fmla="*/ 2578 h 3307"/>
              <a:gd name="T30" fmla="*/ 2877 w 3305"/>
              <a:gd name="T31" fmla="*/ 2765 h 3307"/>
              <a:gd name="T32" fmla="*/ 2705 w 3305"/>
              <a:gd name="T33" fmla="*/ 2930 h 3307"/>
              <a:gd name="T34" fmla="*/ 2510 w 3305"/>
              <a:gd name="T35" fmla="*/ 3068 h 3307"/>
              <a:gd name="T36" fmla="*/ 2296 w 3305"/>
              <a:gd name="T37" fmla="*/ 3176 h 3307"/>
              <a:gd name="T38" fmla="*/ 2066 w 3305"/>
              <a:gd name="T39" fmla="*/ 3254 h 3307"/>
              <a:gd name="T40" fmla="*/ 1822 w 3305"/>
              <a:gd name="T41" fmla="*/ 3298 h 3307"/>
              <a:gd name="T42" fmla="*/ 1568 w 3305"/>
              <a:gd name="T43" fmla="*/ 3304 h 3307"/>
              <a:gd name="T44" fmla="*/ 1320 w 3305"/>
              <a:gd name="T45" fmla="*/ 3273 h 3307"/>
              <a:gd name="T46" fmla="*/ 1084 w 3305"/>
              <a:gd name="T47" fmla="*/ 3206 h 3307"/>
              <a:gd name="T48" fmla="*/ 865 w 3305"/>
              <a:gd name="T49" fmla="*/ 3107 h 3307"/>
              <a:gd name="T50" fmla="*/ 664 w 3305"/>
              <a:gd name="T51" fmla="*/ 2978 h 3307"/>
              <a:gd name="T52" fmla="*/ 484 w 3305"/>
              <a:gd name="T53" fmla="*/ 2822 h 3307"/>
              <a:gd name="T54" fmla="*/ 329 w 3305"/>
              <a:gd name="T55" fmla="*/ 2642 h 3307"/>
              <a:gd name="T56" fmla="*/ 200 w 3305"/>
              <a:gd name="T57" fmla="*/ 2441 h 3307"/>
              <a:gd name="T58" fmla="*/ 100 w 3305"/>
              <a:gd name="T59" fmla="*/ 2222 h 3307"/>
              <a:gd name="T60" fmla="*/ 34 w 3305"/>
              <a:gd name="T61" fmla="*/ 1987 h 3307"/>
              <a:gd name="T62" fmla="*/ 2 w 3305"/>
              <a:gd name="T63" fmla="*/ 1739 h 3307"/>
              <a:gd name="T64" fmla="*/ 9 w 3305"/>
              <a:gd name="T65" fmla="*/ 1485 h 3307"/>
              <a:gd name="T66" fmla="*/ 52 w 3305"/>
              <a:gd name="T67" fmla="*/ 1240 h 3307"/>
              <a:gd name="T68" fmla="*/ 130 w 3305"/>
              <a:gd name="T69" fmla="*/ 1010 h 3307"/>
              <a:gd name="T70" fmla="*/ 239 w 3305"/>
              <a:gd name="T71" fmla="*/ 796 h 3307"/>
              <a:gd name="T72" fmla="*/ 377 w 3305"/>
              <a:gd name="T73" fmla="*/ 602 h 3307"/>
              <a:gd name="T74" fmla="*/ 541 w 3305"/>
              <a:gd name="T75" fmla="*/ 430 h 3307"/>
              <a:gd name="T76" fmla="*/ 728 w 3305"/>
              <a:gd name="T77" fmla="*/ 283 h 3307"/>
              <a:gd name="T78" fmla="*/ 936 w 3305"/>
              <a:gd name="T79" fmla="*/ 164 h 3307"/>
              <a:gd name="T80" fmla="*/ 1162 w 3305"/>
              <a:gd name="T81" fmla="*/ 75 h 3307"/>
              <a:gd name="T82" fmla="*/ 1401 w 3305"/>
              <a:gd name="T83" fmla="*/ 19 h 3307"/>
              <a:gd name="T84" fmla="*/ 1653 w 3305"/>
              <a:gd name="T85" fmla="*/ 0 h 3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05" h="3307">
                <a:moveTo>
                  <a:pt x="1653" y="0"/>
                </a:moveTo>
                <a:lnTo>
                  <a:pt x="1739" y="2"/>
                </a:lnTo>
                <a:lnTo>
                  <a:pt x="1822" y="9"/>
                </a:lnTo>
                <a:lnTo>
                  <a:pt x="1905" y="19"/>
                </a:lnTo>
                <a:lnTo>
                  <a:pt x="1987" y="34"/>
                </a:lnTo>
                <a:lnTo>
                  <a:pt x="2066" y="53"/>
                </a:lnTo>
                <a:lnTo>
                  <a:pt x="2145" y="75"/>
                </a:lnTo>
                <a:lnTo>
                  <a:pt x="2221" y="101"/>
                </a:lnTo>
                <a:lnTo>
                  <a:pt x="2296" y="130"/>
                </a:lnTo>
                <a:lnTo>
                  <a:pt x="2369" y="164"/>
                </a:lnTo>
                <a:lnTo>
                  <a:pt x="2441" y="200"/>
                </a:lnTo>
                <a:lnTo>
                  <a:pt x="2510" y="240"/>
                </a:lnTo>
                <a:lnTo>
                  <a:pt x="2577" y="283"/>
                </a:lnTo>
                <a:lnTo>
                  <a:pt x="2642" y="329"/>
                </a:lnTo>
                <a:lnTo>
                  <a:pt x="2705" y="378"/>
                </a:lnTo>
                <a:lnTo>
                  <a:pt x="2764" y="430"/>
                </a:lnTo>
                <a:lnTo>
                  <a:pt x="2822" y="485"/>
                </a:lnTo>
                <a:lnTo>
                  <a:pt x="2877" y="542"/>
                </a:lnTo>
                <a:lnTo>
                  <a:pt x="2928" y="602"/>
                </a:lnTo>
                <a:lnTo>
                  <a:pt x="2978" y="665"/>
                </a:lnTo>
                <a:lnTo>
                  <a:pt x="3024" y="730"/>
                </a:lnTo>
                <a:lnTo>
                  <a:pt x="3066" y="796"/>
                </a:lnTo>
                <a:lnTo>
                  <a:pt x="3107" y="865"/>
                </a:lnTo>
                <a:lnTo>
                  <a:pt x="3143" y="937"/>
                </a:lnTo>
                <a:lnTo>
                  <a:pt x="3176" y="1010"/>
                </a:lnTo>
                <a:lnTo>
                  <a:pt x="3206" y="1085"/>
                </a:lnTo>
                <a:lnTo>
                  <a:pt x="3231" y="1162"/>
                </a:lnTo>
                <a:lnTo>
                  <a:pt x="3254" y="1240"/>
                </a:lnTo>
                <a:lnTo>
                  <a:pt x="3273" y="1320"/>
                </a:lnTo>
                <a:lnTo>
                  <a:pt x="3286" y="1402"/>
                </a:lnTo>
                <a:lnTo>
                  <a:pt x="3298" y="1485"/>
                </a:lnTo>
                <a:lnTo>
                  <a:pt x="3304" y="1568"/>
                </a:lnTo>
                <a:lnTo>
                  <a:pt x="3305" y="1653"/>
                </a:lnTo>
                <a:lnTo>
                  <a:pt x="3304" y="1739"/>
                </a:lnTo>
                <a:lnTo>
                  <a:pt x="3298" y="1823"/>
                </a:lnTo>
                <a:lnTo>
                  <a:pt x="3286" y="1905"/>
                </a:lnTo>
                <a:lnTo>
                  <a:pt x="3273" y="1987"/>
                </a:lnTo>
                <a:lnTo>
                  <a:pt x="3254" y="2066"/>
                </a:lnTo>
                <a:lnTo>
                  <a:pt x="3231" y="2145"/>
                </a:lnTo>
                <a:lnTo>
                  <a:pt x="3206" y="2222"/>
                </a:lnTo>
                <a:lnTo>
                  <a:pt x="3176" y="2296"/>
                </a:lnTo>
                <a:lnTo>
                  <a:pt x="3143" y="2371"/>
                </a:lnTo>
                <a:lnTo>
                  <a:pt x="3107" y="2441"/>
                </a:lnTo>
                <a:lnTo>
                  <a:pt x="3066" y="2511"/>
                </a:lnTo>
                <a:lnTo>
                  <a:pt x="3024" y="2578"/>
                </a:lnTo>
                <a:lnTo>
                  <a:pt x="2978" y="2642"/>
                </a:lnTo>
                <a:lnTo>
                  <a:pt x="2928" y="2705"/>
                </a:lnTo>
                <a:lnTo>
                  <a:pt x="2877" y="2765"/>
                </a:lnTo>
                <a:lnTo>
                  <a:pt x="2822" y="2822"/>
                </a:lnTo>
                <a:lnTo>
                  <a:pt x="2764" y="2877"/>
                </a:lnTo>
                <a:lnTo>
                  <a:pt x="2705" y="2930"/>
                </a:lnTo>
                <a:lnTo>
                  <a:pt x="2642" y="2978"/>
                </a:lnTo>
                <a:lnTo>
                  <a:pt x="2577" y="3024"/>
                </a:lnTo>
                <a:lnTo>
                  <a:pt x="2510" y="3068"/>
                </a:lnTo>
                <a:lnTo>
                  <a:pt x="2441" y="3107"/>
                </a:lnTo>
                <a:lnTo>
                  <a:pt x="2369" y="3144"/>
                </a:lnTo>
                <a:lnTo>
                  <a:pt x="2296" y="3176"/>
                </a:lnTo>
                <a:lnTo>
                  <a:pt x="2221" y="3206"/>
                </a:lnTo>
                <a:lnTo>
                  <a:pt x="2145" y="3233"/>
                </a:lnTo>
                <a:lnTo>
                  <a:pt x="2066" y="3254"/>
                </a:lnTo>
                <a:lnTo>
                  <a:pt x="1987" y="3273"/>
                </a:lnTo>
                <a:lnTo>
                  <a:pt x="1905" y="3288"/>
                </a:lnTo>
                <a:lnTo>
                  <a:pt x="1822" y="3298"/>
                </a:lnTo>
                <a:lnTo>
                  <a:pt x="1739" y="3304"/>
                </a:lnTo>
                <a:lnTo>
                  <a:pt x="1653" y="3307"/>
                </a:lnTo>
                <a:lnTo>
                  <a:pt x="1568" y="3304"/>
                </a:lnTo>
                <a:lnTo>
                  <a:pt x="1484" y="3298"/>
                </a:lnTo>
                <a:lnTo>
                  <a:pt x="1401" y="3288"/>
                </a:lnTo>
                <a:lnTo>
                  <a:pt x="1320" y="3273"/>
                </a:lnTo>
                <a:lnTo>
                  <a:pt x="1240" y="3254"/>
                </a:lnTo>
                <a:lnTo>
                  <a:pt x="1162" y="3233"/>
                </a:lnTo>
                <a:lnTo>
                  <a:pt x="1084" y="3206"/>
                </a:lnTo>
                <a:lnTo>
                  <a:pt x="1009" y="3176"/>
                </a:lnTo>
                <a:lnTo>
                  <a:pt x="936" y="3144"/>
                </a:lnTo>
                <a:lnTo>
                  <a:pt x="865" y="3107"/>
                </a:lnTo>
                <a:lnTo>
                  <a:pt x="796" y="3068"/>
                </a:lnTo>
                <a:lnTo>
                  <a:pt x="728" y="3024"/>
                </a:lnTo>
                <a:lnTo>
                  <a:pt x="664" y="2978"/>
                </a:lnTo>
                <a:lnTo>
                  <a:pt x="602" y="2930"/>
                </a:lnTo>
                <a:lnTo>
                  <a:pt x="541" y="2877"/>
                </a:lnTo>
                <a:lnTo>
                  <a:pt x="484" y="2822"/>
                </a:lnTo>
                <a:lnTo>
                  <a:pt x="430" y="2765"/>
                </a:lnTo>
                <a:lnTo>
                  <a:pt x="377" y="2705"/>
                </a:lnTo>
                <a:lnTo>
                  <a:pt x="329" y="2642"/>
                </a:lnTo>
                <a:lnTo>
                  <a:pt x="283" y="2578"/>
                </a:lnTo>
                <a:lnTo>
                  <a:pt x="239" y="2511"/>
                </a:lnTo>
                <a:lnTo>
                  <a:pt x="200" y="2441"/>
                </a:lnTo>
                <a:lnTo>
                  <a:pt x="163" y="2371"/>
                </a:lnTo>
                <a:lnTo>
                  <a:pt x="130" y="2296"/>
                </a:lnTo>
                <a:lnTo>
                  <a:pt x="100" y="2222"/>
                </a:lnTo>
                <a:lnTo>
                  <a:pt x="74" y="2145"/>
                </a:lnTo>
                <a:lnTo>
                  <a:pt x="52" y="2066"/>
                </a:lnTo>
                <a:lnTo>
                  <a:pt x="34" y="1987"/>
                </a:lnTo>
                <a:lnTo>
                  <a:pt x="19" y="1905"/>
                </a:lnTo>
                <a:lnTo>
                  <a:pt x="9" y="1823"/>
                </a:lnTo>
                <a:lnTo>
                  <a:pt x="2" y="1739"/>
                </a:lnTo>
                <a:lnTo>
                  <a:pt x="0" y="1653"/>
                </a:lnTo>
                <a:lnTo>
                  <a:pt x="2" y="1568"/>
                </a:lnTo>
                <a:lnTo>
                  <a:pt x="9" y="1485"/>
                </a:lnTo>
                <a:lnTo>
                  <a:pt x="19" y="1402"/>
                </a:lnTo>
                <a:lnTo>
                  <a:pt x="34" y="1320"/>
                </a:lnTo>
                <a:lnTo>
                  <a:pt x="52" y="1240"/>
                </a:lnTo>
                <a:lnTo>
                  <a:pt x="74" y="1162"/>
                </a:lnTo>
                <a:lnTo>
                  <a:pt x="100" y="1085"/>
                </a:lnTo>
                <a:lnTo>
                  <a:pt x="130" y="1010"/>
                </a:lnTo>
                <a:lnTo>
                  <a:pt x="163" y="937"/>
                </a:lnTo>
                <a:lnTo>
                  <a:pt x="200" y="865"/>
                </a:lnTo>
                <a:lnTo>
                  <a:pt x="239" y="796"/>
                </a:lnTo>
                <a:lnTo>
                  <a:pt x="283" y="730"/>
                </a:lnTo>
                <a:lnTo>
                  <a:pt x="329" y="665"/>
                </a:lnTo>
                <a:lnTo>
                  <a:pt x="377" y="602"/>
                </a:lnTo>
                <a:lnTo>
                  <a:pt x="430" y="542"/>
                </a:lnTo>
                <a:lnTo>
                  <a:pt x="484" y="485"/>
                </a:lnTo>
                <a:lnTo>
                  <a:pt x="541" y="430"/>
                </a:lnTo>
                <a:lnTo>
                  <a:pt x="602" y="378"/>
                </a:lnTo>
                <a:lnTo>
                  <a:pt x="664" y="329"/>
                </a:lnTo>
                <a:lnTo>
                  <a:pt x="728" y="283"/>
                </a:lnTo>
                <a:lnTo>
                  <a:pt x="796" y="240"/>
                </a:lnTo>
                <a:lnTo>
                  <a:pt x="865" y="200"/>
                </a:lnTo>
                <a:lnTo>
                  <a:pt x="936" y="164"/>
                </a:lnTo>
                <a:lnTo>
                  <a:pt x="1009" y="130"/>
                </a:lnTo>
                <a:lnTo>
                  <a:pt x="1084" y="101"/>
                </a:lnTo>
                <a:lnTo>
                  <a:pt x="1162" y="75"/>
                </a:lnTo>
                <a:lnTo>
                  <a:pt x="1240" y="53"/>
                </a:lnTo>
                <a:lnTo>
                  <a:pt x="1320" y="34"/>
                </a:lnTo>
                <a:lnTo>
                  <a:pt x="1401" y="19"/>
                </a:lnTo>
                <a:lnTo>
                  <a:pt x="1484" y="9"/>
                </a:lnTo>
                <a:lnTo>
                  <a:pt x="1568" y="2"/>
                </a:lnTo>
                <a:lnTo>
                  <a:pt x="1653"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600"/>
          </a:p>
        </p:txBody>
      </p:sp>
      <p:grpSp>
        <p:nvGrpSpPr>
          <p:cNvPr id="62" name="Group 61">
            <a:extLst>
              <a:ext uri="{FF2B5EF4-FFF2-40B4-BE49-F238E27FC236}">
                <a16:creationId xmlns:a16="http://schemas.microsoft.com/office/drawing/2014/main" id="{F2140BA8-0B05-AD2B-3FF2-EC2AC90437C1}"/>
              </a:ext>
            </a:extLst>
          </p:cNvPr>
          <p:cNvGrpSpPr/>
          <p:nvPr/>
        </p:nvGrpSpPr>
        <p:grpSpPr>
          <a:xfrm>
            <a:off x="1373092" y="1437770"/>
            <a:ext cx="327312" cy="327312"/>
            <a:chOff x="1598765" y="1698913"/>
            <a:chExt cx="411480" cy="411480"/>
          </a:xfrm>
        </p:grpSpPr>
        <p:sp>
          <p:nvSpPr>
            <p:cNvPr id="18" name="Freeform 8">
              <a:extLst>
                <a:ext uri="{FF2B5EF4-FFF2-40B4-BE49-F238E27FC236}">
                  <a16:creationId xmlns:a16="http://schemas.microsoft.com/office/drawing/2014/main" id="{E1C04D1E-212E-5FBA-6E49-148AE23ED833}"/>
                </a:ext>
              </a:extLst>
            </p:cNvPr>
            <p:cNvSpPr>
              <a:spLocks/>
            </p:cNvSpPr>
            <p:nvPr/>
          </p:nvSpPr>
          <p:spPr bwMode="auto">
            <a:xfrm>
              <a:off x="1598765" y="1698913"/>
              <a:ext cx="411480" cy="411480"/>
            </a:xfrm>
            <a:custGeom>
              <a:avLst/>
              <a:gdLst>
                <a:gd name="T0" fmla="*/ 1822 w 3305"/>
                <a:gd name="T1" fmla="*/ 9 h 3307"/>
                <a:gd name="T2" fmla="*/ 2066 w 3305"/>
                <a:gd name="T3" fmla="*/ 53 h 3307"/>
                <a:gd name="T4" fmla="*/ 2296 w 3305"/>
                <a:gd name="T5" fmla="*/ 130 h 3307"/>
                <a:gd name="T6" fmla="*/ 2510 w 3305"/>
                <a:gd name="T7" fmla="*/ 240 h 3307"/>
                <a:gd name="T8" fmla="*/ 2705 w 3305"/>
                <a:gd name="T9" fmla="*/ 378 h 3307"/>
                <a:gd name="T10" fmla="*/ 2877 w 3305"/>
                <a:gd name="T11" fmla="*/ 542 h 3307"/>
                <a:gd name="T12" fmla="*/ 3024 w 3305"/>
                <a:gd name="T13" fmla="*/ 730 h 3307"/>
                <a:gd name="T14" fmla="*/ 3143 w 3305"/>
                <a:gd name="T15" fmla="*/ 937 h 3307"/>
                <a:gd name="T16" fmla="*/ 3231 w 3305"/>
                <a:gd name="T17" fmla="*/ 1162 h 3307"/>
                <a:gd name="T18" fmla="*/ 3286 w 3305"/>
                <a:gd name="T19" fmla="*/ 1402 h 3307"/>
                <a:gd name="T20" fmla="*/ 3305 w 3305"/>
                <a:gd name="T21" fmla="*/ 1653 h 3307"/>
                <a:gd name="T22" fmla="*/ 3286 w 3305"/>
                <a:gd name="T23" fmla="*/ 1905 h 3307"/>
                <a:gd name="T24" fmla="*/ 3231 w 3305"/>
                <a:gd name="T25" fmla="*/ 2145 h 3307"/>
                <a:gd name="T26" fmla="*/ 3143 w 3305"/>
                <a:gd name="T27" fmla="*/ 2371 h 3307"/>
                <a:gd name="T28" fmla="*/ 3024 w 3305"/>
                <a:gd name="T29" fmla="*/ 2578 h 3307"/>
                <a:gd name="T30" fmla="*/ 2877 w 3305"/>
                <a:gd name="T31" fmla="*/ 2765 h 3307"/>
                <a:gd name="T32" fmla="*/ 2705 w 3305"/>
                <a:gd name="T33" fmla="*/ 2930 h 3307"/>
                <a:gd name="T34" fmla="*/ 2510 w 3305"/>
                <a:gd name="T35" fmla="*/ 3068 h 3307"/>
                <a:gd name="T36" fmla="*/ 2296 w 3305"/>
                <a:gd name="T37" fmla="*/ 3176 h 3307"/>
                <a:gd name="T38" fmla="*/ 2066 w 3305"/>
                <a:gd name="T39" fmla="*/ 3254 h 3307"/>
                <a:gd name="T40" fmla="*/ 1822 w 3305"/>
                <a:gd name="T41" fmla="*/ 3298 h 3307"/>
                <a:gd name="T42" fmla="*/ 1568 w 3305"/>
                <a:gd name="T43" fmla="*/ 3304 h 3307"/>
                <a:gd name="T44" fmla="*/ 1320 w 3305"/>
                <a:gd name="T45" fmla="*/ 3273 h 3307"/>
                <a:gd name="T46" fmla="*/ 1084 w 3305"/>
                <a:gd name="T47" fmla="*/ 3206 h 3307"/>
                <a:gd name="T48" fmla="*/ 865 w 3305"/>
                <a:gd name="T49" fmla="*/ 3107 h 3307"/>
                <a:gd name="T50" fmla="*/ 664 w 3305"/>
                <a:gd name="T51" fmla="*/ 2978 h 3307"/>
                <a:gd name="T52" fmla="*/ 484 w 3305"/>
                <a:gd name="T53" fmla="*/ 2822 h 3307"/>
                <a:gd name="T54" fmla="*/ 329 w 3305"/>
                <a:gd name="T55" fmla="*/ 2642 h 3307"/>
                <a:gd name="T56" fmla="*/ 200 w 3305"/>
                <a:gd name="T57" fmla="*/ 2441 h 3307"/>
                <a:gd name="T58" fmla="*/ 100 w 3305"/>
                <a:gd name="T59" fmla="*/ 2222 h 3307"/>
                <a:gd name="T60" fmla="*/ 34 w 3305"/>
                <a:gd name="T61" fmla="*/ 1987 h 3307"/>
                <a:gd name="T62" fmla="*/ 2 w 3305"/>
                <a:gd name="T63" fmla="*/ 1739 h 3307"/>
                <a:gd name="T64" fmla="*/ 9 w 3305"/>
                <a:gd name="T65" fmla="*/ 1485 h 3307"/>
                <a:gd name="T66" fmla="*/ 52 w 3305"/>
                <a:gd name="T67" fmla="*/ 1240 h 3307"/>
                <a:gd name="T68" fmla="*/ 130 w 3305"/>
                <a:gd name="T69" fmla="*/ 1010 h 3307"/>
                <a:gd name="T70" fmla="*/ 239 w 3305"/>
                <a:gd name="T71" fmla="*/ 796 h 3307"/>
                <a:gd name="T72" fmla="*/ 377 w 3305"/>
                <a:gd name="T73" fmla="*/ 602 h 3307"/>
                <a:gd name="T74" fmla="*/ 541 w 3305"/>
                <a:gd name="T75" fmla="*/ 430 h 3307"/>
                <a:gd name="T76" fmla="*/ 728 w 3305"/>
                <a:gd name="T77" fmla="*/ 283 h 3307"/>
                <a:gd name="T78" fmla="*/ 936 w 3305"/>
                <a:gd name="T79" fmla="*/ 164 h 3307"/>
                <a:gd name="T80" fmla="*/ 1162 w 3305"/>
                <a:gd name="T81" fmla="*/ 75 h 3307"/>
                <a:gd name="T82" fmla="*/ 1401 w 3305"/>
                <a:gd name="T83" fmla="*/ 19 h 3307"/>
                <a:gd name="T84" fmla="*/ 1653 w 3305"/>
                <a:gd name="T85" fmla="*/ 0 h 3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05" h="3307">
                  <a:moveTo>
                    <a:pt x="1653" y="0"/>
                  </a:moveTo>
                  <a:lnTo>
                    <a:pt x="1739" y="2"/>
                  </a:lnTo>
                  <a:lnTo>
                    <a:pt x="1822" y="9"/>
                  </a:lnTo>
                  <a:lnTo>
                    <a:pt x="1905" y="19"/>
                  </a:lnTo>
                  <a:lnTo>
                    <a:pt x="1987" y="34"/>
                  </a:lnTo>
                  <a:lnTo>
                    <a:pt x="2066" y="53"/>
                  </a:lnTo>
                  <a:lnTo>
                    <a:pt x="2145" y="75"/>
                  </a:lnTo>
                  <a:lnTo>
                    <a:pt x="2221" y="101"/>
                  </a:lnTo>
                  <a:lnTo>
                    <a:pt x="2296" y="130"/>
                  </a:lnTo>
                  <a:lnTo>
                    <a:pt x="2369" y="164"/>
                  </a:lnTo>
                  <a:lnTo>
                    <a:pt x="2441" y="200"/>
                  </a:lnTo>
                  <a:lnTo>
                    <a:pt x="2510" y="240"/>
                  </a:lnTo>
                  <a:lnTo>
                    <a:pt x="2577" y="283"/>
                  </a:lnTo>
                  <a:lnTo>
                    <a:pt x="2642" y="329"/>
                  </a:lnTo>
                  <a:lnTo>
                    <a:pt x="2705" y="378"/>
                  </a:lnTo>
                  <a:lnTo>
                    <a:pt x="2764" y="430"/>
                  </a:lnTo>
                  <a:lnTo>
                    <a:pt x="2822" y="485"/>
                  </a:lnTo>
                  <a:lnTo>
                    <a:pt x="2877" y="542"/>
                  </a:lnTo>
                  <a:lnTo>
                    <a:pt x="2928" y="602"/>
                  </a:lnTo>
                  <a:lnTo>
                    <a:pt x="2978" y="665"/>
                  </a:lnTo>
                  <a:lnTo>
                    <a:pt x="3024" y="730"/>
                  </a:lnTo>
                  <a:lnTo>
                    <a:pt x="3066" y="796"/>
                  </a:lnTo>
                  <a:lnTo>
                    <a:pt x="3107" y="865"/>
                  </a:lnTo>
                  <a:lnTo>
                    <a:pt x="3143" y="937"/>
                  </a:lnTo>
                  <a:lnTo>
                    <a:pt x="3176" y="1010"/>
                  </a:lnTo>
                  <a:lnTo>
                    <a:pt x="3206" y="1085"/>
                  </a:lnTo>
                  <a:lnTo>
                    <a:pt x="3231" y="1162"/>
                  </a:lnTo>
                  <a:lnTo>
                    <a:pt x="3254" y="1240"/>
                  </a:lnTo>
                  <a:lnTo>
                    <a:pt x="3273" y="1320"/>
                  </a:lnTo>
                  <a:lnTo>
                    <a:pt x="3286" y="1402"/>
                  </a:lnTo>
                  <a:lnTo>
                    <a:pt x="3298" y="1485"/>
                  </a:lnTo>
                  <a:lnTo>
                    <a:pt x="3304" y="1568"/>
                  </a:lnTo>
                  <a:lnTo>
                    <a:pt x="3305" y="1653"/>
                  </a:lnTo>
                  <a:lnTo>
                    <a:pt x="3304" y="1739"/>
                  </a:lnTo>
                  <a:lnTo>
                    <a:pt x="3298" y="1823"/>
                  </a:lnTo>
                  <a:lnTo>
                    <a:pt x="3286" y="1905"/>
                  </a:lnTo>
                  <a:lnTo>
                    <a:pt x="3273" y="1987"/>
                  </a:lnTo>
                  <a:lnTo>
                    <a:pt x="3254" y="2066"/>
                  </a:lnTo>
                  <a:lnTo>
                    <a:pt x="3231" y="2145"/>
                  </a:lnTo>
                  <a:lnTo>
                    <a:pt x="3206" y="2222"/>
                  </a:lnTo>
                  <a:lnTo>
                    <a:pt x="3176" y="2296"/>
                  </a:lnTo>
                  <a:lnTo>
                    <a:pt x="3143" y="2371"/>
                  </a:lnTo>
                  <a:lnTo>
                    <a:pt x="3107" y="2441"/>
                  </a:lnTo>
                  <a:lnTo>
                    <a:pt x="3066" y="2511"/>
                  </a:lnTo>
                  <a:lnTo>
                    <a:pt x="3024" y="2578"/>
                  </a:lnTo>
                  <a:lnTo>
                    <a:pt x="2978" y="2642"/>
                  </a:lnTo>
                  <a:lnTo>
                    <a:pt x="2928" y="2705"/>
                  </a:lnTo>
                  <a:lnTo>
                    <a:pt x="2877" y="2765"/>
                  </a:lnTo>
                  <a:lnTo>
                    <a:pt x="2822" y="2822"/>
                  </a:lnTo>
                  <a:lnTo>
                    <a:pt x="2764" y="2877"/>
                  </a:lnTo>
                  <a:lnTo>
                    <a:pt x="2705" y="2930"/>
                  </a:lnTo>
                  <a:lnTo>
                    <a:pt x="2642" y="2978"/>
                  </a:lnTo>
                  <a:lnTo>
                    <a:pt x="2577" y="3024"/>
                  </a:lnTo>
                  <a:lnTo>
                    <a:pt x="2510" y="3068"/>
                  </a:lnTo>
                  <a:lnTo>
                    <a:pt x="2441" y="3107"/>
                  </a:lnTo>
                  <a:lnTo>
                    <a:pt x="2369" y="3144"/>
                  </a:lnTo>
                  <a:lnTo>
                    <a:pt x="2296" y="3176"/>
                  </a:lnTo>
                  <a:lnTo>
                    <a:pt x="2221" y="3206"/>
                  </a:lnTo>
                  <a:lnTo>
                    <a:pt x="2145" y="3233"/>
                  </a:lnTo>
                  <a:lnTo>
                    <a:pt x="2066" y="3254"/>
                  </a:lnTo>
                  <a:lnTo>
                    <a:pt x="1987" y="3273"/>
                  </a:lnTo>
                  <a:lnTo>
                    <a:pt x="1905" y="3288"/>
                  </a:lnTo>
                  <a:lnTo>
                    <a:pt x="1822" y="3298"/>
                  </a:lnTo>
                  <a:lnTo>
                    <a:pt x="1739" y="3304"/>
                  </a:lnTo>
                  <a:lnTo>
                    <a:pt x="1653" y="3307"/>
                  </a:lnTo>
                  <a:lnTo>
                    <a:pt x="1568" y="3304"/>
                  </a:lnTo>
                  <a:lnTo>
                    <a:pt x="1484" y="3298"/>
                  </a:lnTo>
                  <a:lnTo>
                    <a:pt x="1401" y="3288"/>
                  </a:lnTo>
                  <a:lnTo>
                    <a:pt x="1320" y="3273"/>
                  </a:lnTo>
                  <a:lnTo>
                    <a:pt x="1240" y="3254"/>
                  </a:lnTo>
                  <a:lnTo>
                    <a:pt x="1162" y="3233"/>
                  </a:lnTo>
                  <a:lnTo>
                    <a:pt x="1084" y="3206"/>
                  </a:lnTo>
                  <a:lnTo>
                    <a:pt x="1009" y="3176"/>
                  </a:lnTo>
                  <a:lnTo>
                    <a:pt x="936" y="3144"/>
                  </a:lnTo>
                  <a:lnTo>
                    <a:pt x="865" y="3107"/>
                  </a:lnTo>
                  <a:lnTo>
                    <a:pt x="796" y="3068"/>
                  </a:lnTo>
                  <a:lnTo>
                    <a:pt x="728" y="3024"/>
                  </a:lnTo>
                  <a:lnTo>
                    <a:pt x="664" y="2978"/>
                  </a:lnTo>
                  <a:lnTo>
                    <a:pt x="602" y="2930"/>
                  </a:lnTo>
                  <a:lnTo>
                    <a:pt x="541" y="2877"/>
                  </a:lnTo>
                  <a:lnTo>
                    <a:pt x="484" y="2822"/>
                  </a:lnTo>
                  <a:lnTo>
                    <a:pt x="430" y="2765"/>
                  </a:lnTo>
                  <a:lnTo>
                    <a:pt x="377" y="2705"/>
                  </a:lnTo>
                  <a:lnTo>
                    <a:pt x="329" y="2642"/>
                  </a:lnTo>
                  <a:lnTo>
                    <a:pt x="283" y="2578"/>
                  </a:lnTo>
                  <a:lnTo>
                    <a:pt x="239" y="2511"/>
                  </a:lnTo>
                  <a:lnTo>
                    <a:pt x="200" y="2441"/>
                  </a:lnTo>
                  <a:lnTo>
                    <a:pt x="163" y="2371"/>
                  </a:lnTo>
                  <a:lnTo>
                    <a:pt x="130" y="2296"/>
                  </a:lnTo>
                  <a:lnTo>
                    <a:pt x="100" y="2222"/>
                  </a:lnTo>
                  <a:lnTo>
                    <a:pt x="74" y="2145"/>
                  </a:lnTo>
                  <a:lnTo>
                    <a:pt x="52" y="2066"/>
                  </a:lnTo>
                  <a:lnTo>
                    <a:pt x="34" y="1987"/>
                  </a:lnTo>
                  <a:lnTo>
                    <a:pt x="19" y="1905"/>
                  </a:lnTo>
                  <a:lnTo>
                    <a:pt x="9" y="1823"/>
                  </a:lnTo>
                  <a:lnTo>
                    <a:pt x="2" y="1739"/>
                  </a:lnTo>
                  <a:lnTo>
                    <a:pt x="0" y="1653"/>
                  </a:lnTo>
                  <a:lnTo>
                    <a:pt x="2" y="1568"/>
                  </a:lnTo>
                  <a:lnTo>
                    <a:pt x="9" y="1485"/>
                  </a:lnTo>
                  <a:lnTo>
                    <a:pt x="19" y="1402"/>
                  </a:lnTo>
                  <a:lnTo>
                    <a:pt x="34" y="1320"/>
                  </a:lnTo>
                  <a:lnTo>
                    <a:pt x="52" y="1240"/>
                  </a:lnTo>
                  <a:lnTo>
                    <a:pt x="74" y="1162"/>
                  </a:lnTo>
                  <a:lnTo>
                    <a:pt x="100" y="1085"/>
                  </a:lnTo>
                  <a:lnTo>
                    <a:pt x="130" y="1010"/>
                  </a:lnTo>
                  <a:lnTo>
                    <a:pt x="163" y="937"/>
                  </a:lnTo>
                  <a:lnTo>
                    <a:pt x="200" y="865"/>
                  </a:lnTo>
                  <a:lnTo>
                    <a:pt x="239" y="796"/>
                  </a:lnTo>
                  <a:lnTo>
                    <a:pt x="283" y="730"/>
                  </a:lnTo>
                  <a:lnTo>
                    <a:pt x="329" y="665"/>
                  </a:lnTo>
                  <a:lnTo>
                    <a:pt x="377" y="602"/>
                  </a:lnTo>
                  <a:lnTo>
                    <a:pt x="430" y="542"/>
                  </a:lnTo>
                  <a:lnTo>
                    <a:pt x="484" y="485"/>
                  </a:lnTo>
                  <a:lnTo>
                    <a:pt x="541" y="430"/>
                  </a:lnTo>
                  <a:lnTo>
                    <a:pt x="602" y="378"/>
                  </a:lnTo>
                  <a:lnTo>
                    <a:pt x="664" y="329"/>
                  </a:lnTo>
                  <a:lnTo>
                    <a:pt x="728" y="283"/>
                  </a:lnTo>
                  <a:lnTo>
                    <a:pt x="796" y="240"/>
                  </a:lnTo>
                  <a:lnTo>
                    <a:pt x="865" y="200"/>
                  </a:lnTo>
                  <a:lnTo>
                    <a:pt x="936" y="164"/>
                  </a:lnTo>
                  <a:lnTo>
                    <a:pt x="1009" y="130"/>
                  </a:lnTo>
                  <a:lnTo>
                    <a:pt x="1084" y="101"/>
                  </a:lnTo>
                  <a:lnTo>
                    <a:pt x="1162" y="75"/>
                  </a:lnTo>
                  <a:lnTo>
                    <a:pt x="1240" y="53"/>
                  </a:lnTo>
                  <a:lnTo>
                    <a:pt x="1320" y="34"/>
                  </a:lnTo>
                  <a:lnTo>
                    <a:pt x="1401" y="19"/>
                  </a:lnTo>
                  <a:lnTo>
                    <a:pt x="1484" y="9"/>
                  </a:lnTo>
                  <a:lnTo>
                    <a:pt x="1568" y="2"/>
                  </a:lnTo>
                  <a:lnTo>
                    <a:pt x="16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9">
              <a:extLst>
                <a:ext uri="{FF2B5EF4-FFF2-40B4-BE49-F238E27FC236}">
                  <a16:creationId xmlns:a16="http://schemas.microsoft.com/office/drawing/2014/main" id="{7E7652C4-C46F-8EE3-8D9B-0821BA43B4F7}"/>
                </a:ext>
              </a:extLst>
            </p:cNvPr>
            <p:cNvSpPr>
              <a:spLocks/>
            </p:cNvSpPr>
            <p:nvPr/>
          </p:nvSpPr>
          <p:spPr bwMode="auto">
            <a:xfrm>
              <a:off x="1623014" y="1717735"/>
              <a:ext cx="365179" cy="365179"/>
            </a:xfrm>
            <a:custGeom>
              <a:avLst/>
              <a:gdLst>
                <a:gd name="T0" fmla="*/ 1616 w 2932"/>
                <a:gd name="T1" fmla="*/ 7 h 2931"/>
                <a:gd name="T2" fmla="*/ 1832 w 2932"/>
                <a:gd name="T3" fmla="*/ 46 h 2931"/>
                <a:gd name="T4" fmla="*/ 2036 w 2932"/>
                <a:gd name="T5" fmla="*/ 115 h 2931"/>
                <a:gd name="T6" fmla="*/ 2226 w 2932"/>
                <a:gd name="T7" fmla="*/ 212 h 2931"/>
                <a:gd name="T8" fmla="*/ 2399 w 2932"/>
                <a:gd name="T9" fmla="*/ 334 h 2931"/>
                <a:gd name="T10" fmla="*/ 2552 w 2932"/>
                <a:gd name="T11" fmla="*/ 480 h 2931"/>
                <a:gd name="T12" fmla="*/ 2682 w 2932"/>
                <a:gd name="T13" fmla="*/ 646 h 2931"/>
                <a:gd name="T14" fmla="*/ 2787 w 2932"/>
                <a:gd name="T15" fmla="*/ 830 h 2931"/>
                <a:gd name="T16" fmla="*/ 2866 w 2932"/>
                <a:gd name="T17" fmla="*/ 1030 h 2931"/>
                <a:gd name="T18" fmla="*/ 2915 w 2932"/>
                <a:gd name="T19" fmla="*/ 1242 h 2931"/>
                <a:gd name="T20" fmla="*/ 2932 w 2932"/>
                <a:gd name="T21" fmla="*/ 1465 h 2931"/>
                <a:gd name="T22" fmla="*/ 2915 w 2932"/>
                <a:gd name="T23" fmla="*/ 1689 h 2931"/>
                <a:gd name="T24" fmla="*/ 2866 w 2932"/>
                <a:gd name="T25" fmla="*/ 1902 h 2931"/>
                <a:gd name="T26" fmla="*/ 2787 w 2932"/>
                <a:gd name="T27" fmla="*/ 2101 h 2931"/>
                <a:gd name="T28" fmla="*/ 2682 w 2932"/>
                <a:gd name="T29" fmla="*/ 2285 h 2931"/>
                <a:gd name="T30" fmla="*/ 2552 w 2932"/>
                <a:gd name="T31" fmla="*/ 2451 h 2931"/>
                <a:gd name="T32" fmla="*/ 2399 w 2932"/>
                <a:gd name="T33" fmla="*/ 2597 h 2931"/>
                <a:gd name="T34" fmla="*/ 2226 w 2932"/>
                <a:gd name="T35" fmla="*/ 2719 h 2931"/>
                <a:gd name="T36" fmla="*/ 2036 w 2932"/>
                <a:gd name="T37" fmla="*/ 2817 h 2931"/>
                <a:gd name="T38" fmla="*/ 1832 w 2932"/>
                <a:gd name="T39" fmla="*/ 2885 h 2931"/>
                <a:gd name="T40" fmla="*/ 1616 w 2932"/>
                <a:gd name="T41" fmla="*/ 2924 h 2931"/>
                <a:gd name="T42" fmla="*/ 1391 w 2932"/>
                <a:gd name="T43" fmla="*/ 2930 h 2931"/>
                <a:gd name="T44" fmla="*/ 1170 w 2932"/>
                <a:gd name="T45" fmla="*/ 2902 h 2931"/>
                <a:gd name="T46" fmla="*/ 962 w 2932"/>
                <a:gd name="T47" fmla="*/ 2843 h 2931"/>
                <a:gd name="T48" fmla="*/ 767 w 2932"/>
                <a:gd name="T49" fmla="*/ 2755 h 2931"/>
                <a:gd name="T50" fmla="*/ 589 w 2932"/>
                <a:gd name="T51" fmla="*/ 2640 h 2931"/>
                <a:gd name="T52" fmla="*/ 429 w 2932"/>
                <a:gd name="T53" fmla="*/ 2502 h 2931"/>
                <a:gd name="T54" fmla="*/ 291 w 2932"/>
                <a:gd name="T55" fmla="*/ 2343 h 2931"/>
                <a:gd name="T56" fmla="*/ 177 w 2932"/>
                <a:gd name="T57" fmla="*/ 2165 h 2931"/>
                <a:gd name="T58" fmla="*/ 89 w 2932"/>
                <a:gd name="T59" fmla="*/ 1969 h 2931"/>
                <a:gd name="T60" fmla="*/ 30 w 2932"/>
                <a:gd name="T61" fmla="*/ 1761 h 2931"/>
                <a:gd name="T62" fmla="*/ 2 w 2932"/>
                <a:gd name="T63" fmla="*/ 1541 h 2931"/>
                <a:gd name="T64" fmla="*/ 7 w 2932"/>
                <a:gd name="T65" fmla="*/ 1316 h 2931"/>
                <a:gd name="T66" fmla="*/ 46 w 2932"/>
                <a:gd name="T67" fmla="*/ 1099 h 2931"/>
                <a:gd name="T68" fmla="*/ 115 w 2932"/>
                <a:gd name="T69" fmla="*/ 895 h 2931"/>
                <a:gd name="T70" fmla="*/ 213 w 2932"/>
                <a:gd name="T71" fmla="*/ 705 h 2931"/>
                <a:gd name="T72" fmla="*/ 335 w 2932"/>
                <a:gd name="T73" fmla="*/ 533 h 2931"/>
                <a:gd name="T74" fmla="*/ 480 w 2932"/>
                <a:gd name="T75" fmla="*/ 380 h 2931"/>
                <a:gd name="T76" fmla="*/ 646 w 2932"/>
                <a:gd name="T77" fmla="*/ 250 h 2931"/>
                <a:gd name="T78" fmla="*/ 830 w 2932"/>
                <a:gd name="T79" fmla="*/ 144 h 2931"/>
                <a:gd name="T80" fmla="*/ 1030 w 2932"/>
                <a:gd name="T81" fmla="*/ 66 h 2931"/>
                <a:gd name="T82" fmla="*/ 1243 w 2932"/>
                <a:gd name="T83" fmla="*/ 16 h 2931"/>
                <a:gd name="T84" fmla="*/ 1466 w 2932"/>
                <a:gd name="T85" fmla="*/ 0 h 2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2" h="2931">
                  <a:moveTo>
                    <a:pt x="1466" y="0"/>
                  </a:moveTo>
                  <a:lnTo>
                    <a:pt x="1541" y="2"/>
                  </a:lnTo>
                  <a:lnTo>
                    <a:pt x="1616" y="7"/>
                  </a:lnTo>
                  <a:lnTo>
                    <a:pt x="1690" y="16"/>
                  </a:lnTo>
                  <a:lnTo>
                    <a:pt x="1761" y="30"/>
                  </a:lnTo>
                  <a:lnTo>
                    <a:pt x="1832" y="46"/>
                  </a:lnTo>
                  <a:lnTo>
                    <a:pt x="1902" y="66"/>
                  </a:lnTo>
                  <a:lnTo>
                    <a:pt x="1970" y="88"/>
                  </a:lnTo>
                  <a:lnTo>
                    <a:pt x="2036" y="115"/>
                  </a:lnTo>
                  <a:lnTo>
                    <a:pt x="2102" y="144"/>
                  </a:lnTo>
                  <a:lnTo>
                    <a:pt x="2164" y="177"/>
                  </a:lnTo>
                  <a:lnTo>
                    <a:pt x="2226" y="212"/>
                  </a:lnTo>
                  <a:lnTo>
                    <a:pt x="2286" y="250"/>
                  </a:lnTo>
                  <a:lnTo>
                    <a:pt x="2343" y="290"/>
                  </a:lnTo>
                  <a:lnTo>
                    <a:pt x="2399" y="334"/>
                  </a:lnTo>
                  <a:lnTo>
                    <a:pt x="2452" y="380"/>
                  </a:lnTo>
                  <a:lnTo>
                    <a:pt x="2502" y="429"/>
                  </a:lnTo>
                  <a:lnTo>
                    <a:pt x="2552" y="480"/>
                  </a:lnTo>
                  <a:lnTo>
                    <a:pt x="2598" y="533"/>
                  </a:lnTo>
                  <a:lnTo>
                    <a:pt x="2640" y="589"/>
                  </a:lnTo>
                  <a:lnTo>
                    <a:pt x="2682" y="646"/>
                  </a:lnTo>
                  <a:lnTo>
                    <a:pt x="2720" y="705"/>
                  </a:lnTo>
                  <a:lnTo>
                    <a:pt x="2755" y="767"/>
                  </a:lnTo>
                  <a:lnTo>
                    <a:pt x="2787" y="830"/>
                  </a:lnTo>
                  <a:lnTo>
                    <a:pt x="2816" y="895"/>
                  </a:lnTo>
                  <a:lnTo>
                    <a:pt x="2843" y="961"/>
                  </a:lnTo>
                  <a:lnTo>
                    <a:pt x="2866" y="1030"/>
                  </a:lnTo>
                  <a:lnTo>
                    <a:pt x="2886" y="1099"/>
                  </a:lnTo>
                  <a:lnTo>
                    <a:pt x="2902" y="1170"/>
                  </a:lnTo>
                  <a:lnTo>
                    <a:pt x="2915" y="1242"/>
                  </a:lnTo>
                  <a:lnTo>
                    <a:pt x="2924" y="1316"/>
                  </a:lnTo>
                  <a:lnTo>
                    <a:pt x="2930" y="1390"/>
                  </a:lnTo>
                  <a:lnTo>
                    <a:pt x="2932" y="1465"/>
                  </a:lnTo>
                  <a:lnTo>
                    <a:pt x="2930" y="1541"/>
                  </a:lnTo>
                  <a:lnTo>
                    <a:pt x="2924" y="1616"/>
                  </a:lnTo>
                  <a:lnTo>
                    <a:pt x="2915" y="1689"/>
                  </a:lnTo>
                  <a:lnTo>
                    <a:pt x="2902" y="1761"/>
                  </a:lnTo>
                  <a:lnTo>
                    <a:pt x="2886" y="1832"/>
                  </a:lnTo>
                  <a:lnTo>
                    <a:pt x="2866" y="1902"/>
                  </a:lnTo>
                  <a:lnTo>
                    <a:pt x="2843" y="1969"/>
                  </a:lnTo>
                  <a:lnTo>
                    <a:pt x="2816" y="2037"/>
                  </a:lnTo>
                  <a:lnTo>
                    <a:pt x="2787" y="2101"/>
                  </a:lnTo>
                  <a:lnTo>
                    <a:pt x="2755" y="2165"/>
                  </a:lnTo>
                  <a:lnTo>
                    <a:pt x="2720" y="2225"/>
                  </a:lnTo>
                  <a:lnTo>
                    <a:pt x="2682" y="2285"/>
                  </a:lnTo>
                  <a:lnTo>
                    <a:pt x="2640" y="2343"/>
                  </a:lnTo>
                  <a:lnTo>
                    <a:pt x="2598" y="2398"/>
                  </a:lnTo>
                  <a:lnTo>
                    <a:pt x="2552" y="2451"/>
                  </a:lnTo>
                  <a:lnTo>
                    <a:pt x="2502" y="2502"/>
                  </a:lnTo>
                  <a:lnTo>
                    <a:pt x="2452" y="2551"/>
                  </a:lnTo>
                  <a:lnTo>
                    <a:pt x="2399" y="2597"/>
                  </a:lnTo>
                  <a:lnTo>
                    <a:pt x="2343" y="2640"/>
                  </a:lnTo>
                  <a:lnTo>
                    <a:pt x="2286" y="2681"/>
                  </a:lnTo>
                  <a:lnTo>
                    <a:pt x="2226" y="2719"/>
                  </a:lnTo>
                  <a:lnTo>
                    <a:pt x="2164" y="2755"/>
                  </a:lnTo>
                  <a:lnTo>
                    <a:pt x="2102" y="2786"/>
                  </a:lnTo>
                  <a:lnTo>
                    <a:pt x="2036" y="2817"/>
                  </a:lnTo>
                  <a:lnTo>
                    <a:pt x="1970" y="2843"/>
                  </a:lnTo>
                  <a:lnTo>
                    <a:pt x="1902" y="2866"/>
                  </a:lnTo>
                  <a:lnTo>
                    <a:pt x="1832" y="2885"/>
                  </a:lnTo>
                  <a:lnTo>
                    <a:pt x="1761" y="2902"/>
                  </a:lnTo>
                  <a:lnTo>
                    <a:pt x="1690" y="2914"/>
                  </a:lnTo>
                  <a:lnTo>
                    <a:pt x="1616" y="2924"/>
                  </a:lnTo>
                  <a:lnTo>
                    <a:pt x="1541" y="2930"/>
                  </a:lnTo>
                  <a:lnTo>
                    <a:pt x="1466" y="2931"/>
                  </a:lnTo>
                  <a:lnTo>
                    <a:pt x="1391" y="2930"/>
                  </a:lnTo>
                  <a:lnTo>
                    <a:pt x="1316" y="2924"/>
                  </a:lnTo>
                  <a:lnTo>
                    <a:pt x="1243" y="2914"/>
                  </a:lnTo>
                  <a:lnTo>
                    <a:pt x="1170" y="2902"/>
                  </a:lnTo>
                  <a:lnTo>
                    <a:pt x="1099" y="2885"/>
                  </a:lnTo>
                  <a:lnTo>
                    <a:pt x="1030" y="2866"/>
                  </a:lnTo>
                  <a:lnTo>
                    <a:pt x="962" y="2843"/>
                  </a:lnTo>
                  <a:lnTo>
                    <a:pt x="895" y="2817"/>
                  </a:lnTo>
                  <a:lnTo>
                    <a:pt x="830" y="2786"/>
                  </a:lnTo>
                  <a:lnTo>
                    <a:pt x="767" y="2755"/>
                  </a:lnTo>
                  <a:lnTo>
                    <a:pt x="705" y="2719"/>
                  </a:lnTo>
                  <a:lnTo>
                    <a:pt x="646" y="2681"/>
                  </a:lnTo>
                  <a:lnTo>
                    <a:pt x="589" y="2640"/>
                  </a:lnTo>
                  <a:lnTo>
                    <a:pt x="534" y="2597"/>
                  </a:lnTo>
                  <a:lnTo>
                    <a:pt x="480" y="2551"/>
                  </a:lnTo>
                  <a:lnTo>
                    <a:pt x="429" y="2502"/>
                  </a:lnTo>
                  <a:lnTo>
                    <a:pt x="381" y="2451"/>
                  </a:lnTo>
                  <a:lnTo>
                    <a:pt x="335" y="2398"/>
                  </a:lnTo>
                  <a:lnTo>
                    <a:pt x="291" y="2343"/>
                  </a:lnTo>
                  <a:lnTo>
                    <a:pt x="251" y="2285"/>
                  </a:lnTo>
                  <a:lnTo>
                    <a:pt x="213" y="2225"/>
                  </a:lnTo>
                  <a:lnTo>
                    <a:pt x="177" y="2165"/>
                  </a:lnTo>
                  <a:lnTo>
                    <a:pt x="144" y="2101"/>
                  </a:lnTo>
                  <a:lnTo>
                    <a:pt x="115" y="2037"/>
                  </a:lnTo>
                  <a:lnTo>
                    <a:pt x="89" y="1969"/>
                  </a:lnTo>
                  <a:lnTo>
                    <a:pt x="66" y="1902"/>
                  </a:lnTo>
                  <a:lnTo>
                    <a:pt x="46" y="1832"/>
                  </a:lnTo>
                  <a:lnTo>
                    <a:pt x="30" y="1761"/>
                  </a:lnTo>
                  <a:lnTo>
                    <a:pt x="17" y="1689"/>
                  </a:lnTo>
                  <a:lnTo>
                    <a:pt x="7" y="1616"/>
                  </a:lnTo>
                  <a:lnTo>
                    <a:pt x="2" y="1541"/>
                  </a:lnTo>
                  <a:lnTo>
                    <a:pt x="0" y="1465"/>
                  </a:lnTo>
                  <a:lnTo>
                    <a:pt x="2" y="1390"/>
                  </a:lnTo>
                  <a:lnTo>
                    <a:pt x="7" y="1316"/>
                  </a:lnTo>
                  <a:lnTo>
                    <a:pt x="17" y="1242"/>
                  </a:lnTo>
                  <a:lnTo>
                    <a:pt x="30" y="1170"/>
                  </a:lnTo>
                  <a:lnTo>
                    <a:pt x="46" y="1099"/>
                  </a:lnTo>
                  <a:lnTo>
                    <a:pt x="66" y="1030"/>
                  </a:lnTo>
                  <a:lnTo>
                    <a:pt x="89" y="961"/>
                  </a:lnTo>
                  <a:lnTo>
                    <a:pt x="115" y="895"/>
                  </a:lnTo>
                  <a:lnTo>
                    <a:pt x="144" y="830"/>
                  </a:lnTo>
                  <a:lnTo>
                    <a:pt x="177" y="767"/>
                  </a:lnTo>
                  <a:lnTo>
                    <a:pt x="213" y="705"/>
                  </a:lnTo>
                  <a:lnTo>
                    <a:pt x="251" y="646"/>
                  </a:lnTo>
                  <a:lnTo>
                    <a:pt x="291" y="589"/>
                  </a:lnTo>
                  <a:lnTo>
                    <a:pt x="335" y="533"/>
                  </a:lnTo>
                  <a:lnTo>
                    <a:pt x="381" y="480"/>
                  </a:lnTo>
                  <a:lnTo>
                    <a:pt x="429" y="429"/>
                  </a:lnTo>
                  <a:lnTo>
                    <a:pt x="480" y="380"/>
                  </a:lnTo>
                  <a:lnTo>
                    <a:pt x="534" y="334"/>
                  </a:lnTo>
                  <a:lnTo>
                    <a:pt x="589" y="290"/>
                  </a:lnTo>
                  <a:lnTo>
                    <a:pt x="646" y="250"/>
                  </a:lnTo>
                  <a:lnTo>
                    <a:pt x="705" y="212"/>
                  </a:lnTo>
                  <a:lnTo>
                    <a:pt x="767" y="177"/>
                  </a:lnTo>
                  <a:lnTo>
                    <a:pt x="830" y="144"/>
                  </a:lnTo>
                  <a:lnTo>
                    <a:pt x="895" y="115"/>
                  </a:lnTo>
                  <a:lnTo>
                    <a:pt x="962" y="88"/>
                  </a:lnTo>
                  <a:lnTo>
                    <a:pt x="1030" y="66"/>
                  </a:lnTo>
                  <a:lnTo>
                    <a:pt x="1099" y="46"/>
                  </a:lnTo>
                  <a:lnTo>
                    <a:pt x="1170" y="30"/>
                  </a:lnTo>
                  <a:lnTo>
                    <a:pt x="1243" y="16"/>
                  </a:lnTo>
                  <a:lnTo>
                    <a:pt x="1316" y="7"/>
                  </a:lnTo>
                  <a:lnTo>
                    <a:pt x="1391" y="2"/>
                  </a:lnTo>
                  <a:lnTo>
                    <a:pt x="1466" y="0"/>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C72B9455-D2B3-C5FC-4877-200EDDA20BE5}"/>
                </a:ext>
              </a:extLst>
            </p:cNvPr>
            <p:cNvSpPr>
              <a:spLocks/>
            </p:cNvSpPr>
            <p:nvPr/>
          </p:nvSpPr>
          <p:spPr bwMode="auto">
            <a:xfrm>
              <a:off x="1649546" y="1774338"/>
              <a:ext cx="318131" cy="294234"/>
            </a:xfrm>
            <a:custGeom>
              <a:avLst/>
              <a:gdLst>
                <a:gd name="T0" fmla="*/ 2508 w 2552"/>
                <a:gd name="T1" fmla="*/ 1224 h 2365"/>
                <a:gd name="T2" fmla="*/ 2457 w 2552"/>
                <a:gd name="T3" fmla="*/ 1448 h 2365"/>
                <a:gd name="T4" fmla="*/ 2367 w 2552"/>
                <a:gd name="T5" fmla="*/ 1656 h 2365"/>
                <a:gd name="T6" fmla="*/ 2243 w 2552"/>
                <a:gd name="T7" fmla="*/ 1842 h 2365"/>
                <a:gd name="T8" fmla="*/ 2091 w 2552"/>
                <a:gd name="T9" fmla="*/ 2004 h 2365"/>
                <a:gd name="T10" fmla="*/ 1911 w 2552"/>
                <a:gd name="T11" fmla="*/ 2136 h 2365"/>
                <a:gd name="T12" fmla="*/ 1710 w 2552"/>
                <a:gd name="T13" fmla="*/ 2237 h 2365"/>
                <a:gd name="T14" fmla="*/ 1490 w 2552"/>
                <a:gd name="T15" fmla="*/ 2301 h 2365"/>
                <a:gd name="T16" fmla="*/ 1362 w 2552"/>
                <a:gd name="T17" fmla="*/ 2320 h 2365"/>
                <a:gd name="T18" fmla="*/ 1266 w 2552"/>
                <a:gd name="T19" fmla="*/ 2326 h 2365"/>
                <a:gd name="T20" fmla="*/ 1169 w 2552"/>
                <a:gd name="T21" fmla="*/ 2324 h 2365"/>
                <a:gd name="T22" fmla="*/ 1074 w 2552"/>
                <a:gd name="T23" fmla="*/ 2315 h 2365"/>
                <a:gd name="T24" fmla="*/ 987 w 2552"/>
                <a:gd name="T25" fmla="*/ 2300 h 2365"/>
                <a:gd name="T26" fmla="*/ 806 w 2552"/>
                <a:gd name="T27" fmla="*/ 2250 h 2365"/>
                <a:gd name="T28" fmla="*/ 635 w 2552"/>
                <a:gd name="T29" fmla="*/ 2173 h 2365"/>
                <a:gd name="T30" fmla="*/ 479 w 2552"/>
                <a:gd name="T31" fmla="*/ 2073 h 2365"/>
                <a:gd name="T32" fmla="*/ 340 w 2552"/>
                <a:gd name="T33" fmla="*/ 1953 h 2365"/>
                <a:gd name="T34" fmla="*/ 219 w 2552"/>
                <a:gd name="T35" fmla="*/ 1814 h 2365"/>
                <a:gd name="T36" fmla="*/ 119 w 2552"/>
                <a:gd name="T37" fmla="*/ 1659 h 2365"/>
                <a:gd name="T38" fmla="*/ 41 w 2552"/>
                <a:gd name="T39" fmla="*/ 1490 h 2365"/>
                <a:gd name="T40" fmla="*/ 0 w 2552"/>
                <a:gd name="T41" fmla="*/ 1354 h 2365"/>
                <a:gd name="T42" fmla="*/ 46 w 2552"/>
                <a:gd name="T43" fmla="*/ 1513 h 2365"/>
                <a:gd name="T44" fmla="*/ 137 w 2552"/>
                <a:gd name="T45" fmla="*/ 1710 h 2365"/>
                <a:gd name="T46" fmla="*/ 258 w 2552"/>
                <a:gd name="T47" fmla="*/ 1887 h 2365"/>
                <a:gd name="T48" fmla="*/ 406 w 2552"/>
                <a:gd name="T49" fmla="*/ 2042 h 2365"/>
                <a:gd name="T50" fmla="*/ 578 w 2552"/>
                <a:gd name="T51" fmla="*/ 2170 h 2365"/>
                <a:gd name="T52" fmla="*/ 771 w 2552"/>
                <a:gd name="T53" fmla="*/ 2269 h 2365"/>
                <a:gd name="T54" fmla="*/ 980 w 2552"/>
                <a:gd name="T55" fmla="*/ 2335 h 2365"/>
                <a:gd name="T56" fmla="*/ 1203 w 2552"/>
                <a:gd name="T57" fmla="*/ 2364 h 2365"/>
                <a:gd name="T58" fmla="*/ 1403 w 2552"/>
                <a:gd name="T59" fmla="*/ 2357 h 2365"/>
                <a:gd name="T60" fmla="*/ 1586 w 2552"/>
                <a:gd name="T61" fmla="*/ 2324 h 2365"/>
                <a:gd name="T62" fmla="*/ 1775 w 2552"/>
                <a:gd name="T63" fmla="*/ 2259 h 2365"/>
                <a:gd name="T64" fmla="*/ 1956 w 2552"/>
                <a:gd name="T65" fmla="*/ 2162 h 2365"/>
                <a:gd name="T66" fmla="*/ 2119 w 2552"/>
                <a:gd name="T67" fmla="*/ 2039 h 2365"/>
                <a:gd name="T68" fmla="*/ 2259 w 2552"/>
                <a:gd name="T69" fmla="*/ 1893 h 2365"/>
                <a:gd name="T70" fmla="*/ 2376 w 2552"/>
                <a:gd name="T71" fmla="*/ 1725 h 2365"/>
                <a:gd name="T72" fmla="*/ 2465 w 2552"/>
                <a:gd name="T73" fmla="*/ 1540 h 2365"/>
                <a:gd name="T74" fmla="*/ 2524 w 2552"/>
                <a:gd name="T75" fmla="*/ 1340 h 2365"/>
                <a:gd name="T76" fmla="*/ 2551 w 2552"/>
                <a:gd name="T77" fmla="*/ 1128 h 2365"/>
                <a:gd name="T78" fmla="*/ 2545 w 2552"/>
                <a:gd name="T79" fmla="*/ 950 h 2365"/>
                <a:gd name="T80" fmla="*/ 2521 w 2552"/>
                <a:gd name="T81" fmla="*/ 789 h 2365"/>
                <a:gd name="T82" fmla="*/ 2476 w 2552"/>
                <a:gd name="T83" fmla="*/ 636 h 2365"/>
                <a:gd name="T84" fmla="*/ 2413 w 2552"/>
                <a:gd name="T85" fmla="*/ 491 h 2365"/>
                <a:gd name="T86" fmla="*/ 2334 w 2552"/>
                <a:gd name="T87" fmla="*/ 356 h 2365"/>
                <a:gd name="T88" fmla="*/ 2240 w 2552"/>
                <a:gd name="T89" fmla="*/ 233 h 2365"/>
                <a:gd name="T90" fmla="*/ 2131 w 2552"/>
                <a:gd name="T91" fmla="*/ 120 h 2365"/>
                <a:gd name="T92" fmla="*/ 2010 w 2552"/>
                <a:gd name="T93" fmla="*/ 23 h 2365"/>
                <a:gd name="T94" fmla="*/ 2067 w 2552"/>
                <a:gd name="T95" fmla="*/ 70 h 2365"/>
                <a:gd name="T96" fmla="*/ 2176 w 2552"/>
                <a:gd name="T97" fmla="*/ 173 h 2365"/>
                <a:gd name="T98" fmla="*/ 2273 w 2552"/>
                <a:gd name="T99" fmla="*/ 289 h 2365"/>
                <a:gd name="T100" fmla="*/ 2355 w 2552"/>
                <a:gd name="T101" fmla="*/ 416 h 2365"/>
                <a:gd name="T102" fmla="*/ 2422 w 2552"/>
                <a:gd name="T103" fmla="*/ 551 h 2365"/>
                <a:gd name="T104" fmla="*/ 2472 w 2552"/>
                <a:gd name="T105" fmla="*/ 696 h 2365"/>
                <a:gd name="T106" fmla="*/ 2506 w 2552"/>
                <a:gd name="T107" fmla="*/ 848 h 2365"/>
                <a:gd name="T108" fmla="*/ 2521 w 2552"/>
                <a:gd name="T109" fmla="*/ 1006 h 2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52" h="2365">
                  <a:moveTo>
                    <a:pt x="2521" y="1046"/>
                  </a:moveTo>
                  <a:lnTo>
                    <a:pt x="2520" y="1106"/>
                  </a:lnTo>
                  <a:lnTo>
                    <a:pt x="2515" y="1165"/>
                  </a:lnTo>
                  <a:lnTo>
                    <a:pt x="2508" y="1224"/>
                  </a:lnTo>
                  <a:lnTo>
                    <a:pt x="2499" y="1281"/>
                  </a:lnTo>
                  <a:lnTo>
                    <a:pt x="2488" y="1338"/>
                  </a:lnTo>
                  <a:lnTo>
                    <a:pt x="2474" y="1393"/>
                  </a:lnTo>
                  <a:lnTo>
                    <a:pt x="2457" y="1448"/>
                  </a:lnTo>
                  <a:lnTo>
                    <a:pt x="2438" y="1502"/>
                  </a:lnTo>
                  <a:lnTo>
                    <a:pt x="2416" y="1554"/>
                  </a:lnTo>
                  <a:lnTo>
                    <a:pt x="2393" y="1605"/>
                  </a:lnTo>
                  <a:lnTo>
                    <a:pt x="2367" y="1656"/>
                  </a:lnTo>
                  <a:lnTo>
                    <a:pt x="2339" y="1704"/>
                  </a:lnTo>
                  <a:lnTo>
                    <a:pt x="2310" y="1751"/>
                  </a:lnTo>
                  <a:lnTo>
                    <a:pt x="2277" y="1797"/>
                  </a:lnTo>
                  <a:lnTo>
                    <a:pt x="2243" y="1842"/>
                  </a:lnTo>
                  <a:lnTo>
                    <a:pt x="2208" y="1885"/>
                  </a:lnTo>
                  <a:lnTo>
                    <a:pt x="2170" y="1926"/>
                  </a:lnTo>
                  <a:lnTo>
                    <a:pt x="2131" y="1966"/>
                  </a:lnTo>
                  <a:lnTo>
                    <a:pt x="2091" y="2004"/>
                  </a:lnTo>
                  <a:lnTo>
                    <a:pt x="2048" y="2040"/>
                  </a:lnTo>
                  <a:lnTo>
                    <a:pt x="2004" y="2074"/>
                  </a:lnTo>
                  <a:lnTo>
                    <a:pt x="1958" y="2106"/>
                  </a:lnTo>
                  <a:lnTo>
                    <a:pt x="1911" y="2136"/>
                  </a:lnTo>
                  <a:lnTo>
                    <a:pt x="1863" y="2165"/>
                  </a:lnTo>
                  <a:lnTo>
                    <a:pt x="1814" y="2191"/>
                  </a:lnTo>
                  <a:lnTo>
                    <a:pt x="1762" y="2215"/>
                  </a:lnTo>
                  <a:lnTo>
                    <a:pt x="1710" y="2237"/>
                  </a:lnTo>
                  <a:lnTo>
                    <a:pt x="1656" y="2256"/>
                  </a:lnTo>
                  <a:lnTo>
                    <a:pt x="1603" y="2274"/>
                  </a:lnTo>
                  <a:lnTo>
                    <a:pt x="1548" y="2289"/>
                  </a:lnTo>
                  <a:lnTo>
                    <a:pt x="1490" y="2301"/>
                  </a:lnTo>
                  <a:lnTo>
                    <a:pt x="1433" y="2311"/>
                  </a:lnTo>
                  <a:lnTo>
                    <a:pt x="1409" y="2315"/>
                  </a:lnTo>
                  <a:lnTo>
                    <a:pt x="1386" y="2318"/>
                  </a:lnTo>
                  <a:lnTo>
                    <a:pt x="1362" y="2320"/>
                  </a:lnTo>
                  <a:lnTo>
                    <a:pt x="1339" y="2323"/>
                  </a:lnTo>
                  <a:lnTo>
                    <a:pt x="1314" y="2324"/>
                  </a:lnTo>
                  <a:lnTo>
                    <a:pt x="1291" y="2325"/>
                  </a:lnTo>
                  <a:lnTo>
                    <a:pt x="1266" y="2326"/>
                  </a:lnTo>
                  <a:lnTo>
                    <a:pt x="1242" y="2326"/>
                  </a:lnTo>
                  <a:lnTo>
                    <a:pt x="1218" y="2326"/>
                  </a:lnTo>
                  <a:lnTo>
                    <a:pt x="1193" y="2325"/>
                  </a:lnTo>
                  <a:lnTo>
                    <a:pt x="1169" y="2324"/>
                  </a:lnTo>
                  <a:lnTo>
                    <a:pt x="1146" y="2323"/>
                  </a:lnTo>
                  <a:lnTo>
                    <a:pt x="1121" y="2320"/>
                  </a:lnTo>
                  <a:lnTo>
                    <a:pt x="1097" y="2318"/>
                  </a:lnTo>
                  <a:lnTo>
                    <a:pt x="1074" y="2315"/>
                  </a:lnTo>
                  <a:lnTo>
                    <a:pt x="1050" y="2311"/>
                  </a:lnTo>
                  <a:lnTo>
                    <a:pt x="1042" y="2310"/>
                  </a:lnTo>
                  <a:lnTo>
                    <a:pt x="1035" y="2309"/>
                  </a:lnTo>
                  <a:lnTo>
                    <a:pt x="987" y="2300"/>
                  </a:lnTo>
                  <a:lnTo>
                    <a:pt x="941" y="2290"/>
                  </a:lnTo>
                  <a:lnTo>
                    <a:pt x="895" y="2278"/>
                  </a:lnTo>
                  <a:lnTo>
                    <a:pt x="849" y="2264"/>
                  </a:lnTo>
                  <a:lnTo>
                    <a:pt x="806" y="2250"/>
                  </a:lnTo>
                  <a:lnTo>
                    <a:pt x="762" y="2233"/>
                  </a:lnTo>
                  <a:lnTo>
                    <a:pt x="719" y="2214"/>
                  </a:lnTo>
                  <a:lnTo>
                    <a:pt x="677" y="2195"/>
                  </a:lnTo>
                  <a:lnTo>
                    <a:pt x="635" y="2173"/>
                  </a:lnTo>
                  <a:lnTo>
                    <a:pt x="595" y="2150"/>
                  </a:lnTo>
                  <a:lnTo>
                    <a:pt x="555" y="2126"/>
                  </a:lnTo>
                  <a:lnTo>
                    <a:pt x="517" y="2100"/>
                  </a:lnTo>
                  <a:lnTo>
                    <a:pt x="479" y="2073"/>
                  </a:lnTo>
                  <a:lnTo>
                    <a:pt x="443" y="2045"/>
                  </a:lnTo>
                  <a:lnTo>
                    <a:pt x="407" y="2016"/>
                  </a:lnTo>
                  <a:lnTo>
                    <a:pt x="374" y="1985"/>
                  </a:lnTo>
                  <a:lnTo>
                    <a:pt x="340" y="1953"/>
                  </a:lnTo>
                  <a:lnTo>
                    <a:pt x="307" y="1921"/>
                  </a:lnTo>
                  <a:lnTo>
                    <a:pt x="277" y="1886"/>
                  </a:lnTo>
                  <a:lnTo>
                    <a:pt x="248" y="1851"/>
                  </a:lnTo>
                  <a:lnTo>
                    <a:pt x="219" y="1814"/>
                  </a:lnTo>
                  <a:lnTo>
                    <a:pt x="192" y="1777"/>
                  </a:lnTo>
                  <a:lnTo>
                    <a:pt x="166" y="1739"/>
                  </a:lnTo>
                  <a:lnTo>
                    <a:pt x="142" y="1700"/>
                  </a:lnTo>
                  <a:lnTo>
                    <a:pt x="119" y="1659"/>
                  </a:lnTo>
                  <a:lnTo>
                    <a:pt x="97" y="1618"/>
                  </a:lnTo>
                  <a:lnTo>
                    <a:pt x="77" y="1576"/>
                  </a:lnTo>
                  <a:lnTo>
                    <a:pt x="59" y="1533"/>
                  </a:lnTo>
                  <a:lnTo>
                    <a:pt x="41" y="1490"/>
                  </a:lnTo>
                  <a:lnTo>
                    <a:pt x="27" y="1445"/>
                  </a:lnTo>
                  <a:lnTo>
                    <a:pt x="12" y="1400"/>
                  </a:lnTo>
                  <a:lnTo>
                    <a:pt x="0" y="1354"/>
                  </a:lnTo>
                  <a:lnTo>
                    <a:pt x="0" y="1354"/>
                  </a:lnTo>
                  <a:lnTo>
                    <a:pt x="0" y="1354"/>
                  </a:lnTo>
                  <a:lnTo>
                    <a:pt x="13" y="1408"/>
                  </a:lnTo>
                  <a:lnTo>
                    <a:pt x="29" y="1461"/>
                  </a:lnTo>
                  <a:lnTo>
                    <a:pt x="46" y="1513"/>
                  </a:lnTo>
                  <a:lnTo>
                    <a:pt x="66" y="1564"/>
                  </a:lnTo>
                  <a:lnTo>
                    <a:pt x="87" y="1613"/>
                  </a:lnTo>
                  <a:lnTo>
                    <a:pt x="111" y="1663"/>
                  </a:lnTo>
                  <a:lnTo>
                    <a:pt x="137" y="1710"/>
                  </a:lnTo>
                  <a:lnTo>
                    <a:pt x="165" y="1756"/>
                  </a:lnTo>
                  <a:lnTo>
                    <a:pt x="194" y="1802"/>
                  </a:lnTo>
                  <a:lnTo>
                    <a:pt x="225" y="1845"/>
                  </a:lnTo>
                  <a:lnTo>
                    <a:pt x="258" y="1887"/>
                  </a:lnTo>
                  <a:lnTo>
                    <a:pt x="293" y="1929"/>
                  </a:lnTo>
                  <a:lnTo>
                    <a:pt x="329" y="1968"/>
                  </a:lnTo>
                  <a:lnTo>
                    <a:pt x="367" y="2006"/>
                  </a:lnTo>
                  <a:lnTo>
                    <a:pt x="406" y="2042"/>
                  </a:lnTo>
                  <a:lnTo>
                    <a:pt x="448" y="2077"/>
                  </a:lnTo>
                  <a:lnTo>
                    <a:pt x="489" y="2109"/>
                  </a:lnTo>
                  <a:lnTo>
                    <a:pt x="533" y="2141"/>
                  </a:lnTo>
                  <a:lnTo>
                    <a:pt x="578" y="2170"/>
                  </a:lnTo>
                  <a:lnTo>
                    <a:pt x="625" y="2198"/>
                  </a:lnTo>
                  <a:lnTo>
                    <a:pt x="672" y="2224"/>
                  </a:lnTo>
                  <a:lnTo>
                    <a:pt x="720" y="2247"/>
                  </a:lnTo>
                  <a:lnTo>
                    <a:pt x="771" y="2269"/>
                  </a:lnTo>
                  <a:lnTo>
                    <a:pt x="821" y="2289"/>
                  </a:lnTo>
                  <a:lnTo>
                    <a:pt x="873" y="2306"/>
                  </a:lnTo>
                  <a:lnTo>
                    <a:pt x="927" y="2321"/>
                  </a:lnTo>
                  <a:lnTo>
                    <a:pt x="980" y="2335"/>
                  </a:lnTo>
                  <a:lnTo>
                    <a:pt x="1035" y="2345"/>
                  </a:lnTo>
                  <a:lnTo>
                    <a:pt x="1090" y="2354"/>
                  </a:lnTo>
                  <a:lnTo>
                    <a:pt x="1147" y="2360"/>
                  </a:lnTo>
                  <a:lnTo>
                    <a:pt x="1203" y="2364"/>
                  </a:lnTo>
                  <a:lnTo>
                    <a:pt x="1260" y="2365"/>
                  </a:lnTo>
                  <a:lnTo>
                    <a:pt x="1308" y="2364"/>
                  </a:lnTo>
                  <a:lnTo>
                    <a:pt x="1356" y="2362"/>
                  </a:lnTo>
                  <a:lnTo>
                    <a:pt x="1403" y="2357"/>
                  </a:lnTo>
                  <a:lnTo>
                    <a:pt x="1450" y="2352"/>
                  </a:lnTo>
                  <a:lnTo>
                    <a:pt x="1496" y="2344"/>
                  </a:lnTo>
                  <a:lnTo>
                    <a:pt x="1541" y="2335"/>
                  </a:lnTo>
                  <a:lnTo>
                    <a:pt x="1586" y="2324"/>
                  </a:lnTo>
                  <a:lnTo>
                    <a:pt x="1629" y="2311"/>
                  </a:lnTo>
                  <a:lnTo>
                    <a:pt x="1680" y="2296"/>
                  </a:lnTo>
                  <a:lnTo>
                    <a:pt x="1728" y="2278"/>
                  </a:lnTo>
                  <a:lnTo>
                    <a:pt x="1775" y="2259"/>
                  </a:lnTo>
                  <a:lnTo>
                    <a:pt x="1823" y="2236"/>
                  </a:lnTo>
                  <a:lnTo>
                    <a:pt x="1869" y="2214"/>
                  </a:lnTo>
                  <a:lnTo>
                    <a:pt x="1913" y="2188"/>
                  </a:lnTo>
                  <a:lnTo>
                    <a:pt x="1956" y="2162"/>
                  </a:lnTo>
                  <a:lnTo>
                    <a:pt x="1999" y="2133"/>
                  </a:lnTo>
                  <a:lnTo>
                    <a:pt x="2040" y="2104"/>
                  </a:lnTo>
                  <a:lnTo>
                    <a:pt x="2080" y="2072"/>
                  </a:lnTo>
                  <a:lnTo>
                    <a:pt x="2119" y="2039"/>
                  </a:lnTo>
                  <a:lnTo>
                    <a:pt x="2156" y="2004"/>
                  </a:lnTo>
                  <a:lnTo>
                    <a:pt x="2192" y="1968"/>
                  </a:lnTo>
                  <a:lnTo>
                    <a:pt x="2227" y="1931"/>
                  </a:lnTo>
                  <a:lnTo>
                    <a:pt x="2259" y="1893"/>
                  </a:lnTo>
                  <a:lnTo>
                    <a:pt x="2291" y="1852"/>
                  </a:lnTo>
                  <a:lnTo>
                    <a:pt x="2321" y="1811"/>
                  </a:lnTo>
                  <a:lnTo>
                    <a:pt x="2349" y="1769"/>
                  </a:lnTo>
                  <a:lnTo>
                    <a:pt x="2376" y="1725"/>
                  </a:lnTo>
                  <a:lnTo>
                    <a:pt x="2401" y="1681"/>
                  </a:lnTo>
                  <a:lnTo>
                    <a:pt x="2424" y="1634"/>
                  </a:lnTo>
                  <a:lnTo>
                    <a:pt x="2445" y="1588"/>
                  </a:lnTo>
                  <a:lnTo>
                    <a:pt x="2465" y="1540"/>
                  </a:lnTo>
                  <a:lnTo>
                    <a:pt x="2482" y="1492"/>
                  </a:lnTo>
                  <a:lnTo>
                    <a:pt x="2498" y="1443"/>
                  </a:lnTo>
                  <a:lnTo>
                    <a:pt x="2513" y="1392"/>
                  </a:lnTo>
                  <a:lnTo>
                    <a:pt x="2524" y="1340"/>
                  </a:lnTo>
                  <a:lnTo>
                    <a:pt x="2534" y="1289"/>
                  </a:lnTo>
                  <a:lnTo>
                    <a:pt x="2542" y="1236"/>
                  </a:lnTo>
                  <a:lnTo>
                    <a:pt x="2548" y="1182"/>
                  </a:lnTo>
                  <a:lnTo>
                    <a:pt x="2551" y="1128"/>
                  </a:lnTo>
                  <a:lnTo>
                    <a:pt x="2552" y="1074"/>
                  </a:lnTo>
                  <a:lnTo>
                    <a:pt x="2551" y="1032"/>
                  </a:lnTo>
                  <a:lnTo>
                    <a:pt x="2549" y="990"/>
                  </a:lnTo>
                  <a:lnTo>
                    <a:pt x="2545" y="950"/>
                  </a:lnTo>
                  <a:lnTo>
                    <a:pt x="2541" y="908"/>
                  </a:lnTo>
                  <a:lnTo>
                    <a:pt x="2535" y="869"/>
                  </a:lnTo>
                  <a:lnTo>
                    <a:pt x="2529" y="829"/>
                  </a:lnTo>
                  <a:lnTo>
                    <a:pt x="2521" y="789"/>
                  </a:lnTo>
                  <a:lnTo>
                    <a:pt x="2511" y="750"/>
                  </a:lnTo>
                  <a:lnTo>
                    <a:pt x="2500" y="712"/>
                  </a:lnTo>
                  <a:lnTo>
                    <a:pt x="2488" y="674"/>
                  </a:lnTo>
                  <a:lnTo>
                    <a:pt x="2476" y="636"/>
                  </a:lnTo>
                  <a:lnTo>
                    <a:pt x="2461" y="599"/>
                  </a:lnTo>
                  <a:lnTo>
                    <a:pt x="2447" y="563"/>
                  </a:lnTo>
                  <a:lnTo>
                    <a:pt x="2430" y="527"/>
                  </a:lnTo>
                  <a:lnTo>
                    <a:pt x="2413" y="491"/>
                  </a:lnTo>
                  <a:lnTo>
                    <a:pt x="2395" y="456"/>
                  </a:lnTo>
                  <a:lnTo>
                    <a:pt x="2376" y="422"/>
                  </a:lnTo>
                  <a:lnTo>
                    <a:pt x="2355" y="389"/>
                  </a:lnTo>
                  <a:lnTo>
                    <a:pt x="2334" y="356"/>
                  </a:lnTo>
                  <a:lnTo>
                    <a:pt x="2312" y="324"/>
                  </a:lnTo>
                  <a:lnTo>
                    <a:pt x="2288" y="292"/>
                  </a:lnTo>
                  <a:lnTo>
                    <a:pt x="2265" y="262"/>
                  </a:lnTo>
                  <a:lnTo>
                    <a:pt x="2240" y="233"/>
                  </a:lnTo>
                  <a:lnTo>
                    <a:pt x="2213" y="203"/>
                  </a:lnTo>
                  <a:lnTo>
                    <a:pt x="2187" y="174"/>
                  </a:lnTo>
                  <a:lnTo>
                    <a:pt x="2159" y="147"/>
                  </a:lnTo>
                  <a:lnTo>
                    <a:pt x="2131" y="120"/>
                  </a:lnTo>
                  <a:lnTo>
                    <a:pt x="2102" y="95"/>
                  </a:lnTo>
                  <a:lnTo>
                    <a:pt x="2072" y="70"/>
                  </a:lnTo>
                  <a:lnTo>
                    <a:pt x="2041" y="46"/>
                  </a:lnTo>
                  <a:lnTo>
                    <a:pt x="2010" y="23"/>
                  </a:lnTo>
                  <a:lnTo>
                    <a:pt x="1979" y="0"/>
                  </a:lnTo>
                  <a:lnTo>
                    <a:pt x="2009" y="23"/>
                  </a:lnTo>
                  <a:lnTo>
                    <a:pt x="2038" y="45"/>
                  </a:lnTo>
                  <a:lnTo>
                    <a:pt x="2067" y="70"/>
                  </a:lnTo>
                  <a:lnTo>
                    <a:pt x="2095" y="95"/>
                  </a:lnTo>
                  <a:lnTo>
                    <a:pt x="2123" y="119"/>
                  </a:lnTo>
                  <a:lnTo>
                    <a:pt x="2150" y="146"/>
                  </a:lnTo>
                  <a:lnTo>
                    <a:pt x="2176" y="173"/>
                  </a:lnTo>
                  <a:lnTo>
                    <a:pt x="2202" y="201"/>
                  </a:lnTo>
                  <a:lnTo>
                    <a:pt x="2225" y="229"/>
                  </a:lnTo>
                  <a:lnTo>
                    <a:pt x="2249" y="258"/>
                  </a:lnTo>
                  <a:lnTo>
                    <a:pt x="2273" y="289"/>
                  </a:lnTo>
                  <a:lnTo>
                    <a:pt x="2294" y="319"/>
                  </a:lnTo>
                  <a:lnTo>
                    <a:pt x="2315" y="350"/>
                  </a:lnTo>
                  <a:lnTo>
                    <a:pt x="2335" y="382"/>
                  </a:lnTo>
                  <a:lnTo>
                    <a:pt x="2355" y="416"/>
                  </a:lnTo>
                  <a:lnTo>
                    <a:pt x="2372" y="448"/>
                  </a:lnTo>
                  <a:lnTo>
                    <a:pt x="2390" y="482"/>
                  </a:lnTo>
                  <a:lnTo>
                    <a:pt x="2406" y="517"/>
                  </a:lnTo>
                  <a:lnTo>
                    <a:pt x="2422" y="551"/>
                  </a:lnTo>
                  <a:lnTo>
                    <a:pt x="2435" y="586"/>
                  </a:lnTo>
                  <a:lnTo>
                    <a:pt x="2449" y="622"/>
                  </a:lnTo>
                  <a:lnTo>
                    <a:pt x="2461" y="659"/>
                  </a:lnTo>
                  <a:lnTo>
                    <a:pt x="2472" y="696"/>
                  </a:lnTo>
                  <a:lnTo>
                    <a:pt x="2482" y="733"/>
                  </a:lnTo>
                  <a:lnTo>
                    <a:pt x="2491" y="771"/>
                  </a:lnTo>
                  <a:lnTo>
                    <a:pt x="2499" y="810"/>
                  </a:lnTo>
                  <a:lnTo>
                    <a:pt x="2506" y="848"/>
                  </a:lnTo>
                  <a:lnTo>
                    <a:pt x="2512" y="887"/>
                  </a:lnTo>
                  <a:lnTo>
                    <a:pt x="2515" y="926"/>
                  </a:lnTo>
                  <a:lnTo>
                    <a:pt x="2518" y="966"/>
                  </a:lnTo>
                  <a:lnTo>
                    <a:pt x="2521" y="1006"/>
                  </a:lnTo>
                  <a:lnTo>
                    <a:pt x="2521" y="1046"/>
                  </a:lnTo>
                  <a:close/>
                </a:path>
              </a:pathLst>
            </a:custGeom>
            <a:solidFill>
              <a:schemeClr val="accent1">
                <a:lumMod val="50000"/>
              </a:schemeClr>
            </a:solidFill>
            <a:ln>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B64A5BA9-0BDD-98B3-A84A-7D8A1D530C5F}"/>
                </a:ext>
              </a:extLst>
            </p:cNvPr>
            <p:cNvSpPr>
              <a:spLocks/>
            </p:cNvSpPr>
            <p:nvPr/>
          </p:nvSpPr>
          <p:spPr bwMode="auto">
            <a:xfrm>
              <a:off x="1646164" y="1741259"/>
              <a:ext cx="318878" cy="318131"/>
            </a:xfrm>
            <a:custGeom>
              <a:avLst/>
              <a:gdLst>
                <a:gd name="T0" fmla="*/ 1409 w 2558"/>
                <a:gd name="T1" fmla="*/ 6 h 2558"/>
                <a:gd name="T2" fmla="*/ 1599 w 2558"/>
                <a:gd name="T3" fmla="*/ 39 h 2558"/>
                <a:gd name="T4" fmla="*/ 1776 w 2558"/>
                <a:gd name="T5" fmla="*/ 100 h 2558"/>
                <a:gd name="T6" fmla="*/ 1943 w 2558"/>
                <a:gd name="T7" fmla="*/ 185 h 2558"/>
                <a:gd name="T8" fmla="*/ 2093 w 2558"/>
                <a:gd name="T9" fmla="*/ 292 h 2558"/>
                <a:gd name="T10" fmla="*/ 2225 w 2558"/>
                <a:gd name="T11" fmla="*/ 419 h 2558"/>
                <a:gd name="T12" fmla="*/ 2340 w 2558"/>
                <a:gd name="T13" fmla="*/ 563 h 2558"/>
                <a:gd name="T14" fmla="*/ 2432 w 2558"/>
                <a:gd name="T15" fmla="*/ 724 h 2558"/>
                <a:gd name="T16" fmla="*/ 2500 w 2558"/>
                <a:gd name="T17" fmla="*/ 898 h 2558"/>
                <a:gd name="T18" fmla="*/ 2543 w 2558"/>
                <a:gd name="T19" fmla="*/ 1084 h 2558"/>
                <a:gd name="T20" fmla="*/ 2558 w 2558"/>
                <a:gd name="T21" fmla="*/ 1278 h 2558"/>
                <a:gd name="T22" fmla="*/ 2543 w 2558"/>
                <a:gd name="T23" fmla="*/ 1474 h 2558"/>
                <a:gd name="T24" fmla="*/ 2500 w 2558"/>
                <a:gd name="T25" fmla="*/ 1659 h 2558"/>
                <a:gd name="T26" fmla="*/ 2432 w 2558"/>
                <a:gd name="T27" fmla="*/ 1833 h 2558"/>
                <a:gd name="T28" fmla="*/ 2340 w 2558"/>
                <a:gd name="T29" fmla="*/ 1993 h 2558"/>
                <a:gd name="T30" fmla="*/ 2225 w 2558"/>
                <a:gd name="T31" fmla="*/ 2138 h 2558"/>
                <a:gd name="T32" fmla="*/ 2093 w 2558"/>
                <a:gd name="T33" fmla="*/ 2265 h 2558"/>
                <a:gd name="T34" fmla="*/ 1943 w 2558"/>
                <a:gd name="T35" fmla="*/ 2373 h 2558"/>
                <a:gd name="T36" fmla="*/ 1776 w 2558"/>
                <a:gd name="T37" fmla="*/ 2457 h 2558"/>
                <a:gd name="T38" fmla="*/ 1599 w 2558"/>
                <a:gd name="T39" fmla="*/ 2517 h 2558"/>
                <a:gd name="T40" fmla="*/ 1409 w 2558"/>
                <a:gd name="T41" fmla="*/ 2551 h 2558"/>
                <a:gd name="T42" fmla="*/ 1213 w 2558"/>
                <a:gd name="T43" fmla="*/ 2556 h 2558"/>
                <a:gd name="T44" fmla="*/ 1021 w 2558"/>
                <a:gd name="T45" fmla="*/ 2532 h 2558"/>
                <a:gd name="T46" fmla="*/ 839 w 2558"/>
                <a:gd name="T47" fmla="*/ 2480 h 2558"/>
                <a:gd name="T48" fmla="*/ 670 w 2558"/>
                <a:gd name="T49" fmla="*/ 2403 h 2558"/>
                <a:gd name="T50" fmla="*/ 514 w 2558"/>
                <a:gd name="T51" fmla="*/ 2303 h 2558"/>
                <a:gd name="T52" fmla="*/ 375 w 2558"/>
                <a:gd name="T53" fmla="*/ 2183 h 2558"/>
                <a:gd name="T54" fmla="*/ 255 w 2558"/>
                <a:gd name="T55" fmla="*/ 2044 h 2558"/>
                <a:gd name="T56" fmla="*/ 155 w 2558"/>
                <a:gd name="T57" fmla="*/ 1888 h 2558"/>
                <a:gd name="T58" fmla="*/ 77 w 2558"/>
                <a:gd name="T59" fmla="*/ 1718 h 2558"/>
                <a:gd name="T60" fmla="*/ 26 w 2558"/>
                <a:gd name="T61" fmla="*/ 1537 h 2558"/>
                <a:gd name="T62" fmla="*/ 2 w 2558"/>
                <a:gd name="T63" fmla="*/ 1345 h 2558"/>
                <a:gd name="T64" fmla="*/ 6 w 2558"/>
                <a:gd name="T65" fmla="*/ 1148 h 2558"/>
                <a:gd name="T66" fmla="*/ 40 w 2558"/>
                <a:gd name="T67" fmla="*/ 958 h 2558"/>
                <a:gd name="T68" fmla="*/ 101 w 2558"/>
                <a:gd name="T69" fmla="*/ 781 h 2558"/>
                <a:gd name="T70" fmla="*/ 185 w 2558"/>
                <a:gd name="T71" fmla="*/ 615 h 2558"/>
                <a:gd name="T72" fmla="*/ 292 w 2558"/>
                <a:gd name="T73" fmla="*/ 465 h 2558"/>
                <a:gd name="T74" fmla="*/ 418 w 2558"/>
                <a:gd name="T75" fmla="*/ 332 h 2558"/>
                <a:gd name="T76" fmla="*/ 564 w 2558"/>
                <a:gd name="T77" fmla="*/ 218 h 2558"/>
                <a:gd name="T78" fmla="*/ 725 w 2558"/>
                <a:gd name="T79" fmla="*/ 126 h 2558"/>
                <a:gd name="T80" fmla="*/ 899 w 2558"/>
                <a:gd name="T81" fmla="*/ 57 h 2558"/>
                <a:gd name="T82" fmla="*/ 1084 w 2558"/>
                <a:gd name="T83" fmla="*/ 15 h 2558"/>
                <a:gd name="T84" fmla="*/ 1279 w 2558"/>
                <a:gd name="T85" fmla="*/ 0 h 2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58" h="2558">
                  <a:moveTo>
                    <a:pt x="1279" y="0"/>
                  </a:moveTo>
                  <a:lnTo>
                    <a:pt x="1344" y="1"/>
                  </a:lnTo>
                  <a:lnTo>
                    <a:pt x="1409" y="6"/>
                  </a:lnTo>
                  <a:lnTo>
                    <a:pt x="1473" y="15"/>
                  </a:lnTo>
                  <a:lnTo>
                    <a:pt x="1536" y="26"/>
                  </a:lnTo>
                  <a:lnTo>
                    <a:pt x="1599" y="39"/>
                  </a:lnTo>
                  <a:lnTo>
                    <a:pt x="1660" y="57"/>
                  </a:lnTo>
                  <a:lnTo>
                    <a:pt x="1719" y="77"/>
                  </a:lnTo>
                  <a:lnTo>
                    <a:pt x="1776" y="100"/>
                  </a:lnTo>
                  <a:lnTo>
                    <a:pt x="1834" y="126"/>
                  </a:lnTo>
                  <a:lnTo>
                    <a:pt x="1889" y="154"/>
                  </a:lnTo>
                  <a:lnTo>
                    <a:pt x="1943" y="185"/>
                  </a:lnTo>
                  <a:lnTo>
                    <a:pt x="1994" y="218"/>
                  </a:lnTo>
                  <a:lnTo>
                    <a:pt x="2045" y="254"/>
                  </a:lnTo>
                  <a:lnTo>
                    <a:pt x="2093" y="292"/>
                  </a:lnTo>
                  <a:lnTo>
                    <a:pt x="2139" y="332"/>
                  </a:lnTo>
                  <a:lnTo>
                    <a:pt x="2184" y="374"/>
                  </a:lnTo>
                  <a:lnTo>
                    <a:pt x="2225" y="419"/>
                  </a:lnTo>
                  <a:lnTo>
                    <a:pt x="2266" y="465"/>
                  </a:lnTo>
                  <a:lnTo>
                    <a:pt x="2304" y="513"/>
                  </a:lnTo>
                  <a:lnTo>
                    <a:pt x="2340" y="563"/>
                  </a:lnTo>
                  <a:lnTo>
                    <a:pt x="2372" y="615"/>
                  </a:lnTo>
                  <a:lnTo>
                    <a:pt x="2404" y="669"/>
                  </a:lnTo>
                  <a:lnTo>
                    <a:pt x="2432" y="724"/>
                  </a:lnTo>
                  <a:lnTo>
                    <a:pt x="2458" y="781"/>
                  </a:lnTo>
                  <a:lnTo>
                    <a:pt x="2480" y="838"/>
                  </a:lnTo>
                  <a:lnTo>
                    <a:pt x="2500" y="898"/>
                  </a:lnTo>
                  <a:lnTo>
                    <a:pt x="2517" y="958"/>
                  </a:lnTo>
                  <a:lnTo>
                    <a:pt x="2532" y="1020"/>
                  </a:lnTo>
                  <a:lnTo>
                    <a:pt x="2543" y="1084"/>
                  </a:lnTo>
                  <a:lnTo>
                    <a:pt x="2551" y="1148"/>
                  </a:lnTo>
                  <a:lnTo>
                    <a:pt x="2557" y="1212"/>
                  </a:lnTo>
                  <a:lnTo>
                    <a:pt x="2558" y="1278"/>
                  </a:lnTo>
                  <a:lnTo>
                    <a:pt x="2557" y="1345"/>
                  </a:lnTo>
                  <a:lnTo>
                    <a:pt x="2551" y="1410"/>
                  </a:lnTo>
                  <a:lnTo>
                    <a:pt x="2543" y="1474"/>
                  </a:lnTo>
                  <a:lnTo>
                    <a:pt x="2532" y="1537"/>
                  </a:lnTo>
                  <a:lnTo>
                    <a:pt x="2517" y="1598"/>
                  </a:lnTo>
                  <a:lnTo>
                    <a:pt x="2500" y="1659"/>
                  </a:lnTo>
                  <a:lnTo>
                    <a:pt x="2480" y="1718"/>
                  </a:lnTo>
                  <a:lnTo>
                    <a:pt x="2458" y="1777"/>
                  </a:lnTo>
                  <a:lnTo>
                    <a:pt x="2432" y="1833"/>
                  </a:lnTo>
                  <a:lnTo>
                    <a:pt x="2404" y="1888"/>
                  </a:lnTo>
                  <a:lnTo>
                    <a:pt x="2372" y="1942"/>
                  </a:lnTo>
                  <a:lnTo>
                    <a:pt x="2340" y="1993"/>
                  </a:lnTo>
                  <a:lnTo>
                    <a:pt x="2304" y="2044"/>
                  </a:lnTo>
                  <a:lnTo>
                    <a:pt x="2266" y="2092"/>
                  </a:lnTo>
                  <a:lnTo>
                    <a:pt x="2225" y="2138"/>
                  </a:lnTo>
                  <a:lnTo>
                    <a:pt x="2184" y="2183"/>
                  </a:lnTo>
                  <a:lnTo>
                    <a:pt x="2139" y="2226"/>
                  </a:lnTo>
                  <a:lnTo>
                    <a:pt x="2093" y="2265"/>
                  </a:lnTo>
                  <a:lnTo>
                    <a:pt x="2045" y="2303"/>
                  </a:lnTo>
                  <a:lnTo>
                    <a:pt x="1994" y="2339"/>
                  </a:lnTo>
                  <a:lnTo>
                    <a:pt x="1943" y="2373"/>
                  </a:lnTo>
                  <a:lnTo>
                    <a:pt x="1889" y="2403"/>
                  </a:lnTo>
                  <a:lnTo>
                    <a:pt x="1834" y="2431"/>
                  </a:lnTo>
                  <a:lnTo>
                    <a:pt x="1776" y="2457"/>
                  </a:lnTo>
                  <a:lnTo>
                    <a:pt x="1719" y="2480"/>
                  </a:lnTo>
                  <a:lnTo>
                    <a:pt x="1660" y="2500"/>
                  </a:lnTo>
                  <a:lnTo>
                    <a:pt x="1599" y="2517"/>
                  </a:lnTo>
                  <a:lnTo>
                    <a:pt x="1536" y="2532"/>
                  </a:lnTo>
                  <a:lnTo>
                    <a:pt x="1473" y="2543"/>
                  </a:lnTo>
                  <a:lnTo>
                    <a:pt x="1409" y="2551"/>
                  </a:lnTo>
                  <a:lnTo>
                    <a:pt x="1344" y="2556"/>
                  </a:lnTo>
                  <a:lnTo>
                    <a:pt x="1279" y="2558"/>
                  </a:lnTo>
                  <a:lnTo>
                    <a:pt x="1213" y="2556"/>
                  </a:lnTo>
                  <a:lnTo>
                    <a:pt x="1148" y="2551"/>
                  </a:lnTo>
                  <a:lnTo>
                    <a:pt x="1084" y="2543"/>
                  </a:lnTo>
                  <a:lnTo>
                    <a:pt x="1021" y="2532"/>
                  </a:lnTo>
                  <a:lnTo>
                    <a:pt x="959" y="2517"/>
                  </a:lnTo>
                  <a:lnTo>
                    <a:pt x="899" y="2500"/>
                  </a:lnTo>
                  <a:lnTo>
                    <a:pt x="839" y="2480"/>
                  </a:lnTo>
                  <a:lnTo>
                    <a:pt x="781" y="2457"/>
                  </a:lnTo>
                  <a:lnTo>
                    <a:pt x="725" y="2431"/>
                  </a:lnTo>
                  <a:lnTo>
                    <a:pt x="670" y="2403"/>
                  </a:lnTo>
                  <a:lnTo>
                    <a:pt x="616" y="2373"/>
                  </a:lnTo>
                  <a:lnTo>
                    <a:pt x="564" y="2339"/>
                  </a:lnTo>
                  <a:lnTo>
                    <a:pt x="514" y="2303"/>
                  </a:lnTo>
                  <a:lnTo>
                    <a:pt x="466" y="2265"/>
                  </a:lnTo>
                  <a:lnTo>
                    <a:pt x="418" y="2226"/>
                  </a:lnTo>
                  <a:lnTo>
                    <a:pt x="375" y="2183"/>
                  </a:lnTo>
                  <a:lnTo>
                    <a:pt x="332" y="2138"/>
                  </a:lnTo>
                  <a:lnTo>
                    <a:pt x="292" y="2092"/>
                  </a:lnTo>
                  <a:lnTo>
                    <a:pt x="255" y="2044"/>
                  </a:lnTo>
                  <a:lnTo>
                    <a:pt x="219" y="1993"/>
                  </a:lnTo>
                  <a:lnTo>
                    <a:pt x="185" y="1942"/>
                  </a:lnTo>
                  <a:lnTo>
                    <a:pt x="155" y="1888"/>
                  </a:lnTo>
                  <a:lnTo>
                    <a:pt x="127" y="1833"/>
                  </a:lnTo>
                  <a:lnTo>
                    <a:pt x="101" y="1777"/>
                  </a:lnTo>
                  <a:lnTo>
                    <a:pt x="77" y="1718"/>
                  </a:lnTo>
                  <a:lnTo>
                    <a:pt x="57" y="1659"/>
                  </a:lnTo>
                  <a:lnTo>
                    <a:pt x="40" y="1598"/>
                  </a:lnTo>
                  <a:lnTo>
                    <a:pt x="26" y="1537"/>
                  </a:lnTo>
                  <a:lnTo>
                    <a:pt x="14" y="1474"/>
                  </a:lnTo>
                  <a:lnTo>
                    <a:pt x="6" y="1410"/>
                  </a:lnTo>
                  <a:lnTo>
                    <a:pt x="2" y="1345"/>
                  </a:lnTo>
                  <a:lnTo>
                    <a:pt x="0" y="1278"/>
                  </a:lnTo>
                  <a:lnTo>
                    <a:pt x="2" y="1212"/>
                  </a:lnTo>
                  <a:lnTo>
                    <a:pt x="6" y="1148"/>
                  </a:lnTo>
                  <a:lnTo>
                    <a:pt x="14" y="1084"/>
                  </a:lnTo>
                  <a:lnTo>
                    <a:pt x="26" y="1020"/>
                  </a:lnTo>
                  <a:lnTo>
                    <a:pt x="40" y="958"/>
                  </a:lnTo>
                  <a:lnTo>
                    <a:pt x="57" y="898"/>
                  </a:lnTo>
                  <a:lnTo>
                    <a:pt x="77" y="838"/>
                  </a:lnTo>
                  <a:lnTo>
                    <a:pt x="101" y="781"/>
                  </a:lnTo>
                  <a:lnTo>
                    <a:pt x="127" y="724"/>
                  </a:lnTo>
                  <a:lnTo>
                    <a:pt x="155" y="669"/>
                  </a:lnTo>
                  <a:lnTo>
                    <a:pt x="185" y="615"/>
                  </a:lnTo>
                  <a:lnTo>
                    <a:pt x="219" y="563"/>
                  </a:lnTo>
                  <a:lnTo>
                    <a:pt x="255" y="513"/>
                  </a:lnTo>
                  <a:lnTo>
                    <a:pt x="292" y="465"/>
                  </a:lnTo>
                  <a:lnTo>
                    <a:pt x="332" y="419"/>
                  </a:lnTo>
                  <a:lnTo>
                    <a:pt x="375" y="374"/>
                  </a:lnTo>
                  <a:lnTo>
                    <a:pt x="418" y="332"/>
                  </a:lnTo>
                  <a:lnTo>
                    <a:pt x="466" y="292"/>
                  </a:lnTo>
                  <a:lnTo>
                    <a:pt x="514" y="254"/>
                  </a:lnTo>
                  <a:lnTo>
                    <a:pt x="564" y="218"/>
                  </a:lnTo>
                  <a:lnTo>
                    <a:pt x="616" y="185"/>
                  </a:lnTo>
                  <a:lnTo>
                    <a:pt x="670" y="154"/>
                  </a:lnTo>
                  <a:lnTo>
                    <a:pt x="725" y="126"/>
                  </a:lnTo>
                  <a:lnTo>
                    <a:pt x="781" y="100"/>
                  </a:lnTo>
                  <a:lnTo>
                    <a:pt x="839" y="77"/>
                  </a:lnTo>
                  <a:lnTo>
                    <a:pt x="899" y="57"/>
                  </a:lnTo>
                  <a:lnTo>
                    <a:pt x="959" y="39"/>
                  </a:lnTo>
                  <a:lnTo>
                    <a:pt x="1021" y="26"/>
                  </a:lnTo>
                  <a:lnTo>
                    <a:pt x="1084" y="15"/>
                  </a:lnTo>
                  <a:lnTo>
                    <a:pt x="1148" y="6"/>
                  </a:lnTo>
                  <a:lnTo>
                    <a:pt x="1213" y="1"/>
                  </a:lnTo>
                  <a:lnTo>
                    <a:pt x="1279" y="0"/>
                  </a:ln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a:p>
          </p:txBody>
        </p:sp>
      </p:grpSp>
      <p:pic>
        <p:nvPicPr>
          <p:cNvPr id="22" name="Graphic 21" descr="Light bulb">
            <a:extLst>
              <a:ext uri="{FF2B5EF4-FFF2-40B4-BE49-F238E27FC236}">
                <a16:creationId xmlns:a16="http://schemas.microsoft.com/office/drawing/2014/main" id="{3111DFC8-C3DF-F451-A864-4ADBAC4586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31452" y="1497767"/>
            <a:ext cx="220312" cy="220312"/>
          </a:xfrm>
          <a:prstGeom prst="rect">
            <a:avLst/>
          </a:prstGeom>
        </p:spPr>
      </p:pic>
      <p:grpSp>
        <p:nvGrpSpPr>
          <p:cNvPr id="61" name="Group 60">
            <a:extLst>
              <a:ext uri="{FF2B5EF4-FFF2-40B4-BE49-F238E27FC236}">
                <a16:creationId xmlns:a16="http://schemas.microsoft.com/office/drawing/2014/main" id="{0211826D-6F7A-8AA0-B0C1-E4F2BE5A17E2}"/>
              </a:ext>
            </a:extLst>
          </p:cNvPr>
          <p:cNvGrpSpPr/>
          <p:nvPr/>
        </p:nvGrpSpPr>
        <p:grpSpPr>
          <a:xfrm>
            <a:off x="1403260" y="2364358"/>
            <a:ext cx="290482" cy="290482"/>
            <a:chOff x="1619204" y="3218891"/>
            <a:chExt cx="365179" cy="365179"/>
          </a:xfrm>
        </p:grpSpPr>
        <p:sp>
          <p:nvSpPr>
            <p:cNvPr id="7" name="Freeform 9">
              <a:extLst>
                <a:ext uri="{FF2B5EF4-FFF2-40B4-BE49-F238E27FC236}">
                  <a16:creationId xmlns:a16="http://schemas.microsoft.com/office/drawing/2014/main" id="{D554324D-9064-0119-DC04-46DCC5A262E4}"/>
                </a:ext>
              </a:extLst>
            </p:cNvPr>
            <p:cNvSpPr>
              <a:spLocks/>
            </p:cNvSpPr>
            <p:nvPr/>
          </p:nvSpPr>
          <p:spPr bwMode="auto">
            <a:xfrm>
              <a:off x="1619204" y="3218891"/>
              <a:ext cx="365179" cy="365179"/>
            </a:xfrm>
            <a:custGeom>
              <a:avLst/>
              <a:gdLst>
                <a:gd name="T0" fmla="*/ 1616 w 2932"/>
                <a:gd name="T1" fmla="*/ 7 h 2931"/>
                <a:gd name="T2" fmla="*/ 1832 w 2932"/>
                <a:gd name="T3" fmla="*/ 46 h 2931"/>
                <a:gd name="T4" fmla="*/ 2036 w 2932"/>
                <a:gd name="T5" fmla="*/ 115 h 2931"/>
                <a:gd name="T6" fmla="*/ 2226 w 2932"/>
                <a:gd name="T7" fmla="*/ 212 h 2931"/>
                <a:gd name="T8" fmla="*/ 2399 w 2932"/>
                <a:gd name="T9" fmla="*/ 334 h 2931"/>
                <a:gd name="T10" fmla="*/ 2552 w 2932"/>
                <a:gd name="T11" fmla="*/ 480 h 2931"/>
                <a:gd name="T12" fmla="*/ 2682 w 2932"/>
                <a:gd name="T13" fmla="*/ 646 h 2931"/>
                <a:gd name="T14" fmla="*/ 2787 w 2932"/>
                <a:gd name="T15" fmla="*/ 830 h 2931"/>
                <a:gd name="T16" fmla="*/ 2866 w 2932"/>
                <a:gd name="T17" fmla="*/ 1030 h 2931"/>
                <a:gd name="T18" fmla="*/ 2915 w 2932"/>
                <a:gd name="T19" fmla="*/ 1242 h 2931"/>
                <a:gd name="T20" fmla="*/ 2932 w 2932"/>
                <a:gd name="T21" fmla="*/ 1465 h 2931"/>
                <a:gd name="T22" fmla="*/ 2915 w 2932"/>
                <a:gd name="T23" fmla="*/ 1689 h 2931"/>
                <a:gd name="T24" fmla="*/ 2866 w 2932"/>
                <a:gd name="T25" fmla="*/ 1902 h 2931"/>
                <a:gd name="T26" fmla="*/ 2787 w 2932"/>
                <a:gd name="T27" fmla="*/ 2101 h 2931"/>
                <a:gd name="T28" fmla="*/ 2682 w 2932"/>
                <a:gd name="T29" fmla="*/ 2285 h 2931"/>
                <a:gd name="T30" fmla="*/ 2552 w 2932"/>
                <a:gd name="T31" fmla="*/ 2451 h 2931"/>
                <a:gd name="T32" fmla="*/ 2399 w 2932"/>
                <a:gd name="T33" fmla="*/ 2597 h 2931"/>
                <a:gd name="T34" fmla="*/ 2226 w 2932"/>
                <a:gd name="T35" fmla="*/ 2719 h 2931"/>
                <a:gd name="T36" fmla="*/ 2036 w 2932"/>
                <a:gd name="T37" fmla="*/ 2817 h 2931"/>
                <a:gd name="T38" fmla="*/ 1832 w 2932"/>
                <a:gd name="T39" fmla="*/ 2885 h 2931"/>
                <a:gd name="T40" fmla="*/ 1616 w 2932"/>
                <a:gd name="T41" fmla="*/ 2924 h 2931"/>
                <a:gd name="T42" fmla="*/ 1391 w 2932"/>
                <a:gd name="T43" fmla="*/ 2930 h 2931"/>
                <a:gd name="T44" fmla="*/ 1170 w 2932"/>
                <a:gd name="T45" fmla="*/ 2902 h 2931"/>
                <a:gd name="T46" fmla="*/ 962 w 2932"/>
                <a:gd name="T47" fmla="*/ 2843 h 2931"/>
                <a:gd name="T48" fmla="*/ 767 w 2932"/>
                <a:gd name="T49" fmla="*/ 2755 h 2931"/>
                <a:gd name="T50" fmla="*/ 589 w 2932"/>
                <a:gd name="T51" fmla="*/ 2640 h 2931"/>
                <a:gd name="T52" fmla="*/ 429 w 2932"/>
                <a:gd name="T53" fmla="*/ 2502 h 2931"/>
                <a:gd name="T54" fmla="*/ 291 w 2932"/>
                <a:gd name="T55" fmla="*/ 2343 h 2931"/>
                <a:gd name="T56" fmla="*/ 177 w 2932"/>
                <a:gd name="T57" fmla="*/ 2165 h 2931"/>
                <a:gd name="T58" fmla="*/ 89 w 2932"/>
                <a:gd name="T59" fmla="*/ 1969 h 2931"/>
                <a:gd name="T60" fmla="*/ 30 w 2932"/>
                <a:gd name="T61" fmla="*/ 1761 h 2931"/>
                <a:gd name="T62" fmla="*/ 2 w 2932"/>
                <a:gd name="T63" fmla="*/ 1541 h 2931"/>
                <a:gd name="T64" fmla="*/ 7 w 2932"/>
                <a:gd name="T65" fmla="*/ 1316 h 2931"/>
                <a:gd name="T66" fmla="*/ 46 w 2932"/>
                <a:gd name="T67" fmla="*/ 1099 h 2931"/>
                <a:gd name="T68" fmla="*/ 115 w 2932"/>
                <a:gd name="T69" fmla="*/ 895 h 2931"/>
                <a:gd name="T70" fmla="*/ 213 w 2932"/>
                <a:gd name="T71" fmla="*/ 705 h 2931"/>
                <a:gd name="T72" fmla="*/ 335 w 2932"/>
                <a:gd name="T73" fmla="*/ 533 h 2931"/>
                <a:gd name="T74" fmla="*/ 480 w 2932"/>
                <a:gd name="T75" fmla="*/ 380 h 2931"/>
                <a:gd name="T76" fmla="*/ 646 w 2932"/>
                <a:gd name="T77" fmla="*/ 250 h 2931"/>
                <a:gd name="T78" fmla="*/ 830 w 2932"/>
                <a:gd name="T79" fmla="*/ 144 h 2931"/>
                <a:gd name="T80" fmla="*/ 1030 w 2932"/>
                <a:gd name="T81" fmla="*/ 66 h 2931"/>
                <a:gd name="T82" fmla="*/ 1243 w 2932"/>
                <a:gd name="T83" fmla="*/ 16 h 2931"/>
                <a:gd name="T84" fmla="*/ 1466 w 2932"/>
                <a:gd name="T85" fmla="*/ 0 h 2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2" h="2931">
                  <a:moveTo>
                    <a:pt x="1466" y="0"/>
                  </a:moveTo>
                  <a:lnTo>
                    <a:pt x="1541" y="2"/>
                  </a:lnTo>
                  <a:lnTo>
                    <a:pt x="1616" y="7"/>
                  </a:lnTo>
                  <a:lnTo>
                    <a:pt x="1690" y="16"/>
                  </a:lnTo>
                  <a:lnTo>
                    <a:pt x="1761" y="30"/>
                  </a:lnTo>
                  <a:lnTo>
                    <a:pt x="1832" y="46"/>
                  </a:lnTo>
                  <a:lnTo>
                    <a:pt x="1902" y="66"/>
                  </a:lnTo>
                  <a:lnTo>
                    <a:pt x="1970" y="88"/>
                  </a:lnTo>
                  <a:lnTo>
                    <a:pt x="2036" y="115"/>
                  </a:lnTo>
                  <a:lnTo>
                    <a:pt x="2102" y="144"/>
                  </a:lnTo>
                  <a:lnTo>
                    <a:pt x="2164" y="177"/>
                  </a:lnTo>
                  <a:lnTo>
                    <a:pt x="2226" y="212"/>
                  </a:lnTo>
                  <a:lnTo>
                    <a:pt x="2286" y="250"/>
                  </a:lnTo>
                  <a:lnTo>
                    <a:pt x="2343" y="290"/>
                  </a:lnTo>
                  <a:lnTo>
                    <a:pt x="2399" y="334"/>
                  </a:lnTo>
                  <a:lnTo>
                    <a:pt x="2452" y="380"/>
                  </a:lnTo>
                  <a:lnTo>
                    <a:pt x="2502" y="429"/>
                  </a:lnTo>
                  <a:lnTo>
                    <a:pt x="2552" y="480"/>
                  </a:lnTo>
                  <a:lnTo>
                    <a:pt x="2598" y="533"/>
                  </a:lnTo>
                  <a:lnTo>
                    <a:pt x="2640" y="589"/>
                  </a:lnTo>
                  <a:lnTo>
                    <a:pt x="2682" y="646"/>
                  </a:lnTo>
                  <a:lnTo>
                    <a:pt x="2720" y="705"/>
                  </a:lnTo>
                  <a:lnTo>
                    <a:pt x="2755" y="767"/>
                  </a:lnTo>
                  <a:lnTo>
                    <a:pt x="2787" y="830"/>
                  </a:lnTo>
                  <a:lnTo>
                    <a:pt x="2816" y="895"/>
                  </a:lnTo>
                  <a:lnTo>
                    <a:pt x="2843" y="961"/>
                  </a:lnTo>
                  <a:lnTo>
                    <a:pt x="2866" y="1030"/>
                  </a:lnTo>
                  <a:lnTo>
                    <a:pt x="2886" y="1099"/>
                  </a:lnTo>
                  <a:lnTo>
                    <a:pt x="2902" y="1170"/>
                  </a:lnTo>
                  <a:lnTo>
                    <a:pt x="2915" y="1242"/>
                  </a:lnTo>
                  <a:lnTo>
                    <a:pt x="2924" y="1316"/>
                  </a:lnTo>
                  <a:lnTo>
                    <a:pt x="2930" y="1390"/>
                  </a:lnTo>
                  <a:lnTo>
                    <a:pt x="2932" y="1465"/>
                  </a:lnTo>
                  <a:lnTo>
                    <a:pt x="2930" y="1541"/>
                  </a:lnTo>
                  <a:lnTo>
                    <a:pt x="2924" y="1616"/>
                  </a:lnTo>
                  <a:lnTo>
                    <a:pt x="2915" y="1689"/>
                  </a:lnTo>
                  <a:lnTo>
                    <a:pt x="2902" y="1761"/>
                  </a:lnTo>
                  <a:lnTo>
                    <a:pt x="2886" y="1832"/>
                  </a:lnTo>
                  <a:lnTo>
                    <a:pt x="2866" y="1902"/>
                  </a:lnTo>
                  <a:lnTo>
                    <a:pt x="2843" y="1969"/>
                  </a:lnTo>
                  <a:lnTo>
                    <a:pt x="2816" y="2037"/>
                  </a:lnTo>
                  <a:lnTo>
                    <a:pt x="2787" y="2101"/>
                  </a:lnTo>
                  <a:lnTo>
                    <a:pt x="2755" y="2165"/>
                  </a:lnTo>
                  <a:lnTo>
                    <a:pt x="2720" y="2225"/>
                  </a:lnTo>
                  <a:lnTo>
                    <a:pt x="2682" y="2285"/>
                  </a:lnTo>
                  <a:lnTo>
                    <a:pt x="2640" y="2343"/>
                  </a:lnTo>
                  <a:lnTo>
                    <a:pt x="2598" y="2398"/>
                  </a:lnTo>
                  <a:lnTo>
                    <a:pt x="2552" y="2451"/>
                  </a:lnTo>
                  <a:lnTo>
                    <a:pt x="2502" y="2502"/>
                  </a:lnTo>
                  <a:lnTo>
                    <a:pt x="2452" y="2551"/>
                  </a:lnTo>
                  <a:lnTo>
                    <a:pt x="2399" y="2597"/>
                  </a:lnTo>
                  <a:lnTo>
                    <a:pt x="2343" y="2640"/>
                  </a:lnTo>
                  <a:lnTo>
                    <a:pt x="2286" y="2681"/>
                  </a:lnTo>
                  <a:lnTo>
                    <a:pt x="2226" y="2719"/>
                  </a:lnTo>
                  <a:lnTo>
                    <a:pt x="2164" y="2755"/>
                  </a:lnTo>
                  <a:lnTo>
                    <a:pt x="2102" y="2786"/>
                  </a:lnTo>
                  <a:lnTo>
                    <a:pt x="2036" y="2817"/>
                  </a:lnTo>
                  <a:lnTo>
                    <a:pt x="1970" y="2843"/>
                  </a:lnTo>
                  <a:lnTo>
                    <a:pt x="1902" y="2866"/>
                  </a:lnTo>
                  <a:lnTo>
                    <a:pt x="1832" y="2885"/>
                  </a:lnTo>
                  <a:lnTo>
                    <a:pt x="1761" y="2902"/>
                  </a:lnTo>
                  <a:lnTo>
                    <a:pt x="1690" y="2914"/>
                  </a:lnTo>
                  <a:lnTo>
                    <a:pt x="1616" y="2924"/>
                  </a:lnTo>
                  <a:lnTo>
                    <a:pt x="1541" y="2930"/>
                  </a:lnTo>
                  <a:lnTo>
                    <a:pt x="1466" y="2931"/>
                  </a:lnTo>
                  <a:lnTo>
                    <a:pt x="1391" y="2930"/>
                  </a:lnTo>
                  <a:lnTo>
                    <a:pt x="1316" y="2924"/>
                  </a:lnTo>
                  <a:lnTo>
                    <a:pt x="1243" y="2914"/>
                  </a:lnTo>
                  <a:lnTo>
                    <a:pt x="1170" y="2902"/>
                  </a:lnTo>
                  <a:lnTo>
                    <a:pt x="1099" y="2885"/>
                  </a:lnTo>
                  <a:lnTo>
                    <a:pt x="1030" y="2866"/>
                  </a:lnTo>
                  <a:lnTo>
                    <a:pt x="962" y="2843"/>
                  </a:lnTo>
                  <a:lnTo>
                    <a:pt x="895" y="2817"/>
                  </a:lnTo>
                  <a:lnTo>
                    <a:pt x="830" y="2786"/>
                  </a:lnTo>
                  <a:lnTo>
                    <a:pt x="767" y="2755"/>
                  </a:lnTo>
                  <a:lnTo>
                    <a:pt x="705" y="2719"/>
                  </a:lnTo>
                  <a:lnTo>
                    <a:pt x="646" y="2681"/>
                  </a:lnTo>
                  <a:lnTo>
                    <a:pt x="589" y="2640"/>
                  </a:lnTo>
                  <a:lnTo>
                    <a:pt x="534" y="2597"/>
                  </a:lnTo>
                  <a:lnTo>
                    <a:pt x="480" y="2551"/>
                  </a:lnTo>
                  <a:lnTo>
                    <a:pt x="429" y="2502"/>
                  </a:lnTo>
                  <a:lnTo>
                    <a:pt x="381" y="2451"/>
                  </a:lnTo>
                  <a:lnTo>
                    <a:pt x="335" y="2398"/>
                  </a:lnTo>
                  <a:lnTo>
                    <a:pt x="291" y="2343"/>
                  </a:lnTo>
                  <a:lnTo>
                    <a:pt x="251" y="2285"/>
                  </a:lnTo>
                  <a:lnTo>
                    <a:pt x="213" y="2225"/>
                  </a:lnTo>
                  <a:lnTo>
                    <a:pt x="177" y="2165"/>
                  </a:lnTo>
                  <a:lnTo>
                    <a:pt x="144" y="2101"/>
                  </a:lnTo>
                  <a:lnTo>
                    <a:pt x="115" y="2037"/>
                  </a:lnTo>
                  <a:lnTo>
                    <a:pt x="89" y="1969"/>
                  </a:lnTo>
                  <a:lnTo>
                    <a:pt x="66" y="1902"/>
                  </a:lnTo>
                  <a:lnTo>
                    <a:pt x="46" y="1832"/>
                  </a:lnTo>
                  <a:lnTo>
                    <a:pt x="30" y="1761"/>
                  </a:lnTo>
                  <a:lnTo>
                    <a:pt x="17" y="1689"/>
                  </a:lnTo>
                  <a:lnTo>
                    <a:pt x="7" y="1616"/>
                  </a:lnTo>
                  <a:lnTo>
                    <a:pt x="2" y="1541"/>
                  </a:lnTo>
                  <a:lnTo>
                    <a:pt x="0" y="1465"/>
                  </a:lnTo>
                  <a:lnTo>
                    <a:pt x="2" y="1390"/>
                  </a:lnTo>
                  <a:lnTo>
                    <a:pt x="7" y="1316"/>
                  </a:lnTo>
                  <a:lnTo>
                    <a:pt x="17" y="1242"/>
                  </a:lnTo>
                  <a:lnTo>
                    <a:pt x="30" y="1170"/>
                  </a:lnTo>
                  <a:lnTo>
                    <a:pt x="46" y="1099"/>
                  </a:lnTo>
                  <a:lnTo>
                    <a:pt x="66" y="1030"/>
                  </a:lnTo>
                  <a:lnTo>
                    <a:pt x="89" y="961"/>
                  </a:lnTo>
                  <a:lnTo>
                    <a:pt x="115" y="895"/>
                  </a:lnTo>
                  <a:lnTo>
                    <a:pt x="144" y="830"/>
                  </a:lnTo>
                  <a:lnTo>
                    <a:pt x="177" y="767"/>
                  </a:lnTo>
                  <a:lnTo>
                    <a:pt x="213" y="705"/>
                  </a:lnTo>
                  <a:lnTo>
                    <a:pt x="251" y="646"/>
                  </a:lnTo>
                  <a:lnTo>
                    <a:pt x="291" y="589"/>
                  </a:lnTo>
                  <a:lnTo>
                    <a:pt x="335" y="533"/>
                  </a:lnTo>
                  <a:lnTo>
                    <a:pt x="381" y="480"/>
                  </a:lnTo>
                  <a:lnTo>
                    <a:pt x="429" y="429"/>
                  </a:lnTo>
                  <a:lnTo>
                    <a:pt x="480" y="380"/>
                  </a:lnTo>
                  <a:lnTo>
                    <a:pt x="534" y="334"/>
                  </a:lnTo>
                  <a:lnTo>
                    <a:pt x="589" y="290"/>
                  </a:lnTo>
                  <a:lnTo>
                    <a:pt x="646" y="250"/>
                  </a:lnTo>
                  <a:lnTo>
                    <a:pt x="705" y="212"/>
                  </a:lnTo>
                  <a:lnTo>
                    <a:pt x="767" y="177"/>
                  </a:lnTo>
                  <a:lnTo>
                    <a:pt x="830" y="144"/>
                  </a:lnTo>
                  <a:lnTo>
                    <a:pt x="895" y="115"/>
                  </a:lnTo>
                  <a:lnTo>
                    <a:pt x="962" y="88"/>
                  </a:lnTo>
                  <a:lnTo>
                    <a:pt x="1030" y="66"/>
                  </a:lnTo>
                  <a:lnTo>
                    <a:pt x="1099" y="46"/>
                  </a:lnTo>
                  <a:lnTo>
                    <a:pt x="1170" y="30"/>
                  </a:lnTo>
                  <a:lnTo>
                    <a:pt x="1243" y="16"/>
                  </a:lnTo>
                  <a:lnTo>
                    <a:pt x="1316" y="7"/>
                  </a:lnTo>
                  <a:lnTo>
                    <a:pt x="1391" y="2"/>
                  </a:lnTo>
                  <a:lnTo>
                    <a:pt x="1466" y="0"/>
                  </a:lnTo>
                  <a:close/>
                </a:path>
              </a:pathLst>
            </a:cu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sz="1600"/>
            </a:p>
          </p:txBody>
        </p:sp>
        <p:sp>
          <p:nvSpPr>
            <p:cNvPr id="9" name="Freeform 14">
              <a:extLst>
                <a:ext uri="{FF2B5EF4-FFF2-40B4-BE49-F238E27FC236}">
                  <a16:creationId xmlns:a16="http://schemas.microsoft.com/office/drawing/2014/main" id="{E2A15313-397C-A9CA-39B5-D1BACD89A80E}"/>
                </a:ext>
              </a:extLst>
            </p:cNvPr>
            <p:cNvSpPr>
              <a:spLocks/>
            </p:cNvSpPr>
            <p:nvPr/>
          </p:nvSpPr>
          <p:spPr bwMode="auto">
            <a:xfrm>
              <a:off x="1645045" y="3271166"/>
              <a:ext cx="318131" cy="294234"/>
            </a:xfrm>
            <a:custGeom>
              <a:avLst/>
              <a:gdLst>
                <a:gd name="T0" fmla="*/ 2508 w 2552"/>
                <a:gd name="T1" fmla="*/ 1224 h 2365"/>
                <a:gd name="T2" fmla="*/ 2457 w 2552"/>
                <a:gd name="T3" fmla="*/ 1448 h 2365"/>
                <a:gd name="T4" fmla="*/ 2367 w 2552"/>
                <a:gd name="T5" fmla="*/ 1656 h 2365"/>
                <a:gd name="T6" fmla="*/ 2243 w 2552"/>
                <a:gd name="T7" fmla="*/ 1842 h 2365"/>
                <a:gd name="T8" fmla="*/ 2091 w 2552"/>
                <a:gd name="T9" fmla="*/ 2004 h 2365"/>
                <a:gd name="T10" fmla="*/ 1911 w 2552"/>
                <a:gd name="T11" fmla="*/ 2136 h 2365"/>
                <a:gd name="T12" fmla="*/ 1710 w 2552"/>
                <a:gd name="T13" fmla="*/ 2237 h 2365"/>
                <a:gd name="T14" fmla="*/ 1490 w 2552"/>
                <a:gd name="T15" fmla="*/ 2301 h 2365"/>
                <a:gd name="T16" fmla="*/ 1362 w 2552"/>
                <a:gd name="T17" fmla="*/ 2320 h 2365"/>
                <a:gd name="T18" fmla="*/ 1266 w 2552"/>
                <a:gd name="T19" fmla="*/ 2326 h 2365"/>
                <a:gd name="T20" fmla="*/ 1169 w 2552"/>
                <a:gd name="T21" fmla="*/ 2324 h 2365"/>
                <a:gd name="T22" fmla="*/ 1074 w 2552"/>
                <a:gd name="T23" fmla="*/ 2315 h 2365"/>
                <a:gd name="T24" fmla="*/ 987 w 2552"/>
                <a:gd name="T25" fmla="*/ 2300 h 2365"/>
                <a:gd name="T26" fmla="*/ 806 w 2552"/>
                <a:gd name="T27" fmla="*/ 2250 h 2365"/>
                <a:gd name="T28" fmla="*/ 635 w 2552"/>
                <a:gd name="T29" fmla="*/ 2173 h 2365"/>
                <a:gd name="T30" fmla="*/ 479 w 2552"/>
                <a:gd name="T31" fmla="*/ 2073 h 2365"/>
                <a:gd name="T32" fmla="*/ 340 w 2552"/>
                <a:gd name="T33" fmla="*/ 1953 h 2365"/>
                <a:gd name="T34" fmla="*/ 219 w 2552"/>
                <a:gd name="T35" fmla="*/ 1814 h 2365"/>
                <a:gd name="T36" fmla="*/ 119 w 2552"/>
                <a:gd name="T37" fmla="*/ 1659 h 2365"/>
                <a:gd name="T38" fmla="*/ 41 w 2552"/>
                <a:gd name="T39" fmla="*/ 1490 h 2365"/>
                <a:gd name="T40" fmla="*/ 0 w 2552"/>
                <a:gd name="T41" fmla="*/ 1354 h 2365"/>
                <a:gd name="T42" fmla="*/ 46 w 2552"/>
                <a:gd name="T43" fmla="*/ 1513 h 2365"/>
                <a:gd name="T44" fmla="*/ 137 w 2552"/>
                <a:gd name="T45" fmla="*/ 1710 h 2365"/>
                <a:gd name="T46" fmla="*/ 258 w 2552"/>
                <a:gd name="T47" fmla="*/ 1887 h 2365"/>
                <a:gd name="T48" fmla="*/ 406 w 2552"/>
                <a:gd name="T49" fmla="*/ 2042 h 2365"/>
                <a:gd name="T50" fmla="*/ 578 w 2552"/>
                <a:gd name="T51" fmla="*/ 2170 h 2365"/>
                <a:gd name="T52" fmla="*/ 771 w 2552"/>
                <a:gd name="T53" fmla="*/ 2269 h 2365"/>
                <a:gd name="T54" fmla="*/ 980 w 2552"/>
                <a:gd name="T55" fmla="*/ 2335 h 2365"/>
                <a:gd name="T56" fmla="*/ 1203 w 2552"/>
                <a:gd name="T57" fmla="*/ 2364 h 2365"/>
                <a:gd name="T58" fmla="*/ 1403 w 2552"/>
                <a:gd name="T59" fmla="*/ 2357 h 2365"/>
                <a:gd name="T60" fmla="*/ 1586 w 2552"/>
                <a:gd name="T61" fmla="*/ 2324 h 2365"/>
                <a:gd name="T62" fmla="*/ 1775 w 2552"/>
                <a:gd name="T63" fmla="*/ 2259 h 2365"/>
                <a:gd name="T64" fmla="*/ 1956 w 2552"/>
                <a:gd name="T65" fmla="*/ 2162 h 2365"/>
                <a:gd name="T66" fmla="*/ 2119 w 2552"/>
                <a:gd name="T67" fmla="*/ 2039 h 2365"/>
                <a:gd name="T68" fmla="*/ 2259 w 2552"/>
                <a:gd name="T69" fmla="*/ 1893 h 2365"/>
                <a:gd name="T70" fmla="*/ 2376 w 2552"/>
                <a:gd name="T71" fmla="*/ 1725 h 2365"/>
                <a:gd name="T72" fmla="*/ 2465 w 2552"/>
                <a:gd name="T73" fmla="*/ 1540 h 2365"/>
                <a:gd name="T74" fmla="*/ 2524 w 2552"/>
                <a:gd name="T75" fmla="*/ 1340 h 2365"/>
                <a:gd name="T76" fmla="*/ 2551 w 2552"/>
                <a:gd name="T77" fmla="*/ 1128 h 2365"/>
                <a:gd name="T78" fmla="*/ 2545 w 2552"/>
                <a:gd name="T79" fmla="*/ 950 h 2365"/>
                <a:gd name="T80" fmla="*/ 2521 w 2552"/>
                <a:gd name="T81" fmla="*/ 789 h 2365"/>
                <a:gd name="T82" fmla="*/ 2476 w 2552"/>
                <a:gd name="T83" fmla="*/ 636 h 2365"/>
                <a:gd name="T84" fmla="*/ 2413 w 2552"/>
                <a:gd name="T85" fmla="*/ 491 h 2365"/>
                <a:gd name="T86" fmla="*/ 2334 w 2552"/>
                <a:gd name="T87" fmla="*/ 356 h 2365"/>
                <a:gd name="T88" fmla="*/ 2240 w 2552"/>
                <a:gd name="T89" fmla="*/ 233 h 2365"/>
                <a:gd name="T90" fmla="*/ 2131 w 2552"/>
                <a:gd name="T91" fmla="*/ 120 h 2365"/>
                <a:gd name="T92" fmla="*/ 2010 w 2552"/>
                <a:gd name="T93" fmla="*/ 23 h 2365"/>
                <a:gd name="T94" fmla="*/ 2067 w 2552"/>
                <a:gd name="T95" fmla="*/ 70 h 2365"/>
                <a:gd name="T96" fmla="*/ 2176 w 2552"/>
                <a:gd name="T97" fmla="*/ 173 h 2365"/>
                <a:gd name="T98" fmla="*/ 2273 w 2552"/>
                <a:gd name="T99" fmla="*/ 289 h 2365"/>
                <a:gd name="T100" fmla="*/ 2355 w 2552"/>
                <a:gd name="T101" fmla="*/ 416 h 2365"/>
                <a:gd name="T102" fmla="*/ 2422 w 2552"/>
                <a:gd name="T103" fmla="*/ 551 h 2365"/>
                <a:gd name="T104" fmla="*/ 2472 w 2552"/>
                <a:gd name="T105" fmla="*/ 696 h 2365"/>
                <a:gd name="T106" fmla="*/ 2506 w 2552"/>
                <a:gd name="T107" fmla="*/ 848 h 2365"/>
                <a:gd name="T108" fmla="*/ 2521 w 2552"/>
                <a:gd name="T109" fmla="*/ 1006 h 2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52" h="2365">
                  <a:moveTo>
                    <a:pt x="2521" y="1046"/>
                  </a:moveTo>
                  <a:lnTo>
                    <a:pt x="2520" y="1106"/>
                  </a:lnTo>
                  <a:lnTo>
                    <a:pt x="2515" y="1165"/>
                  </a:lnTo>
                  <a:lnTo>
                    <a:pt x="2508" y="1224"/>
                  </a:lnTo>
                  <a:lnTo>
                    <a:pt x="2499" y="1281"/>
                  </a:lnTo>
                  <a:lnTo>
                    <a:pt x="2488" y="1338"/>
                  </a:lnTo>
                  <a:lnTo>
                    <a:pt x="2474" y="1393"/>
                  </a:lnTo>
                  <a:lnTo>
                    <a:pt x="2457" y="1448"/>
                  </a:lnTo>
                  <a:lnTo>
                    <a:pt x="2438" y="1502"/>
                  </a:lnTo>
                  <a:lnTo>
                    <a:pt x="2416" y="1554"/>
                  </a:lnTo>
                  <a:lnTo>
                    <a:pt x="2393" y="1605"/>
                  </a:lnTo>
                  <a:lnTo>
                    <a:pt x="2367" y="1656"/>
                  </a:lnTo>
                  <a:lnTo>
                    <a:pt x="2339" y="1704"/>
                  </a:lnTo>
                  <a:lnTo>
                    <a:pt x="2310" y="1751"/>
                  </a:lnTo>
                  <a:lnTo>
                    <a:pt x="2277" y="1797"/>
                  </a:lnTo>
                  <a:lnTo>
                    <a:pt x="2243" y="1842"/>
                  </a:lnTo>
                  <a:lnTo>
                    <a:pt x="2208" y="1885"/>
                  </a:lnTo>
                  <a:lnTo>
                    <a:pt x="2170" y="1926"/>
                  </a:lnTo>
                  <a:lnTo>
                    <a:pt x="2131" y="1966"/>
                  </a:lnTo>
                  <a:lnTo>
                    <a:pt x="2091" y="2004"/>
                  </a:lnTo>
                  <a:lnTo>
                    <a:pt x="2048" y="2040"/>
                  </a:lnTo>
                  <a:lnTo>
                    <a:pt x="2004" y="2074"/>
                  </a:lnTo>
                  <a:lnTo>
                    <a:pt x="1958" y="2106"/>
                  </a:lnTo>
                  <a:lnTo>
                    <a:pt x="1911" y="2136"/>
                  </a:lnTo>
                  <a:lnTo>
                    <a:pt x="1863" y="2165"/>
                  </a:lnTo>
                  <a:lnTo>
                    <a:pt x="1814" y="2191"/>
                  </a:lnTo>
                  <a:lnTo>
                    <a:pt x="1762" y="2215"/>
                  </a:lnTo>
                  <a:lnTo>
                    <a:pt x="1710" y="2237"/>
                  </a:lnTo>
                  <a:lnTo>
                    <a:pt x="1656" y="2256"/>
                  </a:lnTo>
                  <a:lnTo>
                    <a:pt x="1603" y="2274"/>
                  </a:lnTo>
                  <a:lnTo>
                    <a:pt x="1548" y="2289"/>
                  </a:lnTo>
                  <a:lnTo>
                    <a:pt x="1490" y="2301"/>
                  </a:lnTo>
                  <a:lnTo>
                    <a:pt x="1433" y="2311"/>
                  </a:lnTo>
                  <a:lnTo>
                    <a:pt x="1409" y="2315"/>
                  </a:lnTo>
                  <a:lnTo>
                    <a:pt x="1386" y="2318"/>
                  </a:lnTo>
                  <a:lnTo>
                    <a:pt x="1362" y="2320"/>
                  </a:lnTo>
                  <a:lnTo>
                    <a:pt x="1339" y="2323"/>
                  </a:lnTo>
                  <a:lnTo>
                    <a:pt x="1314" y="2324"/>
                  </a:lnTo>
                  <a:lnTo>
                    <a:pt x="1291" y="2325"/>
                  </a:lnTo>
                  <a:lnTo>
                    <a:pt x="1266" y="2326"/>
                  </a:lnTo>
                  <a:lnTo>
                    <a:pt x="1242" y="2326"/>
                  </a:lnTo>
                  <a:lnTo>
                    <a:pt x="1218" y="2326"/>
                  </a:lnTo>
                  <a:lnTo>
                    <a:pt x="1193" y="2325"/>
                  </a:lnTo>
                  <a:lnTo>
                    <a:pt x="1169" y="2324"/>
                  </a:lnTo>
                  <a:lnTo>
                    <a:pt x="1146" y="2323"/>
                  </a:lnTo>
                  <a:lnTo>
                    <a:pt x="1121" y="2320"/>
                  </a:lnTo>
                  <a:lnTo>
                    <a:pt x="1097" y="2318"/>
                  </a:lnTo>
                  <a:lnTo>
                    <a:pt x="1074" y="2315"/>
                  </a:lnTo>
                  <a:lnTo>
                    <a:pt x="1050" y="2311"/>
                  </a:lnTo>
                  <a:lnTo>
                    <a:pt x="1042" y="2310"/>
                  </a:lnTo>
                  <a:lnTo>
                    <a:pt x="1035" y="2309"/>
                  </a:lnTo>
                  <a:lnTo>
                    <a:pt x="987" y="2300"/>
                  </a:lnTo>
                  <a:lnTo>
                    <a:pt x="941" y="2290"/>
                  </a:lnTo>
                  <a:lnTo>
                    <a:pt x="895" y="2278"/>
                  </a:lnTo>
                  <a:lnTo>
                    <a:pt x="849" y="2264"/>
                  </a:lnTo>
                  <a:lnTo>
                    <a:pt x="806" y="2250"/>
                  </a:lnTo>
                  <a:lnTo>
                    <a:pt x="762" y="2233"/>
                  </a:lnTo>
                  <a:lnTo>
                    <a:pt x="719" y="2214"/>
                  </a:lnTo>
                  <a:lnTo>
                    <a:pt x="677" y="2195"/>
                  </a:lnTo>
                  <a:lnTo>
                    <a:pt x="635" y="2173"/>
                  </a:lnTo>
                  <a:lnTo>
                    <a:pt x="595" y="2150"/>
                  </a:lnTo>
                  <a:lnTo>
                    <a:pt x="555" y="2126"/>
                  </a:lnTo>
                  <a:lnTo>
                    <a:pt x="517" y="2100"/>
                  </a:lnTo>
                  <a:lnTo>
                    <a:pt x="479" y="2073"/>
                  </a:lnTo>
                  <a:lnTo>
                    <a:pt x="443" y="2045"/>
                  </a:lnTo>
                  <a:lnTo>
                    <a:pt x="407" y="2016"/>
                  </a:lnTo>
                  <a:lnTo>
                    <a:pt x="374" y="1985"/>
                  </a:lnTo>
                  <a:lnTo>
                    <a:pt x="340" y="1953"/>
                  </a:lnTo>
                  <a:lnTo>
                    <a:pt x="307" y="1921"/>
                  </a:lnTo>
                  <a:lnTo>
                    <a:pt x="277" y="1886"/>
                  </a:lnTo>
                  <a:lnTo>
                    <a:pt x="248" y="1851"/>
                  </a:lnTo>
                  <a:lnTo>
                    <a:pt x="219" y="1814"/>
                  </a:lnTo>
                  <a:lnTo>
                    <a:pt x="192" y="1777"/>
                  </a:lnTo>
                  <a:lnTo>
                    <a:pt x="166" y="1739"/>
                  </a:lnTo>
                  <a:lnTo>
                    <a:pt x="142" y="1700"/>
                  </a:lnTo>
                  <a:lnTo>
                    <a:pt x="119" y="1659"/>
                  </a:lnTo>
                  <a:lnTo>
                    <a:pt x="97" y="1618"/>
                  </a:lnTo>
                  <a:lnTo>
                    <a:pt x="77" y="1576"/>
                  </a:lnTo>
                  <a:lnTo>
                    <a:pt x="59" y="1533"/>
                  </a:lnTo>
                  <a:lnTo>
                    <a:pt x="41" y="1490"/>
                  </a:lnTo>
                  <a:lnTo>
                    <a:pt x="27" y="1445"/>
                  </a:lnTo>
                  <a:lnTo>
                    <a:pt x="12" y="1400"/>
                  </a:lnTo>
                  <a:lnTo>
                    <a:pt x="0" y="1354"/>
                  </a:lnTo>
                  <a:lnTo>
                    <a:pt x="0" y="1354"/>
                  </a:lnTo>
                  <a:lnTo>
                    <a:pt x="0" y="1354"/>
                  </a:lnTo>
                  <a:lnTo>
                    <a:pt x="13" y="1408"/>
                  </a:lnTo>
                  <a:lnTo>
                    <a:pt x="29" y="1461"/>
                  </a:lnTo>
                  <a:lnTo>
                    <a:pt x="46" y="1513"/>
                  </a:lnTo>
                  <a:lnTo>
                    <a:pt x="66" y="1564"/>
                  </a:lnTo>
                  <a:lnTo>
                    <a:pt x="87" y="1613"/>
                  </a:lnTo>
                  <a:lnTo>
                    <a:pt x="111" y="1663"/>
                  </a:lnTo>
                  <a:lnTo>
                    <a:pt x="137" y="1710"/>
                  </a:lnTo>
                  <a:lnTo>
                    <a:pt x="165" y="1756"/>
                  </a:lnTo>
                  <a:lnTo>
                    <a:pt x="194" y="1802"/>
                  </a:lnTo>
                  <a:lnTo>
                    <a:pt x="225" y="1845"/>
                  </a:lnTo>
                  <a:lnTo>
                    <a:pt x="258" y="1887"/>
                  </a:lnTo>
                  <a:lnTo>
                    <a:pt x="293" y="1929"/>
                  </a:lnTo>
                  <a:lnTo>
                    <a:pt x="329" y="1968"/>
                  </a:lnTo>
                  <a:lnTo>
                    <a:pt x="367" y="2006"/>
                  </a:lnTo>
                  <a:lnTo>
                    <a:pt x="406" y="2042"/>
                  </a:lnTo>
                  <a:lnTo>
                    <a:pt x="448" y="2077"/>
                  </a:lnTo>
                  <a:lnTo>
                    <a:pt x="489" y="2109"/>
                  </a:lnTo>
                  <a:lnTo>
                    <a:pt x="533" y="2141"/>
                  </a:lnTo>
                  <a:lnTo>
                    <a:pt x="578" y="2170"/>
                  </a:lnTo>
                  <a:lnTo>
                    <a:pt x="625" y="2198"/>
                  </a:lnTo>
                  <a:lnTo>
                    <a:pt x="672" y="2224"/>
                  </a:lnTo>
                  <a:lnTo>
                    <a:pt x="720" y="2247"/>
                  </a:lnTo>
                  <a:lnTo>
                    <a:pt x="771" y="2269"/>
                  </a:lnTo>
                  <a:lnTo>
                    <a:pt x="821" y="2289"/>
                  </a:lnTo>
                  <a:lnTo>
                    <a:pt x="873" y="2306"/>
                  </a:lnTo>
                  <a:lnTo>
                    <a:pt x="927" y="2321"/>
                  </a:lnTo>
                  <a:lnTo>
                    <a:pt x="980" y="2335"/>
                  </a:lnTo>
                  <a:lnTo>
                    <a:pt x="1035" y="2345"/>
                  </a:lnTo>
                  <a:lnTo>
                    <a:pt x="1090" y="2354"/>
                  </a:lnTo>
                  <a:lnTo>
                    <a:pt x="1147" y="2360"/>
                  </a:lnTo>
                  <a:lnTo>
                    <a:pt x="1203" y="2364"/>
                  </a:lnTo>
                  <a:lnTo>
                    <a:pt x="1260" y="2365"/>
                  </a:lnTo>
                  <a:lnTo>
                    <a:pt x="1308" y="2364"/>
                  </a:lnTo>
                  <a:lnTo>
                    <a:pt x="1356" y="2362"/>
                  </a:lnTo>
                  <a:lnTo>
                    <a:pt x="1403" y="2357"/>
                  </a:lnTo>
                  <a:lnTo>
                    <a:pt x="1450" y="2352"/>
                  </a:lnTo>
                  <a:lnTo>
                    <a:pt x="1496" y="2344"/>
                  </a:lnTo>
                  <a:lnTo>
                    <a:pt x="1541" y="2335"/>
                  </a:lnTo>
                  <a:lnTo>
                    <a:pt x="1586" y="2324"/>
                  </a:lnTo>
                  <a:lnTo>
                    <a:pt x="1629" y="2311"/>
                  </a:lnTo>
                  <a:lnTo>
                    <a:pt x="1680" y="2296"/>
                  </a:lnTo>
                  <a:lnTo>
                    <a:pt x="1728" y="2278"/>
                  </a:lnTo>
                  <a:lnTo>
                    <a:pt x="1775" y="2259"/>
                  </a:lnTo>
                  <a:lnTo>
                    <a:pt x="1823" y="2236"/>
                  </a:lnTo>
                  <a:lnTo>
                    <a:pt x="1869" y="2214"/>
                  </a:lnTo>
                  <a:lnTo>
                    <a:pt x="1913" y="2188"/>
                  </a:lnTo>
                  <a:lnTo>
                    <a:pt x="1956" y="2162"/>
                  </a:lnTo>
                  <a:lnTo>
                    <a:pt x="1999" y="2133"/>
                  </a:lnTo>
                  <a:lnTo>
                    <a:pt x="2040" y="2104"/>
                  </a:lnTo>
                  <a:lnTo>
                    <a:pt x="2080" y="2072"/>
                  </a:lnTo>
                  <a:lnTo>
                    <a:pt x="2119" y="2039"/>
                  </a:lnTo>
                  <a:lnTo>
                    <a:pt x="2156" y="2004"/>
                  </a:lnTo>
                  <a:lnTo>
                    <a:pt x="2192" y="1968"/>
                  </a:lnTo>
                  <a:lnTo>
                    <a:pt x="2227" y="1931"/>
                  </a:lnTo>
                  <a:lnTo>
                    <a:pt x="2259" y="1893"/>
                  </a:lnTo>
                  <a:lnTo>
                    <a:pt x="2291" y="1852"/>
                  </a:lnTo>
                  <a:lnTo>
                    <a:pt x="2321" y="1811"/>
                  </a:lnTo>
                  <a:lnTo>
                    <a:pt x="2349" y="1769"/>
                  </a:lnTo>
                  <a:lnTo>
                    <a:pt x="2376" y="1725"/>
                  </a:lnTo>
                  <a:lnTo>
                    <a:pt x="2401" y="1681"/>
                  </a:lnTo>
                  <a:lnTo>
                    <a:pt x="2424" y="1634"/>
                  </a:lnTo>
                  <a:lnTo>
                    <a:pt x="2445" y="1588"/>
                  </a:lnTo>
                  <a:lnTo>
                    <a:pt x="2465" y="1540"/>
                  </a:lnTo>
                  <a:lnTo>
                    <a:pt x="2482" y="1492"/>
                  </a:lnTo>
                  <a:lnTo>
                    <a:pt x="2498" y="1443"/>
                  </a:lnTo>
                  <a:lnTo>
                    <a:pt x="2513" y="1392"/>
                  </a:lnTo>
                  <a:lnTo>
                    <a:pt x="2524" y="1340"/>
                  </a:lnTo>
                  <a:lnTo>
                    <a:pt x="2534" y="1289"/>
                  </a:lnTo>
                  <a:lnTo>
                    <a:pt x="2542" y="1236"/>
                  </a:lnTo>
                  <a:lnTo>
                    <a:pt x="2548" y="1182"/>
                  </a:lnTo>
                  <a:lnTo>
                    <a:pt x="2551" y="1128"/>
                  </a:lnTo>
                  <a:lnTo>
                    <a:pt x="2552" y="1074"/>
                  </a:lnTo>
                  <a:lnTo>
                    <a:pt x="2551" y="1032"/>
                  </a:lnTo>
                  <a:lnTo>
                    <a:pt x="2549" y="990"/>
                  </a:lnTo>
                  <a:lnTo>
                    <a:pt x="2545" y="950"/>
                  </a:lnTo>
                  <a:lnTo>
                    <a:pt x="2541" y="908"/>
                  </a:lnTo>
                  <a:lnTo>
                    <a:pt x="2535" y="869"/>
                  </a:lnTo>
                  <a:lnTo>
                    <a:pt x="2529" y="829"/>
                  </a:lnTo>
                  <a:lnTo>
                    <a:pt x="2521" y="789"/>
                  </a:lnTo>
                  <a:lnTo>
                    <a:pt x="2511" y="750"/>
                  </a:lnTo>
                  <a:lnTo>
                    <a:pt x="2500" y="712"/>
                  </a:lnTo>
                  <a:lnTo>
                    <a:pt x="2488" y="674"/>
                  </a:lnTo>
                  <a:lnTo>
                    <a:pt x="2476" y="636"/>
                  </a:lnTo>
                  <a:lnTo>
                    <a:pt x="2461" y="599"/>
                  </a:lnTo>
                  <a:lnTo>
                    <a:pt x="2447" y="563"/>
                  </a:lnTo>
                  <a:lnTo>
                    <a:pt x="2430" y="527"/>
                  </a:lnTo>
                  <a:lnTo>
                    <a:pt x="2413" y="491"/>
                  </a:lnTo>
                  <a:lnTo>
                    <a:pt x="2395" y="456"/>
                  </a:lnTo>
                  <a:lnTo>
                    <a:pt x="2376" y="422"/>
                  </a:lnTo>
                  <a:lnTo>
                    <a:pt x="2355" y="389"/>
                  </a:lnTo>
                  <a:lnTo>
                    <a:pt x="2334" y="356"/>
                  </a:lnTo>
                  <a:lnTo>
                    <a:pt x="2312" y="324"/>
                  </a:lnTo>
                  <a:lnTo>
                    <a:pt x="2288" y="292"/>
                  </a:lnTo>
                  <a:lnTo>
                    <a:pt x="2265" y="262"/>
                  </a:lnTo>
                  <a:lnTo>
                    <a:pt x="2240" y="233"/>
                  </a:lnTo>
                  <a:lnTo>
                    <a:pt x="2213" y="203"/>
                  </a:lnTo>
                  <a:lnTo>
                    <a:pt x="2187" y="174"/>
                  </a:lnTo>
                  <a:lnTo>
                    <a:pt x="2159" y="147"/>
                  </a:lnTo>
                  <a:lnTo>
                    <a:pt x="2131" y="120"/>
                  </a:lnTo>
                  <a:lnTo>
                    <a:pt x="2102" y="95"/>
                  </a:lnTo>
                  <a:lnTo>
                    <a:pt x="2072" y="70"/>
                  </a:lnTo>
                  <a:lnTo>
                    <a:pt x="2041" y="46"/>
                  </a:lnTo>
                  <a:lnTo>
                    <a:pt x="2010" y="23"/>
                  </a:lnTo>
                  <a:lnTo>
                    <a:pt x="1979" y="0"/>
                  </a:lnTo>
                  <a:lnTo>
                    <a:pt x="2009" y="23"/>
                  </a:lnTo>
                  <a:lnTo>
                    <a:pt x="2038" y="45"/>
                  </a:lnTo>
                  <a:lnTo>
                    <a:pt x="2067" y="70"/>
                  </a:lnTo>
                  <a:lnTo>
                    <a:pt x="2095" y="95"/>
                  </a:lnTo>
                  <a:lnTo>
                    <a:pt x="2123" y="119"/>
                  </a:lnTo>
                  <a:lnTo>
                    <a:pt x="2150" y="146"/>
                  </a:lnTo>
                  <a:lnTo>
                    <a:pt x="2176" y="173"/>
                  </a:lnTo>
                  <a:lnTo>
                    <a:pt x="2202" y="201"/>
                  </a:lnTo>
                  <a:lnTo>
                    <a:pt x="2225" y="229"/>
                  </a:lnTo>
                  <a:lnTo>
                    <a:pt x="2249" y="258"/>
                  </a:lnTo>
                  <a:lnTo>
                    <a:pt x="2273" y="289"/>
                  </a:lnTo>
                  <a:lnTo>
                    <a:pt x="2294" y="319"/>
                  </a:lnTo>
                  <a:lnTo>
                    <a:pt x="2315" y="350"/>
                  </a:lnTo>
                  <a:lnTo>
                    <a:pt x="2335" y="382"/>
                  </a:lnTo>
                  <a:lnTo>
                    <a:pt x="2355" y="416"/>
                  </a:lnTo>
                  <a:lnTo>
                    <a:pt x="2372" y="448"/>
                  </a:lnTo>
                  <a:lnTo>
                    <a:pt x="2390" y="482"/>
                  </a:lnTo>
                  <a:lnTo>
                    <a:pt x="2406" y="517"/>
                  </a:lnTo>
                  <a:lnTo>
                    <a:pt x="2422" y="551"/>
                  </a:lnTo>
                  <a:lnTo>
                    <a:pt x="2435" y="586"/>
                  </a:lnTo>
                  <a:lnTo>
                    <a:pt x="2449" y="622"/>
                  </a:lnTo>
                  <a:lnTo>
                    <a:pt x="2461" y="659"/>
                  </a:lnTo>
                  <a:lnTo>
                    <a:pt x="2472" y="696"/>
                  </a:lnTo>
                  <a:lnTo>
                    <a:pt x="2482" y="733"/>
                  </a:lnTo>
                  <a:lnTo>
                    <a:pt x="2491" y="771"/>
                  </a:lnTo>
                  <a:lnTo>
                    <a:pt x="2499" y="810"/>
                  </a:lnTo>
                  <a:lnTo>
                    <a:pt x="2506" y="848"/>
                  </a:lnTo>
                  <a:lnTo>
                    <a:pt x="2512" y="887"/>
                  </a:lnTo>
                  <a:lnTo>
                    <a:pt x="2515" y="926"/>
                  </a:lnTo>
                  <a:lnTo>
                    <a:pt x="2518" y="966"/>
                  </a:lnTo>
                  <a:lnTo>
                    <a:pt x="2521" y="1006"/>
                  </a:lnTo>
                  <a:lnTo>
                    <a:pt x="2521" y="1046"/>
                  </a:lnTo>
                  <a:close/>
                </a:path>
              </a:pathLst>
            </a:custGeom>
            <a:solidFill>
              <a:schemeClr val="accent4">
                <a:lumMod val="50000"/>
              </a:schemeClr>
            </a:solidFill>
            <a:ln>
              <a:solidFill>
                <a:schemeClr val="accent4">
                  <a:lumMod val="50000"/>
                </a:schemeClr>
              </a:solidFill>
            </a:ln>
          </p:spPr>
          <p:txBody>
            <a:bodyPr vert="horz" wrap="square" lIns="91440" tIns="45720" rIns="91440" bIns="45720" numCol="1" anchor="t" anchorCtr="0" compatLnSpc="1">
              <a:prstTxWarp prst="textNoShape">
                <a:avLst/>
              </a:prstTxWarp>
            </a:bodyPr>
            <a:lstStyle/>
            <a:p>
              <a:endParaRPr lang="en-US" sz="1600"/>
            </a:p>
          </p:txBody>
        </p:sp>
        <p:sp>
          <p:nvSpPr>
            <p:cNvPr id="8" name="Freeform 10">
              <a:extLst>
                <a:ext uri="{FF2B5EF4-FFF2-40B4-BE49-F238E27FC236}">
                  <a16:creationId xmlns:a16="http://schemas.microsoft.com/office/drawing/2014/main" id="{DBDF0789-48B9-2472-7960-8B4B34A78FC7}"/>
                </a:ext>
              </a:extLst>
            </p:cNvPr>
            <p:cNvSpPr>
              <a:spLocks/>
            </p:cNvSpPr>
            <p:nvPr/>
          </p:nvSpPr>
          <p:spPr bwMode="auto">
            <a:xfrm>
              <a:off x="1640449" y="3240510"/>
              <a:ext cx="318878" cy="318131"/>
            </a:xfrm>
            <a:custGeom>
              <a:avLst/>
              <a:gdLst>
                <a:gd name="T0" fmla="*/ 1409 w 2558"/>
                <a:gd name="T1" fmla="*/ 6 h 2558"/>
                <a:gd name="T2" fmla="*/ 1599 w 2558"/>
                <a:gd name="T3" fmla="*/ 39 h 2558"/>
                <a:gd name="T4" fmla="*/ 1776 w 2558"/>
                <a:gd name="T5" fmla="*/ 100 h 2558"/>
                <a:gd name="T6" fmla="*/ 1943 w 2558"/>
                <a:gd name="T7" fmla="*/ 185 h 2558"/>
                <a:gd name="T8" fmla="*/ 2093 w 2558"/>
                <a:gd name="T9" fmla="*/ 292 h 2558"/>
                <a:gd name="T10" fmla="*/ 2225 w 2558"/>
                <a:gd name="T11" fmla="*/ 419 h 2558"/>
                <a:gd name="T12" fmla="*/ 2340 w 2558"/>
                <a:gd name="T13" fmla="*/ 563 h 2558"/>
                <a:gd name="T14" fmla="*/ 2432 w 2558"/>
                <a:gd name="T15" fmla="*/ 724 h 2558"/>
                <a:gd name="T16" fmla="*/ 2500 w 2558"/>
                <a:gd name="T17" fmla="*/ 898 h 2558"/>
                <a:gd name="T18" fmla="*/ 2543 w 2558"/>
                <a:gd name="T19" fmla="*/ 1084 h 2558"/>
                <a:gd name="T20" fmla="*/ 2558 w 2558"/>
                <a:gd name="T21" fmla="*/ 1278 h 2558"/>
                <a:gd name="T22" fmla="*/ 2543 w 2558"/>
                <a:gd name="T23" fmla="*/ 1474 h 2558"/>
                <a:gd name="T24" fmla="*/ 2500 w 2558"/>
                <a:gd name="T25" fmla="*/ 1659 h 2558"/>
                <a:gd name="T26" fmla="*/ 2432 w 2558"/>
                <a:gd name="T27" fmla="*/ 1833 h 2558"/>
                <a:gd name="T28" fmla="*/ 2340 w 2558"/>
                <a:gd name="T29" fmla="*/ 1993 h 2558"/>
                <a:gd name="T30" fmla="*/ 2225 w 2558"/>
                <a:gd name="T31" fmla="*/ 2138 h 2558"/>
                <a:gd name="T32" fmla="*/ 2093 w 2558"/>
                <a:gd name="T33" fmla="*/ 2265 h 2558"/>
                <a:gd name="T34" fmla="*/ 1943 w 2558"/>
                <a:gd name="T35" fmla="*/ 2373 h 2558"/>
                <a:gd name="T36" fmla="*/ 1776 w 2558"/>
                <a:gd name="T37" fmla="*/ 2457 h 2558"/>
                <a:gd name="T38" fmla="*/ 1599 w 2558"/>
                <a:gd name="T39" fmla="*/ 2517 h 2558"/>
                <a:gd name="T40" fmla="*/ 1409 w 2558"/>
                <a:gd name="T41" fmla="*/ 2551 h 2558"/>
                <a:gd name="T42" fmla="*/ 1213 w 2558"/>
                <a:gd name="T43" fmla="*/ 2556 h 2558"/>
                <a:gd name="T44" fmla="*/ 1021 w 2558"/>
                <a:gd name="T45" fmla="*/ 2532 h 2558"/>
                <a:gd name="T46" fmla="*/ 839 w 2558"/>
                <a:gd name="T47" fmla="*/ 2480 h 2558"/>
                <a:gd name="T48" fmla="*/ 670 w 2558"/>
                <a:gd name="T49" fmla="*/ 2403 h 2558"/>
                <a:gd name="T50" fmla="*/ 514 w 2558"/>
                <a:gd name="T51" fmla="*/ 2303 h 2558"/>
                <a:gd name="T52" fmla="*/ 375 w 2558"/>
                <a:gd name="T53" fmla="*/ 2183 h 2558"/>
                <a:gd name="T54" fmla="*/ 255 w 2558"/>
                <a:gd name="T55" fmla="*/ 2044 h 2558"/>
                <a:gd name="T56" fmla="*/ 155 w 2558"/>
                <a:gd name="T57" fmla="*/ 1888 h 2558"/>
                <a:gd name="T58" fmla="*/ 77 w 2558"/>
                <a:gd name="T59" fmla="*/ 1718 h 2558"/>
                <a:gd name="T60" fmla="*/ 26 w 2558"/>
                <a:gd name="T61" fmla="*/ 1537 h 2558"/>
                <a:gd name="T62" fmla="*/ 2 w 2558"/>
                <a:gd name="T63" fmla="*/ 1345 h 2558"/>
                <a:gd name="T64" fmla="*/ 6 w 2558"/>
                <a:gd name="T65" fmla="*/ 1148 h 2558"/>
                <a:gd name="T66" fmla="*/ 40 w 2558"/>
                <a:gd name="T67" fmla="*/ 958 h 2558"/>
                <a:gd name="T68" fmla="*/ 101 w 2558"/>
                <a:gd name="T69" fmla="*/ 781 h 2558"/>
                <a:gd name="T70" fmla="*/ 185 w 2558"/>
                <a:gd name="T71" fmla="*/ 615 h 2558"/>
                <a:gd name="T72" fmla="*/ 292 w 2558"/>
                <a:gd name="T73" fmla="*/ 465 h 2558"/>
                <a:gd name="T74" fmla="*/ 418 w 2558"/>
                <a:gd name="T75" fmla="*/ 332 h 2558"/>
                <a:gd name="T76" fmla="*/ 564 w 2558"/>
                <a:gd name="T77" fmla="*/ 218 h 2558"/>
                <a:gd name="T78" fmla="*/ 725 w 2558"/>
                <a:gd name="T79" fmla="*/ 126 h 2558"/>
                <a:gd name="T80" fmla="*/ 899 w 2558"/>
                <a:gd name="T81" fmla="*/ 57 h 2558"/>
                <a:gd name="T82" fmla="*/ 1084 w 2558"/>
                <a:gd name="T83" fmla="*/ 15 h 2558"/>
                <a:gd name="T84" fmla="*/ 1279 w 2558"/>
                <a:gd name="T85" fmla="*/ 0 h 2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58" h="2558">
                  <a:moveTo>
                    <a:pt x="1279" y="0"/>
                  </a:moveTo>
                  <a:lnTo>
                    <a:pt x="1344" y="1"/>
                  </a:lnTo>
                  <a:lnTo>
                    <a:pt x="1409" y="6"/>
                  </a:lnTo>
                  <a:lnTo>
                    <a:pt x="1473" y="15"/>
                  </a:lnTo>
                  <a:lnTo>
                    <a:pt x="1536" y="26"/>
                  </a:lnTo>
                  <a:lnTo>
                    <a:pt x="1599" y="39"/>
                  </a:lnTo>
                  <a:lnTo>
                    <a:pt x="1660" y="57"/>
                  </a:lnTo>
                  <a:lnTo>
                    <a:pt x="1719" y="77"/>
                  </a:lnTo>
                  <a:lnTo>
                    <a:pt x="1776" y="100"/>
                  </a:lnTo>
                  <a:lnTo>
                    <a:pt x="1834" y="126"/>
                  </a:lnTo>
                  <a:lnTo>
                    <a:pt x="1889" y="154"/>
                  </a:lnTo>
                  <a:lnTo>
                    <a:pt x="1943" y="185"/>
                  </a:lnTo>
                  <a:lnTo>
                    <a:pt x="1994" y="218"/>
                  </a:lnTo>
                  <a:lnTo>
                    <a:pt x="2045" y="254"/>
                  </a:lnTo>
                  <a:lnTo>
                    <a:pt x="2093" y="292"/>
                  </a:lnTo>
                  <a:lnTo>
                    <a:pt x="2139" y="332"/>
                  </a:lnTo>
                  <a:lnTo>
                    <a:pt x="2184" y="374"/>
                  </a:lnTo>
                  <a:lnTo>
                    <a:pt x="2225" y="419"/>
                  </a:lnTo>
                  <a:lnTo>
                    <a:pt x="2266" y="465"/>
                  </a:lnTo>
                  <a:lnTo>
                    <a:pt x="2304" y="513"/>
                  </a:lnTo>
                  <a:lnTo>
                    <a:pt x="2340" y="563"/>
                  </a:lnTo>
                  <a:lnTo>
                    <a:pt x="2372" y="615"/>
                  </a:lnTo>
                  <a:lnTo>
                    <a:pt x="2404" y="669"/>
                  </a:lnTo>
                  <a:lnTo>
                    <a:pt x="2432" y="724"/>
                  </a:lnTo>
                  <a:lnTo>
                    <a:pt x="2458" y="781"/>
                  </a:lnTo>
                  <a:lnTo>
                    <a:pt x="2480" y="838"/>
                  </a:lnTo>
                  <a:lnTo>
                    <a:pt x="2500" y="898"/>
                  </a:lnTo>
                  <a:lnTo>
                    <a:pt x="2517" y="958"/>
                  </a:lnTo>
                  <a:lnTo>
                    <a:pt x="2532" y="1020"/>
                  </a:lnTo>
                  <a:lnTo>
                    <a:pt x="2543" y="1084"/>
                  </a:lnTo>
                  <a:lnTo>
                    <a:pt x="2551" y="1148"/>
                  </a:lnTo>
                  <a:lnTo>
                    <a:pt x="2557" y="1212"/>
                  </a:lnTo>
                  <a:lnTo>
                    <a:pt x="2558" y="1278"/>
                  </a:lnTo>
                  <a:lnTo>
                    <a:pt x="2557" y="1345"/>
                  </a:lnTo>
                  <a:lnTo>
                    <a:pt x="2551" y="1410"/>
                  </a:lnTo>
                  <a:lnTo>
                    <a:pt x="2543" y="1474"/>
                  </a:lnTo>
                  <a:lnTo>
                    <a:pt x="2532" y="1537"/>
                  </a:lnTo>
                  <a:lnTo>
                    <a:pt x="2517" y="1598"/>
                  </a:lnTo>
                  <a:lnTo>
                    <a:pt x="2500" y="1659"/>
                  </a:lnTo>
                  <a:lnTo>
                    <a:pt x="2480" y="1718"/>
                  </a:lnTo>
                  <a:lnTo>
                    <a:pt x="2458" y="1777"/>
                  </a:lnTo>
                  <a:lnTo>
                    <a:pt x="2432" y="1833"/>
                  </a:lnTo>
                  <a:lnTo>
                    <a:pt x="2404" y="1888"/>
                  </a:lnTo>
                  <a:lnTo>
                    <a:pt x="2372" y="1942"/>
                  </a:lnTo>
                  <a:lnTo>
                    <a:pt x="2340" y="1993"/>
                  </a:lnTo>
                  <a:lnTo>
                    <a:pt x="2304" y="2044"/>
                  </a:lnTo>
                  <a:lnTo>
                    <a:pt x="2266" y="2092"/>
                  </a:lnTo>
                  <a:lnTo>
                    <a:pt x="2225" y="2138"/>
                  </a:lnTo>
                  <a:lnTo>
                    <a:pt x="2184" y="2183"/>
                  </a:lnTo>
                  <a:lnTo>
                    <a:pt x="2139" y="2226"/>
                  </a:lnTo>
                  <a:lnTo>
                    <a:pt x="2093" y="2265"/>
                  </a:lnTo>
                  <a:lnTo>
                    <a:pt x="2045" y="2303"/>
                  </a:lnTo>
                  <a:lnTo>
                    <a:pt x="1994" y="2339"/>
                  </a:lnTo>
                  <a:lnTo>
                    <a:pt x="1943" y="2373"/>
                  </a:lnTo>
                  <a:lnTo>
                    <a:pt x="1889" y="2403"/>
                  </a:lnTo>
                  <a:lnTo>
                    <a:pt x="1834" y="2431"/>
                  </a:lnTo>
                  <a:lnTo>
                    <a:pt x="1776" y="2457"/>
                  </a:lnTo>
                  <a:lnTo>
                    <a:pt x="1719" y="2480"/>
                  </a:lnTo>
                  <a:lnTo>
                    <a:pt x="1660" y="2500"/>
                  </a:lnTo>
                  <a:lnTo>
                    <a:pt x="1599" y="2517"/>
                  </a:lnTo>
                  <a:lnTo>
                    <a:pt x="1536" y="2532"/>
                  </a:lnTo>
                  <a:lnTo>
                    <a:pt x="1473" y="2543"/>
                  </a:lnTo>
                  <a:lnTo>
                    <a:pt x="1409" y="2551"/>
                  </a:lnTo>
                  <a:lnTo>
                    <a:pt x="1344" y="2556"/>
                  </a:lnTo>
                  <a:lnTo>
                    <a:pt x="1279" y="2558"/>
                  </a:lnTo>
                  <a:lnTo>
                    <a:pt x="1213" y="2556"/>
                  </a:lnTo>
                  <a:lnTo>
                    <a:pt x="1148" y="2551"/>
                  </a:lnTo>
                  <a:lnTo>
                    <a:pt x="1084" y="2543"/>
                  </a:lnTo>
                  <a:lnTo>
                    <a:pt x="1021" y="2532"/>
                  </a:lnTo>
                  <a:lnTo>
                    <a:pt x="959" y="2517"/>
                  </a:lnTo>
                  <a:lnTo>
                    <a:pt x="899" y="2500"/>
                  </a:lnTo>
                  <a:lnTo>
                    <a:pt x="839" y="2480"/>
                  </a:lnTo>
                  <a:lnTo>
                    <a:pt x="781" y="2457"/>
                  </a:lnTo>
                  <a:lnTo>
                    <a:pt x="725" y="2431"/>
                  </a:lnTo>
                  <a:lnTo>
                    <a:pt x="670" y="2403"/>
                  </a:lnTo>
                  <a:lnTo>
                    <a:pt x="616" y="2373"/>
                  </a:lnTo>
                  <a:lnTo>
                    <a:pt x="564" y="2339"/>
                  </a:lnTo>
                  <a:lnTo>
                    <a:pt x="514" y="2303"/>
                  </a:lnTo>
                  <a:lnTo>
                    <a:pt x="466" y="2265"/>
                  </a:lnTo>
                  <a:lnTo>
                    <a:pt x="418" y="2226"/>
                  </a:lnTo>
                  <a:lnTo>
                    <a:pt x="375" y="2183"/>
                  </a:lnTo>
                  <a:lnTo>
                    <a:pt x="332" y="2138"/>
                  </a:lnTo>
                  <a:lnTo>
                    <a:pt x="292" y="2092"/>
                  </a:lnTo>
                  <a:lnTo>
                    <a:pt x="255" y="2044"/>
                  </a:lnTo>
                  <a:lnTo>
                    <a:pt x="219" y="1993"/>
                  </a:lnTo>
                  <a:lnTo>
                    <a:pt x="185" y="1942"/>
                  </a:lnTo>
                  <a:lnTo>
                    <a:pt x="155" y="1888"/>
                  </a:lnTo>
                  <a:lnTo>
                    <a:pt x="127" y="1833"/>
                  </a:lnTo>
                  <a:lnTo>
                    <a:pt x="101" y="1777"/>
                  </a:lnTo>
                  <a:lnTo>
                    <a:pt x="77" y="1718"/>
                  </a:lnTo>
                  <a:lnTo>
                    <a:pt x="57" y="1659"/>
                  </a:lnTo>
                  <a:lnTo>
                    <a:pt x="40" y="1598"/>
                  </a:lnTo>
                  <a:lnTo>
                    <a:pt x="26" y="1537"/>
                  </a:lnTo>
                  <a:lnTo>
                    <a:pt x="14" y="1474"/>
                  </a:lnTo>
                  <a:lnTo>
                    <a:pt x="6" y="1410"/>
                  </a:lnTo>
                  <a:lnTo>
                    <a:pt x="2" y="1345"/>
                  </a:lnTo>
                  <a:lnTo>
                    <a:pt x="0" y="1278"/>
                  </a:lnTo>
                  <a:lnTo>
                    <a:pt x="2" y="1212"/>
                  </a:lnTo>
                  <a:lnTo>
                    <a:pt x="6" y="1148"/>
                  </a:lnTo>
                  <a:lnTo>
                    <a:pt x="14" y="1084"/>
                  </a:lnTo>
                  <a:lnTo>
                    <a:pt x="26" y="1020"/>
                  </a:lnTo>
                  <a:lnTo>
                    <a:pt x="40" y="958"/>
                  </a:lnTo>
                  <a:lnTo>
                    <a:pt x="57" y="898"/>
                  </a:lnTo>
                  <a:lnTo>
                    <a:pt x="77" y="838"/>
                  </a:lnTo>
                  <a:lnTo>
                    <a:pt x="101" y="781"/>
                  </a:lnTo>
                  <a:lnTo>
                    <a:pt x="127" y="724"/>
                  </a:lnTo>
                  <a:lnTo>
                    <a:pt x="155" y="669"/>
                  </a:lnTo>
                  <a:lnTo>
                    <a:pt x="185" y="615"/>
                  </a:lnTo>
                  <a:lnTo>
                    <a:pt x="219" y="563"/>
                  </a:lnTo>
                  <a:lnTo>
                    <a:pt x="255" y="513"/>
                  </a:lnTo>
                  <a:lnTo>
                    <a:pt x="292" y="465"/>
                  </a:lnTo>
                  <a:lnTo>
                    <a:pt x="332" y="419"/>
                  </a:lnTo>
                  <a:lnTo>
                    <a:pt x="375" y="374"/>
                  </a:lnTo>
                  <a:lnTo>
                    <a:pt x="418" y="332"/>
                  </a:lnTo>
                  <a:lnTo>
                    <a:pt x="466" y="292"/>
                  </a:lnTo>
                  <a:lnTo>
                    <a:pt x="514" y="254"/>
                  </a:lnTo>
                  <a:lnTo>
                    <a:pt x="564" y="218"/>
                  </a:lnTo>
                  <a:lnTo>
                    <a:pt x="616" y="185"/>
                  </a:lnTo>
                  <a:lnTo>
                    <a:pt x="670" y="154"/>
                  </a:lnTo>
                  <a:lnTo>
                    <a:pt x="725" y="126"/>
                  </a:lnTo>
                  <a:lnTo>
                    <a:pt x="781" y="100"/>
                  </a:lnTo>
                  <a:lnTo>
                    <a:pt x="839" y="77"/>
                  </a:lnTo>
                  <a:lnTo>
                    <a:pt x="899" y="57"/>
                  </a:lnTo>
                  <a:lnTo>
                    <a:pt x="959" y="39"/>
                  </a:lnTo>
                  <a:lnTo>
                    <a:pt x="1021" y="26"/>
                  </a:lnTo>
                  <a:lnTo>
                    <a:pt x="1084" y="15"/>
                  </a:lnTo>
                  <a:lnTo>
                    <a:pt x="1148" y="6"/>
                  </a:lnTo>
                  <a:lnTo>
                    <a:pt x="1213" y="1"/>
                  </a:lnTo>
                  <a:lnTo>
                    <a:pt x="1279" y="0"/>
                  </a:ln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sz="1600"/>
            </a:p>
          </p:txBody>
        </p:sp>
        <p:pic>
          <p:nvPicPr>
            <p:cNvPr id="56" name="Graphic 55">
              <a:extLst>
                <a:ext uri="{FF2B5EF4-FFF2-40B4-BE49-F238E27FC236}">
                  <a16:creationId xmlns:a16="http://schemas.microsoft.com/office/drawing/2014/main" id="{11F524AF-59F8-6D89-E475-7BD75EF43D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57342" y="3264562"/>
              <a:ext cx="274320" cy="274320"/>
            </a:xfrm>
            <a:prstGeom prst="rect">
              <a:avLst/>
            </a:prstGeom>
          </p:spPr>
        </p:pic>
      </p:grpSp>
      <p:grpSp>
        <p:nvGrpSpPr>
          <p:cNvPr id="60" name="Group 59">
            <a:extLst>
              <a:ext uri="{FF2B5EF4-FFF2-40B4-BE49-F238E27FC236}">
                <a16:creationId xmlns:a16="http://schemas.microsoft.com/office/drawing/2014/main" id="{536FD90C-7B4D-9E2F-60E9-F191034E670D}"/>
              </a:ext>
            </a:extLst>
          </p:cNvPr>
          <p:cNvGrpSpPr/>
          <p:nvPr/>
        </p:nvGrpSpPr>
        <p:grpSpPr>
          <a:xfrm>
            <a:off x="1382820" y="2837316"/>
            <a:ext cx="327312" cy="327312"/>
            <a:chOff x="1598765" y="3721034"/>
            <a:chExt cx="411480" cy="411480"/>
          </a:xfrm>
        </p:grpSpPr>
        <p:sp>
          <p:nvSpPr>
            <p:cNvPr id="24" name="Freeform 8">
              <a:extLst>
                <a:ext uri="{FF2B5EF4-FFF2-40B4-BE49-F238E27FC236}">
                  <a16:creationId xmlns:a16="http://schemas.microsoft.com/office/drawing/2014/main" id="{6A4A2C32-FBD0-A099-B5C7-A26A0903B0AC}"/>
                </a:ext>
              </a:extLst>
            </p:cNvPr>
            <p:cNvSpPr>
              <a:spLocks/>
            </p:cNvSpPr>
            <p:nvPr/>
          </p:nvSpPr>
          <p:spPr bwMode="auto">
            <a:xfrm>
              <a:off x="1598765" y="3721034"/>
              <a:ext cx="411480" cy="411480"/>
            </a:xfrm>
            <a:custGeom>
              <a:avLst/>
              <a:gdLst>
                <a:gd name="T0" fmla="*/ 1822 w 3305"/>
                <a:gd name="T1" fmla="*/ 9 h 3307"/>
                <a:gd name="T2" fmla="*/ 2066 w 3305"/>
                <a:gd name="T3" fmla="*/ 53 h 3307"/>
                <a:gd name="T4" fmla="*/ 2296 w 3305"/>
                <a:gd name="T5" fmla="*/ 130 h 3307"/>
                <a:gd name="T6" fmla="*/ 2510 w 3305"/>
                <a:gd name="T7" fmla="*/ 240 h 3307"/>
                <a:gd name="T8" fmla="*/ 2705 w 3305"/>
                <a:gd name="T9" fmla="*/ 378 h 3307"/>
                <a:gd name="T10" fmla="*/ 2877 w 3305"/>
                <a:gd name="T11" fmla="*/ 542 h 3307"/>
                <a:gd name="T12" fmla="*/ 3024 w 3305"/>
                <a:gd name="T13" fmla="*/ 730 h 3307"/>
                <a:gd name="T14" fmla="*/ 3143 w 3305"/>
                <a:gd name="T15" fmla="*/ 937 h 3307"/>
                <a:gd name="T16" fmla="*/ 3231 w 3305"/>
                <a:gd name="T17" fmla="*/ 1162 h 3307"/>
                <a:gd name="T18" fmla="*/ 3286 w 3305"/>
                <a:gd name="T19" fmla="*/ 1402 h 3307"/>
                <a:gd name="T20" fmla="*/ 3305 w 3305"/>
                <a:gd name="T21" fmla="*/ 1653 h 3307"/>
                <a:gd name="T22" fmla="*/ 3286 w 3305"/>
                <a:gd name="T23" fmla="*/ 1905 h 3307"/>
                <a:gd name="T24" fmla="*/ 3231 w 3305"/>
                <a:gd name="T25" fmla="*/ 2145 h 3307"/>
                <a:gd name="T26" fmla="*/ 3143 w 3305"/>
                <a:gd name="T27" fmla="*/ 2371 h 3307"/>
                <a:gd name="T28" fmla="*/ 3024 w 3305"/>
                <a:gd name="T29" fmla="*/ 2578 h 3307"/>
                <a:gd name="T30" fmla="*/ 2877 w 3305"/>
                <a:gd name="T31" fmla="*/ 2765 h 3307"/>
                <a:gd name="T32" fmla="*/ 2705 w 3305"/>
                <a:gd name="T33" fmla="*/ 2930 h 3307"/>
                <a:gd name="T34" fmla="*/ 2510 w 3305"/>
                <a:gd name="T35" fmla="*/ 3068 h 3307"/>
                <a:gd name="T36" fmla="*/ 2296 w 3305"/>
                <a:gd name="T37" fmla="*/ 3176 h 3307"/>
                <a:gd name="T38" fmla="*/ 2066 w 3305"/>
                <a:gd name="T39" fmla="*/ 3254 h 3307"/>
                <a:gd name="T40" fmla="*/ 1822 w 3305"/>
                <a:gd name="T41" fmla="*/ 3298 h 3307"/>
                <a:gd name="T42" fmla="*/ 1568 w 3305"/>
                <a:gd name="T43" fmla="*/ 3304 h 3307"/>
                <a:gd name="T44" fmla="*/ 1320 w 3305"/>
                <a:gd name="T45" fmla="*/ 3273 h 3307"/>
                <a:gd name="T46" fmla="*/ 1084 w 3305"/>
                <a:gd name="T47" fmla="*/ 3206 h 3307"/>
                <a:gd name="T48" fmla="*/ 865 w 3305"/>
                <a:gd name="T49" fmla="*/ 3107 h 3307"/>
                <a:gd name="T50" fmla="*/ 664 w 3305"/>
                <a:gd name="T51" fmla="*/ 2978 h 3307"/>
                <a:gd name="T52" fmla="*/ 484 w 3305"/>
                <a:gd name="T53" fmla="*/ 2822 h 3307"/>
                <a:gd name="T54" fmla="*/ 329 w 3305"/>
                <a:gd name="T55" fmla="*/ 2642 h 3307"/>
                <a:gd name="T56" fmla="*/ 200 w 3305"/>
                <a:gd name="T57" fmla="*/ 2441 h 3307"/>
                <a:gd name="T58" fmla="*/ 100 w 3305"/>
                <a:gd name="T59" fmla="*/ 2222 h 3307"/>
                <a:gd name="T60" fmla="*/ 34 w 3305"/>
                <a:gd name="T61" fmla="*/ 1987 h 3307"/>
                <a:gd name="T62" fmla="*/ 2 w 3305"/>
                <a:gd name="T63" fmla="*/ 1739 h 3307"/>
                <a:gd name="T64" fmla="*/ 9 w 3305"/>
                <a:gd name="T65" fmla="*/ 1485 h 3307"/>
                <a:gd name="T66" fmla="*/ 52 w 3305"/>
                <a:gd name="T67" fmla="*/ 1240 h 3307"/>
                <a:gd name="T68" fmla="*/ 130 w 3305"/>
                <a:gd name="T69" fmla="*/ 1010 h 3307"/>
                <a:gd name="T70" fmla="*/ 239 w 3305"/>
                <a:gd name="T71" fmla="*/ 796 h 3307"/>
                <a:gd name="T72" fmla="*/ 377 w 3305"/>
                <a:gd name="T73" fmla="*/ 602 h 3307"/>
                <a:gd name="T74" fmla="*/ 541 w 3305"/>
                <a:gd name="T75" fmla="*/ 430 h 3307"/>
                <a:gd name="T76" fmla="*/ 728 w 3305"/>
                <a:gd name="T77" fmla="*/ 283 h 3307"/>
                <a:gd name="T78" fmla="*/ 936 w 3305"/>
                <a:gd name="T79" fmla="*/ 164 h 3307"/>
                <a:gd name="T80" fmla="*/ 1162 w 3305"/>
                <a:gd name="T81" fmla="*/ 75 h 3307"/>
                <a:gd name="T82" fmla="*/ 1401 w 3305"/>
                <a:gd name="T83" fmla="*/ 19 h 3307"/>
                <a:gd name="T84" fmla="*/ 1653 w 3305"/>
                <a:gd name="T85" fmla="*/ 0 h 3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05" h="3307">
                  <a:moveTo>
                    <a:pt x="1653" y="0"/>
                  </a:moveTo>
                  <a:lnTo>
                    <a:pt x="1739" y="2"/>
                  </a:lnTo>
                  <a:lnTo>
                    <a:pt x="1822" y="9"/>
                  </a:lnTo>
                  <a:lnTo>
                    <a:pt x="1905" y="19"/>
                  </a:lnTo>
                  <a:lnTo>
                    <a:pt x="1987" y="34"/>
                  </a:lnTo>
                  <a:lnTo>
                    <a:pt x="2066" y="53"/>
                  </a:lnTo>
                  <a:lnTo>
                    <a:pt x="2145" y="75"/>
                  </a:lnTo>
                  <a:lnTo>
                    <a:pt x="2221" y="101"/>
                  </a:lnTo>
                  <a:lnTo>
                    <a:pt x="2296" y="130"/>
                  </a:lnTo>
                  <a:lnTo>
                    <a:pt x="2369" y="164"/>
                  </a:lnTo>
                  <a:lnTo>
                    <a:pt x="2441" y="200"/>
                  </a:lnTo>
                  <a:lnTo>
                    <a:pt x="2510" y="240"/>
                  </a:lnTo>
                  <a:lnTo>
                    <a:pt x="2577" y="283"/>
                  </a:lnTo>
                  <a:lnTo>
                    <a:pt x="2642" y="329"/>
                  </a:lnTo>
                  <a:lnTo>
                    <a:pt x="2705" y="378"/>
                  </a:lnTo>
                  <a:lnTo>
                    <a:pt x="2764" y="430"/>
                  </a:lnTo>
                  <a:lnTo>
                    <a:pt x="2822" y="485"/>
                  </a:lnTo>
                  <a:lnTo>
                    <a:pt x="2877" y="542"/>
                  </a:lnTo>
                  <a:lnTo>
                    <a:pt x="2928" y="602"/>
                  </a:lnTo>
                  <a:lnTo>
                    <a:pt x="2978" y="665"/>
                  </a:lnTo>
                  <a:lnTo>
                    <a:pt x="3024" y="730"/>
                  </a:lnTo>
                  <a:lnTo>
                    <a:pt x="3066" y="796"/>
                  </a:lnTo>
                  <a:lnTo>
                    <a:pt x="3107" y="865"/>
                  </a:lnTo>
                  <a:lnTo>
                    <a:pt x="3143" y="937"/>
                  </a:lnTo>
                  <a:lnTo>
                    <a:pt x="3176" y="1010"/>
                  </a:lnTo>
                  <a:lnTo>
                    <a:pt x="3206" y="1085"/>
                  </a:lnTo>
                  <a:lnTo>
                    <a:pt x="3231" y="1162"/>
                  </a:lnTo>
                  <a:lnTo>
                    <a:pt x="3254" y="1240"/>
                  </a:lnTo>
                  <a:lnTo>
                    <a:pt x="3273" y="1320"/>
                  </a:lnTo>
                  <a:lnTo>
                    <a:pt x="3286" y="1402"/>
                  </a:lnTo>
                  <a:lnTo>
                    <a:pt x="3298" y="1485"/>
                  </a:lnTo>
                  <a:lnTo>
                    <a:pt x="3304" y="1568"/>
                  </a:lnTo>
                  <a:lnTo>
                    <a:pt x="3305" y="1653"/>
                  </a:lnTo>
                  <a:lnTo>
                    <a:pt x="3304" y="1739"/>
                  </a:lnTo>
                  <a:lnTo>
                    <a:pt x="3298" y="1823"/>
                  </a:lnTo>
                  <a:lnTo>
                    <a:pt x="3286" y="1905"/>
                  </a:lnTo>
                  <a:lnTo>
                    <a:pt x="3273" y="1987"/>
                  </a:lnTo>
                  <a:lnTo>
                    <a:pt x="3254" y="2066"/>
                  </a:lnTo>
                  <a:lnTo>
                    <a:pt x="3231" y="2145"/>
                  </a:lnTo>
                  <a:lnTo>
                    <a:pt x="3206" y="2222"/>
                  </a:lnTo>
                  <a:lnTo>
                    <a:pt x="3176" y="2296"/>
                  </a:lnTo>
                  <a:lnTo>
                    <a:pt x="3143" y="2371"/>
                  </a:lnTo>
                  <a:lnTo>
                    <a:pt x="3107" y="2441"/>
                  </a:lnTo>
                  <a:lnTo>
                    <a:pt x="3066" y="2511"/>
                  </a:lnTo>
                  <a:lnTo>
                    <a:pt x="3024" y="2578"/>
                  </a:lnTo>
                  <a:lnTo>
                    <a:pt x="2978" y="2642"/>
                  </a:lnTo>
                  <a:lnTo>
                    <a:pt x="2928" y="2705"/>
                  </a:lnTo>
                  <a:lnTo>
                    <a:pt x="2877" y="2765"/>
                  </a:lnTo>
                  <a:lnTo>
                    <a:pt x="2822" y="2822"/>
                  </a:lnTo>
                  <a:lnTo>
                    <a:pt x="2764" y="2877"/>
                  </a:lnTo>
                  <a:lnTo>
                    <a:pt x="2705" y="2930"/>
                  </a:lnTo>
                  <a:lnTo>
                    <a:pt x="2642" y="2978"/>
                  </a:lnTo>
                  <a:lnTo>
                    <a:pt x="2577" y="3024"/>
                  </a:lnTo>
                  <a:lnTo>
                    <a:pt x="2510" y="3068"/>
                  </a:lnTo>
                  <a:lnTo>
                    <a:pt x="2441" y="3107"/>
                  </a:lnTo>
                  <a:lnTo>
                    <a:pt x="2369" y="3144"/>
                  </a:lnTo>
                  <a:lnTo>
                    <a:pt x="2296" y="3176"/>
                  </a:lnTo>
                  <a:lnTo>
                    <a:pt x="2221" y="3206"/>
                  </a:lnTo>
                  <a:lnTo>
                    <a:pt x="2145" y="3233"/>
                  </a:lnTo>
                  <a:lnTo>
                    <a:pt x="2066" y="3254"/>
                  </a:lnTo>
                  <a:lnTo>
                    <a:pt x="1987" y="3273"/>
                  </a:lnTo>
                  <a:lnTo>
                    <a:pt x="1905" y="3288"/>
                  </a:lnTo>
                  <a:lnTo>
                    <a:pt x="1822" y="3298"/>
                  </a:lnTo>
                  <a:lnTo>
                    <a:pt x="1739" y="3304"/>
                  </a:lnTo>
                  <a:lnTo>
                    <a:pt x="1653" y="3307"/>
                  </a:lnTo>
                  <a:lnTo>
                    <a:pt x="1568" y="3304"/>
                  </a:lnTo>
                  <a:lnTo>
                    <a:pt x="1484" y="3298"/>
                  </a:lnTo>
                  <a:lnTo>
                    <a:pt x="1401" y="3288"/>
                  </a:lnTo>
                  <a:lnTo>
                    <a:pt x="1320" y="3273"/>
                  </a:lnTo>
                  <a:lnTo>
                    <a:pt x="1240" y="3254"/>
                  </a:lnTo>
                  <a:lnTo>
                    <a:pt x="1162" y="3233"/>
                  </a:lnTo>
                  <a:lnTo>
                    <a:pt x="1084" y="3206"/>
                  </a:lnTo>
                  <a:lnTo>
                    <a:pt x="1009" y="3176"/>
                  </a:lnTo>
                  <a:lnTo>
                    <a:pt x="936" y="3144"/>
                  </a:lnTo>
                  <a:lnTo>
                    <a:pt x="865" y="3107"/>
                  </a:lnTo>
                  <a:lnTo>
                    <a:pt x="796" y="3068"/>
                  </a:lnTo>
                  <a:lnTo>
                    <a:pt x="728" y="3024"/>
                  </a:lnTo>
                  <a:lnTo>
                    <a:pt x="664" y="2978"/>
                  </a:lnTo>
                  <a:lnTo>
                    <a:pt x="602" y="2930"/>
                  </a:lnTo>
                  <a:lnTo>
                    <a:pt x="541" y="2877"/>
                  </a:lnTo>
                  <a:lnTo>
                    <a:pt x="484" y="2822"/>
                  </a:lnTo>
                  <a:lnTo>
                    <a:pt x="430" y="2765"/>
                  </a:lnTo>
                  <a:lnTo>
                    <a:pt x="377" y="2705"/>
                  </a:lnTo>
                  <a:lnTo>
                    <a:pt x="329" y="2642"/>
                  </a:lnTo>
                  <a:lnTo>
                    <a:pt x="283" y="2578"/>
                  </a:lnTo>
                  <a:lnTo>
                    <a:pt x="239" y="2511"/>
                  </a:lnTo>
                  <a:lnTo>
                    <a:pt x="200" y="2441"/>
                  </a:lnTo>
                  <a:lnTo>
                    <a:pt x="163" y="2371"/>
                  </a:lnTo>
                  <a:lnTo>
                    <a:pt x="130" y="2296"/>
                  </a:lnTo>
                  <a:lnTo>
                    <a:pt x="100" y="2222"/>
                  </a:lnTo>
                  <a:lnTo>
                    <a:pt x="74" y="2145"/>
                  </a:lnTo>
                  <a:lnTo>
                    <a:pt x="52" y="2066"/>
                  </a:lnTo>
                  <a:lnTo>
                    <a:pt x="34" y="1987"/>
                  </a:lnTo>
                  <a:lnTo>
                    <a:pt x="19" y="1905"/>
                  </a:lnTo>
                  <a:lnTo>
                    <a:pt x="9" y="1823"/>
                  </a:lnTo>
                  <a:lnTo>
                    <a:pt x="2" y="1739"/>
                  </a:lnTo>
                  <a:lnTo>
                    <a:pt x="0" y="1653"/>
                  </a:lnTo>
                  <a:lnTo>
                    <a:pt x="2" y="1568"/>
                  </a:lnTo>
                  <a:lnTo>
                    <a:pt x="9" y="1485"/>
                  </a:lnTo>
                  <a:lnTo>
                    <a:pt x="19" y="1402"/>
                  </a:lnTo>
                  <a:lnTo>
                    <a:pt x="34" y="1320"/>
                  </a:lnTo>
                  <a:lnTo>
                    <a:pt x="52" y="1240"/>
                  </a:lnTo>
                  <a:lnTo>
                    <a:pt x="74" y="1162"/>
                  </a:lnTo>
                  <a:lnTo>
                    <a:pt x="100" y="1085"/>
                  </a:lnTo>
                  <a:lnTo>
                    <a:pt x="130" y="1010"/>
                  </a:lnTo>
                  <a:lnTo>
                    <a:pt x="163" y="937"/>
                  </a:lnTo>
                  <a:lnTo>
                    <a:pt x="200" y="865"/>
                  </a:lnTo>
                  <a:lnTo>
                    <a:pt x="239" y="796"/>
                  </a:lnTo>
                  <a:lnTo>
                    <a:pt x="283" y="730"/>
                  </a:lnTo>
                  <a:lnTo>
                    <a:pt x="329" y="665"/>
                  </a:lnTo>
                  <a:lnTo>
                    <a:pt x="377" y="602"/>
                  </a:lnTo>
                  <a:lnTo>
                    <a:pt x="430" y="542"/>
                  </a:lnTo>
                  <a:lnTo>
                    <a:pt x="484" y="485"/>
                  </a:lnTo>
                  <a:lnTo>
                    <a:pt x="541" y="430"/>
                  </a:lnTo>
                  <a:lnTo>
                    <a:pt x="602" y="378"/>
                  </a:lnTo>
                  <a:lnTo>
                    <a:pt x="664" y="329"/>
                  </a:lnTo>
                  <a:lnTo>
                    <a:pt x="728" y="283"/>
                  </a:lnTo>
                  <a:lnTo>
                    <a:pt x="796" y="240"/>
                  </a:lnTo>
                  <a:lnTo>
                    <a:pt x="865" y="200"/>
                  </a:lnTo>
                  <a:lnTo>
                    <a:pt x="936" y="164"/>
                  </a:lnTo>
                  <a:lnTo>
                    <a:pt x="1009" y="130"/>
                  </a:lnTo>
                  <a:lnTo>
                    <a:pt x="1084" y="101"/>
                  </a:lnTo>
                  <a:lnTo>
                    <a:pt x="1162" y="75"/>
                  </a:lnTo>
                  <a:lnTo>
                    <a:pt x="1240" y="53"/>
                  </a:lnTo>
                  <a:lnTo>
                    <a:pt x="1320" y="34"/>
                  </a:lnTo>
                  <a:lnTo>
                    <a:pt x="1401" y="19"/>
                  </a:lnTo>
                  <a:lnTo>
                    <a:pt x="1484" y="9"/>
                  </a:lnTo>
                  <a:lnTo>
                    <a:pt x="1568" y="2"/>
                  </a:lnTo>
                  <a:lnTo>
                    <a:pt x="1653"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sz="1600"/>
            </a:p>
          </p:txBody>
        </p:sp>
        <p:sp>
          <p:nvSpPr>
            <p:cNvPr id="25" name="Freeform 9">
              <a:extLst>
                <a:ext uri="{FF2B5EF4-FFF2-40B4-BE49-F238E27FC236}">
                  <a16:creationId xmlns:a16="http://schemas.microsoft.com/office/drawing/2014/main" id="{334181FF-1F93-92E9-C769-42116ADFEE1C}"/>
                </a:ext>
              </a:extLst>
            </p:cNvPr>
            <p:cNvSpPr>
              <a:spLocks/>
            </p:cNvSpPr>
            <p:nvPr/>
          </p:nvSpPr>
          <p:spPr bwMode="auto">
            <a:xfrm>
              <a:off x="1621916" y="3738471"/>
              <a:ext cx="365179" cy="365179"/>
            </a:xfrm>
            <a:custGeom>
              <a:avLst/>
              <a:gdLst>
                <a:gd name="T0" fmla="*/ 1616 w 2932"/>
                <a:gd name="T1" fmla="*/ 7 h 2931"/>
                <a:gd name="T2" fmla="*/ 1832 w 2932"/>
                <a:gd name="T3" fmla="*/ 46 h 2931"/>
                <a:gd name="T4" fmla="*/ 2036 w 2932"/>
                <a:gd name="T5" fmla="*/ 115 h 2931"/>
                <a:gd name="T6" fmla="*/ 2226 w 2932"/>
                <a:gd name="T7" fmla="*/ 212 h 2931"/>
                <a:gd name="T8" fmla="*/ 2399 w 2932"/>
                <a:gd name="T9" fmla="*/ 334 h 2931"/>
                <a:gd name="T10" fmla="*/ 2552 w 2932"/>
                <a:gd name="T11" fmla="*/ 480 h 2931"/>
                <a:gd name="T12" fmla="*/ 2682 w 2932"/>
                <a:gd name="T13" fmla="*/ 646 h 2931"/>
                <a:gd name="T14" fmla="*/ 2787 w 2932"/>
                <a:gd name="T15" fmla="*/ 830 h 2931"/>
                <a:gd name="T16" fmla="*/ 2866 w 2932"/>
                <a:gd name="T17" fmla="*/ 1030 h 2931"/>
                <a:gd name="T18" fmla="*/ 2915 w 2932"/>
                <a:gd name="T19" fmla="*/ 1242 h 2931"/>
                <a:gd name="T20" fmla="*/ 2932 w 2932"/>
                <a:gd name="T21" fmla="*/ 1465 h 2931"/>
                <a:gd name="T22" fmla="*/ 2915 w 2932"/>
                <a:gd name="T23" fmla="*/ 1689 h 2931"/>
                <a:gd name="T24" fmla="*/ 2866 w 2932"/>
                <a:gd name="T25" fmla="*/ 1902 h 2931"/>
                <a:gd name="T26" fmla="*/ 2787 w 2932"/>
                <a:gd name="T27" fmla="*/ 2101 h 2931"/>
                <a:gd name="T28" fmla="*/ 2682 w 2932"/>
                <a:gd name="T29" fmla="*/ 2285 h 2931"/>
                <a:gd name="T30" fmla="*/ 2552 w 2932"/>
                <a:gd name="T31" fmla="*/ 2451 h 2931"/>
                <a:gd name="T32" fmla="*/ 2399 w 2932"/>
                <a:gd name="T33" fmla="*/ 2597 h 2931"/>
                <a:gd name="T34" fmla="*/ 2226 w 2932"/>
                <a:gd name="T35" fmla="*/ 2719 h 2931"/>
                <a:gd name="T36" fmla="*/ 2036 w 2932"/>
                <a:gd name="T37" fmla="*/ 2817 h 2931"/>
                <a:gd name="T38" fmla="*/ 1832 w 2932"/>
                <a:gd name="T39" fmla="*/ 2885 h 2931"/>
                <a:gd name="T40" fmla="*/ 1616 w 2932"/>
                <a:gd name="T41" fmla="*/ 2924 h 2931"/>
                <a:gd name="T42" fmla="*/ 1391 w 2932"/>
                <a:gd name="T43" fmla="*/ 2930 h 2931"/>
                <a:gd name="T44" fmla="*/ 1170 w 2932"/>
                <a:gd name="T45" fmla="*/ 2902 h 2931"/>
                <a:gd name="T46" fmla="*/ 962 w 2932"/>
                <a:gd name="T47" fmla="*/ 2843 h 2931"/>
                <a:gd name="T48" fmla="*/ 767 w 2932"/>
                <a:gd name="T49" fmla="*/ 2755 h 2931"/>
                <a:gd name="T50" fmla="*/ 589 w 2932"/>
                <a:gd name="T51" fmla="*/ 2640 h 2931"/>
                <a:gd name="T52" fmla="*/ 429 w 2932"/>
                <a:gd name="T53" fmla="*/ 2502 h 2931"/>
                <a:gd name="T54" fmla="*/ 291 w 2932"/>
                <a:gd name="T55" fmla="*/ 2343 h 2931"/>
                <a:gd name="T56" fmla="*/ 177 w 2932"/>
                <a:gd name="T57" fmla="*/ 2165 h 2931"/>
                <a:gd name="T58" fmla="*/ 89 w 2932"/>
                <a:gd name="T59" fmla="*/ 1969 h 2931"/>
                <a:gd name="T60" fmla="*/ 30 w 2932"/>
                <a:gd name="T61" fmla="*/ 1761 h 2931"/>
                <a:gd name="T62" fmla="*/ 2 w 2932"/>
                <a:gd name="T63" fmla="*/ 1541 h 2931"/>
                <a:gd name="T64" fmla="*/ 7 w 2932"/>
                <a:gd name="T65" fmla="*/ 1316 h 2931"/>
                <a:gd name="T66" fmla="*/ 46 w 2932"/>
                <a:gd name="T67" fmla="*/ 1099 h 2931"/>
                <a:gd name="T68" fmla="*/ 115 w 2932"/>
                <a:gd name="T69" fmla="*/ 895 h 2931"/>
                <a:gd name="T70" fmla="*/ 213 w 2932"/>
                <a:gd name="T71" fmla="*/ 705 h 2931"/>
                <a:gd name="T72" fmla="*/ 335 w 2932"/>
                <a:gd name="T73" fmla="*/ 533 h 2931"/>
                <a:gd name="T74" fmla="*/ 480 w 2932"/>
                <a:gd name="T75" fmla="*/ 380 h 2931"/>
                <a:gd name="T76" fmla="*/ 646 w 2932"/>
                <a:gd name="T77" fmla="*/ 250 h 2931"/>
                <a:gd name="T78" fmla="*/ 830 w 2932"/>
                <a:gd name="T79" fmla="*/ 144 h 2931"/>
                <a:gd name="T80" fmla="*/ 1030 w 2932"/>
                <a:gd name="T81" fmla="*/ 66 h 2931"/>
                <a:gd name="T82" fmla="*/ 1243 w 2932"/>
                <a:gd name="T83" fmla="*/ 16 h 2931"/>
                <a:gd name="T84" fmla="*/ 1466 w 2932"/>
                <a:gd name="T85" fmla="*/ 0 h 2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2" h="2931">
                  <a:moveTo>
                    <a:pt x="1466" y="0"/>
                  </a:moveTo>
                  <a:lnTo>
                    <a:pt x="1541" y="2"/>
                  </a:lnTo>
                  <a:lnTo>
                    <a:pt x="1616" y="7"/>
                  </a:lnTo>
                  <a:lnTo>
                    <a:pt x="1690" y="16"/>
                  </a:lnTo>
                  <a:lnTo>
                    <a:pt x="1761" y="30"/>
                  </a:lnTo>
                  <a:lnTo>
                    <a:pt x="1832" y="46"/>
                  </a:lnTo>
                  <a:lnTo>
                    <a:pt x="1902" y="66"/>
                  </a:lnTo>
                  <a:lnTo>
                    <a:pt x="1970" y="88"/>
                  </a:lnTo>
                  <a:lnTo>
                    <a:pt x="2036" y="115"/>
                  </a:lnTo>
                  <a:lnTo>
                    <a:pt x="2102" y="144"/>
                  </a:lnTo>
                  <a:lnTo>
                    <a:pt x="2164" y="177"/>
                  </a:lnTo>
                  <a:lnTo>
                    <a:pt x="2226" y="212"/>
                  </a:lnTo>
                  <a:lnTo>
                    <a:pt x="2286" y="250"/>
                  </a:lnTo>
                  <a:lnTo>
                    <a:pt x="2343" y="290"/>
                  </a:lnTo>
                  <a:lnTo>
                    <a:pt x="2399" y="334"/>
                  </a:lnTo>
                  <a:lnTo>
                    <a:pt x="2452" y="380"/>
                  </a:lnTo>
                  <a:lnTo>
                    <a:pt x="2502" y="429"/>
                  </a:lnTo>
                  <a:lnTo>
                    <a:pt x="2552" y="480"/>
                  </a:lnTo>
                  <a:lnTo>
                    <a:pt x="2598" y="533"/>
                  </a:lnTo>
                  <a:lnTo>
                    <a:pt x="2640" y="589"/>
                  </a:lnTo>
                  <a:lnTo>
                    <a:pt x="2682" y="646"/>
                  </a:lnTo>
                  <a:lnTo>
                    <a:pt x="2720" y="705"/>
                  </a:lnTo>
                  <a:lnTo>
                    <a:pt x="2755" y="767"/>
                  </a:lnTo>
                  <a:lnTo>
                    <a:pt x="2787" y="830"/>
                  </a:lnTo>
                  <a:lnTo>
                    <a:pt x="2816" y="895"/>
                  </a:lnTo>
                  <a:lnTo>
                    <a:pt x="2843" y="961"/>
                  </a:lnTo>
                  <a:lnTo>
                    <a:pt x="2866" y="1030"/>
                  </a:lnTo>
                  <a:lnTo>
                    <a:pt x="2886" y="1099"/>
                  </a:lnTo>
                  <a:lnTo>
                    <a:pt x="2902" y="1170"/>
                  </a:lnTo>
                  <a:lnTo>
                    <a:pt x="2915" y="1242"/>
                  </a:lnTo>
                  <a:lnTo>
                    <a:pt x="2924" y="1316"/>
                  </a:lnTo>
                  <a:lnTo>
                    <a:pt x="2930" y="1390"/>
                  </a:lnTo>
                  <a:lnTo>
                    <a:pt x="2932" y="1465"/>
                  </a:lnTo>
                  <a:lnTo>
                    <a:pt x="2930" y="1541"/>
                  </a:lnTo>
                  <a:lnTo>
                    <a:pt x="2924" y="1616"/>
                  </a:lnTo>
                  <a:lnTo>
                    <a:pt x="2915" y="1689"/>
                  </a:lnTo>
                  <a:lnTo>
                    <a:pt x="2902" y="1761"/>
                  </a:lnTo>
                  <a:lnTo>
                    <a:pt x="2886" y="1832"/>
                  </a:lnTo>
                  <a:lnTo>
                    <a:pt x="2866" y="1902"/>
                  </a:lnTo>
                  <a:lnTo>
                    <a:pt x="2843" y="1969"/>
                  </a:lnTo>
                  <a:lnTo>
                    <a:pt x="2816" y="2037"/>
                  </a:lnTo>
                  <a:lnTo>
                    <a:pt x="2787" y="2101"/>
                  </a:lnTo>
                  <a:lnTo>
                    <a:pt x="2755" y="2165"/>
                  </a:lnTo>
                  <a:lnTo>
                    <a:pt x="2720" y="2225"/>
                  </a:lnTo>
                  <a:lnTo>
                    <a:pt x="2682" y="2285"/>
                  </a:lnTo>
                  <a:lnTo>
                    <a:pt x="2640" y="2343"/>
                  </a:lnTo>
                  <a:lnTo>
                    <a:pt x="2598" y="2398"/>
                  </a:lnTo>
                  <a:lnTo>
                    <a:pt x="2552" y="2451"/>
                  </a:lnTo>
                  <a:lnTo>
                    <a:pt x="2502" y="2502"/>
                  </a:lnTo>
                  <a:lnTo>
                    <a:pt x="2452" y="2551"/>
                  </a:lnTo>
                  <a:lnTo>
                    <a:pt x="2399" y="2597"/>
                  </a:lnTo>
                  <a:lnTo>
                    <a:pt x="2343" y="2640"/>
                  </a:lnTo>
                  <a:lnTo>
                    <a:pt x="2286" y="2681"/>
                  </a:lnTo>
                  <a:lnTo>
                    <a:pt x="2226" y="2719"/>
                  </a:lnTo>
                  <a:lnTo>
                    <a:pt x="2164" y="2755"/>
                  </a:lnTo>
                  <a:lnTo>
                    <a:pt x="2102" y="2786"/>
                  </a:lnTo>
                  <a:lnTo>
                    <a:pt x="2036" y="2817"/>
                  </a:lnTo>
                  <a:lnTo>
                    <a:pt x="1970" y="2843"/>
                  </a:lnTo>
                  <a:lnTo>
                    <a:pt x="1902" y="2866"/>
                  </a:lnTo>
                  <a:lnTo>
                    <a:pt x="1832" y="2885"/>
                  </a:lnTo>
                  <a:lnTo>
                    <a:pt x="1761" y="2902"/>
                  </a:lnTo>
                  <a:lnTo>
                    <a:pt x="1690" y="2914"/>
                  </a:lnTo>
                  <a:lnTo>
                    <a:pt x="1616" y="2924"/>
                  </a:lnTo>
                  <a:lnTo>
                    <a:pt x="1541" y="2930"/>
                  </a:lnTo>
                  <a:lnTo>
                    <a:pt x="1466" y="2931"/>
                  </a:lnTo>
                  <a:lnTo>
                    <a:pt x="1391" y="2930"/>
                  </a:lnTo>
                  <a:lnTo>
                    <a:pt x="1316" y="2924"/>
                  </a:lnTo>
                  <a:lnTo>
                    <a:pt x="1243" y="2914"/>
                  </a:lnTo>
                  <a:lnTo>
                    <a:pt x="1170" y="2902"/>
                  </a:lnTo>
                  <a:lnTo>
                    <a:pt x="1099" y="2885"/>
                  </a:lnTo>
                  <a:lnTo>
                    <a:pt x="1030" y="2866"/>
                  </a:lnTo>
                  <a:lnTo>
                    <a:pt x="962" y="2843"/>
                  </a:lnTo>
                  <a:lnTo>
                    <a:pt x="895" y="2817"/>
                  </a:lnTo>
                  <a:lnTo>
                    <a:pt x="830" y="2786"/>
                  </a:lnTo>
                  <a:lnTo>
                    <a:pt x="767" y="2755"/>
                  </a:lnTo>
                  <a:lnTo>
                    <a:pt x="705" y="2719"/>
                  </a:lnTo>
                  <a:lnTo>
                    <a:pt x="646" y="2681"/>
                  </a:lnTo>
                  <a:lnTo>
                    <a:pt x="589" y="2640"/>
                  </a:lnTo>
                  <a:lnTo>
                    <a:pt x="534" y="2597"/>
                  </a:lnTo>
                  <a:lnTo>
                    <a:pt x="480" y="2551"/>
                  </a:lnTo>
                  <a:lnTo>
                    <a:pt x="429" y="2502"/>
                  </a:lnTo>
                  <a:lnTo>
                    <a:pt x="381" y="2451"/>
                  </a:lnTo>
                  <a:lnTo>
                    <a:pt x="335" y="2398"/>
                  </a:lnTo>
                  <a:lnTo>
                    <a:pt x="291" y="2343"/>
                  </a:lnTo>
                  <a:lnTo>
                    <a:pt x="251" y="2285"/>
                  </a:lnTo>
                  <a:lnTo>
                    <a:pt x="213" y="2225"/>
                  </a:lnTo>
                  <a:lnTo>
                    <a:pt x="177" y="2165"/>
                  </a:lnTo>
                  <a:lnTo>
                    <a:pt x="144" y="2101"/>
                  </a:lnTo>
                  <a:lnTo>
                    <a:pt x="115" y="2037"/>
                  </a:lnTo>
                  <a:lnTo>
                    <a:pt x="89" y="1969"/>
                  </a:lnTo>
                  <a:lnTo>
                    <a:pt x="66" y="1902"/>
                  </a:lnTo>
                  <a:lnTo>
                    <a:pt x="46" y="1832"/>
                  </a:lnTo>
                  <a:lnTo>
                    <a:pt x="30" y="1761"/>
                  </a:lnTo>
                  <a:lnTo>
                    <a:pt x="17" y="1689"/>
                  </a:lnTo>
                  <a:lnTo>
                    <a:pt x="7" y="1616"/>
                  </a:lnTo>
                  <a:lnTo>
                    <a:pt x="2" y="1541"/>
                  </a:lnTo>
                  <a:lnTo>
                    <a:pt x="0" y="1465"/>
                  </a:lnTo>
                  <a:lnTo>
                    <a:pt x="2" y="1390"/>
                  </a:lnTo>
                  <a:lnTo>
                    <a:pt x="7" y="1316"/>
                  </a:lnTo>
                  <a:lnTo>
                    <a:pt x="17" y="1242"/>
                  </a:lnTo>
                  <a:lnTo>
                    <a:pt x="30" y="1170"/>
                  </a:lnTo>
                  <a:lnTo>
                    <a:pt x="46" y="1099"/>
                  </a:lnTo>
                  <a:lnTo>
                    <a:pt x="66" y="1030"/>
                  </a:lnTo>
                  <a:lnTo>
                    <a:pt x="89" y="961"/>
                  </a:lnTo>
                  <a:lnTo>
                    <a:pt x="115" y="895"/>
                  </a:lnTo>
                  <a:lnTo>
                    <a:pt x="144" y="830"/>
                  </a:lnTo>
                  <a:lnTo>
                    <a:pt x="177" y="767"/>
                  </a:lnTo>
                  <a:lnTo>
                    <a:pt x="213" y="705"/>
                  </a:lnTo>
                  <a:lnTo>
                    <a:pt x="251" y="646"/>
                  </a:lnTo>
                  <a:lnTo>
                    <a:pt x="291" y="589"/>
                  </a:lnTo>
                  <a:lnTo>
                    <a:pt x="335" y="533"/>
                  </a:lnTo>
                  <a:lnTo>
                    <a:pt x="381" y="480"/>
                  </a:lnTo>
                  <a:lnTo>
                    <a:pt x="429" y="429"/>
                  </a:lnTo>
                  <a:lnTo>
                    <a:pt x="480" y="380"/>
                  </a:lnTo>
                  <a:lnTo>
                    <a:pt x="534" y="334"/>
                  </a:lnTo>
                  <a:lnTo>
                    <a:pt x="589" y="290"/>
                  </a:lnTo>
                  <a:lnTo>
                    <a:pt x="646" y="250"/>
                  </a:lnTo>
                  <a:lnTo>
                    <a:pt x="705" y="212"/>
                  </a:lnTo>
                  <a:lnTo>
                    <a:pt x="767" y="177"/>
                  </a:lnTo>
                  <a:lnTo>
                    <a:pt x="830" y="144"/>
                  </a:lnTo>
                  <a:lnTo>
                    <a:pt x="895" y="115"/>
                  </a:lnTo>
                  <a:lnTo>
                    <a:pt x="962" y="88"/>
                  </a:lnTo>
                  <a:lnTo>
                    <a:pt x="1030" y="66"/>
                  </a:lnTo>
                  <a:lnTo>
                    <a:pt x="1099" y="46"/>
                  </a:lnTo>
                  <a:lnTo>
                    <a:pt x="1170" y="30"/>
                  </a:lnTo>
                  <a:lnTo>
                    <a:pt x="1243" y="16"/>
                  </a:lnTo>
                  <a:lnTo>
                    <a:pt x="1316" y="7"/>
                  </a:lnTo>
                  <a:lnTo>
                    <a:pt x="1391" y="2"/>
                  </a:lnTo>
                  <a:lnTo>
                    <a:pt x="1466" y="0"/>
                  </a:ln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sz="1600"/>
            </a:p>
          </p:txBody>
        </p:sp>
        <p:sp>
          <p:nvSpPr>
            <p:cNvPr id="27" name="Freeform 14">
              <a:extLst>
                <a:ext uri="{FF2B5EF4-FFF2-40B4-BE49-F238E27FC236}">
                  <a16:creationId xmlns:a16="http://schemas.microsoft.com/office/drawing/2014/main" id="{EBBE4438-44CE-3469-EB6F-1CD7E0E292FC}"/>
                </a:ext>
              </a:extLst>
            </p:cNvPr>
            <p:cNvSpPr>
              <a:spLocks/>
            </p:cNvSpPr>
            <p:nvPr/>
          </p:nvSpPr>
          <p:spPr bwMode="auto">
            <a:xfrm>
              <a:off x="1650760" y="3796459"/>
              <a:ext cx="318131" cy="294234"/>
            </a:xfrm>
            <a:custGeom>
              <a:avLst/>
              <a:gdLst>
                <a:gd name="T0" fmla="*/ 2508 w 2552"/>
                <a:gd name="T1" fmla="*/ 1224 h 2365"/>
                <a:gd name="T2" fmla="*/ 2457 w 2552"/>
                <a:gd name="T3" fmla="*/ 1448 h 2365"/>
                <a:gd name="T4" fmla="*/ 2367 w 2552"/>
                <a:gd name="T5" fmla="*/ 1656 h 2365"/>
                <a:gd name="T6" fmla="*/ 2243 w 2552"/>
                <a:gd name="T7" fmla="*/ 1842 h 2365"/>
                <a:gd name="T8" fmla="*/ 2091 w 2552"/>
                <a:gd name="T9" fmla="*/ 2004 h 2365"/>
                <a:gd name="T10" fmla="*/ 1911 w 2552"/>
                <a:gd name="T11" fmla="*/ 2136 h 2365"/>
                <a:gd name="T12" fmla="*/ 1710 w 2552"/>
                <a:gd name="T13" fmla="*/ 2237 h 2365"/>
                <a:gd name="T14" fmla="*/ 1490 w 2552"/>
                <a:gd name="T15" fmla="*/ 2301 h 2365"/>
                <a:gd name="T16" fmla="*/ 1362 w 2552"/>
                <a:gd name="T17" fmla="*/ 2320 h 2365"/>
                <a:gd name="T18" fmla="*/ 1266 w 2552"/>
                <a:gd name="T19" fmla="*/ 2326 h 2365"/>
                <a:gd name="T20" fmla="*/ 1169 w 2552"/>
                <a:gd name="T21" fmla="*/ 2324 h 2365"/>
                <a:gd name="T22" fmla="*/ 1074 w 2552"/>
                <a:gd name="T23" fmla="*/ 2315 h 2365"/>
                <a:gd name="T24" fmla="*/ 987 w 2552"/>
                <a:gd name="T25" fmla="*/ 2300 h 2365"/>
                <a:gd name="T26" fmla="*/ 806 w 2552"/>
                <a:gd name="T27" fmla="*/ 2250 h 2365"/>
                <a:gd name="T28" fmla="*/ 635 w 2552"/>
                <a:gd name="T29" fmla="*/ 2173 h 2365"/>
                <a:gd name="T30" fmla="*/ 479 w 2552"/>
                <a:gd name="T31" fmla="*/ 2073 h 2365"/>
                <a:gd name="T32" fmla="*/ 340 w 2552"/>
                <a:gd name="T33" fmla="*/ 1953 h 2365"/>
                <a:gd name="T34" fmla="*/ 219 w 2552"/>
                <a:gd name="T35" fmla="*/ 1814 h 2365"/>
                <a:gd name="T36" fmla="*/ 119 w 2552"/>
                <a:gd name="T37" fmla="*/ 1659 h 2365"/>
                <a:gd name="T38" fmla="*/ 41 w 2552"/>
                <a:gd name="T39" fmla="*/ 1490 h 2365"/>
                <a:gd name="T40" fmla="*/ 0 w 2552"/>
                <a:gd name="T41" fmla="*/ 1354 h 2365"/>
                <a:gd name="T42" fmla="*/ 46 w 2552"/>
                <a:gd name="T43" fmla="*/ 1513 h 2365"/>
                <a:gd name="T44" fmla="*/ 137 w 2552"/>
                <a:gd name="T45" fmla="*/ 1710 h 2365"/>
                <a:gd name="T46" fmla="*/ 258 w 2552"/>
                <a:gd name="T47" fmla="*/ 1887 h 2365"/>
                <a:gd name="T48" fmla="*/ 406 w 2552"/>
                <a:gd name="T49" fmla="*/ 2042 h 2365"/>
                <a:gd name="T50" fmla="*/ 578 w 2552"/>
                <a:gd name="T51" fmla="*/ 2170 h 2365"/>
                <a:gd name="T52" fmla="*/ 771 w 2552"/>
                <a:gd name="T53" fmla="*/ 2269 h 2365"/>
                <a:gd name="T54" fmla="*/ 980 w 2552"/>
                <a:gd name="T55" fmla="*/ 2335 h 2365"/>
                <a:gd name="T56" fmla="*/ 1203 w 2552"/>
                <a:gd name="T57" fmla="*/ 2364 h 2365"/>
                <a:gd name="T58" fmla="*/ 1403 w 2552"/>
                <a:gd name="T59" fmla="*/ 2357 h 2365"/>
                <a:gd name="T60" fmla="*/ 1586 w 2552"/>
                <a:gd name="T61" fmla="*/ 2324 h 2365"/>
                <a:gd name="T62" fmla="*/ 1775 w 2552"/>
                <a:gd name="T63" fmla="*/ 2259 h 2365"/>
                <a:gd name="T64" fmla="*/ 1956 w 2552"/>
                <a:gd name="T65" fmla="*/ 2162 h 2365"/>
                <a:gd name="T66" fmla="*/ 2119 w 2552"/>
                <a:gd name="T67" fmla="*/ 2039 h 2365"/>
                <a:gd name="T68" fmla="*/ 2259 w 2552"/>
                <a:gd name="T69" fmla="*/ 1893 h 2365"/>
                <a:gd name="T70" fmla="*/ 2376 w 2552"/>
                <a:gd name="T71" fmla="*/ 1725 h 2365"/>
                <a:gd name="T72" fmla="*/ 2465 w 2552"/>
                <a:gd name="T73" fmla="*/ 1540 h 2365"/>
                <a:gd name="T74" fmla="*/ 2524 w 2552"/>
                <a:gd name="T75" fmla="*/ 1340 h 2365"/>
                <a:gd name="T76" fmla="*/ 2551 w 2552"/>
                <a:gd name="T77" fmla="*/ 1128 h 2365"/>
                <a:gd name="T78" fmla="*/ 2545 w 2552"/>
                <a:gd name="T79" fmla="*/ 950 h 2365"/>
                <a:gd name="T80" fmla="*/ 2521 w 2552"/>
                <a:gd name="T81" fmla="*/ 789 h 2365"/>
                <a:gd name="T82" fmla="*/ 2476 w 2552"/>
                <a:gd name="T83" fmla="*/ 636 h 2365"/>
                <a:gd name="T84" fmla="*/ 2413 w 2552"/>
                <a:gd name="T85" fmla="*/ 491 h 2365"/>
                <a:gd name="T86" fmla="*/ 2334 w 2552"/>
                <a:gd name="T87" fmla="*/ 356 h 2365"/>
                <a:gd name="T88" fmla="*/ 2240 w 2552"/>
                <a:gd name="T89" fmla="*/ 233 h 2365"/>
                <a:gd name="T90" fmla="*/ 2131 w 2552"/>
                <a:gd name="T91" fmla="*/ 120 h 2365"/>
                <a:gd name="T92" fmla="*/ 2010 w 2552"/>
                <a:gd name="T93" fmla="*/ 23 h 2365"/>
                <a:gd name="T94" fmla="*/ 2067 w 2552"/>
                <a:gd name="T95" fmla="*/ 70 h 2365"/>
                <a:gd name="T96" fmla="*/ 2176 w 2552"/>
                <a:gd name="T97" fmla="*/ 173 h 2365"/>
                <a:gd name="T98" fmla="*/ 2273 w 2552"/>
                <a:gd name="T99" fmla="*/ 289 h 2365"/>
                <a:gd name="T100" fmla="*/ 2355 w 2552"/>
                <a:gd name="T101" fmla="*/ 416 h 2365"/>
                <a:gd name="T102" fmla="*/ 2422 w 2552"/>
                <a:gd name="T103" fmla="*/ 551 h 2365"/>
                <a:gd name="T104" fmla="*/ 2472 w 2552"/>
                <a:gd name="T105" fmla="*/ 696 h 2365"/>
                <a:gd name="T106" fmla="*/ 2506 w 2552"/>
                <a:gd name="T107" fmla="*/ 848 h 2365"/>
                <a:gd name="T108" fmla="*/ 2521 w 2552"/>
                <a:gd name="T109" fmla="*/ 1006 h 2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52" h="2365">
                  <a:moveTo>
                    <a:pt x="2521" y="1046"/>
                  </a:moveTo>
                  <a:lnTo>
                    <a:pt x="2520" y="1106"/>
                  </a:lnTo>
                  <a:lnTo>
                    <a:pt x="2515" y="1165"/>
                  </a:lnTo>
                  <a:lnTo>
                    <a:pt x="2508" y="1224"/>
                  </a:lnTo>
                  <a:lnTo>
                    <a:pt x="2499" y="1281"/>
                  </a:lnTo>
                  <a:lnTo>
                    <a:pt x="2488" y="1338"/>
                  </a:lnTo>
                  <a:lnTo>
                    <a:pt x="2474" y="1393"/>
                  </a:lnTo>
                  <a:lnTo>
                    <a:pt x="2457" y="1448"/>
                  </a:lnTo>
                  <a:lnTo>
                    <a:pt x="2438" y="1502"/>
                  </a:lnTo>
                  <a:lnTo>
                    <a:pt x="2416" y="1554"/>
                  </a:lnTo>
                  <a:lnTo>
                    <a:pt x="2393" y="1605"/>
                  </a:lnTo>
                  <a:lnTo>
                    <a:pt x="2367" y="1656"/>
                  </a:lnTo>
                  <a:lnTo>
                    <a:pt x="2339" y="1704"/>
                  </a:lnTo>
                  <a:lnTo>
                    <a:pt x="2310" y="1751"/>
                  </a:lnTo>
                  <a:lnTo>
                    <a:pt x="2277" y="1797"/>
                  </a:lnTo>
                  <a:lnTo>
                    <a:pt x="2243" y="1842"/>
                  </a:lnTo>
                  <a:lnTo>
                    <a:pt x="2208" y="1885"/>
                  </a:lnTo>
                  <a:lnTo>
                    <a:pt x="2170" y="1926"/>
                  </a:lnTo>
                  <a:lnTo>
                    <a:pt x="2131" y="1966"/>
                  </a:lnTo>
                  <a:lnTo>
                    <a:pt x="2091" y="2004"/>
                  </a:lnTo>
                  <a:lnTo>
                    <a:pt x="2048" y="2040"/>
                  </a:lnTo>
                  <a:lnTo>
                    <a:pt x="2004" y="2074"/>
                  </a:lnTo>
                  <a:lnTo>
                    <a:pt x="1958" y="2106"/>
                  </a:lnTo>
                  <a:lnTo>
                    <a:pt x="1911" y="2136"/>
                  </a:lnTo>
                  <a:lnTo>
                    <a:pt x="1863" y="2165"/>
                  </a:lnTo>
                  <a:lnTo>
                    <a:pt x="1814" y="2191"/>
                  </a:lnTo>
                  <a:lnTo>
                    <a:pt x="1762" y="2215"/>
                  </a:lnTo>
                  <a:lnTo>
                    <a:pt x="1710" y="2237"/>
                  </a:lnTo>
                  <a:lnTo>
                    <a:pt x="1656" y="2256"/>
                  </a:lnTo>
                  <a:lnTo>
                    <a:pt x="1603" y="2274"/>
                  </a:lnTo>
                  <a:lnTo>
                    <a:pt x="1548" y="2289"/>
                  </a:lnTo>
                  <a:lnTo>
                    <a:pt x="1490" y="2301"/>
                  </a:lnTo>
                  <a:lnTo>
                    <a:pt x="1433" y="2311"/>
                  </a:lnTo>
                  <a:lnTo>
                    <a:pt x="1409" y="2315"/>
                  </a:lnTo>
                  <a:lnTo>
                    <a:pt x="1386" y="2318"/>
                  </a:lnTo>
                  <a:lnTo>
                    <a:pt x="1362" y="2320"/>
                  </a:lnTo>
                  <a:lnTo>
                    <a:pt x="1339" y="2323"/>
                  </a:lnTo>
                  <a:lnTo>
                    <a:pt x="1314" y="2324"/>
                  </a:lnTo>
                  <a:lnTo>
                    <a:pt x="1291" y="2325"/>
                  </a:lnTo>
                  <a:lnTo>
                    <a:pt x="1266" y="2326"/>
                  </a:lnTo>
                  <a:lnTo>
                    <a:pt x="1242" y="2326"/>
                  </a:lnTo>
                  <a:lnTo>
                    <a:pt x="1218" y="2326"/>
                  </a:lnTo>
                  <a:lnTo>
                    <a:pt x="1193" y="2325"/>
                  </a:lnTo>
                  <a:lnTo>
                    <a:pt x="1169" y="2324"/>
                  </a:lnTo>
                  <a:lnTo>
                    <a:pt x="1146" y="2323"/>
                  </a:lnTo>
                  <a:lnTo>
                    <a:pt x="1121" y="2320"/>
                  </a:lnTo>
                  <a:lnTo>
                    <a:pt x="1097" y="2318"/>
                  </a:lnTo>
                  <a:lnTo>
                    <a:pt x="1074" y="2315"/>
                  </a:lnTo>
                  <a:lnTo>
                    <a:pt x="1050" y="2311"/>
                  </a:lnTo>
                  <a:lnTo>
                    <a:pt x="1042" y="2310"/>
                  </a:lnTo>
                  <a:lnTo>
                    <a:pt x="1035" y="2309"/>
                  </a:lnTo>
                  <a:lnTo>
                    <a:pt x="987" y="2300"/>
                  </a:lnTo>
                  <a:lnTo>
                    <a:pt x="941" y="2290"/>
                  </a:lnTo>
                  <a:lnTo>
                    <a:pt x="895" y="2278"/>
                  </a:lnTo>
                  <a:lnTo>
                    <a:pt x="849" y="2264"/>
                  </a:lnTo>
                  <a:lnTo>
                    <a:pt x="806" y="2250"/>
                  </a:lnTo>
                  <a:lnTo>
                    <a:pt x="762" y="2233"/>
                  </a:lnTo>
                  <a:lnTo>
                    <a:pt x="719" y="2214"/>
                  </a:lnTo>
                  <a:lnTo>
                    <a:pt x="677" y="2195"/>
                  </a:lnTo>
                  <a:lnTo>
                    <a:pt x="635" y="2173"/>
                  </a:lnTo>
                  <a:lnTo>
                    <a:pt x="595" y="2150"/>
                  </a:lnTo>
                  <a:lnTo>
                    <a:pt x="555" y="2126"/>
                  </a:lnTo>
                  <a:lnTo>
                    <a:pt x="517" y="2100"/>
                  </a:lnTo>
                  <a:lnTo>
                    <a:pt x="479" y="2073"/>
                  </a:lnTo>
                  <a:lnTo>
                    <a:pt x="443" y="2045"/>
                  </a:lnTo>
                  <a:lnTo>
                    <a:pt x="407" y="2016"/>
                  </a:lnTo>
                  <a:lnTo>
                    <a:pt x="374" y="1985"/>
                  </a:lnTo>
                  <a:lnTo>
                    <a:pt x="340" y="1953"/>
                  </a:lnTo>
                  <a:lnTo>
                    <a:pt x="307" y="1921"/>
                  </a:lnTo>
                  <a:lnTo>
                    <a:pt x="277" y="1886"/>
                  </a:lnTo>
                  <a:lnTo>
                    <a:pt x="248" y="1851"/>
                  </a:lnTo>
                  <a:lnTo>
                    <a:pt x="219" y="1814"/>
                  </a:lnTo>
                  <a:lnTo>
                    <a:pt x="192" y="1777"/>
                  </a:lnTo>
                  <a:lnTo>
                    <a:pt x="166" y="1739"/>
                  </a:lnTo>
                  <a:lnTo>
                    <a:pt x="142" y="1700"/>
                  </a:lnTo>
                  <a:lnTo>
                    <a:pt x="119" y="1659"/>
                  </a:lnTo>
                  <a:lnTo>
                    <a:pt x="97" y="1618"/>
                  </a:lnTo>
                  <a:lnTo>
                    <a:pt x="77" y="1576"/>
                  </a:lnTo>
                  <a:lnTo>
                    <a:pt x="59" y="1533"/>
                  </a:lnTo>
                  <a:lnTo>
                    <a:pt x="41" y="1490"/>
                  </a:lnTo>
                  <a:lnTo>
                    <a:pt x="27" y="1445"/>
                  </a:lnTo>
                  <a:lnTo>
                    <a:pt x="12" y="1400"/>
                  </a:lnTo>
                  <a:lnTo>
                    <a:pt x="0" y="1354"/>
                  </a:lnTo>
                  <a:lnTo>
                    <a:pt x="0" y="1354"/>
                  </a:lnTo>
                  <a:lnTo>
                    <a:pt x="0" y="1354"/>
                  </a:lnTo>
                  <a:lnTo>
                    <a:pt x="13" y="1408"/>
                  </a:lnTo>
                  <a:lnTo>
                    <a:pt x="29" y="1461"/>
                  </a:lnTo>
                  <a:lnTo>
                    <a:pt x="46" y="1513"/>
                  </a:lnTo>
                  <a:lnTo>
                    <a:pt x="66" y="1564"/>
                  </a:lnTo>
                  <a:lnTo>
                    <a:pt x="87" y="1613"/>
                  </a:lnTo>
                  <a:lnTo>
                    <a:pt x="111" y="1663"/>
                  </a:lnTo>
                  <a:lnTo>
                    <a:pt x="137" y="1710"/>
                  </a:lnTo>
                  <a:lnTo>
                    <a:pt x="165" y="1756"/>
                  </a:lnTo>
                  <a:lnTo>
                    <a:pt x="194" y="1802"/>
                  </a:lnTo>
                  <a:lnTo>
                    <a:pt x="225" y="1845"/>
                  </a:lnTo>
                  <a:lnTo>
                    <a:pt x="258" y="1887"/>
                  </a:lnTo>
                  <a:lnTo>
                    <a:pt x="293" y="1929"/>
                  </a:lnTo>
                  <a:lnTo>
                    <a:pt x="329" y="1968"/>
                  </a:lnTo>
                  <a:lnTo>
                    <a:pt x="367" y="2006"/>
                  </a:lnTo>
                  <a:lnTo>
                    <a:pt x="406" y="2042"/>
                  </a:lnTo>
                  <a:lnTo>
                    <a:pt x="448" y="2077"/>
                  </a:lnTo>
                  <a:lnTo>
                    <a:pt x="489" y="2109"/>
                  </a:lnTo>
                  <a:lnTo>
                    <a:pt x="533" y="2141"/>
                  </a:lnTo>
                  <a:lnTo>
                    <a:pt x="578" y="2170"/>
                  </a:lnTo>
                  <a:lnTo>
                    <a:pt x="625" y="2198"/>
                  </a:lnTo>
                  <a:lnTo>
                    <a:pt x="672" y="2224"/>
                  </a:lnTo>
                  <a:lnTo>
                    <a:pt x="720" y="2247"/>
                  </a:lnTo>
                  <a:lnTo>
                    <a:pt x="771" y="2269"/>
                  </a:lnTo>
                  <a:lnTo>
                    <a:pt x="821" y="2289"/>
                  </a:lnTo>
                  <a:lnTo>
                    <a:pt x="873" y="2306"/>
                  </a:lnTo>
                  <a:lnTo>
                    <a:pt x="927" y="2321"/>
                  </a:lnTo>
                  <a:lnTo>
                    <a:pt x="980" y="2335"/>
                  </a:lnTo>
                  <a:lnTo>
                    <a:pt x="1035" y="2345"/>
                  </a:lnTo>
                  <a:lnTo>
                    <a:pt x="1090" y="2354"/>
                  </a:lnTo>
                  <a:lnTo>
                    <a:pt x="1147" y="2360"/>
                  </a:lnTo>
                  <a:lnTo>
                    <a:pt x="1203" y="2364"/>
                  </a:lnTo>
                  <a:lnTo>
                    <a:pt x="1260" y="2365"/>
                  </a:lnTo>
                  <a:lnTo>
                    <a:pt x="1308" y="2364"/>
                  </a:lnTo>
                  <a:lnTo>
                    <a:pt x="1356" y="2362"/>
                  </a:lnTo>
                  <a:lnTo>
                    <a:pt x="1403" y="2357"/>
                  </a:lnTo>
                  <a:lnTo>
                    <a:pt x="1450" y="2352"/>
                  </a:lnTo>
                  <a:lnTo>
                    <a:pt x="1496" y="2344"/>
                  </a:lnTo>
                  <a:lnTo>
                    <a:pt x="1541" y="2335"/>
                  </a:lnTo>
                  <a:lnTo>
                    <a:pt x="1586" y="2324"/>
                  </a:lnTo>
                  <a:lnTo>
                    <a:pt x="1629" y="2311"/>
                  </a:lnTo>
                  <a:lnTo>
                    <a:pt x="1680" y="2296"/>
                  </a:lnTo>
                  <a:lnTo>
                    <a:pt x="1728" y="2278"/>
                  </a:lnTo>
                  <a:lnTo>
                    <a:pt x="1775" y="2259"/>
                  </a:lnTo>
                  <a:lnTo>
                    <a:pt x="1823" y="2236"/>
                  </a:lnTo>
                  <a:lnTo>
                    <a:pt x="1869" y="2214"/>
                  </a:lnTo>
                  <a:lnTo>
                    <a:pt x="1913" y="2188"/>
                  </a:lnTo>
                  <a:lnTo>
                    <a:pt x="1956" y="2162"/>
                  </a:lnTo>
                  <a:lnTo>
                    <a:pt x="1999" y="2133"/>
                  </a:lnTo>
                  <a:lnTo>
                    <a:pt x="2040" y="2104"/>
                  </a:lnTo>
                  <a:lnTo>
                    <a:pt x="2080" y="2072"/>
                  </a:lnTo>
                  <a:lnTo>
                    <a:pt x="2119" y="2039"/>
                  </a:lnTo>
                  <a:lnTo>
                    <a:pt x="2156" y="2004"/>
                  </a:lnTo>
                  <a:lnTo>
                    <a:pt x="2192" y="1968"/>
                  </a:lnTo>
                  <a:lnTo>
                    <a:pt x="2227" y="1931"/>
                  </a:lnTo>
                  <a:lnTo>
                    <a:pt x="2259" y="1893"/>
                  </a:lnTo>
                  <a:lnTo>
                    <a:pt x="2291" y="1852"/>
                  </a:lnTo>
                  <a:lnTo>
                    <a:pt x="2321" y="1811"/>
                  </a:lnTo>
                  <a:lnTo>
                    <a:pt x="2349" y="1769"/>
                  </a:lnTo>
                  <a:lnTo>
                    <a:pt x="2376" y="1725"/>
                  </a:lnTo>
                  <a:lnTo>
                    <a:pt x="2401" y="1681"/>
                  </a:lnTo>
                  <a:lnTo>
                    <a:pt x="2424" y="1634"/>
                  </a:lnTo>
                  <a:lnTo>
                    <a:pt x="2445" y="1588"/>
                  </a:lnTo>
                  <a:lnTo>
                    <a:pt x="2465" y="1540"/>
                  </a:lnTo>
                  <a:lnTo>
                    <a:pt x="2482" y="1492"/>
                  </a:lnTo>
                  <a:lnTo>
                    <a:pt x="2498" y="1443"/>
                  </a:lnTo>
                  <a:lnTo>
                    <a:pt x="2513" y="1392"/>
                  </a:lnTo>
                  <a:lnTo>
                    <a:pt x="2524" y="1340"/>
                  </a:lnTo>
                  <a:lnTo>
                    <a:pt x="2534" y="1289"/>
                  </a:lnTo>
                  <a:lnTo>
                    <a:pt x="2542" y="1236"/>
                  </a:lnTo>
                  <a:lnTo>
                    <a:pt x="2548" y="1182"/>
                  </a:lnTo>
                  <a:lnTo>
                    <a:pt x="2551" y="1128"/>
                  </a:lnTo>
                  <a:lnTo>
                    <a:pt x="2552" y="1074"/>
                  </a:lnTo>
                  <a:lnTo>
                    <a:pt x="2551" y="1032"/>
                  </a:lnTo>
                  <a:lnTo>
                    <a:pt x="2549" y="990"/>
                  </a:lnTo>
                  <a:lnTo>
                    <a:pt x="2545" y="950"/>
                  </a:lnTo>
                  <a:lnTo>
                    <a:pt x="2541" y="908"/>
                  </a:lnTo>
                  <a:lnTo>
                    <a:pt x="2535" y="869"/>
                  </a:lnTo>
                  <a:lnTo>
                    <a:pt x="2529" y="829"/>
                  </a:lnTo>
                  <a:lnTo>
                    <a:pt x="2521" y="789"/>
                  </a:lnTo>
                  <a:lnTo>
                    <a:pt x="2511" y="750"/>
                  </a:lnTo>
                  <a:lnTo>
                    <a:pt x="2500" y="712"/>
                  </a:lnTo>
                  <a:lnTo>
                    <a:pt x="2488" y="674"/>
                  </a:lnTo>
                  <a:lnTo>
                    <a:pt x="2476" y="636"/>
                  </a:lnTo>
                  <a:lnTo>
                    <a:pt x="2461" y="599"/>
                  </a:lnTo>
                  <a:lnTo>
                    <a:pt x="2447" y="563"/>
                  </a:lnTo>
                  <a:lnTo>
                    <a:pt x="2430" y="527"/>
                  </a:lnTo>
                  <a:lnTo>
                    <a:pt x="2413" y="491"/>
                  </a:lnTo>
                  <a:lnTo>
                    <a:pt x="2395" y="456"/>
                  </a:lnTo>
                  <a:lnTo>
                    <a:pt x="2376" y="422"/>
                  </a:lnTo>
                  <a:lnTo>
                    <a:pt x="2355" y="389"/>
                  </a:lnTo>
                  <a:lnTo>
                    <a:pt x="2334" y="356"/>
                  </a:lnTo>
                  <a:lnTo>
                    <a:pt x="2312" y="324"/>
                  </a:lnTo>
                  <a:lnTo>
                    <a:pt x="2288" y="292"/>
                  </a:lnTo>
                  <a:lnTo>
                    <a:pt x="2265" y="262"/>
                  </a:lnTo>
                  <a:lnTo>
                    <a:pt x="2240" y="233"/>
                  </a:lnTo>
                  <a:lnTo>
                    <a:pt x="2213" y="203"/>
                  </a:lnTo>
                  <a:lnTo>
                    <a:pt x="2187" y="174"/>
                  </a:lnTo>
                  <a:lnTo>
                    <a:pt x="2159" y="147"/>
                  </a:lnTo>
                  <a:lnTo>
                    <a:pt x="2131" y="120"/>
                  </a:lnTo>
                  <a:lnTo>
                    <a:pt x="2102" y="95"/>
                  </a:lnTo>
                  <a:lnTo>
                    <a:pt x="2072" y="70"/>
                  </a:lnTo>
                  <a:lnTo>
                    <a:pt x="2041" y="46"/>
                  </a:lnTo>
                  <a:lnTo>
                    <a:pt x="2010" y="23"/>
                  </a:lnTo>
                  <a:lnTo>
                    <a:pt x="1979" y="0"/>
                  </a:lnTo>
                  <a:lnTo>
                    <a:pt x="2009" y="23"/>
                  </a:lnTo>
                  <a:lnTo>
                    <a:pt x="2038" y="45"/>
                  </a:lnTo>
                  <a:lnTo>
                    <a:pt x="2067" y="70"/>
                  </a:lnTo>
                  <a:lnTo>
                    <a:pt x="2095" y="95"/>
                  </a:lnTo>
                  <a:lnTo>
                    <a:pt x="2123" y="119"/>
                  </a:lnTo>
                  <a:lnTo>
                    <a:pt x="2150" y="146"/>
                  </a:lnTo>
                  <a:lnTo>
                    <a:pt x="2176" y="173"/>
                  </a:lnTo>
                  <a:lnTo>
                    <a:pt x="2202" y="201"/>
                  </a:lnTo>
                  <a:lnTo>
                    <a:pt x="2225" y="229"/>
                  </a:lnTo>
                  <a:lnTo>
                    <a:pt x="2249" y="258"/>
                  </a:lnTo>
                  <a:lnTo>
                    <a:pt x="2273" y="289"/>
                  </a:lnTo>
                  <a:lnTo>
                    <a:pt x="2294" y="319"/>
                  </a:lnTo>
                  <a:lnTo>
                    <a:pt x="2315" y="350"/>
                  </a:lnTo>
                  <a:lnTo>
                    <a:pt x="2335" y="382"/>
                  </a:lnTo>
                  <a:lnTo>
                    <a:pt x="2355" y="416"/>
                  </a:lnTo>
                  <a:lnTo>
                    <a:pt x="2372" y="448"/>
                  </a:lnTo>
                  <a:lnTo>
                    <a:pt x="2390" y="482"/>
                  </a:lnTo>
                  <a:lnTo>
                    <a:pt x="2406" y="517"/>
                  </a:lnTo>
                  <a:lnTo>
                    <a:pt x="2422" y="551"/>
                  </a:lnTo>
                  <a:lnTo>
                    <a:pt x="2435" y="586"/>
                  </a:lnTo>
                  <a:lnTo>
                    <a:pt x="2449" y="622"/>
                  </a:lnTo>
                  <a:lnTo>
                    <a:pt x="2461" y="659"/>
                  </a:lnTo>
                  <a:lnTo>
                    <a:pt x="2472" y="696"/>
                  </a:lnTo>
                  <a:lnTo>
                    <a:pt x="2482" y="733"/>
                  </a:lnTo>
                  <a:lnTo>
                    <a:pt x="2491" y="771"/>
                  </a:lnTo>
                  <a:lnTo>
                    <a:pt x="2499" y="810"/>
                  </a:lnTo>
                  <a:lnTo>
                    <a:pt x="2506" y="848"/>
                  </a:lnTo>
                  <a:lnTo>
                    <a:pt x="2512" y="887"/>
                  </a:lnTo>
                  <a:lnTo>
                    <a:pt x="2515" y="926"/>
                  </a:lnTo>
                  <a:lnTo>
                    <a:pt x="2518" y="966"/>
                  </a:lnTo>
                  <a:lnTo>
                    <a:pt x="2521" y="1006"/>
                  </a:lnTo>
                  <a:lnTo>
                    <a:pt x="2521" y="1046"/>
                  </a:lnTo>
                  <a:close/>
                </a:path>
              </a:pathLst>
            </a:custGeom>
            <a:solidFill>
              <a:schemeClr val="accent4">
                <a:lumMod val="50000"/>
              </a:schemeClr>
            </a:solidFill>
            <a:ln>
              <a:solidFill>
                <a:schemeClr val="accent5">
                  <a:lumMod val="50000"/>
                </a:schemeClr>
              </a:solidFill>
            </a:ln>
          </p:spPr>
          <p:txBody>
            <a:bodyPr vert="horz" wrap="square" lIns="91440" tIns="45720" rIns="91440" bIns="45720" numCol="1" anchor="t" anchorCtr="0" compatLnSpc="1">
              <a:prstTxWarp prst="textNoShape">
                <a:avLst/>
              </a:prstTxWarp>
            </a:bodyPr>
            <a:lstStyle/>
            <a:p>
              <a:endParaRPr lang="en-US" sz="1600"/>
            </a:p>
          </p:txBody>
        </p:sp>
        <p:sp>
          <p:nvSpPr>
            <p:cNvPr id="26" name="Freeform 10">
              <a:extLst>
                <a:ext uri="{FF2B5EF4-FFF2-40B4-BE49-F238E27FC236}">
                  <a16:creationId xmlns:a16="http://schemas.microsoft.com/office/drawing/2014/main" id="{334D96F5-34CC-5433-4B88-8D839832FD2D}"/>
                </a:ext>
              </a:extLst>
            </p:cNvPr>
            <p:cNvSpPr>
              <a:spLocks/>
            </p:cNvSpPr>
            <p:nvPr/>
          </p:nvSpPr>
          <p:spPr bwMode="auto">
            <a:xfrm>
              <a:off x="1645066" y="3765430"/>
              <a:ext cx="318878" cy="318131"/>
            </a:xfrm>
            <a:custGeom>
              <a:avLst/>
              <a:gdLst>
                <a:gd name="T0" fmla="*/ 1409 w 2558"/>
                <a:gd name="T1" fmla="*/ 6 h 2558"/>
                <a:gd name="T2" fmla="*/ 1599 w 2558"/>
                <a:gd name="T3" fmla="*/ 39 h 2558"/>
                <a:gd name="T4" fmla="*/ 1776 w 2558"/>
                <a:gd name="T5" fmla="*/ 100 h 2558"/>
                <a:gd name="T6" fmla="*/ 1943 w 2558"/>
                <a:gd name="T7" fmla="*/ 185 h 2558"/>
                <a:gd name="T8" fmla="*/ 2093 w 2558"/>
                <a:gd name="T9" fmla="*/ 292 h 2558"/>
                <a:gd name="T10" fmla="*/ 2225 w 2558"/>
                <a:gd name="T11" fmla="*/ 419 h 2558"/>
                <a:gd name="T12" fmla="*/ 2340 w 2558"/>
                <a:gd name="T13" fmla="*/ 563 h 2558"/>
                <a:gd name="T14" fmla="*/ 2432 w 2558"/>
                <a:gd name="T15" fmla="*/ 724 h 2558"/>
                <a:gd name="T16" fmla="*/ 2500 w 2558"/>
                <a:gd name="T17" fmla="*/ 898 h 2558"/>
                <a:gd name="T18" fmla="*/ 2543 w 2558"/>
                <a:gd name="T19" fmla="*/ 1084 h 2558"/>
                <a:gd name="T20" fmla="*/ 2558 w 2558"/>
                <a:gd name="T21" fmla="*/ 1278 h 2558"/>
                <a:gd name="T22" fmla="*/ 2543 w 2558"/>
                <a:gd name="T23" fmla="*/ 1474 h 2558"/>
                <a:gd name="T24" fmla="*/ 2500 w 2558"/>
                <a:gd name="T25" fmla="*/ 1659 h 2558"/>
                <a:gd name="T26" fmla="*/ 2432 w 2558"/>
                <a:gd name="T27" fmla="*/ 1833 h 2558"/>
                <a:gd name="T28" fmla="*/ 2340 w 2558"/>
                <a:gd name="T29" fmla="*/ 1993 h 2558"/>
                <a:gd name="T30" fmla="*/ 2225 w 2558"/>
                <a:gd name="T31" fmla="*/ 2138 h 2558"/>
                <a:gd name="T32" fmla="*/ 2093 w 2558"/>
                <a:gd name="T33" fmla="*/ 2265 h 2558"/>
                <a:gd name="T34" fmla="*/ 1943 w 2558"/>
                <a:gd name="T35" fmla="*/ 2373 h 2558"/>
                <a:gd name="T36" fmla="*/ 1776 w 2558"/>
                <a:gd name="T37" fmla="*/ 2457 h 2558"/>
                <a:gd name="T38" fmla="*/ 1599 w 2558"/>
                <a:gd name="T39" fmla="*/ 2517 h 2558"/>
                <a:gd name="T40" fmla="*/ 1409 w 2558"/>
                <a:gd name="T41" fmla="*/ 2551 h 2558"/>
                <a:gd name="T42" fmla="*/ 1213 w 2558"/>
                <a:gd name="T43" fmla="*/ 2556 h 2558"/>
                <a:gd name="T44" fmla="*/ 1021 w 2558"/>
                <a:gd name="T45" fmla="*/ 2532 h 2558"/>
                <a:gd name="T46" fmla="*/ 839 w 2558"/>
                <a:gd name="T47" fmla="*/ 2480 h 2558"/>
                <a:gd name="T48" fmla="*/ 670 w 2558"/>
                <a:gd name="T49" fmla="*/ 2403 h 2558"/>
                <a:gd name="T50" fmla="*/ 514 w 2558"/>
                <a:gd name="T51" fmla="*/ 2303 h 2558"/>
                <a:gd name="T52" fmla="*/ 375 w 2558"/>
                <a:gd name="T53" fmla="*/ 2183 h 2558"/>
                <a:gd name="T54" fmla="*/ 255 w 2558"/>
                <a:gd name="T55" fmla="*/ 2044 h 2558"/>
                <a:gd name="T56" fmla="*/ 155 w 2558"/>
                <a:gd name="T57" fmla="*/ 1888 h 2558"/>
                <a:gd name="T58" fmla="*/ 77 w 2558"/>
                <a:gd name="T59" fmla="*/ 1718 h 2558"/>
                <a:gd name="T60" fmla="*/ 26 w 2558"/>
                <a:gd name="T61" fmla="*/ 1537 h 2558"/>
                <a:gd name="T62" fmla="*/ 2 w 2558"/>
                <a:gd name="T63" fmla="*/ 1345 h 2558"/>
                <a:gd name="T64" fmla="*/ 6 w 2558"/>
                <a:gd name="T65" fmla="*/ 1148 h 2558"/>
                <a:gd name="T66" fmla="*/ 40 w 2558"/>
                <a:gd name="T67" fmla="*/ 958 h 2558"/>
                <a:gd name="T68" fmla="*/ 101 w 2558"/>
                <a:gd name="T69" fmla="*/ 781 h 2558"/>
                <a:gd name="T70" fmla="*/ 185 w 2558"/>
                <a:gd name="T71" fmla="*/ 615 h 2558"/>
                <a:gd name="T72" fmla="*/ 292 w 2558"/>
                <a:gd name="T73" fmla="*/ 465 h 2558"/>
                <a:gd name="T74" fmla="*/ 418 w 2558"/>
                <a:gd name="T75" fmla="*/ 332 h 2558"/>
                <a:gd name="T76" fmla="*/ 564 w 2558"/>
                <a:gd name="T77" fmla="*/ 218 h 2558"/>
                <a:gd name="T78" fmla="*/ 725 w 2558"/>
                <a:gd name="T79" fmla="*/ 126 h 2558"/>
                <a:gd name="T80" fmla="*/ 899 w 2558"/>
                <a:gd name="T81" fmla="*/ 57 h 2558"/>
                <a:gd name="T82" fmla="*/ 1084 w 2558"/>
                <a:gd name="T83" fmla="*/ 15 h 2558"/>
                <a:gd name="T84" fmla="*/ 1279 w 2558"/>
                <a:gd name="T85" fmla="*/ 0 h 2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58" h="2558">
                  <a:moveTo>
                    <a:pt x="1279" y="0"/>
                  </a:moveTo>
                  <a:lnTo>
                    <a:pt x="1344" y="1"/>
                  </a:lnTo>
                  <a:lnTo>
                    <a:pt x="1409" y="6"/>
                  </a:lnTo>
                  <a:lnTo>
                    <a:pt x="1473" y="15"/>
                  </a:lnTo>
                  <a:lnTo>
                    <a:pt x="1536" y="26"/>
                  </a:lnTo>
                  <a:lnTo>
                    <a:pt x="1599" y="39"/>
                  </a:lnTo>
                  <a:lnTo>
                    <a:pt x="1660" y="57"/>
                  </a:lnTo>
                  <a:lnTo>
                    <a:pt x="1719" y="77"/>
                  </a:lnTo>
                  <a:lnTo>
                    <a:pt x="1776" y="100"/>
                  </a:lnTo>
                  <a:lnTo>
                    <a:pt x="1834" y="126"/>
                  </a:lnTo>
                  <a:lnTo>
                    <a:pt x="1889" y="154"/>
                  </a:lnTo>
                  <a:lnTo>
                    <a:pt x="1943" y="185"/>
                  </a:lnTo>
                  <a:lnTo>
                    <a:pt x="1994" y="218"/>
                  </a:lnTo>
                  <a:lnTo>
                    <a:pt x="2045" y="254"/>
                  </a:lnTo>
                  <a:lnTo>
                    <a:pt x="2093" y="292"/>
                  </a:lnTo>
                  <a:lnTo>
                    <a:pt x="2139" y="332"/>
                  </a:lnTo>
                  <a:lnTo>
                    <a:pt x="2184" y="374"/>
                  </a:lnTo>
                  <a:lnTo>
                    <a:pt x="2225" y="419"/>
                  </a:lnTo>
                  <a:lnTo>
                    <a:pt x="2266" y="465"/>
                  </a:lnTo>
                  <a:lnTo>
                    <a:pt x="2304" y="513"/>
                  </a:lnTo>
                  <a:lnTo>
                    <a:pt x="2340" y="563"/>
                  </a:lnTo>
                  <a:lnTo>
                    <a:pt x="2372" y="615"/>
                  </a:lnTo>
                  <a:lnTo>
                    <a:pt x="2404" y="669"/>
                  </a:lnTo>
                  <a:lnTo>
                    <a:pt x="2432" y="724"/>
                  </a:lnTo>
                  <a:lnTo>
                    <a:pt x="2458" y="781"/>
                  </a:lnTo>
                  <a:lnTo>
                    <a:pt x="2480" y="838"/>
                  </a:lnTo>
                  <a:lnTo>
                    <a:pt x="2500" y="898"/>
                  </a:lnTo>
                  <a:lnTo>
                    <a:pt x="2517" y="958"/>
                  </a:lnTo>
                  <a:lnTo>
                    <a:pt x="2532" y="1020"/>
                  </a:lnTo>
                  <a:lnTo>
                    <a:pt x="2543" y="1084"/>
                  </a:lnTo>
                  <a:lnTo>
                    <a:pt x="2551" y="1148"/>
                  </a:lnTo>
                  <a:lnTo>
                    <a:pt x="2557" y="1212"/>
                  </a:lnTo>
                  <a:lnTo>
                    <a:pt x="2558" y="1278"/>
                  </a:lnTo>
                  <a:lnTo>
                    <a:pt x="2557" y="1345"/>
                  </a:lnTo>
                  <a:lnTo>
                    <a:pt x="2551" y="1410"/>
                  </a:lnTo>
                  <a:lnTo>
                    <a:pt x="2543" y="1474"/>
                  </a:lnTo>
                  <a:lnTo>
                    <a:pt x="2532" y="1537"/>
                  </a:lnTo>
                  <a:lnTo>
                    <a:pt x="2517" y="1598"/>
                  </a:lnTo>
                  <a:lnTo>
                    <a:pt x="2500" y="1659"/>
                  </a:lnTo>
                  <a:lnTo>
                    <a:pt x="2480" y="1718"/>
                  </a:lnTo>
                  <a:lnTo>
                    <a:pt x="2458" y="1777"/>
                  </a:lnTo>
                  <a:lnTo>
                    <a:pt x="2432" y="1833"/>
                  </a:lnTo>
                  <a:lnTo>
                    <a:pt x="2404" y="1888"/>
                  </a:lnTo>
                  <a:lnTo>
                    <a:pt x="2372" y="1942"/>
                  </a:lnTo>
                  <a:lnTo>
                    <a:pt x="2340" y="1993"/>
                  </a:lnTo>
                  <a:lnTo>
                    <a:pt x="2304" y="2044"/>
                  </a:lnTo>
                  <a:lnTo>
                    <a:pt x="2266" y="2092"/>
                  </a:lnTo>
                  <a:lnTo>
                    <a:pt x="2225" y="2138"/>
                  </a:lnTo>
                  <a:lnTo>
                    <a:pt x="2184" y="2183"/>
                  </a:lnTo>
                  <a:lnTo>
                    <a:pt x="2139" y="2226"/>
                  </a:lnTo>
                  <a:lnTo>
                    <a:pt x="2093" y="2265"/>
                  </a:lnTo>
                  <a:lnTo>
                    <a:pt x="2045" y="2303"/>
                  </a:lnTo>
                  <a:lnTo>
                    <a:pt x="1994" y="2339"/>
                  </a:lnTo>
                  <a:lnTo>
                    <a:pt x="1943" y="2373"/>
                  </a:lnTo>
                  <a:lnTo>
                    <a:pt x="1889" y="2403"/>
                  </a:lnTo>
                  <a:lnTo>
                    <a:pt x="1834" y="2431"/>
                  </a:lnTo>
                  <a:lnTo>
                    <a:pt x="1776" y="2457"/>
                  </a:lnTo>
                  <a:lnTo>
                    <a:pt x="1719" y="2480"/>
                  </a:lnTo>
                  <a:lnTo>
                    <a:pt x="1660" y="2500"/>
                  </a:lnTo>
                  <a:lnTo>
                    <a:pt x="1599" y="2517"/>
                  </a:lnTo>
                  <a:lnTo>
                    <a:pt x="1536" y="2532"/>
                  </a:lnTo>
                  <a:lnTo>
                    <a:pt x="1473" y="2543"/>
                  </a:lnTo>
                  <a:lnTo>
                    <a:pt x="1409" y="2551"/>
                  </a:lnTo>
                  <a:lnTo>
                    <a:pt x="1344" y="2556"/>
                  </a:lnTo>
                  <a:lnTo>
                    <a:pt x="1279" y="2558"/>
                  </a:lnTo>
                  <a:lnTo>
                    <a:pt x="1213" y="2556"/>
                  </a:lnTo>
                  <a:lnTo>
                    <a:pt x="1148" y="2551"/>
                  </a:lnTo>
                  <a:lnTo>
                    <a:pt x="1084" y="2543"/>
                  </a:lnTo>
                  <a:lnTo>
                    <a:pt x="1021" y="2532"/>
                  </a:lnTo>
                  <a:lnTo>
                    <a:pt x="959" y="2517"/>
                  </a:lnTo>
                  <a:lnTo>
                    <a:pt x="899" y="2500"/>
                  </a:lnTo>
                  <a:lnTo>
                    <a:pt x="839" y="2480"/>
                  </a:lnTo>
                  <a:lnTo>
                    <a:pt x="781" y="2457"/>
                  </a:lnTo>
                  <a:lnTo>
                    <a:pt x="725" y="2431"/>
                  </a:lnTo>
                  <a:lnTo>
                    <a:pt x="670" y="2403"/>
                  </a:lnTo>
                  <a:lnTo>
                    <a:pt x="616" y="2373"/>
                  </a:lnTo>
                  <a:lnTo>
                    <a:pt x="564" y="2339"/>
                  </a:lnTo>
                  <a:lnTo>
                    <a:pt x="514" y="2303"/>
                  </a:lnTo>
                  <a:lnTo>
                    <a:pt x="466" y="2265"/>
                  </a:lnTo>
                  <a:lnTo>
                    <a:pt x="418" y="2226"/>
                  </a:lnTo>
                  <a:lnTo>
                    <a:pt x="375" y="2183"/>
                  </a:lnTo>
                  <a:lnTo>
                    <a:pt x="332" y="2138"/>
                  </a:lnTo>
                  <a:lnTo>
                    <a:pt x="292" y="2092"/>
                  </a:lnTo>
                  <a:lnTo>
                    <a:pt x="255" y="2044"/>
                  </a:lnTo>
                  <a:lnTo>
                    <a:pt x="219" y="1993"/>
                  </a:lnTo>
                  <a:lnTo>
                    <a:pt x="185" y="1942"/>
                  </a:lnTo>
                  <a:lnTo>
                    <a:pt x="155" y="1888"/>
                  </a:lnTo>
                  <a:lnTo>
                    <a:pt x="127" y="1833"/>
                  </a:lnTo>
                  <a:lnTo>
                    <a:pt x="101" y="1777"/>
                  </a:lnTo>
                  <a:lnTo>
                    <a:pt x="77" y="1718"/>
                  </a:lnTo>
                  <a:lnTo>
                    <a:pt x="57" y="1659"/>
                  </a:lnTo>
                  <a:lnTo>
                    <a:pt x="40" y="1598"/>
                  </a:lnTo>
                  <a:lnTo>
                    <a:pt x="26" y="1537"/>
                  </a:lnTo>
                  <a:lnTo>
                    <a:pt x="14" y="1474"/>
                  </a:lnTo>
                  <a:lnTo>
                    <a:pt x="6" y="1410"/>
                  </a:lnTo>
                  <a:lnTo>
                    <a:pt x="2" y="1345"/>
                  </a:lnTo>
                  <a:lnTo>
                    <a:pt x="0" y="1278"/>
                  </a:lnTo>
                  <a:lnTo>
                    <a:pt x="2" y="1212"/>
                  </a:lnTo>
                  <a:lnTo>
                    <a:pt x="6" y="1148"/>
                  </a:lnTo>
                  <a:lnTo>
                    <a:pt x="14" y="1084"/>
                  </a:lnTo>
                  <a:lnTo>
                    <a:pt x="26" y="1020"/>
                  </a:lnTo>
                  <a:lnTo>
                    <a:pt x="40" y="958"/>
                  </a:lnTo>
                  <a:lnTo>
                    <a:pt x="57" y="898"/>
                  </a:lnTo>
                  <a:lnTo>
                    <a:pt x="77" y="838"/>
                  </a:lnTo>
                  <a:lnTo>
                    <a:pt x="101" y="781"/>
                  </a:lnTo>
                  <a:lnTo>
                    <a:pt x="127" y="724"/>
                  </a:lnTo>
                  <a:lnTo>
                    <a:pt x="155" y="669"/>
                  </a:lnTo>
                  <a:lnTo>
                    <a:pt x="185" y="615"/>
                  </a:lnTo>
                  <a:lnTo>
                    <a:pt x="219" y="563"/>
                  </a:lnTo>
                  <a:lnTo>
                    <a:pt x="255" y="513"/>
                  </a:lnTo>
                  <a:lnTo>
                    <a:pt x="292" y="465"/>
                  </a:lnTo>
                  <a:lnTo>
                    <a:pt x="332" y="419"/>
                  </a:lnTo>
                  <a:lnTo>
                    <a:pt x="375" y="374"/>
                  </a:lnTo>
                  <a:lnTo>
                    <a:pt x="418" y="332"/>
                  </a:lnTo>
                  <a:lnTo>
                    <a:pt x="466" y="292"/>
                  </a:lnTo>
                  <a:lnTo>
                    <a:pt x="514" y="254"/>
                  </a:lnTo>
                  <a:lnTo>
                    <a:pt x="564" y="218"/>
                  </a:lnTo>
                  <a:lnTo>
                    <a:pt x="616" y="185"/>
                  </a:lnTo>
                  <a:lnTo>
                    <a:pt x="670" y="154"/>
                  </a:lnTo>
                  <a:lnTo>
                    <a:pt x="725" y="126"/>
                  </a:lnTo>
                  <a:lnTo>
                    <a:pt x="781" y="100"/>
                  </a:lnTo>
                  <a:lnTo>
                    <a:pt x="839" y="77"/>
                  </a:lnTo>
                  <a:lnTo>
                    <a:pt x="899" y="57"/>
                  </a:lnTo>
                  <a:lnTo>
                    <a:pt x="959" y="39"/>
                  </a:lnTo>
                  <a:lnTo>
                    <a:pt x="1021" y="26"/>
                  </a:lnTo>
                  <a:lnTo>
                    <a:pt x="1084" y="15"/>
                  </a:lnTo>
                  <a:lnTo>
                    <a:pt x="1148" y="6"/>
                  </a:lnTo>
                  <a:lnTo>
                    <a:pt x="1213" y="1"/>
                  </a:lnTo>
                  <a:lnTo>
                    <a:pt x="1279" y="0"/>
                  </a:ln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sz="1600"/>
            </a:p>
          </p:txBody>
        </p:sp>
        <p:pic>
          <p:nvPicPr>
            <p:cNvPr id="28" name="Graphic 27" descr="Handshake">
              <a:extLst>
                <a:ext uri="{FF2B5EF4-FFF2-40B4-BE49-F238E27FC236}">
                  <a16:creationId xmlns:a16="http://schemas.microsoft.com/office/drawing/2014/main" id="{780E5674-8EAE-A9EA-9FE2-ED52B9F6199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71737" y="3797443"/>
              <a:ext cx="276965" cy="276965"/>
            </a:xfrm>
            <a:prstGeom prst="rect">
              <a:avLst/>
            </a:prstGeom>
          </p:spPr>
        </p:pic>
      </p:grpSp>
      <p:grpSp>
        <p:nvGrpSpPr>
          <p:cNvPr id="69" name="Group 68">
            <a:extLst>
              <a:ext uri="{FF2B5EF4-FFF2-40B4-BE49-F238E27FC236}">
                <a16:creationId xmlns:a16="http://schemas.microsoft.com/office/drawing/2014/main" id="{FDFCD764-630B-A904-E09E-1E708711D271}"/>
              </a:ext>
            </a:extLst>
          </p:cNvPr>
          <p:cNvGrpSpPr/>
          <p:nvPr/>
        </p:nvGrpSpPr>
        <p:grpSpPr>
          <a:xfrm>
            <a:off x="1382820" y="955323"/>
            <a:ext cx="327312" cy="327312"/>
            <a:chOff x="1598765" y="1698913"/>
            <a:chExt cx="411480" cy="411480"/>
          </a:xfrm>
        </p:grpSpPr>
        <p:sp>
          <p:nvSpPr>
            <p:cNvPr id="70" name="Freeform 8">
              <a:extLst>
                <a:ext uri="{FF2B5EF4-FFF2-40B4-BE49-F238E27FC236}">
                  <a16:creationId xmlns:a16="http://schemas.microsoft.com/office/drawing/2014/main" id="{51C1CC03-C931-6EB6-5EEE-08728031DE08}"/>
                </a:ext>
              </a:extLst>
            </p:cNvPr>
            <p:cNvSpPr>
              <a:spLocks/>
            </p:cNvSpPr>
            <p:nvPr/>
          </p:nvSpPr>
          <p:spPr bwMode="auto">
            <a:xfrm>
              <a:off x="1598765" y="1698913"/>
              <a:ext cx="411480" cy="411480"/>
            </a:xfrm>
            <a:custGeom>
              <a:avLst/>
              <a:gdLst>
                <a:gd name="T0" fmla="*/ 1822 w 3305"/>
                <a:gd name="T1" fmla="*/ 9 h 3307"/>
                <a:gd name="T2" fmla="*/ 2066 w 3305"/>
                <a:gd name="T3" fmla="*/ 53 h 3307"/>
                <a:gd name="T4" fmla="*/ 2296 w 3305"/>
                <a:gd name="T5" fmla="*/ 130 h 3307"/>
                <a:gd name="T6" fmla="*/ 2510 w 3305"/>
                <a:gd name="T7" fmla="*/ 240 h 3307"/>
                <a:gd name="T8" fmla="*/ 2705 w 3305"/>
                <a:gd name="T9" fmla="*/ 378 h 3307"/>
                <a:gd name="T10" fmla="*/ 2877 w 3305"/>
                <a:gd name="T11" fmla="*/ 542 h 3307"/>
                <a:gd name="T12" fmla="*/ 3024 w 3305"/>
                <a:gd name="T13" fmla="*/ 730 h 3307"/>
                <a:gd name="T14" fmla="*/ 3143 w 3305"/>
                <a:gd name="T15" fmla="*/ 937 h 3307"/>
                <a:gd name="T16" fmla="*/ 3231 w 3305"/>
                <a:gd name="T17" fmla="*/ 1162 h 3307"/>
                <a:gd name="T18" fmla="*/ 3286 w 3305"/>
                <a:gd name="T19" fmla="*/ 1402 h 3307"/>
                <a:gd name="T20" fmla="*/ 3305 w 3305"/>
                <a:gd name="T21" fmla="*/ 1653 h 3307"/>
                <a:gd name="T22" fmla="*/ 3286 w 3305"/>
                <a:gd name="T23" fmla="*/ 1905 h 3307"/>
                <a:gd name="T24" fmla="*/ 3231 w 3305"/>
                <a:gd name="T25" fmla="*/ 2145 h 3307"/>
                <a:gd name="T26" fmla="*/ 3143 w 3305"/>
                <a:gd name="T27" fmla="*/ 2371 h 3307"/>
                <a:gd name="T28" fmla="*/ 3024 w 3305"/>
                <a:gd name="T29" fmla="*/ 2578 h 3307"/>
                <a:gd name="T30" fmla="*/ 2877 w 3305"/>
                <a:gd name="T31" fmla="*/ 2765 h 3307"/>
                <a:gd name="T32" fmla="*/ 2705 w 3305"/>
                <a:gd name="T33" fmla="*/ 2930 h 3307"/>
                <a:gd name="T34" fmla="*/ 2510 w 3305"/>
                <a:gd name="T35" fmla="*/ 3068 h 3307"/>
                <a:gd name="T36" fmla="*/ 2296 w 3305"/>
                <a:gd name="T37" fmla="*/ 3176 h 3307"/>
                <a:gd name="T38" fmla="*/ 2066 w 3305"/>
                <a:gd name="T39" fmla="*/ 3254 h 3307"/>
                <a:gd name="T40" fmla="*/ 1822 w 3305"/>
                <a:gd name="T41" fmla="*/ 3298 h 3307"/>
                <a:gd name="T42" fmla="*/ 1568 w 3305"/>
                <a:gd name="T43" fmla="*/ 3304 h 3307"/>
                <a:gd name="T44" fmla="*/ 1320 w 3305"/>
                <a:gd name="T45" fmla="*/ 3273 h 3307"/>
                <a:gd name="T46" fmla="*/ 1084 w 3305"/>
                <a:gd name="T47" fmla="*/ 3206 h 3307"/>
                <a:gd name="T48" fmla="*/ 865 w 3305"/>
                <a:gd name="T49" fmla="*/ 3107 h 3307"/>
                <a:gd name="T50" fmla="*/ 664 w 3305"/>
                <a:gd name="T51" fmla="*/ 2978 h 3307"/>
                <a:gd name="T52" fmla="*/ 484 w 3305"/>
                <a:gd name="T53" fmla="*/ 2822 h 3307"/>
                <a:gd name="T54" fmla="*/ 329 w 3305"/>
                <a:gd name="T55" fmla="*/ 2642 h 3307"/>
                <a:gd name="T56" fmla="*/ 200 w 3305"/>
                <a:gd name="T57" fmla="*/ 2441 h 3307"/>
                <a:gd name="T58" fmla="*/ 100 w 3305"/>
                <a:gd name="T59" fmla="*/ 2222 h 3307"/>
                <a:gd name="T60" fmla="*/ 34 w 3305"/>
                <a:gd name="T61" fmla="*/ 1987 h 3307"/>
                <a:gd name="T62" fmla="*/ 2 w 3305"/>
                <a:gd name="T63" fmla="*/ 1739 h 3307"/>
                <a:gd name="T64" fmla="*/ 9 w 3305"/>
                <a:gd name="T65" fmla="*/ 1485 h 3307"/>
                <a:gd name="T66" fmla="*/ 52 w 3305"/>
                <a:gd name="T67" fmla="*/ 1240 h 3307"/>
                <a:gd name="T68" fmla="*/ 130 w 3305"/>
                <a:gd name="T69" fmla="*/ 1010 h 3307"/>
                <a:gd name="T70" fmla="*/ 239 w 3305"/>
                <a:gd name="T71" fmla="*/ 796 h 3307"/>
                <a:gd name="T72" fmla="*/ 377 w 3305"/>
                <a:gd name="T73" fmla="*/ 602 h 3307"/>
                <a:gd name="T74" fmla="*/ 541 w 3305"/>
                <a:gd name="T75" fmla="*/ 430 h 3307"/>
                <a:gd name="T76" fmla="*/ 728 w 3305"/>
                <a:gd name="T77" fmla="*/ 283 h 3307"/>
                <a:gd name="T78" fmla="*/ 936 w 3305"/>
                <a:gd name="T79" fmla="*/ 164 h 3307"/>
                <a:gd name="T80" fmla="*/ 1162 w 3305"/>
                <a:gd name="T81" fmla="*/ 75 h 3307"/>
                <a:gd name="T82" fmla="*/ 1401 w 3305"/>
                <a:gd name="T83" fmla="*/ 19 h 3307"/>
                <a:gd name="T84" fmla="*/ 1653 w 3305"/>
                <a:gd name="T85" fmla="*/ 0 h 3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05" h="3307">
                  <a:moveTo>
                    <a:pt x="1653" y="0"/>
                  </a:moveTo>
                  <a:lnTo>
                    <a:pt x="1739" y="2"/>
                  </a:lnTo>
                  <a:lnTo>
                    <a:pt x="1822" y="9"/>
                  </a:lnTo>
                  <a:lnTo>
                    <a:pt x="1905" y="19"/>
                  </a:lnTo>
                  <a:lnTo>
                    <a:pt x="1987" y="34"/>
                  </a:lnTo>
                  <a:lnTo>
                    <a:pt x="2066" y="53"/>
                  </a:lnTo>
                  <a:lnTo>
                    <a:pt x="2145" y="75"/>
                  </a:lnTo>
                  <a:lnTo>
                    <a:pt x="2221" y="101"/>
                  </a:lnTo>
                  <a:lnTo>
                    <a:pt x="2296" y="130"/>
                  </a:lnTo>
                  <a:lnTo>
                    <a:pt x="2369" y="164"/>
                  </a:lnTo>
                  <a:lnTo>
                    <a:pt x="2441" y="200"/>
                  </a:lnTo>
                  <a:lnTo>
                    <a:pt x="2510" y="240"/>
                  </a:lnTo>
                  <a:lnTo>
                    <a:pt x="2577" y="283"/>
                  </a:lnTo>
                  <a:lnTo>
                    <a:pt x="2642" y="329"/>
                  </a:lnTo>
                  <a:lnTo>
                    <a:pt x="2705" y="378"/>
                  </a:lnTo>
                  <a:lnTo>
                    <a:pt x="2764" y="430"/>
                  </a:lnTo>
                  <a:lnTo>
                    <a:pt x="2822" y="485"/>
                  </a:lnTo>
                  <a:lnTo>
                    <a:pt x="2877" y="542"/>
                  </a:lnTo>
                  <a:lnTo>
                    <a:pt x="2928" y="602"/>
                  </a:lnTo>
                  <a:lnTo>
                    <a:pt x="2978" y="665"/>
                  </a:lnTo>
                  <a:lnTo>
                    <a:pt x="3024" y="730"/>
                  </a:lnTo>
                  <a:lnTo>
                    <a:pt x="3066" y="796"/>
                  </a:lnTo>
                  <a:lnTo>
                    <a:pt x="3107" y="865"/>
                  </a:lnTo>
                  <a:lnTo>
                    <a:pt x="3143" y="937"/>
                  </a:lnTo>
                  <a:lnTo>
                    <a:pt x="3176" y="1010"/>
                  </a:lnTo>
                  <a:lnTo>
                    <a:pt x="3206" y="1085"/>
                  </a:lnTo>
                  <a:lnTo>
                    <a:pt x="3231" y="1162"/>
                  </a:lnTo>
                  <a:lnTo>
                    <a:pt x="3254" y="1240"/>
                  </a:lnTo>
                  <a:lnTo>
                    <a:pt x="3273" y="1320"/>
                  </a:lnTo>
                  <a:lnTo>
                    <a:pt x="3286" y="1402"/>
                  </a:lnTo>
                  <a:lnTo>
                    <a:pt x="3298" y="1485"/>
                  </a:lnTo>
                  <a:lnTo>
                    <a:pt x="3304" y="1568"/>
                  </a:lnTo>
                  <a:lnTo>
                    <a:pt x="3305" y="1653"/>
                  </a:lnTo>
                  <a:lnTo>
                    <a:pt x="3304" y="1739"/>
                  </a:lnTo>
                  <a:lnTo>
                    <a:pt x="3298" y="1823"/>
                  </a:lnTo>
                  <a:lnTo>
                    <a:pt x="3286" y="1905"/>
                  </a:lnTo>
                  <a:lnTo>
                    <a:pt x="3273" y="1987"/>
                  </a:lnTo>
                  <a:lnTo>
                    <a:pt x="3254" y="2066"/>
                  </a:lnTo>
                  <a:lnTo>
                    <a:pt x="3231" y="2145"/>
                  </a:lnTo>
                  <a:lnTo>
                    <a:pt x="3206" y="2222"/>
                  </a:lnTo>
                  <a:lnTo>
                    <a:pt x="3176" y="2296"/>
                  </a:lnTo>
                  <a:lnTo>
                    <a:pt x="3143" y="2371"/>
                  </a:lnTo>
                  <a:lnTo>
                    <a:pt x="3107" y="2441"/>
                  </a:lnTo>
                  <a:lnTo>
                    <a:pt x="3066" y="2511"/>
                  </a:lnTo>
                  <a:lnTo>
                    <a:pt x="3024" y="2578"/>
                  </a:lnTo>
                  <a:lnTo>
                    <a:pt x="2978" y="2642"/>
                  </a:lnTo>
                  <a:lnTo>
                    <a:pt x="2928" y="2705"/>
                  </a:lnTo>
                  <a:lnTo>
                    <a:pt x="2877" y="2765"/>
                  </a:lnTo>
                  <a:lnTo>
                    <a:pt x="2822" y="2822"/>
                  </a:lnTo>
                  <a:lnTo>
                    <a:pt x="2764" y="2877"/>
                  </a:lnTo>
                  <a:lnTo>
                    <a:pt x="2705" y="2930"/>
                  </a:lnTo>
                  <a:lnTo>
                    <a:pt x="2642" y="2978"/>
                  </a:lnTo>
                  <a:lnTo>
                    <a:pt x="2577" y="3024"/>
                  </a:lnTo>
                  <a:lnTo>
                    <a:pt x="2510" y="3068"/>
                  </a:lnTo>
                  <a:lnTo>
                    <a:pt x="2441" y="3107"/>
                  </a:lnTo>
                  <a:lnTo>
                    <a:pt x="2369" y="3144"/>
                  </a:lnTo>
                  <a:lnTo>
                    <a:pt x="2296" y="3176"/>
                  </a:lnTo>
                  <a:lnTo>
                    <a:pt x="2221" y="3206"/>
                  </a:lnTo>
                  <a:lnTo>
                    <a:pt x="2145" y="3233"/>
                  </a:lnTo>
                  <a:lnTo>
                    <a:pt x="2066" y="3254"/>
                  </a:lnTo>
                  <a:lnTo>
                    <a:pt x="1987" y="3273"/>
                  </a:lnTo>
                  <a:lnTo>
                    <a:pt x="1905" y="3288"/>
                  </a:lnTo>
                  <a:lnTo>
                    <a:pt x="1822" y="3298"/>
                  </a:lnTo>
                  <a:lnTo>
                    <a:pt x="1739" y="3304"/>
                  </a:lnTo>
                  <a:lnTo>
                    <a:pt x="1653" y="3307"/>
                  </a:lnTo>
                  <a:lnTo>
                    <a:pt x="1568" y="3304"/>
                  </a:lnTo>
                  <a:lnTo>
                    <a:pt x="1484" y="3298"/>
                  </a:lnTo>
                  <a:lnTo>
                    <a:pt x="1401" y="3288"/>
                  </a:lnTo>
                  <a:lnTo>
                    <a:pt x="1320" y="3273"/>
                  </a:lnTo>
                  <a:lnTo>
                    <a:pt x="1240" y="3254"/>
                  </a:lnTo>
                  <a:lnTo>
                    <a:pt x="1162" y="3233"/>
                  </a:lnTo>
                  <a:lnTo>
                    <a:pt x="1084" y="3206"/>
                  </a:lnTo>
                  <a:lnTo>
                    <a:pt x="1009" y="3176"/>
                  </a:lnTo>
                  <a:lnTo>
                    <a:pt x="936" y="3144"/>
                  </a:lnTo>
                  <a:lnTo>
                    <a:pt x="865" y="3107"/>
                  </a:lnTo>
                  <a:lnTo>
                    <a:pt x="796" y="3068"/>
                  </a:lnTo>
                  <a:lnTo>
                    <a:pt x="728" y="3024"/>
                  </a:lnTo>
                  <a:lnTo>
                    <a:pt x="664" y="2978"/>
                  </a:lnTo>
                  <a:lnTo>
                    <a:pt x="602" y="2930"/>
                  </a:lnTo>
                  <a:lnTo>
                    <a:pt x="541" y="2877"/>
                  </a:lnTo>
                  <a:lnTo>
                    <a:pt x="484" y="2822"/>
                  </a:lnTo>
                  <a:lnTo>
                    <a:pt x="430" y="2765"/>
                  </a:lnTo>
                  <a:lnTo>
                    <a:pt x="377" y="2705"/>
                  </a:lnTo>
                  <a:lnTo>
                    <a:pt x="329" y="2642"/>
                  </a:lnTo>
                  <a:lnTo>
                    <a:pt x="283" y="2578"/>
                  </a:lnTo>
                  <a:lnTo>
                    <a:pt x="239" y="2511"/>
                  </a:lnTo>
                  <a:lnTo>
                    <a:pt x="200" y="2441"/>
                  </a:lnTo>
                  <a:lnTo>
                    <a:pt x="163" y="2371"/>
                  </a:lnTo>
                  <a:lnTo>
                    <a:pt x="130" y="2296"/>
                  </a:lnTo>
                  <a:lnTo>
                    <a:pt x="100" y="2222"/>
                  </a:lnTo>
                  <a:lnTo>
                    <a:pt x="74" y="2145"/>
                  </a:lnTo>
                  <a:lnTo>
                    <a:pt x="52" y="2066"/>
                  </a:lnTo>
                  <a:lnTo>
                    <a:pt x="34" y="1987"/>
                  </a:lnTo>
                  <a:lnTo>
                    <a:pt x="19" y="1905"/>
                  </a:lnTo>
                  <a:lnTo>
                    <a:pt x="9" y="1823"/>
                  </a:lnTo>
                  <a:lnTo>
                    <a:pt x="2" y="1739"/>
                  </a:lnTo>
                  <a:lnTo>
                    <a:pt x="0" y="1653"/>
                  </a:lnTo>
                  <a:lnTo>
                    <a:pt x="2" y="1568"/>
                  </a:lnTo>
                  <a:lnTo>
                    <a:pt x="9" y="1485"/>
                  </a:lnTo>
                  <a:lnTo>
                    <a:pt x="19" y="1402"/>
                  </a:lnTo>
                  <a:lnTo>
                    <a:pt x="34" y="1320"/>
                  </a:lnTo>
                  <a:lnTo>
                    <a:pt x="52" y="1240"/>
                  </a:lnTo>
                  <a:lnTo>
                    <a:pt x="74" y="1162"/>
                  </a:lnTo>
                  <a:lnTo>
                    <a:pt x="100" y="1085"/>
                  </a:lnTo>
                  <a:lnTo>
                    <a:pt x="130" y="1010"/>
                  </a:lnTo>
                  <a:lnTo>
                    <a:pt x="163" y="937"/>
                  </a:lnTo>
                  <a:lnTo>
                    <a:pt x="200" y="865"/>
                  </a:lnTo>
                  <a:lnTo>
                    <a:pt x="239" y="796"/>
                  </a:lnTo>
                  <a:lnTo>
                    <a:pt x="283" y="730"/>
                  </a:lnTo>
                  <a:lnTo>
                    <a:pt x="329" y="665"/>
                  </a:lnTo>
                  <a:lnTo>
                    <a:pt x="377" y="602"/>
                  </a:lnTo>
                  <a:lnTo>
                    <a:pt x="430" y="542"/>
                  </a:lnTo>
                  <a:lnTo>
                    <a:pt x="484" y="485"/>
                  </a:lnTo>
                  <a:lnTo>
                    <a:pt x="541" y="430"/>
                  </a:lnTo>
                  <a:lnTo>
                    <a:pt x="602" y="378"/>
                  </a:lnTo>
                  <a:lnTo>
                    <a:pt x="664" y="329"/>
                  </a:lnTo>
                  <a:lnTo>
                    <a:pt x="728" y="283"/>
                  </a:lnTo>
                  <a:lnTo>
                    <a:pt x="796" y="240"/>
                  </a:lnTo>
                  <a:lnTo>
                    <a:pt x="865" y="200"/>
                  </a:lnTo>
                  <a:lnTo>
                    <a:pt x="936" y="164"/>
                  </a:lnTo>
                  <a:lnTo>
                    <a:pt x="1009" y="130"/>
                  </a:lnTo>
                  <a:lnTo>
                    <a:pt x="1084" y="101"/>
                  </a:lnTo>
                  <a:lnTo>
                    <a:pt x="1162" y="75"/>
                  </a:lnTo>
                  <a:lnTo>
                    <a:pt x="1240" y="53"/>
                  </a:lnTo>
                  <a:lnTo>
                    <a:pt x="1320" y="34"/>
                  </a:lnTo>
                  <a:lnTo>
                    <a:pt x="1401" y="19"/>
                  </a:lnTo>
                  <a:lnTo>
                    <a:pt x="1484" y="9"/>
                  </a:lnTo>
                  <a:lnTo>
                    <a:pt x="1568" y="2"/>
                  </a:lnTo>
                  <a:lnTo>
                    <a:pt x="16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9">
              <a:extLst>
                <a:ext uri="{FF2B5EF4-FFF2-40B4-BE49-F238E27FC236}">
                  <a16:creationId xmlns:a16="http://schemas.microsoft.com/office/drawing/2014/main" id="{18A47762-E70D-D5F6-6182-BAC3F345C6B0}"/>
                </a:ext>
              </a:extLst>
            </p:cNvPr>
            <p:cNvSpPr>
              <a:spLocks/>
            </p:cNvSpPr>
            <p:nvPr/>
          </p:nvSpPr>
          <p:spPr bwMode="auto">
            <a:xfrm>
              <a:off x="1623014" y="1717735"/>
              <a:ext cx="365179" cy="365179"/>
            </a:xfrm>
            <a:custGeom>
              <a:avLst/>
              <a:gdLst>
                <a:gd name="T0" fmla="*/ 1616 w 2932"/>
                <a:gd name="T1" fmla="*/ 7 h 2931"/>
                <a:gd name="T2" fmla="*/ 1832 w 2932"/>
                <a:gd name="T3" fmla="*/ 46 h 2931"/>
                <a:gd name="T4" fmla="*/ 2036 w 2932"/>
                <a:gd name="T5" fmla="*/ 115 h 2931"/>
                <a:gd name="T6" fmla="*/ 2226 w 2932"/>
                <a:gd name="T7" fmla="*/ 212 h 2931"/>
                <a:gd name="T8" fmla="*/ 2399 w 2932"/>
                <a:gd name="T9" fmla="*/ 334 h 2931"/>
                <a:gd name="T10" fmla="*/ 2552 w 2932"/>
                <a:gd name="T11" fmla="*/ 480 h 2931"/>
                <a:gd name="T12" fmla="*/ 2682 w 2932"/>
                <a:gd name="T13" fmla="*/ 646 h 2931"/>
                <a:gd name="T14" fmla="*/ 2787 w 2932"/>
                <a:gd name="T15" fmla="*/ 830 h 2931"/>
                <a:gd name="T16" fmla="*/ 2866 w 2932"/>
                <a:gd name="T17" fmla="*/ 1030 h 2931"/>
                <a:gd name="T18" fmla="*/ 2915 w 2932"/>
                <a:gd name="T19" fmla="*/ 1242 h 2931"/>
                <a:gd name="T20" fmla="*/ 2932 w 2932"/>
                <a:gd name="T21" fmla="*/ 1465 h 2931"/>
                <a:gd name="T22" fmla="*/ 2915 w 2932"/>
                <a:gd name="T23" fmla="*/ 1689 h 2931"/>
                <a:gd name="T24" fmla="*/ 2866 w 2932"/>
                <a:gd name="T25" fmla="*/ 1902 h 2931"/>
                <a:gd name="T26" fmla="*/ 2787 w 2932"/>
                <a:gd name="T27" fmla="*/ 2101 h 2931"/>
                <a:gd name="T28" fmla="*/ 2682 w 2932"/>
                <a:gd name="T29" fmla="*/ 2285 h 2931"/>
                <a:gd name="T30" fmla="*/ 2552 w 2932"/>
                <a:gd name="T31" fmla="*/ 2451 h 2931"/>
                <a:gd name="T32" fmla="*/ 2399 w 2932"/>
                <a:gd name="T33" fmla="*/ 2597 h 2931"/>
                <a:gd name="T34" fmla="*/ 2226 w 2932"/>
                <a:gd name="T35" fmla="*/ 2719 h 2931"/>
                <a:gd name="T36" fmla="*/ 2036 w 2932"/>
                <a:gd name="T37" fmla="*/ 2817 h 2931"/>
                <a:gd name="T38" fmla="*/ 1832 w 2932"/>
                <a:gd name="T39" fmla="*/ 2885 h 2931"/>
                <a:gd name="T40" fmla="*/ 1616 w 2932"/>
                <a:gd name="T41" fmla="*/ 2924 h 2931"/>
                <a:gd name="T42" fmla="*/ 1391 w 2932"/>
                <a:gd name="T43" fmla="*/ 2930 h 2931"/>
                <a:gd name="T44" fmla="*/ 1170 w 2932"/>
                <a:gd name="T45" fmla="*/ 2902 h 2931"/>
                <a:gd name="T46" fmla="*/ 962 w 2932"/>
                <a:gd name="T47" fmla="*/ 2843 h 2931"/>
                <a:gd name="T48" fmla="*/ 767 w 2932"/>
                <a:gd name="T49" fmla="*/ 2755 h 2931"/>
                <a:gd name="T50" fmla="*/ 589 w 2932"/>
                <a:gd name="T51" fmla="*/ 2640 h 2931"/>
                <a:gd name="T52" fmla="*/ 429 w 2932"/>
                <a:gd name="T53" fmla="*/ 2502 h 2931"/>
                <a:gd name="T54" fmla="*/ 291 w 2932"/>
                <a:gd name="T55" fmla="*/ 2343 h 2931"/>
                <a:gd name="T56" fmla="*/ 177 w 2932"/>
                <a:gd name="T57" fmla="*/ 2165 h 2931"/>
                <a:gd name="T58" fmla="*/ 89 w 2932"/>
                <a:gd name="T59" fmla="*/ 1969 h 2931"/>
                <a:gd name="T60" fmla="*/ 30 w 2932"/>
                <a:gd name="T61" fmla="*/ 1761 h 2931"/>
                <a:gd name="T62" fmla="*/ 2 w 2932"/>
                <a:gd name="T63" fmla="*/ 1541 h 2931"/>
                <a:gd name="T64" fmla="*/ 7 w 2932"/>
                <a:gd name="T65" fmla="*/ 1316 h 2931"/>
                <a:gd name="T66" fmla="*/ 46 w 2932"/>
                <a:gd name="T67" fmla="*/ 1099 h 2931"/>
                <a:gd name="T68" fmla="*/ 115 w 2932"/>
                <a:gd name="T69" fmla="*/ 895 h 2931"/>
                <a:gd name="T70" fmla="*/ 213 w 2932"/>
                <a:gd name="T71" fmla="*/ 705 h 2931"/>
                <a:gd name="T72" fmla="*/ 335 w 2932"/>
                <a:gd name="T73" fmla="*/ 533 h 2931"/>
                <a:gd name="T74" fmla="*/ 480 w 2932"/>
                <a:gd name="T75" fmla="*/ 380 h 2931"/>
                <a:gd name="T76" fmla="*/ 646 w 2932"/>
                <a:gd name="T77" fmla="*/ 250 h 2931"/>
                <a:gd name="T78" fmla="*/ 830 w 2932"/>
                <a:gd name="T79" fmla="*/ 144 h 2931"/>
                <a:gd name="T80" fmla="*/ 1030 w 2932"/>
                <a:gd name="T81" fmla="*/ 66 h 2931"/>
                <a:gd name="T82" fmla="*/ 1243 w 2932"/>
                <a:gd name="T83" fmla="*/ 16 h 2931"/>
                <a:gd name="T84" fmla="*/ 1466 w 2932"/>
                <a:gd name="T85" fmla="*/ 0 h 2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2" h="2931">
                  <a:moveTo>
                    <a:pt x="1466" y="0"/>
                  </a:moveTo>
                  <a:lnTo>
                    <a:pt x="1541" y="2"/>
                  </a:lnTo>
                  <a:lnTo>
                    <a:pt x="1616" y="7"/>
                  </a:lnTo>
                  <a:lnTo>
                    <a:pt x="1690" y="16"/>
                  </a:lnTo>
                  <a:lnTo>
                    <a:pt x="1761" y="30"/>
                  </a:lnTo>
                  <a:lnTo>
                    <a:pt x="1832" y="46"/>
                  </a:lnTo>
                  <a:lnTo>
                    <a:pt x="1902" y="66"/>
                  </a:lnTo>
                  <a:lnTo>
                    <a:pt x="1970" y="88"/>
                  </a:lnTo>
                  <a:lnTo>
                    <a:pt x="2036" y="115"/>
                  </a:lnTo>
                  <a:lnTo>
                    <a:pt x="2102" y="144"/>
                  </a:lnTo>
                  <a:lnTo>
                    <a:pt x="2164" y="177"/>
                  </a:lnTo>
                  <a:lnTo>
                    <a:pt x="2226" y="212"/>
                  </a:lnTo>
                  <a:lnTo>
                    <a:pt x="2286" y="250"/>
                  </a:lnTo>
                  <a:lnTo>
                    <a:pt x="2343" y="290"/>
                  </a:lnTo>
                  <a:lnTo>
                    <a:pt x="2399" y="334"/>
                  </a:lnTo>
                  <a:lnTo>
                    <a:pt x="2452" y="380"/>
                  </a:lnTo>
                  <a:lnTo>
                    <a:pt x="2502" y="429"/>
                  </a:lnTo>
                  <a:lnTo>
                    <a:pt x="2552" y="480"/>
                  </a:lnTo>
                  <a:lnTo>
                    <a:pt x="2598" y="533"/>
                  </a:lnTo>
                  <a:lnTo>
                    <a:pt x="2640" y="589"/>
                  </a:lnTo>
                  <a:lnTo>
                    <a:pt x="2682" y="646"/>
                  </a:lnTo>
                  <a:lnTo>
                    <a:pt x="2720" y="705"/>
                  </a:lnTo>
                  <a:lnTo>
                    <a:pt x="2755" y="767"/>
                  </a:lnTo>
                  <a:lnTo>
                    <a:pt x="2787" y="830"/>
                  </a:lnTo>
                  <a:lnTo>
                    <a:pt x="2816" y="895"/>
                  </a:lnTo>
                  <a:lnTo>
                    <a:pt x="2843" y="961"/>
                  </a:lnTo>
                  <a:lnTo>
                    <a:pt x="2866" y="1030"/>
                  </a:lnTo>
                  <a:lnTo>
                    <a:pt x="2886" y="1099"/>
                  </a:lnTo>
                  <a:lnTo>
                    <a:pt x="2902" y="1170"/>
                  </a:lnTo>
                  <a:lnTo>
                    <a:pt x="2915" y="1242"/>
                  </a:lnTo>
                  <a:lnTo>
                    <a:pt x="2924" y="1316"/>
                  </a:lnTo>
                  <a:lnTo>
                    <a:pt x="2930" y="1390"/>
                  </a:lnTo>
                  <a:lnTo>
                    <a:pt x="2932" y="1465"/>
                  </a:lnTo>
                  <a:lnTo>
                    <a:pt x="2930" y="1541"/>
                  </a:lnTo>
                  <a:lnTo>
                    <a:pt x="2924" y="1616"/>
                  </a:lnTo>
                  <a:lnTo>
                    <a:pt x="2915" y="1689"/>
                  </a:lnTo>
                  <a:lnTo>
                    <a:pt x="2902" y="1761"/>
                  </a:lnTo>
                  <a:lnTo>
                    <a:pt x="2886" y="1832"/>
                  </a:lnTo>
                  <a:lnTo>
                    <a:pt x="2866" y="1902"/>
                  </a:lnTo>
                  <a:lnTo>
                    <a:pt x="2843" y="1969"/>
                  </a:lnTo>
                  <a:lnTo>
                    <a:pt x="2816" y="2037"/>
                  </a:lnTo>
                  <a:lnTo>
                    <a:pt x="2787" y="2101"/>
                  </a:lnTo>
                  <a:lnTo>
                    <a:pt x="2755" y="2165"/>
                  </a:lnTo>
                  <a:lnTo>
                    <a:pt x="2720" y="2225"/>
                  </a:lnTo>
                  <a:lnTo>
                    <a:pt x="2682" y="2285"/>
                  </a:lnTo>
                  <a:lnTo>
                    <a:pt x="2640" y="2343"/>
                  </a:lnTo>
                  <a:lnTo>
                    <a:pt x="2598" y="2398"/>
                  </a:lnTo>
                  <a:lnTo>
                    <a:pt x="2552" y="2451"/>
                  </a:lnTo>
                  <a:lnTo>
                    <a:pt x="2502" y="2502"/>
                  </a:lnTo>
                  <a:lnTo>
                    <a:pt x="2452" y="2551"/>
                  </a:lnTo>
                  <a:lnTo>
                    <a:pt x="2399" y="2597"/>
                  </a:lnTo>
                  <a:lnTo>
                    <a:pt x="2343" y="2640"/>
                  </a:lnTo>
                  <a:lnTo>
                    <a:pt x="2286" y="2681"/>
                  </a:lnTo>
                  <a:lnTo>
                    <a:pt x="2226" y="2719"/>
                  </a:lnTo>
                  <a:lnTo>
                    <a:pt x="2164" y="2755"/>
                  </a:lnTo>
                  <a:lnTo>
                    <a:pt x="2102" y="2786"/>
                  </a:lnTo>
                  <a:lnTo>
                    <a:pt x="2036" y="2817"/>
                  </a:lnTo>
                  <a:lnTo>
                    <a:pt x="1970" y="2843"/>
                  </a:lnTo>
                  <a:lnTo>
                    <a:pt x="1902" y="2866"/>
                  </a:lnTo>
                  <a:lnTo>
                    <a:pt x="1832" y="2885"/>
                  </a:lnTo>
                  <a:lnTo>
                    <a:pt x="1761" y="2902"/>
                  </a:lnTo>
                  <a:lnTo>
                    <a:pt x="1690" y="2914"/>
                  </a:lnTo>
                  <a:lnTo>
                    <a:pt x="1616" y="2924"/>
                  </a:lnTo>
                  <a:lnTo>
                    <a:pt x="1541" y="2930"/>
                  </a:lnTo>
                  <a:lnTo>
                    <a:pt x="1466" y="2931"/>
                  </a:lnTo>
                  <a:lnTo>
                    <a:pt x="1391" y="2930"/>
                  </a:lnTo>
                  <a:lnTo>
                    <a:pt x="1316" y="2924"/>
                  </a:lnTo>
                  <a:lnTo>
                    <a:pt x="1243" y="2914"/>
                  </a:lnTo>
                  <a:lnTo>
                    <a:pt x="1170" y="2902"/>
                  </a:lnTo>
                  <a:lnTo>
                    <a:pt x="1099" y="2885"/>
                  </a:lnTo>
                  <a:lnTo>
                    <a:pt x="1030" y="2866"/>
                  </a:lnTo>
                  <a:lnTo>
                    <a:pt x="962" y="2843"/>
                  </a:lnTo>
                  <a:lnTo>
                    <a:pt x="895" y="2817"/>
                  </a:lnTo>
                  <a:lnTo>
                    <a:pt x="830" y="2786"/>
                  </a:lnTo>
                  <a:lnTo>
                    <a:pt x="767" y="2755"/>
                  </a:lnTo>
                  <a:lnTo>
                    <a:pt x="705" y="2719"/>
                  </a:lnTo>
                  <a:lnTo>
                    <a:pt x="646" y="2681"/>
                  </a:lnTo>
                  <a:lnTo>
                    <a:pt x="589" y="2640"/>
                  </a:lnTo>
                  <a:lnTo>
                    <a:pt x="534" y="2597"/>
                  </a:lnTo>
                  <a:lnTo>
                    <a:pt x="480" y="2551"/>
                  </a:lnTo>
                  <a:lnTo>
                    <a:pt x="429" y="2502"/>
                  </a:lnTo>
                  <a:lnTo>
                    <a:pt x="381" y="2451"/>
                  </a:lnTo>
                  <a:lnTo>
                    <a:pt x="335" y="2398"/>
                  </a:lnTo>
                  <a:lnTo>
                    <a:pt x="291" y="2343"/>
                  </a:lnTo>
                  <a:lnTo>
                    <a:pt x="251" y="2285"/>
                  </a:lnTo>
                  <a:lnTo>
                    <a:pt x="213" y="2225"/>
                  </a:lnTo>
                  <a:lnTo>
                    <a:pt x="177" y="2165"/>
                  </a:lnTo>
                  <a:lnTo>
                    <a:pt x="144" y="2101"/>
                  </a:lnTo>
                  <a:lnTo>
                    <a:pt x="115" y="2037"/>
                  </a:lnTo>
                  <a:lnTo>
                    <a:pt x="89" y="1969"/>
                  </a:lnTo>
                  <a:lnTo>
                    <a:pt x="66" y="1902"/>
                  </a:lnTo>
                  <a:lnTo>
                    <a:pt x="46" y="1832"/>
                  </a:lnTo>
                  <a:lnTo>
                    <a:pt x="30" y="1761"/>
                  </a:lnTo>
                  <a:lnTo>
                    <a:pt x="17" y="1689"/>
                  </a:lnTo>
                  <a:lnTo>
                    <a:pt x="7" y="1616"/>
                  </a:lnTo>
                  <a:lnTo>
                    <a:pt x="2" y="1541"/>
                  </a:lnTo>
                  <a:lnTo>
                    <a:pt x="0" y="1465"/>
                  </a:lnTo>
                  <a:lnTo>
                    <a:pt x="2" y="1390"/>
                  </a:lnTo>
                  <a:lnTo>
                    <a:pt x="7" y="1316"/>
                  </a:lnTo>
                  <a:lnTo>
                    <a:pt x="17" y="1242"/>
                  </a:lnTo>
                  <a:lnTo>
                    <a:pt x="30" y="1170"/>
                  </a:lnTo>
                  <a:lnTo>
                    <a:pt x="46" y="1099"/>
                  </a:lnTo>
                  <a:lnTo>
                    <a:pt x="66" y="1030"/>
                  </a:lnTo>
                  <a:lnTo>
                    <a:pt x="89" y="961"/>
                  </a:lnTo>
                  <a:lnTo>
                    <a:pt x="115" y="895"/>
                  </a:lnTo>
                  <a:lnTo>
                    <a:pt x="144" y="830"/>
                  </a:lnTo>
                  <a:lnTo>
                    <a:pt x="177" y="767"/>
                  </a:lnTo>
                  <a:lnTo>
                    <a:pt x="213" y="705"/>
                  </a:lnTo>
                  <a:lnTo>
                    <a:pt x="251" y="646"/>
                  </a:lnTo>
                  <a:lnTo>
                    <a:pt x="291" y="589"/>
                  </a:lnTo>
                  <a:lnTo>
                    <a:pt x="335" y="533"/>
                  </a:lnTo>
                  <a:lnTo>
                    <a:pt x="381" y="480"/>
                  </a:lnTo>
                  <a:lnTo>
                    <a:pt x="429" y="429"/>
                  </a:lnTo>
                  <a:lnTo>
                    <a:pt x="480" y="380"/>
                  </a:lnTo>
                  <a:lnTo>
                    <a:pt x="534" y="334"/>
                  </a:lnTo>
                  <a:lnTo>
                    <a:pt x="589" y="290"/>
                  </a:lnTo>
                  <a:lnTo>
                    <a:pt x="646" y="250"/>
                  </a:lnTo>
                  <a:lnTo>
                    <a:pt x="705" y="212"/>
                  </a:lnTo>
                  <a:lnTo>
                    <a:pt x="767" y="177"/>
                  </a:lnTo>
                  <a:lnTo>
                    <a:pt x="830" y="144"/>
                  </a:lnTo>
                  <a:lnTo>
                    <a:pt x="895" y="115"/>
                  </a:lnTo>
                  <a:lnTo>
                    <a:pt x="962" y="88"/>
                  </a:lnTo>
                  <a:lnTo>
                    <a:pt x="1030" y="66"/>
                  </a:lnTo>
                  <a:lnTo>
                    <a:pt x="1099" y="46"/>
                  </a:lnTo>
                  <a:lnTo>
                    <a:pt x="1170" y="30"/>
                  </a:lnTo>
                  <a:lnTo>
                    <a:pt x="1243" y="16"/>
                  </a:lnTo>
                  <a:lnTo>
                    <a:pt x="1316" y="7"/>
                  </a:lnTo>
                  <a:lnTo>
                    <a:pt x="1391" y="2"/>
                  </a:lnTo>
                  <a:lnTo>
                    <a:pt x="1466" y="0"/>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4">
              <a:extLst>
                <a:ext uri="{FF2B5EF4-FFF2-40B4-BE49-F238E27FC236}">
                  <a16:creationId xmlns:a16="http://schemas.microsoft.com/office/drawing/2014/main" id="{D9DA866C-C841-421C-6B1A-57B20998A685}"/>
                </a:ext>
              </a:extLst>
            </p:cNvPr>
            <p:cNvSpPr>
              <a:spLocks/>
            </p:cNvSpPr>
            <p:nvPr/>
          </p:nvSpPr>
          <p:spPr bwMode="auto">
            <a:xfrm>
              <a:off x="1649546" y="1774338"/>
              <a:ext cx="318131" cy="294234"/>
            </a:xfrm>
            <a:custGeom>
              <a:avLst/>
              <a:gdLst>
                <a:gd name="T0" fmla="*/ 2508 w 2552"/>
                <a:gd name="T1" fmla="*/ 1224 h 2365"/>
                <a:gd name="T2" fmla="*/ 2457 w 2552"/>
                <a:gd name="T3" fmla="*/ 1448 h 2365"/>
                <a:gd name="T4" fmla="*/ 2367 w 2552"/>
                <a:gd name="T5" fmla="*/ 1656 h 2365"/>
                <a:gd name="T6" fmla="*/ 2243 w 2552"/>
                <a:gd name="T7" fmla="*/ 1842 h 2365"/>
                <a:gd name="T8" fmla="*/ 2091 w 2552"/>
                <a:gd name="T9" fmla="*/ 2004 h 2365"/>
                <a:gd name="T10" fmla="*/ 1911 w 2552"/>
                <a:gd name="T11" fmla="*/ 2136 h 2365"/>
                <a:gd name="T12" fmla="*/ 1710 w 2552"/>
                <a:gd name="T13" fmla="*/ 2237 h 2365"/>
                <a:gd name="T14" fmla="*/ 1490 w 2552"/>
                <a:gd name="T15" fmla="*/ 2301 h 2365"/>
                <a:gd name="T16" fmla="*/ 1362 w 2552"/>
                <a:gd name="T17" fmla="*/ 2320 h 2365"/>
                <a:gd name="T18" fmla="*/ 1266 w 2552"/>
                <a:gd name="T19" fmla="*/ 2326 h 2365"/>
                <a:gd name="T20" fmla="*/ 1169 w 2552"/>
                <a:gd name="T21" fmla="*/ 2324 h 2365"/>
                <a:gd name="T22" fmla="*/ 1074 w 2552"/>
                <a:gd name="T23" fmla="*/ 2315 h 2365"/>
                <a:gd name="T24" fmla="*/ 987 w 2552"/>
                <a:gd name="T25" fmla="*/ 2300 h 2365"/>
                <a:gd name="T26" fmla="*/ 806 w 2552"/>
                <a:gd name="T27" fmla="*/ 2250 h 2365"/>
                <a:gd name="T28" fmla="*/ 635 w 2552"/>
                <a:gd name="T29" fmla="*/ 2173 h 2365"/>
                <a:gd name="T30" fmla="*/ 479 w 2552"/>
                <a:gd name="T31" fmla="*/ 2073 h 2365"/>
                <a:gd name="T32" fmla="*/ 340 w 2552"/>
                <a:gd name="T33" fmla="*/ 1953 h 2365"/>
                <a:gd name="T34" fmla="*/ 219 w 2552"/>
                <a:gd name="T35" fmla="*/ 1814 h 2365"/>
                <a:gd name="T36" fmla="*/ 119 w 2552"/>
                <a:gd name="T37" fmla="*/ 1659 h 2365"/>
                <a:gd name="T38" fmla="*/ 41 w 2552"/>
                <a:gd name="T39" fmla="*/ 1490 h 2365"/>
                <a:gd name="T40" fmla="*/ 0 w 2552"/>
                <a:gd name="T41" fmla="*/ 1354 h 2365"/>
                <a:gd name="T42" fmla="*/ 46 w 2552"/>
                <a:gd name="T43" fmla="*/ 1513 h 2365"/>
                <a:gd name="T44" fmla="*/ 137 w 2552"/>
                <a:gd name="T45" fmla="*/ 1710 h 2365"/>
                <a:gd name="T46" fmla="*/ 258 w 2552"/>
                <a:gd name="T47" fmla="*/ 1887 h 2365"/>
                <a:gd name="T48" fmla="*/ 406 w 2552"/>
                <a:gd name="T49" fmla="*/ 2042 h 2365"/>
                <a:gd name="T50" fmla="*/ 578 w 2552"/>
                <a:gd name="T51" fmla="*/ 2170 h 2365"/>
                <a:gd name="T52" fmla="*/ 771 w 2552"/>
                <a:gd name="T53" fmla="*/ 2269 h 2365"/>
                <a:gd name="T54" fmla="*/ 980 w 2552"/>
                <a:gd name="T55" fmla="*/ 2335 h 2365"/>
                <a:gd name="T56" fmla="*/ 1203 w 2552"/>
                <a:gd name="T57" fmla="*/ 2364 h 2365"/>
                <a:gd name="T58" fmla="*/ 1403 w 2552"/>
                <a:gd name="T59" fmla="*/ 2357 h 2365"/>
                <a:gd name="T60" fmla="*/ 1586 w 2552"/>
                <a:gd name="T61" fmla="*/ 2324 h 2365"/>
                <a:gd name="T62" fmla="*/ 1775 w 2552"/>
                <a:gd name="T63" fmla="*/ 2259 h 2365"/>
                <a:gd name="T64" fmla="*/ 1956 w 2552"/>
                <a:gd name="T65" fmla="*/ 2162 h 2365"/>
                <a:gd name="T66" fmla="*/ 2119 w 2552"/>
                <a:gd name="T67" fmla="*/ 2039 h 2365"/>
                <a:gd name="T68" fmla="*/ 2259 w 2552"/>
                <a:gd name="T69" fmla="*/ 1893 h 2365"/>
                <a:gd name="T70" fmla="*/ 2376 w 2552"/>
                <a:gd name="T71" fmla="*/ 1725 h 2365"/>
                <a:gd name="T72" fmla="*/ 2465 w 2552"/>
                <a:gd name="T73" fmla="*/ 1540 h 2365"/>
                <a:gd name="T74" fmla="*/ 2524 w 2552"/>
                <a:gd name="T75" fmla="*/ 1340 h 2365"/>
                <a:gd name="T76" fmla="*/ 2551 w 2552"/>
                <a:gd name="T77" fmla="*/ 1128 h 2365"/>
                <a:gd name="T78" fmla="*/ 2545 w 2552"/>
                <a:gd name="T79" fmla="*/ 950 h 2365"/>
                <a:gd name="T80" fmla="*/ 2521 w 2552"/>
                <a:gd name="T81" fmla="*/ 789 h 2365"/>
                <a:gd name="T82" fmla="*/ 2476 w 2552"/>
                <a:gd name="T83" fmla="*/ 636 h 2365"/>
                <a:gd name="T84" fmla="*/ 2413 w 2552"/>
                <a:gd name="T85" fmla="*/ 491 h 2365"/>
                <a:gd name="T86" fmla="*/ 2334 w 2552"/>
                <a:gd name="T87" fmla="*/ 356 h 2365"/>
                <a:gd name="T88" fmla="*/ 2240 w 2552"/>
                <a:gd name="T89" fmla="*/ 233 h 2365"/>
                <a:gd name="T90" fmla="*/ 2131 w 2552"/>
                <a:gd name="T91" fmla="*/ 120 h 2365"/>
                <a:gd name="T92" fmla="*/ 2010 w 2552"/>
                <a:gd name="T93" fmla="*/ 23 h 2365"/>
                <a:gd name="T94" fmla="*/ 2067 w 2552"/>
                <a:gd name="T95" fmla="*/ 70 h 2365"/>
                <a:gd name="T96" fmla="*/ 2176 w 2552"/>
                <a:gd name="T97" fmla="*/ 173 h 2365"/>
                <a:gd name="T98" fmla="*/ 2273 w 2552"/>
                <a:gd name="T99" fmla="*/ 289 h 2365"/>
                <a:gd name="T100" fmla="*/ 2355 w 2552"/>
                <a:gd name="T101" fmla="*/ 416 h 2365"/>
                <a:gd name="T102" fmla="*/ 2422 w 2552"/>
                <a:gd name="T103" fmla="*/ 551 h 2365"/>
                <a:gd name="T104" fmla="*/ 2472 w 2552"/>
                <a:gd name="T105" fmla="*/ 696 h 2365"/>
                <a:gd name="T106" fmla="*/ 2506 w 2552"/>
                <a:gd name="T107" fmla="*/ 848 h 2365"/>
                <a:gd name="T108" fmla="*/ 2521 w 2552"/>
                <a:gd name="T109" fmla="*/ 1006 h 2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52" h="2365">
                  <a:moveTo>
                    <a:pt x="2521" y="1046"/>
                  </a:moveTo>
                  <a:lnTo>
                    <a:pt x="2520" y="1106"/>
                  </a:lnTo>
                  <a:lnTo>
                    <a:pt x="2515" y="1165"/>
                  </a:lnTo>
                  <a:lnTo>
                    <a:pt x="2508" y="1224"/>
                  </a:lnTo>
                  <a:lnTo>
                    <a:pt x="2499" y="1281"/>
                  </a:lnTo>
                  <a:lnTo>
                    <a:pt x="2488" y="1338"/>
                  </a:lnTo>
                  <a:lnTo>
                    <a:pt x="2474" y="1393"/>
                  </a:lnTo>
                  <a:lnTo>
                    <a:pt x="2457" y="1448"/>
                  </a:lnTo>
                  <a:lnTo>
                    <a:pt x="2438" y="1502"/>
                  </a:lnTo>
                  <a:lnTo>
                    <a:pt x="2416" y="1554"/>
                  </a:lnTo>
                  <a:lnTo>
                    <a:pt x="2393" y="1605"/>
                  </a:lnTo>
                  <a:lnTo>
                    <a:pt x="2367" y="1656"/>
                  </a:lnTo>
                  <a:lnTo>
                    <a:pt x="2339" y="1704"/>
                  </a:lnTo>
                  <a:lnTo>
                    <a:pt x="2310" y="1751"/>
                  </a:lnTo>
                  <a:lnTo>
                    <a:pt x="2277" y="1797"/>
                  </a:lnTo>
                  <a:lnTo>
                    <a:pt x="2243" y="1842"/>
                  </a:lnTo>
                  <a:lnTo>
                    <a:pt x="2208" y="1885"/>
                  </a:lnTo>
                  <a:lnTo>
                    <a:pt x="2170" y="1926"/>
                  </a:lnTo>
                  <a:lnTo>
                    <a:pt x="2131" y="1966"/>
                  </a:lnTo>
                  <a:lnTo>
                    <a:pt x="2091" y="2004"/>
                  </a:lnTo>
                  <a:lnTo>
                    <a:pt x="2048" y="2040"/>
                  </a:lnTo>
                  <a:lnTo>
                    <a:pt x="2004" y="2074"/>
                  </a:lnTo>
                  <a:lnTo>
                    <a:pt x="1958" y="2106"/>
                  </a:lnTo>
                  <a:lnTo>
                    <a:pt x="1911" y="2136"/>
                  </a:lnTo>
                  <a:lnTo>
                    <a:pt x="1863" y="2165"/>
                  </a:lnTo>
                  <a:lnTo>
                    <a:pt x="1814" y="2191"/>
                  </a:lnTo>
                  <a:lnTo>
                    <a:pt x="1762" y="2215"/>
                  </a:lnTo>
                  <a:lnTo>
                    <a:pt x="1710" y="2237"/>
                  </a:lnTo>
                  <a:lnTo>
                    <a:pt x="1656" y="2256"/>
                  </a:lnTo>
                  <a:lnTo>
                    <a:pt x="1603" y="2274"/>
                  </a:lnTo>
                  <a:lnTo>
                    <a:pt x="1548" y="2289"/>
                  </a:lnTo>
                  <a:lnTo>
                    <a:pt x="1490" y="2301"/>
                  </a:lnTo>
                  <a:lnTo>
                    <a:pt x="1433" y="2311"/>
                  </a:lnTo>
                  <a:lnTo>
                    <a:pt x="1409" y="2315"/>
                  </a:lnTo>
                  <a:lnTo>
                    <a:pt x="1386" y="2318"/>
                  </a:lnTo>
                  <a:lnTo>
                    <a:pt x="1362" y="2320"/>
                  </a:lnTo>
                  <a:lnTo>
                    <a:pt x="1339" y="2323"/>
                  </a:lnTo>
                  <a:lnTo>
                    <a:pt x="1314" y="2324"/>
                  </a:lnTo>
                  <a:lnTo>
                    <a:pt x="1291" y="2325"/>
                  </a:lnTo>
                  <a:lnTo>
                    <a:pt x="1266" y="2326"/>
                  </a:lnTo>
                  <a:lnTo>
                    <a:pt x="1242" y="2326"/>
                  </a:lnTo>
                  <a:lnTo>
                    <a:pt x="1218" y="2326"/>
                  </a:lnTo>
                  <a:lnTo>
                    <a:pt x="1193" y="2325"/>
                  </a:lnTo>
                  <a:lnTo>
                    <a:pt x="1169" y="2324"/>
                  </a:lnTo>
                  <a:lnTo>
                    <a:pt x="1146" y="2323"/>
                  </a:lnTo>
                  <a:lnTo>
                    <a:pt x="1121" y="2320"/>
                  </a:lnTo>
                  <a:lnTo>
                    <a:pt x="1097" y="2318"/>
                  </a:lnTo>
                  <a:lnTo>
                    <a:pt x="1074" y="2315"/>
                  </a:lnTo>
                  <a:lnTo>
                    <a:pt x="1050" y="2311"/>
                  </a:lnTo>
                  <a:lnTo>
                    <a:pt x="1042" y="2310"/>
                  </a:lnTo>
                  <a:lnTo>
                    <a:pt x="1035" y="2309"/>
                  </a:lnTo>
                  <a:lnTo>
                    <a:pt x="987" y="2300"/>
                  </a:lnTo>
                  <a:lnTo>
                    <a:pt x="941" y="2290"/>
                  </a:lnTo>
                  <a:lnTo>
                    <a:pt x="895" y="2278"/>
                  </a:lnTo>
                  <a:lnTo>
                    <a:pt x="849" y="2264"/>
                  </a:lnTo>
                  <a:lnTo>
                    <a:pt x="806" y="2250"/>
                  </a:lnTo>
                  <a:lnTo>
                    <a:pt x="762" y="2233"/>
                  </a:lnTo>
                  <a:lnTo>
                    <a:pt x="719" y="2214"/>
                  </a:lnTo>
                  <a:lnTo>
                    <a:pt x="677" y="2195"/>
                  </a:lnTo>
                  <a:lnTo>
                    <a:pt x="635" y="2173"/>
                  </a:lnTo>
                  <a:lnTo>
                    <a:pt x="595" y="2150"/>
                  </a:lnTo>
                  <a:lnTo>
                    <a:pt x="555" y="2126"/>
                  </a:lnTo>
                  <a:lnTo>
                    <a:pt x="517" y="2100"/>
                  </a:lnTo>
                  <a:lnTo>
                    <a:pt x="479" y="2073"/>
                  </a:lnTo>
                  <a:lnTo>
                    <a:pt x="443" y="2045"/>
                  </a:lnTo>
                  <a:lnTo>
                    <a:pt x="407" y="2016"/>
                  </a:lnTo>
                  <a:lnTo>
                    <a:pt x="374" y="1985"/>
                  </a:lnTo>
                  <a:lnTo>
                    <a:pt x="340" y="1953"/>
                  </a:lnTo>
                  <a:lnTo>
                    <a:pt x="307" y="1921"/>
                  </a:lnTo>
                  <a:lnTo>
                    <a:pt x="277" y="1886"/>
                  </a:lnTo>
                  <a:lnTo>
                    <a:pt x="248" y="1851"/>
                  </a:lnTo>
                  <a:lnTo>
                    <a:pt x="219" y="1814"/>
                  </a:lnTo>
                  <a:lnTo>
                    <a:pt x="192" y="1777"/>
                  </a:lnTo>
                  <a:lnTo>
                    <a:pt x="166" y="1739"/>
                  </a:lnTo>
                  <a:lnTo>
                    <a:pt x="142" y="1700"/>
                  </a:lnTo>
                  <a:lnTo>
                    <a:pt x="119" y="1659"/>
                  </a:lnTo>
                  <a:lnTo>
                    <a:pt x="97" y="1618"/>
                  </a:lnTo>
                  <a:lnTo>
                    <a:pt x="77" y="1576"/>
                  </a:lnTo>
                  <a:lnTo>
                    <a:pt x="59" y="1533"/>
                  </a:lnTo>
                  <a:lnTo>
                    <a:pt x="41" y="1490"/>
                  </a:lnTo>
                  <a:lnTo>
                    <a:pt x="27" y="1445"/>
                  </a:lnTo>
                  <a:lnTo>
                    <a:pt x="12" y="1400"/>
                  </a:lnTo>
                  <a:lnTo>
                    <a:pt x="0" y="1354"/>
                  </a:lnTo>
                  <a:lnTo>
                    <a:pt x="0" y="1354"/>
                  </a:lnTo>
                  <a:lnTo>
                    <a:pt x="0" y="1354"/>
                  </a:lnTo>
                  <a:lnTo>
                    <a:pt x="13" y="1408"/>
                  </a:lnTo>
                  <a:lnTo>
                    <a:pt x="29" y="1461"/>
                  </a:lnTo>
                  <a:lnTo>
                    <a:pt x="46" y="1513"/>
                  </a:lnTo>
                  <a:lnTo>
                    <a:pt x="66" y="1564"/>
                  </a:lnTo>
                  <a:lnTo>
                    <a:pt x="87" y="1613"/>
                  </a:lnTo>
                  <a:lnTo>
                    <a:pt x="111" y="1663"/>
                  </a:lnTo>
                  <a:lnTo>
                    <a:pt x="137" y="1710"/>
                  </a:lnTo>
                  <a:lnTo>
                    <a:pt x="165" y="1756"/>
                  </a:lnTo>
                  <a:lnTo>
                    <a:pt x="194" y="1802"/>
                  </a:lnTo>
                  <a:lnTo>
                    <a:pt x="225" y="1845"/>
                  </a:lnTo>
                  <a:lnTo>
                    <a:pt x="258" y="1887"/>
                  </a:lnTo>
                  <a:lnTo>
                    <a:pt x="293" y="1929"/>
                  </a:lnTo>
                  <a:lnTo>
                    <a:pt x="329" y="1968"/>
                  </a:lnTo>
                  <a:lnTo>
                    <a:pt x="367" y="2006"/>
                  </a:lnTo>
                  <a:lnTo>
                    <a:pt x="406" y="2042"/>
                  </a:lnTo>
                  <a:lnTo>
                    <a:pt x="448" y="2077"/>
                  </a:lnTo>
                  <a:lnTo>
                    <a:pt x="489" y="2109"/>
                  </a:lnTo>
                  <a:lnTo>
                    <a:pt x="533" y="2141"/>
                  </a:lnTo>
                  <a:lnTo>
                    <a:pt x="578" y="2170"/>
                  </a:lnTo>
                  <a:lnTo>
                    <a:pt x="625" y="2198"/>
                  </a:lnTo>
                  <a:lnTo>
                    <a:pt x="672" y="2224"/>
                  </a:lnTo>
                  <a:lnTo>
                    <a:pt x="720" y="2247"/>
                  </a:lnTo>
                  <a:lnTo>
                    <a:pt x="771" y="2269"/>
                  </a:lnTo>
                  <a:lnTo>
                    <a:pt x="821" y="2289"/>
                  </a:lnTo>
                  <a:lnTo>
                    <a:pt x="873" y="2306"/>
                  </a:lnTo>
                  <a:lnTo>
                    <a:pt x="927" y="2321"/>
                  </a:lnTo>
                  <a:lnTo>
                    <a:pt x="980" y="2335"/>
                  </a:lnTo>
                  <a:lnTo>
                    <a:pt x="1035" y="2345"/>
                  </a:lnTo>
                  <a:lnTo>
                    <a:pt x="1090" y="2354"/>
                  </a:lnTo>
                  <a:lnTo>
                    <a:pt x="1147" y="2360"/>
                  </a:lnTo>
                  <a:lnTo>
                    <a:pt x="1203" y="2364"/>
                  </a:lnTo>
                  <a:lnTo>
                    <a:pt x="1260" y="2365"/>
                  </a:lnTo>
                  <a:lnTo>
                    <a:pt x="1308" y="2364"/>
                  </a:lnTo>
                  <a:lnTo>
                    <a:pt x="1356" y="2362"/>
                  </a:lnTo>
                  <a:lnTo>
                    <a:pt x="1403" y="2357"/>
                  </a:lnTo>
                  <a:lnTo>
                    <a:pt x="1450" y="2352"/>
                  </a:lnTo>
                  <a:lnTo>
                    <a:pt x="1496" y="2344"/>
                  </a:lnTo>
                  <a:lnTo>
                    <a:pt x="1541" y="2335"/>
                  </a:lnTo>
                  <a:lnTo>
                    <a:pt x="1586" y="2324"/>
                  </a:lnTo>
                  <a:lnTo>
                    <a:pt x="1629" y="2311"/>
                  </a:lnTo>
                  <a:lnTo>
                    <a:pt x="1680" y="2296"/>
                  </a:lnTo>
                  <a:lnTo>
                    <a:pt x="1728" y="2278"/>
                  </a:lnTo>
                  <a:lnTo>
                    <a:pt x="1775" y="2259"/>
                  </a:lnTo>
                  <a:lnTo>
                    <a:pt x="1823" y="2236"/>
                  </a:lnTo>
                  <a:lnTo>
                    <a:pt x="1869" y="2214"/>
                  </a:lnTo>
                  <a:lnTo>
                    <a:pt x="1913" y="2188"/>
                  </a:lnTo>
                  <a:lnTo>
                    <a:pt x="1956" y="2162"/>
                  </a:lnTo>
                  <a:lnTo>
                    <a:pt x="1999" y="2133"/>
                  </a:lnTo>
                  <a:lnTo>
                    <a:pt x="2040" y="2104"/>
                  </a:lnTo>
                  <a:lnTo>
                    <a:pt x="2080" y="2072"/>
                  </a:lnTo>
                  <a:lnTo>
                    <a:pt x="2119" y="2039"/>
                  </a:lnTo>
                  <a:lnTo>
                    <a:pt x="2156" y="2004"/>
                  </a:lnTo>
                  <a:lnTo>
                    <a:pt x="2192" y="1968"/>
                  </a:lnTo>
                  <a:lnTo>
                    <a:pt x="2227" y="1931"/>
                  </a:lnTo>
                  <a:lnTo>
                    <a:pt x="2259" y="1893"/>
                  </a:lnTo>
                  <a:lnTo>
                    <a:pt x="2291" y="1852"/>
                  </a:lnTo>
                  <a:lnTo>
                    <a:pt x="2321" y="1811"/>
                  </a:lnTo>
                  <a:lnTo>
                    <a:pt x="2349" y="1769"/>
                  </a:lnTo>
                  <a:lnTo>
                    <a:pt x="2376" y="1725"/>
                  </a:lnTo>
                  <a:lnTo>
                    <a:pt x="2401" y="1681"/>
                  </a:lnTo>
                  <a:lnTo>
                    <a:pt x="2424" y="1634"/>
                  </a:lnTo>
                  <a:lnTo>
                    <a:pt x="2445" y="1588"/>
                  </a:lnTo>
                  <a:lnTo>
                    <a:pt x="2465" y="1540"/>
                  </a:lnTo>
                  <a:lnTo>
                    <a:pt x="2482" y="1492"/>
                  </a:lnTo>
                  <a:lnTo>
                    <a:pt x="2498" y="1443"/>
                  </a:lnTo>
                  <a:lnTo>
                    <a:pt x="2513" y="1392"/>
                  </a:lnTo>
                  <a:lnTo>
                    <a:pt x="2524" y="1340"/>
                  </a:lnTo>
                  <a:lnTo>
                    <a:pt x="2534" y="1289"/>
                  </a:lnTo>
                  <a:lnTo>
                    <a:pt x="2542" y="1236"/>
                  </a:lnTo>
                  <a:lnTo>
                    <a:pt x="2548" y="1182"/>
                  </a:lnTo>
                  <a:lnTo>
                    <a:pt x="2551" y="1128"/>
                  </a:lnTo>
                  <a:lnTo>
                    <a:pt x="2552" y="1074"/>
                  </a:lnTo>
                  <a:lnTo>
                    <a:pt x="2551" y="1032"/>
                  </a:lnTo>
                  <a:lnTo>
                    <a:pt x="2549" y="990"/>
                  </a:lnTo>
                  <a:lnTo>
                    <a:pt x="2545" y="950"/>
                  </a:lnTo>
                  <a:lnTo>
                    <a:pt x="2541" y="908"/>
                  </a:lnTo>
                  <a:lnTo>
                    <a:pt x="2535" y="869"/>
                  </a:lnTo>
                  <a:lnTo>
                    <a:pt x="2529" y="829"/>
                  </a:lnTo>
                  <a:lnTo>
                    <a:pt x="2521" y="789"/>
                  </a:lnTo>
                  <a:lnTo>
                    <a:pt x="2511" y="750"/>
                  </a:lnTo>
                  <a:lnTo>
                    <a:pt x="2500" y="712"/>
                  </a:lnTo>
                  <a:lnTo>
                    <a:pt x="2488" y="674"/>
                  </a:lnTo>
                  <a:lnTo>
                    <a:pt x="2476" y="636"/>
                  </a:lnTo>
                  <a:lnTo>
                    <a:pt x="2461" y="599"/>
                  </a:lnTo>
                  <a:lnTo>
                    <a:pt x="2447" y="563"/>
                  </a:lnTo>
                  <a:lnTo>
                    <a:pt x="2430" y="527"/>
                  </a:lnTo>
                  <a:lnTo>
                    <a:pt x="2413" y="491"/>
                  </a:lnTo>
                  <a:lnTo>
                    <a:pt x="2395" y="456"/>
                  </a:lnTo>
                  <a:lnTo>
                    <a:pt x="2376" y="422"/>
                  </a:lnTo>
                  <a:lnTo>
                    <a:pt x="2355" y="389"/>
                  </a:lnTo>
                  <a:lnTo>
                    <a:pt x="2334" y="356"/>
                  </a:lnTo>
                  <a:lnTo>
                    <a:pt x="2312" y="324"/>
                  </a:lnTo>
                  <a:lnTo>
                    <a:pt x="2288" y="292"/>
                  </a:lnTo>
                  <a:lnTo>
                    <a:pt x="2265" y="262"/>
                  </a:lnTo>
                  <a:lnTo>
                    <a:pt x="2240" y="233"/>
                  </a:lnTo>
                  <a:lnTo>
                    <a:pt x="2213" y="203"/>
                  </a:lnTo>
                  <a:lnTo>
                    <a:pt x="2187" y="174"/>
                  </a:lnTo>
                  <a:lnTo>
                    <a:pt x="2159" y="147"/>
                  </a:lnTo>
                  <a:lnTo>
                    <a:pt x="2131" y="120"/>
                  </a:lnTo>
                  <a:lnTo>
                    <a:pt x="2102" y="95"/>
                  </a:lnTo>
                  <a:lnTo>
                    <a:pt x="2072" y="70"/>
                  </a:lnTo>
                  <a:lnTo>
                    <a:pt x="2041" y="46"/>
                  </a:lnTo>
                  <a:lnTo>
                    <a:pt x="2010" y="23"/>
                  </a:lnTo>
                  <a:lnTo>
                    <a:pt x="1979" y="0"/>
                  </a:lnTo>
                  <a:lnTo>
                    <a:pt x="2009" y="23"/>
                  </a:lnTo>
                  <a:lnTo>
                    <a:pt x="2038" y="45"/>
                  </a:lnTo>
                  <a:lnTo>
                    <a:pt x="2067" y="70"/>
                  </a:lnTo>
                  <a:lnTo>
                    <a:pt x="2095" y="95"/>
                  </a:lnTo>
                  <a:lnTo>
                    <a:pt x="2123" y="119"/>
                  </a:lnTo>
                  <a:lnTo>
                    <a:pt x="2150" y="146"/>
                  </a:lnTo>
                  <a:lnTo>
                    <a:pt x="2176" y="173"/>
                  </a:lnTo>
                  <a:lnTo>
                    <a:pt x="2202" y="201"/>
                  </a:lnTo>
                  <a:lnTo>
                    <a:pt x="2225" y="229"/>
                  </a:lnTo>
                  <a:lnTo>
                    <a:pt x="2249" y="258"/>
                  </a:lnTo>
                  <a:lnTo>
                    <a:pt x="2273" y="289"/>
                  </a:lnTo>
                  <a:lnTo>
                    <a:pt x="2294" y="319"/>
                  </a:lnTo>
                  <a:lnTo>
                    <a:pt x="2315" y="350"/>
                  </a:lnTo>
                  <a:lnTo>
                    <a:pt x="2335" y="382"/>
                  </a:lnTo>
                  <a:lnTo>
                    <a:pt x="2355" y="416"/>
                  </a:lnTo>
                  <a:lnTo>
                    <a:pt x="2372" y="448"/>
                  </a:lnTo>
                  <a:lnTo>
                    <a:pt x="2390" y="482"/>
                  </a:lnTo>
                  <a:lnTo>
                    <a:pt x="2406" y="517"/>
                  </a:lnTo>
                  <a:lnTo>
                    <a:pt x="2422" y="551"/>
                  </a:lnTo>
                  <a:lnTo>
                    <a:pt x="2435" y="586"/>
                  </a:lnTo>
                  <a:lnTo>
                    <a:pt x="2449" y="622"/>
                  </a:lnTo>
                  <a:lnTo>
                    <a:pt x="2461" y="659"/>
                  </a:lnTo>
                  <a:lnTo>
                    <a:pt x="2472" y="696"/>
                  </a:lnTo>
                  <a:lnTo>
                    <a:pt x="2482" y="733"/>
                  </a:lnTo>
                  <a:lnTo>
                    <a:pt x="2491" y="771"/>
                  </a:lnTo>
                  <a:lnTo>
                    <a:pt x="2499" y="810"/>
                  </a:lnTo>
                  <a:lnTo>
                    <a:pt x="2506" y="848"/>
                  </a:lnTo>
                  <a:lnTo>
                    <a:pt x="2512" y="887"/>
                  </a:lnTo>
                  <a:lnTo>
                    <a:pt x="2515" y="926"/>
                  </a:lnTo>
                  <a:lnTo>
                    <a:pt x="2518" y="966"/>
                  </a:lnTo>
                  <a:lnTo>
                    <a:pt x="2521" y="1006"/>
                  </a:lnTo>
                  <a:lnTo>
                    <a:pt x="2521" y="1046"/>
                  </a:lnTo>
                  <a:close/>
                </a:path>
              </a:pathLst>
            </a:custGeom>
            <a:solidFill>
              <a:schemeClr val="accent1">
                <a:lumMod val="50000"/>
              </a:schemeClr>
            </a:solidFill>
            <a:ln>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en-US"/>
            </a:p>
          </p:txBody>
        </p:sp>
        <p:sp>
          <p:nvSpPr>
            <p:cNvPr id="73" name="Freeform 10">
              <a:extLst>
                <a:ext uri="{FF2B5EF4-FFF2-40B4-BE49-F238E27FC236}">
                  <a16:creationId xmlns:a16="http://schemas.microsoft.com/office/drawing/2014/main" id="{8C994980-C537-3018-9ABF-7A12BDB9023F}"/>
                </a:ext>
              </a:extLst>
            </p:cNvPr>
            <p:cNvSpPr>
              <a:spLocks/>
            </p:cNvSpPr>
            <p:nvPr/>
          </p:nvSpPr>
          <p:spPr bwMode="auto">
            <a:xfrm>
              <a:off x="1646164" y="1741259"/>
              <a:ext cx="318878" cy="318131"/>
            </a:xfrm>
            <a:custGeom>
              <a:avLst/>
              <a:gdLst>
                <a:gd name="T0" fmla="*/ 1409 w 2558"/>
                <a:gd name="T1" fmla="*/ 6 h 2558"/>
                <a:gd name="T2" fmla="*/ 1599 w 2558"/>
                <a:gd name="T3" fmla="*/ 39 h 2558"/>
                <a:gd name="T4" fmla="*/ 1776 w 2558"/>
                <a:gd name="T5" fmla="*/ 100 h 2558"/>
                <a:gd name="T6" fmla="*/ 1943 w 2558"/>
                <a:gd name="T7" fmla="*/ 185 h 2558"/>
                <a:gd name="T8" fmla="*/ 2093 w 2558"/>
                <a:gd name="T9" fmla="*/ 292 h 2558"/>
                <a:gd name="T10" fmla="*/ 2225 w 2558"/>
                <a:gd name="T11" fmla="*/ 419 h 2558"/>
                <a:gd name="T12" fmla="*/ 2340 w 2558"/>
                <a:gd name="T13" fmla="*/ 563 h 2558"/>
                <a:gd name="T14" fmla="*/ 2432 w 2558"/>
                <a:gd name="T15" fmla="*/ 724 h 2558"/>
                <a:gd name="T16" fmla="*/ 2500 w 2558"/>
                <a:gd name="T17" fmla="*/ 898 h 2558"/>
                <a:gd name="T18" fmla="*/ 2543 w 2558"/>
                <a:gd name="T19" fmla="*/ 1084 h 2558"/>
                <a:gd name="T20" fmla="*/ 2558 w 2558"/>
                <a:gd name="T21" fmla="*/ 1278 h 2558"/>
                <a:gd name="T22" fmla="*/ 2543 w 2558"/>
                <a:gd name="T23" fmla="*/ 1474 h 2558"/>
                <a:gd name="T24" fmla="*/ 2500 w 2558"/>
                <a:gd name="T25" fmla="*/ 1659 h 2558"/>
                <a:gd name="T26" fmla="*/ 2432 w 2558"/>
                <a:gd name="T27" fmla="*/ 1833 h 2558"/>
                <a:gd name="T28" fmla="*/ 2340 w 2558"/>
                <a:gd name="T29" fmla="*/ 1993 h 2558"/>
                <a:gd name="T30" fmla="*/ 2225 w 2558"/>
                <a:gd name="T31" fmla="*/ 2138 h 2558"/>
                <a:gd name="T32" fmla="*/ 2093 w 2558"/>
                <a:gd name="T33" fmla="*/ 2265 h 2558"/>
                <a:gd name="T34" fmla="*/ 1943 w 2558"/>
                <a:gd name="T35" fmla="*/ 2373 h 2558"/>
                <a:gd name="T36" fmla="*/ 1776 w 2558"/>
                <a:gd name="T37" fmla="*/ 2457 h 2558"/>
                <a:gd name="T38" fmla="*/ 1599 w 2558"/>
                <a:gd name="T39" fmla="*/ 2517 h 2558"/>
                <a:gd name="T40" fmla="*/ 1409 w 2558"/>
                <a:gd name="T41" fmla="*/ 2551 h 2558"/>
                <a:gd name="T42" fmla="*/ 1213 w 2558"/>
                <a:gd name="T43" fmla="*/ 2556 h 2558"/>
                <a:gd name="T44" fmla="*/ 1021 w 2558"/>
                <a:gd name="T45" fmla="*/ 2532 h 2558"/>
                <a:gd name="T46" fmla="*/ 839 w 2558"/>
                <a:gd name="T47" fmla="*/ 2480 h 2558"/>
                <a:gd name="T48" fmla="*/ 670 w 2558"/>
                <a:gd name="T49" fmla="*/ 2403 h 2558"/>
                <a:gd name="T50" fmla="*/ 514 w 2558"/>
                <a:gd name="T51" fmla="*/ 2303 h 2558"/>
                <a:gd name="T52" fmla="*/ 375 w 2558"/>
                <a:gd name="T53" fmla="*/ 2183 h 2558"/>
                <a:gd name="T54" fmla="*/ 255 w 2558"/>
                <a:gd name="T55" fmla="*/ 2044 h 2558"/>
                <a:gd name="T56" fmla="*/ 155 w 2558"/>
                <a:gd name="T57" fmla="*/ 1888 h 2558"/>
                <a:gd name="T58" fmla="*/ 77 w 2558"/>
                <a:gd name="T59" fmla="*/ 1718 h 2558"/>
                <a:gd name="T60" fmla="*/ 26 w 2558"/>
                <a:gd name="T61" fmla="*/ 1537 h 2558"/>
                <a:gd name="T62" fmla="*/ 2 w 2558"/>
                <a:gd name="T63" fmla="*/ 1345 h 2558"/>
                <a:gd name="T64" fmla="*/ 6 w 2558"/>
                <a:gd name="T65" fmla="*/ 1148 h 2558"/>
                <a:gd name="T66" fmla="*/ 40 w 2558"/>
                <a:gd name="T67" fmla="*/ 958 h 2558"/>
                <a:gd name="T68" fmla="*/ 101 w 2558"/>
                <a:gd name="T69" fmla="*/ 781 h 2558"/>
                <a:gd name="T70" fmla="*/ 185 w 2558"/>
                <a:gd name="T71" fmla="*/ 615 h 2558"/>
                <a:gd name="T72" fmla="*/ 292 w 2558"/>
                <a:gd name="T73" fmla="*/ 465 h 2558"/>
                <a:gd name="T74" fmla="*/ 418 w 2558"/>
                <a:gd name="T75" fmla="*/ 332 h 2558"/>
                <a:gd name="T76" fmla="*/ 564 w 2558"/>
                <a:gd name="T77" fmla="*/ 218 h 2558"/>
                <a:gd name="T78" fmla="*/ 725 w 2558"/>
                <a:gd name="T79" fmla="*/ 126 h 2558"/>
                <a:gd name="T80" fmla="*/ 899 w 2558"/>
                <a:gd name="T81" fmla="*/ 57 h 2558"/>
                <a:gd name="T82" fmla="*/ 1084 w 2558"/>
                <a:gd name="T83" fmla="*/ 15 h 2558"/>
                <a:gd name="T84" fmla="*/ 1279 w 2558"/>
                <a:gd name="T85" fmla="*/ 0 h 2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58" h="2558">
                  <a:moveTo>
                    <a:pt x="1279" y="0"/>
                  </a:moveTo>
                  <a:lnTo>
                    <a:pt x="1344" y="1"/>
                  </a:lnTo>
                  <a:lnTo>
                    <a:pt x="1409" y="6"/>
                  </a:lnTo>
                  <a:lnTo>
                    <a:pt x="1473" y="15"/>
                  </a:lnTo>
                  <a:lnTo>
                    <a:pt x="1536" y="26"/>
                  </a:lnTo>
                  <a:lnTo>
                    <a:pt x="1599" y="39"/>
                  </a:lnTo>
                  <a:lnTo>
                    <a:pt x="1660" y="57"/>
                  </a:lnTo>
                  <a:lnTo>
                    <a:pt x="1719" y="77"/>
                  </a:lnTo>
                  <a:lnTo>
                    <a:pt x="1776" y="100"/>
                  </a:lnTo>
                  <a:lnTo>
                    <a:pt x="1834" y="126"/>
                  </a:lnTo>
                  <a:lnTo>
                    <a:pt x="1889" y="154"/>
                  </a:lnTo>
                  <a:lnTo>
                    <a:pt x="1943" y="185"/>
                  </a:lnTo>
                  <a:lnTo>
                    <a:pt x="1994" y="218"/>
                  </a:lnTo>
                  <a:lnTo>
                    <a:pt x="2045" y="254"/>
                  </a:lnTo>
                  <a:lnTo>
                    <a:pt x="2093" y="292"/>
                  </a:lnTo>
                  <a:lnTo>
                    <a:pt x="2139" y="332"/>
                  </a:lnTo>
                  <a:lnTo>
                    <a:pt x="2184" y="374"/>
                  </a:lnTo>
                  <a:lnTo>
                    <a:pt x="2225" y="419"/>
                  </a:lnTo>
                  <a:lnTo>
                    <a:pt x="2266" y="465"/>
                  </a:lnTo>
                  <a:lnTo>
                    <a:pt x="2304" y="513"/>
                  </a:lnTo>
                  <a:lnTo>
                    <a:pt x="2340" y="563"/>
                  </a:lnTo>
                  <a:lnTo>
                    <a:pt x="2372" y="615"/>
                  </a:lnTo>
                  <a:lnTo>
                    <a:pt x="2404" y="669"/>
                  </a:lnTo>
                  <a:lnTo>
                    <a:pt x="2432" y="724"/>
                  </a:lnTo>
                  <a:lnTo>
                    <a:pt x="2458" y="781"/>
                  </a:lnTo>
                  <a:lnTo>
                    <a:pt x="2480" y="838"/>
                  </a:lnTo>
                  <a:lnTo>
                    <a:pt x="2500" y="898"/>
                  </a:lnTo>
                  <a:lnTo>
                    <a:pt x="2517" y="958"/>
                  </a:lnTo>
                  <a:lnTo>
                    <a:pt x="2532" y="1020"/>
                  </a:lnTo>
                  <a:lnTo>
                    <a:pt x="2543" y="1084"/>
                  </a:lnTo>
                  <a:lnTo>
                    <a:pt x="2551" y="1148"/>
                  </a:lnTo>
                  <a:lnTo>
                    <a:pt x="2557" y="1212"/>
                  </a:lnTo>
                  <a:lnTo>
                    <a:pt x="2558" y="1278"/>
                  </a:lnTo>
                  <a:lnTo>
                    <a:pt x="2557" y="1345"/>
                  </a:lnTo>
                  <a:lnTo>
                    <a:pt x="2551" y="1410"/>
                  </a:lnTo>
                  <a:lnTo>
                    <a:pt x="2543" y="1474"/>
                  </a:lnTo>
                  <a:lnTo>
                    <a:pt x="2532" y="1537"/>
                  </a:lnTo>
                  <a:lnTo>
                    <a:pt x="2517" y="1598"/>
                  </a:lnTo>
                  <a:lnTo>
                    <a:pt x="2500" y="1659"/>
                  </a:lnTo>
                  <a:lnTo>
                    <a:pt x="2480" y="1718"/>
                  </a:lnTo>
                  <a:lnTo>
                    <a:pt x="2458" y="1777"/>
                  </a:lnTo>
                  <a:lnTo>
                    <a:pt x="2432" y="1833"/>
                  </a:lnTo>
                  <a:lnTo>
                    <a:pt x="2404" y="1888"/>
                  </a:lnTo>
                  <a:lnTo>
                    <a:pt x="2372" y="1942"/>
                  </a:lnTo>
                  <a:lnTo>
                    <a:pt x="2340" y="1993"/>
                  </a:lnTo>
                  <a:lnTo>
                    <a:pt x="2304" y="2044"/>
                  </a:lnTo>
                  <a:lnTo>
                    <a:pt x="2266" y="2092"/>
                  </a:lnTo>
                  <a:lnTo>
                    <a:pt x="2225" y="2138"/>
                  </a:lnTo>
                  <a:lnTo>
                    <a:pt x="2184" y="2183"/>
                  </a:lnTo>
                  <a:lnTo>
                    <a:pt x="2139" y="2226"/>
                  </a:lnTo>
                  <a:lnTo>
                    <a:pt x="2093" y="2265"/>
                  </a:lnTo>
                  <a:lnTo>
                    <a:pt x="2045" y="2303"/>
                  </a:lnTo>
                  <a:lnTo>
                    <a:pt x="1994" y="2339"/>
                  </a:lnTo>
                  <a:lnTo>
                    <a:pt x="1943" y="2373"/>
                  </a:lnTo>
                  <a:lnTo>
                    <a:pt x="1889" y="2403"/>
                  </a:lnTo>
                  <a:lnTo>
                    <a:pt x="1834" y="2431"/>
                  </a:lnTo>
                  <a:lnTo>
                    <a:pt x="1776" y="2457"/>
                  </a:lnTo>
                  <a:lnTo>
                    <a:pt x="1719" y="2480"/>
                  </a:lnTo>
                  <a:lnTo>
                    <a:pt x="1660" y="2500"/>
                  </a:lnTo>
                  <a:lnTo>
                    <a:pt x="1599" y="2517"/>
                  </a:lnTo>
                  <a:lnTo>
                    <a:pt x="1536" y="2532"/>
                  </a:lnTo>
                  <a:lnTo>
                    <a:pt x="1473" y="2543"/>
                  </a:lnTo>
                  <a:lnTo>
                    <a:pt x="1409" y="2551"/>
                  </a:lnTo>
                  <a:lnTo>
                    <a:pt x="1344" y="2556"/>
                  </a:lnTo>
                  <a:lnTo>
                    <a:pt x="1279" y="2558"/>
                  </a:lnTo>
                  <a:lnTo>
                    <a:pt x="1213" y="2556"/>
                  </a:lnTo>
                  <a:lnTo>
                    <a:pt x="1148" y="2551"/>
                  </a:lnTo>
                  <a:lnTo>
                    <a:pt x="1084" y="2543"/>
                  </a:lnTo>
                  <a:lnTo>
                    <a:pt x="1021" y="2532"/>
                  </a:lnTo>
                  <a:lnTo>
                    <a:pt x="959" y="2517"/>
                  </a:lnTo>
                  <a:lnTo>
                    <a:pt x="899" y="2500"/>
                  </a:lnTo>
                  <a:lnTo>
                    <a:pt x="839" y="2480"/>
                  </a:lnTo>
                  <a:lnTo>
                    <a:pt x="781" y="2457"/>
                  </a:lnTo>
                  <a:lnTo>
                    <a:pt x="725" y="2431"/>
                  </a:lnTo>
                  <a:lnTo>
                    <a:pt x="670" y="2403"/>
                  </a:lnTo>
                  <a:lnTo>
                    <a:pt x="616" y="2373"/>
                  </a:lnTo>
                  <a:lnTo>
                    <a:pt x="564" y="2339"/>
                  </a:lnTo>
                  <a:lnTo>
                    <a:pt x="514" y="2303"/>
                  </a:lnTo>
                  <a:lnTo>
                    <a:pt x="466" y="2265"/>
                  </a:lnTo>
                  <a:lnTo>
                    <a:pt x="418" y="2226"/>
                  </a:lnTo>
                  <a:lnTo>
                    <a:pt x="375" y="2183"/>
                  </a:lnTo>
                  <a:lnTo>
                    <a:pt x="332" y="2138"/>
                  </a:lnTo>
                  <a:lnTo>
                    <a:pt x="292" y="2092"/>
                  </a:lnTo>
                  <a:lnTo>
                    <a:pt x="255" y="2044"/>
                  </a:lnTo>
                  <a:lnTo>
                    <a:pt x="219" y="1993"/>
                  </a:lnTo>
                  <a:lnTo>
                    <a:pt x="185" y="1942"/>
                  </a:lnTo>
                  <a:lnTo>
                    <a:pt x="155" y="1888"/>
                  </a:lnTo>
                  <a:lnTo>
                    <a:pt x="127" y="1833"/>
                  </a:lnTo>
                  <a:lnTo>
                    <a:pt x="101" y="1777"/>
                  </a:lnTo>
                  <a:lnTo>
                    <a:pt x="77" y="1718"/>
                  </a:lnTo>
                  <a:lnTo>
                    <a:pt x="57" y="1659"/>
                  </a:lnTo>
                  <a:lnTo>
                    <a:pt x="40" y="1598"/>
                  </a:lnTo>
                  <a:lnTo>
                    <a:pt x="26" y="1537"/>
                  </a:lnTo>
                  <a:lnTo>
                    <a:pt x="14" y="1474"/>
                  </a:lnTo>
                  <a:lnTo>
                    <a:pt x="6" y="1410"/>
                  </a:lnTo>
                  <a:lnTo>
                    <a:pt x="2" y="1345"/>
                  </a:lnTo>
                  <a:lnTo>
                    <a:pt x="0" y="1278"/>
                  </a:lnTo>
                  <a:lnTo>
                    <a:pt x="2" y="1212"/>
                  </a:lnTo>
                  <a:lnTo>
                    <a:pt x="6" y="1148"/>
                  </a:lnTo>
                  <a:lnTo>
                    <a:pt x="14" y="1084"/>
                  </a:lnTo>
                  <a:lnTo>
                    <a:pt x="26" y="1020"/>
                  </a:lnTo>
                  <a:lnTo>
                    <a:pt x="40" y="958"/>
                  </a:lnTo>
                  <a:lnTo>
                    <a:pt x="57" y="898"/>
                  </a:lnTo>
                  <a:lnTo>
                    <a:pt x="77" y="838"/>
                  </a:lnTo>
                  <a:lnTo>
                    <a:pt x="101" y="781"/>
                  </a:lnTo>
                  <a:lnTo>
                    <a:pt x="127" y="724"/>
                  </a:lnTo>
                  <a:lnTo>
                    <a:pt x="155" y="669"/>
                  </a:lnTo>
                  <a:lnTo>
                    <a:pt x="185" y="615"/>
                  </a:lnTo>
                  <a:lnTo>
                    <a:pt x="219" y="563"/>
                  </a:lnTo>
                  <a:lnTo>
                    <a:pt x="255" y="513"/>
                  </a:lnTo>
                  <a:lnTo>
                    <a:pt x="292" y="465"/>
                  </a:lnTo>
                  <a:lnTo>
                    <a:pt x="332" y="419"/>
                  </a:lnTo>
                  <a:lnTo>
                    <a:pt x="375" y="374"/>
                  </a:lnTo>
                  <a:lnTo>
                    <a:pt x="418" y="332"/>
                  </a:lnTo>
                  <a:lnTo>
                    <a:pt x="466" y="292"/>
                  </a:lnTo>
                  <a:lnTo>
                    <a:pt x="514" y="254"/>
                  </a:lnTo>
                  <a:lnTo>
                    <a:pt x="564" y="218"/>
                  </a:lnTo>
                  <a:lnTo>
                    <a:pt x="616" y="185"/>
                  </a:lnTo>
                  <a:lnTo>
                    <a:pt x="670" y="154"/>
                  </a:lnTo>
                  <a:lnTo>
                    <a:pt x="725" y="126"/>
                  </a:lnTo>
                  <a:lnTo>
                    <a:pt x="781" y="100"/>
                  </a:lnTo>
                  <a:lnTo>
                    <a:pt x="839" y="77"/>
                  </a:lnTo>
                  <a:lnTo>
                    <a:pt x="899" y="57"/>
                  </a:lnTo>
                  <a:lnTo>
                    <a:pt x="959" y="39"/>
                  </a:lnTo>
                  <a:lnTo>
                    <a:pt x="1021" y="26"/>
                  </a:lnTo>
                  <a:lnTo>
                    <a:pt x="1084" y="15"/>
                  </a:lnTo>
                  <a:lnTo>
                    <a:pt x="1148" y="6"/>
                  </a:lnTo>
                  <a:lnTo>
                    <a:pt x="1213" y="1"/>
                  </a:lnTo>
                  <a:lnTo>
                    <a:pt x="1279" y="0"/>
                  </a:ln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a:p>
          </p:txBody>
        </p:sp>
      </p:grpSp>
      <p:pic>
        <p:nvPicPr>
          <p:cNvPr id="47" name="Graphic 46" descr="Bullseye with solid fill">
            <a:extLst>
              <a:ext uri="{FF2B5EF4-FFF2-40B4-BE49-F238E27FC236}">
                <a16:creationId xmlns:a16="http://schemas.microsoft.com/office/drawing/2014/main" id="{27612669-2D0D-8DDF-DD10-9DE9C50E12F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44238" y="1016717"/>
            <a:ext cx="218208" cy="218208"/>
          </a:xfrm>
          <a:prstGeom prst="rect">
            <a:avLst/>
          </a:prstGeom>
        </p:spPr>
      </p:pic>
      <p:grpSp>
        <p:nvGrpSpPr>
          <p:cNvPr id="2" name="Group 1">
            <a:extLst>
              <a:ext uri="{FF2B5EF4-FFF2-40B4-BE49-F238E27FC236}">
                <a16:creationId xmlns:a16="http://schemas.microsoft.com/office/drawing/2014/main" id="{2E9693C8-DA5B-1D6D-1384-FC5CBFC78F3C}"/>
              </a:ext>
            </a:extLst>
          </p:cNvPr>
          <p:cNvGrpSpPr/>
          <p:nvPr/>
        </p:nvGrpSpPr>
        <p:grpSpPr>
          <a:xfrm>
            <a:off x="1391709" y="5988035"/>
            <a:ext cx="327312" cy="327312"/>
            <a:chOff x="1061388" y="5719998"/>
            <a:chExt cx="327312" cy="327312"/>
          </a:xfrm>
        </p:grpSpPr>
        <p:grpSp>
          <p:nvGrpSpPr>
            <p:cNvPr id="50" name="Group 49">
              <a:extLst>
                <a:ext uri="{FF2B5EF4-FFF2-40B4-BE49-F238E27FC236}">
                  <a16:creationId xmlns:a16="http://schemas.microsoft.com/office/drawing/2014/main" id="{44BB1350-57A4-69BF-9F93-B00CA2008EC0}"/>
                </a:ext>
              </a:extLst>
            </p:cNvPr>
            <p:cNvGrpSpPr/>
            <p:nvPr/>
          </p:nvGrpSpPr>
          <p:grpSpPr>
            <a:xfrm>
              <a:off x="1061388" y="5719998"/>
              <a:ext cx="327312" cy="327312"/>
              <a:chOff x="1598765" y="1698913"/>
              <a:chExt cx="411480" cy="411480"/>
            </a:xfrm>
          </p:grpSpPr>
          <p:sp>
            <p:nvSpPr>
              <p:cNvPr id="51" name="Freeform 8">
                <a:extLst>
                  <a:ext uri="{FF2B5EF4-FFF2-40B4-BE49-F238E27FC236}">
                    <a16:creationId xmlns:a16="http://schemas.microsoft.com/office/drawing/2014/main" id="{B7E48B44-DDC2-23BE-5F19-B5EAFD154970}"/>
                  </a:ext>
                </a:extLst>
              </p:cNvPr>
              <p:cNvSpPr>
                <a:spLocks/>
              </p:cNvSpPr>
              <p:nvPr/>
            </p:nvSpPr>
            <p:spPr bwMode="auto">
              <a:xfrm>
                <a:off x="1598765" y="1698913"/>
                <a:ext cx="411480" cy="411480"/>
              </a:xfrm>
              <a:custGeom>
                <a:avLst/>
                <a:gdLst>
                  <a:gd name="T0" fmla="*/ 1822 w 3305"/>
                  <a:gd name="T1" fmla="*/ 9 h 3307"/>
                  <a:gd name="T2" fmla="*/ 2066 w 3305"/>
                  <a:gd name="T3" fmla="*/ 53 h 3307"/>
                  <a:gd name="T4" fmla="*/ 2296 w 3305"/>
                  <a:gd name="T5" fmla="*/ 130 h 3307"/>
                  <a:gd name="T6" fmla="*/ 2510 w 3305"/>
                  <a:gd name="T7" fmla="*/ 240 h 3307"/>
                  <a:gd name="T8" fmla="*/ 2705 w 3305"/>
                  <a:gd name="T9" fmla="*/ 378 h 3307"/>
                  <a:gd name="T10" fmla="*/ 2877 w 3305"/>
                  <a:gd name="T11" fmla="*/ 542 h 3307"/>
                  <a:gd name="T12" fmla="*/ 3024 w 3305"/>
                  <a:gd name="T13" fmla="*/ 730 h 3307"/>
                  <a:gd name="T14" fmla="*/ 3143 w 3305"/>
                  <a:gd name="T15" fmla="*/ 937 h 3307"/>
                  <a:gd name="T16" fmla="*/ 3231 w 3305"/>
                  <a:gd name="T17" fmla="*/ 1162 h 3307"/>
                  <a:gd name="T18" fmla="*/ 3286 w 3305"/>
                  <a:gd name="T19" fmla="*/ 1402 h 3307"/>
                  <a:gd name="T20" fmla="*/ 3305 w 3305"/>
                  <a:gd name="T21" fmla="*/ 1653 h 3307"/>
                  <a:gd name="T22" fmla="*/ 3286 w 3305"/>
                  <a:gd name="T23" fmla="*/ 1905 h 3307"/>
                  <a:gd name="T24" fmla="*/ 3231 w 3305"/>
                  <a:gd name="T25" fmla="*/ 2145 h 3307"/>
                  <a:gd name="T26" fmla="*/ 3143 w 3305"/>
                  <a:gd name="T27" fmla="*/ 2371 h 3307"/>
                  <a:gd name="T28" fmla="*/ 3024 w 3305"/>
                  <a:gd name="T29" fmla="*/ 2578 h 3307"/>
                  <a:gd name="T30" fmla="*/ 2877 w 3305"/>
                  <a:gd name="T31" fmla="*/ 2765 h 3307"/>
                  <a:gd name="T32" fmla="*/ 2705 w 3305"/>
                  <a:gd name="T33" fmla="*/ 2930 h 3307"/>
                  <a:gd name="T34" fmla="*/ 2510 w 3305"/>
                  <a:gd name="T35" fmla="*/ 3068 h 3307"/>
                  <a:gd name="T36" fmla="*/ 2296 w 3305"/>
                  <a:gd name="T37" fmla="*/ 3176 h 3307"/>
                  <a:gd name="T38" fmla="*/ 2066 w 3305"/>
                  <a:gd name="T39" fmla="*/ 3254 h 3307"/>
                  <a:gd name="T40" fmla="*/ 1822 w 3305"/>
                  <a:gd name="T41" fmla="*/ 3298 h 3307"/>
                  <a:gd name="T42" fmla="*/ 1568 w 3305"/>
                  <a:gd name="T43" fmla="*/ 3304 h 3307"/>
                  <a:gd name="T44" fmla="*/ 1320 w 3305"/>
                  <a:gd name="T45" fmla="*/ 3273 h 3307"/>
                  <a:gd name="T46" fmla="*/ 1084 w 3305"/>
                  <a:gd name="T47" fmla="*/ 3206 h 3307"/>
                  <a:gd name="T48" fmla="*/ 865 w 3305"/>
                  <a:gd name="T49" fmla="*/ 3107 h 3307"/>
                  <a:gd name="T50" fmla="*/ 664 w 3305"/>
                  <a:gd name="T51" fmla="*/ 2978 h 3307"/>
                  <a:gd name="T52" fmla="*/ 484 w 3305"/>
                  <a:gd name="T53" fmla="*/ 2822 h 3307"/>
                  <a:gd name="T54" fmla="*/ 329 w 3305"/>
                  <a:gd name="T55" fmla="*/ 2642 h 3307"/>
                  <a:gd name="T56" fmla="*/ 200 w 3305"/>
                  <a:gd name="T57" fmla="*/ 2441 h 3307"/>
                  <a:gd name="T58" fmla="*/ 100 w 3305"/>
                  <a:gd name="T59" fmla="*/ 2222 h 3307"/>
                  <a:gd name="T60" fmla="*/ 34 w 3305"/>
                  <a:gd name="T61" fmla="*/ 1987 h 3307"/>
                  <a:gd name="T62" fmla="*/ 2 w 3305"/>
                  <a:gd name="T63" fmla="*/ 1739 h 3307"/>
                  <a:gd name="T64" fmla="*/ 9 w 3305"/>
                  <a:gd name="T65" fmla="*/ 1485 h 3307"/>
                  <a:gd name="T66" fmla="*/ 52 w 3305"/>
                  <a:gd name="T67" fmla="*/ 1240 h 3307"/>
                  <a:gd name="T68" fmla="*/ 130 w 3305"/>
                  <a:gd name="T69" fmla="*/ 1010 h 3307"/>
                  <a:gd name="T70" fmla="*/ 239 w 3305"/>
                  <a:gd name="T71" fmla="*/ 796 h 3307"/>
                  <a:gd name="T72" fmla="*/ 377 w 3305"/>
                  <a:gd name="T73" fmla="*/ 602 h 3307"/>
                  <a:gd name="T74" fmla="*/ 541 w 3305"/>
                  <a:gd name="T75" fmla="*/ 430 h 3307"/>
                  <a:gd name="T76" fmla="*/ 728 w 3305"/>
                  <a:gd name="T77" fmla="*/ 283 h 3307"/>
                  <a:gd name="T78" fmla="*/ 936 w 3305"/>
                  <a:gd name="T79" fmla="*/ 164 h 3307"/>
                  <a:gd name="T80" fmla="*/ 1162 w 3305"/>
                  <a:gd name="T81" fmla="*/ 75 h 3307"/>
                  <a:gd name="T82" fmla="*/ 1401 w 3305"/>
                  <a:gd name="T83" fmla="*/ 19 h 3307"/>
                  <a:gd name="T84" fmla="*/ 1653 w 3305"/>
                  <a:gd name="T85" fmla="*/ 0 h 3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05" h="3307">
                    <a:moveTo>
                      <a:pt x="1653" y="0"/>
                    </a:moveTo>
                    <a:lnTo>
                      <a:pt x="1739" y="2"/>
                    </a:lnTo>
                    <a:lnTo>
                      <a:pt x="1822" y="9"/>
                    </a:lnTo>
                    <a:lnTo>
                      <a:pt x="1905" y="19"/>
                    </a:lnTo>
                    <a:lnTo>
                      <a:pt x="1987" y="34"/>
                    </a:lnTo>
                    <a:lnTo>
                      <a:pt x="2066" y="53"/>
                    </a:lnTo>
                    <a:lnTo>
                      <a:pt x="2145" y="75"/>
                    </a:lnTo>
                    <a:lnTo>
                      <a:pt x="2221" y="101"/>
                    </a:lnTo>
                    <a:lnTo>
                      <a:pt x="2296" y="130"/>
                    </a:lnTo>
                    <a:lnTo>
                      <a:pt x="2369" y="164"/>
                    </a:lnTo>
                    <a:lnTo>
                      <a:pt x="2441" y="200"/>
                    </a:lnTo>
                    <a:lnTo>
                      <a:pt x="2510" y="240"/>
                    </a:lnTo>
                    <a:lnTo>
                      <a:pt x="2577" y="283"/>
                    </a:lnTo>
                    <a:lnTo>
                      <a:pt x="2642" y="329"/>
                    </a:lnTo>
                    <a:lnTo>
                      <a:pt x="2705" y="378"/>
                    </a:lnTo>
                    <a:lnTo>
                      <a:pt x="2764" y="430"/>
                    </a:lnTo>
                    <a:lnTo>
                      <a:pt x="2822" y="485"/>
                    </a:lnTo>
                    <a:lnTo>
                      <a:pt x="2877" y="542"/>
                    </a:lnTo>
                    <a:lnTo>
                      <a:pt x="2928" y="602"/>
                    </a:lnTo>
                    <a:lnTo>
                      <a:pt x="2978" y="665"/>
                    </a:lnTo>
                    <a:lnTo>
                      <a:pt x="3024" y="730"/>
                    </a:lnTo>
                    <a:lnTo>
                      <a:pt x="3066" y="796"/>
                    </a:lnTo>
                    <a:lnTo>
                      <a:pt x="3107" y="865"/>
                    </a:lnTo>
                    <a:lnTo>
                      <a:pt x="3143" y="937"/>
                    </a:lnTo>
                    <a:lnTo>
                      <a:pt x="3176" y="1010"/>
                    </a:lnTo>
                    <a:lnTo>
                      <a:pt x="3206" y="1085"/>
                    </a:lnTo>
                    <a:lnTo>
                      <a:pt x="3231" y="1162"/>
                    </a:lnTo>
                    <a:lnTo>
                      <a:pt x="3254" y="1240"/>
                    </a:lnTo>
                    <a:lnTo>
                      <a:pt x="3273" y="1320"/>
                    </a:lnTo>
                    <a:lnTo>
                      <a:pt x="3286" y="1402"/>
                    </a:lnTo>
                    <a:lnTo>
                      <a:pt x="3298" y="1485"/>
                    </a:lnTo>
                    <a:lnTo>
                      <a:pt x="3304" y="1568"/>
                    </a:lnTo>
                    <a:lnTo>
                      <a:pt x="3305" y="1653"/>
                    </a:lnTo>
                    <a:lnTo>
                      <a:pt x="3304" y="1739"/>
                    </a:lnTo>
                    <a:lnTo>
                      <a:pt x="3298" y="1823"/>
                    </a:lnTo>
                    <a:lnTo>
                      <a:pt x="3286" y="1905"/>
                    </a:lnTo>
                    <a:lnTo>
                      <a:pt x="3273" y="1987"/>
                    </a:lnTo>
                    <a:lnTo>
                      <a:pt x="3254" y="2066"/>
                    </a:lnTo>
                    <a:lnTo>
                      <a:pt x="3231" y="2145"/>
                    </a:lnTo>
                    <a:lnTo>
                      <a:pt x="3206" y="2222"/>
                    </a:lnTo>
                    <a:lnTo>
                      <a:pt x="3176" y="2296"/>
                    </a:lnTo>
                    <a:lnTo>
                      <a:pt x="3143" y="2371"/>
                    </a:lnTo>
                    <a:lnTo>
                      <a:pt x="3107" y="2441"/>
                    </a:lnTo>
                    <a:lnTo>
                      <a:pt x="3066" y="2511"/>
                    </a:lnTo>
                    <a:lnTo>
                      <a:pt x="3024" y="2578"/>
                    </a:lnTo>
                    <a:lnTo>
                      <a:pt x="2978" y="2642"/>
                    </a:lnTo>
                    <a:lnTo>
                      <a:pt x="2928" y="2705"/>
                    </a:lnTo>
                    <a:lnTo>
                      <a:pt x="2877" y="2765"/>
                    </a:lnTo>
                    <a:lnTo>
                      <a:pt x="2822" y="2822"/>
                    </a:lnTo>
                    <a:lnTo>
                      <a:pt x="2764" y="2877"/>
                    </a:lnTo>
                    <a:lnTo>
                      <a:pt x="2705" y="2930"/>
                    </a:lnTo>
                    <a:lnTo>
                      <a:pt x="2642" y="2978"/>
                    </a:lnTo>
                    <a:lnTo>
                      <a:pt x="2577" y="3024"/>
                    </a:lnTo>
                    <a:lnTo>
                      <a:pt x="2510" y="3068"/>
                    </a:lnTo>
                    <a:lnTo>
                      <a:pt x="2441" y="3107"/>
                    </a:lnTo>
                    <a:lnTo>
                      <a:pt x="2369" y="3144"/>
                    </a:lnTo>
                    <a:lnTo>
                      <a:pt x="2296" y="3176"/>
                    </a:lnTo>
                    <a:lnTo>
                      <a:pt x="2221" y="3206"/>
                    </a:lnTo>
                    <a:lnTo>
                      <a:pt x="2145" y="3233"/>
                    </a:lnTo>
                    <a:lnTo>
                      <a:pt x="2066" y="3254"/>
                    </a:lnTo>
                    <a:lnTo>
                      <a:pt x="1987" y="3273"/>
                    </a:lnTo>
                    <a:lnTo>
                      <a:pt x="1905" y="3288"/>
                    </a:lnTo>
                    <a:lnTo>
                      <a:pt x="1822" y="3298"/>
                    </a:lnTo>
                    <a:lnTo>
                      <a:pt x="1739" y="3304"/>
                    </a:lnTo>
                    <a:lnTo>
                      <a:pt x="1653" y="3307"/>
                    </a:lnTo>
                    <a:lnTo>
                      <a:pt x="1568" y="3304"/>
                    </a:lnTo>
                    <a:lnTo>
                      <a:pt x="1484" y="3298"/>
                    </a:lnTo>
                    <a:lnTo>
                      <a:pt x="1401" y="3288"/>
                    </a:lnTo>
                    <a:lnTo>
                      <a:pt x="1320" y="3273"/>
                    </a:lnTo>
                    <a:lnTo>
                      <a:pt x="1240" y="3254"/>
                    </a:lnTo>
                    <a:lnTo>
                      <a:pt x="1162" y="3233"/>
                    </a:lnTo>
                    <a:lnTo>
                      <a:pt x="1084" y="3206"/>
                    </a:lnTo>
                    <a:lnTo>
                      <a:pt x="1009" y="3176"/>
                    </a:lnTo>
                    <a:lnTo>
                      <a:pt x="936" y="3144"/>
                    </a:lnTo>
                    <a:lnTo>
                      <a:pt x="865" y="3107"/>
                    </a:lnTo>
                    <a:lnTo>
                      <a:pt x="796" y="3068"/>
                    </a:lnTo>
                    <a:lnTo>
                      <a:pt x="728" y="3024"/>
                    </a:lnTo>
                    <a:lnTo>
                      <a:pt x="664" y="2978"/>
                    </a:lnTo>
                    <a:lnTo>
                      <a:pt x="602" y="2930"/>
                    </a:lnTo>
                    <a:lnTo>
                      <a:pt x="541" y="2877"/>
                    </a:lnTo>
                    <a:lnTo>
                      <a:pt x="484" y="2822"/>
                    </a:lnTo>
                    <a:lnTo>
                      <a:pt x="430" y="2765"/>
                    </a:lnTo>
                    <a:lnTo>
                      <a:pt x="377" y="2705"/>
                    </a:lnTo>
                    <a:lnTo>
                      <a:pt x="329" y="2642"/>
                    </a:lnTo>
                    <a:lnTo>
                      <a:pt x="283" y="2578"/>
                    </a:lnTo>
                    <a:lnTo>
                      <a:pt x="239" y="2511"/>
                    </a:lnTo>
                    <a:lnTo>
                      <a:pt x="200" y="2441"/>
                    </a:lnTo>
                    <a:lnTo>
                      <a:pt x="163" y="2371"/>
                    </a:lnTo>
                    <a:lnTo>
                      <a:pt x="130" y="2296"/>
                    </a:lnTo>
                    <a:lnTo>
                      <a:pt x="100" y="2222"/>
                    </a:lnTo>
                    <a:lnTo>
                      <a:pt x="74" y="2145"/>
                    </a:lnTo>
                    <a:lnTo>
                      <a:pt x="52" y="2066"/>
                    </a:lnTo>
                    <a:lnTo>
                      <a:pt x="34" y="1987"/>
                    </a:lnTo>
                    <a:lnTo>
                      <a:pt x="19" y="1905"/>
                    </a:lnTo>
                    <a:lnTo>
                      <a:pt x="9" y="1823"/>
                    </a:lnTo>
                    <a:lnTo>
                      <a:pt x="2" y="1739"/>
                    </a:lnTo>
                    <a:lnTo>
                      <a:pt x="0" y="1653"/>
                    </a:lnTo>
                    <a:lnTo>
                      <a:pt x="2" y="1568"/>
                    </a:lnTo>
                    <a:lnTo>
                      <a:pt x="9" y="1485"/>
                    </a:lnTo>
                    <a:lnTo>
                      <a:pt x="19" y="1402"/>
                    </a:lnTo>
                    <a:lnTo>
                      <a:pt x="34" y="1320"/>
                    </a:lnTo>
                    <a:lnTo>
                      <a:pt x="52" y="1240"/>
                    </a:lnTo>
                    <a:lnTo>
                      <a:pt x="74" y="1162"/>
                    </a:lnTo>
                    <a:lnTo>
                      <a:pt x="100" y="1085"/>
                    </a:lnTo>
                    <a:lnTo>
                      <a:pt x="130" y="1010"/>
                    </a:lnTo>
                    <a:lnTo>
                      <a:pt x="163" y="937"/>
                    </a:lnTo>
                    <a:lnTo>
                      <a:pt x="200" y="865"/>
                    </a:lnTo>
                    <a:lnTo>
                      <a:pt x="239" y="796"/>
                    </a:lnTo>
                    <a:lnTo>
                      <a:pt x="283" y="730"/>
                    </a:lnTo>
                    <a:lnTo>
                      <a:pt x="329" y="665"/>
                    </a:lnTo>
                    <a:lnTo>
                      <a:pt x="377" y="602"/>
                    </a:lnTo>
                    <a:lnTo>
                      <a:pt x="430" y="542"/>
                    </a:lnTo>
                    <a:lnTo>
                      <a:pt x="484" y="485"/>
                    </a:lnTo>
                    <a:lnTo>
                      <a:pt x="541" y="430"/>
                    </a:lnTo>
                    <a:lnTo>
                      <a:pt x="602" y="378"/>
                    </a:lnTo>
                    <a:lnTo>
                      <a:pt x="664" y="329"/>
                    </a:lnTo>
                    <a:lnTo>
                      <a:pt x="728" y="283"/>
                    </a:lnTo>
                    <a:lnTo>
                      <a:pt x="796" y="240"/>
                    </a:lnTo>
                    <a:lnTo>
                      <a:pt x="865" y="200"/>
                    </a:lnTo>
                    <a:lnTo>
                      <a:pt x="936" y="164"/>
                    </a:lnTo>
                    <a:lnTo>
                      <a:pt x="1009" y="130"/>
                    </a:lnTo>
                    <a:lnTo>
                      <a:pt x="1084" y="101"/>
                    </a:lnTo>
                    <a:lnTo>
                      <a:pt x="1162" y="75"/>
                    </a:lnTo>
                    <a:lnTo>
                      <a:pt x="1240" y="53"/>
                    </a:lnTo>
                    <a:lnTo>
                      <a:pt x="1320" y="34"/>
                    </a:lnTo>
                    <a:lnTo>
                      <a:pt x="1401" y="19"/>
                    </a:lnTo>
                    <a:lnTo>
                      <a:pt x="1484" y="9"/>
                    </a:lnTo>
                    <a:lnTo>
                      <a:pt x="1568" y="2"/>
                    </a:lnTo>
                    <a:lnTo>
                      <a:pt x="16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9">
                <a:extLst>
                  <a:ext uri="{FF2B5EF4-FFF2-40B4-BE49-F238E27FC236}">
                    <a16:creationId xmlns:a16="http://schemas.microsoft.com/office/drawing/2014/main" id="{F16192D3-BB95-07D1-38A7-08D8B8B42EE8}"/>
                  </a:ext>
                </a:extLst>
              </p:cNvPr>
              <p:cNvSpPr>
                <a:spLocks/>
              </p:cNvSpPr>
              <p:nvPr/>
            </p:nvSpPr>
            <p:spPr bwMode="auto">
              <a:xfrm>
                <a:off x="1623014" y="1717735"/>
                <a:ext cx="365179" cy="365179"/>
              </a:xfrm>
              <a:custGeom>
                <a:avLst/>
                <a:gdLst>
                  <a:gd name="T0" fmla="*/ 1616 w 2932"/>
                  <a:gd name="T1" fmla="*/ 7 h 2931"/>
                  <a:gd name="T2" fmla="*/ 1832 w 2932"/>
                  <a:gd name="T3" fmla="*/ 46 h 2931"/>
                  <a:gd name="T4" fmla="*/ 2036 w 2932"/>
                  <a:gd name="T5" fmla="*/ 115 h 2931"/>
                  <a:gd name="T6" fmla="*/ 2226 w 2932"/>
                  <a:gd name="T7" fmla="*/ 212 h 2931"/>
                  <a:gd name="T8" fmla="*/ 2399 w 2932"/>
                  <a:gd name="T9" fmla="*/ 334 h 2931"/>
                  <a:gd name="T10" fmla="*/ 2552 w 2932"/>
                  <a:gd name="T11" fmla="*/ 480 h 2931"/>
                  <a:gd name="T12" fmla="*/ 2682 w 2932"/>
                  <a:gd name="T13" fmla="*/ 646 h 2931"/>
                  <a:gd name="T14" fmla="*/ 2787 w 2932"/>
                  <a:gd name="T15" fmla="*/ 830 h 2931"/>
                  <a:gd name="T16" fmla="*/ 2866 w 2932"/>
                  <a:gd name="T17" fmla="*/ 1030 h 2931"/>
                  <a:gd name="T18" fmla="*/ 2915 w 2932"/>
                  <a:gd name="T19" fmla="*/ 1242 h 2931"/>
                  <a:gd name="T20" fmla="*/ 2932 w 2932"/>
                  <a:gd name="T21" fmla="*/ 1465 h 2931"/>
                  <a:gd name="T22" fmla="*/ 2915 w 2932"/>
                  <a:gd name="T23" fmla="*/ 1689 h 2931"/>
                  <a:gd name="T24" fmla="*/ 2866 w 2932"/>
                  <a:gd name="T25" fmla="*/ 1902 h 2931"/>
                  <a:gd name="T26" fmla="*/ 2787 w 2932"/>
                  <a:gd name="T27" fmla="*/ 2101 h 2931"/>
                  <a:gd name="T28" fmla="*/ 2682 w 2932"/>
                  <a:gd name="T29" fmla="*/ 2285 h 2931"/>
                  <a:gd name="T30" fmla="*/ 2552 w 2932"/>
                  <a:gd name="T31" fmla="*/ 2451 h 2931"/>
                  <a:gd name="T32" fmla="*/ 2399 w 2932"/>
                  <a:gd name="T33" fmla="*/ 2597 h 2931"/>
                  <a:gd name="T34" fmla="*/ 2226 w 2932"/>
                  <a:gd name="T35" fmla="*/ 2719 h 2931"/>
                  <a:gd name="T36" fmla="*/ 2036 w 2932"/>
                  <a:gd name="T37" fmla="*/ 2817 h 2931"/>
                  <a:gd name="T38" fmla="*/ 1832 w 2932"/>
                  <a:gd name="T39" fmla="*/ 2885 h 2931"/>
                  <a:gd name="T40" fmla="*/ 1616 w 2932"/>
                  <a:gd name="T41" fmla="*/ 2924 h 2931"/>
                  <a:gd name="T42" fmla="*/ 1391 w 2932"/>
                  <a:gd name="T43" fmla="*/ 2930 h 2931"/>
                  <a:gd name="T44" fmla="*/ 1170 w 2932"/>
                  <a:gd name="T45" fmla="*/ 2902 h 2931"/>
                  <a:gd name="T46" fmla="*/ 962 w 2932"/>
                  <a:gd name="T47" fmla="*/ 2843 h 2931"/>
                  <a:gd name="T48" fmla="*/ 767 w 2932"/>
                  <a:gd name="T49" fmla="*/ 2755 h 2931"/>
                  <a:gd name="T50" fmla="*/ 589 w 2932"/>
                  <a:gd name="T51" fmla="*/ 2640 h 2931"/>
                  <a:gd name="T52" fmla="*/ 429 w 2932"/>
                  <a:gd name="T53" fmla="*/ 2502 h 2931"/>
                  <a:gd name="T54" fmla="*/ 291 w 2932"/>
                  <a:gd name="T55" fmla="*/ 2343 h 2931"/>
                  <a:gd name="T56" fmla="*/ 177 w 2932"/>
                  <a:gd name="T57" fmla="*/ 2165 h 2931"/>
                  <a:gd name="T58" fmla="*/ 89 w 2932"/>
                  <a:gd name="T59" fmla="*/ 1969 h 2931"/>
                  <a:gd name="T60" fmla="*/ 30 w 2932"/>
                  <a:gd name="T61" fmla="*/ 1761 h 2931"/>
                  <a:gd name="T62" fmla="*/ 2 w 2932"/>
                  <a:gd name="T63" fmla="*/ 1541 h 2931"/>
                  <a:gd name="T64" fmla="*/ 7 w 2932"/>
                  <a:gd name="T65" fmla="*/ 1316 h 2931"/>
                  <a:gd name="T66" fmla="*/ 46 w 2932"/>
                  <a:gd name="T67" fmla="*/ 1099 h 2931"/>
                  <a:gd name="T68" fmla="*/ 115 w 2932"/>
                  <a:gd name="T69" fmla="*/ 895 h 2931"/>
                  <a:gd name="T70" fmla="*/ 213 w 2932"/>
                  <a:gd name="T71" fmla="*/ 705 h 2931"/>
                  <a:gd name="T72" fmla="*/ 335 w 2932"/>
                  <a:gd name="T73" fmla="*/ 533 h 2931"/>
                  <a:gd name="T74" fmla="*/ 480 w 2932"/>
                  <a:gd name="T75" fmla="*/ 380 h 2931"/>
                  <a:gd name="T76" fmla="*/ 646 w 2932"/>
                  <a:gd name="T77" fmla="*/ 250 h 2931"/>
                  <a:gd name="T78" fmla="*/ 830 w 2932"/>
                  <a:gd name="T79" fmla="*/ 144 h 2931"/>
                  <a:gd name="T80" fmla="*/ 1030 w 2932"/>
                  <a:gd name="T81" fmla="*/ 66 h 2931"/>
                  <a:gd name="T82" fmla="*/ 1243 w 2932"/>
                  <a:gd name="T83" fmla="*/ 16 h 2931"/>
                  <a:gd name="T84" fmla="*/ 1466 w 2932"/>
                  <a:gd name="T85" fmla="*/ 0 h 2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2" h="2931">
                    <a:moveTo>
                      <a:pt x="1466" y="0"/>
                    </a:moveTo>
                    <a:lnTo>
                      <a:pt x="1541" y="2"/>
                    </a:lnTo>
                    <a:lnTo>
                      <a:pt x="1616" y="7"/>
                    </a:lnTo>
                    <a:lnTo>
                      <a:pt x="1690" y="16"/>
                    </a:lnTo>
                    <a:lnTo>
                      <a:pt x="1761" y="30"/>
                    </a:lnTo>
                    <a:lnTo>
                      <a:pt x="1832" y="46"/>
                    </a:lnTo>
                    <a:lnTo>
                      <a:pt x="1902" y="66"/>
                    </a:lnTo>
                    <a:lnTo>
                      <a:pt x="1970" y="88"/>
                    </a:lnTo>
                    <a:lnTo>
                      <a:pt x="2036" y="115"/>
                    </a:lnTo>
                    <a:lnTo>
                      <a:pt x="2102" y="144"/>
                    </a:lnTo>
                    <a:lnTo>
                      <a:pt x="2164" y="177"/>
                    </a:lnTo>
                    <a:lnTo>
                      <a:pt x="2226" y="212"/>
                    </a:lnTo>
                    <a:lnTo>
                      <a:pt x="2286" y="250"/>
                    </a:lnTo>
                    <a:lnTo>
                      <a:pt x="2343" y="290"/>
                    </a:lnTo>
                    <a:lnTo>
                      <a:pt x="2399" y="334"/>
                    </a:lnTo>
                    <a:lnTo>
                      <a:pt x="2452" y="380"/>
                    </a:lnTo>
                    <a:lnTo>
                      <a:pt x="2502" y="429"/>
                    </a:lnTo>
                    <a:lnTo>
                      <a:pt x="2552" y="480"/>
                    </a:lnTo>
                    <a:lnTo>
                      <a:pt x="2598" y="533"/>
                    </a:lnTo>
                    <a:lnTo>
                      <a:pt x="2640" y="589"/>
                    </a:lnTo>
                    <a:lnTo>
                      <a:pt x="2682" y="646"/>
                    </a:lnTo>
                    <a:lnTo>
                      <a:pt x="2720" y="705"/>
                    </a:lnTo>
                    <a:lnTo>
                      <a:pt x="2755" y="767"/>
                    </a:lnTo>
                    <a:lnTo>
                      <a:pt x="2787" y="830"/>
                    </a:lnTo>
                    <a:lnTo>
                      <a:pt x="2816" y="895"/>
                    </a:lnTo>
                    <a:lnTo>
                      <a:pt x="2843" y="961"/>
                    </a:lnTo>
                    <a:lnTo>
                      <a:pt x="2866" y="1030"/>
                    </a:lnTo>
                    <a:lnTo>
                      <a:pt x="2886" y="1099"/>
                    </a:lnTo>
                    <a:lnTo>
                      <a:pt x="2902" y="1170"/>
                    </a:lnTo>
                    <a:lnTo>
                      <a:pt x="2915" y="1242"/>
                    </a:lnTo>
                    <a:lnTo>
                      <a:pt x="2924" y="1316"/>
                    </a:lnTo>
                    <a:lnTo>
                      <a:pt x="2930" y="1390"/>
                    </a:lnTo>
                    <a:lnTo>
                      <a:pt x="2932" y="1465"/>
                    </a:lnTo>
                    <a:lnTo>
                      <a:pt x="2930" y="1541"/>
                    </a:lnTo>
                    <a:lnTo>
                      <a:pt x="2924" y="1616"/>
                    </a:lnTo>
                    <a:lnTo>
                      <a:pt x="2915" y="1689"/>
                    </a:lnTo>
                    <a:lnTo>
                      <a:pt x="2902" y="1761"/>
                    </a:lnTo>
                    <a:lnTo>
                      <a:pt x="2886" y="1832"/>
                    </a:lnTo>
                    <a:lnTo>
                      <a:pt x="2866" y="1902"/>
                    </a:lnTo>
                    <a:lnTo>
                      <a:pt x="2843" y="1969"/>
                    </a:lnTo>
                    <a:lnTo>
                      <a:pt x="2816" y="2037"/>
                    </a:lnTo>
                    <a:lnTo>
                      <a:pt x="2787" y="2101"/>
                    </a:lnTo>
                    <a:lnTo>
                      <a:pt x="2755" y="2165"/>
                    </a:lnTo>
                    <a:lnTo>
                      <a:pt x="2720" y="2225"/>
                    </a:lnTo>
                    <a:lnTo>
                      <a:pt x="2682" y="2285"/>
                    </a:lnTo>
                    <a:lnTo>
                      <a:pt x="2640" y="2343"/>
                    </a:lnTo>
                    <a:lnTo>
                      <a:pt x="2598" y="2398"/>
                    </a:lnTo>
                    <a:lnTo>
                      <a:pt x="2552" y="2451"/>
                    </a:lnTo>
                    <a:lnTo>
                      <a:pt x="2502" y="2502"/>
                    </a:lnTo>
                    <a:lnTo>
                      <a:pt x="2452" y="2551"/>
                    </a:lnTo>
                    <a:lnTo>
                      <a:pt x="2399" y="2597"/>
                    </a:lnTo>
                    <a:lnTo>
                      <a:pt x="2343" y="2640"/>
                    </a:lnTo>
                    <a:lnTo>
                      <a:pt x="2286" y="2681"/>
                    </a:lnTo>
                    <a:lnTo>
                      <a:pt x="2226" y="2719"/>
                    </a:lnTo>
                    <a:lnTo>
                      <a:pt x="2164" y="2755"/>
                    </a:lnTo>
                    <a:lnTo>
                      <a:pt x="2102" y="2786"/>
                    </a:lnTo>
                    <a:lnTo>
                      <a:pt x="2036" y="2817"/>
                    </a:lnTo>
                    <a:lnTo>
                      <a:pt x="1970" y="2843"/>
                    </a:lnTo>
                    <a:lnTo>
                      <a:pt x="1902" y="2866"/>
                    </a:lnTo>
                    <a:lnTo>
                      <a:pt x="1832" y="2885"/>
                    </a:lnTo>
                    <a:lnTo>
                      <a:pt x="1761" y="2902"/>
                    </a:lnTo>
                    <a:lnTo>
                      <a:pt x="1690" y="2914"/>
                    </a:lnTo>
                    <a:lnTo>
                      <a:pt x="1616" y="2924"/>
                    </a:lnTo>
                    <a:lnTo>
                      <a:pt x="1541" y="2930"/>
                    </a:lnTo>
                    <a:lnTo>
                      <a:pt x="1466" y="2931"/>
                    </a:lnTo>
                    <a:lnTo>
                      <a:pt x="1391" y="2930"/>
                    </a:lnTo>
                    <a:lnTo>
                      <a:pt x="1316" y="2924"/>
                    </a:lnTo>
                    <a:lnTo>
                      <a:pt x="1243" y="2914"/>
                    </a:lnTo>
                    <a:lnTo>
                      <a:pt x="1170" y="2902"/>
                    </a:lnTo>
                    <a:lnTo>
                      <a:pt x="1099" y="2885"/>
                    </a:lnTo>
                    <a:lnTo>
                      <a:pt x="1030" y="2866"/>
                    </a:lnTo>
                    <a:lnTo>
                      <a:pt x="962" y="2843"/>
                    </a:lnTo>
                    <a:lnTo>
                      <a:pt x="895" y="2817"/>
                    </a:lnTo>
                    <a:lnTo>
                      <a:pt x="830" y="2786"/>
                    </a:lnTo>
                    <a:lnTo>
                      <a:pt x="767" y="2755"/>
                    </a:lnTo>
                    <a:lnTo>
                      <a:pt x="705" y="2719"/>
                    </a:lnTo>
                    <a:lnTo>
                      <a:pt x="646" y="2681"/>
                    </a:lnTo>
                    <a:lnTo>
                      <a:pt x="589" y="2640"/>
                    </a:lnTo>
                    <a:lnTo>
                      <a:pt x="534" y="2597"/>
                    </a:lnTo>
                    <a:lnTo>
                      <a:pt x="480" y="2551"/>
                    </a:lnTo>
                    <a:lnTo>
                      <a:pt x="429" y="2502"/>
                    </a:lnTo>
                    <a:lnTo>
                      <a:pt x="381" y="2451"/>
                    </a:lnTo>
                    <a:lnTo>
                      <a:pt x="335" y="2398"/>
                    </a:lnTo>
                    <a:lnTo>
                      <a:pt x="291" y="2343"/>
                    </a:lnTo>
                    <a:lnTo>
                      <a:pt x="251" y="2285"/>
                    </a:lnTo>
                    <a:lnTo>
                      <a:pt x="213" y="2225"/>
                    </a:lnTo>
                    <a:lnTo>
                      <a:pt x="177" y="2165"/>
                    </a:lnTo>
                    <a:lnTo>
                      <a:pt x="144" y="2101"/>
                    </a:lnTo>
                    <a:lnTo>
                      <a:pt x="115" y="2037"/>
                    </a:lnTo>
                    <a:lnTo>
                      <a:pt x="89" y="1969"/>
                    </a:lnTo>
                    <a:lnTo>
                      <a:pt x="66" y="1902"/>
                    </a:lnTo>
                    <a:lnTo>
                      <a:pt x="46" y="1832"/>
                    </a:lnTo>
                    <a:lnTo>
                      <a:pt x="30" y="1761"/>
                    </a:lnTo>
                    <a:lnTo>
                      <a:pt x="17" y="1689"/>
                    </a:lnTo>
                    <a:lnTo>
                      <a:pt x="7" y="1616"/>
                    </a:lnTo>
                    <a:lnTo>
                      <a:pt x="2" y="1541"/>
                    </a:lnTo>
                    <a:lnTo>
                      <a:pt x="0" y="1465"/>
                    </a:lnTo>
                    <a:lnTo>
                      <a:pt x="2" y="1390"/>
                    </a:lnTo>
                    <a:lnTo>
                      <a:pt x="7" y="1316"/>
                    </a:lnTo>
                    <a:lnTo>
                      <a:pt x="17" y="1242"/>
                    </a:lnTo>
                    <a:lnTo>
                      <a:pt x="30" y="1170"/>
                    </a:lnTo>
                    <a:lnTo>
                      <a:pt x="46" y="1099"/>
                    </a:lnTo>
                    <a:lnTo>
                      <a:pt x="66" y="1030"/>
                    </a:lnTo>
                    <a:lnTo>
                      <a:pt x="89" y="961"/>
                    </a:lnTo>
                    <a:lnTo>
                      <a:pt x="115" y="895"/>
                    </a:lnTo>
                    <a:lnTo>
                      <a:pt x="144" y="830"/>
                    </a:lnTo>
                    <a:lnTo>
                      <a:pt x="177" y="767"/>
                    </a:lnTo>
                    <a:lnTo>
                      <a:pt x="213" y="705"/>
                    </a:lnTo>
                    <a:lnTo>
                      <a:pt x="251" y="646"/>
                    </a:lnTo>
                    <a:lnTo>
                      <a:pt x="291" y="589"/>
                    </a:lnTo>
                    <a:lnTo>
                      <a:pt x="335" y="533"/>
                    </a:lnTo>
                    <a:lnTo>
                      <a:pt x="381" y="480"/>
                    </a:lnTo>
                    <a:lnTo>
                      <a:pt x="429" y="429"/>
                    </a:lnTo>
                    <a:lnTo>
                      <a:pt x="480" y="380"/>
                    </a:lnTo>
                    <a:lnTo>
                      <a:pt x="534" y="334"/>
                    </a:lnTo>
                    <a:lnTo>
                      <a:pt x="589" y="290"/>
                    </a:lnTo>
                    <a:lnTo>
                      <a:pt x="646" y="250"/>
                    </a:lnTo>
                    <a:lnTo>
                      <a:pt x="705" y="212"/>
                    </a:lnTo>
                    <a:lnTo>
                      <a:pt x="767" y="177"/>
                    </a:lnTo>
                    <a:lnTo>
                      <a:pt x="830" y="144"/>
                    </a:lnTo>
                    <a:lnTo>
                      <a:pt x="895" y="115"/>
                    </a:lnTo>
                    <a:lnTo>
                      <a:pt x="962" y="88"/>
                    </a:lnTo>
                    <a:lnTo>
                      <a:pt x="1030" y="66"/>
                    </a:lnTo>
                    <a:lnTo>
                      <a:pt x="1099" y="46"/>
                    </a:lnTo>
                    <a:lnTo>
                      <a:pt x="1170" y="30"/>
                    </a:lnTo>
                    <a:lnTo>
                      <a:pt x="1243" y="16"/>
                    </a:lnTo>
                    <a:lnTo>
                      <a:pt x="1316" y="7"/>
                    </a:lnTo>
                    <a:lnTo>
                      <a:pt x="1391" y="2"/>
                    </a:lnTo>
                    <a:lnTo>
                      <a:pt x="1466" y="0"/>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4">
                <a:extLst>
                  <a:ext uri="{FF2B5EF4-FFF2-40B4-BE49-F238E27FC236}">
                    <a16:creationId xmlns:a16="http://schemas.microsoft.com/office/drawing/2014/main" id="{39BD9219-F03C-71DE-36BC-AB0A2D9C1D49}"/>
                  </a:ext>
                </a:extLst>
              </p:cNvPr>
              <p:cNvSpPr>
                <a:spLocks/>
              </p:cNvSpPr>
              <p:nvPr/>
            </p:nvSpPr>
            <p:spPr bwMode="auto">
              <a:xfrm>
                <a:off x="1649546" y="1774338"/>
                <a:ext cx="318131" cy="294234"/>
              </a:xfrm>
              <a:custGeom>
                <a:avLst/>
                <a:gdLst>
                  <a:gd name="T0" fmla="*/ 2508 w 2552"/>
                  <a:gd name="T1" fmla="*/ 1224 h 2365"/>
                  <a:gd name="T2" fmla="*/ 2457 w 2552"/>
                  <a:gd name="T3" fmla="*/ 1448 h 2365"/>
                  <a:gd name="T4" fmla="*/ 2367 w 2552"/>
                  <a:gd name="T5" fmla="*/ 1656 h 2365"/>
                  <a:gd name="T6" fmla="*/ 2243 w 2552"/>
                  <a:gd name="T7" fmla="*/ 1842 h 2365"/>
                  <a:gd name="T8" fmla="*/ 2091 w 2552"/>
                  <a:gd name="T9" fmla="*/ 2004 h 2365"/>
                  <a:gd name="T10" fmla="*/ 1911 w 2552"/>
                  <a:gd name="T11" fmla="*/ 2136 h 2365"/>
                  <a:gd name="T12" fmla="*/ 1710 w 2552"/>
                  <a:gd name="T13" fmla="*/ 2237 h 2365"/>
                  <a:gd name="T14" fmla="*/ 1490 w 2552"/>
                  <a:gd name="T15" fmla="*/ 2301 h 2365"/>
                  <a:gd name="T16" fmla="*/ 1362 w 2552"/>
                  <a:gd name="T17" fmla="*/ 2320 h 2365"/>
                  <a:gd name="T18" fmla="*/ 1266 w 2552"/>
                  <a:gd name="T19" fmla="*/ 2326 h 2365"/>
                  <a:gd name="T20" fmla="*/ 1169 w 2552"/>
                  <a:gd name="T21" fmla="*/ 2324 h 2365"/>
                  <a:gd name="T22" fmla="*/ 1074 w 2552"/>
                  <a:gd name="T23" fmla="*/ 2315 h 2365"/>
                  <a:gd name="T24" fmla="*/ 987 w 2552"/>
                  <a:gd name="T25" fmla="*/ 2300 h 2365"/>
                  <a:gd name="T26" fmla="*/ 806 w 2552"/>
                  <a:gd name="T27" fmla="*/ 2250 h 2365"/>
                  <a:gd name="T28" fmla="*/ 635 w 2552"/>
                  <a:gd name="T29" fmla="*/ 2173 h 2365"/>
                  <a:gd name="T30" fmla="*/ 479 w 2552"/>
                  <a:gd name="T31" fmla="*/ 2073 h 2365"/>
                  <a:gd name="T32" fmla="*/ 340 w 2552"/>
                  <a:gd name="T33" fmla="*/ 1953 h 2365"/>
                  <a:gd name="T34" fmla="*/ 219 w 2552"/>
                  <a:gd name="T35" fmla="*/ 1814 h 2365"/>
                  <a:gd name="T36" fmla="*/ 119 w 2552"/>
                  <a:gd name="T37" fmla="*/ 1659 h 2365"/>
                  <a:gd name="T38" fmla="*/ 41 w 2552"/>
                  <a:gd name="T39" fmla="*/ 1490 h 2365"/>
                  <a:gd name="T40" fmla="*/ 0 w 2552"/>
                  <a:gd name="T41" fmla="*/ 1354 h 2365"/>
                  <a:gd name="T42" fmla="*/ 46 w 2552"/>
                  <a:gd name="T43" fmla="*/ 1513 h 2365"/>
                  <a:gd name="T44" fmla="*/ 137 w 2552"/>
                  <a:gd name="T45" fmla="*/ 1710 h 2365"/>
                  <a:gd name="T46" fmla="*/ 258 w 2552"/>
                  <a:gd name="T47" fmla="*/ 1887 h 2365"/>
                  <a:gd name="T48" fmla="*/ 406 w 2552"/>
                  <a:gd name="T49" fmla="*/ 2042 h 2365"/>
                  <a:gd name="T50" fmla="*/ 578 w 2552"/>
                  <a:gd name="T51" fmla="*/ 2170 h 2365"/>
                  <a:gd name="T52" fmla="*/ 771 w 2552"/>
                  <a:gd name="T53" fmla="*/ 2269 h 2365"/>
                  <a:gd name="T54" fmla="*/ 980 w 2552"/>
                  <a:gd name="T55" fmla="*/ 2335 h 2365"/>
                  <a:gd name="T56" fmla="*/ 1203 w 2552"/>
                  <a:gd name="T57" fmla="*/ 2364 h 2365"/>
                  <a:gd name="T58" fmla="*/ 1403 w 2552"/>
                  <a:gd name="T59" fmla="*/ 2357 h 2365"/>
                  <a:gd name="T60" fmla="*/ 1586 w 2552"/>
                  <a:gd name="T61" fmla="*/ 2324 h 2365"/>
                  <a:gd name="T62" fmla="*/ 1775 w 2552"/>
                  <a:gd name="T63" fmla="*/ 2259 h 2365"/>
                  <a:gd name="T64" fmla="*/ 1956 w 2552"/>
                  <a:gd name="T65" fmla="*/ 2162 h 2365"/>
                  <a:gd name="T66" fmla="*/ 2119 w 2552"/>
                  <a:gd name="T67" fmla="*/ 2039 h 2365"/>
                  <a:gd name="T68" fmla="*/ 2259 w 2552"/>
                  <a:gd name="T69" fmla="*/ 1893 h 2365"/>
                  <a:gd name="T70" fmla="*/ 2376 w 2552"/>
                  <a:gd name="T71" fmla="*/ 1725 h 2365"/>
                  <a:gd name="T72" fmla="*/ 2465 w 2552"/>
                  <a:gd name="T73" fmla="*/ 1540 h 2365"/>
                  <a:gd name="T74" fmla="*/ 2524 w 2552"/>
                  <a:gd name="T75" fmla="*/ 1340 h 2365"/>
                  <a:gd name="T76" fmla="*/ 2551 w 2552"/>
                  <a:gd name="T77" fmla="*/ 1128 h 2365"/>
                  <a:gd name="T78" fmla="*/ 2545 w 2552"/>
                  <a:gd name="T79" fmla="*/ 950 h 2365"/>
                  <a:gd name="T80" fmla="*/ 2521 w 2552"/>
                  <a:gd name="T81" fmla="*/ 789 h 2365"/>
                  <a:gd name="T82" fmla="*/ 2476 w 2552"/>
                  <a:gd name="T83" fmla="*/ 636 h 2365"/>
                  <a:gd name="T84" fmla="*/ 2413 w 2552"/>
                  <a:gd name="T85" fmla="*/ 491 h 2365"/>
                  <a:gd name="T86" fmla="*/ 2334 w 2552"/>
                  <a:gd name="T87" fmla="*/ 356 h 2365"/>
                  <a:gd name="T88" fmla="*/ 2240 w 2552"/>
                  <a:gd name="T89" fmla="*/ 233 h 2365"/>
                  <a:gd name="T90" fmla="*/ 2131 w 2552"/>
                  <a:gd name="T91" fmla="*/ 120 h 2365"/>
                  <a:gd name="T92" fmla="*/ 2010 w 2552"/>
                  <a:gd name="T93" fmla="*/ 23 h 2365"/>
                  <a:gd name="T94" fmla="*/ 2067 w 2552"/>
                  <a:gd name="T95" fmla="*/ 70 h 2365"/>
                  <a:gd name="T96" fmla="*/ 2176 w 2552"/>
                  <a:gd name="T97" fmla="*/ 173 h 2365"/>
                  <a:gd name="T98" fmla="*/ 2273 w 2552"/>
                  <a:gd name="T99" fmla="*/ 289 h 2365"/>
                  <a:gd name="T100" fmla="*/ 2355 w 2552"/>
                  <a:gd name="T101" fmla="*/ 416 h 2365"/>
                  <a:gd name="T102" fmla="*/ 2422 w 2552"/>
                  <a:gd name="T103" fmla="*/ 551 h 2365"/>
                  <a:gd name="T104" fmla="*/ 2472 w 2552"/>
                  <a:gd name="T105" fmla="*/ 696 h 2365"/>
                  <a:gd name="T106" fmla="*/ 2506 w 2552"/>
                  <a:gd name="T107" fmla="*/ 848 h 2365"/>
                  <a:gd name="T108" fmla="*/ 2521 w 2552"/>
                  <a:gd name="T109" fmla="*/ 1006 h 2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52" h="2365">
                    <a:moveTo>
                      <a:pt x="2521" y="1046"/>
                    </a:moveTo>
                    <a:lnTo>
                      <a:pt x="2520" y="1106"/>
                    </a:lnTo>
                    <a:lnTo>
                      <a:pt x="2515" y="1165"/>
                    </a:lnTo>
                    <a:lnTo>
                      <a:pt x="2508" y="1224"/>
                    </a:lnTo>
                    <a:lnTo>
                      <a:pt x="2499" y="1281"/>
                    </a:lnTo>
                    <a:lnTo>
                      <a:pt x="2488" y="1338"/>
                    </a:lnTo>
                    <a:lnTo>
                      <a:pt x="2474" y="1393"/>
                    </a:lnTo>
                    <a:lnTo>
                      <a:pt x="2457" y="1448"/>
                    </a:lnTo>
                    <a:lnTo>
                      <a:pt x="2438" y="1502"/>
                    </a:lnTo>
                    <a:lnTo>
                      <a:pt x="2416" y="1554"/>
                    </a:lnTo>
                    <a:lnTo>
                      <a:pt x="2393" y="1605"/>
                    </a:lnTo>
                    <a:lnTo>
                      <a:pt x="2367" y="1656"/>
                    </a:lnTo>
                    <a:lnTo>
                      <a:pt x="2339" y="1704"/>
                    </a:lnTo>
                    <a:lnTo>
                      <a:pt x="2310" y="1751"/>
                    </a:lnTo>
                    <a:lnTo>
                      <a:pt x="2277" y="1797"/>
                    </a:lnTo>
                    <a:lnTo>
                      <a:pt x="2243" y="1842"/>
                    </a:lnTo>
                    <a:lnTo>
                      <a:pt x="2208" y="1885"/>
                    </a:lnTo>
                    <a:lnTo>
                      <a:pt x="2170" y="1926"/>
                    </a:lnTo>
                    <a:lnTo>
                      <a:pt x="2131" y="1966"/>
                    </a:lnTo>
                    <a:lnTo>
                      <a:pt x="2091" y="2004"/>
                    </a:lnTo>
                    <a:lnTo>
                      <a:pt x="2048" y="2040"/>
                    </a:lnTo>
                    <a:lnTo>
                      <a:pt x="2004" y="2074"/>
                    </a:lnTo>
                    <a:lnTo>
                      <a:pt x="1958" y="2106"/>
                    </a:lnTo>
                    <a:lnTo>
                      <a:pt x="1911" y="2136"/>
                    </a:lnTo>
                    <a:lnTo>
                      <a:pt x="1863" y="2165"/>
                    </a:lnTo>
                    <a:lnTo>
                      <a:pt x="1814" y="2191"/>
                    </a:lnTo>
                    <a:lnTo>
                      <a:pt x="1762" y="2215"/>
                    </a:lnTo>
                    <a:lnTo>
                      <a:pt x="1710" y="2237"/>
                    </a:lnTo>
                    <a:lnTo>
                      <a:pt x="1656" y="2256"/>
                    </a:lnTo>
                    <a:lnTo>
                      <a:pt x="1603" y="2274"/>
                    </a:lnTo>
                    <a:lnTo>
                      <a:pt x="1548" y="2289"/>
                    </a:lnTo>
                    <a:lnTo>
                      <a:pt x="1490" y="2301"/>
                    </a:lnTo>
                    <a:lnTo>
                      <a:pt x="1433" y="2311"/>
                    </a:lnTo>
                    <a:lnTo>
                      <a:pt x="1409" y="2315"/>
                    </a:lnTo>
                    <a:lnTo>
                      <a:pt x="1386" y="2318"/>
                    </a:lnTo>
                    <a:lnTo>
                      <a:pt x="1362" y="2320"/>
                    </a:lnTo>
                    <a:lnTo>
                      <a:pt x="1339" y="2323"/>
                    </a:lnTo>
                    <a:lnTo>
                      <a:pt x="1314" y="2324"/>
                    </a:lnTo>
                    <a:lnTo>
                      <a:pt x="1291" y="2325"/>
                    </a:lnTo>
                    <a:lnTo>
                      <a:pt x="1266" y="2326"/>
                    </a:lnTo>
                    <a:lnTo>
                      <a:pt x="1242" y="2326"/>
                    </a:lnTo>
                    <a:lnTo>
                      <a:pt x="1218" y="2326"/>
                    </a:lnTo>
                    <a:lnTo>
                      <a:pt x="1193" y="2325"/>
                    </a:lnTo>
                    <a:lnTo>
                      <a:pt x="1169" y="2324"/>
                    </a:lnTo>
                    <a:lnTo>
                      <a:pt x="1146" y="2323"/>
                    </a:lnTo>
                    <a:lnTo>
                      <a:pt x="1121" y="2320"/>
                    </a:lnTo>
                    <a:lnTo>
                      <a:pt x="1097" y="2318"/>
                    </a:lnTo>
                    <a:lnTo>
                      <a:pt x="1074" y="2315"/>
                    </a:lnTo>
                    <a:lnTo>
                      <a:pt x="1050" y="2311"/>
                    </a:lnTo>
                    <a:lnTo>
                      <a:pt x="1042" y="2310"/>
                    </a:lnTo>
                    <a:lnTo>
                      <a:pt x="1035" y="2309"/>
                    </a:lnTo>
                    <a:lnTo>
                      <a:pt x="987" y="2300"/>
                    </a:lnTo>
                    <a:lnTo>
                      <a:pt x="941" y="2290"/>
                    </a:lnTo>
                    <a:lnTo>
                      <a:pt x="895" y="2278"/>
                    </a:lnTo>
                    <a:lnTo>
                      <a:pt x="849" y="2264"/>
                    </a:lnTo>
                    <a:lnTo>
                      <a:pt x="806" y="2250"/>
                    </a:lnTo>
                    <a:lnTo>
                      <a:pt x="762" y="2233"/>
                    </a:lnTo>
                    <a:lnTo>
                      <a:pt x="719" y="2214"/>
                    </a:lnTo>
                    <a:lnTo>
                      <a:pt x="677" y="2195"/>
                    </a:lnTo>
                    <a:lnTo>
                      <a:pt x="635" y="2173"/>
                    </a:lnTo>
                    <a:lnTo>
                      <a:pt x="595" y="2150"/>
                    </a:lnTo>
                    <a:lnTo>
                      <a:pt x="555" y="2126"/>
                    </a:lnTo>
                    <a:lnTo>
                      <a:pt x="517" y="2100"/>
                    </a:lnTo>
                    <a:lnTo>
                      <a:pt x="479" y="2073"/>
                    </a:lnTo>
                    <a:lnTo>
                      <a:pt x="443" y="2045"/>
                    </a:lnTo>
                    <a:lnTo>
                      <a:pt x="407" y="2016"/>
                    </a:lnTo>
                    <a:lnTo>
                      <a:pt x="374" y="1985"/>
                    </a:lnTo>
                    <a:lnTo>
                      <a:pt x="340" y="1953"/>
                    </a:lnTo>
                    <a:lnTo>
                      <a:pt x="307" y="1921"/>
                    </a:lnTo>
                    <a:lnTo>
                      <a:pt x="277" y="1886"/>
                    </a:lnTo>
                    <a:lnTo>
                      <a:pt x="248" y="1851"/>
                    </a:lnTo>
                    <a:lnTo>
                      <a:pt x="219" y="1814"/>
                    </a:lnTo>
                    <a:lnTo>
                      <a:pt x="192" y="1777"/>
                    </a:lnTo>
                    <a:lnTo>
                      <a:pt x="166" y="1739"/>
                    </a:lnTo>
                    <a:lnTo>
                      <a:pt x="142" y="1700"/>
                    </a:lnTo>
                    <a:lnTo>
                      <a:pt x="119" y="1659"/>
                    </a:lnTo>
                    <a:lnTo>
                      <a:pt x="97" y="1618"/>
                    </a:lnTo>
                    <a:lnTo>
                      <a:pt x="77" y="1576"/>
                    </a:lnTo>
                    <a:lnTo>
                      <a:pt x="59" y="1533"/>
                    </a:lnTo>
                    <a:lnTo>
                      <a:pt x="41" y="1490"/>
                    </a:lnTo>
                    <a:lnTo>
                      <a:pt x="27" y="1445"/>
                    </a:lnTo>
                    <a:lnTo>
                      <a:pt x="12" y="1400"/>
                    </a:lnTo>
                    <a:lnTo>
                      <a:pt x="0" y="1354"/>
                    </a:lnTo>
                    <a:lnTo>
                      <a:pt x="0" y="1354"/>
                    </a:lnTo>
                    <a:lnTo>
                      <a:pt x="0" y="1354"/>
                    </a:lnTo>
                    <a:lnTo>
                      <a:pt x="13" y="1408"/>
                    </a:lnTo>
                    <a:lnTo>
                      <a:pt x="29" y="1461"/>
                    </a:lnTo>
                    <a:lnTo>
                      <a:pt x="46" y="1513"/>
                    </a:lnTo>
                    <a:lnTo>
                      <a:pt x="66" y="1564"/>
                    </a:lnTo>
                    <a:lnTo>
                      <a:pt x="87" y="1613"/>
                    </a:lnTo>
                    <a:lnTo>
                      <a:pt x="111" y="1663"/>
                    </a:lnTo>
                    <a:lnTo>
                      <a:pt x="137" y="1710"/>
                    </a:lnTo>
                    <a:lnTo>
                      <a:pt x="165" y="1756"/>
                    </a:lnTo>
                    <a:lnTo>
                      <a:pt x="194" y="1802"/>
                    </a:lnTo>
                    <a:lnTo>
                      <a:pt x="225" y="1845"/>
                    </a:lnTo>
                    <a:lnTo>
                      <a:pt x="258" y="1887"/>
                    </a:lnTo>
                    <a:lnTo>
                      <a:pt x="293" y="1929"/>
                    </a:lnTo>
                    <a:lnTo>
                      <a:pt x="329" y="1968"/>
                    </a:lnTo>
                    <a:lnTo>
                      <a:pt x="367" y="2006"/>
                    </a:lnTo>
                    <a:lnTo>
                      <a:pt x="406" y="2042"/>
                    </a:lnTo>
                    <a:lnTo>
                      <a:pt x="448" y="2077"/>
                    </a:lnTo>
                    <a:lnTo>
                      <a:pt x="489" y="2109"/>
                    </a:lnTo>
                    <a:lnTo>
                      <a:pt x="533" y="2141"/>
                    </a:lnTo>
                    <a:lnTo>
                      <a:pt x="578" y="2170"/>
                    </a:lnTo>
                    <a:lnTo>
                      <a:pt x="625" y="2198"/>
                    </a:lnTo>
                    <a:lnTo>
                      <a:pt x="672" y="2224"/>
                    </a:lnTo>
                    <a:lnTo>
                      <a:pt x="720" y="2247"/>
                    </a:lnTo>
                    <a:lnTo>
                      <a:pt x="771" y="2269"/>
                    </a:lnTo>
                    <a:lnTo>
                      <a:pt x="821" y="2289"/>
                    </a:lnTo>
                    <a:lnTo>
                      <a:pt x="873" y="2306"/>
                    </a:lnTo>
                    <a:lnTo>
                      <a:pt x="927" y="2321"/>
                    </a:lnTo>
                    <a:lnTo>
                      <a:pt x="980" y="2335"/>
                    </a:lnTo>
                    <a:lnTo>
                      <a:pt x="1035" y="2345"/>
                    </a:lnTo>
                    <a:lnTo>
                      <a:pt x="1090" y="2354"/>
                    </a:lnTo>
                    <a:lnTo>
                      <a:pt x="1147" y="2360"/>
                    </a:lnTo>
                    <a:lnTo>
                      <a:pt x="1203" y="2364"/>
                    </a:lnTo>
                    <a:lnTo>
                      <a:pt x="1260" y="2365"/>
                    </a:lnTo>
                    <a:lnTo>
                      <a:pt x="1308" y="2364"/>
                    </a:lnTo>
                    <a:lnTo>
                      <a:pt x="1356" y="2362"/>
                    </a:lnTo>
                    <a:lnTo>
                      <a:pt x="1403" y="2357"/>
                    </a:lnTo>
                    <a:lnTo>
                      <a:pt x="1450" y="2352"/>
                    </a:lnTo>
                    <a:lnTo>
                      <a:pt x="1496" y="2344"/>
                    </a:lnTo>
                    <a:lnTo>
                      <a:pt x="1541" y="2335"/>
                    </a:lnTo>
                    <a:lnTo>
                      <a:pt x="1586" y="2324"/>
                    </a:lnTo>
                    <a:lnTo>
                      <a:pt x="1629" y="2311"/>
                    </a:lnTo>
                    <a:lnTo>
                      <a:pt x="1680" y="2296"/>
                    </a:lnTo>
                    <a:lnTo>
                      <a:pt x="1728" y="2278"/>
                    </a:lnTo>
                    <a:lnTo>
                      <a:pt x="1775" y="2259"/>
                    </a:lnTo>
                    <a:lnTo>
                      <a:pt x="1823" y="2236"/>
                    </a:lnTo>
                    <a:lnTo>
                      <a:pt x="1869" y="2214"/>
                    </a:lnTo>
                    <a:lnTo>
                      <a:pt x="1913" y="2188"/>
                    </a:lnTo>
                    <a:lnTo>
                      <a:pt x="1956" y="2162"/>
                    </a:lnTo>
                    <a:lnTo>
                      <a:pt x="1999" y="2133"/>
                    </a:lnTo>
                    <a:lnTo>
                      <a:pt x="2040" y="2104"/>
                    </a:lnTo>
                    <a:lnTo>
                      <a:pt x="2080" y="2072"/>
                    </a:lnTo>
                    <a:lnTo>
                      <a:pt x="2119" y="2039"/>
                    </a:lnTo>
                    <a:lnTo>
                      <a:pt x="2156" y="2004"/>
                    </a:lnTo>
                    <a:lnTo>
                      <a:pt x="2192" y="1968"/>
                    </a:lnTo>
                    <a:lnTo>
                      <a:pt x="2227" y="1931"/>
                    </a:lnTo>
                    <a:lnTo>
                      <a:pt x="2259" y="1893"/>
                    </a:lnTo>
                    <a:lnTo>
                      <a:pt x="2291" y="1852"/>
                    </a:lnTo>
                    <a:lnTo>
                      <a:pt x="2321" y="1811"/>
                    </a:lnTo>
                    <a:lnTo>
                      <a:pt x="2349" y="1769"/>
                    </a:lnTo>
                    <a:lnTo>
                      <a:pt x="2376" y="1725"/>
                    </a:lnTo>
                    <a:lnTo>
                      <a:pt x="2401" y="1681"/>
                    </a:lnTo>
                    <a:lnTo>
                      <a:pt x="2424" y="1634"/>
                    </a:lnTo>
                    <a:lnTo>
                      <a:pt x="2445" y="1588"/>
                    </a:lnTo>
                    <a:lnTo>
                      <a:pt x="2465" y="1540"/>
                    </a:lnTo>
                    <a:lnTo>
                      <a:pt x="2482" y="1492"/>
                    </a:lnTo>
                    <a:lnTo>
                      <a:pt x="2498" y="1443"/>
                    </a:lnTo>
                    <a:lnTo>
                      <a:pt x="2513" y="1392"/>
                    </a:lnTo>
                    <a:lnTo>
                      <a:pt x="2524" y="1340"/>
                    </a:lnTo>
                    <a:lnTo>
                      <a:pt x="2534" y="1289"/>
                    </a:lnTo>
                    <a:lnTo>
                      <a:pt x="2542" y="1236"/>
                    </a:lnTo>
                    <a:lnTo>
                      <a:pt x="2548" y="1182"/>
                    </a:lnTo>
                    <a:lnTo>
                      <a:pt x="2551" y="1128"/>
                    </a:lnTo>
                    <a:lnTo>
                      <a:pt x="2552" y="1074"/>
                    </a:lnTo>
                    <a:lnTo>
                      <a:pt x="2551" y="1032"/>
                    </a:lnTo>
                    <a:lnTo>
                      <a:pt x="2549" y="990"/>
                    </a:lnTo>
                    <a:lnTo>
                      <a:pt x="2545" y="950"/>
                    </a:lnTo>
                    <a:lnTo>
                      <a:pt x="2541" y="908"/>
                    </a:lnTo>
                    <a:lnTo>
                      <a:pt x="2535" y="869"/>
                    </a:lnTo>
                    <a:lnTo>
                      <a:pt x="2529" y="829"/>
                    </a:lnTo>
                    <a:lnTo>
                      <a:pt x="2521" y="789"/>
                    </a:lnTo>
                    <a:lnTo>
                      <a:pt x="2511" y="750"/>
                    </a:lnTo>
                    <a:lnTo>
                      <a:pt x="2500" y="712"/>
                    </a:lnTo>
                    <a:lnTo>
                      <a:pt x="2488" y="674"/>
                    </a:lnTo>
                    <a:lnTo>
                      <a:pt x="2476" y="636"/>
                    </a:lnTo>
                    <a:lnTo>
                      <a:pt x="2461" y="599"/>
                    </a:lnTo>
                    <a:lnTo>
                      <a:pt x="2447" y="563"/>
                    </a:lnTo>
                    <a:lnTo>
                      <a:pt x="2430" y="527"/>
                    </a:lnTo>
                    <a:lnTo>
                      <a:pt x="2413" y="491"/>
                    </a:lnTo>
                    <a:lnTo>
                      <a:pt x="2395" y="456"/>
                    </a:lnTo>
                    <a:lnTo>
                      <a:pt x="2376" y="422"/>
                    </a:lnTo>
                    <a:lnTo>
                      <a:pt x="2355" y="389"/>
                    </a:lnTo>
                    <a:lnTo>
                      <a:pt x="2334" y="356"/>
                    </a:lnTo>
                    <a:lnTo>
                      <a:pt x="2312" y="324"/>
                    </a:lnTo>
                    <a:lnTo>
                      <a:pt x="2288" y="292"/>
                    </a:lnTo>
                    <a:lnTo>
                      <a:pt x="2265" y="262"/>
                    </a:lnTo>
                    <a:lnTo>
                      <a:pt x="2240" y="233"/>
                    </a:lnTo>
                    <a:lnTo>
                      <a:pt x="2213" y="203"/>
                    </a:lnTo>
                    <a:lnTo>
                      <a:pt x="2187" y="174"/>
                    </a:lnTo>
                    <a:lnTo>
                      <a:pt x="2159" y="147"/>
                    </a:lnTo>
                    <a:lnTo>
                      <a:pt x="2131" y="120"/>
                    </a:lnTo>
                    <a:lnTo>
                      <a:pt x="2102" y="95"/>
                    </a:lnTo>
                    <a:lnTo>
                      <a:pt x="2072" y="70"/>
                    </a:lnTo>
                    <a:lnTo>
                      <a:pt x="2041" y="46"/>
                    </a:lnTo>
                    <a:lnTo>
                      <a:pt x="2010" y="23"/>
                    </a:lnTo>
                    <a:lnTo>
                      <a:pt x="1979" y="0"/>
                    </a:lnTo>
                    <a:lnTo>
                      <a:pt x="2009" y="23"/>
                    </a:lnTo>
                    <a:lnTo>
                      <a:pt x="2038" y="45"/>
                    </a:lnTo>
                    <a:lnTo>
                      <a:pt x="2067" y="70"/>
                    </a:lnTo>
                    <a:lnTo>
                      <a:pt x="2095" y="95"/>
                    </a:lnTo>
                    <a:lnTo>
                      <a:pt x="2123" y="119"/>
                    </a:lnTo>
                    <a:lnTo>
                      <a:pt x="2150" y="146"/>
                    </a:lnTo>
                    <a:lnTo>
                      <a:pt x="2176" y="173"/>
                    </a:lnTo>
                    <a:lnTo>
                      <a:pt x="2202" y="201"/>
                    </a:lnTo>
                    <a:lnTo>
                      <a:pt x="2225" y="229"/>
                    </a:lnTo>
                    <a:lnTo>
                      <a:pt x="2249" y="258"/>
                    </a:lnTo>
                    <a:lnTo>
                      <a:pt x="2273" y="289"/>
                    </a:lnTo>
                    <a:lnTo>
                      <a:pt x="2294" y="319"/>
                    </a:lnTo>
                    <a:lnTo>
                      <a:pt x="2315" y="350"/>
                    </a:lnTo>
                    <a:lnTo>
                      <a:pt x="2335" y="382"/>
                    </a:lnTo>
                    <a:lnTo>
                      <a:pt x="2355" y="416"/>
                    </a:lnTo>
                    <a:lnTo>
                      <a:pt x="2372" y="448"/>
                    </a:lnTo>
                    <a:lnTo>
                      <a:pt x="2390" y="482"/>
                    </a:lnTo>
                    <a:lnTo>
                      <a:pt x="2406" y="517"/>
                    </a:lnTo>
                    <a:lnTo>
                      <a:pt x="2422" y="551"/>
                    </a:lnTo>
                    <a:lnTo>
                      <a:pt x="2435" y="586"/>
                    </a:lnTo>
                    <a:lnTo>
                      <a:pt x="2449" y="622"/>
                    </a:lnTo>
                    <a:lnTo>
                      <a:pt x="2461" y="659"/>
                    </a:lnTo>
                    <a:lnTo>
                      <a:pt x="2472" y="696"/>
                    </a:lnTo>
                    <a:lnTo>
                      <a:pt x="2482" y="733"/>
                    </a:lnTo>
                    <a:lnTo>
                      <a:pt x="2491" y="771"/>
                    </a:lnTo>
                    <a:lnTo>
                      <a:pt x="2499" y="810"/>
                    </a:lnTo>
                    <a:lnTo>
                      <a:pt x="2506" y="848"/>
                    </a:lnTo>
                    <a:lnTo>
                      <a:pt x="2512" y="887"/>
                    </a:lnTo>
                    <a:lnTo>
                      <a:pt x="2515" y="926"/>
                    </a:lnTo>
                    <a:lnTo>
                      <a:pt x="2518" y="966"/>
                    </a:lnTo>
                    <a:lnTo>
                      <a:pt x="2521" y="1006"/>
                    </a:lnTo>
                    <a:lnTo>
                      <a:pt x="2521" y="1046"/>
                    </a:lnTo>
                    <a:close/>
                  </a:path>
                </a:pathLst>
              </a:custGeom>
              <a:solidFill>
                <a:schemeClr val="accent1">
                  <a:lumMod val="50000"/>
                </a:schemeClr>
              </a:solidFill>
              <a:ln>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en-US"/>
              </a:p>
            </p:txBody>
          </p:sp>
          <p:sp>
            <p:nvSpPr>
              <p:cNvPr id="54" name="Freeform 10">
                <a:extLst>
                  <a:ext uri="{FF2B5EF4-FFF2-40B4-BE49-F238E27FC236}">
                    <a16:creationId xmlns:a16="http://schemas.microsoft.com/office/drawing/2014/main" id="{A8DC0ADA-ACE0-5354-F843-27267E4209CE}"/>
                  </a:ext>
                </a:extLst>
              </p:cNvPr>
              <p:cNvSpPr>
                <a:spLocks/>
              </p:cNvSpPr>
              <p:nvPr/>
            </p:nvSpPr>
            <p:spPr bwMode="auto">
              <a:xfrm>
                <a:off x="1646164" y="1741259"/>
                <a:ext cx="318878" cy="318131"/>
              </a:xfrm>
              <a:custGeom>
                <a:avLst/>
                <a:gdLst>
                  <a:gd name="T0" fmla="*/ 1409 w 2558"/>
                  <a:gd name="T1" fmla="*/ 6 h 2558"/>
                  <a:gd name="T2" fmla="*/ 1599 w 2558"/>
                  <a:gd name="T3" fmla="*/ 39 h 2558"/>
                  <a:gd name="T4" fmla="*/ 1776 w 2558"/>
                  <a:gd name="T5" fmla="*/ 100 h 2558"/>
                  <a:gd name="T6" fmla="*/ 1943 w 2558"/>
                  <a:gd name="T7" fmla="*/ 185 h 2558"/>
                  <a:gd name="T8" fmla="*/ 2093 w 2558"/>
                  <a:gd name="T9" fmla="*/ 292 h 2558"/>
                  <a:gd name="T10" fmla="*/ 2225 w 2558"/>
                  <a:gd name="T11" fmla="*/ 419 h 2558"/>
                  <a:gd name="T12" fmla="*/ 2340 w 2558"/>
                  <a:gd name="T13" fmla="*/ 563 h 2558"/>
                  <a:gd name="T14" fmla="*/ 2432 w 2558"/>
                  <a:gd name="T15" fmla="*/ 724 h 2558"/>
                  <a:gd name="T16" fmla="*/ 2500 w 2558"/>
                  <a:gd name="T17" fmla="*/ 898 h 2558"/>
                  <a:gd name="T18" fmla="*/ 2543 w 2558"/>
                  <a:gd name="T19" fmla="*/ 1084 h 2558"/>
                  <a:gd name="T20" fmla="*/ 2558 w 2558"/>
                  <a:gd name="T21" fmla="*/ 1278 h 2558"/>
                  <a:gd name="T22" fmla="*/ 2543 w 2558"/>
                  <a:gd name="T23" fmla="*/ 1474 h 2558"/>
                  <a:gd name="T24" fmla="*/ 2500 w 2558"/>
                  <a:gd name="T25" fmla="*/ 1659 h 2558"/>
                  <a:gd name="T26" fmla="*/ 2432 w 2558"/>
                  <a:gd name="T27" fmla="*/ 1833 h 2558"/>
                  <a:gd name="T28" fmla="*/ 2340 w 2558"/>
                  <a:gd name="T29" fmla="*/ 1993 h 2558"/>
                  <a:gd name="T30" fmla="*/ 2225 w 2558"/>
                  <a:gd name="T31" fmla="*/ 2138 h 2558"/>
                  <a:gd name="T32" fmla="*/ 2093 w 2558"/>
                  <a:gd name="T33" fmla="*/ 2265 h 2558"/>
                  <a:gd name="T34" fmla="*/ 1943 w 2558"/>
                  <a:gd name="T35" fmla="*/ 2373 h 2558"/>
                  <a:gd name="T36" fmla="*/ 1776 w 2558"/>
                  <a:gd name="T37" fmla="*/ 2457 h 2558"/>
                  <a:gd name="T38" fmla="*/ 1599 w 2558"/>
                  <a:gd name="T39" fmla="*/ 2517 h 2558"/>
                  <a:gd name="T40" fmla="*/ 1409 w 2558"/>
                  <a:gd name="T41" fmla="*/ 2551 h 2558"/>
                  <a:gd name="T42" fmla="*/ 1213 w 2558"/>
                  <a:gd name="T43" fmla="*/ 2556 h 2558"/>
                  <a:gd name="T44" fmla="*/ 1021 w 2558"/>
                  <a:gd name="T45" fmla="*/ 2532 h 2558"/>
                  <a:gd name="T46" fmla="*/ 839 w 2558"/>
                  <a:gd name="T47" fmla="*/ 2480 h 2558"/>
                  <a:gd name="T48" fmla="*/ 670 w 2558"/>
                  <a:gd name="T49" fmla="*/ 2403 h 2558"/>
                  <a:gd name="T50" fmla="*/ 514 w 2558"/>
                  <a:gd name="T51" fmla="*/ 2303 h 2558"/>
                  <a:gd name="T52" fmla="*/ 375 w 2558"/>
                  <a:gd name="T53" fmla="*/ 2183 h 2558"/>
                  <a:gd name="T54" fmla="*/ 255 w 2558"/>
                  <a:gd name="T55" fmla="*/ 2044 h 2558"/>
                  <a:gd name="T56" fmla="*/ 155 w 2558"/>
                  <a:gd name="T57" fmla="*/ 1888 h 2558"/>
                  <a:gd name="T58" fmla="*/ 77 w 2558"/>
                  <a:gd name="T59" fmla="*/ 1718 h 2558"/>
                  <a:gd name="T60" fmla="*/ 26 w 2558"/>
                  <a:gd name="T61" fmla="*/ 1537 h 2558"/>
                  <a:gd name="T62" fmla="*/ 2 w 2558"/>
                  <a:gd name="T63" fmla="*/ 1345 h 2558"/>
                  <a:gd name="T64" fmla="*/ 6 w 2558"/>
                  <a:gd name="T65" fmla="*/ 1148 h 2558"/>
                  <a:gd name="T66" fmla="*/ 40 w 2558"/>
                  <a:gd name="T67" fmla="*/ 958 h 2558"/>
                  <a:gd name="T68" fmla="*/ 101 w 2558"/>
                  <a:gd name="T69" fmla="*/ 781 h 2558"/>
                  <a:gd name="T70" fmla="*/ 185 w 2558"/>
                  <a:gd name="T71" fmla="*/ 615 h 2558"/>
                  <a:gd name="T72" fmla="*/ 292 w 2558"/>
                  <a:gd name="T73" fmla="*/ 465 h 2558"/>
                  <a:gd name="T74" fmla="*/ 418 w 2558"/>
                  <a:gd name="T75" fmla="*/ 332 h 2558"/>
                  <a:gd name="T76" fmla="*/ 564 w 2558"/>
                  <a:gd name="T77" fmla="*/ 218 h 2558"/>
                  <a:gd name="T78" fmla="*/ 725 w 2558"/>
                  <a:gd name="T79" fmla="*/ 126 h 2558"/>
                  <a:gd name="T80" fmla="*/ 899 w 2558"/>
                  <a:gd name="T81" fmla="*/ 57 h 2558"/>
                  <a:gd name="T82" fmla="*/ 1084 w 2558"/>
                  <a:gd name="T83" fmla="*/ 15 h 2558"/>
                  <a:gd name="T84" fmla="*/ 1279 w 2558"/>
                  <a:gd name="T85" fmla="*/ 0 h 2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58" h="2558">
                    <a:moveTo>
                      <a:pt x="1279" y="0"/>
                    </a:moveTo>
                    <a:lnTo>
                      <a:pt x="1344" y="1"/>
                    </a:lnTo>
                    <a:lnTo>
                      <a:pt x="1409" y="6"/>
                    </a:lnTo>
                    <a:lnTo>
                      <a:pt x="1473" y="15"/>
                    </a:lnTo>
                    <a:lnTo>
                      <a:pt x="1536" y="26"/>
                    </a:lnTo>
                    <a:lnTo>
                      <a:pt x="1599" y="39"/>
                    </a:lnTo>
                    <a:lnTo>
                      <a:pt x="1660" y="57"/>
                    </a:lnTo>
                    <a:lnTo>
                      <a:pt x="1719" y="77"/>
                    </a:lnTo>
                    <a:lnTo>
                      <a:pt x="1776" y="100"/>
                    </a:lnTo>
                    <a:lnTo>
                      <a:pt x="1834" y="126"/>
                    </a:lnTo>
                    <a:lnTo>
                      <a:pt x="1889" y="154"/>
                    </a:lnTo>
                    <a:lnTo>
                      <a:pt x="1943" y="185"/>
                    </a:lnTo>
                    <a:lnTo>
                      <a:pt x="1994" y="218"/>
                    </a:lnTo>
                    <a:lnTo>
                      <a:pt x="2045" y="254"/>
                    </a:lnTo>
                    <a:lnTo>
                      <a:pt x="2093" y="292"/>
                    </a:lnTo>
                    <a:lnTo>
                      <a:pt x="2139" y="332"/>
                    </a:lnTo>
                    <a:lnTo>
                      <a:pt x="2184" y="374"/>
                    </a:lnTo>
                    <a:lnTo>
                      <a:pt x="2225" y="419"/>
                    </a:lnTo>
                    <a:lnTo>
                      <a:pt x="2266" y="465"/>
                    </a:lnTo>
                    <a:lnTo>
                      <a:pt x="2304" y="513"/>
                    </a:lnTo>
                    <a:lnTo>
                      <a:pt x="2340" y="563"/>
                    </a:lnTo>
                    <a:lnTo>
                      <a:pt x="2372" y="615"/>
                    </a:lnTo>
                    <a:lnTo>
                      <a:pt x="2404" y="669"/>
                    </a:lnTo>
                    <a:lnTo>
                      <a:pt x="2432" y="724"/>
                    </a:lnTo>
                    <a:lnTo>
                      <a:pt x="2458" y="781"/>
                    </a:lnTo>
                    <a:lnTo>
                      <a:pt x="2480" y="838"/>
                    </a:lnTo>
                    <a:lnTo>
                      <a:pt x="2500" y="898"/>
                    </a:lnTo>
                    <a:lnTo>
                      <a:pt x="2517" y="958"/>
                    </a:lnTo>
                    <a:lnTo>
                      <a:pt x="2532" y="1020"/>
                    </a:lnTo>
                    <a:lnTo>
                      <a:pt x="2543" y="1084"/>
                    </a:lnTo>
                    <a:lnTo>
                      <a:pt x="2551" y="1148"/>
                    </a:lnTo>
                    <a:lnTo>
                      <a:pt x="2557" y="1212"/>
                    </a:lnTo>
                    <a:lnTo>
                      <a:pt x="2558" y="1278"/>
                    </a:lnTo>
                    <a:lnTo>
                      <a:pt x="2557" y="1345"/>
                    </a:lnTo>
                    <a:lnTo>
                      <a:pt x="2551" y="1410"/>
                    </a:lnTo>
                    <a:lnTo>
                      <a:pt x="2543" y="1474"/>
                    </a:lnTo>
                    <a:lnTo>
                      <a:pt x="2532" y="1537"/>
                    </a:lnTo>
                    <a:lnTo>
                      <a:pt x="2517" y="1598"/>
                    </a:lnTo>
                    <a:lnTo>
                      <a:pt x="2500" y="1659"/>
                    </a:lnTo>
                    <a:lnTo>
                      <a:pt x="2480" y="1718"/>
                    </a:lnTo>
                    <a:lnTo>
                      <a:pt x="2458" y="1777"/>
                    </a:lnTo>
                    <a:lnTo>
                      <a:pt x="2432" y="1833"/>
                    </a:lnTo>
                    <a:lnTo>
                      <a:pt x="2404" y="1888"/>
                    </a:lnTo>
                    <a:lnTo>
                      <a:pt x="2372" y="1942"/>
                    </a:lnTo>
                    <a:lnTo>
                      <a:pt x="2340" y="1993"/>
                    </a:lnTo>
                    <a:lnTo>
                      <a:pt x="2304" y="2044"/>
                    </a:lnTo>
                    <a:lnTo>
                      <a:pt x="2266" y="2092"/>
                    </a:lnTo>
                    <a:lnTo>
                      <a:pt x="2225" y="2138"/>
                    </a:lnTo>
                    <a:lnTo>
                      <a:pt x="2184" y="2183"/>
                    </a:lnTo>
                    <a:lnTo>
                      <a:pt x="2139" y="2226"/>
                    </a:lnTo>
                    <a:lnTo>
                      <a:pt x="2093" y="2265"/>
                    </a:lnTo>
                    <a:lnTo>
                      <a:pt x="2045" y="2303"/>
                    </a:lnTo>
                    <a:lnTo>
                      <a:pt x="1994" y="2339"/>
                    </a:lnTo>
                    <a:lnTo>
                      <a:pt x="1943" y="2373"/>
                    </a:lnTo>
                    <a:lnTo>
                      <a:pt x="1889" y="2403"/>
                    </a:lnTo>
                    <a:lnTo>
                      <a:pt x="1834" y="2431"/>
                    </a:lnTo>
                    <a:lnTo>
                      <a:pt x="1776" y="2457"/>
                    </a:lnTo>
                    <a:lnTo>
                      <a:pt x="1719" y="2480"/>
                    </a:lnTo>
                    <a:lnTo>
                      <a:pt x="1660" y="2500"/>
                    </a:lnTo>
                    <a:lnTo>
                      <a:pt x="1599" y="2517"/>
                    </a:lnTo>
                    <a:lnTo>
                      <a:pt x="1536" y="2532"/>
                    </a:lnTo>
                    <a:lnTo>
                      <a:pt x="1473" y="2543"/>
                    </a:lnTo>
                    <a:lnTo>
                      <a:pt x="1409" y="2551"/>
                    </a:lnTo>
                    <a:lnTo>
                      <a:pt x="1344" y="2556"/>
                    </a:lnTo>
                    <a:lnTo>
                      <a:pt x="1279" y="2558"/>
                    </a:lnTo>
                    <a:lnTo>
                      <a:pt x="1213" y="2556"/>
                    </a:lnTo>
                    <a:lnTo>
                      <a:pt x="1148" y="2551"/>
                    </a:lnTo>
                    <a:lnTo>
                      <a:pt x="1084" y="2543"/>
                    </a:lnTo>
                    <a:lnTo>
                      <a:pt x="1021" y="2532"/>
                    </a:lnTo>
                    <a:lnTo>
                      <a:pt x="959" y="2517"/>
                    </a:lnTo>
                    <a:lnTo>
                      <a:pt x="899" y="2500"/>
                    </a:lnTo>
                    <a:lnTo>
                      <a:pt x="839" y="2480"/>
                    </a:lnTo>
                    <a:lnTo>
                      <a:pt x="781" y="2457"/>
                    </a:lnTo>
                    <a:lnTo>
                      <a:pt x="725" y="2431"/>
                    </a:lnTo>
                    <a:lnTo>
                      <a:pt x="670" y="2403"/>
                    </a:lnTo>
                    <a:lnTo>
                      <a:pt x="616" y="2373"/>
                    </a:lnTo>
                    <a:lnTo>
                      <a:pt x="564" y="2339"/>
                    </a:lnTo>
                    <a:lnTo>
                      <a:pt x="514" y="2303"/>
                    </a:lnTo>
                    <a:lnTo>
                      <a:pt x="466" y="2265"/>
                    </a:lnTo>
                    <a:lnTo>
                      <a:pt x="418" y="2226"/>
                    </a:lnTo>
                    <a:lnTo>
                      <a:pt x="375" y="2183"/>
                    </a:lnTo>
                    <a:lnTo>
                      <a:pt x="332" y="2138"/>
                    </a:lnTo>
                    <a:lnTo>
                      <a:pt x="292" y="2092"/>
                    </a:lnTo>
                    <a:lnTo>
                      <a:pt x="255" y="2044"/>
                    </a:lnTo>
                    <a:lnTo>
                      <a:pt x="219" y="1993"/>
                    </a:lnTo>
                    <a:lnTo>
                      <a:pt x="185" y="1942"/>
                    </a:lnTo>
                    <a:lnTo>
                      <a:pt x="155" y="1888"/>
                    </a:lnTo>
                    <a:lnTo>
                      <a:pt x="127" y="1833"/>
                    </a:lnTo>
                    <a:lnTo>
                      <a:pt x="101" y="1777"/>
                    </a:lnTo>
                    <a:lnTo>
                      <a:pt x="77" y="1718"/>
                    </a:lnTo>
                    <a:lnTo>
                      <a:pt x="57" y="1659"/>
                    </a:lnTo>
                    <a:lnTo>
                      <a:pt x="40" y="1598"/>
                    </a:lnTo>
                    <a:lnTo>
                      <a:pt x="26" y="1537"/>
                    </a:lnTo>
                    <a:lnTo>
                      <a:pt x="14" y="1474"/>
                    </a:lnTo>
                    <a:lnTo>
                      <a:pt x="6" y="1410"/>
                    </a:lnTo>
                    <a:lnTo>
                      <a:pt x="2" y="1345"/>
                    </a:lnTo>
                    <a:lnTo>
                      <a:pt x="0" y="1278"/>
                    </a:lnTo>
                    <a:lnTo>
                      <a:pt x="2" y="1212"/>
                    </a:lnTo>
                    <a:lnTo>
                      <a:pt x="6" y="1148"/>
                    </a:lnTo>
                    <a:lnTo>
                      <a:pt x="14" y="1084"/>
                    </a:lnTo>
                    <a:lnTo>
                      <a:pt x="26" y="1020"/>
                    </a:lnTo>
                    <a:lnTo>
                      <a:pt x="40" y="958"/>
                    </a:lnTo>
                    <a:lnTo>
                      <a:pt x="57" y="898"/>
                    </a:lnTo>
                    <a:lnTo>
                      <a:pt x="77" y="838"/>
                    </a:lnTo>
                    <a:lnTo>
                      <a:pt x="101" y="781"/>
                    </a:lnTo>
                    <a:lnTo>
                      <a:pt x="127" y="724"/>
                    </a:lnTo>
                    <a:lnTo>
                      <a:pt x="155" y="669"/>
                    </a:lnTo>
                    <a:lnTo>
                      <a:pt x="185" y="615"/>
                    </a:lnTo>
                    <a:lnTo>
                      <a:pt x="219" y="563"/>
                    </a:lnTo>
                    <a:lnTo>
                      <a:pt x="255" y="513"/>
                    </a:lnTo>
                    <a:lnTo>
                      <a:pt x="292" y="465"/>
                    </a:lnTo>
                    <a:lnTo>
                      <a:pt x="332" y="419"/>
                    </a:lnTo>
                    <a:lnTo>
                      <a:pt x="375" y="374"/>
                    </a:lnTo>
                    <a:lnTo>
                      <a:pt x="418" y="332"/>
                    </a:lnTo>
                    <a:lnTo>
                      <a:pt x="466" y="292"/>
                    </a:lnTo>
                    <a:lnTo>
                      <a:pt x="514" y="254"/>
                    </a:lnTo>
                    <a:lnTo>
                      <a:pt x="564" y="218"/>
                    </a:lnTo>
                    <a:lnTo>
                      <a:pt x="616" y="185"/>
                    </a:lnTo>
                    <a:lnTo>
                      <a:pt x="670" y="154"/>
                    </a:lnTo>
                    <a:lnTo>
                      <a:pt x="725" y="126"/>
                    </a:lnTo>
                    <a:lnTo>
                      <a:pt x="781" y="100"/>
                    </a:lnTo>
                    <a:lnTo>
                      <a:pt x="839" y="77"/>
                    </a:lnTo>
                    <a:lnTo>
                      <a:pt x="899" y="57"/>
                    </a:lnTo>
                    <a:lnTo>
                      <a:pt x="959" y="39"/>
                    </a:lnTo>
                    <a:lnTo>
                      <a:pt x="1021" y="26"/>
                    </a:lnTo>
                    <a:lnTo>
                      <a:pt x="1084" y="15"/>
                    </a:lnTo>
                    <a:lnTo>
                      <a:pt x="1148" y="6"/>
                    </a:lnTo>
                    <a:lnTo>
                      <a:pt x="1213" y="1"/>
                    </a:lnTo>
                    <a:lnTo>
                      <a:pt x="1279" y="0"/>
                    </a:ln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a:p>
            </p:txBody>
          </p:sp>
        </p:grpSp>
        <p:pic>
          <p:nvPicPr>
            <p:cNvPr id="5" name="Graphic 4" descr="Document outline">
              <a:extLst>
                <a:ext uri="{FF2B5EF4-FFF2-40B4-BE49-F238E27FC236}">
                  <a16:creationId xmlns:a16="http://schemas.microsoft.com/office/drawing/2014/main" id="{F608FC1A-8E17-113A-E306-8FFB66035ED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12521" y="5768587"/>
              <a:ext cx="218900" cy="218900"/>
            </a:xfrm>
            <a:prstGeom prst="rect">
              <a:avLst/>
            </a:prstGeom>
          </p:spPr>
        </p:pic>
      </p:grpSp>
    </p:spTree>
    <p:extLst>
      <p:ext uri="{BB962C8B-B14F-4D97-AF65-F5344CB8AC3E}">
        <p14:creationId xmlns:p14="http://schemas.microsoft.com/office/powerpoint/2010/main" val="1069140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F397-91A2-8F1D-8AFE-E364F30CAAB8}"/>
              </a:ext>
            </a:extLst>
          </p:cNvPr>
          <p:cNvSpPr>
            <a:spLocks noGrp="1"/>
          </p:cNvSpPr>
          <p:nvPr>
            <p:ph type="title"/>
          </p:nvPr>
        </p:nvSpPr>
        <p:spPr/>
        <p:txBody>
          <a:bodyPr/>
          <a:lstStyle/>
          <a:p>
            <a:r>
              <a:rPr lang="en-US" sz="2799">
                <a:solidFill>
                  <a:schemeClr val="accent1"/>
                </a:solidFill>
              </a:rPr>
              <a:t>Business Needs and Research Objectives </a:t>
            </a:r>
            <a:r>
              <a:rPr lang="en-US" sz="2799"/>
              <a:t>| Wave 5 (Full) Sep‘25</a:t>
            </a:r>
          </a:p>
        </p:txBody>
      </p:sp>
      <p:sp>
        <p:nvSpPr>
          <p:cNvPr id="8" name="Rectangle 7">
            <a:extLst>
              <a:ext uri="{FF2B5EF4-FFF2-40B4-BE49-F238E27FC236}">
                <a16:creationId xmlns:a16="http://schemas.microsoft.com/office/drawing/2014/main" id="{5715B1F2-5ECC-B11C-CCCF-70D2F8D6A800}"/>
              </a:ext>
            </a:extLst>
          </p:cNvPr>
          <p:cNvSpPr/>
          <p:nvPr/>
        </p:nvSpPr>
        <p:spPr bwMode="gray">
          <a:xfrm>
            <a:off x="1587" y="1365625"/>
            <a:ext cx="12188825" cy="2299797"/>
          </a:xfrm>
          <a:prstGeom prst="rect">
            <a:avLst/>
          </a:prstGeom>
          <a:solidFill>
            <a:schemeClr val="accent1">
              <a:lumMod val="60000"/>
              <a:lumOff val="40000"/>
            </a:schemeClr>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13" name="TextBox 12">
            <a:extLst>
              <a:ext uri="{FF2B5EF4-FFF2-40B4-BE49-F238E27FC236}">
                <a16:creationId xmlns:a16="http://schemas.microsoft.com/office/drawing/2014/main" id="{EA6DFBB1-3ABF-214A-37BC-878159400BB2}"/>
              </a:ext>
            </a:extLst>
          </p:cNvPr>
          <p:cNvSpPr txBox="1"/>
          <p:nvPr/>
        </p:nvSpPr>
        <p:spPr bwMode="gray">
          <a:xfrm>
            <a:off x="1323503" y="1613591"/>
            <a:ext cx="10414665" cy="1815409"/>
          </a:xfrm>
          <a:prstGeom prst="rect">
            <a:avLst/>
          </a:prstGeom>
          <a:noFill/>
        </p:spPr>
        <p:txBody>
          <a:bodyPr wrap="square">
            <a:spAutoFit/>
          </a:bodyPr>
          <a:lstStyle/>
          <a:p>
            <a:pPr>
              <a:defRPr/>
            </a:pPr>
            <a:r>
              <a:rPr lang="en-US" sz="1600" b="1" dirty="0">
                <a:solidFill>
                  <a:srgbClr val="FFFFFF"/>
                </a:solidFill>
                <a:latin typeface="Arial" panose="020B0604020202020204"/>
                <a:ea typeface="Times New Roman" panose="02020603050405020304" pitchFamily="18" charset="0"/>
                <a:cs typeface="Times New Roman" panose="02020603050405020304" pitchFamily="18" charset="0"/>
              </a:rPr>
              <a:t>Penbraya, Pfizer’s Pentavalent ABCWY meningococcal vaccine, was approved by the FDA in October 2023. Penbraya represents a significant improvement over currently available meningococcal vaccines where the B component and the ACWY component must be administered separately. Offering a combined vaccine enables</a:t>
            </a:r>
            <a:r>
              <a:rPr lang="en-US" sz="1600" b="1" dirty="0">
                <a:solidFill>
                  <a:srgbClr val="FF0000"/>
                </a:solidFill>
                <a:latin typeface="Arial" panose="020B0604020202020204"/>
                <a:ea typeface="Times New Roman" panose="02020603050405020304" pitchFamily="18" charset="0"/>
                <a:cs typeface="Times New Roman" panose="02020603050405020304" pitchFamily="18" charset="0"/>
              </a:rPr>
              <a:t> </a:t>
            </a:r>
            <a:r>
              <a:rPr lang="en-US" sz="1600" b="1" dirty="0">
                <a:solidFill>
                  <a:srgbClr val="FFFFFF"/>
                </a:solidFill>
                <a:latin typeface="Arial" panose="020B0604020202020204"/>
                <a:ea typeface="Times New Roman" panose="02020603050405020304" pitchFamily="18" charset="0"/>
                <a:cs typeface="Times New Roman" panose="02020603050405020304" pitchFamily="18" charset="0"/>
              </a:rPr>
              <a:t>a</a:t>
            </a:r>
            <a:r>
              <a:rPr lang="en-US" sz="1600" b="1" dirty="0">
                <a:solidFill>
                  <a:srgbClr val="FF0000"/>
                </a:solidFill>
                <a:latin typeface="Arial" panose="020B0604020202020204"/>
                <a:ea typeface="Times New Roman" panose="02020603050405020304" pitchFamily="18" charset="0"/>
                <a:cs typeface="Times New Roman" panose="02020603050405020304" pitchFamily="18" charset="0"/>
              </a:rPr>
              <a:t> </a:t>
            </a:r>
            <a:r>
              <a:rPr lang="en-US" sz="1600" b="1" dirty="0">
                <a:solidFill>
                  <a:srgbClr val="FFFFFF"/>
                </a:solidFill>
                <a:latin typeface="Arial" panose="020B0604020202020204"/>
                <a:ea typeface="Times New Roman" panose="02020603050405020304" pitchFamily="18" charset="0"/>
                <a:cs typeface="Times New Roman" panose="02020603050405020304" pitchFamily="18" charset="0"/>
              </a:rPr>
              <a:t>greater societal protection against all strains of meningococcal disease. </a:t>
            </a:r>
          </a:p>
          <a:p>
            <a:pPr>
              <a:defRPr/>
            </a:pPr>
            <a:endParaRPr lang="en-US" sz="1600" b="1" dirty="0">
              <a:solidFill>
                <a:srgbClr val="FFFFFF"/>
              </a:solidFill>
              <a:latin typeface="Arial" panose="020B0604020202020204"/>
              <a:ea typeface="Times New Roman" panose="02020603050405020304" pitchFamily="18" charset="0"/>
              <a:cs typeface="Times New Roman" panose="02020603050405020304" pitchFamily="18" charset="0"/>
            </a:endParaRPr>
          </a:p>
          <a:p>
            <a:pPr>
              <a:defRPr/>
            </a:pPr>
            <a:r>
              <a:rPr lang="en-US" sz="1600" b="1" dirty="0">
                <a:solidFill>
                  <a:srgbClr val="FFFFFF"/>
                </a:solidFill>
                <a:latin typeface="Arial" panose="020B0604020202020204"/>
                <a:ea typeface="Times New Roman" panose="02020603050405020304" pitchFamily="18" charset="0"/>
                <a:cs typeface="Times New Roman" panose="02020603050405020304" pitchFamily="18" charset="0"/>
              </a:rPr>
              <a:t>The vaccine will be administered to adolescents ages 16-18 years. Penbraya may be used when both </a:t>
            </a:r>
            <a:r>
              <a:rPr lang="en-US" sz="1600" b="1" dirty="0" err="1">
                <a:solidFill>
                  <a:srgbClr val="FFFFFF"/>
                </a:solidFill>
                <a:latin typeface="Arial" panose="020B0604020202020204"/>
                <a:ea typeface="Times New Roman" panose="02020603050405020304" pitchFamily="18" charset="0"/>
                <a:cs typeface="Times New Roman" panose="02020603050405020304" pitchFamily="18" charset="0"/>
              </a:rPr>
              <a:t>MenACWY</a:t>
            </a:r>
            <a:r>
              <a:rPr lang="en-US" sz="1600" b="1" dirty="0">
                <a:solidFill>
                  <a:srgbClr val="FFFFFF"/>
                </a:solidFill>
                <a:latin typeface="Arial" panose="020B0604020202020204"/>
                <a:ea typeface="Times New Roman" panose="02020603050405020304" pitchFamily="18" charset="0"/>
                <a:cs typeface="Times New Roman" panose="02020603050405020304" pitchFamily="18" charset="0"/>
              </a:rPr>
              <a:t> and </a:t>
            </a:r>
            <a:r>
              <a:rPr lang="en-US" sz="1600" b="1" dirty="0" err="1">
                <a:solidFill>
                  <a:srgbClr val="FFFFFF"/>
                </a:solidFill>
                <a:latin typeface="Arial" panose="020B0604020202020204"/>
                <a:ea typeface="Times New Roman" panose="02020603050405020304" pitchFamily="18" charset="0"/>
                <a:cs typeface="Times New Roman" panose="02020603050405020304" pitchFamily="18" charset="0"/>
              </a:rPr>
              <a:t>MenB</a:t>
            </a:r>
            <a:r>
              <a:rPr lang="en-US" sz="1600" b="1" dirty="0">
                <a:solidFill>
                  <a:srgbClr val="FFFFFF"/>
                </a:solidFill>
                <a:latin typeface="Arial" panose="020B0604020202020204"/>
                <a:ea typeface="Times New Roman" panose="02020603050405020304" pitchFamily="18" charset="0"/>
                <a:cs typeface="Times New Roman" panose="02020603050405020304" pitchFamily="18" charset="0"/>
              </a:rPr>
              <a:t> are indicated at the same visit.</a:t>
            </a:r>
          </a:p>
        </p:txBody>
      </p:sp>
      <p:pic>
        <p:nvPicPr>
          <p:cNvPr id="15" name="Graphic 14" descr="Needle with solid fill">
            <a:extLst>
              <a:ext uri="{FF2B5EF4-FFF2-40B4-BE49-F238E27FC236}">
                <a16:creationId xmlns:a16="http://schemas.microsoft.com/office/drawing/2014/main" id="{565EBB20-EE78-5572-2B06-47E857A796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0038" y="2031330"/>
            <a:ext cx="914162" cy="914162"/>
          </a:xfrm>
          <a:prstGeom prst="rect">
            <a:avLst/>
          </a:prstGeom>
        </p:spPr>
      </p:pic>
      <p:grpSp>
        <p:nvGrpSpPr>
          <p:cNvPr id="20" name="Group 19">
            <a:extLst>
              <a:ext uri="{FF2B5EF4-FFF2-40B4-BE49-F238E27FC236}">
                <a16:creationId xmlns:a16="http://schemas.microsoft.com/office/drawing/2014/main" id="{D1B72F8A-7782-E482-EA12-284DF18B342B}"/>
              </a:ext>
            </a:extLst>
          </p:cNvPr>
          <p:cNvGrpSpPr/>
          <p:nvPr/>
        </p:nvGrpSpPr>
        <p:grpSpPr>
          <a:xfrm>
            <a:off x="630910" y="4094622"/>
            <a:ext cx="10883579" cy="1761638"/>
            <a:chOff x="1119859" y="4348142"/>
            <a:chExt cx="10886414" cy="1762097"/>
          </a:xfrm>
        </p:grpSpPr>
        <p:sp>
          <p:nvSpPr>
            <p:cNvPr id="21" name="Rectangle: Rounded Corners 20">
              <a:extLst>
                <a:ext uri="{FF2B5EF4-FFF2-40B4-BE49-F238E27FC236}">
                  <a16:creationId xmlns:a16="http://schemas.microsoft.com/office/drawing/2014/main" id="{35B79D74-E9D3-B03C-C496-0D67C9DF915D}"/>
                </a:ext>
              </a:extLst>
            </p:cNvPr>
            <p:cNvSpPr/>
            <p:nvPr/>
          </p:nvSpPr>
          <p:spPr bwMode="gray">
            <a:xfrm>
              <a:off x="1119859" y="4348142"/>
              <a:ext cx="10886414" cy="1762097"/>
            </a:xfrm>
            <a:prstGeom prst="roundRect">
              <a:avLst/>
            </a:prstGeom>
            <a:solidFill>
              <a:schemeClr val="bg1">
                <a:lumMod val="95000"/>
              </a:schemeClr>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22" name="TextBox 21">
              <a:extLst>
                <a:ext uri="{FF2B5EF4-FFF2-40B4-BE49-F238E27FC236}">
                  <a16:creationId xmlns:a16="http://schemas.microsoft.com/office/drawing/2014/main" id="{47E63E57-E349-085A-A729-1D61CDAB70BF}"/>
                </a:ext>
              </a:extLst>
            </p:cNvPr>
            <p:cNvSpPr txBox="1"/>
            <p:nvPr/>
          </p:nvSpPr>
          <p:spPr bwMode="gray">
            <a:xfrm>
              <a:off x="2648286" y="4432120"/>
              <a:ext cx="9173162" cy="1538883"/>
            </a:xfrm>
            <a:prstGeom prst="rect">
              <a:avLst/>
            </a:prstGeom>
            <a:noFill/>
          </p:spPr>
          <p:txBody>
            <a:bodyPr wrap="square">
              <a:spAutoFit/>
            </a:bodyPr>
            <a:lstStyle/>
            <a:p>
              <a:pPr indent="-457063">
                <a:spcAft>
                  <a:spcPts val="1200"/>
                </a:spcAft>
                <a:defRPr/>
              </a:pPr>
              <a:r>
                <a:rPr lang="en-US" sz="1600" dirty="0">
                  <a:solidFill>
                    <a:srgbClr val="000000">
                      <a:lumMod val="65000"/>
                      <a:lumOff val="35000"/>
                    </a:srgbClr>
                  </a:solidFill>
                  <a:latin typeface="Arial" panose="020B0604020202020204"/>
                  <a:ea typeface="Times New Roman" panose="02020603050405020304" pitchFamily="18" charset="0"/>
                  <a:cs typeface="Times New Roman" panose="02020603050405020304" pitchFamily="18" charset="0"/>
                </a:rPr>
                <a:t>Pfizer is interested in tracking HCP attitudes and perceptions to monitor Penbraya launch:</a:t>
              </a:r>
            </a:p>
            <a:p>
              <a:pPr indent="-457063">
                <a:spcAft>
                  <a:spcPts val="1200"/>
                </a:spcAft>
                <a:buFont typeface="Wingdings" panose="05000000000000000000" pitchFamily="2" charset="2"/>
                <a:buChar char="ü"/>
                <a:defRPr/>
              </a:pPr>
              <a:r>
                <a:rPr lang="en-US" sz="1600" dirty="0">
                  <a:solidFill>
                    <a:srgbClr val="000000">
                      <a:lumMod val="65000"/>
                      <a:lumOff val="35000"/>
                    </a:srgbClr>
                  </a:solidFill>
                  <a:latin typeface="Arial" panose="020B0604020202020204"/>
                  <a:ea typeface="Times New Roman" panose="02020603050405020304" pitchFamily="18" charset="0"/>
                  <a:cs typeface="Times New Roman" panose="02020603050405020304" pitchFamily="18" charset="0"/>
                </a:rPr>
                <a:t>KPIs established in previous wave</a:t>
              </a:r>
            </a:p>
            <a:p>
              <a:pPr indent="-457063">
                <a:spcAft>
                  <a:spcPts val="1200"/>
                </a:spcAft>
                <a:buFont typeface="Wingdings" panose="05000000000000000000" pitchFamily="2" charset="2"/>
                <a:buChar char="ü"/>
                <a:defRPr/>
              </a:pPr>
              <a:r>
                <a:rPr lang="en-US" sz="1600" dirty="0">
                  <a:solidFill>
                    <a:srgbClr val="000000">
                      <a:lumMod val="65000"/>
                      <a:lumOff val="35000"/>
                    </a:srgbClr>
                  </a:solidFill>
                  <a:latin typeface="Arial" panose="020B0604020202020204"/>
                  <a:ea typeface="Times New Roman" panose="02020603050405020304" pitchFamily="18" charset="0"/>
                  <a:cs typeface="Times New Roman" panose="02020603050405020304" pitchFamily="18" charset="0"/>
                </a:rPr>
                <a:t>Vaccine market awareness and perceptions, and administration practices</a:t>
              </a:r>
            </a:p>
            <a:p>
              <a:pPr>
                <a:spcAft>
                  <a:spcPts val="1200"/>
                </a:spcAft>
                <a:defRPr/>
              </a:pPr>
              <a:r>
                <a:rPr lang="en-US" sz="1600" dirty="0">
                  <a:solidFill>
                    <a:srgbClr val="000000">
                      <a:lumMod val="65000"/>
                      <a:lumOff val="35000"/>
                    </a:srgbClr>
                  </a:solidFill>
                  <a:latin typeface="Arial" panose="020B0604020202020204"/>
                  <a:cs typeface="Times New Roman" panose="02020603050405020304" pitchFamily="18" charset="0"/>
                </a:rPr>
                <a:t>Additionally, monitor competitive pentavalent uptake in the market and potential impact on Penbraya</a:t>
              </a:r>
            </a:p>
          </p:txBody>
        </p:sp>
        <p:pic>
          <p:nvPicPr>
            <p:cNvPr id="23" name="Graphic 22" descr="Bullseye with solid fill">
              <a:extLst>
                <a:ext uri="{FF2B5EF4-FFF2-40B4-BE49-F238E27FC236}">
                  <a16:creationId xmlns:a16="http://schemas.microsoft.com/office/drawing/2014/main" id="{788271A7-A614-2350-80B4-5E04FE7F47D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27243" y="4569464"/>
              <a:ext cx="1391542" cy="1391542"/>
            </a:xfrm>
            <a:prstGeom prst="rect">
              <a:avLst/>
            </a:prstGeom>
          </p:spPr>
        </p:pic>
      </p:grpSp>
    </p:spTree>
    <p:extLst>
      <p:ext uri="{BB962C8B-B14F-4D97-AF65-F5344CB8AC3E}">
        <p14:creationId xmlns:p14="http://schemas.microsoft.com/office/powerpoint/2010/main" val="552204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D1711DF-B288-C43E-D450-96A20146F340}"/>
              </a:ext>
            </a:extLst>
          </p:cNvPr>
          <p:cNvGrpSpPr/>
          <p:nvPr/>
        </p:nvGrpSpPr>
        <p:grpSpPr>
          <a:xfrm>
            <a:off x="-28884" y="5052449"/>
            <a:ext cx="12216121" cy="1089643"/>
            <a:chOff x="-30479" y="5052870"/>
            <a:chExt cx="12219303" cy="1089927"/>
          </a:xfrm>
        </p:grpSpPr>
        <p:sp>
          <p:nvSpPr>
            <p:cNvPr id="49" name="Freeform 332">
              <a:extLst>
                <a:ext uri="{FF2B5EF4-FFF2-40B4-BE49-F238E27FC236}">
                  <a16:creationId xmlns:a16="http://schemas.microsoft.com/office/drawing/2014/main" id="{C4AC8F83-C435-56F4-B367-27C8631804F4}"/>
                </a:ext>
              </a:extLst>
            </p:cNvPr>
            <p:cNvSpPr/>
            <p:nvPr/>
          </p:nvSpPr>
          <p:spPr>
            <a:xfrm>
              <a:off x="-30479" y="5052870"/>
              <a:ext cx="12219302" cy="1089927"/>
            </a:xfrm>
            <a:custGeom>
              <a:avLst/>
              <a:gdLst>
                <a:gd name="connsiteX0" fmla="*/ 10802673 w 10802673"/>
                <a:gd name="connsiteY0" fmla="*/ 0 h 4902097"/>
                <a:gd name="connsiteX1" fmla="*/ 10802673 w 10802673"/>
                <a:gd name="connsiteY1" fmla="*/ 368538 h 4902097"/>
                <a:gd name="connsiteX2" fmla="*/ 10575357 w 10802673"/>
                <a:gd name="connsiteY2" fmla="*/ 413879 h 4902097"/>
                <a:gd name="connsiteX3" fmla="*/ 4231577 w 10802673"/>
                <a:gd name="connsiteY3" fmla="*/ 4893873 h 4902097"/>
                <a:gd name="connsiteX4" fmla="*/ 0 w 10802673"/>
                <a:gd name="connsiteY4" fmla="*/ 4902097 h 4902097"/>
                <a:gd name="connsiteX5" fmla="*/ 10366250 w 10802673"/>
                <a:gd name="connsiteY5" fmla="*/ 46652 h 4902097"/>
                <a:gd name="connsiteX0" fmla="*/ 10966445 w 10966445"/>
                <a:gd name="connsiteY0" fmla="*/ 0 h 5684569"/>
                <a:gd name="connsiteX1" fmla="*/ 10966445 w 10966445"/>
                <a:gd name="connsiteY1" fmla="*/ 368538 h 5684569"/>
                <a:gd name="connsiteX2" fmla="*/ 10739129 w 10966445"/>
                <a:gd name="connsiteY2" fmla="*/ 413879 h 5684569"/>
                <a:gd name="connsiteX3" fmla="*/ 4395349 w 10966445"/>
                <a:gd name="connsiteY3" fmla="*/ 4893873 h 5684569"/>
                <a:gd name="connsiteX4" fmla="*/ 0 w 10966445"/>
                <a:gd name="connsiteY4" fmla="*/ 5684569 h 5684569"/>
                <a:gd name="connsiteX5" fmla="*/ 10530022 w 10966445"/>
                <a:gd name="connsiteY5" fmla="*/ 46652 h 5684569"/>
                <a:gd name="connsiteX6" fmla="*/ 10966445 w 10966445"/>
                <a:gd name="connsiteY6" fmla="*/ 0 h 5684569"/>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684569 h 5712738"/>
                <a:gd name="connsiteX5" fmla="*/ 10530022 w 10966445"/>
                <a:gd name="connsiteY5" fmla="*/ 46652 h 5712738"/>
                <a:gd name="connsiteX6" fmla="*/ 10966445 w 10966445"/>
                <a:gd name="connsiteY6" fmla="*/ 0 h 5712738"/>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702766 h 5712738"/>
                <a:gd name="connsiteX5" fmla="*/ 10530022 w 10966445"/>
                <a:gd name="connsiteY5" fmla="*/ 46652 h 5712738"/>
                <a:gd name="connsiteX6" fmla="*/ 10966445 w 10966445"/>
                <a:gd name="connsiteY6" fmla="*/ 0 h 5712738"/>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702766 h 5712738"/>
                <a:gd name="connsiteX5" fmla="*/ 10530022 w 10966445"/>
                <a:gd name="connsiteY5" fmla="*/ 46652 h 5712738"/>
                <a:gd name="connsiteX6" fmla="*/ 10966445 w 10966445"/>
                <a:gd name="connsiteY6" fmla="*/ 0 h 5712738"/>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702766 h 5712738"/>
                <a:gd name="connsiteX5" fmla="*/ 10530022 w 10966445"/>
                <a:gd name="connsiteY5" fmla="*/ 46652 h 5712738"/>
                <a:gd name="connsiteX6" fmla="*/ 10966445 w 10966445"/>
                <a:gd name="connsiteY6" fmla="*/ 0 h 5712738"/>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702766 h 5712738"/>
                <a:gd name="connsiteX5" fmla="*/ 10530022 w 10966445"/>
                <a:gd name="connsiteY5" fmla="*/ 46652 h 5712738"/>
                <a:gd name="connsiteX6" fmla="*/ 10966445 w 10966445"/>
                <a:gd name="connsiteY6" fmla="*/ 0 h 5712738"/>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702766 h 5712738"/>
                <a:gd name="connsiteX5" fmla="*/ 10530022 w 10966445"/>
                <a:gd name="connsiteY5" fmla="*/ 46652 h 5712738"/>
                <a:gd name="connsiteX6" fmla="*/ 10966445 w 10966445"/>
                <a:gd name="connsiteY6" fmla="*/ 0 h 5712738"/>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702766 h 5712738"/>
                <a:gd name="connsiteX5" fmla="*/ 10530022 w 10966445"/>
                <a:gd name="connsiteY5" fmla="*/ 46652 h 5712738"/>
                <a:gd name="connsiteX6" fmla="*/ 10966445 w 10966445"/>
                <a:gd name="connsiteY6" fmla="*/ 0 h 5712738"/>
                <a:gd name="connsiteX0" fmla="*/ 10966445 w 10966445"/>
                <a:gd name="connsiteY0" fmla="*/ 0 h 5712738"/>
                <a:gd name="connsiteX1" fmla="*/ 10966445 w 10966445"/>
                <a:gd name="connsiteY1" fmla="*/ 368538 h 5712738"/>
                <a:gd name="connsiteX2" fmla="*/ 10739129 w 10966445"/>
                <a:gd name="connsiteY2" fmla="*/ 413879 h 5712738"/>
                <a:gd name="connsiteX3" fmla="*/ 4595516 w 10966445"/>
                <a:gd name="connsiteY3" fmla="*/ 5712738 h 5712738"/>
                <a:gd name="connsiteX4" fmla="*/ 0 w 10966445"/>
                <a:gd name="connsiteY4" fmla="*/ 5702766 h 5712738"/>
                <a:gd name="connsiteX5" fmla="*/ 10530022 w 10966445"/>
                <a:gd name="connsiteY5" fmla="*/ 46652 h 5712738"/>
                <a:gd name="connsiteX6" fmla="*/ 10966445 w 10966445"/>
                <a:gd name="connsiteY6" fmla="*/ 0 h 5712738"/>
                <a:gd name="connsiteX0" fmla="*/ 10979740 w 10979740"/>
                <a:gd name="connsiteY0" fmla="*/ 0 h 6483084"/>
                <a:gd name="connsiteX1" fmla="*/ 10966445 w 10979740"/>
                <a:gd name="connsiteY1" fmla="*/ 1138884 h 6483084"/>
                <a:gd name="connsiteX2" fmla="*/ 10739129 w 10979740"/>
                <a:gd name="connsiteY2" fmla="*/ 1184225 h 6483084"/>
                <a:gd name="connsiteX3" fmla="*/ 4595516 w 10979740"/>
                <a:gd name="connsiteY3" fmla="*/ 6483084 h 6483084"/>
                <a:gd name="connsiteX4" fmla="*/ 0 w 10979740"/>
                <a:gd name="connsiteY4" fmla="*/ 6473112 h 6483084"/>
                <a:gd name="connsiteX5" fmla="*/ 10530022 w 10979740"/>
                <a:gd name="connsiteY5" fmla="*/ 816998 h 6483084"/>
                <a:gd name="connsiteX6" fmla="*/ 10979740 w 10979740"/>
                <a:gd name="connsiteY6" fmla="*/ 0 h 6483084"/>
                <a:gd name="connsiteX0" fmla="*/ 10979740 w 10979740"/>
                <a:gd name="connsiteY0" fmla="*/ 0 h 6483084"/>
                <a:gd name="connsiteX1" fmla="*/ 10966445 w 10979740"/>
                <a:gd name="connsiteY1" fmla="*/ 1138884 h 6483084"/>
                <a:gd name="connsiteX2" fmla="*/ 10739129 w 10979740"/>
                <a:gd name="connsiteY2" fmla="*/ 1184225 h 6483084"/>
                <a:gd name="connsiteX3" fmla="*/ 4595516 w 10979740"/>
                <a:gd name="connsiteY3" fmla="*/ 6483084 h 6483084"/>
                <a:gd name="connsiteX4" fmla="*/ 0 w 10979740"/>
                <a:gd name="connsiteY4" fmla="*/ 6473112 h 6483084"/>
                <a:gd name="connsiteX5" fmla="*/ 10450256 w 10979740"/>
                <a:gd name="connsiteY5" fmla="*/ 112682 h 6483084"/>
                <a:gd name="connsiteX6" fmla="*/ 10979740 w 10979740"/>
                <a:gd name="connsiteY6" fmla="*/ 0 h 6483084"/>
                <a:gd name="connsiteX0" fmla="*/ 11019624 w 11019624"/>
                <a:gd name="connsiteY0" fmla="*/ 0 h 6483084"/>
                <a:gd name="connsiteX1" fmla="*/ 10966445 w 11019624"/>
                <a:gd name="connsiteY1" fmla="*/ 1138884 h 6483084"/>
                <a:gd name="connsiteX2" fmla="*/ 10739129 w 11019624"/>
                <a:gd name="connsiteY2" fmla="*/ 1184225 h 6483084"/>
                <a:gd name="connsiteX3" fmla="*/ 4595516 w 11019624"/>
                <a:gd name="connsiteY3" fmla="*/ 6483084 h 6483084"/>
                <a:gd name="connsiteX4" fmla="*/ 0 w 11019624"/>
                <a:gd name="connsiteY4" fmla="*/ 6473112 h 6483084"/>
                <a:gd name="connsiteX5" fmla="*/ 10450256 w 11019624"/>
                <a:gd name="connsiteY5" fmla="*/ 112682 h 6483084"/>
                <a:gd name="connsiteX6" fmla="*/ 11019624 w 11019624"/>
                <a:gd name="connsiteY6" fmla="*/ 0 h 6483084"/>
                <a:gd name="connsiteX0" fmla="*/ 11019624 w 11019624"/>
                <a:gd name="connsiteY0" fmla="*/ 0 h 6483084"/>
                <a:gd name="connsiteX1" fmla="*/ 10979739 w 11019624"/>
                <a:gd name="connsiteY1" fmla="*/ 1138884 h 6483084"/>
                <a:gd name="connsiteX2" fmla="*/ 10739129 w 11019624"/>
                <a:gd name="connsiteY2" fmla="*/ 1184225 h 6483084"/>
                <a:gd name="connsiteX3" fmla="*/ 4595516 w 11019624"/>
                <a:gd name="connsiteY3" fmla="*/ 6483084 h 6483084"/>
                <a:gd name="connsiteX4" fmla="*/ 0 w 11019624"/>
                <a:gd name="connsiteY4" fmla="*/ 6473112 h 6483084"/>
                <a:gd name="connsiteX5" fmla="*/ 10450256 w 11019624"/>
                <a:gd name="connsiteY5" fmla="*/ 112682 h 6483084"/>
                <a:gd name="connsiteX6" fmla="*/ 11019624 w 11019624"/>
                <a:gd name="connsiteY6" fmla="*/ 0 h 6483084"/>
                <a:gd name="connsiteX0" fmla="*/ 11019624 w 11019624"/>
                <a:gd name="connsiteY0" fmla="*/ 0 h 6473112"/>
                <a:gd name="connsiteX1" fmla="*/ 10979739 w 11019624"/>
                <a:gd name="connsiteY1" fmla="*/ 1138884 h 6473112"/>
                <a:gd name="connsiteX2" fmla="*/ 10739129 w 11019624"/>
                <a:gd name="connsiteY2" fmla="*/ 1184225 h 6473112"/>
                <a:gd name="connsiteX3" fmla="*/ 4196685 w 11019624"/>
                <a:gd name="connsiteY3" fmla="*/ 6454348 h 6473112"/>
                <a:gd name="connsiteX4" fmla="*/ 0 w 11019624"/>
                <a:gd name="connsiteY4" fmla="*/ 6473112 h 6473112"/>
                <a:gd name="connsiteX5" fmla="*/ 10450256 w 11019624"/>
                <a:gd name="connsiteY5" fmla="*/ 112682 h 6473112"/>
                <a:gd name="connsiteX6" fmla="*/ 11019624 w 11019624"/>
                <a:gd name="connsiteY6" fmla="*/ 0 h 6473112"/>
                <a:gd name="connsiteX0" fmla="*/ 11019624 w 11019624"/>
                <a:gd name="connsiteY0" fmla="*/ 0 h 6473112"/>
                <a:gd name="connsiteX1" fmla="*/ 10979739 w 11019624"/>
                <a:gd name="connsiteY1" fmla="*/ 1138884 h 6473112"/>
                <a:gd name="connsiteX2" fmla="*/ 10739129 w 11019624"/>
                <a:gd name="connsiteY2" fmla="*/ 1184225 h 6473112"/>
                <a:gd name="connsiteX3" fmla="*/ 4196685 w 11019624"/>
                <a:gd name="connsiteY3" fmla="*/ 6454348 h 6473112"/>
                <a:gd name="connsiteX4" fmla="*/ 0 w 11019624"/>
                <a:gd name="connsiteY4" fmla="*/ 6473112 h 6473112"/>
                <a:gd name="connsiteX5" fmla="*/ 10450256 w 11019624"/>
                <a:gd name="connsiteY5" fmla="*/ 112682 h 6473112"/>
                <a:gd name="connsiteX6" fmla="*/ 11019624 w 11019624"/>
                <a:gd name="connsiteY6" fmla="*/ 0 h 6473112"/>
                <a:gd name="connsiteX0" fmla="*/ 11019624 w 11019624"/>
                <a:gd name="connsiteY0" fmla="*/ 0 h 6473112"/>
                <a:gd name="connsiteX1" fmla="*/ 11000345 w 11019624"/>
                <a:gd name="connsiteY1" fmla="*/ 1138884 h 6473112"/>
                <a:gd name="connsiteX2" fmla="*/ 10739129 w 11019624"/>
                <a:gd name="connsiteY2" fmla="*/ 1184225 h 6473112"/>
                <a:gd name="connsiteX3" fmla="*/ 4196685 w 11019624"/>
                <a:gd name="connsiteY3" fmla="*/ 6454348 h 6473112"/>
                <a:gd name="connsiteX4" fmla="*/ 0 w 11019624"/>
                <a:gd name="connsiteY4" fmla="*/ 6473112 h 6473112"/>
                <a:gd name="connsiteX5" fmla="*/ 10450256 w 11019624"/>
                <a:gd name="connsiteY5" fmla="*/ 112682 h 6473112"/>
                <a:gd name="connsiteX6" fmla="*/ 11019624 w 11019624"/>
                <a:gd name="connsiteY6" fmla="*/ 0 h 6473112"/>
                <a:gd name="connsiteX0" fmla="*/ 11012755 w 11012755"/>
                <a:gd name="connsiteY0" fmla="*/ 0 h 6428571"/>
                <a:gd name="connsiteX1" fmla="*/ 11000345 w 11012755"/>
                <a:gd name="connsiteY1" fmla="*/ 1094343 h 6428571"/>
                <a:gd name="connsiteX2" fmla="*/ 10739129 w 11012755"/>
                <a:gd name="connsiteY2" fmla="*/ 1139684 h 6428571"/>
                <a:gd name="connsiteX3" fmla="*/ 4196685 w 11012755"/>
                <a:gd name="connsiteY3" fmla="*/ 6409807 h 6428571"/>
                <a:gd name="connsiteX4" fmla="*/ 0 w 11012755"/>
                <a:gd name="connsiteY4" fmla="*/ 6428571 h 6428571"/>
                <a:gd name="connsiteX5" fmla="*/ 10450256 w 11012755"/>
                <a:gd name="connsiteY5" fmla="*/ 68141 h 6428571"/>
                <a:gd name="connsiteX6" fmla="*/ 11012755 w 11012755"/>
                <a:gd name="connsiteY6" fmla="*/ 0 h 6428571"/>
                <a:gd name="connsiteX0" fmla="*/ 11012755 w 11020952"/>
                <a:gd name="connsiteY0" fmla="*/ 0 h 6428571"/>
                <a:gd name="connsiteX1" fmla="*/ 11020952 w 11020952"/>
                <a:gd name="connsiteY1" fmla="*/ 1094343 h 6428571"/>
                <a:gd name="connsiteX2" fmla="*/ 10739129 w 11020952"/>
                <a:gd name="connsiteY2" fmla="*/ 1139684 h 6428571"/>
                <a:gd name="connsiteX3" fmla="*/ 4196685 w 11020952"/>
                <a:gd name="connsiteY3" fmla="*/ 6409807 h 6428571"/>
                <a:gd name="connsiteX4" fmla="*/ 0 w 11020952"/>
                <a:gd name="connsiteY4" fmla="*/ 6428571 h 6428571"/>
                <a:gd name="connsiteX5" fmla="*/ 10450256 w 11020952"/>
                <a:gd name="connsiteY5" fmla="*/ 68141 h 6428571"/>
                <a:gd name="connsiteX6" fmla="*/ 11012755 w 11020952"/>
                <a:gd name="connsiteY6" fmla="*/ 0 h 6428571"/>
                <a:gd name="connsiteX0" fmla="*/ 11012755 w 11012966"/>
                <a:gd name="connsiteY0" fmla="*/ 0 h 6428571"/>
                <a:gd name="connsiteX1" fmla="*/ 10993477 w 11012966"/>
                <a:gd name="connsiteY1" fmla="*/ 1138884 h 6428571"/>
                <a:gd name="connsiteX2" fmla="*/ 10739129 w 11012966"/>
                <a:gd name="connsiteY2" fmla="*/ 1139684 h 6428571"/>
                <a:gd name="connsiteX3" fmla="*/ 4196685 w 11012966"/>
                <a:gd name="connsiteY3" fmla="*/ 6409807 h 6428571"/>
                <a:gd name="connsiteX4" fmla="*/ 0 w 11012966"/>
                <a:gd name="connsiteY4" fmla="*/ 6428571 h 6428571"/>
                <a:gd name="connsiteX5" fmla="*/ 10450256 w 11012966"/>
                <a:gd name="connsiteY5" fmla="*/ 68141 h 6428571"/>
                <a:gd name="connsiteX6" fmla="*/ 11012755 w 11012966"/>
                <a:gd name="connsiteY6" fmla="*/ 0 h 6428571"/>
                <a:gd name="connsiteX0" fmla="*/ 10999018 w 10999457"/>
                <a:gd name="connsiteY0" fmla="*/ 0 h 6428571"/>
                <a:gd name="connsiteX1" fmla="*/ 10993477 w 10999457"/>
                <a:gd name="connsiteY1" fmla="*/ 1138884 h 6428571"/>
                <a:gd name="connsiteX2" fmla="*/ 10739129 w 10999457"/>
                <a:gd name="connsiteY2" fmla="*/ 1139684 h 6428571"/>
                <a:gd name="connsiteX3" fmla="*/ 4196685 w 10999457"/>
                <a:gd name="connsiteY3" fmla="*/ 6409807 h 6428571"/>
                <a:gd name="connsiteX4" fmla="*/ 0 w 10999457"/>
                <a:gd name="connsiteY4" fmla="*/ 6428571 h 6428571"/>
                <a:gd name="connsiteX5" fmla="*/ 10450256 w 10999457"/>
                <a:gd name="connsiteY5" fmla="*/ 68141 h 6428571"/>
                <a:gd name="connsiteX6" fmla="*/ 10999018 w 10999457"/>
                <a:gd name="connsiteY6" fmla="*/ 0 h 6428571"/>
                <a:gd name="connsiteX0" fmla="*/ 11005887 w 11006172"/>
                <a:gd name="connsiteY0" fmla="*/ 0 h 6428571"/>
                <a:gd name="connsiteX1" fmla="*/ 10993477 w 11006172"/>
                <a:gd name="connsiteY1" fmla="*/ 1138884 h 6428571"/>
                <a:gd name="connsiteX2" fmla="*/ 10739129 w 11006172"/>
                <a:gd name="connsiteY2" fmla="*/ 1139684 h 6428571"/>
                <a:gd name="connsiteX3" fmla="*/ 4196685 w 11006172"/>
                <a:gd name="connsiteY3" fmla="*/ 6409807 h 6428571"/>
                <a:gd name="connsiteX4" fmla="*/ 0 w 11006172"/>
                <a:gd name="connsiteY4" fmla="*/ 6428571 h 6428571"/>
                <a:gd name="connsiteX5" fmla="*/ 10450256 w 11006172"/>
                <a:gd name="connsiteY5" fmla="*/ 68141 h 6428571"/>
                <a:gd name="connsiteX6" fmla="*/ 11005887 w 11006172"/>
                <a:gd name="connsiteY6" fmla="*/ 0 h 6428571"/>
                <a:gd name="connsiteX0" fmla="*/ 11005887 w 11006098"/>
                <a:gd name="connsiteY0" fmla="*/ 0 h 6428571"/>
                <a:gd name="connsiteX1" fmla="*/ 10986609 w 11006098"/>
                <a:gd name="connsiteY1" fmla="*/ 1138884 h 6428571"/>
                <a:gd name="connsiteX2" fmla="*/ 10739129 w 11006098"/>
                <a:gd name="connsiteY2" fmla="*/ 1139684 h 6428571"/>
                <a:gd name="connsiteX3" fmla="*/ 4196685 w 11006098"/>
                <a:gd name="connsiteY3" fmla="*/ 6409807 h 6428571"/>
                <a:gd name="connsiteX4" fmla="*/ 0 w 11006098"/>
                <a:gd name="connsiteY4" fmla="*/ 6428571 h 6428571"/>
                <a:gd name="connsiteX5" fmla="*/ 10450256 w 11006098"/>
                <a:gd name="connsiteY5" fmla="*/ 68141 h 6428571"/>
                <a:gd name="connsiteX6" fmla="*/ 11005887 w 11006098"/>
                <a:gd name="connsiteY6" fmla="*/ 0 h 6428571"/>
                <a:gd name="connsiteX0" fmla="*/ 10988715 w 10989319"/>
                <a:gd name="connsiteY0" fmla="*/ 0 h 6428571"/>
                <a:gd name="connsiteX1" fmla="*/ 10986609 w 10989319"/>
                <a:gd name="connsiteY1" fmla="*/ 1138884 h 6428571"/>
                <a:gd name="connsiteX2" fmla="*/ 10739129 w 10989319"/>
                <a:gd name="connsiteY2" fmla="*/ 1139684 h 6428571"/>
                <a:gd name="connsiteX3" fmla="*/ 4196685 w 10989319"/>
                <a:gd name="connsiteY3" fmla="*/ 6409807 h 6428571"/>
                <a:gd name="connsiteX4" fmla="*/ 0 w 10989319"/>
                <a:gd name="connsiteY4" fmla="*/ 6428571 h 6428571"/>
                <a:gd name="connsiteX5" fmla="*/ 10450256 w 10989319"/>
                <a:gd name="connsiteY5" fmla="*/ 68141 h 6428571"/>
                <a:gd name="connsiteX6" fmla="*/ 10988715 w 10989319"/>
                <a:gd name="connsiteY6" fmla="*/ 0 h 6428571"/>
                <a:gd name="connsiteX0" fmla="*/ 10988715 w 10990973"/>
                <a:gd name="connsiteY0" fmla="*/ 0 h 6428571"/>
                <a:gd name="connsiteX1" fmla="*/ 10986609 w 10990973"/>
                <a:gd name="connsiteY1" fmla="*/ 1138884 h 6428571"/>
                <a:gd name="connsiteX2" fmla="*/ 10739129 w 10990973"/>
                <a:gd name="connsiteY2" fmla="*/ 1139684 h 6428571"/>
                <a:gd name="connsiteX3" fmla="*/ 4196685 w 10990973"/>
                <a:gd name="connsiteY3" fmla="*/ 6409807 h 6428571"/>
                <a:gd name="connsiteX4" fmla="*/ 0 w 10990973"/>
                <a:gd name="connsiteY4" fmla="*/ 6428571 h 6428571"/>
                <a:gd name="connsiteX5" fmla="*/ 10450256 w 10990973"/>
                <a:gd name="connsiteY5" fmla="*/ 68141 h 6428571"/>
                <a:gd name="connsiteX6" fmla="*/ 10988715 w 10990973"/>
                <a:gd name="connsiteY6" fmla="*/ 0 h 6428571"/>
                <a:gd name="connsiteX0" fmla="*/ 10988715 w 10992124"/>
                <a:gd name="connsiteY0" fmla="*/ 0 h 6428571"/>
                <a:gd name="connsiteX1" fmla="*/ 10986609 w 10992124"/>
                <a:gd name="connsiteY1" fmla="*/ 1138884 h 6428571"/>
                <a:gd name="connsiteX2" fmla="*/ 10739129 w 10992124"/>
                <a:gd name="connsiteY2" fmla="*/ 1139684 h 6428571"/>
                <a:gd name="connsiteX3" fmla="*/ 4196685 w 10992124"/>
                <a:gd name="connsiteY3" fmla="*/ 6409807 h 6428571"/>
                <a:gd name="connsiteX4" fmla="*/ 0 w 10992124"/>
                <a:gd name="connsiteY4" fmla="*/ 6428571 h 6428571"/>
                <a:gd name="connsiteX5" fmla="*/ 10450256 w 10992124"/>
                <a:gd name="connsiteY5" fmla="*/ 68141 h 6428571"/>
                <a:gd name="connsiteX6" fmla="*/ 10988715 w 10992124"/>
                <a:gd name="connsiteY6" fmla="*/ 0 h 6428571"/>
                <a:gd name="connsiteX0" fmla="*/ 10988715 w 10992124"/>
                <a:gd name="connsiteY0" fmla="*/ 0 h 6423932"/>
                <a:gd name="connsiteX1" fmla="*/ 10986609 w 10992124"/>
                <a:gd name="connsiteY1" fmla="*/ 1134245 h 6423932"/>
                <a:gd name="connsiteX2" fmla="*/ 10739129 w 10992124"/>
                <a:gd name="connsiteY2" fmla="*/ 1135045 h 6423932"/>
                <a:gd name="connsiteX3" fmla="*/ 4196685 w 10992124"/>
                <a:gd name="connsiteY3" fmla="*/ 6405168 h 6423932"/>
                <a:gd name="connsiteX4" fmla="*/ 0 w 10992124"/>
                <a:gd name="connsiteY4" fmla="*/ 6423932 h 6423932"/>
                <a:gd name="connsiteX5" fmla="*/ 10450256 w 10992124"/>
                <a:gd name="connsiteY5" fmla="*/ 63502 h 6423932"/>
                <a:gd name="connsiteX6" fmla="*/ 10988715 w 10992124"/>
                <a:gd name="connsiteY6" fmla="*/ 0 h 6423932"/>
                <a:gd name="connsiteX0" fmla="*/ 10988715 w 10988715"/>
                <a:gd name="connsiteY0" fmla="*/ 0 h 6423932"/>
                <a:gd name="connsiteX1" fmla="*/ 10986609 w 10988715"/>
                <a:gd name="connsiteY1" fmla="*/ 1134245 h 6423932"/>
                <a:gd name="connsiteX2" fmla="*/ 10739129 w 10988715"/>
                <a:gd name="connsiteY2" fmla="*/ 1135045 h 6423932"/>
                <a:gd name="connsiteX3" fmla="*/ 4196685 w 10988715"/>
                <a:gd name="connsiteY3" fmla="*/ 6405168 h 6423932"/>
                <a:gd name="connsiteX4" fmla="*/ 0 w 10988715"/>
                <a:gd name="connsiteY4" fmla="*/ 6423932 h 6423932"/>
                <a:gd name="connsiteX5" fmla="*/ 10450256 w 10988715"/>
                <a:gd name="connsiteY5" fmla="*/ 63502 h 6423932"/>
                <a:gd name="connsiteX6" fmla="*/ 10988715 w 10988715"/>
                <a:gd name="connsiteY6" fmla="*/ 0 h 6423932"/>
                <a:gd name="connsiteX0" fmla="*/ 10988715 w 10990100"/>
                <a:gd name="connsiteY0" fmla="*/ 0 h 6423932"/>
                <a:gd name="connsiteX1" fmla="*/ 10988756 w 10990100"/>
                <a:gd name="connsiteY1" fmla="*/ 1134245 h 6423932"/>
                <a:gd name="connsiteX2" fmla="*/ 10739129 w 10990100"/>
                <a:gd name="connsiteY2" fmla="*/ 1135045 h 6423932"/>
                <a:gd name="connsiteX3" fmla="*/ 4196685 w 10990100"/>
                <a:gd name="connsiteY3" fmla="*/ 6405168 h 6423932"/>
                <a:gd name="connsiteX4" fmla="*/ 0 w 10990100"/>
                <a:gd name="connsiteY4" fmla="*/ 6423932 h 6423932"/>
                <a:gd name="connsiteX5" fmla="*/ 10450256 w 10990100"/>
                <a:gd name="connsiteY5" fmla="*/ 63502 h 6423932"/>
                <a:gd name="connsiteX6" fmla="*/ 10988715 w 10990100"/>
                <a:gd name="connsiteY6" fmla="*/ 0 h 6423932"/>
                <a:gd name="connsiteX0" fmla="*/ 10988715 w 10989202"/>
                <a:gd name="connsiteY0" fmla="*/ 0 h 6423932"/>
                <a:gd name="connsiteX1" fmla="*/ 10988756 w 10989202"/>
                <a:gd name="connsiteY1" fmla="*/ 1134245 h 6423932"/>
                <a:gd name="connsiteX2" fmla="*/ 10739129 w 10989202"/>
                <a:gd name="connsiteY2" fmla="*/ 1135045 h 6423932"/>
                <a:gd name="connsiteX3" fmla="*/ 4196685 w 10989202"/>
                <a:gd name="connsiteY3" fmla="*/ 6405168 h 6423932"/>
                <a:gd name="connsiteX4" fmla="*/ 0 w 10989202"/>
                <a:gd name="connsiteY4" fmla="*/ 6423932 h 6423932"/>
                <a:gd name="connsiteX5" fmla="*/ 10450256 w 10989202"/>
                <a:gd name="connsiteY5" fmla="*/ 63502 h 6423932"/>
                <a:gd name="connsiteX6" fmla="*/ 10988715 w 10989202"/>
                <a:gd name="connsiteY6" fmla="*/ 0 h 6423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89202" h="6423932">
                  <a:moveTo>
                    <a:pt x="10988715" y="0"/>
                  </a:moveTo>
                  <a:cubicBezTo>
                    <a:pt x="10987155" y="369420"/>
                    <a:pt x="10990318" y="769465"/>
                    <a:pt x="10988756" y="1134245"/>
                  </a:cubicBezTo>
                  <a:lnTo>
                    <a:pt x="10739129" y="1135045"/>
                  </a:lnTo>
                  <a:cubicBezTo>
                    <a:pt x="7390700" y="1417173"/>
                    <a:pt x="4007808" y="3914152"/>
                    <a:pt x="4196685" y="6405168"/>
                  </a:cubicBezTo>
                  <a:lnTo>
                    <a:pt x="0" y="6423932"/>
                  </a:lnTo>
                  <a:cubicBezTo>
                    <a:pt x="842061" y="3596496"/>
                    <a:pt x="4940301" y="708363"/>
                    <a:pt x="10450256" y="63502"/>
                  </a:cubicBezTo>
                  <a:lnTo>
                    <a:pt x="10988715" y="0"/>
                  </a:lnTo>
                  <a:close/>
                </a:path>
              </a:pathLst>
            </a:custGeom>
            <a:gradFill flip="none" rotWithShape="1">
              <a:gsLst>
                <a:gs pos="0">
                  <a:srgbClr val="606162">
                    <a:shade val="30000"/>
                    <a:satMod val="115000"/>
                  </a:srgbClr>
                </a:gs>
                <a:gs pos="50000">
                  <a:srgbClr val="606162">
                    <a:shade val="67500"/>
                    <a:satMod val="115000"/>
                  </a:srgbClr>
                </a:gs>
                <a:gs pos="100000">
                  <a:srgbClr val="606162">
                    <a:shade val="100000"/>
                    <a:satMod val="115000"/>
                  </a:srgbClr>
                </a:gs>
              </a:gsLst>
              <a:lin ang="8100000" scaled="1"/>
              <a:tileRect/>
            </a:gradFill>
            <a:ln w="12700" cap="flat" cmpd="sng" algn="ctr">
              <a:noFill/>
              <a:prstDash val="solid"/>
              <a:miter lim="800000"/>
            </a:ln>
            <a:effectLst/>
          </p:spPr>
          <p:txBody>
            <a:bodyPr wrap="square" rtlCol="0" anchor="ctr">
              <a:noAutofit/>
            </a:bodyPr>
            <a:lstStyle/>
            <a:p>
              <a:pPr algn="ctr" defTabSz="685577">
                <a:defRPr/>
              </a:pPr>
              <a:endParaRPr lang="en-US" sz="1350" kern="0">
                <a:solidFill>
                  <a:prstClr val="white"/>
                </a:solidFill>
                <a:latin typeface="Calibri" panose="020F0502020204030204"/>
                <a:cs typeface="Arial" panose="020B0604020202020204" pitchFamily="34" charset="0"/>
              </a:endParaRPr>
            </a:p>
          </p:txBody>
        </p:sp>
        <p:sp>
          <p:nvSpPr>
            <p:cNvPr id="50" name="Freeform 330">
              <a:extLst>
                <a:ext uri="{FF2B5EF4-FFF2-40B4-BE49-F238E27FC236}">
                  <a16:creationId xmlns:a16="http://schemas.microsoft.com/office/drawing/2014/main" id="{8139700B-B2C1-A950-040A-8FDBDC54C352}"/>
                </a:ext>
              </a:extLst>
            </p:cNvPr>
            <p:cNvSpPr/>
            <p:nvPr/>
          </p:nvSpPr>
          <p:spPr>
            <a:xfrm>
              <a:off x="2081195" y="5138449"/>
              <a:ext cx="10107629" cy="1003545"/>
            </a:xfrm>
            <a:custGeom>
              <a:avLst/>
              <a:gdLst>
                <a:gd name="connsiteX0" fmla="*/ 0 w 8758989"/>
                <a:gd name="connsiteY0" fmla="*/ 4620127 h 4620127"/>
                <a:gd name="connsiteX1" fmla="*/ 3176337 w 8758989"/>
                <a:gd name="connsiteY1" fmla="*/ 1379621 h 4620127"/>
                <a:gd name="connsiteX2" fmla="*/ 8758989 w 8758989"/>
                <a:gd name="connsiteY2" fmla="*/ 0 h 4620127"/>
                <a:gd name="connsiteX0" fmla="*/ 0 w 8758989"/>
                <a:gd name="connsiteY0" fmla="*/ 4620127 h 4620127"/>
                <a:gd name="connsiteX1" fmla="*/ 3176337 w 8758989"/>
                <a:gd name="connsiteY1" fmla="*/ 1379621 h 4620127"/>
                <a:gd name="connsiteX2" fmla="*/ 8758989 w 8758989"/>
                <a:gd name="connsiteY2" fmla="*/ 0 h 4620127"/>
                <a:gd name="connsiteX0" fmla="*/ 0 w 8758989"/>
                <a:gd name="connsiteY0" fmla="*/ 4620127 h 4620127"/>
                <a:gd name="connsiteX1" fmla="*/ 3176337 w 8758989"/>
                <a:gd name="connsiteY1" fmla="*/ 1331495 h 4620127"/>
                <a:gd name="connsiteX2" fmla="*/ 8758989 w 8758989"/>
                <a:gd name="connsiteY2" fmla="*/ 0 h 4620127"/>
                <a:gd name="connsiteX0" fmla="*/ 0 w 8758989"/>
                <a:gd name="connsiteY0" fmla="*/ 4620127 h 4620127"/>
                <a:gd name="connsiteX1" fmla="*/ 3176337 w 8758989"/>
                <a:gd name="connsiteY1" fmla="*/ 1331495 h 4620127"/>
                <a:gd name="connsiteX2" fmla="*/ 8758989 w 8758989"/>
                <a:gd name="connsiteY2" fmla="*/ 0 h 4620127"/>
                <a:gd name="connsiteX0" fmla="*/ 0 w 8758989"/>
                <a:gd name="connsiteY0" fmla="*/ 4620127 h 4620127"/>
                <a:gd name="connsiteX1" fmla="*/ 3176337 w 8758989"/>
                <a:gd name="connsiteY1" fmla="*/ 1331495 h 4620127"/>
                <a:gd name="connsiteX2" fmla="*/ 8758989 w 8758989"/>
                <a:gd name="connsiteY2" fmla="*/ 0 h 4620127"/>
                <a:gd name="connsiteX0" fmla="*/ 0 w 8758989"/>
                <a:gd name="connsiteY0" fmla="*/ 4620127 h 4620127"/>
                <a:gd name="connsiteX1" fmla="*/ 3160295 w 8758989"/>
                <a:gd name="connsiteY1" fmla="*/ 1299411 h 4620127"/>
                <a:gd name="connsiteX2" fmla="*/ 8758989 w 8758989"/>
                <a:gd name="connsiteY2" fmla="*/ 0 h 4620127"/>
                <a:gd name="connsiteX0" fmla="*/ 0 w 8758989"/>
                <a:gd name="connsiteY0" fmla="*/ 4620127 h 4620127"/>
                <a:gd name="connsiteX1" fmla="*/ 3160295 w 8758989"/>
                <a:gd name="connsiteY1" fmla="*/ 1299411 h 4620127"/>
                <a:gd name="connsiteX2" fmla="*/ 8758989 w 8758989"/>
                <a:gd name="connsiteY2" fmla="*/ 0 h 4620127"/>
                <a:gd name="connsiteX0" fmla="*/ 0 w 8758989"/>
                <a:gd name="connsiteY0" fmla="*/ 4620127 h 4620127"/>
                <a:gd name="connsiteX1" fmla="*/ 3160295 w 8758989"/>
                <a:gd name="connsiteY1" fmla="*/ 1299411 h 4620127"/>
                <a:gd name="connsiteX2" fmla="*/ 8758989 w 8758989"/>
                <a:gd name="connsiteY2" fmla="*/ 0 h 4620127"/>
                <a:gd name="connsiteX0" fmla="*/ 0 w 8758989"/>
                <a:gd name="connsiteY0" fmla="*/ 4620127 h 4620127"/>
                <a:gd name="connsiteX1" fmla="*/ 3160295 w 8758989"/>
                <a:gd name="connsiteY1" fmla="*/ 1299411 h 4620127"/>
                <a:gd name="connsiteX2" fmla="*/ 8758989 w 8758989"/>
                <a:gd name="connsiteY2" fmla="*/ 0 h 4620127"/>
                <a:gd name="connsiteX0" fmla="*/ 0 w 8758989"/>
                <a:gd name="connsiteY0" fmla="*/ 4620127 h 4620127"/>
                <a:gd name="connsiteX1" fmla="*/ 3160295 w 8758989"/>
                <a:gd name="connsiteY1" fmla="*/ 1299411 h 4620127"/>
                <a:gd name="connsiteX2" fmla="*/ 8758989 w 8758989"/>
                <a:gd name="connsiteY2" fmla="*/ 0 h 4620127"/>
                <a:gd name="connsiteX0" fmla="*/ 0 w 8758989"/>
                <a:gd name="connsiteY0" fmla="*/ 4620127 h 4620127"/>
                <a:gd name="connsiteX1" fmla="*/ 3160295 w 8758989"/>
                <a:gd name="connsiteY1" fmla="*/ 1299411 h 4620127"/>
                <a:gd name="connsiteX2" fmla="*/ 8758989 w 8758989"/>
                <a:gd name="connsiteY2" fmla="*/ 0 h 4620127"/>
                <a:gd name="connsiteX0" fmla="*/ 0 w 9855849"/>
                <a:gd name="connsiteY0" fmla="*/ 4713998 h 4713998"/>
                <a:gd name="connsiteX1" fmla="*/ 3160295 w 9855849"/>
                <a:gd name="connsiteY1" fmla="*/ 1393282 h 4713998"/>
                <a:gd name="connsiteX2" fmla="*/ 9855849 w 9855849"/>
                <a:gd name="connsiteY2" fmla="*/ 0 h 4713998"/>
                <a:gd name="connsiteX0" fmla="*/ 0 w 9855849"/>
                <a:gd name="connsiteY0" fmla="*/ 4713998 h 4713998"/>
                <a:gd name="connsiteX1" fmla="*/ 3239777 w 9855849"/>
                <a:gd name="connsiteY1" fmla="*/ 1565377 h 4713998"/>
                <a:gd name="connsiteX2" fmla="*/ 9855849 w 9855849"/>
                <a:gd name="connsiteY2" fmla="*/ 0 h 4713998"/>
                <a:gd name="connsiteX0" fmla="*/ 0 w 9855849"/>
                <a:gd name="connsiteY0" fmla="*/ 4713998 h 4713998"/>
                <a:gd name="connsiteX1" fmla="*/ 3239777 w 9855849"/>
                <a:gd name="connsiteY1" fmla="*/ 1565377 h 4713998"/>
                <a:gd name="connsiteX2" fmla="*/ 9855849 w 9855849"/>
                <a:gd name="connsiteY2" fmla="*/ 0 h 4713998"/>
                <a:gd name="connsiteX0" fmla="*/ 0 w 9855849"/>
                <a:gd name="connsiteY0" fmla="*/ 4713998 h 4713998"/>
                <a:gd name="connsiteX1" fmla="*/ 3239777 w 9855849"/>
                <a:gd name="connsiteY1" fmla="*/ 1565377 h 4713998"/>
                <a:gd name="connsiteX2" fmla="*/ 9855849 w 9855849"/>
                <a:gd name="connsiteY2" fmla="*/ 0 h 4713998"/>
                <a:gd name="connsiteX0" fmla="*/ 0 w 9855849"/>
                <a:gd name="connsiteY0" fmla="*/ 4713998 h 4713998"/>
                <a:gd name="connsiteX1" fmla="*/ 3239777 w 9855849"/>
                <a:gd name="connsiteY1" fmla="*/ 1565377 h 4713998"/>
                <a:gd name="connsiteX2" fmla="*/ 9855849 w 9855849"/>
                <a:gd name="connsiteY2" fmla="*/ 0 h 4713998"/>
                <a:gd name="connsiteX0" fmla="*/ 0 w 9945983"/>
                <a:gd name="connsiteY0" fmla="*/ 4781862 h 4781862"/>
                <a:gd name="connsiteX1" fmla="*/ 3239777 w 9945983"/>
                <a:gd name="connsiteY1" fmla="*/ 1633241 h 4781862"/>
                <a:gd name="connsiteX2" fmla="*/ 9280593 w 9945983"/>
                <a:gd name="connsiteY2" fmla="*/ 132372 h 4781862"/>
                <a:gd name="connsiteX3" fmla="*/ 9855849 w 9945983"/>
                <a:gd name="connsiteY3" fmla="*/ 67864 h 4781862"/>
                <a:gd name="connsiteX0" fmla="*/ 0 w 9280593"/>
                <a:gd name="connsiteY0" fmla="*/ 4649490 h 4649490"/>
                <a:gd name="connsiteX1" fmla="*/ 3239777 w 9280593"/>
                <a:gd name="connsiteY1" fmla="*/ 1500869 h 4649490"/>
                <a:gd name="connsiteX2" fmla="*/ 9280593 w 9280593"/>
                <a:gd name="connsiteY2" fmla="*/ 0 h 4649490"/>
                <a:gd name="connsiteX0" fmla="*/ 0 w 9280593"/>
                <a:gd name="connsiteY0" fmla="*/ 4649490 h 4649490"/>
                <a:gd name="connsiteX1" fmla="*/ 3239777 w 9280593"/>
                <a:gd name="connsiteY1" fmla="*/ 1500869 h 4649490"/>
                <a:gd name="connsiteX2" fmla="*/ 9280593 w 9280593"/>
                <a:gd name="connsiteY2" fmla="*/ 0 h 4649490"/>
                <a:gd name="connsiteX0" fmla="*/ 0 w 9280593"/>
                <a:gd name="connsiteY0" fmla="*/ 4649490 h 4649490"/>
                <a:gd name="connsiteX1" fmla="*/ 3239777 w 9280593"/>
                <a:gd name="connsiteY1" fmla="*/ 1500869 h 4649490"/>
                <a:gd name="connsiteX2" fmla="*/ 9280593 w 9280593"/>
                <a:gd name="connsiteY2" fmla="*/ 0 h 4649490"/>
                <a:gd name="connsiteX0" fmla="*/ 0 w 8662143"/>
                <a:gd name="connsiteY0" fmla="*/ 4550405 h 4550405"/>
                <a:gd name="connsiteX1" fmla="*/ 3239777 w 8662143"/>
                <a:gd name="connsiteY1" fmla="*/ 1401784 h 4550405"/>
                <a:gd name="connsiteX2" fmla="*/ 8662143 w 8662143"/>
                <a:gd name="connsiteY2" fmla="*/ 0 h 4550405"/>
                <a:gd name="connsiteX0" fmla="*/ 0 w 8986717"/>
                <a:gd name="connsiteY0" fmla="*/ 5313509 h 5313509"/>
                <a:gd name="connsiteX1" fmla="*/ 3564351 w 8986717"/>
                <a:gd name="connsiteY1" fmla="*/ 1401784 h 5313509"/>
                <a:gd name="connsiteX2" fmla="*/ 8986717 w 8986717"/>
                <a:gd name="connsiteY2" fmla="*/ 0 h 5313509"/>
                <a:gd name="connsiteX0" fmla="*/ 0 w 8986717"/>
                <a:gd name="connsiteY0" fmla="*/ 5313509 h 5313509"/>
                <a:gd name="connsiteX1" fmla="*/ 3564351 w 8986717"/>
                <a:gd name="connsiteY1" fmla="*/ 1401784 h 5313509"/>
                <a:gd name="connsiteX2" fmla="*/ 8986717 w 8986717"/>
                <a:gd name="connsiteY2" fmla="*/ 0 h 5313509"/>
                <a:gd name="connsiteX0" fmla="*/ 0 w 8986717"/>
                <a:gd name="connsiteY0" fmla="*/ 5313509 h 5313509"/>
                <a:gd name="connsiteX1" fmla="*/ 3564351 w 8986717"/>
                <a:gd name="connsiteY1" fmla="*/ 1401784 h 5313509"/>
                <a:gd name="connsiteX2" fmla="*/ 8986717 w 8986717"/>
                <a:gd name="connsiteY2" fmla="*/ 0 h 5313509"/>
                <a:gd name="connsiteX0" fmla="*/ 0 w 8986717"/>
                <a:gd name="connsiteY0" fmla="*/ 5366748 h 5366748"/>
                <a:gd name="connsiteX1" fmla="*/ 3564351 w 8986717"/>
                <a:gd name="connsiteY1" fmla="*/ 1401784 h 5366748"/>
                <a:gd name="connsiteX2" fmla="*/ 8986717 w 8986717"/>
                <a:gd name="connsiteY2" fmla="*/ 0 h 5366748"/>
                <a:gd name="connsiteX0" fmla="*/ 0 w 8986717"/>
                <a:gd name="connsiteY0" fmla="*/ 5366748 h 5366748"/>
                <a:gd name="connsiteX1" fmla="*/ 3630220 w 8986717"/>
                <a:gd name="connsiteY1" fmla="*/ 1241472 h 5366748"/>
                <a:gd name="connsiteX2" fmla="*/ 8986717 w 8986717"/>
                <a:gd name="connsiteY2" fmla="*/ 0 h 5366748"/>
                <a:gd name="connsiteX0" fmla="*/ 0 w 8986717"/>
                <a:gd name="connsiteY0" fmla="*/ 5366748 h 5366748"/>
                <a:gd name="connsiteX1" fmla="*/ 3630220 w 8986717"/>
                <a:gd name="connsiteY1" fmla="*/ 1241472 h 5366748"/>
                <a:gd name="connsiteX2" fmla="*/ 8986717 w 8986717"/>
                <a:gd name="connsiteY2" fmla="*/ 0 h 5366748"/>
                <a:gd name="connsiteX0" fmla="*/ 0 w 8986717"/>
                <a:gd name="connsiteY0" fmla="*/ 5366748 h 5366748"/>
                <a:gd name="connsiteX1" fmla="*/ 3630220 w 8986717"/>
                <a:gd name="connsiteY1" fmla="*/ 1241472 h 5366748"/>
                <a:gd name="connsiteX2" fmla="*/ 8986717 w 8986717"/>
                <a:gd name="connsiteY2" fmla="*/ 0 h 5366748"/>
                <a:gd name="connsiteX0" fmla="*/ 0 w 8986717"/>
                <a:gd name="connsiteY0" fmla="*/ 5366748 h 5366748"/>
                <a:gd name="connsiteX1" fmla="*/ 3630220 w 8986717"/>
                <a:gd name="connsiteY1" fmla="*/ 1241472 h 5366748"/>
                <a:gd name="connsiteX2" fmla="*/ 8986717 w 8986717"/>
                <a:gd name="connsiteY2" fmla="*/ 0 h 5366748"/>
                <a:gd name="connsiteX0" fmla="*/ 0 w 8986717"/>
                <a:gd name="connsiteY0" fmla="*/ 5366748 h 5366748"/>
                <a:gd name="connsiteX1" fmla="*/ 3709262 w 8986717"/>
                <a:gd name="connsiteY1" fmla="*/ 1347632 h 5366748"/>
                <a:gd name="connsiteX2" fmla="*/ 8986717 w 8986717"/>
                <a:gd name="connsiteY2" fmla="*/ 0 h 5366748"/>
                <a:gd name="connsiteX0" fmla="*/ 0 w 8986717"/>
                <a:gd name="connsiteY0" fmla="*/ 5366748 h 5366748"/>
                <a:gd name="connsiteX1" fmla="*/ 3709262 w 8986717"/>
                <a:gd name="connsiteY1" fmla="*/ 1347632 h 5366748"/>
                <a:gd name="connsiteX2" fmla="*/ 8986717 w 8986717"/>
                <a:gd name="connsiteY2" fmla="*/ 0 h 5366748"/>
                <a:gd name="connsiteX0" fmla="*/ 0 w 8986717"/>
                <a:gd name="connsiteY0" fmla="*/ 5366748 h 5366748"/>
                <a:gd name="connsiteX1" fmla="*/ 3709262 w 8986717"/>
                <a:gd name="connsiteY1" fmla="*/ 1347632 h 5366748"/>
                <a:gd name="connsiteX2" fmla="*/ 8986717 w 8986717"/>
                <a:gd name="connsiteY2" fmla="*/ 0 h 5366748"/>
                <a:gd name="connsiteX0" fmla="*/ 0 w 8986717"/>
                <a:gd name="connsiteY0" fmla="*/ 5366748 h 5366748"/>
                <a:gd name="connsiteX1" fmla="*/ 3709262 w 8986717"/>
                <a:gd name="connsiteY1" fmla="*/ 1347632 h 5366748"/>
                <a:gd name="connsiteX2" fmla="*/ 8986717 w 8986717"/>
                <a:gd name="connsiteY2" fmla="*/ 0 h 5366748"/>
                <a:gd name="connsiteX0" fmla="*/ 0 w 8986717"/>
                <a:gd name="connsiteY0" fmla="*/ 5462734 h 5462734"/>
                <a:gd name="connsiteX1" fmla="*/ 3709262 w 8986717"/>
                <a:gd name="connsiteY1" fmla="*/ 1443618 h 5462734"/>
                <a:gd name="connsiteX2" fmla="*/ 8986717 w 8986717"/>
                <a:gd name="connsiteY2" fmla="*/ 0 h 5462734"/>
              </a:gdLst>
              <a:ahLst/>
              <a:cxnLst>
                <a:cxn ang="0">
                  <a:pos x="connsiteX0" y="connsiteY0"/>
                </a:cxn>
                <a:cxn ang="0">
                  <a:pos x="connsiteX1" y="connsiteY1"/>
                </a:cxn>
                <a:cxn ang="0">
                  <a:pos x="connsiteX2" y="connsiteY2"/>
                </a:cxn>
              </a:cxnLst>
              <a:rect l="l" t="t" r="r" b="b"/>
              <a:pathLst>
                <a:path w="8986717" h="5462734">
                  <a:moveTo>
                    <a:pt x="0" y="5462734"/>
                  </a:moveTo>
                  <a:cubicBezTo>
                    <a:pt x="804860" y="3252863"/>
                    <a:pt x="2778385" y="1987267"/>
                    <a:pt x="3709262" y="1443618"/>
                  </a:cubicBezTo>
                  <a:cubicBezTo>
                    <a:pt x="5361416" y="642164"/>
                    <a:pt x="7921792" y="93690"/>
                    <a:pt x="8986717" y="0"/>
                  </a:cubicBezTo>
                </a:path>
              </a:pathLst>
            </a:custGeom>
            <a:noFill/>
            <a:ln w="25400" cap="flat" cmpd="sng" algn="ctr">
              <a:solidFill>
                <a:srgbClr val="FFFFFF"/>
              </a:solidFill>
              <a:prstDash val="dash"/>
              <a:miter lim="800000"/>
            </a:ln>
            <a:effectLst/>
          </p:spPr>
          <p:txBody>
            <a:bodyPr rtlCol="0" anchor="ctr"/>
            <a:lstStyle/>
            <a:p>
              <a:pPr algn="ctr" defTabSz="685577">
                <a:defRPr/>
              </a:pPr>
              <a:endParaRPr lang="en-US" sz="1350" kern="0">
                <a:solidFill>
                  <a:prstClr val="white"/>
                </a:solidFill>
                <a:latin typeface="Calibri" panose="020F0502020204030204"/>
                <a:cs typeface="Arial" panose="020B0604020202020204" pitchFamily="34" charset="0"/>
              </a:endParaRPr>
            </a:p>
          </p:txBody>
        </p:sp>
      </p:grpSp>
      <p:sp>
        <p:nvSpPr>
          <p:cNvPr id="2" name="Title 1">
            <a:extLst>
              <a:ext uri="{FF2B5EF4-FFF2-40B4-BE49-F238E27FC236}">
                <a16:creationId xmlns:a16="http://schemas.microsoft.com/office/drawing/2014/main" id="{7FC055CD-B7EE-2556-4493-CA2F47E51CB2}"/>
              </a:ext>
            </a:extLst>
          </p:cNvPr>
          <p:cNvSpPr>
            <a:spLocks noGrp="1"/>
          </p:cNvSpPr>
          <p:nvPr>
            <p:ph type="title"/>
          </p:nvPr>
        </p:nvSpPr>
        <p:spPr/>
        <p:txBody>
          <a:bodyPr/>
          <a:lstStyle/>
          <a:p>
            <a:r>
              <a:rPr lang="en-US" sz="2799">
                <a:solidFill>
                  <a:schemeClr val="accent1"/>
                </a:solidFill>
              </a:rPr>
              <a:t>Research Roadmap</a:t>
            </a:r>
          </a:p>
        </p:txBody>
      </p:sp>
      <p:cxnSp>
        <p:nvCxnSpPr>
          <p:cNvPr id="47" name="Straight Connector 46">
            <a:extLst>
              <a:ext uri="{FF2B5EF4-FFF2-40B4-BE49-F238E27FC236}">
                <a16:creationId xmlns:a16="http://schemas.microsoft.com/office/drawing/2014/main" id="{86550CC9-B949-BBAD-59F5-709EAEDC144C}"/>
              </a:ext>
            </a:extLst>
          </p:cNvPr>
          <p:cNvCxnSpPr>
            <a:cxnSpLocks/>
          </p:cNvCxnSpPr>
          <p:nvPr/>
        </p:nvCxnSpPr>
        <p:spPr bwMode="gray">
          <a:xfrm>
            <a:off x="1587" y="6142091"/>
            <a:ext cx="12185650" cy="0"/>
          </a:xfrm>
          <a:prstGeom prst="line">
            <a:avLst/>
          </a:prstGeom>
          <a:noFill/>
          <a:ln w="38100" cap="rnd">
            <a:solidFill>
              <a:schemeClr val="accent1">
                <a:lumMod val="20000"/>
                <a:lumOff val="80000"/>
              </a:schemeClr>
            </a:solidFill>
            <a:prstDash val="solid"/>
            <a:round/>
            <a:headEnd/>
            <a:tailEnd/>
          </a:ln>
          <a:effectLst/>
        </p:spPr>
      </p:cxnSp>
      <p:sp>
        <p:nvSpPr>
          <p:cNvPr id="41" name="TextBox 40">
            <a:extLst>
              <a:ext uri="{FF2B5EF4-FFF2-40B4-BE49-F238E27FC236}">
                <a16:creationId xmlns:a16="http://schemas.microsoft.com/office/drawing/2014/main" id="{5C9C0E0A-D054-14E5-671A-7B3229408EA6}"/>
              </a:ext>
            </a:extLst>
          </p:cNvPr>
          <p:cNvSpPr txBox="1"/>
          <p:nvPr/>
        </p:nvSpPr>
        <p:spPr bwMode="gray">
          <a:xfrm>
            <a:off x="9747651" y="971959"/>
            <a:ext cx="1834285" cy="966657"/>
          </a:xfrm>
          <a:prstGeom prst="rect">
            <a:avLst/>
          </a:prstGeom>
        </p:spPr>
        <p:txBody>
          <a:bodyPr wrap="square" lIns="45708" tIns="45708" rIns="45708" bIns="45708" rtlCol="0" anchor="ctr">
            <a:noAutofit/>
          </a:bodyPr>
          <a:lstStyle>
            <a:defPPr>
              <a:defRPr lang="en-US"/>
            </a:defPPr>
            <a:lvl1pPr algn="ctr">
              <a:lnSpc>
                <a:spcPct val="90000"/>
              </a:lnSpc>
              <a:spcBef>
                <a:spcPts val="1000"/>
              </a:spcBef>
              <a:defRPr sz="1400" b="1" cap="small"/>
            </a:lvl1pPr>
          </a:lstStyle>
          <a:p>
            <a:pPr>
              <a:spcBef>
                <a:spcPts val="600"/>
              </a:spcBef>
              <a:defRPr/>
            </a:pPr>
            <a:r>
              <a:rPr lang="en-US" sz="1799" cap="none">
                <a:solidFill>
                  <a:srgbClr val="0000C9"/>
                </a:solidFill>
                <a:latin typeface="Arial" panose="020B0604020202020204"/>
              </a:rPr>
              <a:t>Wave 5</a:t>
            </a:r>
            <a:r>
              <a:rPr lang="en-US" sz="1799" cap="none">
                <a:solidFill>
                  <a:srgbClr val="FFFFFF">
                    <a:lumMod val="50000"/>
                  </a:srgbClr>
                </a:solidFill>
                <a:latin typeface="Arial" panose="020B0604020202020204"/>
              </a:rPr>
              <a:t> </a:t>
            </a:r>
          </a:p>
          <a:p>
            <a:pPr>
              <a:spcBef>
                <a:spcPts val="600"/>
              </a:spcBef>
              <a:defRPr/>
            </a:pPr>
            <a:r>
              <a:rPr lang="en-US" cap="none">
                <a:solidFill>
                  <a:srgbClr val="FFFFFF">
                    <a:lumMod val="50000"/>
                  </a:srgbClr>
                </a:solidFill>
                <a:latin typeface="Arial" panose="020B0604020202020204"/>
              </a:rPr>
              <a:t>(Full)</a:t>
            </a:r>
          </a:p>
          <a:p>
            <a:pPr>
              <a:spcBef>
                <a:spcPts val="600"/>
              </a:spcBef>
              <a:defRPr/>
            </a:pPr>
            <a:r>
              <a:rPr lang="en-US" cap="none">
                <a:solidFill>
                  <a:srgbClr val="000000"/>
                </a:solidFill>
                <a:latin typeface="Arial" panose="020B0604020202020204"/>
              </a:rPr>
              <a:t>September 2025</a:t>
            </a:r>
          </a:p>
        </p:txBody>
      </p:sp>
      <p:grpSp>
        <p:nvGrpSpPr>
          <p:cNvPr id="51" name="Group 50">
            <a:extLst>
              <a:ext uri="{FF2B5EF4-FFF2-40B4-BE49-F238E27FC236}">
                <a16:creationId xmlns:a16="http://schemas.microsoft.com/office/drawing/2014/main" id="{924B89C1-FB80-CC42-F444-5B7ED4D91706}"/>
              </a:ext>
            </a:extLst>
          </p:cNvPr>
          <p:cNvGrpSpPr/>
          <p:nvPr/>
        </p:nvGrpSpPr>
        <p:grpSpPr>
          <a:xfrm>
            <a:off x="10344835" y="4386418"/>
            <a:ext cx="639913" cy="639913"/>
            <a:chOff x="10182464" y="3824076"/>
            <a:chExt cx="1046261" cy="1046261"/>
          </a:xfrm>
        </p:grpSpPr>
        <p:sp>
          <p:nvSpPr>
            <p:cNvPr id="52" name="Teardrop 51">
              <a:extLst>
                <a:ext uri="{FF2B5EF4-FFF2-40B4-BE49-F238E27FC236}">
                  <a16:creationId xmlns:a16="http://schemas.microsoft.com/office/drawing/2014/main" id="{99645B94-3EA8-2A61-6294-0F09E95B92C9}"/>
                </a:ext>
              </a:extLst>
            </p:cNvPr>
            <p:cNvSpPr/>
            <p:nvPr/>
          </p:nvSpPr>
          <p:spPr>
            <a:xfrm rot="8159609">
              <a:off x="10182464" y="3824076"/>
              <a:ext cx="1046261" cy="1046261"/>
            </a:xfrm>
            <a:prstGeom prst="teardrop">
              <a:avLst/>
            </a:prstGeom>
            <a:solidFill>
              <a:schemeClr val="accent1"/>
            </a:solidFill>
            <a:ln w="38100" cap="flat" cmpd="sng" algn="ctr">
              <a:solidFill>
                <a:sysClr val="window" lastClr="FFFFFF"/>
              </a:solidFill>
              <a:prstDash val="solid"/>
              <a:miter lim="800000"/>
            </a:ln>
            <a:effectLst/>
          </p:spPr>
          <p:txBody>
            <a:bodyPr rtlCol="0" anchor="ctr"/>
            <a:lstStyle/>
            <a:p>
              <a:pPr algn="ctr">
                <a:defRPr/>
              </a:pPr>
              <a:endParaRPr lang="en-IN" sz="1799" kern="0">
                <a:solidFill>
                  <a:srgbClr val="FFFFFF"/>
                </a:solidFill>
                <a:latin typeface="Arial" panose="020B0604020202020204"/>
              </a:endParaRPr>
            </a:p>
          </p:txBody>
        </p:sp>
        <p:sp>
          <p:nvSpPr>
            <p:cNvPr id="53" name="Oval 52">
              <a:extLst>
                <a:ext uri="{FF2B5EF4-FFF2-40B4-BE49-F238E27FC236}">
                  <a16:creationId xmlns:a16="http://schemas.microsoft.com/office/drawing/2014/main" id="{BC14C856-F641-AEDC-0BC3-8FD53536DA7C}"/>
                </a:ext>
              </a:extLst>
            </p:cNvPr>
            <p:cNvSpPr/>
            <p:nvPr/>
          </p:nvSpPr>
          <p:spPr>
            <a:xfrm>
              <a:off x="10277660" y="3919272"/>
              <a:ext cx="855868" cy="855868"/>
            </a:xfrm>
            <a:prstGeom prst="ellipse">
              <a:avLst/>
            </a:prstGeom>
            <a:solidFill>
              <a:srgbClr val="FFFFFF"/>
            </a:solidFill>
            <a:ln w="25400" cap="flat" cmpd="sng" algn="ctr">
              <a:noFill/>
              <a:prstDash val="solid"/>
              <a:miter lim="800000"/>
            </a:ln>
            <a:effectLst>
              <a:outerShdw blurRad="50800" dist="38100" dir="8100000" algn="tr" rotWithShape="0">
                <a:prstClr val="black">
                  <a:alpha val="15000"/>
                </a:prstClr>
              </a:outerShdw>
            </a:effectLst>
          </p:spPr>
          <p:txBody>
            <a:bodyPr rtlCol="0" anchor="ctr"/>
            <a:lstStyle/>
            <a:p>
              <a:pPr algn="ctr">
                <a:defRPr/>
              </a:pPr>
              <a:endParaRPr lang="en-IN" sz="1799" kern="0">
                <a:solidFill>
                  <a:srgbClr val="FFFFFF"/>
                </a:solidFill>
                <a:latin typeface="Arial" panose="020B0604020202020204"/>
              </a:endParaRPr>
            </a:p>
          </p:txBody>
        </p:sp>
        <p:pic>
          <p:nvPicPr>
            <p:cNvPr id="54" name="Graphic 53" descr="Badge 5 with solid fill">
              <a:extLst>
                <a:ext uri="{FF2B5EF4-FFF2-40B4-BE49-F238E27FC236}">
                  <a16:creationId xmlns:a16="http://schemas.microsoft.com/office/drawing/2014/main" id="{0E3DD745-4267-627C-2030-1D4CBCF35A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48394" y="3890006"/>
              <a:ext cx="914400" cy="914400"/>
            </a:xfrm>
            <a:prstGeom prst="rect">
              <a:avLst/>
            </a:prstGeom>
          </p:spPr>
        </p:pic>
      </p:grpSp>
      <p:sp>
        <p:nvSpPr>
          <p:cNvPr id="40" name="TextBox 39">
            <a:extLst>
              <a:ext uri="{FF2B5EF4-FFF2-40B4-BE49-F238E27FC236}">
                <a16:creationId xmlns:a16="http://schemas.microsoft.com/office/drawing/2014/main" id="{E2FFCB74-DCE1-364D-AB4E-3AB357CC8FDD}"/>
              </a:ext>
            </a:extLst>
          </p:cNvPr>
          <p:cNvSpPr txBox="1"/>
          <p:nvPr/>
        </p:nvSpPr>
        <p:spPr bwMode="gray">
          <a:xfrm>
            <a:off x="7358702" y="971959"/>
            <a:ext cx="1834285" cy="966657"/>
          </a:xfrm>
          <a:prstGeom prst="rect">
            <a:avLst/>
          </a:prstGeom>
        </p:spPr>
        <p:txBody>
          <a:bodyPr wrap="square" lIns="45708" tIns="45708" rIns="45708" bIns="45708" rtlCol="0" anchor="ctr">
            <a:noAutofit/>
          </a:bodyPr>
          <a:lstStyle>
            <a:defPPr>
              <a:defRPr lang="en-US"/>
            </a:defPPr>
            <a:lvl1pPr algn="ctr">
              <a:lnSpc>
                <a:spcPct val="90000"/>
              </a:lnSpc>
              <a:spcBef>
                <a:spcPts val="1000"/>
              </a:spcBef>
              <a:defRPr sz="1400" b="1" cap="small"/>
            </a:lvl1pPr>
          </a:lstStyle>
          <a:p>
            <a:pPr>
              <a:spcBef>
                <a:spcPts val="600"/>
              </a:spcBef>
              <a:defRPr/>
            </a:pPr>
            <a:r>
              <a:rPr lang="en-US" sz="1799" cap="none">
                <a:solidFill>
                  <a:srgbClr val="7F7F7F"/>
                </a:solidFill>
                <a:latin typeface="Arial" panose="020B0604020202020204"/>
              </a:rPr>
              <a:t>Wave 4 </a:t>
            </a:r>
          </a:p>
          <a:p>
            <a:pPr>
              <a:spcBef>
                <a:spcPts val="600"/>
              </a:spcBef>
              <a:defRPr/>
            </a:pPr>
            <a:r>
              <a:rPr lang="en-US" cap="none">
                <a:solidFill>
                  <a:srgbClr val="7F7F7F"/>
                </a:solidFill>
                <a:latin typeface="Arial" panose="020B0604020202020204"/>
              </a:rPr>
              <a:t>(Full)</a:t>
            </a:r>
          </a:p>
          <a:p>
            <a:pPr>
              <a:spcBef>
                <a:spcPts val="600"/>
              </a:spcBef>
              <a:defRPr/>
            </a:pPr>
            <a:r>
              <a:rPr lang="en-US" cap="none">
                <a:solidFill>
                  <a:srgbClr val="7F7F7F"/>
                </a:solidFill>
                <a:latin typeface="Arial" panose="020B0604020202020204"/>
              </a:rPr>
              <a:t>September 2024</a:t>
            </a:r>
          </a:p>
        </p:txBody>
      </p:sp>
      <p:grpSp>
        <p:nvGrpSpPr>
          <p:cNvPr id="55" name="Group 54">
            <a:extLst>
              <a:ext uri="{FF2B5EF4-FFF2-40B4-BE49-F238E27FC236}">
                <a16:creationId xmlns:a16="http://schemas.microsoft.com/office/drawing/2014/main" id="{E23537A5-5AD8-EE1B-64FD-92F83CA40D07}"/>
              </a:ext>
            </a:extLst>
          </p:cNvPr>
          <p:cNvGrpSpPr/>
          <p:nvPr/>
        </p:nvGrpSpPr>
        <p:grpSpPr>
          <a:xfrm>
            <a:off x="7955886" y="4386418"/>
            <a:ext cx="639913" cy="639913"/>
            <a:chOff x="7555361" y="3824076"/>
            <a:chExt cx="1046261" cy="1046261"/>
          </a:xfrm>
        </p:grpSpPr>
        <p:sp>
          <p:nvSpPr>
            <p:cNvPr id="56" name="Teardrop 55">
              <a:extLst>
                <a:ext uri="{FF2B5EF4-FFF2-40B4-BE49-F238E27FC236}">
                  <a16:creationId xmlns:a16="http://schemas.microsoft.com/office/drawing/2014/main" id="{D9CD3B70-70C8-110E-4470-E2D0674F6AB6}"/>
                </a:ext>
              </a:extLst>
            </p:cNvPr>
            <p:cNvSpPr/>
            <p:nvPr/>
          </p:nvSpPr>
          <p:spPr>
            <a:xfrm rot="8159609">
              <a:off x="7555361" y="3824076"/>
              <a:ext cx="1046261" cy="1046261"/>
            </a:xfrm>
            <a:prstGeom prst="teardrop">
              <a:avLst/>
            </a:prstGeom>
            <a:solidFill>
              <a:schemeClr val="accent1"/>
            </a:solidFill>
            <a:ln w="38100" cap="flat" cmpd="sng" algn="ctr">
              <a:solidFill>
                <a:sysClr val="window" lastClr="FFFFFF"/>
              </a:solidFill>
              <a:prstDash val="solid"/>
              <a:miter lim="800000"/>
            </a:ln>
            <a:effectLst/>
          </p:spPr>
          <p:txBody>
            <a:bodyPr rtlCol="0" anchor="ctr"/>
            <a:lstStyle/>
            <a:p>
              <a:pPr algn="ctr">
                <a:defRPr/>
              </a:pPr>
              <a:endParaRPr lang="en-IN" sz="1799" kern="0">
                <a:solidFill>
                  <a:srgbClr val="FFFFFF"/>
                </a:solidFill>
                <a:latin typeface="Arial" panose="020B0604020202020204"/>
              </a:endParaRPr>
            </a:p>
          </p:txBody>
        </p:sp>
        <p:sp>
          <p:nvSpPr>
            <p:cNvPr id="57" name="Oval 56">
              <a:extLst>
                <a:ext uri="{FF2B5EF4-FFF2-40B4-BE49-F238E27FC236}">
                  <a16:creationId xmlns:a16="http://schemas.microsoft.com/office/drawing/2014/main" id="{F6482B3F-10EA-122C-0B83-A78BBEE85E67}"/>
                </a:ext>
              </a:extLst>
            </p:cNvPr>
            <p:cNvSpPr/>
            <p:nvPr/>
          </p:nvSpPr>
          <p:spPr>
            <a:xfrm>
              <a:off x="7650557" y="3919272"/>
              <a:ext cx="855868" cy="855868"/>
            </a:xfrm>
            <a:prstGeom prst="ellipse">
              <a:avLst/>
            </a:prstGeom>
            <a:solidFill>
              <a:srgbClr val="FFFFFF"/>
            </a:solidFill>
            <a:ln w="25400" cap="flat" cmpd="sng" algn="ctr">
              <a:noFill/>
              <a:prstDash val="solid"/>
              <a:miter lim="800000"/>
            </a:ln>
            <a:effectLst>
              <a:outerShdw blurRad="50800" dist="38100" dir="8100000" algn="tr" rotWithShape="0">
                <a:prstClr val="black">
                  <a:alpha val="15000"/>
                </a:prstClr>
              </a:outerShdw>
            </a:effectLst>
          </p:spPr>
          <p:txBody>
            <a:bodyPr rtlCol="0" anchor="ctr"/>
            <a:lstStyle/>
            <a:p>
              <a:pPr algn="ctr">
                <a:defRPr/>
              </a:pPr>
              <a:endParaRPr lang="en-IN" sz="1799" kern="0">
                <a:solidFill>
                  <a:srgbClr val="FFFFFF"/>
                </a:solidFill>
                <a:latin typeface="Arial" panose="020B0604020202020204"/>
              </a:endParaRPr>
            </a:p>
          </p:txBody>
        </p:sp>
        <p:pic>
          <p:nvPicPr>
            <p:cNvPr id="58" name="Graphic 57" descr="Badge 4 with solid fill">
              <a:extLst>
                <a:ext uri="{FF2B5EF4-FFF2-40B4-BE49-F238E27FC236}">
                  <a16:creationId xmlns:a16="http://schemas.microsoft.com/office/drawing/2014/main" id="{5AEB8559-0C85-7843-511B-A2D54AE8CC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21291" y="3890006"/>
              <a:ext cx="914400" cy="914400"/>
            </a:xfrm>
            <a:prstGeom prst="rect">
              <a:avLst/>
            </a:prstGeom>
          </p:spPr>
        </p:pic>
      </p:grpSp>
      <p:sp>
        <p:nvSpPr>
          <p:cNvPr id="39" name="TextBox 38">
            <a:extLst>
              <a:ext uri="{FF2B5EF4-FFF2-40B4-BE49-F238E27FC236}">
                <a16:creationId xmlns:a16="http://schemas.microsoft.com/office/drawing/2014/main" id="{648EF13E-BC18-D1CE-F8B7-09DDBCB0878E}"/>
              </a:ext>
            </a:extLst>
          </p:cNvPr>
          <p:cNvSpPr txBox="1"/>
          <p:nvPr/>
        </p:nvSpPr>
        <p:spPr bwMode="gray">
          <a:xfrm>
            <a:off x="5056621" y="971959"/>
            <a:ext cx="1834285" cy="966657"/>
          </a:xfrm>
          <a:prstGeom prst="rect">
            <a:avLst/>
          </a:prstGeom>
        </p:spPr>
        <p:txBody>
          <a:bodyPr wrap="square" lIns="45708" tIns="45708" rIns="45708" bIns="45708" rtlCol="0" anchor="ctr">
            <a:noAutofit/>
          </a:bodyPr>
          <a:lstStyle>
            <a:defPPr>
              <a:defRPr lang="en-US"/>
            </a:defPPr>
            <a:lvl1pPr algn="ctr">
              <a:lnSpc>
                <a:spcPct val="90000"/>
              </a:lnSpc>
              <a:spcBef>
                <a:spcPts val="1000"/>
              </a:spcBef>
              <a:defRPr sz="1400" b="1" cap="small"/>
            </a:lvl1pPr>
          </a:lstStyle>
          <a:p>
            <a:pPr>
              <a:spcBef>
                <a:spcPts val="600"/>
              </a:spcBef>
              <a:defRPr/>
            </a:pPr>
            <a:r>
              <a:rPr lang="en-US" sz="1799" cap="none">
                <a:solidFill>
                  <a:srgbClr val="FFFFFF">
                    <a:lumMod val="50000"/>
                  </a:srgbClr>
                </a:solidFill>
                <a:latin typeface="Arial" panose="020B0604020202020204"/>
              </a:rPr>
              <a:t>Wave 3 </a:t>
            </a:r>
          </a:p>
          <a:p>
            <a:pPr>
              <a:spcBef>
                <a:spcPts val="600"/>
              </a:spcBef>
              <a:defRPr/>
            </a:pPr>
            <a:r>
              <a:rPr lang="en-US" cap="none">
                <a:solidFill>
                  <a:srgbClr val="FFFFFF">
                    <a:lumMod val="50000"/>
                  </a:srgbClr>
                </a:solidFill>
                <a:latin typeface="Arial" panose="020B0604020202020204"/>
              </a:rPr>
              <a:t>(</a:t>
            </a:r>
            <a:r>
              <a:rPr lang="en-US" cap="none">
                <a:solidFill>
                  <a:srgbClr val="7F7F7F"/>
                </a:solidFill>
                <a:latin typeface="Arial" panose="020B0604020202020204"/>
              </a:rPr>
              <a:t>Pulse</a:t>
            </a:r>
            <a:r>
              <a:rPr lang="en-US" cap="none">
                <a:solidFill>
                  <a:srgbClr val="FFFFFF">
                    <a:lumMod val="50000"/>
                  </a:srgbClr>
                </a:solidFill>
                <a:latin typeface="Arial" panose="020B0604020202020204"/>
              </a:rPr>
              <a:t>)</a:t>
            </a:r>
          </a:p>
          <a:p>
            <a:pPr>
              <a:spcBef>
                <a:spcPts val="600"/>
              </a:spcBef>
              <a:defRPr/>
            </a:pPr>
            <a:r>
              <a:rPr lang="en-US" cap="none">
                <a:solidFill>
                  <a:srgbClr val="FFFFFF">
                    <a:lumMod val="50000"/>
                  </a:srgbClr>
                </a:solidFill>
                <a:latin typeface="Arial" panose="020B0604020202020204"/>
              </a:rPr>
              <a:t>June 2024</a:t>
            </a:r>
          </a:p>
        </p:txBody>
      </p:sp>
      <p:grpSp>
        <p:nvGrpSpPr>
          <p:cNvPr id="59" name="Group 58">
            <a:extLst>
              <a:ext uri="{FF2B5EF4-FFF2-40B4-BE49-F238E27FC236}">
                <a16:creationId xmlns:a16="http://schemas.microsoft.com/office/drawing/2014/main" id="{D555944D-FC6E-E69C-DEC5-38F8B1A8BC4F}"/>
              </a:ext>
            </a:extLst>
          </p:cNvPr>
          <p:cNvGrpSpPr/>
          <p:nvPr/>
        </p:nvGrpSpPr>
        <p:grpSpPr>
          <a:xfrm>
            <a:off x="5653805" y="4523684"/>
            <a:ext cx="639913" cy="639913"/>
            <a:chOff x="5185352" y="3824076"/>
            <a:chExt cx="1046261" cy="1046261"/>
          </a:xfrm>
        </p:grpSpPr>
        <p:sp>
          <p:nvSpPr>
            <p:cNvPr id="60" name="Teardrop 59">
              <a:extLst>
                <a:ext uri="{FF2B5EF4-FFF2-40B4-BE49-F238E27FC236}">
                  <a16:creationId xmlns:a16="http://schemas.microsoft.com/office/drawing/2014/main" id="{DF1B7F03-5CD1-F8E3-0129-D5CC1FEA5838}"/>
                </a:ext>
              </a:extLst>
            </p:cNvPr>
            <p:cNvSpPr/>
            <p:nvPr/>
          </p:nvSpPr>
          <p:spPr>
            <a:xfrm rot="8159609">
              <a:off x="5185352" y="3824076"/>
              <a:ext cx="1046261" cy="1046261"/>
            </a:xfrm>
            <a:prstGeom prst="teardrop">
              <a:avLst/>
            </a:prstGeom>
            <a:solidFill>
              <a:schemeClr val="accent1"/>
            </a:solidFill>
            <a:ln w="38100" cap="flat" cmpd="sng" algn="ctr">
              <a:solidFill>
                <a:sysClr val="window" lastClr="FFFFFF"/>
              </a:solidFill>
              <a:prstDash val="solid"/>
              <a:miter lim="800000"/>
            </a:ln>
            <a:effectLst/>
          </p:spPr>
          <p:txBody>
            <a:bodyPr rtlCol="0" anchor="ctr"/>
            <a:lstStyle/>
            <a:p>
              <a:pPr algn="ctr">
                <a:defRPr/>
              </a:pPr>
              <a:endParaRPr lang="en-IN" sz="1799" kern="0">
                <a:solidFill>
                  <a:srgbClr val="FFFFFF"/>
                </a:solidFill>
                <a:latin typeface="Arial" panose="020B0604020202020204"/>
              </a:endParaRPr>
            </a:p>
          </p:txBody>
        </p:sp>
        <p:sp>
          <p:nvSpPr>
            <p:cNvPr id="61" name="Oval 60">
              <a:extLst>
                <a:ext uri="{FF2B5EF4-FFF2-40B4-BE49-F238E27FC236}">
                  <a16:creationId xmlns:a16="http://schemas.microsoft.com/office/drawing/2014/main" id="{47F17942-5926-0619-73F7-FA72CD9EC3F0}"/>
                </a:ext>
              </a:extLst>
            </p:cNvPr>
            <p:cNvSpPr/>
            <p:nvPr/>
          </p:nvSpPr>
          <p:spPr>
            <a:xfrm>
              <a:off x="5280549" y="3919272"/>
              <a:ext cx="855868" cy="855868"/>
            </a:xfrm>
            <a:prstGeom prst="ellipse">
              <a:avLst/>
            </a:prstGeom>
            <a:solidFill>
              <a:srgbClr val="FFFFFF"/>
            </a:solidFill>
            <a:ln w="25400" cap="flat" cmpd="sng" algn="ctr">
              <a:noFill/>
              <a:prstDash val="solid"/>
              <a:miter lim="800000"/>
            </a:ln>
            <a:effectLst>
              <a:outerShdw blurRad="50800" dist="38100" dir="8100000" algn="tr" rotWithShape="0">
                <a:prstClr val="black">
                  <a:alpha val="15000"/>
                </a:prstClr>
              </a:outerShdw>
            </a:effectLst>
          </p:spPr>
          <p:txBody>
            <a:bodyPr rtlCol="0" anchor="ctr"/>
            <a:lstStyle/>
            <a:p>
              <a:pPr algn="ctr">
                <a:defRPr/>
              </a:pPr>
              <a:endParaRPr lang="en-IN" sz="1799" kern="0">
                <a:solidFill>
                  <a:srgbClr val="FFFFFF"/>
                </a:solidFill>
                <a:latin typeface="Arial" panose="020B0604020202020204"/>
              </a:endParaRPr>
            </a:p>
          </p:txBody>
        </p:sp>
        <p:pic>
          <p:nvPicPr>
            <p:cNvPr id="62" name="Graphic 61" descr="Badge 3 with solid fill">
              <a:extLst>
                <a:ext uri="{FF2B5EF4-FFF2-40B4-BE49-F238E27FC236}">
                  <a16:creationId xmlns:a16="http://schemas.microsoft.com/office/drawing/2014/main" id="{BA1DA222-B42C-AC7E-7327-90A13F96E48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51282" y="3890006"/>
              <a:ext cx="914400" cy="914400"/>
            </a:xfrm>
            <a:prstGeom prst="rect">
              <a:avLst/>
            </a:prstGeom>
          </p:spPr>
        </p:pic>
      </p:grpSp>
      <p:sp>
        <p:nvSpPr>
          <p:cNvPr id="38" name="TextBox 37">
            <a:extLst>
              <a:ext uri="{FF2B5EF4-FFF2-40B4-BE49-F238E27FC236}">
                <a16:creationId xmlns:a16="http://schemas.microsoft.com/office/drawing/2014/main" id="{4C16C0E1-B36C-D9D3-91A6-738183F9F475}"/>
              </a:ext>
            </a:extLst>
          </p:cNvPr>
          <p:cNvSpPr txBox="1"/>
          <p:nvPr/>
        </p:nvSpPr>
        <p:spPr bwMode="gray">
          <a:xfrm>
            <a:off x="2790279" y="971959"/>
            <a:ext cx="1834285" cy="966657"/>
          </a:xfrm>
          <a:prstGeom prst="rect">
            <a:avLst/>
          </a:prstGeom>
        </p:spPr>
        <p:txBody>
          <a:bodyPr wrap="square" lIns="45708" tIns="45708" rIns="45708" bIns="45708" rtlCol="0" anchor="ctr">
            <a:noAutofit/>
          </a:bodyPr>
          <a:lstStyle>
            <a:defPPr>
              <a:defRPr lang="en-US"/>
            </a:defPPr>
            <a:lvl1pPr algn="ctr">
              <a:lnSpc>
                <a:spcPct val="90000"/>
              </a:lnSpc>
              <a:spcBef>
                <a:spcPts val="1000"/>
              </a:spcBef>
              <a:defRPr sz="1400" b="1" cap="small"/>
            </a:lvl1pPr>
          </a:lstStyle>
          <a:p>
            <a:pPr>
              <a:spcBef>
                <a:spcPts val="600"/>
              </a:spcBef>
              <a:defRPr/>
            </a:pPr>
            <a:r>
              <a:rPr lang="en-US" sz="1799" cap="none">
                <a:solidFill>
                  <a:srgbClr val="FFFFFF">
                    <a:lumMod val="50000"/>
                  </a:srgbClr>
                </a:solidFill>
                <a:latin typeface="Arial" panose="020B0604020202020204"/>
              </a:rPr>
              <a:t>Wave 2 </a:t>
            </a:r>
          </a:p>
          <a:p>
            <a:pPr>
              <a:spcBef>
                <a:spcPts val="600"/>
              </a:spcBef>
              <a:defRPr/>
            </a:pPr>
            <a:r>
              <a:rPr lang="en-US" cap="none">
                <a:solidFill>
                  <a:srgbClr val="FFFFFF">
                    <a:lumMod val="50000"/>
                  </a:srgbClr>
                </a:solidFill>
                <a:latin typeface="Arial" panose="020B0604020202020204"/>
              </a:rPr>
              <a:t>(Pulse)</a:t>
            </a:r>
          </a:p>
          <a:p>
            <a:pPr>
              <a:spcBef>
                <a:spcPts val="600"/>
              </a:spcBef>
              <a:defRPr/>
            </a:pPr>
            <a:r>
              <a:rPr lang="en-US" cap="none">
                <a:solidFill>
                  <a:srgbClr val="FFFFFF">
                    <a:lumMod val="50000"/>
                  </a:srgbClr>
                </a:solidFill>
                <a:latin typeface="Arial" panose="020B0604020202020204"/>
              </a:rPr>
              <a:t>January 2024</a:t>
            </a:r>
          </a:p>
        </p:txBody>
      </p:sp>
      <p:grpSp>
        <p:nvGrpSpPr>
          <p:cNvPr id="63" name="Group 62">
            <a:extLst>
              <a:ext uri="{FF2B5EF4-FFF2-40B4-BE49-F238E27FC236}">
                <a16:creationId xmlns:a16="http://schemas.microsoft.com/office/drawing/2014/main" id="{EF82F7EB-0CF4-7948-3E63-C8A81C69CDA6}"/>
              </a:ext>
            </a:extLst>
          </p:cNvPr>
          <p:cNvGrpSpPr/>
          <p:nvPr/>
        </p:nvGrpSpPr>
        <p:grpSpPr>
          <a:xfrm>
            <a:off x="3387463" y="4728776"/>
            <a:ext cx="639913" cy="639913"/>
            <a:chOff x="3025228" y="3824076"/>
            <a:chExt cx="1046261" cy="1046261"/>
          </a:xfrm>
        </p:grpSpPr>
        <p:sp>
          <p:nvSpPr>
            <p:cNvPr id="64" name="Teardrop 63">
              <a:extLst>
                <a:ext uri="{FF2B5EF4-FFF2-40B4-BE49-F238E27FC236}">
                  <a16:creationId xmlns:a16="http://schemas.microsoft.com/office/drawing/2014/main" id="{4B21CBD3-95C5-02C1-4EEB-8DD046085375}"/>
                </a:ext>
              </a:extLst>
            </p:cNvPr>
            <p:cNvSpPr/>
            <p:nvPr/>
          </p:nvSpPr>
          <p:spPr>
            <a:xfrm rot="8159609">
              <a:off x="3025228" y="3824076"/>
              <a:ext cx="1046261" cy="1046261"/>
            </a:xfrm>
            <a:prstGeom prst="teardrop">
              <a:avLst/>
            </a:prstGeom>
            <a:solidFill>
              <a:schemeClr val="accent1"/>
            </a:solidFill>
            <a:ln w="38100" cap="flat" cmpd="sng" algn="ctr">
              <a:solidFill>
                <a:sysClr val="window" lastClr="FFFFFF"/>
              </a:solidFill>
              <a:prstDash val="solid"/>
              <a:miter lim="800000"/>
            </a:ln>
            <a:effectLst/>
          </p:spPr>
          <p:txBody>
            <a:bodyPr rtlCol="0" anchor="ctr"/>
            <a:lstStyle/>
            <a:p>
              <a:pPr algn="ctr">
                <a:defRPr/>
              </a:pPr>
              <a:endParaRPr lang="en-IN" sz="1799" kern="0">
                <a:solidFill>
                  <a:srgbClr val="FFFFFF"/>
                </a:solidFill>
                <a:latin typeface="Arial" panose="020B0604020202020204"/>
              </a:endParaRPr>
            </a:p>
          </p:txBody>
        </p:sp>
        <p:sp>
          <p:nvSpPr>
            <p:cNvPr id="65" name="Oval 64">
              <a:extLst>
                <a:ext uri="{FF2B5EF4-FFF2-40B4-BE49-F238E27FC236}">
                  <a16:creationId xmlns:a16="http://schemas.microsoft.com/office/drawing/2014/main" id="{FDAACBB5-C656-7299-1BAF-1C2F4709C873}"/>
                </a:ext>
              </a:extLst>
            </p:cNvPr>
            <p:cNvSpPr/>
            <p:nvPr/>
          </p:nvSpPr>
          <p:spPr>
            <a:xfrm>
              <a:off x="3120424" y="3919272"/>
              <a:ext cx="855868" cy="855868"/>
            </a:xfrm>
            <a:prstGeom prst="ellipse">
              <a:avLst/>
            </a:prstGeom>
            <a:solidFill>
              <a:srgbClr val="FFFFFF"/>
            </a:solidFill>
            <a:ln w="25400" cap="flat" cmpd="sng" algn="ctr">
              <a:noFill/>
              <a:prstDash val="solid"/>
              <a:miter lim="800000"/>
            </a:ln>
            <a:effectLst>
              <a:outerShdw blurRad="50800" dist="38100" dir="8100000" algn="tr" rotWithShape="0">
                <a:prstClr val="black">
                  <a:alpha val="15000"/>
                </a:prstClr>
              </a:outerShdw>
            </a:effectLst>
          </p:spPr>
          <p:txBody>
            <a:bodyPr rtlCol="0" anchor="ctr"/>
            <a:lstStyle/>
            <a:p>
              <a:pPr algn="ctr">
                <a:defRPr/>
              </a:pPr>
              <a:endParaRPr lang="en-IN" sz="1799" kern="0">
                <a:solidFill>
                  <a:srgbClr val="FFFFFF"/>
                </a:solidFill>
                <a:latin typeface="Arial" panose="020B0604020202020204"/>
              </a:endParaRPr>
            </a:p>
          </p:txBody>
        </p:sp>
        <p:pic>
          <p:nvPicPr>
            <p:cNvPr id="66" name="Graphic 65" descr="Badge with solid fill">
              <a:extLst>
                <a:ext uri="{FF2B5EF4-FFF2-40B4-BE49-F238E27FC236}">
                  <a16:creationId xmlns:a16="http://schemas.microsoft.com/office/drawing/2014/main" id="{C182E73E-A278-8776-2A29-A8CA176167C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091158" y="3890006"/>
              <a:ext cx="914400" cy="914400"/>
            </a:xfrm>
            <a:prstGeom prst="rect">
              <a:avLst/>
            </a:prstGeom>
          </p:spPr>
        </p:pic>
      </p:grpSp>
      <p:sp>
        <p:nvSpPr>
          <p:cNvPr id="37" name="TextBox 36">
            <a:extLst>
              <a:ext uri="{FF2B5EF4-FFF2-40B4-BE49-F238E27FC236}">
                <a16:creationId xmlns:a16="http://schemas.microsoft.com/office/drawing/2014/main" id="{95F50D8B-4704-E61B-AC84-8AA360089D3E}"/>
              </a:ext>
            </a:extLst>
          </p:cNvPr>
          <p:cNvSpPr txBox="1"/>
          <p:nvPr/>
        </p:nvSpPr>
        <p:spPr bwMode="gray">
          <a:xfrm>
            <a:off x="483487" y="971959"/>
            <a:ext cx="1834285" cy="966657"/>
          </a:xfrm>
          <a:prstGeom prst="rect">
            <a:avLst/>
          </a:prstGeom>
        </p:spPr>
        <p:txBody>
          <a:bodyPr wrap="square" lIns="45708" tIns="45708" rIns="45708" bIns="45708" rtlCol="0" anchor="ctr">
            <a:noAutofit/>
          </a:bodyPr>
          <a:lstStyle/>
          <a:p>
            <a:pPr algn="ctr">
              <a:lnSpc>
                <a:spcPct val="90000"/>
              </a:lnSpc>
              <a:spcBef>
                <a:spcPts val="600"/>
              </a:spcBef>
              <a:defRPr/>
            </a:pPr>
            <a:r>
              <a:rPr lang="en-US" sz="1799" b="1">
                <a:solidFill>
                  <a:srgbClr val="FFFFFF">
                    <a:lumMod val="50000"/>
                  </a:srgbClr>
                </a:solidFill>
                <a:latin typeface="Arial" panose="020B0604020202020204"/>
              </a:rPr>
              <a:t>Wave 1 </a:t>
            </a:r>
          </a:p>
          <a:p>
            <a:pPr algn="ctr">
              <a:lnSpc>
                <a:spcPct val="90000"/>
              </a:lnSpc>
              <a:spcBef>
                <a:spcPts val="600"/>
              </a:spcBef>
              <a:defRPr/>
            </a:pPr>
            <a:r>
              <a:rPr lang="en-US" sz="1400" b="1">
                <a:solidFill>
                  <a:srgbClr val="FFFFFF">
                    <a:lumMod val="50000"/>
                  </a:srgbClr>
                </a:solidFill>
                <a:latin typeface="Arial" panose="020B0604020202020204"/>
              </a:rPr>
              <a:t>(Full - Baseline)</a:t>
            </a:r>
          </a:p>
          <a:p>
            <a:pPr algn="ctr">
              <a:lnSpc>
                <a:spcPct val="90000"/>
              </a:lnSpc>
              <a:spcBef>
                <a:spcPts val="600"/>
              </a:spcBef>
              <a:defRPr/>
            </a:pPr>
            <a:r>
              <a:rPr lang="en-US" sz="1400" b="1">
                <a:solidFill>
                  <a:srgbClr val="FFFFFF">
                    <a:lumMod val="50000"/>
                  </a:srgbClr>
                </a:solidFill>
                <a:latin typeface="Arial" panose="020B0604020202020204"/>
              </a:rPr>
              <a:t>June 2023</a:t>
            </a:r>
          </a:p>
        </p:txBody>
      </p:sp>
      <p:grpSp>
        <p:nvGrpSpPr>
          <p:cNvPr id="67" name="Group 66">
            <a:extLst>
              <a:ext uri="{FF2B5EF4-FFF2-40B4-BE49-F238E27FC236}">
                <a16:creationId xmlns:a16="http://schemas.microsoft.com/office/drawing/2014/main" id="{0EADC85B-377A-DC84-72BB-25807411301C}"/>
              </a:ext>
            </a:extLst>
          </p:cNvPr>
          <p:cNvGrpSpPr/>
          <p:nvPr/>
        </p:nvGrpSpPr>
        <p:grpSpPr>
          <a:xfrm>
            <a:off x="1080671" y="5006365"/>
            <a:ext cx="639913" cy="639913"/>
            <a:chOff x="835838" y="3824076"/>
            <a:chExt cx="1046261" cy="1046261"/>
          </a:xfrm>
        </p:grpSpPr>
        <p:sp>
          <p:nvSpPr>
            <p:cNvPr id="68" name="Teardrop 67">
              <a:extLst>
                <a:ext uri="{FF2B5EF4-FFF2-40B4-BE49-F238E27FC236}">
                  <a16:creationId xmlns:a16="http://schemas.microsoft.com/office/drawing/2014/main" id="{3FCE3C54-1769-9F46-5573-BE7A0EE28043}"/>
                </a:ext>
              </a:extLst>
            </p:cNvPr>
            <p:cNvSpPr/>
            <p:nvPr/>
          </p:nvSpPr>
          <p:spPr>
            <a:xfrm rot="8159609">
              <a:off x="835838" y="3824076"/>
              <a:ext cx="1046261" cy="1046261"/>
            </a:xfrm>
            <a:prstGeom prst="teardrop">
              <a:avLst/>
            </a:prstGeom>
            <a:solidFill>
              <a:schemeClr val="accent1"/>
            </a:solidFill>
            <a:ln w="38100" cap="flat" cmpd="sng" algn="ctr">
              <a:solidFill>
                <a:sysClr val="window" lastClr="FFFFFF"/>
              </a:solidFill>
              <a:prstDash val="solid"/>
              <a:miter lim="800000"/>
            </a:ln>
            <a:effectLst/>
          </p:spPr>
          <p:txBody>
            <a:bodyPr rtlCol="0" anchor="ctr"/>
            <a:lstStyle/>
            <a:p>
              <a:pPr algn="ctr">
                <a:defRPr/>
              </a:pPr>
              <a:endParaRPr lang="en-IN" sz="1799" kern="0">
                <a:solidFill>
                  <a:srgbClr val="FFFFFF"/>
                </a:solidFill>
                <a:latin typeface="Arial" panose="020B0604020202020204"/>
              </a:endParaRPr>
            </a:p>
          </p:txBody>
        </p:sp>
        <p:sp>
          <p:nvSpPr>
            <p:cNvPr id="69" name="Oval 68">
              <a:extLst>
                <a:ext uri="{FF2B5EF4-FFF2-40B4-BE49-F238E27FC236}">
                  <a16:creationId xmlns:a16="http://schemas.microsoft.com/office/drawing/2014/main" id="{0B60ADAC-11FA-62FF-CB9F-13380C423705}"/>
                </a:ext>
              </a:extLst>
            </p:cNvPr>
            <p:cNvSpPr/>
            <p:nvPr/>
          </p:nvSpPr>
          <p:spPr>
            <a:xfrm>
              <a:off x="931034" y="3919272"/>
              <a:ext cx="855868" cy="855868"/>
            </a:xfrm>
            <a:prstGeom prst="ellipse">
              <a:avLst/>
            </a:prstGeom>
            <a:solidFill>
              <a:srgbClr val="FFFFFF"/>
            </a:solidFill>
            <a:ln w="25400" cap="flat" cmpd="sng" algn="ctr">
              <a:noFill/>
              <a:prstDash val="solid"/>
              <a:miter lim="800000"/>
            </a:ln>
            <a:effectLst>
              <a:outerShdw blurRad="50800" dist="38100" dir="8100000" algn="tr" rotWithShape="0">
                <a:prstClr val="black">
                  <a:alpha val="15000"/>
                </a:prstClr>
              </a:outerShdw>
            </a:effectLst>
          </p:spPr>
          <p:txBody>
            <a:bodyPr rtlCol="0" anchor="ctr"/>
            <a:lstStyle/>
            <a:p>
              <a:pPr algn="ctr">
                <a:defRPr/>
              </a:pPr>
              <a:endParaRPr lang="en-IN" sz="1799" kern="0">
                <a:solidFill>
                  <a:srgbClr val="FFFFFF"/>
                </a:solidFill>
                <a:latin typeface="Arial" panose="020B0604020202020204"/>
              </a:endParaRPr>
            </a:p>
          </p:txBody>
        </p:sp>
        <p:pic>
          <p:nvPicPr>
            <p:cNvPr id="70" name="Graphic 69" descr="Badge 1 with solid fill">
              <a:extLst>
                <a:ext uri="{FF2B5EF4-FFF2-40B4-BE49-F238E27FC236}">
                  <a16:creationId xmlns:a16="http://schemas.microsoft.com/office/drawing/2014/main" id="{EB33244F-B182-9D9E-A435-E43352A696D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1768" y="3890006"/>
              <a:ext cx="914400" cy="914400"/>
            </a:xfrm>
            <a:prstGeom prst="rect">
              <a:avLst/>
            </a:prstGeom>
          </p:spPr>
        </p:pic>
      </p:grpSp>
      <p:sp>
        <p:nvSpPr>
          <p:cNvPr id="18" name="TextBox 17">
            <a:extLst>
              <a:ext uri="{FF2B5EF4-FFF2-40B4-BE49-F238E27FC236}">
                <a16:creationId xmlns:a16="http://schemas.microsoft.com/office/drawing/2014/main" id="{D1D52B9B-2912-4074-4EDE-8CC2FB1B185C}"/>
              </a:ext>
            </a:extLst>
          </p:cNvPr>
          <p:cNvSpPr txBox="1"/>
          <p:nvPr/>
        </p:nvSpPr>
        <p:spPr bwMode="gray">
          <a:xfrm>
            <a:off x="7454607" y="2316193"/>
            <a:ext cx="1680026" cy="646163"/>
          </a:xfrm>
          <a:prstGeom prst="rect">
            <a:avLst/>
          </a:prstGeom>
          <a:noFill/>
        </p:spPr>
        <p:txBody>
          <a:bodyPr wrap="square">
            <a:spAutoFit/>
          </a:bodyPr>
          <a:lstStyle/>
          <a:p>
            <a:pPr>
              <a:buClr>
                <a:srgbClr val="0000C9"/>
              </a:buClr>
              <a:defRPr/>
            </a:pPr>
            <a:r>
              <a:rPr lang="en-US" sz="1200" b="1">
                <a:solidFill>
                  <a:srgbClr val="7F7F7F"/>
                </a:solidFill>
                <a:latin typeface="Arial" panose="020B0604020202020204"/>
              </a:rPr>
              <a:t>200 Total Physicians</a:t>
            </a:r>
            <a:endParaRPr lang="en-US" sz="1200" b="1" kern="0">
              <a:solidFill>
                <a:srgbClr val="7F7F7F"/>
              </a:solidFill>
              <a:latin typeface="Arial" panose="020B0604020202020204"/>
              <a:ea typeface="Yu Gothic UI"/>
              <a:cs typeface="Calibri Light" panose="020F0302020204030204" pitchFamily="34" charset="0"/>
            </a:endParaRPr>
          </a:p>
          <a:p>
            <a:pPr>
              <a:buClr>
                <a:srgbClr val="0000C9"/>
              </a:buClr>
              <a:defRPr/>
            </a:pPr>
            <a:r>
              <a:rPr lang="en-US" sz="1200" kern="0">
                <a:solidFill>
                  <a:srgbClr val="7F7F7F"/>
                </a:solidFill>
                <a:latin typeface="Arial" panose="020B0604020202020204"/>
                <a:ea typeface="Yu Gothic UI"/>
                <a:cs typeface="Calibri Light" panose="020F0302020204030204" pitchFamily="34" charset="0"/>
              </a:rPr>
              <a:t>160 Pediatricians</a:t>
            </a:r>
            <a:br>
              <a:rPr lang="en-US" sz="1200" kern="0">
                <a:solidFill>
                  <a:srgbClr val="7F7F7F"/>
                </a:solidFill>
                <a:latin typeface="Arial" panose="020B0604020202020204"/>
                <a:ea typeface="Yu Gothic UI"/>
                <a:cs typeface="Calibri Light" panose="020F0302020204030204" pitchFamily="34" charset="0"/>
              </a:rPr>
            </a:br>
            <a:r>
              <a:rPr lang="en-US" sz="1200" kern="0">
                <a:solidFill>
                  <a:srgbClr val="7F7F7F"/>
                </a:solidFill>
                <a:latin typeface="Arial" panose="020B0604020202020204"/>
                <a:ea typeface="Yu Gothic UI"/>
                <a:cs typeface="Calibri Light" panose="020F0302020204030204" pitchFamily="34" charset="0"/>
              </a:rPr>
              <a:t>40 PCPs</a:t>
            </a:r>
          </a:p>
        </p:txBody>
      </p:sp>
      <p:sp>
        <p:nvSpPr>
          <p:cNvPr id="8" name="TextBox 7">
            <a:extLst>
              <a:ext uri="{FF2B5EF4-FFF2-40B4-BE49-F238E27FC236}">
                <a16:creationId xmlns:a16="http://schemas.microsoft.com/office/drawing/2014/main" id="{917B95C1-6C97-51A7-466A-05306BFF66A9}"/>
              </a:ext>
            </a:extLst>
          </p:cNvPr>
          <p:cNvSpPr txBox="1"/>
          <p:nvPr/>
        </p:nvSpPr>
        <p:spPr bwMode="gray">
          <a:xfrm>
            <a:off x="7288171" y="3374761"/>
            <a:ext cx="1975345" cy="450211"/>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7F7F7F"/>
                </a:solidFill>
                <a:latin typeface="Arial" panose="020B0604020202020204"/>
              </a:rPr>
              <a:t>Sep 5, 2024 – Oct 3, 2024</a:t>
            </a:r>
            <a:endParaRPr lang="en-US" sz="800" b="0" cap="none">
              <a:solidFill>
                <a:srgbClr val="7F7F7F"/>
              </a:solidFill>
              <a:latin typeface="Arial" panose="020B0604020202020204"/>
            </a:endParaRPr>
          </a:p>
        </p:txBody>
      </p:sp>
      <p:sp>
        <p:nvSpPr>
          <p:cNvPr id="9" name="TextBox 8">
            <a:extLst>
              <a:ext uri="{FF2B5EF4-FFF2-40B4-BE49-F238E27FC236}">
                <a16:creationId xmlns:a16="http://schemas.microsoft.com/office/drawing/2014/main" id="{BFFA8116-FBFA-55E0-85B0-25437914D297}"/>
              </a:ext>
            </a:extLst>
          </p:cNvPr>
          <p:cNvSpPr txBox="1"/>
          <p:nvPr/>
        </p:nvSpPr>
        <p:spPr bwMode="gray">
          <a:xfrm>
            <a:off x="4986090" y="3374761"/>
            <a:ext cx="1975345" cy="450211"/>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FFFFFF">
                    <a:lumMod val="50000"/>
                  </a:srgbClr>
                </a:solidFill>
                <a:latin typeface="Arial" panose="020B0604020202020204"/>
              </a:rPr>
              <a:t>Jun 17, 2024 – Jul 2, 2024</a:t>
            </a:r>
            <a:endParaRPr lang="en-US" sz="800" b="0" cap="none">
              <a:solidFill>
                <a:srgbClr val="FFFFFF">
                  <a:lumMod val="50000"/>
                </a:srgbClr>
              </a:solidFill>
              <a:latin typeface="Arial" panose="020B0604020202020204"/>
            </a:endParaRPr>
          </a:p>
        </p:txBody>
      </p:sp>
      <p:sp>
        <p:nvSpPr>
          <p:cNvPr id="10" name="TextBox 9">
            <a:extLst>
              <a:ext uri="{FF2B5EF4-FFF2-40B4-BE49-F238E27FC236}">
                <a16:creationId xmlns:a16="http://schemas.microsoft.com/office/drawing/2014/main" id="{66FA6781-158E-456E-1C79-24396E3E17D4}"/>
              </a:ext>
            </a:extLst>
          </p:cNvPr>
          <p:cNvSpPr txBox="1"/>
          <p:nvPr/>
        </p:nvSpPr>
        <p:spPr bwMode="gray">
          <a:xfrm>
            <a:off x="2719748" y="3374761"/>
            <a:ext cx="1975345" cy="450211"/>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FFFFFF">
                    <a:lumMod val="50000"/>
                  </a:srgbClr>
                </a:solidFill>
                <a:latin typeface="Arial" panose="020B0604020202020204"/>
              </a:rPr>
              <a:t>Jan 3, 2024 – Feb 8, 2024</a:t>
            </a:r>
            <a:endParaRPr lang="en-US" sz="800" b="0" cap="none">
              <a:solidFill>
                <a:srgbClr val="FFFFFF">
                  <a:lumMod val="50000"/>
                </a:srgbClr>
              </a:solidFill>
              <a:latin typeface="Arial" panose="020B0604020202020204"/>
            </a:endParaRPr>
          </a:p>
        </p:txBody>
      </p:sp>
      <p:sp>
        <p:nvSpPr>
          <p:cNvPr id="11" name="TextBox 10">
            <a:extLst>
              <a:ext uri="{FF2B5EF4-FFF2-40B4-BE49-F238E27FC236}">
                <a16:creationId xmlns:a16="http://schemas.microsoft.com/office/drawing/2014/main" id="{57EC53AE-3A15-D11A-2457-1BFEF245903E}"/>
              </a:ext>
            </a:extLst>
          </p:cNvPr>
          <p:cNvSpPr txBox="1"/>
          <p:nvPr/>
        </p:nvSpPr>
        <p:spPr bwMode="gray">
          <a:xfrm>
            <a:off x="412956" y="3374761"/>
            <a:ext cx="1975345" cy="450211"/>
          </a:xfrm>
          <a:prstGeom prst="rect">
            <a:avLst/>
          </a:prstGeom>
        </p:spPr>
        <p:txBody>
          <a:bodyPr wrap="square" lIns="45708" tIns="45708" rIns="45708" bIns="45708" rtlCol="0" anchor="t" anchorCtr="0">
            <a:noAutofit/>
          </a:bodyPr>
          <a:lstStyle/>
          <a:p>
            <a:pPr algn="ctr">
              <a:lnSpc>
                <a:spcPct val="90000"/>
              </a:lnSpc>
              <a:spcBef>
                <a:spcPts val="1000"/>
              </a:spcBef>
              <a:defRPr/>
            </a:pPr>
            <a:r>
              <a:rPr lang="en-US" sz="1200" b="1">
                <a:solidFill>
                  <a:srgbClr val="FFFFFF">
                    <a:lumMod val="50000"/>
                  </a:srgbClr>
                </a:solidFill>
                <a:latin typeface="Arial" panose="020B0604020202020204"/>
              </a:rPr>
              <a:t>May 2023 – Jun 2023</a:t>
            </a:r>
            <a:endParaRPr lang="en-US" sz="800">
              <a:solidFill>
                <a:srgbClr val="FFFFFF">
                  <a:lumMod val="50000"/>
                </a:srgbClr>
              </a:solidFill>
              <a:latin typeface="Arial" panose="020B0604020202020204"/>
            </a:endParaRPr>
          </a:p>
        </p:txBody>
      </p:sp>
      <p:sp>
        <p:nvSpPr>
          <p:cNvPr id="23" name="TextBox 22">
            <a:extLst>
              <a:ext uri="{FF2B5EF4-FFF2-40B4-BE49-F238E27FC236}">
                <a16:creationId xmlns:a16="http://schemas.microsoft.com/office/drawing/2014/main" id="{90D7F7E7-B088-17F8-A187-FAADD5C223F6}"/>
              </a:ext>
            </a:extLst>
          </p:cNvPr>
          <p:cNvSpPr txBox="1"/>
          <p:nvPr/>
        </p:nvSpPr>
        <p:spPr bwMode="gray">
          <a:xfrm>
            <a:off x="7288171" y="4129826"/>
            <a:ext cx="1975345" cy="225472"/>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7F7F7F"/>
                </a:solidFill>
                <a:latin typeface="Arial" panose="020B0604020202020204"/>
              </a:rPr>
              <a:t>30 minutes</a:t>
            </a:r>
            <a:endParaRPr lang="en-US" sz="800" b="0" cap="none">
              <a:solidFill>
                <a:srgbClr val="7F7F7F"/>
              </a:solidFill>
              <a:latin typeface="Arial" panose="020B0604020202020204"/>
            </a:endParaRPr>
          </a:p>
        </p:txBody>
      </p:sp>
      <p:sp>
        <p:nvSpPr>
          <p:cNvPr id="24" name="TextBox 23">
            <a:extLst>
              <a:ext uri="{FF2B5EF4-FFF2-40B4-BE49-F238E27FC236}">
                <a16:creationId xmlns:a16="http://schemas.microsoft.com/office/drawing/2014/main" id="{39EE7378-00BB-D44E-3475-659946D53E6D}"/>
              </a:ext>
            </a:extLst>
          </p:cNvPr>
          <p:cNvSpPr txBox="1"/>
          <p:nvPr/>
        </p:nvSpPr>
        <p:spPr bwMode="gray">
          <a:xfrm>
            <a:off x="4986090" y="4129826"/>
            <a:ext cx="1975345" cy="225472"/>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FFFFFF">
                    <a:lumMod val="50000"/>
                  </a:srgbClr>
                </a:solidFill>
                <a:latin typeface="Arial" panose="020B0604020202020204"/>
              </a:rPr>
              <a:t>20 minutes</a:t>
            </a:r>
            <a:endParaRPr lang="en-US" sz="800" b="0" cap="none">
              <a:solidFill>
                <a:srgbClr val="FFFFFF">
                  <a:lumMod val="50000"/>
                </a:srgbClr>
              </a:solidFill>
              <a:latin typeface="Arial" panose="020B0604020202020204"/>
            </a:endParaRPr>
          </a:p>
        </p:txBody>
      </p:sp>
      <p:sp>
        <p:nvSpPr>
          <p:cNvPr id="25" name="TextBox 24">
            <a:extLst>
              <a:ext uri="{FF2B5EF4-FFF2-40B4-BE49-F238E27FC236}">
                <a16:creationId xmlns:a16="http://schemas.microsoft.com/office/drawing/2014/main" id="{5032EDBF-53C2-8149-DA74-49D3D00E8ACF}"/>
              </a:ext>
            </a:extLst>
          </p:cNvPr>
          <p:cNvSpPr txBox="1"/>
          <p:nvPr/>
        </p:nvSpPr>
        <p:spPr bwMode="gray">
          <a:xfrm>
            <a:off x="2719748" y="4129826"/>
            <a:ext cx="1975345" cy="225472"/>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FFFFFF">
                    <a:lumMod val="50000"/>
                  </a:srgbClr>
                </a:solidFill>
                <a:latin typeface="Arial" panose="020B0604020202020204"/>
              </a:rPr>
              <a:t>12 minutes</a:t>
            </a:r>
            <a:endParaRPr lang="en-US" sz="800" b="0" cap="none">
              <a:solidFill>
                <a:srgbClr val="FFFFFF">
                  <a:lumMod val="50000"/>
                </a:srgbClr>
              </a:solidFill>
              <a:latin typeface="Arial" panose="020B0604020202020204"/>
            </a:endParaRPr>
          </a:p>
        </p:txBody>
      </p:sp>
      <p:sp>
        <p:nvSpPr>
          <p:cNvPr id="26" name="TextBox 25">
            <a:extLst>
              <a:ext uri="{FF2B5EF4-FFF2-40B4-BE49-F238E27FC236}">
                <a16:creationId xmlns:a16="http://schemas.microsoft.com/office/drawing/2014/main" id="{F497F070-A22B-6FC2-EA9A-AD850F064C49}"/>
              </a:ext>
            </a:extLst>
          </p:cNvPr>
          <p:cNvSpPr txBox="1"/>
          <p:nvPr/>
        </p:nvSpPr>
        <p:spPr bwMode="gray">
          <a:xfrm>
            <a:off x="412956" y="4129826"/>
            <a:ext cx="1975345" cy="225472"/>
          </a:xfrm>
          <a:prstGeom prst="rect">
            <a:avLst/>
          </a:prstGeom>
        </p:spPr>
        <p:txBody>
          <a:bodyPr wrap="square" lIns="45708" tIns="45708" rIns="45708" bIns="45708" rtlCol="0" anchor="t" anchorCtr="0">
            <a:noAutofit/>
          </a:bodyPr>
          <a:lstStyle/>
          <a:p>
            <a:pPr algn="ctr">
              <a:lnSpc>
                <a:spcPct val="90000"/>
              </a:lnSpc>
              <a:spcBef>
                <a:spcPts val="1000"/>
              </a:spcBef>
              <a:defRPr/>
            </a:pPr>
            <a:r>
              <a:rPr lang="en-US" sz="1200" b="1">
                <a:solidFill>
                  <a:srgbClr val="FFFFFF">
                    <a:lumMod val="50000"/>
                  </a:srgbClr>
                </a:solidFill>
                <a:latin typeface="Arial" panose="020B0604020202020204"/>
              </a:rPr>
              <a:t>--</a:t>
            </a:r>
            <a:endParaRPr lang="en-US" sz="800">
              <a:solidFill>
                <a:srgbClr val="FFFFFF">
                  <a:lumMod val="50000"/>
                </a:srgbClr>
              </a:solidFill>
              <a:latin typeface="Arial" panose="020B0604020202020204"/>
            </a:endParaRPr>
          </a:p>
        </p:txBody>
      </p:sp>
      <p:sp>
        <p:nvSpPr>
          <p:cNvPr id="31" name="TextBox 30">
            <a:extLst>
              <a:ext uri="{FF2B5EF4-FFF2-40B4-BE49-F238E27FC236}">
                <a16:creationId xmlns:a16="http://schemas.microsoft.com/office/drawing/2014/main" id="{5348665F-45F5-7BFB-35AB-0E89C71EF3F4}"/>
              </a:ext>
            </a:extLst>
          </p:cNvPr>
          <p:cNvSpPr txBox="1"/>
          <p:nvPr/>
        </p:nvSpPr>
        <p:spPr bwMode="gray">
          <a:xfrm>
            <a:off x="9677119" y="4129826"/>
            <a:ext cx="1975345" cy="225472"/>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000000"/>
                </a:solidFill>
                <a:latin typeface="Arial" panose="020B0604020202020204"/>
              </a:rPr>
              <a:t>30 minutes</a:t>
            </a:r>
            <a:endParaRPr lang="en-US" sz="800" b="0" cap="none">
              <a:solidFill>
                <a:srgbClr val="000000"/>
              </a:solidFill>
              <a:latin typeface="Arial" panose="020B0604020202020204"/>
            </a:endParaRPr>
          </a:p>
        </p:txBody>
      </p:sp>
      <p:sp>
        <p:nvSpPr>
          <p:cNvPr id="44" name="TextBox 43">
            <a:extLst>
              <a:ext uri="{FF2B5EF4-FFF2-40B4-BE49-F238E27FC236}">
                <a16:creationId xmlns:a16="http://schemas.microsoft.com/office/drawing/2014/main" id="{E0FFFAF5-8570-1564-CFCC-1EE8C1A33B5A}"/>
              </a:ext>
            </a:extLst>
          </p:cNvPr>
          <p:cNvSpPr txBox="1"/>
          <p:nvPr/>
        </p:nvSpPr>
        <p:spPr bwMode="gray">
          <a:xfrm>
            <a:off x="9677119" y="3374761"/>
            <a:ext cx="1975345" cy="450211"/>
          </a:xfrm>
          <a:prstGeom prst="rect">
            <a:avLst/>
          </a:prstGeom>
        </p:spPr>
        <p:txBody>
          <a:bodyPr wrap="square" lIns="45708" tIns="45708" rIns="45708" bIns="45708" rtlCol="0" anchor="t" anchorCtr="0">
            <a:noAutofit/>
          </a:bodyPr>
          <a:lstStyle>
            <a:defPPr>
              <a:defRPr lang="en-US"/>
            </a:defPPr>
            <a:lvl1pPr algn="ctr">
              <a:lnSpc>
                <a:spcPct val="90000"/>
              </a:lnSpc>
              <a:spcBef>
                <a:spcPts val="1000"/>
              </a:spcBef>
              <a:defRPr sz="1400" b="1" cap="small"/>
            </a:lvl1pPr>
          </a:lstStyle>
          <a:p>
            <a:pPr>
              <a:defRPr/>
            </a:pPr>
            <a:r>
              <a:rPr lang="en-US" sz="1200" cap="none">
                <a:solidFill>
                  <a:srgbClr val="000000"/>
                </a:solidFill>
                <a:latin typeface="Arial" panose="020B0604020202020204"/>
              </a:rPr>
              <a:t>Aug 22 – Oct 1, 2025</a:t>
            </a:r>
            <a:endParaRPr lang="en-US" sz="800" b="0" cap="none">
              <a:solidFill>
                <a:srgbClr val="000000"/>
              </a:solidFill>
              <a:latin typeface="Arial" panose="020B0604020202020204"/>
            </a:endParaRPr>
          </a:p>
        </p:txBody>
      </p:sp>
      <p:sp>
        <p:nvSpPr>
          <p:cNvPr id="73" name="Double Bracket 72">
            <a:extLst>
              <a:ext uri="{FF2B5EF4-FFF2-40B4-BE49-F238E27FC236}">
                <a16:creationId xmlns:a16="http://schemas.microsoft.com/office/drawing/2014/main" id="{AAAE2537-F8A4-8245-BB4B-A7378E64FA9A}"/>
              </a:ext>
            </a:extLst>
          </p:cNvPr>
          <p:cNvSpPr/>
          <p:nvPr/>
        </p:nvSpPr>
        <p:spPr>
          <a:xfrm>
            <a:off x="4986089" y="1020814"/>
            <a:ext cx="1975345" cy="3573146"/>
          </a:xfrm>
          <a:prstGeom prst="bracketPair">
            <a:avLst>
              <a:gd name="adj" fmla="val 7857"/>
            </a:avLst>
          </a:prstGeom>
          <a:noFill/>
          <a:ln w="25400" cap="flat" cmpd="sng" algn="ctr">
            <a:solidFill>
              <a:schemeClr val="accent1">
                <a:lumMod val="20000"/>
                <a:lumOff val="80000"/>
              </a:schemeClr>
            </a:solidFill>
            <a:prstDash val="solid"/>
          </a:ln>
          <a:effectLst/>
        </p:spPr>
        <p:txBody>
          <a:bodyPr rtlCol="0" anchor="ctr"/>
          <a:lstStyle/>
          <a:p>
            <a:pPr algn="ctr">
              <a:defRPr/>
            </a:pPr>
            <a:endParaRPr lang="en-US" sz="1799" kern="0">
              <a:solidFill>
                <a:srgbClr val="5A5A5A"/>
              </a:solidFill>
              <a:latin typeface="Arial"/>
            </a:endParaRPr>
          </a:p>
        </p:txBody>
      </p:sp>
      <p:sp>
        <p:nvSpPr>
          <p:cNvPr id="72" name="Double Bracket 71">
            <a:extLst>
              <a:ext uri="{FF2B5EF4-FFF2-40B4-BE49-F238E27FC236}">
                <a16:creationId xmlns:a16="http://schemas.microsoft.com/office/drawing/2014/main" id="{0FC7CD18-6422-F8C6-E76C-781DD646006F}"/>
              </a:ext>
            </a:extLst>
          </p:cNvPr>
          <p:cNvSpPr/>
          <p:nvPr/>
        </p:nvSpPr>
        <p:spPr>
          <a:xfrm>
            <a:off x="2719747" y="1020814"/>
            <a:ext cx="1975345" cy="3573146"/>
          </a:xfrm>
          <a:prstGeom prst="bracketPair">
            <a:avLst>
              <a:gd name="adj" fmla="val 7857"/>
            </a:avLst>
          </a:prstGeom>
          <a:noFill/>
          <a:ln w="25400" cap="flat" cmpd="sng" algn="ctr">
            <a:solidFill>
              <a:schemeClr val="accent1">
                <a:lumMod val="20000"/>
                <a:lumOff val="80000"/>
              </a:schemeClr>
            </a:solidFill>
            <a:prstDash val="solid"/>
          </a:ln>
          <a:effectLst/>
        </p:spPr>
        <p:txBody>
          <a:bodyPr rtlCol="0" anchor="ctr"/>
          <a:lstStyle/>
          <a:p>
            <a:pPr algn="ctr">
              <a:defRPr/>
            </a:pPr>
            <a:endParaRPr lang="en-US" sz="1799" kern="0">
              <a:solidFill>
                <a:srgbClr val="5A5A5A"/>
              </a:solidFill>
              <a:latin typeface="Arial"/>
            </a:endParaRPr>
          </a:p>
        </p:txBody>
      </p:sp>
      <p:sp>
        <p:nvSpPr>
          <p:cNvPr id="71" name="Double Bracket 70">
            <a:extLst>
              <a:ext uri="{FF2B5EF4-FFF2-40B4-BE49-F238E27FC236}">
                <a16:creationId xmlns:a16="http://schemas.microsoft.com/office/drawing/2014/main" id="{E5626BED-214B-DE2C-3673-B730D37F237F}"/>
              </a:ext>
            </a:extLst>
          </p:cNvPr>
          <p:cNvSpPr/>
          <p:nvPr/>
        </p:nvSpPr>
        <p:spPr>
          <a:xfrm>
            <a:off x="412955" y="1020814"/>
            <a:ext cx="1975345" cy="3573146"/>
          </a:xfrm>
          <a:prstGeom prst="bracketPair">
            <a:avLst>
              <a:gd name="adj" fmla="val 7857"/>
            </a:avLst>
          </a:prstGeom>
          <a:noFill/>
          <a:ln w="25400" cap="flat" cmpd="sng" algn="ctr">
            <a:solidFill>
              <a:schemeClr val="accent1">
                <a:lumMod val="20000"/>
                <a:lumOff val="80000"/>
              </a:schemeClr>
            </a:solidFill>
            <a:prstDash val="solid"/>
          </a:ln>
          <a:effectLst/>
        </p:spPr>
        <p:txBody>
          <a:bodyPr rtlCol="0" anchor="ctr"/>
          <a:lstStyle/>
          <a:p>
            <a:pPr algn="ctr">
              <a:defRPr/>
            </a:pPr>
            <a:endParaRPr lang="en-US" sz="1799" kern="0">
              <a:solidFill>
                <a:srgbClr val="5A5A5A"/>
              </a:solidFill>
              <a:latin typeface="Arial"/>
            </a:endParaRPr>
          </a:p>
        </p:txBody>
      </p:sp>
      <p:grpSp>
        <p:nvGrpSpPr>
          <p:cNvPr id="3" name="Group 2">
            <a:extLst>
              <a:ext uri="{FF2B5EF4-FFF2-40B4-BE49-F238E27FC236}">
                <a16:creationId xmlns:a16="http://schemas.microsoft.com/office/drawing/2014/main" id="{28450F90-5B59-471A-FD7C-3E9D451197D5}"/>
              </a:ext>
            </a:extLst>
          </p:cNvPr>
          <p:cNvGrpSpPr/>
          <p:nvPr/>
        </p:nvGrpSpPr>
        <p:grpSpPr>
          <a:xfrm>
            <a:off x="702446" y="3102012"/>
            <a:ext cx="10789015" cy="238006"/>
            <a:chOff x="701040" y="2012426"/>
            <a:chExt cx="10791825" cy="238068"/>
          </a:xfrm>
        </p:grpSpPr>
        <p:cxnSp>
          <p:nvCxnSpPr>
            <p:cNvPr id="4" name="Straight Connector 3">
              <a:extLst>
                <a:ext uri="{FF2B5EF4-FFF2-40B4-BE49-F238E27FC236}">
                  <a16:creationId xmlns:a16="http://schemas.microsoft.com/office/drawing/2014/main" id="{9FC077E4-3036-5B5C-5DB6-8F02B5ECA656}"/>
                </a:ext>
              </a:extLst>
            </p:cNvPr>
            <p:cNvCxnSpPr/>
            <p:nvPr/>
          </p:nvCxnSpPr>
          <p:spPr bwMode="gray">
            <a:xfrm>
              <a:off x="701040" y="2138700"/>
              <a:ext cx="10791825" cy="0"/>
            </a:xfrm>
            <a:prstGeom prst="line">
              <a:avLst/>
            </a:prstGeom>
            <a:noFill/>
            <a:ln w="12700" cap="rnd">
              <a:solidFill>
                <a:schemeClr val="accent1"/>
              </a:solidFill>
              <a:prstDash val="dash"/>
              <a:round/>
              <a:headEnd/>
              <a:tailEnd/>
            </a:ln>
            <a:effectLst/>
          </p:spPr>
        </p:cxnSp>
        <p:sp>
          <p:nvSpPr>
            <p:cNvPr id="5" name="TextBox 4">
              <a:extLst>
                <a:ext uri="{FF2B5EF4-FFF2-40B4-BE49-F238E27FC236}">
                  <a16:creationId xmlns:a16="http://schemas.microsoft.com/office/drawing/2014/main" id="{0DF80229-D376-5E07-299E-D6E8CCEA96E8}"/>
                </a:ext>
              </a:extLst>
            </p:cNvPr>
            <p:cNvSpPr txBox="1"/>
            <p:nvPr/>
          </p:nvSpPr>
          <p:spPr bwMode="gray">
            <a:xfrm>
              <a:off x="10066218" y="2012426"/>
              <a:ext cx="1140605" cy="238068"/>
            </a:xfrm>
            <a:prstGeom prst="rect">
              <a:avLst/>
            </a:prstGeom>
            <a:solidFill>
              <a:srgbClr val="F5F5F5"/>
            </a:solidFill>
          </p:spPr>
          <p:txBody>
            <a:bodyPr wrap="square" lIns="0" tIns="0" rIns="0" bIns="0" rtlCol="0" anchor="ctr" anchorCtr="0">
              <a:noAutofit/>
            </a:bodyPr>
            <a:lstStyle/>
            <a:p>
              <a:pPr algn="ctr">
                <a:lnSpc>
                  <a:spcPct val="90000"/>
                </a:lnSpc>
                <a:spcBef>
                  <a:spcPts val="1000"/>
                </a:spcBef>
                <a:defRPr/>
              </a:pPr>
              <a:r>
                <a:rPr lang="en-US" sz="1400" b="1">
                  <a:solidFill>
                    <a:srgbClr val="0000C9"/>
                  </a:solidFill>
                  <a:latin typeface="Arial" panose="020B0604020202020204"/>
                </a:rPr>
                <a:t>Field Dates</a:t>
              </a:r>
              <a:endParaRPr lang="en-US" sz="900">
                <a:solidFill>
                  <a:srgbClr val="0000C9"/>
                </a:solidFill>
                <a:latin typeface="Arial" panose="020B0604020202020204"/>
              </a:endParaRPr>
            </a:p>
          </p:txBody>
        </p:sp>
      </p:grpSp>
      <p:cxnSp>
        <p:nvCxnSpPr>
          <p:cNvPr id="14" name="Straight Connector 13">
            <a:extLst>
              <a:ext uri="{FF2B5EF4-FFF2-40B4-BE49-F238E27FC236}">
                <a16:creationId xmlns:a16="http://schemas.microsoft.com/office/drawing/2014/main" id="{2DB9F934-9AAC-EA52-D7DE-D8EB8002EA22}"/>
              </a:ext>
            </a:extLst>
          </p:cNvPr>
          <p:cNvCxnSpPr>
            <a:cxnSpLocks/>
          </p:cNvCxnSpPr>
          <p:nvPr/>
        </p:nvCxnSpPr>
        <p:spPr bwMode="gray">
          <a:xfrm>
            <a:off x="689479" y="2116344"/>
            <a:ext cx="10789015" cy="0"/>
          </a:xfrm>
          <a:prstGeom prst="line">
            <a:avLst/>
          </a:prstGeom>
          <a:noFill/>
          <a:ln w="12700" cap="rnd">
            <a:solidFill>
              <a:schemeClr val="accent1"/>
            </a:solidFill>
            <a:prstDash val="dash"/>
            <a:round/>
            <a:headEnd/>
            <a:tailEnd/>
          </a:ln>
          <a:effectLst/>
        </p:spPr>
      </p:cxnSp>
      <p:grpSp>
        <p:nvGrpSpPr>
          <p:cNvPr id="20" name="Group 19">
            <a:extLst>
              <a:ext uri="{FF2B5EF4-FFF2-40B4-BE49-F238E27FC236}">
                <a16:creationId xmlns:a16="http://schemas.microsoft.com/office/drawing/2014/main" id="{CDD356B2-F5EF-D32C-FF82-41876A1773DC}"/>
              </a:ext>
            </a:extLst>
          </p:cNvPr>
          <p:cNvGrpSpPr/>
          <p:nvPr/>
        </p:nvGrpSpPr>
        <p:grpSpPr>
          <a:xfrm>
            <a:off x="699202" y="3828158"/>
            <a:ext cx="10789015" cy="238006"/>
            <a:chOff x="701040" y="2012426"/>
            <a:chExt cx="10791825" cy="238068"/>
          </a:xfrm>
        </p:grpSpPr>
        <p:cxnSp>
          <p:nvCxnSpPr>
            <p:cNvPr id="21" name="Straight Connector 20">
              <a:extLst>
                <a:ext uri="{FF2B5EF4-FFF2-40B4-BE49-F238E27FC236}">
                  <a16:creationId xmlns:a16="http://schemas.microsoft.com/office/drawing/2014/main" id="{61AEF2DE-FFFB-E654-D352-978FC7DEE283}"/>
                </a:ext>
              </a:extLst>
            </p:cNvPr>
            <p:cNvCxnSpPr/>
            <p:nvPr/>
          </p:nvCxnSpPr>
          <p:spPr bwMode="gray">
            <a:xfrm>
              <a:off x="701040" y="2138700"/>
              <a:ext cx="10791825" cy="0"/>
            </a:xfrm>
            <a:prstGeom prst="line">
              <a:avLst/>
            </a:prstGeom>
            <a:noFill/>
            <a:ln w="12700" cap="rnd">
              <a:solidFill>
                <a:schemeClr val="accent1"/>
              </a:solidFill>
              <a:prstDash val="dash"/>
              <a:round/>
              <a:headEnd/>
              <a:tailEnd/>
            </a:ln>
            <a:effectLst/>
          </p:spPr>
        </p:cxnSp>
        <p:sp>
          <p:nvSpPr>
            <p:cNvPr id="22" name="TextBox 21">
              <a:extLst>
                <a:ext uri="{FF2B5EF4-FFF2-40B4-BE49-F238E27FC236}">
                  <a16:creationId xmlns:a16="http://schemas.microsoft.com/office/drawing/2014/main" id="{378DE1A0-BF28-B8C1-ABF7-E13422A0DE5A}"/>
                </a:ext>
              </a:extLst>
            </p:cNvPr>
            <p:cNvSpPr txBox="1"/>
            <p:nvPr/>
          </p:nvSpPr>
          <p:spPr bwMode="gray">
            <a:xfrm>
              <a:off x="9808240" y="2012426"/>
              <a:ext cx="1663050" cy="238068"/>
            </a:xfrm>
            <a:prstGeom prst="rect">
              <a:avLst/>
            </a:prstGeom>
            <a:solidFill>
              <a:srgbClr val="F5F5F5"/>
            </a:solidFill>
          </p:spPr>
          <p:txBody>
            <a:bodyPr wrap="square" lIns="0" tIns="0" rIns="0" bIns="0" rtlCol="0" anchor="ctr" anchorCtr="0">
              <a:noAutofit/>
            </a:bodyPr>
            <a:lstStyle/>
            <a:p>
              <a:pPr algn="ctr">
                <a:lnSpc>
                  <a:spcPct val="90000"/>
                </a:lnSpc>
                <a:spcBef>
                  <a:spcPts val="1000"/>
                </a:spcBef>
                <a:defRPr/>
              </a:pPr>
              <a:r>
                <a:rPr lang="en-US" sz="1400" b="1">
                  <a:solidFill>
                    <a:srgbClr val="0000C9"/>
                  </a:solidFill>
                  <a:latin typeface="Arial" panose="020B0604020202020204"/>
                </a:rPr>
                <a:t>Length of Interview</a:t>
              </a:r>
              <a:endParaRPr lang="en-US" sz="900">
                <a:solidFill>
                  <a:srgbClr val="0000C9"/>
                </a:solidFill>
                <a:latin typeface="Arial" panose="020B0604020202020204"/>
              </a:endParaRPr>
            </a:p>
          </p:txBody>
        </p:sp>
      </p:grpSp>
      <p:sp>
        <p:nvSpPr>
          <p:cNvPr id="27" name="TextBox 26">
            <a:extLst>
              <a:ext uri="{FF2B5EF4-FFF2-40B4-BE49-F238E27FC236}">
                <a16:creationId xmlns:a16="http://schemas.microsoft.com/office/drawing/2014/main" id="{3BC85C5F-27A2-62AA-6668-746F62514D77}"/>
              </a:ext>
            </a:extLst>
          </p:cNvPr>
          <p:cNvSpPr txBox="1"/>
          <p:nvPr/>
        </p:nvSpPr>
        <p:spPr bwMode="gray">
          <a:xfrm>
            <a:off x="5123997" y="2316193"/>
            <a:ext cx="1680026" cy="276927"/>
          </a:xfrm>
          <a:prstGeom prst="rect">
            <a:avLst/>
          </a:prstGeom>
          <a:noFill/>
        </p:spPr>
        <p:txBody>
          <a:bodyPr wrap="square">
            <a:spAutoFit/>
          </a:bodyPr>
          <a:lstStyle/>
          <a:p>
            <a:pPr algn="ctr">
              <a:buClr>
                <a:srgbClr val="0000C9"/>
              </a:buClr>
              <a:defRPr/>
            </a:pPr>
            <a:r>
              <a:rPr lang="en-US" sz="1200" b="1">
                <a:solidFill>
                  <a:srgbClr val="000000">
                    <a:lumMod val="50000"/>
                    <a:lumOff val="50000"/>
                  </a:srgbClr>
                </a:solidFill>
                <a:latin typeface="Arial" panose="020B0604020202020204"/>
              </a:rPr>
              <a:t>150 Pediatricians</a:t>
            </a:r>
            <a:endParaRPr lang="en-US" sz="1200" b="1" kern="0">
              <a:solidFill>
                <a:srgbClr val="000000">
                  <a:lumMod val="50000"/>
                  <a:lumOff val="50000"/>
                </a:srgbClr>
              </a:solidFill>
              <a:latin typeface="Arial" panose="020B0604020202020204"/>
              <a:ea typeface="Yu Gothic UI"/>
              <a:cs typeface="Calibri Light" panose="020F0302020204030204" pitchFamily="34" charset="0"/>
            </a:endParaRPr>
          </a:p>
        </p:txBody>
      </p:sp>
      <p:sp>
        <p:nvSpPr>
          <p:cNvPr id="29" name="TextBox 28">
            <a:extLst>
              <a:ext uri="{FF2B5EF4-FFF2-40B4-BE49-F238E27FC236}">
                <a16:creationId xmlns:a16="http://schemas.microsoft.com/office/drawing/2014/main" id="{D3F49883-E9F9-09AF-6E04-513303E8FB87}"/>
              </a:ext>
            </a:extLst>
          </p:cNvPr>
          <p:cNvSpPr txBox="1"/>
          <p:nvPr/>
        </p:nvSpPr>
        <p:spPr bwMode="gray">
          <a:xfrm>
            <a:off x="2866733" y="2316193"/>
            <a:ext cx="1680026" cy="646163"/>
          </a:xfrm>
          <a:prstGeom prst="rect">
            <a:avLst/>
          </a:prstGeom>
          <a:noFill/>
        </p:spPr>
        <p:txBody>
          <a:bodyPr wrap="square">
            <a:spAutoFit/>
          </a:bodyPr>
          <a:lstStyle/>
          <a:p>
            <a:pPr>
              <a:buClr>
                <a:srgbClr val="0000C9"/>
              </a:buClr>
              <a:defRPr/>
            </a:pPr>
            <a:r>
              <a:rPr lang="en-US" sz="1200" b="1">
                <a:solidFill>
                  <a:srgbClr val="000000">
                    <a:lumMod val="50000"/>
                    <a:lumOff val="50000"/>
                  </a:srgbClr>
                </a:solidFill>
                <a:latin typeface="Arial" panose="020B0604020202020204"/>
              </a:rPr>
              <a:t>192 Total Physicians</a:t>
            </a:r>
            <a:endParaRPr lang="en-US" sz="1200" b="1" kern="0">
              <a:solidFill>
                <a:srgbClr val="000000">
                  <a:lumMod val="50000"/>
                  <a:lumOff val="50000"/>
                </a:srgbClr>
              </a:solidFill>
              <a:latin typeface="Arial" panose="020B0604020202020204"/>
              <a:ea typeface="Yu Gothic UI"/>
              <a:cs typeface="Calibri Light" panose="020F0302020204030204" pitchFamily="34" charset="0"/>
            </a:endParaRPr>
          </a:p>
          <a:p>
            <a:pPr>
              <a:buClr>
                <a:srgbClr val="0000C9"/>
              </a:buClr>
              <a:defRPr/>
            </a:pPr>
            <a:r>
              <a:rPr lang="en-US" sz="1200" kern="0">
                <a:solidFill>
                  <a:srgbClr val="000000">
                    <a:lumMod val="50000"/>
                    <a:lumOff val="50000"/>
                  </a:srgbClr>
                </a:solidFill>
                <a:latin typeface="Arial" panose="020B0604020202020204"/>
                <a:ea typeface="Yu Gothic UI"/>
                <a:cs typeface="Calibri Light" panose="020F0302020204030204" pitchFamily="34" charset="0"/>
              </a:rPr>
              <a:t>172 Pediatricians</a:t>
            </a:r>
            <a:br>
              <a:rPr lang="en-US" sz="1200" kern="0">
                <a:solidFill>
                  <a:srgbClr val="000000">
                    <a:lumMod val="50000"/>
                    <a:lumOff val="50000"/>
                  </a:srgbClr>
                </a:solidFill>
                <a:latin typeface="Arial" panose="020B0604020202020204"/>
                <a:ea typeface="Yu Gothic UI"/>
                <a:cs typeface="Calibri Light" panose="020F0302020204030204" pitchFamily="34" charset="0"/>
              </a:rPr>
            </a:br>
            <a:r>
              <a:rPr lang="en-US" sz="1200" kern="0">
                <a:solidFill>
                  <a:srgbClr val="000000">
                    <a:lumMod val="50000"/>
                    <a:lumOff val="50000"/>
                  </a:srgbClr>
                </a:solidFill>
                <a:latin typeface="Arial" panose="020B0604020202020204"/>
                <a:ea typeface="Yu Gothic UI"/>
                <a:cs typeface="Calibri Light" panose="020F0302020204030204" pitchFamily="34" charset="0"/>
              </a:rPr>
              <a:t>20 PCPs</a:t>
            </a:r>
          </a:p>
        </p:txBody>
      </p:sp>
      <p:sp>
        <p:nvSpPr>
          <p:cNvPr id="32" name="TextBox 31">
            <a:extLst>
              <a:ext uri="{FF2B5EF4-FFF2-40B4-BE49-F238E27FC236}">
                <a16:creationId xmlns:a16="http://schemas.microsoft.com/office/drawing/2014/main" id="{0702C399-ABBA-EB68-E7A3-A8F026BE9A26}"/>
              </a:ext>
            </a:extLst>
          </p:cNvPr>
          <p:cNvSpPr txBox="1"/>
          <p:nvPr/>
        </p:nvSpPr>
        <p:spPr bwMode="gray">
          <a:xfrm>
            <a:off x="580367" y="2316193"/>
            <a:ext cx="1680026" cy="646163"/>
          </a:xfrm>
          <a:prstGeom prst="rect">
            <a:avLst/>
          </a:prstGeom>
          <a:noFill/>
        </p:spPr>
        <p:txBody>
          <a:bodyPr wrap="square">
            <a:spAutoFit/>
          </a:bodyPr>
          <a:lstStyle/>
          <a:p>
            <a:pPr>
              <a:buClr>
                <a:srgbClr val="0000C9"/>
              </a:buClr>
              <a:defRPr/>
            </a:pPr>
            <a:r>
              <a:rPr lang="en-US" sz="1200" b="1">
                <a:solidFill>
                  <a:srgbClr val="000000">
                    <a:lumMod val="50000"/>
                    <a:lumOff val="50000"/>
                  </a:srgbClr>
                </a:solidFill>
                <a:latin typeface="Arial" panose="020B0604020202020204"/>
              </a:rPr>
              <a:t>182 Total Physicians</a:t>
            </a:r>
            <a:endParaRPr lang="en-US" sz="1200" b="1" kern="0">
              <a:solidFill>
                <a:srgbClr val="000000">
                  <a:lumMod val="50000"/>
                  <a:lumOff val="50000"/>
                </a:srgbClr>
              </a:solidFill>
              <a:latin typeface="Arial" panose="020B0604020202020204"/>
              <a:ea typeface="Yu Gothic UI"/>
              <a:cs typeface="Calibri Light" panose="020F0302020204030204" pitchFamily="34" charset="0"/>
            </a:endParaRPr>
          </a:p>
          <a:p>
            <a:pPr>
              <a:buClr>
                <a:srgbClr val="0000C9"/>
              </a:buClr>
              <a:defRPr/>
            </a:pPr>
            <a:r>
              <a:rPr lang="en-US" sz="1200" kern="0">
                <a:solidFill>
                  <a:srgbClr val="000000">
                    <a:lumMod val="50000"/>
                    <a:lumOff val="50000"/>
                  </a:srgbClr>
                </a:solidFill>
                <a:latin typeface="Arial" panose="020B0604020202020204"/>
                <a:ea typeface="Yu Gothic UI"/>
                <a:cs typeface="Calibri Light" panose="020F0302020204030204" pitchFamily="34" charset="0"/>
              </a:rPr>
              <a:t>172 Pediatricians</a:t>
            </a:r>
            <a:br>
              <a:rPr lang="en-US" sz="1200" kern="0">
                <a:solidFill>
                  <a:srgbClr val="000000">
                    <a:lumMod val="50000"/>
                    <a:lumOff val="50000"/>
                  </a:srgbClr>
                </a:solidFill>
                <a:latin typeface="Arial" panose="020B0604020202020204"/>
                <a:ea typeface="Yu Gothic UI"/>
                <a:cs typeface="Calibri Light" panose="020F0302020204030204" pitchFamily="34" charset="0"/>
              </a:rPr>
            </a:br>
            <a:r>
              <a:rPr lang="en-US" sz="1200" kern="0">
                <a:solidFill>
                  <a:srgbClr val="000000">
                    <a:lumMod val="50000"/>
                    <a:lumOff val="50000"/>
                  </a:srgbClr>
                </a:solidFill>
                <a:latin typeface="Arial" panose="020B0604020202020204"/>
                <a:ea typeface="Yu Gothic UI"/>
                <a:cs typeface="Calibri Light" panose="020F0302020204030204" pitchFamily="34" charset="0"/>
              </a:rPr>
              <a:t>11 PCPs</a:t>
            </a:r>
          </a:p>
        </p:txBody>
      </p:sp>
      <p:sp>
        <p:nvSpPr>
          <p:cNvPr id="33" name="TextBox 32">
            <a:extLst>
              <a:ext uri="{FF2B5EF4-FFF2-40B4-BE49-F238E27FC236}">
                <a16:creationId xmlns:a16="http://schemas.microsoft.com/office/drawing/2014/main" id="{90215C50-A425-5430-BA67-8D469A1AA9E7}"/>
              </a:ext>
            </a:extLst>
          </p:cNvPr>
          <p:cNvSpPr txBox="1"/>
          <p:nvPr/>
        </p:nvSpPr>
        <p:spPr bwMode="gray">
          <a:xfrm>
            <a:off x="9795325" y="2316193"/>
            <a:ext cx="1680026" cy="646163"/>
          </a:xfrm>
          <a:prstGeom prst="rect">
            <a:avLst/>
          </a:prstGeom>
          <a:noFill/>
        </p:spPr>
        <p:txBody>
          <a:bodyPr wrap="square">
            <a:spAutoFit/>
          </a:bodyPr>
          <a:lstStyle/>
          <a:p>
            <a:pPr>
              <a:buClr>
                <a:srgbClr val="0000C9"/>
              </a:buClr>
              <a:defRPr/>
            </a:pPr>
            <a:r>
              <a:rPr lang="en-US" sz="1200" b="1">
                <a:solidFill>
                  <a:srgbClr val="000000"/>
                </a:solidFill>
                <a:latin typeface="Arial" panose="020B0604020202020204"/>
              </a:rPr>
              <a:t>200 Total Physicians</a:t>
            </a:r>
            <a:endParaRPr lang="en-US" sz="1200" b="1" kern="0">
              <a:solidFill>
                <a:srgbClr val="000000"/>
              </a:solidFill>
              <a:latin typeface="Arial" panose="020B0604020202020204"/>
              <a:ea typeface="Yu Gothic UI"/>
              <a:cs typeface="Calibri Light" panose="020F0302020204030204" pitchFamily="34" charset="0"/>
            </a:endParaRPr>
          </a:p>
          <a:p>
            <a:pPr>
              <a:buClr>
                <a:srgbClr val="0000C9"/>
              </a:buClr>
              <a:defRPr/>
            </a:pPr>
            <a:r>
              <a:rPr lang="en-US" sz="1200" kern="0">
                <a:solidFill>
                  <a:srgbClr val="000000">
                    <a:lumMod val="65000"/>
                    <a:lumOff val="35000"/>
                  </a:srgbClr>
                </a:solidFill>
                <a:latin typeface="Arial" panose="020B0604020202020204"/>
                <a:ea typeface="Yu Gothic UI"/>
                <a:cs typeface="Calibri Light" panose="020F0302020204030204" pitchFamily="34" charset="0"/>
              </a:rPr>
              <a:t>160 Pediatricians</a:t>
            </a:r>
            <a:br>
              <a:rPr lang="en-US" sz="1200" kern="0">
                <a:solidFill>
                  <a:srgbClr val="000000">
                    <a:lumMod val="65000"/>
                    <a:lumOff val="35000"/>
                  </a:srgbClr>
                </a:solidFill>
                <a:latin typeface="Arial" panose="020B0604020202020204"/>
                <a:ea typeface="Yu Gothic UI"/>
                <a:cs typeface="Calibri Light" panose="020F0302020204030204" pitchFamily="34" charset="0"/>
              </a:rPr>
            </a:br>
            <a:r>
              <a:rPr lang="en-US" sz="1200" kern="0">
                <a:solidFill>
                  <a:srgbClr val="000000">
                    <a:lumMod val="65000"/>
                    <a:lumOff val="35000"/>
                  </a:srgbClr>
                </a:solidFill>
                <a:latin typeface="Arial" panose="020B0604020202020204"/>
                <a:ea typeface="Yu Gothic UI"/>
                <a:cs typeface="Calibri Light" panose="020F0302020204030204" pitchFamily="34" charset="0"/>
              </a:rPr>
              <a:t>40 PCPs</a:t>
            </a:r>
          </a:p>
        </p:txBody>
      </p:sp>
      <p:sp>
        <p:nvSpPr>
          <p:cNvPr id="13" name="Double Bracket 12">
            <a:extLst>
              <a:ext uri="{FF2B5EF4-FFF2-40B4-BE49-F238E27FC236}">
                <a16:creationId xmlns:a16="http://schemas.microsoft.com/office/drawing/2014/main" id="{5671F1BC-30B6-4900-E2C6-FCF5AAF8BDAB}"/>
              </a:ext>
            </a:extLst>
          </p:cNvPr>
          <p:cNvSpPr/>
          <p:nvPr/>
        </p:nvSpPr>
        <p:spPr>
          <a:xfrm>
            <a:off x="9655764" y="1020814"/>
            <a:ext cx="1975345" cy="3573146"/>
          </a:xfrm>
          <a:prstGeom prst="bracketPair">
            <a:avLst>
              <a:gd name="adj" fmla="val 7857"/>
            </a:avLst>
          </a:prstGeom>
          <a:noFill/>
          <a:ln w="25400" cap="flat" cmpd="sng" algn="ctr">
            <a:solidFill>
              <a:schemeClr val="accent1">
                <a:lumMod val="40000"/>
                <a:lumOff val="60000"/>
              </a:schemeClr>
            </a:solidFill>
            <a:prstDash val="solid"/>
          </a:ln>
          <a:effectLst>
            <a:glow rad="50800">
              <a:schemeClr val="accent1">
                <a:satMod val="175000"/>
                <a:alpha val="40000"/>
              </a:schemeClr>
            </a:glow>
          </a:effectLst>
        </p:spPr>
        <p:txBody>
          <a:bodyPr rtlCol="0" anchor="ctr"/>
          <a:lstStyle/>
          <a:p>
            <a:pPr algn="ctr">
              <a:defRPr/>
            </a:pPr>
            <a:endParaRPr lang="en-US" sz="1799" kern="0">
              <a:solidFill>
                <a:srgbClr val="5A5A5A"/>
              </a:solidFill>
              <a:latin typeface="Arial"/>
            </a:endParaRPr>
          </a:p>
        </p:txBody>
      </p:sp>
      <p:sp>
        <p:nvSpPr>
          <p:cNvPr id="15" name="Double Bracket 14">
            <a:extLst>
              <a:ext uri="{FF2B5EF4-FFF2-40B4-BE49-F238E27FC236}">
                <a16:creationId xmlns:a16="http://schemas.microsoft.com/office/drawing/2014/main" id="{CA079FFB-05CE-3FD2-1144-8F0A8BBD2960}"/>
              </a:ext>
            </a:extLst>
          </p:cNvPr>
          <p:cNvSpPr/>
          <p:nvPr/>
        </p:nvSpPr>
        <p:spPr>
          <a:xfrm>
            <a:off x="7302936" y="1020814"/>
            <a:ext cx="1975345" cy="3573146"/>
          </a:xfrm>
          <a:prstGeom prst="bracketPair">
            <a:avLst>
              <a:gd name="adj" fmla="val 7857"/>
            </a:avLst>
          </a:prstGeom>
          <a:noFill/>
          <a:ln w="25400" cap="flat" cmpd="sng" algn="ctr">
            <a:solidFill>
              <a:schemeClr val="accent1">
                <a:lumMod val="20000"/>
                <a:lumOff val="80000"/>
              </a:schemeClr>
            </a:solidFill>
            <a:prstDash val="solid"/>
          </a:ln>
          <a:effectLst/>
        </p:spPr>
        <p:txBody>
          <a:bodyPr rtlCol="0" anchor="ctr"/>
          <a:lstStyle/>
          <a:p>
            <a:pPr algn="ctr">
              <a:defRPr/>
            </a:pPr>
            <a:endParaRPr lang="en-US" sz="1799" kern="0">
              <a:solidFill>
                <a:srgbClr val="FFFFFF">
                  <a:lumMod val="50000"/>
                </a:srgbClr>
              </a:solidFill>
              <a:latin typeface="Arial"/>
            </a:endParaRPr>
          </a:p>
        </p:txBody>
      </p:sp>
      <p:sp>
        <p:nvSpPr>
          <p:cNvPr id="17" name="TextBox 16">
            <a:extLst>
              <a:ext uri="{FF2B5EF4-FFF2-40B4-BE49-F238E27FC236}">
                <a16:creationId xmlns:a16="http://schemas.microsoft.com/office/drawing/2014/main" id="{185D927D-15E2-627E-397F-956B50B49B2F}"/>
              </a:ext>
            </a:extLst>
          </p:cNvPr>
          <p:cNvSpPr txBox="1"/>
          <p:nvPr/>
        </p:nvSpPr>
        <p:spPr bwMode="gray">
          <a:xfrm>
            <a:off x="10094639" y="1990103"/>
            <a:ext cx="1140308" cy="238006"/>
          </a:xfrm>
          <a:prstGeom prst="rect">
            <a:avLst/>
          </a:prstGeom>
          <a:solidFill>
            <a:srgbClr val="F5F5F5"/>
          </a:solidFill>
        </p:spPr>
        <p:txBody>
          <a:bodyPr wrap="square" lIns="0" tIns="0" rIns="0" bIns="0" rtlCol="0" anchor="ctr" anchorCtr="0">
            <a:noAutofit/>
          </a:bodyPr>
          <a:lstStyle/>
          <a:p>
            <a:pPr algn="ctr">
              <a:lnSpc>
                <a:spcPct val="90000"/>
              </a:lnSpc>
              <a:spcBef>
                <a:spcPts val="1000"/>
              </a:spcBef>
              <a:defRPr/>
            </a:pPr>
            <a:r>
              <a:rPr lang="en-US" sz="1400" b="1">
                <a:solidFill>
                  <a:srgbClr val="0000C9"/>
                </a:solidFill>
                <a:latin typeface="Arial" panose="020B0604020202020204"/>
              </a:rPr>
              <a:t>Sample</a:t>
            </a:r>
            <a:endParaRPr lang="en-US" sz="900">
              <a:solidFill>
                <a:srgbClr val="0000C9"/>
              </a:solidFill>
              <a:latin typeface="Arial" panose="020B0604020202020204"/>
            </a:endParaRPr>
          </a:p>
        </p:txBody>
      </p:sp>
    </p:spTree>
    <p:extLst>
      <p:ext uri="{BB962C8B-B14F-4D97-AF65-F5344CB8AC3E}">
        <p14:creationId xmlns:p14="http://schemas.microsoft.com/office/powerpoint/2010/main" val="280694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DD0A3-9620-C1F7-C07E-404B1BBC7669}"/>
              </a:ext>
            </a:extLst>
          </p:cNvPr>
          <p:cNvSpPr>
            <a:spLocks noGrp="1"/>
          </p:cNvSpPr>
          <p:nvPr>
            <p:ph type="title"/>
          </p:nvPr>
        </p:nvSpPr>
        <p:spPr>
          <a:xfrm>
            <a:off x="1143413" y="171155"/>
            <a:ext cx="10751801" cy="850171"/>
          </a:xfrm>
        </p:spPr>
        <p:txBody>
          <a:bodyPr/>
          <a:lstStyle/>
          <a:p>
            <a:r>
              <a:rPr lang="en-US" sz="2799">
                <a:solidFill>
                  <a:schemeClr val="accent1"/>
                </a:solidFill>
              </a:rPr>
              <a:t>Study Design </a:t>
            </a:r>
            <a:r>
              <a:rPr lang="en-US" sz="2799"/>
              <a:t>| Wave 5 (Full) Sep‘25</a:t>
            </a:r>
          </a:p>
        </p:txBody>
      </p:sp>
      <p:cxnSp>
        <p:nvCxnSpPr>
          <p:cNvPr id="3" name="Straight Connector 2">
            <a:extLst>
              <a:ext uri="{FF2B5EF4-FFF2-40B4-BE49-F238E27FC236}">
                <a16:creationId xmlns:a16="http://schemas.microsoft.com/office/drawing/2014/main" id="{D2C75EBD-BE66-021E-D72A-7F4A1DEDE453}"/>
              </a:ext>
            </a:extLst>
          </p:cNvPr>
          <p:cNvCxnSpPr>
            <a:cxnSpLocks/>
          </p:cNvCxnSpPr>
          <p:nvPr/>
        </p:nvCxnSpPr>
        <p:spPr>
          <a:xfrm>
            <a:off x="565320" y="1467059"/>
            <a:ext cx="11061359" cy="0"/>
          </a:xfrm>
          <a:prstGeom prst="line">
            <a:avLst/>
          </a:prstGeom>
          <a:ln w="57150" cap="rnd">
            <a:solidFill>
              <a:schemeClr val="accent1"/>
            </a:solidFill>
            <a:prstDash val="solid"/>
          </a:ln>
          <a:effectLst/>
        </p:spPr>
        <p:style>
          <a:lnRef idx="2">
            <a:schemeClr val="accent1"/>
          </a:lnRef>
          <a:fillRef idx="0">
            <a:schemeClr val="accent1"/>
          </a:fillRef>
          <a:effectRef idx="1">
            <a:schemeClr val="accent1"/>
          </a:effectRef>
          <a:fontRef idx="minor">
            <a:schemeClr val="tx1"/>
          </a:fontRef>
        </p:style>
      </p:cxnSp>
      <p:grpSp>
        <p:nvGrpSpPr>
          <p:cNvPr id="16" name="Group 15">
            <a:extLst>
              <a:ext uri="{FF2B5EF4-FFF2-40B4-BE49-F238E27FC236}">
                <a16:creationId xmlns:a16="http://schemas.microsoft.com/office/drawing/2014/main" id="{944CEDD8-F125-3921-4A46-2B2A60D4A26F}"/>
              </a:ext>
            </a:extLst>
          </p:cNvPr>
          <p:cNvGrpSpPr/>
          <p:nvPr/>
        </p:nvGrpSpPr>
        <p:grpSpPr>
          <a:xfrm>
            <a:off x="2680448" y="978374"/>
            <a:ext cx="5718986" cy="1917235"/>
            <a:chOff x="2679559" y="924569"/>
            <a:chExt cx="5720476" cy="2353654"/>
          </a:xfrm>
        </p:grpSpPr>
        <p:cxnSp>
          <p:nvCxnSpPr>
            <p:cNvPr id="7" name="Straight Connector 6">
              <a:extLst>
                <a:ext uri="{FF2B5EF4-FFF2-40B4-BE49-F238E27FC236}">
                  <a16:creationId xmlns:a16="http://schemas.microsoft.com/office/drawing/2014/main" id="{81513509-DC38-9321-8BE6-7A31C539D518}"/>
                </a:ext>
              </a:extLst>
            </p:cNvPr>
            <p:cNvCxnSpPr>
              <a:cxnSpLocks/>
            </p:cNvCxnSpPr>
            <p:nvPr/>
          </p:nvCxnSpPr>
          <p:spPr bwMode="gray">
            <a:xfrm>
              <a:off x="2679559" y="924569"/>
              <a:ext cx="0" cy="2353654"/>
            </a:xfrm>
            <a:prstGeom prst="line">
              <a:avLst/>
            </a:prstGeom>
            <a:noFill/>
            <a:ln w="38100" cap="rnd">
              <a:solidFill>
                <a:schemeClr val="tx1">
                  <a:lumMod val="50000"/>
                  <a:lumOff val="50000"/>
                </a:schemeClr>
              </a:solidFill>
              <a:prstDash val="solid"/>
              <a:round/>
              <a:headEnd/>
              <a:tailEnd/>
            </a:ln>
            <a:effectLst/>
          </p:spPr>
        </p:cxnSp>
        <p:cxnSp>
          <p:nvCxnSpPr>
            <p:cNvPr id="8" name="Straight Connector 7">
              <a:extLst>
                <a:ext uri="{FF2B5EF4-FFF2-40B4-BE49-F238E27FC236}">
                  <a16:creationId xmlns:a16="http://schemas.microsoft.com/office/drawing/2014/main" id="{8491A6B9-A85E-65E1-1161-54585B08681D}"/>
                </a:ext>
              </a:extLst>
            </p:cNvPr>
            <p:cNvCxnSpPr>
              <a:cxnSpLocks/>
            </p:cNvCxnSpPr>
            <p:nvPr/>
          </p:nvCxnSpPr>
          <p:spPr bwMode="gray">
            <a:xfrm>
              <a:off x="8400035" y="924569"/>
              <a:ext cx="0" cy="2353654"/>
            </a:xfrm>
            <a:prstGeom prst="line">
              <a:avLst/>
            </a:prstGeom>
            <a:noFill/>
            <a:ln w="38100" cap="rnd">
              <a:solidFill>
                <a:schemeClr val="tx1">
                  <a:lumMod val="50000"/>
                  <a:lumOff val="50000"/>
                </a:schemeClr>
              </a:solidFill>
              <a:prstDash val="solid"/>
              <a:round/>
              <a:headEnd/>
              <a:tailEnd/>
            </a:ln>
            <a:effectLst/>
          </p:spPr>
        </p:cxnSp>
      </p:grpSp>
      <p:sp>
        <p:nvSpPr>
          <p:cNvPr id="9" name="Rectangle 8">
            <a:extLst>
              <a:ext uri="{FF2B5EF4-FFF2-40B4-BE49-F238E27FC236}">
                <a16:creationId xmlns:a16="http://schemas.microsoft.com/office/drawing/2014/main" id="{0BF5E942-F3F2-C2C1-195C-82AF9C6E0BAB}"/>
              </a:ext>
            </a:extLst>
          </p:cNvPr>
          <p:cNvSpPr/>
          <p:nvPr/>
        </p:nvSpPr>
        <p:spPr>
          <a:xfrm>
            <a:off x="2791088" y="990837"/>
            <a:ext cx="5535209" cy="400006"/>
          </a:xfrm>
          <a:prstGeom prst="rect">
            <a:avLst/>
          </a:prstGeom>
        </p:spPr>
        <p:txBody>
          <a:bodyPr wrap="square">
            <a:spAutoFit/>
          </a:bodyPr>
          <a:lstStyle/>
          <a:p>
            <a:pPr algn="ctr">
              <a:defRPr/>
            </a:pPr>
            <a:r>
              <a:rPr lang="en-US" sz="1999" b="1" kern="0">
                <a:solidFill>
                  <a:srgbClr val="000000"/>
                </a:solidFill>
                <a:latin typeface="Arial" panose="020B0604020202020204"/>
                <a:ea typeface="Yu Gothic UI"/>
                <a:cs typeface="Calibri Light" panose="020F0302020204030204" pitchFamily="34" charset="0"/>
              </a:rPr>
              <a:t>Target Audience</a:t>
            </a:r>
          </a:p>
        </p:txBody>
      </p:sp>
      <p:sp>
        <p:nvSpPr>
          <p:cNvPr id="10" name="Rectangle 9">
            <a:extLst>
              <a:ext uri="{FF2B5EF4-FFF2-40B4-BE49-F238E27FC236}">
                <a16:creationId xmlns:a16="http://schemas.microsoft.com/office/drawing/2014/main" id="{F04EC6E6-4CF9-9622-5608-A93348EC4580}"/>
              </a:ext>
            </a:extLst>
          </p:cNvPr>
          <p:cNvSpPr/>
          <p:nvPr/>
        </p:nvSpPr>
        <p:spPr>
          <a:xfrm>
            <a:off x="8987604" y="991321"/>
            <a:ext cx="2258915" cy="400006"/>
          </a:xfrm>
          <a:prstGeom prst="rect">
            <a:avLst/>
          </a:prstGeom>
        </p:spPr>
        <p:txBody>
          <a:bodyPr wrap="square">
            <a:spAutoFit/>
          </a:bodyPr>
          <a:lstStyle/>
          <a:p>
            <a:pPr>
              <a:defRPr/>
            </a:pPr>
            <a:r>
              <a:rPr lang="en-US" sz="1999" b="1" kern="0">
                <a:solidFill>
                  <a:srgbClr val="000000"/>
                </a:solidFill>
                <a:latin typeface="Arial" panose="020B0604020202020204"/>
                <a:ea typeface="Yu Gothic UI"/>
                <a:cs typeface="Calibri Light" panose="020F0302020204030204" pitchFamily="34" charset="0"/>
              </a:rPr>
              <a:t>2025 Field Dates</a:t>
            </a:r>
          </a:p>
        </p:txBody>
      </p:sp>
      <p:pic>
        <p:nvPicPr>
          <p:cNvPr id="11" name="Graphic 10" descr="Monthly calendar with solid fill">
            <a:extLst>
              <a:ext uri="{FF2B5EF4-FFF2-40B4-BE49-F238E27FC236}">
                <a16:creationId xmlns:a16="http://schemas.microsoft.com/office/drawing/2014/main" id="{27F7909B-8D42-5319-0E31-5246527CC4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11063" y="885849"/>
            <a:ext cx="551604" cy="551604"/>
          </a:xfrm>
          <a:prstGeom prst="rect">
            <a:avLst/>
          </a:prstGeom>
        </p:spPr>
      </p:pic>
      <p:pic>
        <p:nvPicPr>
          <p:cNvPr id="12" name="Graphic 11" descr="Target Audience with solid fill">
            <a:extLst>
              <a:ext uri="{FF2B5EF4-FFF2-40B4-BE49-F238E27FC236}">
                <a16:creationId xmlns:a16="http://schemas.microsoft.com/office/drawing/2014/main" id="{DBDEAB95-876A-72A4-EACE-C1D60007C8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89391" y="854710"/>
            <a:ext cx="655803" cy="655803"/>
          </a:xfrm>
          <a:prstGeom prst="rect">
            <a:avLst/>
          </a:prstGeom>
        </p:spPr>
      </p:pic>
      <p:pic>
        <p:nvPicPr>
          <p:cNvPr id="13" name="Graphic 12" descr="Gears with solid fill">
            <a:extLst>
              <a:ext uri="{FF2B5EF4-FFF2-40B4-BE49-F238E27FC236}">
                <a16:creationId xmlns:a16="http://schemas.microsoft.com/office/drawing/2014/main" id="{FCF290FF-3AB9-9EC4-F6FB-539DBBB9F21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0463" y="918877"/>
            <a:ext cx="526499" cy="526499"/>
          </a:xfrm>
          <a:prstGeom prst="rect">
            <a:avLst/>
          </a:prstGeom>
        </p:spPr>
      </p:pic>
      <p:sp>
        <p:nvSpPr>
          <p:cNvPr id="14" name="TextBox 13">
            <a:extLst>
              <a:ext uri="{FF2B5EF4-FFF2-40B4-BE49-F238E27FC236}">
                <a16:creationId xmlns:a16="http://schemas.microsoft.com/office/drawing/2014/main" id="{ED33C424-BDF9-22CE-9637-7D666E45FD39}"/>
              </a:ext>
            </a:extLst>
          </p:cNvPr>
          <p:cNvSpPr txBox="1"/>
          <p:nvPr/>
        </p:nvSpPr>
        <p:spPr bwMode="gray">
          <a:xfrm>
            <a:off x="2768242" y="1503517"/>
            <a:ext cx="2125083" cy="769241"/>
          </a:xfrm>
          <a:prstGeom prst="rect">
            <a:avLst/>
          </a:prstGeom>
          <a:noFill/>
        </p:spPr>
        <p:txBody>
          <a:bodyPr wrap="square">
            <a:spAutoFit/>
          </a:bodyPr>
          <a:lstStyle/>
          <a:p>
            <a:pPr>
              <a:buClr>
                <a:srgbClr val="0000C9"/>
              </a:buClr>
              <a:defRPr/>
            </a:pPr>
            <a:r>
              <a:rPr lang="en-US" sz="1600" u="sng">
                <a:solidFill>
                  <a:srgbClr val="0000C9"/>
                </a:solidFill>
                <a:latin typeface="Arial" panose="020B0604020202020204"/>
              </a:rPr>
              <a:t>200 Total Physicians</a:t>
            </a:r>
            <a:endParaRPr lang="en-US" sz="1600" u="sng" kern="0">
              <a:solidFill>
                <a:srgbClr val="0000C9"/>
              </a:solidFill>
              <a:latin typeface="Arial" panose="020B0604020202020204"/>
              <a:ea typeface="Yu Gothic UI"/>
              <a:cs typeface="Calibri Light" panose="020F0302020204030204" pitchFamily="34" charset="0"/>
            </a:endParaRPr>
          </a:p>
          <a:p>
            <a:pPr>
              <a:buClr>
                <a:srgbClr val="0000C9"/>
              </a:buClr>
              <a:defRPr/>
            </a:pPr>
            <a:r>
              <a:rPr lang="en-US" sz="1400" kern="0">
                <a:solidFill>
                  <a:srgbClr val="000000"/>
                </a:solidFill>
                <a:latin typeface="Arial" panose="020B0604020202020204"/>
                <a:ea typeface="Yu Gothic UI"/>
                <a:cs typeface="Calibri Light" panose="020F0302020204030204" pitchFamily="34" charset="0"/>
              </a:rPr>
              <a:t>160 Pediatricians</a:t>
            </a:r>
          </a:p>
          <a:p>
            <a:pPr>
              <a:buClr>
                <a:srgbClr val="0000C9"/>
              </a:buClr>
              <a:defRPr/>
            </a:pPr>
            <a:r>
              <a:rPr lang="en-US" sz="1400" kern="0">
                <a:solidFill>
                  <a:srgbClr val="000000"/>
                </a:solidFill>
                <a:latin typeface="Arial" panose="020B0604020202020204"/>
                <a:ea typeface="Yu Gothic UI"/>
                <a:cs typeface="Calibri Light" panose="020F0302020204030204" pitchFamily="34" charset="0"/>
              </a:rPr>
              <a:t>  40 PCPs</a:t>
            </a:r>
          </a:p>
        </p:txBody>
      </p:sp>
      <p:sp>
        <p:nvSpPr>
          <p:cNvPr id="15" name="Rectangle 14">
            <a:extLst>
              <a:ext uri="{FF2B5EF4-FFF2-40B4-BE49-F238E27FC236}">
                <a16:creationId xmlns:a16="http://schemas.microsoft.com/office/drawing/2014/main" id="{9CA1CC77-A077-C13B-2CC2-D0EDFA42822C}"/>
              </a:ext>
            </a:extLst>
          </p:cNvPr>
          <p:cNvSpPr/>
          <p:nvPr/>
        </p:nvSpPr>
        <p:spPr>
          <a:xfrm>
            <a:off x="605641" y="1503517"/>
            <a:ext cx="2008914" cy="769241"/>
          </a:xfrm>
          <a:prstGeom prst="rect">
            <a:avLst/>
          </a:prstGeom>
        </p:spPr>
        <p:txBody>
          <a:bodyPr wrap="square">
            <a:spAutoFit/>
          </a:bodyPr>
          <a:lstStyle/>
          <a:p>
            <a:pPr>
              <a:spcAft>
                <a:spcPts val="600"/>
              </a:spcAft>
              <a:buClr>
                <a:srgbClr val="0000C9"/>
              </a:buClr>
              <a:defRPr/>
            </a:pPr>
            <a:r>
              <a:rPr lang="fi-FI" sz="1600" u="sng" kern="0">
                <a:solidFill>
                  <a:srgbClr val="0000C9"/>
                </a:solidFill>
                <a:latin typeface="Arial" panose="020B0604020202020204"/>
                <a:ea typeface="Yu Gothic UI"/>
                <a:cs typeface="Calibri Light" panose="020F0302020204030204" pitchFamily="34" charset="0"/>
              </a:rPr>
              <a:t>30-minute </a:t>
            </a:r>
            <a:br>
              <a:rPr lang="fi-FI" sz="1600" kern="0">
                <a:solidFill>
                  <a:srgbClr val="0000C9"/>
                </a:solidFill>
                <a:latin typeface="Arial" panose="020B0604020202020204"/>
                <a:ea typeface="Yu Gothic UI"/>
                <a:cs typeface="Calibri Light" panose="020F0302020204030204" pitchFamily="34" charset="0"/>
              </a:rPr>
            </a:br>
            <a:r>
              <a:rPr lang="fi-FI" sz="1400" kern="0">
                <a:solidFill>
                  <a:srgbClr val="000000"/>
                </a:solidFill>
                <a:latin typeface="Arial" panose="020B0604020202020204"/>
                <a:ea typeface="Yu Gothic UI"/>
                <a:cs typeface="Calibri Light" panose="020F0302020204030204" pitchFamily="34" charset="0"/>
              </a:rPr>
              <a:t>Quantitative Internet Interviews</a:t>
            </a:r>
          </a:p>
        </p:txBody>
      </p:sp>
      <p:sp>
        <p:nvSpPr>
          <p:cNvPr id="18" name="TextBox 17">
            <a:extLst>
              <a:ext uri="{FF2B5EF4-FFF2-40B4-BE49-F238E27FC236}">
                <a16:creationId xmlns:a16="http://schemas.microsoft.com/office/drawing/2014/main" id="{AB4734BD-BF78-1D70-4D9F-4BC6128C605C}"/>
              </a:ext>
            </a:extLst>
          </p:cNvPr>
          <p:cNvSpPr txBox="1"/>
          <p:nvPr/>
        </p:nvSpPr>
        <p:spPr bwMode="gray">
          <a:xfrm>
            <a:off x="8506752" y="1503517"/>
            <a:ext cx="3285754" cy="984629"/>
          </a:xfrm>
          <a:prstGeom prst="rect">
            <a:avLst/>
          </a:prstGeom>
          <a:noFill/>
        </p:spPr>
        <p:txBody>
          <a:bodyPr wrap="square">
            <a:spAutoFit/>
          </a:bodyPr>
          <a:lstStyle/>
          <a:p>
            <a:pPr>
              <a:buClr>
                <a:srgbClr val="0000C9"/>
              </a:buClr>
              <a:defRPr/>
            </a:pPr>
            <a:r>
              <a:rPr lang="en-US" sz="1600" u="sng">
                <a:solidFill>
                  <a:srgbClr val="0000C9"/>
                </a:solidFill>
                <a:latin typeface="Arial" panose="020B0604020202020204"/>
              </a:rPr>
              <a:t>W5: Aug 22, 2025 – Oct 1, 2025</a:t>
            </a:r>
          </a:p>
          <a:p>
            <a:pPr>
              <a:buClr>
                <a:srgbClr val="0000C9"/>
              </a:buClr>
              <a:defRPr/>
            </a:pPr>
            <a:r>
              <a:rPr lang="en-US" sz="1400" kern="0">
                <a:solidFill>
                  <a:srgbClr val="000000"/>
                </a:solidFill>
                <a:latin typeface="Arial" panose="020B0604020202020204"/>
                <a:ea typeface="Yu Gothic UI"/>
                <a:cs typeface="Calibri Light" panose="020F0302020204030204" pitchFamily="34" charset="0"/>
              </a:rPr>
              <a:t>W4: Sep 5, 2024 – Oct 3, 2024</a:t>
            </a:r>
          </a:p>
          <a:p>
            <a:pPr>
              <a:buClr>
                <a:srgbClr val="0000C9"/>
              </a:buClr>
              <a:defRPr/>
            </a:pPr>
            <a:r>
              <a:rPr lang="en-US" sz="1400" kern="0">
                <a:solidFill>
                  <a:srgbClr val="000000"/>
                </a:solidFill>
                <a:latin typeface="Arial" panose="020B0604020202020204"/>
                <a:ea typeface="Yu Gothic UI"/>
                <a:cs typeface="Calibri Light" panose="020F0302020204030204" pitchFamily="34" charset="0"/>
              </a:rPr>
              <a:t>W3: Jun 17, 2024 – Jul 2, 2024</a:t>
            </a:r>
          </a:p>
          <a:p>
            <a:pPr>
              <a:buClr>
                <a:srgbClr val="0000C9"/>
              </a:buClr>
              <a:defRPr/>
            </a:pPr>
            <a:r>
              <a:rPr lang="en-US" sz="1400" kern="0">
                <a:solidFill>
                  <a:srgbClr val="000000"/>
                </a:solidFill>
                <a:latin typeface="Arial" panose="020B0604020202020204"/>
                <a:ea typeface="Yu Gothic UI"/>
                <a:cs typeface="Calibri Light" panose="020F0302020204030204" pitchFamily="34" charset="0"/>
              </a:rPr>
              <a:t>W2: Jan 3, 2024 – Feb 8, 2024</a:t>
            </a:r>
          </a:p>
        </p:txBody>
      </p:sp>
      <p:sp>
        <p:nvSpPr>
          <p:cNvPr id="21" name="TextBox 20">
            <a:extLst>
              <a:ext uri="{FF2B5EF4-FFF2-40B4-BE49-F238E27FC236}">
                <a16:creationId xmlns:a16="http://schemas.microsoft.com/office/drawing/2014/main" id="{177A9B88-3E37-848D-5FF3-375E972E8A95}"/>
              </a:ext>
            </a:extLst>
          </p:cNvPr>
          <p:cNvSpPr txBox="1"/>
          <p:nvPr/>
        </p:nvSpPr>
        <p:spPr bwMode="gray">
          <a:xfrm>
            <a:off x="942306" y="982855"/>
            <a:ext cx="1578091" cy="400006"/>
          </a:xfrm>
          <a:prstGeom prst="rect">
            <a:avLst/>
          </a:prstGeom>
          <a:noFill/>
        </p:spPr>
        <p:txBody>
          <a:bodyPr wrap="square">
            <a:spAutoFit/>
          </a:bodyPr>
          <a:lstStyle/>
          <a:p>
            <a:pPr>
              <a:defRPr/>
            </a:pPr>
            <a:r>
              <a:rPr lang="en-US" sz="1999" b="1" kern="0">
                <a:solidFill>
                  <a:srgbClr val="000000"/>
                </a:solidFill>
                <a:latin typeface="Arial" panose="020B0604020202020204"/>
                <a:ea typeface="Yu Gothic UI"/>
                <a:cs typeface="Calibri Light" panose="020F0302020204030204" pitchFamily="34" charset="0"/>
              </a:rPr>
              <a:t>Approach</a:t>
            </a:r>
          </a:p>
        </p:txBody>
      </p:sp>
      <p:sp>
        <p:nvSpPr>
          <p:cNvPr id="17" name="TextBox 16">
            <a:extLst>
              <a:ext uri="{FF2B5EF4-FFF2-40B4-BE49-F238E27FC236}">
                <a16:creationId xmlns:a16="http://schemas.microsoft.com/office/drawing/2014/main" id="{D76B15B4-5167-105D-842C-DD84409BFAD4}"/>
              </a:ext>
            </a:extLst>
          </p:cNvPr>
          <p:cNvSpPr txBox="1"/>
          <p:nvPr/>
        </p:nvSpPr>
        <p:spPr bwMode="gray">
          <a:xfrm>
            <a:off x="5006364" y="1503517"/>
            <a:ext cx="3319933" cy="1476943"/>
          </a:xfrm>
          <a:prstGeom prst="rect">
            <a:avLst/>
          </a:prstGeom>
          <a:noFill/>
          <a:ln>
            <a:noFill/>
          </a:ln>
        </p:spPr>
        <p:txBody>
          <a:bodyPr wrap="square">
            <a:spAutoFit/>
          </a:bodyPr>
          <a:lstStyle>
            <a:defPPr>
              <a:defRPr lang="en-US"/>
            </a:defPPr>
            <a:lvl1pPr>
              <a:buClr>
                <a:srgbClr val="0000C9"/>
              </a:buClr>
              <a:defRPr u="sng" cap="none">
                <a:solidFill>
                  <a:schemeClr val="accent1"/>
                </a:solidFill>
              </a:defRPr>
            </a:lvl1pPr>
          </a:lstStyle>
          <a:p>
            <a:pPr>
              <a:defRPr/>
            </a:pPr>
            <a:r>
              <a:rPr lang="fi-FI" sz="1600">
                <a:solidFill>
                  <a:schemeClr val="tx1"/>
                </a:solidFill>
                <a:latin typeface="Arial" panose="020B0604020202020204"/>
              </a:rPr>
              <a:t>Recruiting</a:t>
            </a:r>
          </a:p>
          <a:p>
            <a:pPr marL="169812" indent="-169812">
              <a:buFont typeface="Arial" panose="020B0604020202020204" pitchFamily="34" charset="0"/>
              <a:buChar char="•"/>
              <a:defRPr/>
            </a:pPr>
            <a:r>
              <a:rPr lang="en-US" sz="1200" u="none" kern="0">
                <a:solidFill>
                  <a:schemeClr val="tx1"/>
                </a:solidFill>
                <a:latin typeface="Arial" panose="020B0604020202020204"/>
                <a:ea typeface="Yu Gothic UI"/>
                <a:cs typeface="Calibri Light" panose="020F0302020204030204" pitchFamily="34" charset="0"/>
              </a:rPr>
              <a:t>Exclusively from Pfizer List</a:t>
            </a:r>
          </a:p>
          <a:p>
            <a:pPr marL="169812" indent="-169812">
              <a:buFont typeface="Arial" panose="020B0604020202020204" pitchFamily="34" charset="0"/>
              <a:buChar char="•"/>
              <a:defRPr/>
            </a:pPr>
            <a:r>
              <a:rPr lang="en-US" sz="1200" u="none" kern="0">
                <a:solidFill>
                  <a:schemeClr val="tx1"/>
                </a:solidFill>
                <a:ea typeface="Yu Gothic UI"/>
                <a:cs typeface="Calibri Light" panose="020F0302020204030204" pitchFamily="34" charset="0"/>
              </a:rPr>
              <a:t>New list provided this wave, including significantly fewer records and updated </a:t>
            </a:r>
            <a:br>
              <a:rPr lang="en-US" sz="1200" u="none" kern="0">
                <a:solidFill>
                  <a:schemeClr val="tx1"/>
                </a:solidFill>
                <a:ea typeface="Yu Gothic UI"/>
                <a:cs typeface="Calibri Light" panose="020F0302020204030204" pitchFamily="34" charset="0"/>
              </a:rPr>
            </a:br>
            <a:r>
              <a:rPr lang="en-US" sz="1200" u="none" kern="0">
                <a:solidFill>
                  <a:schemeClr val="tx1"/>
                </a:solidFill>
                <a:ea typeface="Yu Gothic UI"/>
                <a:cs typeface="Calibri Light" panose="020F0302020204030204" pitchFamily="34" charset="0"/>
              </a:rPr>
              <a:t>segment definitions</a:t>
            </a:r>
          </a:p>
          <a:p>
            <a:pPr marL="169812" indent="-169812">
              <a:buFont typeface="Arial" panose="020B0604020202020204" pitchFamily="34" charset="0"/>
              <a:buChar char="•"/>
              <a:defRPr/>
            </a:pPr>
            <a:r>
              <a:rPr lang="en-US" sz="1200" u="none" kern="0">
                <a:solidFill>
                  <a:schemeClr val="tx1"/>
                </a:solidFill>
                <a:ea typeface="Yu Gothic UI"/>
                <a:cs typeface="Calibri Light" panose="020F0302020204030204" pitchFamily="34" charset="0"/>
              </a:rPr>
              <a:t>Quotas determined by proportion of new Loyalty Segments on the new list</a:t>
            </a:r>
          </a:p>
        </p:txBody>
      </p:sp>
      <p:cxnSp>
        <p:nvCxnSpPr>
          <p:cNvPr id="30" name="Straight Connector 29">
            <a:extLst>
              <a:ext uri="{FF2B5EF4-FFF2-40B4-BE49-F238E27FC236}">
                <a16:creationId xmlns:a16="http://schemas.microsoft.com/office/drawing/2014/main" id="{A481354F-A822-1FC7-A16D-9B4D89122450}"/>
              </a:ext>
            </a:extLst>
          </p:cNvPr>
          <p:cNvCxnSpPr>
            <a:cxnSpLocks/>
          </p:cNvCxnSpPr>
          <p:nvPr/>
        </p:nvCxnSpPr>
        <p:spPr>
          <a:xfrm>
            <a:off x="562146" y="2980647"/>
            <a:ext cx="11061359" cy="0"/>
          </a:xfrm>
          <a:prstGeom prst="line">
            <a:avLst/>
          </a:prstGeom>
          <a:ln w="57150" cap="rnd">
            <a:solidFill>
              <a:schemeClr val="accent1"/>
            </a:solidFill>
            <a:prstDash val="solid"/>
          </a:ln>
          <a:effectLst/>
        </p:spPr>
        <p:style>
          <a:lnRef idx="2">
            <a:schemeClr val="accent1"/>
          </a:lnRef>
          <a:fillRef idx="0">
            <a:schemeClr val="accent1"/>
          </a:fillRef>
          <a:effectRef idx="1">
            <a:schemeClr val="accent1"/>
          </a:effectRef>
          <a:fontRef idx="minor">
            <a:schemeClr val="tx1"/>
          </a:fontRef>
        </p:style>
      </p:cxnSp>
      <p:graphicFrame>
        <p:nvGraphicFramePr>
          <p:cNvPr id="20" name="Table 19">
            <a:extLst>
              <a:ext uri="{FF2B5EF4-FFF2-40B4-BE49-F238E27FC236}">
                <a16:creationId xmlns:a16="http://schemas.microsoft.com/office/drawing/2014/main" id="{62903B95-57F8-7DD1-AAEC-169EEBD9CF06}"/>
              </a:ext>
            </a:extLst>
          </p:cNvPr>
          <p:cNvGraphicFramePr>
            <a:graphicFrameLocks noGrp="1"/>
          </p:cNvGraphicFramePr>
          <p:nvPr/>
        </p:nvGraphicFramePr>
        <p:xfrm>
          <a:off x="2791087" y="3267310"/>
          <a:ext cx="5525150" cy="2255635"/>
        </p:xfrm>
        <a:graphic>
          <a:graphicData uri="http://schemas.openxmlformats.org/drawingml/2006/table">
            <a:tbl>
              <a:tblPr firstRow="1" firstCol="1" bandRow="1"/>
              <a:tblGrid>
                <a:gridCol w="2771686">
                  <a:extLst>
                    <a:ext uri="{9D8B030D-6E8A-4147-A177-3AD203B41FA5}">
                      <a16:colId xmlns:a16="http://schemas.microsoft.com/office/drawing/2014/main" val="3349222864"/>
                    </a:ext>
                  </a:extLst>
                </a:gridCol>
                <a:gridCol w="1376732">
                  <a:extLst>
                    <a:ext uri="{9D8B030D-6E8A-4147-A177-3AD203B41FA5}">
                      <a16:colId xmlns:a16="http://schemas.microsoft.com/office/drawing/2014/main" val="640825952"/>
                    </a:ext>
                  </a:extLst>
                </a:gridCol>
                <a:gridCol w="1376732">
                  <a:extLst>
                    <a:ext uri="{9D8B030D-6E8A-4147-A177-3AD203B41FA5}">
                      <a16:colId xmlns:a16="http://schemas.microsoft.com/office/drawing/2014/main" val="561404510"/>
                    </a:ext>
                  </a:extLst>
                </a:gridCol>
              </a:tblGrid>
              <a:tr h="451702">
                <a:tc>
                  <a:txBody>
                    <a:bodyPr/>
                    <a:lstStyle/>
                    <a:p>
                      <a:pPr marL="0" marR="0" algn="ctr">
                        <a:lnSpc>
                          <a:spcPct val="109000"/>
                        </a:lnSpc>
                        <a:spcBef>
                          <a:spcPts val="0"/>
                        </a:spcBef>
                        <a:spcAft>
                          <a:spcPts val="0"/>
                        </a:spcAft>
                      </a:pPr>
                      <a:r>
                        <a:rPr lang="en-US" sz="1200" b="0" kern="1200">
                          <a:solidFill>
                            <a:schemeClr val="accent1"/>
                          </a:solidFill>
                          <a:effectLst/>
                          <a:latin typeface="+mn-lt"/>
                          <a:ea typeface="Calibri" panose="020F0502020204030204" pitchFamily="34" charset="0"/>
                        </a:rPr>
                        <a:t>Loyalty Segments </a:t>
                      </a:r>
                      <a:br>
                        <a:rPr lang="en-US" sz="1200" b="0" kern="1200">
                          <a:solidFill>
                            <a:schemeClr val="accent1"/>
                          </a:solidFill>
                          <a:effectLst/>
                          <a:latin typeface="+mn-lt"/>
                          <a:ea typeface="Calibri" panose="020F0502020204030204" pitchFamily="34" charset="0"/>
                        </a:rPr>
                      </a:br>
                      <a:r>
                        <a:rPr lang="en-US" sz="1200" b="0" kern="1200">
                          <a:solidFill>
                            <a:schemeClr val="accent1"/>
                          </a:solidFill>
                          <a:effectLst/>
                          <a:latin typeface="+mn-lt"/>
                          <a:ea typeface="Calibri" panose="020F0502020204030204" pitchFamily="34" charset="0"/>
                        </a:rPr>
                        <a:t>(Based on List Proportions)</a:t>
                      </a:r>
                      <a:endParaRPr lang="en-US" sz="1200" b="0">
                        <a:solidFill>
                          <a:schemeClr val="accent1"/>
                        </a:solidFill>
                        <a:effectLst/>
                        <a:latin typeface="+mn-lt"/>
                        <a:ea typeface="Times New Roman" panose="02020603050405020304" pitchFamily="18" charset="0"/>
                      </a:endParaRPr>
                    </a:p>
                  </a:txBody>
                  <a:tcPr marL="6856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ctr">
                        <a:lnSpc>
                          <a:spcPct val="106000"/>
                        </a:lnSpc>
                        <a:spcBef>
                          <a:spcPts val="0"/>
                        </a:spcBef>
                        <a:spcAft>
                          <a:spcPts val="0"/>
                        </a:spcAft>
                      </a:pPr>
                      <a:r>
                        <a:rPr lang="en-US" sz="1200" b="0">
                          <a:solidFill>
                            <a:schemeClr val="accent1"/>
                          </a:solidFill>
                          <a:effectLst/>
                          <a:latin typeface="+mn-lt"/>
                          <a:ea typeface="Aptos" panose="020B0004020202020204" pitchFamily="34" charset="0"/>
                        </a:rPr>
                        <a:t>Wave 5 Counts</a:t>
                      </a:r>
                      <a:br>
                        <a:rPr lang="en-US" sz="1200" b="0">
                          <a:solidFill>
                            <a:schemeClr val="accent1"/>
                          </a:solidFill>
                          <a:effectLst/>
                          <a:latin typeface="+mn-lt"/>
                          <a:ea typeface="Aptos" panose="020B0004020202020204" pitchFamily="34" charset="0"/>
                        </a:rPr>
                      </a:br>
                      <a:r>
                        <a:rPr lang="en-US" sz="1200" b="0">
                          <a:solidFill>
                            <a:schemeClr val="accent1"/>
                          </a:solidFill>
                          <a:effectLst/>
                          <a:latin typeface="+mn-lt"/>
                          <a:ea typeface="Aptos" panose="020B0004020202020204" pitchFamily="34" charset="0"/>
                        </a:rPr>
                        <a:t>(on-list only)</a:t>
                      </a:r>
                      <a:endParaRPr lang="en-US" sz="1200" b="0">
                        <a:solidFill>
                          <a:schemeClr val="accent1"/>
                        </a:solidFill>
                        <a:effectLst/>
                        <a:latin typeface="+mn-lt"/>
                        <a:ea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200" b="0">
                          <a:solidFill>
                            <a:schemeClr val="tx1">
                              <a:lumMod val="50000"/>
                              <a:lumOff val="50000"/>
                            </a:schemeClr>
                          </a:solidFill>
                          <a:effectLst/>
                          <a:latin typeface="+mn-lt"/>
                          <a:ea typeface="Aptos" panose="020B0004020202020204" pitchFamily="34" charset="0"/>
                        </a:rPr>
                        <a:t>Wave 4 Counts</a:t>
                      </a:r>
                      <a:br>
                        <a:rPr lang="en-US" sz="1200" b="0">
                          <a:solidFill>
                            <a:schemeClr val="tx1">
                              <a:lumMod val="50000"/>
                              <a:lumOff val="50000"/>
                            </a:schemeClr>
                          </a:solidFill>
                          <a:effectLst/>
                          <a:latin typeface="+mn-lt"/>
                          <a:ea typeface="Aptos" panose="020B0004020202020204" pitchFamily="34" charset="0"/>
                        </a:rPr>
                      </a:br>
                      <a:r>
                        <a:rPr lang="en-US" sz="1200" b="0">
                          <a:solidFill>
                            <a:schemeClr val="tx1">
                              <a:lumMod val="50000"/>
                              <a:lumOff val="50000"/>
                            </a:schemeClr>
                          </a:solidFill>
                          <a:effectLst/>
                          <a:latin typeface="+mn-lt"/>
                          <a:ea typeface="Aptos" panose="020B0004020202020204" pitchFamily="34" charset="0"/>
                        </a:rPr>
                        <a:t>(on-list only)</a:t>
                      </a:r>
                      <a:endParaRPr lang="en-US" sz="1200" b="0">
                        <a:solidFill>
                          <a:schemeClr val="tx1">
                            <a:lumMod val="50000"/>
                            <a:lumOff val="50000"/>
                          </a:schemeClr>
                        </a:solidFill>
                        <a:effectLst/>
                        <a:latin typeface="+mn-lt"/>
                        <a:ea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22495998"/>
                  </a:ext>
                </a:extLst>
              </a:tr>
              <a:tr h="214889">
                <a:tc>
                  <a:txBody>
                    <a:bodyPr/>
                    <a:lstStyle/>
                    <a:p>
                      <a:pPr marL="273050" marR="0" indent="-273050">
                        <a:lnSpc>
                          <a:spcPct val="106000"/>
                        </a:lnSpc>
                        <a:spcBef>
                          <a:spcPts val="0"/>
                        </a:spcBef>
                        <a:spcAft>
                          <a:spcPts val="0"/>
                        </a:spcAft>
                      </a:pPr>
                      <a:r>
                        <a:rPr lang="en-US" sz="1200">
                          <a:effectLst/>
                          <a:latin typeface="+mn-lt"/>
                          <a:ea typeface="Aptos" panose="020B0004020202020204" pitchFamily="34" charset="0"/>
                        </a:rPr>
                        <a:t>No Manufacturer Loyalty 	(Tier 1)​</a:t>
                      </a:r>
                    </a:p>
                  </a:txBody>
                  <a:tcPr marL="18283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a:effectLst/>
                          <a:latin typeface="+mn-lt"/>
                          <a:ea typeface="Aptos" panose="020B0004020202020204" pitchFamily="34" charset="0"/>
                        </a:rPr>
                        <a:t>47</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a:solidFill>
                            <a:schemeClr val="tx1">
                              <a:lumMod val="50000"/>
                              <a:lumOff val="50000"/>
                            </a:schemeClr>
                          </a:solidFill>
                          <a:effectLst/>
                          <a:latin typeface="+mn-lt"/>
                          <a:ea typeface="Times New Roman" panose="02020603050405020304" pitchFamily="18" charset="0"/>
                        </a:rPr>
                        <a:t>79</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56913094"/>
                  </a:ext>
                </a:extLst>
              </a:tr>
              <a:tr h="180103">
                <a:tc>
                  <a:txBody>
                    <a:bodyPr/>
                    <a:lstStyle/>
                    <a:p>
                      <a:pPr marL="111125" marR="0" lvl="0" indent="-111125" algn="l" defTabSz="914400" rtl="0" eaLnBrk="1" fontAlgn="auto" latinLnBrk="0" hangingPunct="1">
                        <a:lnSpc>
                          <a:spcPct val="106000"/>
                        </a:lnSpc>
                        <a:spcBef>
                          <a:spcPts val="0"/>
                        </a:spcBef>
                        <a:spcAft>
                          <a:spcPts val="0"/>
                        </a:spcAft>
                        <a:buClrTx/>
                        <a:buSzTx/>
                        <a:buFontTx/>
                        <a:buNone/>
                        <a:tabLst/>
                        <a:defRPr/>
                      </a:pPr>
                      <a:r>
                        <a:rPr lang="en-US" sz="1200">
                          <a:effectLst/>
                          <a:latin typeface="+mn-lt"/>
                          <a:ea typeface="Aptos" panose="020B0004020202020204" pitchFamily="34" charset="0"/>
                        </a:rPr>
                        <a:t>High Public 		(Tier 1)​</a:t>
                      </a:r>
                    </a:p>
                  </a:txBody>
                  <a:tcPr marL="18283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200">
                          <a:effectLst/>
                          <a:latin typeface="+mn-lt"/>
                          <a:ea typeface="Aptos" panose="020B0004020202020204" pitchFamily="34" charset="0"/>
                        </a:rPr>
                        <a:t>22</a:t>
                      </a:r>
                      <a:endParaRPr lang="en-US" sz="1200">
                        <a:effectLst/>
                        <a:latin typeface="+mn-lt"/>
                        <a:ea typeface="Times New Roman" panose="02020603050405020304" pitchFamily="18" charset="0"/>
                      </a:endParaRPr>
                    </a:p>
                  </a:txBody>
                  <a:tcPr marL="68562" marR="68562"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200">
                          <a:solidFill>
                            <a:schemeClr val="tx1">
                              <a:lumMod val="50000"/>
                              <a:lumOff val="50000"/>
                            </a:schemeClr>
                          </a:solidFill>
                          <a:effectLst/>
                          <a:latin typeface="+mn-lt"/>
                          <a:ea typeface="Times New Roman" panose="02020603050405020304" pitchFamily="18" charset="0"/>
                        </a:rPr>
                        <a:t>20</a:t>
                      </a:r>
                    </a:p>
                  </a:txBody>
                  <a:tcPr marL="68562" marR="68562" marT="0" marB="0">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39143384"/>
                  </a:ext>
                </a:extLst>
              </a:tr>
              <a:tr h="578825">
                <a:tc>
                  <a:txBody>
                    <a:bodyPr/>
                    <a:lstStyle/>
                    <a:p>
                      <a:pPr marL="111125" marR="0" lvl="0" indent="-111125" algn="l" defTabSz="914400" rtl="0" eaLnBrk="1" fontAlgn="auto" latinLnBrk="0" hangingPunct="1">
                        <a:lnSpc>
                          <a:spcPct val="106000"/>
                        </a:lnSpc>
                        <a:spcBef>
                          <a:spcPts val="0"/>
                        </a:spcBef>
                        <a:spcAft>
                          <a:spcPts val="0"/>
                        </a:spcAft>
                        <a:buClrTx/>
                        <a:buSzTx/>
                        <a:buFontTx/>
                        <a:buNone/>
                        <a:tabLst/>
                        <a:defRPr/>
                      </a:pPr>
                      <a:r>
                        <a:rPr lang="en-US" sz="1200">
                          <a:effectLst/>
                          <a:latin typeface="+mn-lt"/>
                          <a:ea typeface="Aptos" panose="020B0004020202020204" pitchFamily="34" charset="0"/>
                        </a:rPr>
                        <a:t>TRU Loyalists</a:t>
                      </a:r>
                      <a:r>
                        <a:rPr kumimoji="0" lang="en-US" sz="900" b="0" i="0" u="none" strike="noStrike" kern="1200" cap="none" spc="0" normalizeH="0" baseline="0" noProof="0">
                          <a:ln>
                            <a:noFill/>
                          </a:ln>
                          <a:solidFill>
                            <a:schemeClr val="accent1"/>
                          </a:solidFill>
                          <a:effectLst/>
                          <a:uLnTx/>
                          <a:uFillTx/>
                          <a:latin typeface="+mn-lt"/>
                          <a:ea typeface="Aptos" panose="020B0004020202020204" pitchFamily="34" charset="0"/>
                          <a:cs typeface="+mn-cs"/>
                        </a:rPr>
                        <a:t>*</a:t>
                      </a:r>
                      <a:r>
                        <a:rPr lang="en-US" sz="1200">
                          <a:effectLst/>
                          <a:latin typeface="+mn-lt"/>
                          <a:ea typeface="Aptos" panose="020B0004020202020204" pitchFamily="34" charset="0"/>
                        </a:rPr>
                        <a:t>	(Tier 1)</a:t>
                      </a:r>
                    </a:p>
                    <a:p>
                      <a:pPr marL="111125" marR="0" indent="-111125">
                        <a:lnSpc>
                          <a:spcPct val="106000"/>
                        </a:lnSpc>
                        <a:spcBef>
                          <a:spcPts val="0"/>
                        </a:spcBef>
                        <a:spcAft>
                          <a:spcPts val="0"/>
                        </a:spcAft>
                      </a:pPr>
                      <a:r>
                        <a:rPr lang="en-US" sz="1200">
                          <a:effectLst/>
                          <a:latin typeface="+mn-lt"/>
                          <a:ea typeface="Aptos" panose="020B0004020202020204" pitchFamily="34" charset="0"/>
                        </a:rPr>
                        <a:t>PFE Loyalists</a:t>
                      </a:r>
                      <a:r>
                        <a:rPr lang="en-US" sz="900">
                          <a:solidFill>
                            <a:schemeClr val="accent1"/>
                          </a:solidFill>
                          <a:effectLst/>
                          <a:latin typeface="+mn-lt"/>
                          <a:ea typeface="Aptos" panose="020B0004020202020204" pitchFamily="34" charset="0"/>
                        </a:rPr>
                        <a:t>*</a:t>
                      </a:r>
                      <a:r>
                        <a:rPr lang="en-US" sz="1200">
                          <a:effectLst/>
                          <a:latin typeface="+mn-lt"/>
                          <a:ea typeface="Aptos" panose="020B0004020202020204" pitchFamily="34" charset="0"/>
                        </a:rPr>
                        <a:t> 	(Tier 1)</a:t>
                      </a:r>
                    </a:p>
                    <a:p>
                      <a:pPr marL="111125" marR="0" indent="-111125">
                        <a:lnSpc>
                          <a:spcPct val="106000"/>
                        </a:lnSpc>
                        <a:spcBef>
                          <a:spcPts val="0"/>
                        </a:spcBef>
                        <a:spcAft>
                          <a:spcPts val="0"/>
                        </a:spcAft>
                      </a:pPr>
                      <a:r>
                        <a:rPr lang="en-US" sz="1200">
                          <a:effectLst/>
                          <a:latin typeface="+mn-lt"/>
                          <a:ea typeface="Aptos" panose="020B0004020202020204" pitchFamily="34" charset="0"/>
                        </a:rPr>
                        <a:t>2 for 3 Opportunities</a:t>
                      </a:r>
                      <a:r>
                        <a:rPr kumimoji="0" lang="en-US" sz="900" b="0" i="0" u="none" strike="noStrike" kern="1200" cap="none" spc="0" normalizeH="0" baseline="0" noProof="0">
                          <a:ln>
                            <a:noFill/>
                          </a:ln>
                          <a:solidFill>
                            <a:schemeClr val="accent1"/>
                          </a:solidFill>
                          <a:effectLst/>
                          <a:uLnTx/>
                          <a:uFillTx/>
                          <a:latin typeface="+mn-lt"/>
                          <a:ea typeface="Aptos" panose="020B0004020202020204" pitchFamily="34" charset="0"/>
                          <a:cs typeface="+mn-cs"/>
                        </a:rPr>
                        <a:t>*</a:t>
                      </a:r>
                      <a:r>
                        <a:rPr lang="en-US" sz="1200">
                          <a:effectLst/>
                          <a:latin typeface="+mn-lt"/>
                          <a:ea typeface="Aptos" panose="020B0004020202020204" pitchFamily="34" charset="0"/>
                        </a:rPr>
                        <a:t> 	(Tier 1)</a:t>
                      </a:r>
                    </a:p>
                  </a:txBody>
                  <a:tcPr marL="18283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200">
                          <a:effectLst/>
                          <a:latin typeface="+mn-lt"/>
                          <a:ea typeface="Times New Roman" panose="02020603050405020304" pitchFamily="18" charset="0"/>
                        </a:rPr>
                        <a:t>56</a:t>
                      </a:r>
                    </a:p>
                    <a:p>
                      <a:pPr marL="0" marR="0" algn="ctr">
                        <a:lnSpc>
                          <a:spcPct val="106000"/>
                        </a:lnSpc>
                        <a:spcBef>
                          <a:spcPts val="0"/>
                        </a:spcBef>
                        <a:spcAft>
                          <a:spcPts val="0"/>
                        </a:spcAft>
                      </a:pPr>
                      <a:r>
                        <a:rPr lang="en-US" sz="1200">
                          <a:effectLst/>
                          <a:latin typeface="+mn-lt"/>
                          <a:ea typeface="Times New Roman" panose="02020603050405020304" pitchFamily="18" charset="0"/>
                        </a:rPr>
                        <a:t>2</a:t>
                      </a:r>
                    </a:p>
                    <a:p>
                      <a:pPr marL="0" marR="0" algn="ctr">
                        <a:lnSpc>
                          <a:spcPct val="106000"/>
                        </a:lnSpc>
                        <a:spcBef>
                          <a:spcPts val="0"/>
                        </a:spcBef>
                        <a:spcAft>
                          <a:spcPts val="0"/>
                        </a:spcAft>
                      </a:pPr>
                      <a:r>
                        <a:rPr lang="en-US" sz="1200">
                          <a:effectLst/>
                          <a:latin typeface="+mn-lt"/>
                          <a:ea typeface="Times New Roman" panose="02020603050405020304" pitchFamily="18" charset="0"/>
                        </a:rPr>
                        <a:t>4</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a:solidFill>
                            <a:schemeClr val="tx1">
                              <a:lumMod val="50000"/>
                              <a:lumOff val="50000"/>
                            </a:schemeClr>
                          </a:solidFill>
                          <a:effectLst/>
                          <a:latin typeface="+mn-lt"/>
                          <a:ea typeface="Times New Roman" panose="02020603050405020304" pitchFamily="18" charset="0"/>
                        </a:rPr>
                        <a:t>-</a:t>
                      </a:r>
                    </a:p>
                    <a:p>
                      <a:pPr marL="0" marR="0" algn="ctr">
                        <a:lnSpc>
                          <a:spcPct val="106000"/>
                        </a:lnSpc>
                        <a:spcBef>
                          <a:spcPts val="0"/>
                        </a:spcBef>
                        <a:spcAft>
                          <a:spcPts val="0"/>
                        </a:spcAft>
                      </a:pPr>
                      <a:r>
                        <a:rPr lang="en-US" sz="1200">
                          <a:solidFill>
                            <a:schemeClr val="tx1">
                              <a:lumMod val="50000"/>
                              <a:lumOff val="50000"/>
                            </a:schemeClr>
                          </a:solidFill>
                          <a:effectLst/>
                          <a:latin typeface="+mn-lt"/>
                          <a:ea typeface="Times New Roman" panose="02020603050405020304" pitchFamily="18" charset="0"/>
                        </a:rPr>
                        <a:t>-</a:t>
                      </a:r>
                    </a:p>
                    <a:p>
                      <a:pPr marL="0" marR="0" algn="ctr">
                        <a:lnSpc>
                          <a:spcPct val="106000"/>
                        </a:lnSpc>
                        <a:spcBef>
                          <a:spcPts val="0"/>
                        </a:spcBef>
                        <a:spcAft>
                          <a:spcPts val="0"/>
                        </a:spcAft>
                      </a:pPr>
                      <a:r>
                        <a:rPr lang="en-US" sz="1200">
                          <a:solidFill>
                            <a:schemeClr val="tx1">
                              <a:lumMod val="50000"/>
                              <a:lumOff val="50000"/>
                            </a:schemeClr>
                          </a:solidFill>
                          <a:effectLst/>
                          <a:latin typeface="+mn-lt"/>
                          <a:ea typeface="Times New Roman" panose="02020603050405020304" pitchFamily="18" charset="0"/>
                        </a:rPr>
                        <a:t>-</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866685586"/>
                  </a:ext>
                </a:extLst>
              </a:tr>
              <a:tr h="183622">
                <a:tc>
                  <a:txBody>
                    <a:bodyPr/>
                    <a:lstStyle/>
                    <a:p>
                      <a:pPr marL="111125" marR="0" lvl="0" indent="-111125" algn="l" defTabSz="914400" rtl="0" eaLnBrk="1" fontAlgn="auto" latinLnBrk="0" hangingPunct="1">
                        <a:lnSpc>
                          <a:spcPct val="106000"/>
                        </a:lnSpc>
                        <a:spcBef>
                          <a:spcPts val="0"/>
                        </a:spcBef>
                        <a:spcAft>
                          <a:spcPts val="0"/>
                        </a:spcAft>
                        <a:buClrTx/>
                        <a:buSzTx/>
                        <a:buFontTx/>
                        <a:buNone/>
                        <a:tabLst/>
                        <a:defRPr/>
                      </a:pPr>
                      <a:r>
                        <a:rPr lang="en-US" sz="1200">
                          <a:effectLst/>
                          <a:latin typeface="+mn-lt"/>
                          <a:ea typeface="Times New Roman" panose="02020603050405020304" pitchFamily="18" charset="0"/>
                        </a:rPr>
                        <a:t>Vaxelis Loyal</a:t>
                      </a:r>
                      <a:r>
                        <a:rPr kumimoji="0" lang="en-US" sz="1200" b="0" i="0" u="none" strike="noStrike" kern="1200" cap="none" spc="0" normalizeH="0" baseline="0" noProof="0">
                          <a:ln>
                            <a:noFill/>
                          </a:ln>
                          <a:solidFill>
                            <a:schemeClr val="accent1"/>
                          </a:solidFill>
                          <a:effectLst/>
                          <a:uLnTx/>
                          <a:uFillTx/>
                          <a:latin typeface="+mn-lt"/>
                          <a:ea typeface="Aptos" panose="020B0004020202020204" pitchFamily="34" charset="0"/>
                          <a:cs typeface="+mn-cs"/>
                        </a:rPr>
                        <a:t>*</a:t>
                      </a:r>
                      <a:r>
                        <a:rPr lang="en-US" sz="1200">
                          <a:effectLst/>
                          <a:latin typeface="+mn-lt"/>
                          <a:ea typeface="Times New Roman" panose="02020603050405020304" pitchFamily="18" charset="0"/>
                        </a:rPr>
                        <a:t> 	(Tier 1)</a:t>
                      </a:r>
                    </a:p>
                  </a:txBody>
                  <a:tcPr marL="18283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a:effectLst/>
                          <a:latin typeface="+mn-lt"/>
                          <a:ea typeface="Times New Roman" panose="02020603050405020304" pitchFamily="18" charset="0"/>
                        </a:rPr>
                        <a:t>-</a:t>
                      </a:r>
                    </a:p>
                  </a:txBody>
                  <a:tcPr marL="68562" marR="68562"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200">
                          <a:solidFill>
                            <a:schemeClr val="tx1">
                              <a:lumMod val="50000"/>
                              <a:lumOff val="50000"/>
                            </a:schemeClr>
                          </a:solidFill>
                          <a:effectLst/>
                          <a:latin typeface="+mn-lt"/>
                          <a:ea typeface="Times New Roman" panose="02020603050405020304" pitchFamily="18" charset="0"/>
                        </a:rPr>
                        <a:t>11</a:t>
                      </a:r>
                    </a:p>
                  </a:txBody>
                  <a:tcPr marL="68562" marR="68562" marT="0" marB="0">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17095377"/>
                  </a:ext>
                </a:extLst>
              </a:tr>
              <a:tr h="216669">
                <a:tc>
                  <a:txBody>
                    <a:bodyPr/>
                    <a:lstStyle/>
                    <a:p>
                      <a:pPr marL="273050" marR="0" indent="-273050">
                        <a:lnSpc>
                          <a:spcPct val="106000"/>
                        </a:lnSpc>
                        <a:spcBef>
                          <a:spcPts val="0"/>
                        </a:spcBef>
                        <a:spcAft>
                          <a:spcPts val="0"/>
                        </a:spcAft>
                      </a:pPr>
                      <a:r>
                        <a:rPr lang="en-US" sz="1200">
                          <a:effectLst/>
                          <a:latin typeface="+mn-lt"/>
                          <a:ea typeface="Aptos" panose="020B0004020202020204" pitchFamily="34" charset="0"/>
                        </a:rPr>
                        <a:t>Sanofi Loyal 		(Tier 2)</a:t>
                      </a:r>
                      <a:endParaRPr lang="en-US" sz="1200">
                        <a:effectLst/>
                        <a:latin typeface="+mn-lt"/>
                        <a:ea typeface="Times New Roman" panose="02020603050405020304" pitchFamily="18" charset="0"/>
                      </a:endParaRPr>
                    </a:p>
                  </a:txBody>
                  <a:tcPr marL="18283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i="0">
                          <a:solidFill>
                            <a:schemeClr val="tx1"/>
                          </a:solidFill>
                          <a:effectLst/>
                          <a:latin typeface="+mn-lt"/>
                          <a:ea typeface="Times New Roman" panose="02020603050405020304" pitchFamily="18" charset="0"/>
                        </a:rPr>
                        <a:t>40</a:t>
                      </a:r>
                    </a:p>
                  </a:txBody>
                  <a:tcPr marL="68562" marR="68562"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i="0">
                          <a:solidFill>
                            <a:schemeClr val="tx1">
                              <a:lumMod val="50000"/>
                              <a:lumOff val="50000"/>
                            </a:schemeClr>
                          </a:solidFill>
                          <a:effectLst/>
                          <a:latin typeface="+mn-lt"/>
                          <a:ea typeface="Times New Roman" panose="02020603050405020304" pitchFamily="18" charset="0"/>
                        </a:rPr>
                        <a:t>45</a:t>
                      </a:r>
                    </a:p>
                  </a:txBody>
                  <a:tcPr marL="68562" marR="68562" marT="0" marB="0">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87426471"/>
                  </a:ext>
                </a:extLst>
              </a:tr>
              <a:tr h="214889">
                <a:tc>
                  <a:txBody>
                    <a:bodyPr/>
                    <a:lstStyle/>
                    <a:p>
                      <a:pPr marL="273050" marR="0" indent="-273050">
                        <a:lnSpc>
                          <a:spcPct val="106000"/>
                        </a:lnSpc>
                        <a:spcBef>
                          <a:spcPts val="0"/>
                        </a:spcBef>
                        <a:spcAft>
                          <a:spcPts val="0"/>
                        </a:spcAft>
                      </a:pPr>
                      <a:r>
                        <a:rPr lang="en-US" sz="1200">
                          <a:effectLst/>
                          <a:latin typeface="+mn-lt"/>
                          <a:ea typeface="Aptos" panose="020B0004020202020204" pitchFamily="34" charset="0"/>
                        </a:rPr>
                        <a:t>GSK Loyal 		(Tier 3)​</a:t>
                      </a:r>
                      <a:endParaRPr lang="en-US" sz="1200">
                        <a:effectLst/>
                        <a:latin typeface="+mn-lt"/>
                        <a:ea typeface="Times New Roman" panose="02020603050405020304" pitchFamily="18" charset="0"/>
                      </a:endParaRPr>
                    </a:p>
                  </a:txBody>
                  <a:tcPr marL="18283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a:effectLst/>
                          <a:latin typeface="+mn-lt"/>
                          <a:ea typeface="Times New Roman" panose="02020603050405020304" pitchFamily="18" charset="0"/>
                        </a:rPr>
                        <a:t>29</a:t>
                      </a:r>
                    </a:p>
                  </a:txBody>
                  <a:tcPr marL="68562" marR="68562"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a:solidFill>
                            <a:schemeClr val="tx1">
                              <a:lumMod val="50000"/>
                              <a:lumOff val="50000"/>
                            </a:schemeClr>
                          </a:solidFill>
                          <a:effectLst/>
                          <a:latin typeface="+mn-lt"/>
                          <a:ea typeface="Times New Roman" panose="02020603050405020304" pitchFamily="18" charset="0"/>
                        </a:rPr>
                        <a:t>45</a:t>
                      </a:r>
                    </a:p>
                  </a:txBody>
                  <a:tcPr marL="68562" marR="68562" marT="0" marB="0">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05887666"/>
                  </a:ext>
                </a:extLst>
              </a:tr>
              <a:tr h="214889">
                <a:tc>
                  <a:txBody>
                    <a:bodyPr/>
                    <a:lstStyle/>
                    <a:p>
                      <a:pPr marL="273050" marR="0" indent="-273050">
                        <a:lnSpc>
                          <a:spcPct val="106000"/>
                        </a:lnSpc>
                        <a:spcBef>
                          <a:spcPts val="0"/>
                        </a:spcBef>
                        <a:spcAft>
                          <a:spcPts val="0"/>
                        </a:spcAft>
                      </a:pPr>
                      <a:r>
                        <a:rPr lang="en-US" sz="1200" b="0" i="1">
                          <a:solidFill>
                            <a:schemeClr val="accent1"/>
                          </a:solidFill>
                          <a:effectLst/>
                          <a:latin typeface="+mn-lt"/>
                          <a:ea typeface="Times New Roman" panose="02020603050405020304" pitchFamily="18" charset="0"/>
                        </a:rPr>
                        <a:t>Total</a:t>
                      </a:r>
                    </a:p>
                  </a:txBody>
                  <a:tcPr marL="18283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marL="0" marR="0" algn="ctr">
                        <a:lnSpc>
                          <a:spcPct val="106000"/>
                        </a:lnSpc>
                        <a:spcBef>
                          <a:spcPts val="0"/>
                        </a:spcBef>
                        <a:spcAft>
                          <a:spcPts val="0"/>
                        </a:spcAft>
                      </a:pPr>
                      <a:r>
                        <a:rPr lang="en-US" sz="1200" b="0" i="1">
                          <a:solidFill>
                            <a:schemeClr val="accent1"/>
                          </a:solidFill>
                          <a:effectLst/>
                          <a:latin typeface="+mn-lt"/>
                          <a:ea typeface="Times New Roman" panose="02020603050405020304" pitchFamily="18" charset="0"/>
                        </a:rPr>
                        <a:t>200</a:t>
                      </a:r>
                    </a:p>
                  </a:txBody>
                  <a:tcPr marL="68562" marR="68562"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marL="0" marR="0" algn="ctr">
                        <a:lnSpc>
                          <a:spcPct val="106000"/>
                        </a:lnSpc>
                        <a:spcBef>
                          <a:spcPts val="0"/>
                        </a:spcBef>
                        <a:spcAft>
                          <a:spcPts val="0"/>
                        </a:spcAft>
                      </a:pPr>
                      <a:r>
                        <a:rPr lang="en-US" sz="1200" b="0" i="1" dirty="0">
                          <a:solidFill>
                            <a:schemeClr val="tx1">
                              <a:lumMod val="50000"/>
                              <a:lumOff val="50000"/>
                            </a:schemeClr>
                          </a:solidFill>
                          <a:effectLst/>
                          <a:latin typeface="+mn-lt"/>
                          <a:ea typeface="Times New Roman" panose="02020603050405020304" pitchFamily="18" charset="0"/>
                        </a:rPr>
                        <a:t>200</a:t>
                      </a:r>
                    </a:p>
                  </a:txBody>
                  <a:tcPr marL="68562" marR="68562" marT="0" marB="0">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821214651"/>
                  </a:ext>
                </a:extLst>
              </a:tr>
            </a:tbl>
          </a:graphicData>
        </a:graphic>
      </p:graphicFrame>
      <p:graphicFrame>
        <p:nvGraphicFramePr>
          <p:cNvPr id="22" name="Table 21">
            <a:extLst>
              <a:ext uri="{FF2B5EF4-FFF2-40B4-BE49-F238E27FC236}">
                <a16:creationId xmlns:a16="http://schemas.microsoft.com/office/drawing/2014/main" id="{CA95A59F-9C53-3DF4-4FB4-21C31C42E213}"/>
              </a:ext>
            </a:extLst>
          </p:cNvPr>
          <p:cNvGraphicFramePr>
            <a:graphicFrameLocks noGrp="1"/>
          </p:cNvGraphicFramePr>
          <p:nvPr/>
        </p:nvGraphicFramePr>
        <p:xfrm>
          <a:off x="562146" y="3269909"/>
          <a:ext cx="2040405" cy="2256509"/>
        </p:xfrm>
        <a:graphic>
          <a:graphicData uri="http://schemas.openxmlformats.org/drawingml/2006/table">
            <a:tbl>
              <a:tblPr firstRow="1" firstCol="1" bandRow="1"/>
              <a:tblGrid>
                <a:gridCol w="830681">
                  <a:extLst>
                    <a:ext uri="{9D8B030D-6E8A-4147-A177-3AD203B41FA5}">
                      <a16:colId xmlns:a16="http://schemas.microsoft.com/office/drawing/2014/main" val="3349222864"/>
                    </a:ext>
                  </a:extLst>
                </a:gridCol>
                <a:gridCol w="604862">
                  <a:extLst>
                    <a:ext uri="{9D8B030D-6E8A-4147-A177-3AD203B41FA5}">
                      <a16:colId xmlns:a16="http://schemas.microsoft.com/office/drawing/2014/main" val="640825952"/>
                    </a:ext>
                  </a:extLst>
                </a:gridCol>
                <a:gridCol w="604862">
                  <a:extLst>
                    <a:ext uri="{9D8B030D-6E8A-4147-A177-3AD203B41FA5}">
                      <a16:colId xmlns:a16="http://schemas.microsoft.com/office/drawing/2014/main" val="3565786398"/>
                    </a:ext>
                  </a:extLst>
                </a:gridCol>
              </a:tblGrid>
              <a:tr h="481765">
                <a:tc>
                  <a:txBody>
                    <a:bodyPr/>
                    <a:lstStyle/>
                    <a:p>
                      <a:pPr marL="0" marR="0" algn="ctr">
                        <a:lnSpc>
                          <a:spcPct val="106000"/>
                        </a:lnSpc>
                        <a:spcBef>
                          <a:spcPts val="0"/>
                        </a:spcBef>
                        <a:spcAft>
                          <a:spcPts val="0"/>
                        </a:spcAft>
                      </a:pPr>
                      <a:r>
                        <a:rPr lang="en-US" sz="1200" b="0">
                          <a:solidFill>
                            <a:schemeClr val="accent1"/>
                          </a:solidFill>
                          <a:effectLst/>
                          <a:latin typeface="+mn-lt"/>
                          <a:ea typeface="Aptos" panose="020B0004020202020204" pitchFamily="34" charset="0"/>
                        </a:rPr>
                        <a:t>Tier</a:t>
                      </a:r>
                      <a:br>
                        <a:rPr lang="en-US" sz="1200" b="0">
                          <a:solidFill>
                            <a:schemeClr val="accent1"/>
                          </a:solidFill>
                          <a:effectLst/>
                          <a:latin typeface="+mn-lt"/>
                          <a:ea typeface="Aptos" panose="020B0004020202020204" pitchFamily="34" charset="0"/>
                        </a:rPr>
                      </a:br>
                      <a:r>
                        <a:rPr lang="en-US" sz="1200" b="0">
                          <a:solidFill>
                            <a:schemeClr val="accent1"/>
                          </a:solidFill>
                          <a:effectLst/>
                          <a:latin typeface="+mn-lt"/>
                          <a:ea typeface="Aptos" panose="020B0004020202020204" pitchFamily="34" charset="0"/>
                        </a:rPr>
                        <a:t>Summary</a:t>
                      </a:r>
                      <a:endParaRPr lang="en-US" sz="1200" b="0">
                        <a:solidFill>
                          <a:schemeClr val="accent1"/>
                        </a:solidFill>
                        <a:effectLst/>
                        <a:latin typeface="+mn-lt"/>
                        <a:ea typeface="Times New Roman" panose="02020603050405020304" pitchFamily="18" charset="0"/>
                      </a:endParaRPr>
                    </a:p>
                  </a:txBody>
                  <a:tcPr marL="6856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ctr">
                        <a:lnSpc>
                          <a:spcPct val="106000"/>
                        </a:lnSpc>
                        <a:spcBef>
                          <a:spcPts val="0"/>
                        </a:spcBef>
                        <a:spcAft>
                          <a:spcPts val="0"/>
                        </a:spcAft>
                      </a:pPr>
                      <a:r>
                        <a:rPr lang="en-US" sz="1200" b="0">
                          <a:solidFill>
                            <a:schemeClr val="accent1"/>
                          </a:solidFill>
                          <a:effectLst/>
                          <a:latin typeface="+mn-lt"/>
                          <a:ea typeface="Aptos" panose="020B0004020202020204" pitchFamily="34" charset="0"/>
                        </a:rPr>
                        <a:t>Wave 5</a:t>
                      </a:r>
                      <a:br>
                        <a:rPr lang="en-US" sz="1200" b="0">
                          <a:solidFill>
                            <a:schemeClr val="accent1"/>
                          </a:solidFill>
                          <a:effectLst/>
                          <a:latin typeface="+mn-lt"/>
                          <a:ea typeface="Aptos" panose="020B0004020202020204" pitchFamily="34" charset="0"/>
                        </a:rPr>
                      </a:br>
                      <a:r>
                        <a:rPr lang="en-US" sz="1200" b="0">
                          <a:solidFill>
                            <a:schemeClr val="accent1"/>
                          </a:solidFill>
                          <a:effectLst/>
                          <a:latin typeface="+mn-lt"/>
                          <a:ea typeface="Aptos" panose="020B0004020202020204" pitchFamily="34" charset="0"/>
                        </a:rPr>
                        <a:t>Counts</a:t>
                      </a:r>
                      <a:endParaRPr lang="en-US" sz="1200" b="0">
                        <a:solidFill>
                          <a:schemeClr val="accent1"/>
                        </a:solidFill>
                        <a:effectLst/>
                        <a:latin typeface="+mn-lt"/>
                        <a:ea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ctr">
                        <a:lnSpc>
                          <a:spcPct val="106000"/>
                        </a:lnSpc>
                        <a:spcBef>
                          <a:spcPts val="0"/>
                        </a:spcBef>
                        <a:spcAft>
                          <a:spcPts val="0"/>
                        </a:spcAft>
                      </a:pPr>
                      <a:r>
                        <a:rPr lang="en-US" sz="1200" b="0">
                          <a:solidFill>
                            <a:schemeClr val="tx1">
                              <a:lumMod val="50000"/>
                              <a:lumOff val="50000"/>
                            </a:schemeClr>
                          </a:solidFill>
                          <a:effectLst/>
                          <a:latin typeface="+mn-lt"/>
                          <a:ea typeface="Times New Roman" panose="02020603050405020304" pitchFamily="18" charset="0"/>
                        </a:rPr>
                        <a:t>Wave 4</a:t>
                      </a:r>
                      <a:br>
                        <a:rPr lang="en-US" sz="1200" b="0">
                          <a:solidFill>
                            <a:schemeClr val="tx1">
                              <a:lumMod val="50000"/>
                              <a:lumOff val="50000"/>
                            </a:schemeClr>
                          </a:solidFill>
                          <a:effectLst/>
                          <a:latin typeface="+mn-lt"/>
                          <a:ea typeface="Times New Roman" panose="02020603050405020304" pitchFamily="18" charset="0"/>
                        </a:rPr>
                      </a:br>
                      <a:r>
                        <a:rPr lang="en-US" sz="1200" b="0">
                          <a:solidFill>
                            <a:schemeClr val="tx1">
                              <a:lumMod val="50000"/>
                              <a:lumOff val="50000"/>
                            </a:schemeClr>
                          </a:solidFill>
                          <a:effectLst/>
                          <a:latin typeface="+mn-lt"/>
                          <a:ea typeface="Times New Roman" panose="02020603050405020304" pitchFamily="18" charset="0"/>
                        </a:rPr>
                        <a:t>Counts</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22495998"/>
                  </a:ext>
                </a:extLst>
              </a:tr>
              <a:tr h="516471">
                <a:tc>
                  <a:txBody>
                    <a:bodyPr/>
                    <a:lstStyle/>
                    <a:p>
                      <a:pPr marL="0" marR="0" algn="ctr">
                        <a:lnSpc>
                          <a:spcPct val="106000"/>
                        </a:lnSpc>
                        <a:spcBef>
                          <a:spcPts val="0"/>
                        </a:spcBef>
                        <a:spcAft>
                          <a:spcPts val="0"/>
                        </a:spcAft>
                      </a:pPr>
                      <a:r>
                        <a:rPr lang="en-US" sz="1200" b="0">
                          <a:effectLst/>
                          <a:latin typeface="+mn-lt"/>
                          <a:ea typeface="Aptos" panose="020B0004020202020204" pitchFamily="34" charset="0"/>
                        </a:rPr>
                        <a:t>Tier 1</a:t>
                      </a:r>
                      <a:endParaRPr lang="en-US" sz="1200" b="0">
                        <a:effectLst/>
                        <a:latin typeface="+mn-lt"/>
                        <a:ea typeface="Times New Roman" panose="02020603050405020304" pitchFamily="18" charset="0"/>
                      </a:endParaRPr>
                    </a:p>
                  </a:txBody>
                  <a:tcPr marL="6856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b="0">
                          <a:effectLst/>
                          <a:latin typeface="+mn-lt"/>
                          <a:ea typeface="Aptos" panose="020B0004020202020204" pitchFamily="34" charset="0"/>
                        </a:rPr>
                        <a:t>131</a:t>
                      </a:r>
                      <a:endParaRPr lang="en-US" sz="1200" b="0">
                        <a:effectLst/>
                        <a:latin typeface="+mn-lt"/>
                        <a:ea typeface="Times New Roman" panose="02020603050405020304" pitchFamily="18" charset="0"/>
                      </a:endParaRPr>
                    </a:p>
                  </a:txBody>
                  <a:tcPr marL="68562" marR="68562"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b="0">
                          <a:solidFill>
                            <a:schemeClr val="tx1">
                              <a:lumMod val="50000"/>
                              <a:lumOff val="50000"/>
                            </a:schemeClr>
                          </a:solidFill>
                          <a:effectLst/>
                          <a:latin typeface="+mn-lt"/>
                          <a:ea typeface="Times New Roman" panose="02020603050405020304" pitchFamily="18" charset="0"/>
                        </a:rPr>
                        <a:t>110</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56913094"/>
                  </a:ext>
                </a:extLst>
              </a:tr>
              <a:tr h="516471">
                <a:tc>
                  <a:txBody>
                    <a:bodyPr/>
                    <a:lstStyle/>
                    <a:p>
                      <a:pPr marL="0" marR="0" algn="ctr">
                        <a:lnSpc>
                          <a:spcPct val="106000"/>
                        </a:lnSpc>
                        <a:spcBef>
                          <a:spcPts val="0"/>
                        </a:spcBef>
                        <a:spcAft>
                          <a:spcPts val="0"/>
                        </a:spcAft>
                      </a:pPr>
                      <a:r>
                        <a:rPr lang="en-US" sz="1200" b="0">
                          <a:effectLst/>
                          <a:latin typeface="+mn-lt"/>
                          <a:ea typeface="Aptos" panose="020B0004020202020204" pitchFamily="34" charset="0"/>
                        </a:rPr>
                        <a:t>Tier 2</a:t>
                      </a:r>
                      <a:endParaRPr lang="en-US" sz="1200" b="0">
                        <a:effectLst/>
                        <a:latin typeface="+mn-lt"/>
                        <a:ea typeface="Times New Roman" panose="02020603050405020304" pitchFamily="18" charset="0"/>
                      </a:endParaRPr>
                    </a:p>
                  </a:txBody>
                  <a:tcPr marL="6856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b="0">
                          <a:effectLst/>
                          <a:latin typeface="+mn-lt"/>
                          <a:ea typeface="Times New Roman" panose="02020603050405020304" pitchFamily="18" charset="0"/>
                        </a:rPr>
                        <a:t>40</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b="0">
                          <a:solidFill>
                            <a:schemeClr val="tx1">
                              <a:lumMod val="50000"/>
                              <a:lumOff val="50000"/>
                            </a:schemeClr>
                          </a:solidFill>
                          <a:effectLst/>
                          <a:latin typeface="+mn-lt"/>
                          <a:ea typeface="Times New Roman" panose="02020603050405020304" pitchFamily="18" charset="0"/>
                        </a:rPr>
                        <a:t>45</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866685586"/>
                  </a:ext>
                </a:extLst>
              </a:tr>
              <a:tr h="516471">
                <a:tc>
                  <a:txBody>
                    <a:bodyPr/>
                    <a:lstStyle/>
                    <a:p>
                      <a:pPr marL="0" marR="0" algn="ctr">
                        <a:lnSpc>
                          <a:spcPct val="106000"/>
                        </a:lnSpc>
                        <a:spcBef>
                          <a:spcPts val="0"/>
                        </a:spcBef>
                        <a:spcAft>
                          <a:spcPts val="0"/>
                        </a:spcAft>
                      </a:pPr>
                      <a:r>
                        <a:rPr lang="en-US" sz="1200" b="0">
                          <a:effectLst/>
                          <a:latin typeface="+mn-lt"/>
                          <a:ea typeface="Aptos" panose="020B0004020202020204" pitchFamily="34" charset="0"/>
                        </a:rPr>
                        <a:t>Tier 3</a:t>
                      </a:r>
                      <a:endParaRPr lang="en-US" sz="1200" b="0">
                        <a:effectLst/>
                        <a:latin typeface="+mn-lt"/>
                        <a:ea typeface="Times New Roman" panose="02020603050405020304" pitchFamily="18" charset="0"/>
                      </a:endParaRPr>
                    </a:p>
                  </a:txBody>
                  <a:tcPr marL="6856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b="0">
                          <a:effectLst/>
                          <a:latin typeface="+mn-lt"/>
                          <a:ea typeface="Aptos" panose="020B0004020202020204" pitchFamily="34" charset="0"/>
                        </a:rPr>
                        <a:t>29</a:t>
                      </a:r>
                      <a:endParaRPr lang="en-US" sz="1200" b="0">
                        <a:effectLst/>
                        <a:latin typeface="+mn-lt"/>
                        <a:ea typeface="Times New Roman" panose="02020603050405020304" pitchFamily="18" charset="0"/>
                      </a:endParaRPr>
                    </a:p>
                  </a:txBody>
                  <a:tcPr marL="68562" marR="68562"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ctr">
                        <a:lnSpc>
                          <a:spcPct val="106000"/>
                        </a:lnSpc>
                        <a:spcBef>
                          <a:spcPts val="0"/>
                        </a:spcBef>
                        <a:spcAft>
                          <a:spcPts val="0"/>
                        </a:spcAft>
                      </a:pPr>
                      <a:r>
                        <a:rPr lang="en-US" sz="1200" b="0">
                          <a:solidFill>
                            <a:schemeClr val="tx1">
                              <a:lumMod val="50000"/>
                              <a:lumOff val="50000"/>
                            </a:schemeClr>
                          </a:solidFill>
                          <a:effectLst/>
                          <a:latin typeface="+mn-lt"/>
                          <a:ea typeface="Times New Roman" panose="02020603050405020304" pitchFamily="18" charset="0"/>
                        </a:rPr>
                        <a:t>45</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17095377"/>
                  </a:ext>
                </a:extLst>
              </a:tr>
              <a:tr h="225331">
                <a:tc>
                  <a:txBody>
                    <a:bodyPr/>
                    <a:lstStyle/>
                    <a:p>
                      <a:pPr marL="0" marR="0" algn="ctr">
                        <a:lnSpc>
                          <a:spcPct val="106000"/>
                        </a:lnSpc>
                        <a:spcBef>
                          <a:spcPts val="0"/>
                        </a:spcBef>
                        <a:spcAft>
                          <a:spcPts val="0"/>
                        </a:spcAft>
                      </a:pPr>
                      <a:r>
                        <a:rPr lang="en-US" sz="1200" b="0" i="1">
                          <a:solidFill>
                            <a:schemeClr val="accent1"/>
                          </a:solidFill>
                          <a:effectLst/>
                          <a:latin typeface="+mn-lt"/>
                          <a:ea typeface="Aptos" panose="020B0004020202020204" pitchFamily="34" charset="0"/>
                        </a:rPr>
                        <a:t>Total</a:t>
                      </a:r>
                      <a:endParaRPr lang="en-US" sz="1200" b="0" i="1">
                        <a:solidFill>
                          <a:schemeClr val="accent1"/>
                        </a:solidFill>
                        <a:effectLst/>
                        <a:latin typeface="+mn-lt"/>
                        <a:ea typeface="Times New Roman" panose="02020603050405020304" pitchFamily="18" charset="0"/>
                      </a:endParaRPr>
                    </a:p>
                  </a:txBody>
                  <a:tcPr marL="68562" marR="68562" marT="0" marB="0" anchor="ctr">
                    <a:lnL w="12700" cap="flat" cmpd="sng" algn="ctr">
                      <a:solidFill>
                        <a:schemeClr val="tx1">
                          <a:lumMod val="65000"/>
                          <a:lumOff val="35000"/>
                        </a:scheme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algn="ctr">
                        <a:lnSpc>
                          <a:spcPct val="106000"/>
                        </a:lnSpc>
                        <a:spcBef>
                          <a:spcPts val="0"/>
                        </a:spcBef>
                        <a:spcAft>
                          <a:spcPts val="0"/>
                        </a:spcAft>
                      </a:pPr>
                      <a:r>
                        <a:rPr lang="en-US" sz="1200" b="0" i="1">
                          <a:solidFill>
                            <a:schemeClr val="accent1"/>
                          </a:solidFill>
                          <a:effectLst/>
                          <a:latin typeface="+mn-lt"/>
                          <a:ea typeface="Aptos" panose="020B0004020202020204" pitchFamily="34" charset="0"/>
                        </a:rPr>
                        <a:t>200</a:t>
                      </a:r>
                      <a:endParaRPr lang="en-US" sz="1200" b="0" i="1">
                        <a:solidFill>
                          <a:schemeClr val="accent1"/>
                        </a:solidFill>
                        <a:effectLst/>
                        <a:latin typeface="+mn-lt"/>
                        <a:ea typeface="Times New Roman" panose="02020603050405020304" pitchFamily="18" charset="0"/>
                      </a:endParaRPr>
                    </a:p>
                  </a:txBody>
                  <a:tcPr marL="68562" marR="68562"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algn="ctr">
                        <a:lnSpc>
                          <a:spcPct val="106000"/>
                        </a:lnSpc>
                        <a:spcBef>
                          <a:spcPts val="0"/>
                        </a:spcBef>
                        <a:spcAft>
                          <a:spcPts val="0"/>
                        </a:spcAft>
                      </a:pPr>
                      <a:r>
                        <a:rPr lang="en-US" sz="1200" b="0" i="1">
                          <a:solidFill>
                            <a:schemeClr val="tx1">
                              <a:lumMod val="50000"/>
                              <a:lumOff val="50000"/>
                            </a:schemeClr>
                          </a:solidFill>
                          <a:effectLst/>
                          <a:latin typeface="+mn-lt"/>
                          <a:ea typeface="Times New Roman" panose="02020603050405020304" pitchFamily="18" charset="0"/>
                        </a:rPr>
                        <a:t>200</a:t>
                      </a:r>
                    </a:p>
                  </a:txBody>
                  <a:tcPr marL="68562" marR="68562" marT="0" marB="0" anchor="ctr">
                    <a:lnL w="12700" cap="flat" cmpd="sng" algn="ctr">
                      <a:solidFill>
                        <a:srgbClr val="BFBFBF"/>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05887666"/>
                  </a:ext>
                </a:extLst>
              </a:tr>
            </a:tbl>
          </a:graphicData>
        </a:graphic>
      </p:graphicFrame>
      <p:sp>
        <p:nvSpPr>
          <p:cNvPr id="5" name="Rectangle 4">
            <a:extLst>
              <a:ext uri="{FF2B5EF4-FFF2-40B4-BE49-F238E27FC236}">
                <a16:creationId xmlns:a16="http://schemas.microsoft.com/office/drawing/2014/main" id="{B3E432C7-01C9-1630-E5B3-097A727B2183}"/>
              </a:ext>
            </a:extLst>
          </p:cNvPr>
          <p:cNvSpPr/>
          <p:nvPr/>
        </p:nvSpPr>
        <p:spPr>
          <a:xfrm>
            <a:off x="8446278" y="3160767"/>
            <a:ext cx="3491559" cy="369236"/>
          </a:xfrm>
          <a:prstGeom prst="rect">
            <a:avLst/>
          </a:prstGeom>
        </p:spPr>
        <p:txBody>
          <a:bodyPr wrap="square">
            <a:spAutoFit/>
          </a:bodyPr>
          <a:lstStyle/>
          <a:p>
            <a:pPr>
              <a:defRPr/>
            </a:pPr>
            <a:r>
              <a:rPr lang="en-US" sz="1799" b="1" kern="0">
                <a:solidFill>
                  <a:srgbClr val="000000"/>
                </a:solidFill>
                <a:latin typeface="Arial" panose="020B0604020202020204"/>
                <a:ea typeface="Yu Gothic UI"/>
                <a:cs typeface="Calibri Light" panose="020F0302020204030204" pitchFamily="34" charset="0"/>
              </a:rPr>
              <a:t>Screening Criteria</a:t>
            </a:r>
          </a:p>
        </p:txBody>
      </p:sp>
      <p:sp>
        <p:nvSpPr>
          <p:cNvPr id="24" name="TextBox 23">
            <a:extLst>
              <a:ext uri="{FF2B5EF4-FFF2-40B4-BE49-F238E27FC236}">
                <a16:creationId xmlns:a16="http://schemas.microsoft.com/office/drawing/2014/main" id="{06A84532-4E26-EE2A-5A5F-C2136E9BC121}"/>
              </a:ext>
            </a:extLst>
          </p:cNvPr>
          <p:cNvSpPr txBox="1"/>
          <p:nvPr/>
        </p:nvSpPr>
        <p:spPr bwMode="gray">
          <a:xfrm>
            <a:off x="8423308" y="3499831"/>
            <a:ext cx="3375165" cy="2431435"/>
          </a:xfrm>
          <a:prstGeom prst="rect">
            <a:avLst/>
          </a:prstGeom>
          <a:noFill/>
        </p:spPr>
        <p:txBody>
          <a:bodyPr wrap="square">
            <a:spAutoFit/>
          </a:bodyPr>
          <a:lstStyle/>
          <a:p>
            <a:pPr marL="111092" indent="-111092">
              <a:spcBef>
                <a:spcPts val="600"/>
              </a:spcBef>
              <a:buClr>
                <a:srgbClr val="0000C9"/>
              </a:buClr>
              <a:buFont typeface="Arial" panose="020B0604020202020204" pitchFamily="34" charset="0"/>
              <a:buChar char="•"/>
              <a:defRPr/>
            </a:pPr>
            <a:r>
              <a:rPr lang="en-US" sz="1200" kern="0">
                <a:solidFill>
                  <a:srgbClr val="000000"/>
                </a:solidFill>
                <a:latin typeface="Arial" panose="020B0604020202020204"/>
                <a:ea typeface="Yu Gothic UI"/>
                <a:cs typeface="Calibri Light" panose="020F0302020204030204" pitchFamily="34" charset="0"/>
              </a:rPr>
              <a:t>Treat patients 16 to 18 years of age</a:t>
            </a:r>
          </a:p>
          <a:p>
            <a:pPr marL="111092" indent="-111092">
              <a:spcBef>
                <a:spcPts val="600"/>
              </a:spcBef>
              <a:buClr>
                <a:srgbClr val="0000C9"/>
              </a:buClr>
              <a:buFont typeface="Arial" panose="020B0604020202020204" pitchFamily="34" charset="0"/>
              <a:buChar char="•"/>
              <a:defRPr/>
            </a:pPr>
            <a:r>
              <a:rPr lang="en-US" sz="1200" kern="0">
                <a:solidFill>
                  <a:srgbClr val="000000"/>
                </a:solidFill>
                <a:latin typeface="Arial" panose="020B0604020202020204"/>
                <a:ea typeface="Yu Gothic UI"/>
                <a:cs typeface="Calibri Light" panose="020F0302020204030204" pitchFamily="34" charset="0"/>
              </a:rPr>
              <a:t>Must stock/administer MenACWY and MenB vaccines</a:t>
            </a:r>
          </a:p>
          <a:p>
            <a:pPr marL="111092" indent="-111092">
              <a:spcBef>
                <a:spcPts val="600"/>
              </a:spcBef>
              <a:buClr>
                <a:srgbClr val="0000C9"/>
              </a:buClr>
              <a:buFont typeface="Arial" panose="020B0604020202020204" pitchFamily="34" charset="0"/>
              <a:buChar char="•"/>
              <a:defRPr/>
            </a:pPr>
            <a:r>
              <a:rPr lang="en-US" sz="1200" kern="0">
                <a:solidFill>
                  <a:srgbClr val="000000"/>
                </a:solidFill>
                <a:latin typeface="Arial" panose="020B0604020202020204"/>
                <a:ea typeface="Yu Gothic UI"/>
                <a:cs typeface="Calibri Light" panose="020F0302020204030204" pitchFamily="34" charset="0"/>
              </a:rPr>
              <a:t>At least 50% of patients 16 to 18 years of age must receive at least one dose of MenACWY vaccine and at least 10% must receive at least one dose of MenACWY + MenB vaccine</a:t>
            </a:r>
          </a:p>
          <a:p>
            <a:pPr marL="111092" indent="-111092">
              <a:spcBef>
                <a:spcPts val="600"/>
              </a:spcBef>
              <a:buClr>
                <a:srgbClr val="0000C9"/>
              </a:buClr>
              <a:buFont typeface="Arial" panose="020B0604020202020204" pitchFamily="34" charset="0"/>
              <a:buChar char="•"/>
              <a:defRPr/>
            </a:pPr>
            <a:r>
              <a:rPr lang="en-US" sz="1200" kern="0">
                <a:solidFill>
                  <a:srgbClr val="000000"/>
                </a:solidFill>
                <a:latin typeface="Arial" panose="020B0604020202020204"/>
                <a:ea typeface="Yu Gothic UI"/>
                <a:cs typeface="Calibri Light" panose="020F0302020204030204" pitchFamily="34" charset="0"/>
              </a:rPr>
              <a:t>Open to vaccinating all adolescent patients against MenACWY and MenB</a:t>
            </a:r>
          </a:p>
          <a:p>
            <a:pPr marL="111092" indent="-111092">
              <a:spcBef>
                <a:spcPts val="600"/>
              </a:spcBef>
              <a:buClr>
                <a:srgbClr val="0000C9"/>
              </a:buClr>
              <a:buFont typeface="Arial" panose="020B0604020202020204" pitchFamily="34" charset="0"/>
              <a:buChar char="•"/>
              <a:defRPr/>
            </a:pPr>
            <a:r>
              <a:rPr lang="en-US" sz="1200" kern="0">
                <a:solidFill>
                  <a:srgbClr val="000000"/>
                </a:solidFill>
                <a:latin typeface="Arial" panose="020B0604020202020204"/>
                <a:ea typeface="Yu Gothic UI"/>
                <a:cs typeface="Calibri Light" panose="020F0302020204030204" pitchFamily="34" charset="0"/>
              </a:rPr>
              <a:t>Meet standard industry screening</a:t>
            </a:r>
          </a:p>
        </p:txBody>
      </p:sp>
      <p:sp>
        <p:nvSpPr>
          <p:cNvPr id="6" name="TextBox 5">
            <a:extLst>
              <a:ext uri="{FF2B5EF4-FFF2-40B4-BE49-F238E27FC236}">
                <a16:creationId xmlns:a16="http://schemas.microsoft.com/office/drawing/2014/main" id="{272FDE95-3D30-F7AE-28E8-C74A6E119CD3}"/>
              </a:ext>
            </a:extLst>
          </p:cNvPr>
          <p:cNvSpPr txBox="1"/>
          <p:nvPr/>
        </p:nvSpPr>
        <p:spPr bwMode="gray">
          <a:xfrm>
            <a:off x="2791087" y="5685434"/>
            <a:ext cx="5525151" cy="1092322"/>
          </a:xfrm>
          <a:prstGeom prst="rect">
            <a:avLst/>
          </a:prstGeom>
          <a:solidFill>
            <a:schemeClr val="bg1">
              <a:lumMod val="85000"/>
            </a:schemeClr>
          </a:solidFill>
        </p:spPr>
        <p:txBody>
          <a:bodyPr wrap="square" lIns="45708" tIns="45708" rIns="45708" bIns="45708" rtlCol="0">
            <a:spAutoFit/>
          </a:bodyPr>
          <a:lstStyle/>
          <a:p>
            <a:pPr>
              <a:lnSpc>
                <a:spcPct val="90000"/>
              </a:lnSpc>
              <a:spcBef>
                <a:spcPts val="600"/>
              </a:spcBef>
              <a:defRPr/>
            </a:pPr>
            <a:r>
              <a:rPr lang="en-US" sz="1000">
                <a:solidFill>
                  <a:schemeClr val="accent1"/>
                </a:solidFill>
              </a:rPr>
              <a:t>Segment Changes in W5: </a:t>
            </a:r>
          </a:p>
          <a:p>
            <a:pPr marL="171399" indent="-171399">
              <a:lnSpc>
                <a:spcPct val="90000"/>
              </a:lnSpc>
              <a:spcBef>
                <a:spcPts val="600"/>
              </a:spcBef>
              <a:buFont typeface="Arial" panose="020B0604020202020204" pitchFamily="34" charset="0"/>
              <a:buChar char="•"/>
              <a:defRPr/>
            </a:pPr>
            <a:r>
              <a:rPr lang="en-US" sz="1000" i="1">
                <a:solidFill>
                  <a:schemeClr val="tx1">
                    <a:lumMod val="65000"/>
                    <a:lumOff val="35000"/>
                  </a:schemeClr>
                </a:solidFill>
              </a:rPr>
              <a:t>Tier 1 includes a different set of segments than in W4; </a:t>
            </a:r>
            <a:r>
              <a:rPr lang="en-US" sz="1000" i="1">
                <a:solidFill>
                  <a:schemeClr val="accent1"/>
                </a:solidFill>
              </a:rPr>
              <a:t>*</a:t>
            </a:r>
            <a:r>
              <a:rPr lang="en-US" sz="1000" i="1">
                <a:solidFill>
                  <a:schemeClr val="tx1">
                    <a:lumMod val="65000"/>
                    <a:lumOff val="35000"/>
                  </a:schemeClr>
                </a:solidFill>
              </a:rPr>
              <a:t>Indicates new or deleted segment</a:t>
            </a:r>
          </a:p>
          <a:p>
            <a:pPr marL="171399" indent="-171399">
              <a:lnSpc>
                <a:spcPct val="90000"/>
              </a:lnSpc>
              <a:spcBef>
                <a:spcPts val="600"/>
              </a:spcBef>
              <a:buFont typeface="Arial" panose="020B0604020202020204" pitchFamily="34" charset="0"/>
              <a:buChar char="•"/>
              <a:defRPr/>
            </a:pPr>
            <a:r>
              <a:rPr lang="en-US" sz="1000" i="1">
                <a:solidFill>
                  <a:schemeClr val="tx1">
                    <a:lumMod val="65000"/>
                    <a:lumOff val="35000"/>
                  </a:schemeClr>
                </a:solidFill>
              </a:rPr>
              <a:t>Tier 2 segments are defined differently than in W4; see definitions on next slide</a:t>
            </a:r>
          </a:p>
          <a:p>
            <a:pPr marL="171399" indent="-171399">
              <a:lnSpc>
                <a:spcPct val="90000"/>
              </a:lnSpc>
              <a:spcBef>
                <a:spcPts val="600"/>
              </a:spcBef>
              <a:buFont typeface="Arial" panose="020B0604020202020204" pitchFamily="34" charset="0"/>
              <a:buChar char="•"/>
              <a:defRPr/>
            </a:pPr>
            <a:r>
              <a:rPr lang="en-US" sz="1000" i="1">
                <a:solidFill>
                  <a:schemeClr val="tx1">
                    <a:lumMod val="65000"/>
                    <a:lumOff val="35000"/>
                  </a:schemeClr>
                </a:solidFill>
              </a:rPr>
              <a:t>Tier 3 segments are defined differently than in W4; see definitions on next slide</a:t>
            </a:r>
          </a:p>
          <a:p>
            <a:pPr>
              <a:lnSpc>
                <a:spcPct val="90000"/>
              </a:lnSpc>
              <a:spcBef>
                <a:spcPts val="600"/>
              </a:spcBef>
              <a:defRPr/>
            </a:pPr>
            <a:r>
              <a:rPr lang="en-US" sz="1000">
                <a:solidFill>
                  <a:schemeClr val="accent1"/>
                </a:solidFill>
              </a:rPr>
              <a:t>CAUTION: Interpret differences across waves with caution</a:t>
            </a:r>
          </a:p>
        </p:txBody>
      </p:sp>
    </p:spTree>
    <p:extLst>
      <p:ext uri="{BB962C8B-B14F-4D97-AF65-F5344CB8AC3E}">
        <p14:creationId xmlns:p14="http://schemas.microsoft.com/office/powerpoint/2010/main" val="3969479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AEBE-F60B-A306-B374-62C02558A7E0}"/>
              </a:ext>
            </a:extLst>
          </p:cNvPr>
          <p:cNvSpPr>
            <a:spLocks noGrp="1"/>
          </p:cNvSpPr>
          <p:nvPr>
            <p:ph type="title"/>
          </p:nvPr>
        </p:nvSpPr>
        <p:spPr/>
        <p:txBody>
          <a:bodyPr/>
          <a:lstStyle/>
          <a:p>
            <a:r>
              <a:rPr lang="en-US" sz="2799">
                <a:solidFill>
                  <a:schemeClr val="accent1"/>
                </a:solidFill>
              </a:rPr>
              <a:t>Segment Definition Comparison </a:t>
            </a:r>
            <a:r>
              <a:rPr lang="en-US" sz="2799"/>
              <a:t>| Wave 5 vs. Wave 4</a:t>
            </a:r>
            <a:endParaRPr lang="en-US" sz="2799">
              <a:solidFill>
                <a:schemeClr val="accent1"/>
              </a:solidFill>
            </a:endParaRPr>
          </a:p>
        </p:txBody>
      </p:sp>
      <p:graphicFrame>
        <p:nvGraphicFramePr>
          <p:cNvPr id="7" name="Table 6">
            <a:extLst>
              <a:ext uri="{FF2B5EF4-FFF2-40B4-BE49-F238E27FC236}">
                <a16:creationId xmlns:a16="http://schemas.microsoft.com/office/drawing/2014/main" id="{06F6908E-192D-D59C-18D2-8E2A5FDBF104}"/>
              </a:ext>
            </a:extLst>
          </p:cNvPr>
          <p:cNvGraphicFramePr>
            <a:graphicFrameLocks noGrp="1"/>
          </p:cNvGraphicFramePr>
          <p:nvPr>
            <p:extLst>
              <p:ext uri="{D42A27DB-BD31-4B8C-83A1-F6EECF244321}">
                <p14:modId xmlns:p14="http://schemas.microsoft.com/office/powerpoint/2010/main" val="306134832"/>
              </p:ext>
            </p:extLst>
          </p:nvPr>
        </p:nvGraphicFramePr>
        <p:xfrm>
          <a:off x="24507" y="707972"/>
          <a:ext cx="12144003" cy="5999189"/>
        </p:xfrm>
        <a:graphic>
          <a:graphicData uri="http://schemas.openxmlformats.org/drawingml/2006/table">
            <a:tbl>
              <a:tblPr firstRow="1" bandRow="1">
                <a:tableStyleId>{5C22544A-7EE6-4342-B048-85BDC9FD1C3A}</a:tableStyleId>
              </a:tblPr>
              <a:tblGrid>
                <a:gridCol w="943861">
                  <a:extLst>
                    <a:ext uri="{9D8B030D-6E8A-4147-A177-3AD203B41FA5}">
                      <a16:colId xmlns:a16="http://schemas.microsoft.com/office/drawing/2014/main" val="2006220670"/>
                    </a:ext>
                  </a:extLst>
                </a:gridCol>
                <a:gridCol w="1701198">
                  <a:extLst>
                    <a:ext uri="{9D8B030D-6E8A-4147-A177-3AD203B41FA5}">
                      <a16:colId xmlns:a16="http://schemas.microsoft.com/office/drawing/2014/main" val="3116908532"/>
                    </a:ext>
                  </a:extLst>
                </a:gridCol>
                <a:gridCol w="4853224">
                  <a:extLst>
                    <a:ext uri="{9D8B030D-6E8A-4147-A177-3AD203B41FA5}">
                      <a16:colId xmlns:a16="http://schemas.microsoft.com/office/drawing/2014/main" val="4201970054"/>
                    </a:ext>
                  </a:extLst>
                </a:gridCol>
                <a:gridCol w="4645720">
                  <a:extLst>
                    <a:ext uri="{9D8B030D-6E8A-4147-A177-3AD203B41FA5}">
                      <a16:colId xmlns:a16="http://schemas.microsoft.com/office/drawing/2014/main" val="4131258227"/>
                    </a:ext>
                  </a:extLst>
                </a:gridCol>
              </a:tblGrid>
              <a:tr h="342495">
                <a:tc gridSpan="2">
                  <a:txBody>
                    <a:bodyPr/>
                    <a:lstStyle/>
                    <a:p>
                      <a:pPr algn="ctr"/>
                      <a:r>
                        <a:rPr lang="en-US" sz="1600"/>
                        <a:t>Loyalty Segment</a:t>
                      </a:r>
                    </a:p>
                  </a:txBody>
                  <a:tcPr marL="91416" marR="91416" marT="45708" marB="45708">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a:p>
                  </a:txBody>
                  <a:tcPr>
                    <a:lnB w="28575" cap="flat" cmpd="sng" algn="ctr">
                      <a:solidFill>
                        <a:schemeClr val="tx1"/>
                      </a:solidFill>
                      <a:prstDash val="solid"/>
                      <a:round/>
                      <a:headEnd type="none" w="med" len="med"/>
                      <a:tailEnd type="none" w="med" len="med"/>
                    </a:lnB>
                  </a:tcPr>
                </a:tc>
                <a:tc>
                  <a:txBody>
                    <a:bodyPr/>
                    <a:lstStyle/>
                    <a:p>
                      <a:pPr algn="ctr"/>
                      <a:r>
                        <a:rPr lang="en-US" sz="1600"/>
                        <a:t>Wave 5 Definition</a:t>
                      </a:r>
                    </a:p>
                  </a:txBody>
                  <a:tcPr marL="91416" marR="91416" marT="45708" marB="45708">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solidFill>
                  </a:tcPr>
                </a:tc>
                <a:tc>
                  <a:txBody>
                    <a:bodyPr/>
                    <a:lstStyle/>
                    <a:p>
                      <a:pPr algn="ctr"/>
                      <a:r>
                        <a:rPr lang="en-US" sz="1600"/>
                        <a:t>Wave 4 Definition</a:t>
                      </a:r>
                    </a:p>
                  </a:txBody>
                  <a:tcPr marL="91416" marR="91416" marT="45708" marB="45708">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1765109952"/>
                  </a:ext>
                </a:extLst>
              </a:tr>
              <a:tr h="712450">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effectLst/>
                          <a:latin typeface="+mn-lt"/>
                          <a:ea typeface="Aptos" panose="020B0004020202020204" pitchFamily="34" charset="0"/>
                        </a:rPr>
                        <a:t>TIER 1</a:t>
                      </a:r>
                    </a:p>
                  </a:txBody>
                  <a:tcPr marL="91416" marR="91416" marT="45708" marB="45708" anchor="ctr">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effectLst/>
                          <a:latin typeface="+mn-lt"/>
                          <a:ea typeface="Aptos" panose="020B0004020202020204" pitchFamily="34" charset="0"/>
                        </a:rPr>
                        <a:t>No Manufacturer Loyalty (Tier 1)​</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kern="1200">
                          <a:solidFill>
                            <a:schemeClr val="dk1"/>
                          </a:solidFill>
                          <a:effectLst/>
                          <a:latin typeface="+mn-lt"/>
                          <a:ea typeface="+mn-ea"/>
                          <a:cs typeface="+mn-cs"/>
                        </a:rPr>
                        <a:t>(</a:t>
                      </a:r>
                      <a:r>
                        <a:rPr lang="en-US" sz="1100" b="1" kern="1200">
                          <a:solidFill>
                            <a:schemeClr val="dk1"/>
                          </a:solidFill>
                          <a:effectLst/>
                          <a:latin typeface="+mn-lt"/>
                          <a:ea typeface="+mn-ea"/>
                          <a:cs typeface="+mn-cs"/>
                        </a:rPr>
                        <a:t>High MenQuadfi/Bex/Vaxelis users</a:t>
                      </a:r>
                      <a:r>
                        <a:rPr lang="en-US" sz="1100" kern="1200">
                          <a:solidFill>
                            <a:schemeClr val="dk1"/>
                          </a:solidFill>
                          <a:effectLst/>
                          <a:latin typeface="+mn-lt"/>
                          <a:ea typeface="+mn-ea"/>
                          <a:cs typeface="+mn-cs"/>
                        </a:rPr>
                        <a:t>) TRU BREADTH</a:t>
                      </a:r>
                    </a:p>
                    <a:p>
                      <a:pPr marL="114300" indent="-114300">
                        <a:buFont typeface="Arial" panose="020B0604020202020204" pitchFamily="34" charset="0"/>
                        <a:buChar char="•"/>
                      </a:pPr>
                      <a:r>
                        <a:rPr lang="en-US" sz="1100">
                          <a:latin typeface="+mn-lt"/>
                        </a:rPr>
                        <a:t>MenQuadfi = 75%+ of ACWY vaccines AND Bex = 75%+ of MenB vaccines AND Vaxelis is used </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a:latin typeface="+mn-lt"/>
                        </a:rPr>
                        <a:t>ALL ELSE </a:t>
                      </a:r>
                      <a:r>
                        <a:rPr lang="en-US" sz="1100">
                          <a:latin typeface="+mn-lt"/>
                        </a:rPr>
                        <a:t>– Tier 1 on list that do not fall into any other Tier 1 segments</a:t>
                      </a:r>
                    </a:p>
                  </a:txBody>
                  <a:tcPr marL="91416" marR="91416" marT="45708" marB="45708" anchor="ctr">
                    <a:lnL w="12700" cap="flat" cmpd="sng" algn="ctr">
                      <a:solidFill>
                        <a:schemeClr val="bg1">
                          <a:lumMod val="85000"/>
                        </a:schemeClr>
                      </a:solidFill>
                      <a:prstDash val="solid"/>
                      <a:round/>
                      <a:headEnd type="none" w="med" len="med"/>
                      <a:tailEnd type="none" w="med" len="med"/>
                    </a:lnL>
                    <a:lnT w="2857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89370878"/>
                  </a:ext>
                </a:extLst>
              </a:tr>
              <a:tr h="31055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effectLst/>
                        <a:latin typeface="+mn-lt"/>
                        <a:ea typeface="Times New Roman" panose="02020603050405020304" pitchFamily="18"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effectLst/>
                          <a:latin typeface="+mn-lt"/>
                          <a:ea typeface="Aptos" panose="020B0004020202020204" pitchFamily="34" charset="0"/>
                        </a:rPr>
                        <a:t>High Public (Tier 1)​</a:t>
                      </a:r>
                      <a:endParaRPr lang="en-US" sz="1100" b="1">
                        <a:effectLst/>
                        <a:latin typeface="+mn-lt"/>
                        <a:ea typeface="Times New Roman" panose="02020603050405020304" pitchFamily="18" charset="0"/>
                      </a:endParaRP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a:effectLst/>
                          <a:latin typeface="+mn-lt"/>
                          <a:ea typeface="MS Mincho" panose="02020609040205080304" pitchFamily="49" charset="-128"/>
                          <a:cs typeface="Times New Roman" panose="02020603050405020304" pitchFamily="18" charset="0"/>
                        </a:rPr>
                        <a:t>High Public </a:t>
                      </a:r>
                      <a:r>
                        <a:rPr lang="en-US" sz="1100">
                          <a:effectLst/>
                          <a:latin typeface="+mn-lt"/>
                          <a:ea typeface="MS Mincho" panose="02020609040205080304" pitchFamily="49" charset="-128"/>
                          <a:cs typeface="Times New Roman" panose="02020603050405020304" pitchFamily="18" charset="0"/>
                        </a:rPr>
                        <a:t>(FQHCs, RHCs, Health Dept, etc.) PEN BREADTH</a:t>
                      </a:r>
                      <a:endParaRPr lang="en-US" sz="1100">
                        <a:latin typeface="+mn-lt"/>
                      </a:endParaRP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a:latin typeface="+mn-lt"/>
                        </a:rPr>
                        <a:t>Based on List Flag</a:t>
                      </a:r>
                      <a:endParaRPr lang="en-US" sz="1100" b="1">
                        <a:highlight>
                          <a:srgbClr val="FFFF00"/>
                        </a:highlight>
                        <a:latin typeface="+mn-lt"/>
                      </a:endParaRPr>
                    </a:p>
                  </a:txBody>
                  <a:tcPr marL="91416" marR="91416" marT="45708" marB="45708"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10152342"/>
                  </a:ext>
                </a:extLst>
              </a:tr>
              <a:tr h="51150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effectLst/>
                        <a:latin typeface="+mn-lt"/>
                        <a:ea typeface="Aptos" panose="020B0004020202020204" pitchFamily="34"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effectLst/>
                          <a:latin typeface="+mn-lt"/>
                          <a:ea typeface="Aptos" panose="020B0004020202020204" pitchFamily="34" charset="0"/>
                        </a:rPr>
                        <a:t>PFE Loyalists (Tier 1)</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dirty="0">
                          <a:latin typeface="+mn-lt"/>
                        </a:rPr>
                        <a:t>(High Penbraya/Trumenba stockers) </a:t>
                      </a:r>
                      <a:r>
                        <a:rPr lang="en-US" sz="1100" dirty="0">
                          <a:latin typeface="+mn-lt"/>
                        </a:rPr>
                        <a:t>PEN/TRU DEPTH</a:t>
                      </a:r>
                    </a:p>
                    <a:p>
                      <a:pPr marL="114300" indent="-114300">
                        <a:buFont typeface="Arial" panose="020B0604020202020204" pitchFamily="34" charset="0"/>
                        <a:buChar char="•"/>
                      </a:pPr>
                      <a:r>
                        <a:rPr lang="en-US" sz="1100" dirty="0">
                          <a:latin typeface="+mn-lt"/>
                        </a:rPr>
                        <a:t>Penbraya is used AND TRU = 75%+ of </a:t>
                      </a:r>
                      <a:r>
                        <a:rPr lang="en-US" sz="1100" dirty="0" err="1">
                          <a:latin typeface="+mn-lt"/>
                        </a:rPr>
                        <a:t>MenB</a:t>
                      </a:r>
                      <a:r>
                        <a:rPr lang="en-US" sz="1100" dirty="0">
                          <a:latin typeface="+mn-lt"/>
                        </a:rPr>
                        <a:t> vaccines</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a:latin typeface="+mn-lt"/>
                        </a:rPr>
                        <a:t>N/A</a:t>
                      </a:r>
                    </a:p>
                  </a:txBody>
                  <a:tcPr marL="91416" marR="91416" marT="45708" marB="45708"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4974369"/>
                  </a:ext>
                </a:extLst>
              </a:tr>
              <a:tr h="51150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effectLst/>
                        <a:latin typeface="+mn-lt"/>
                        <a:ea typeface="Aptos" panose="020B0004020202020204" pitchFamily="34"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effectLst/>
                          <a:latin typeface="+mn-lt"/>
                          <a:ea typeface="Aptos" panose="020B0004020202020204" pitchFamily="34" charset="0"/>
                        </a:rPr>
                        <a:t>TRU Loyalists (Tier 1)</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dirty="0">
                          <a:latin typeface="+mn-lt"/>
                        </a:rPr>
                        <a:t>(High Trumenba stockers - no Penbraya) </a:t>
                      </a:r>
                      <a:r>
                        <a:rPr lang="en-US" sz="1100" dirty="0">
                          <a:latin typeface="+mn-lt"/>
                        </a:rPr>
                        <a:t>PEN BREADTH / TRU DEPTH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latin typeface="+mn-lt"/>
                        </a:rPr>
                        <a:t>Penbraya is </a:t>
                      </a:r>
                      <a:r>
                        <a:rPr lang="en-US" sz="1100" u="sng" dirty="0">
                          <a:latin typeface="+mn-lt"/>
                        </a:rPr>
                        <a:t>not</a:t>
                      </a:r>
                      <a:r>
                        <a:rPr lang="en-US" sz="1100" dirty="0">
                          <a:latin typeface="+mn-lt"/>
                        </a:rPr>
                        <a:t> used AND TRU = 75%+ of </a:t>
                      </a:r>
                      <a:r>
                        <a:rPr lang="en-US" sz="1100" dirty="0" err="1">
                          <a:latin typeface="+mn-lt"/>
                        </a:rPr>
                        <a:t>MenB</a:t>
                      </a:r>
                      <a:r>
                        <a:rPr lang="en-US" sz="1100" dirty="0">
                          <a:latin typeface="+mn-lt"/>
                        </a:rPr>
                        <a:t> vaccines</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a:latin typeface="+mn-lt"/>
                        </a:rPr>
                        <a:t>N/A</a:t>
                      </a:r>
                    </a:p>
                  </a:txBody>
                  <a:tcPr marL="91416" marR="91416" marT="45708" marB="45708"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74637252"/>
                  </a:ext>
                </a:extLst>
              </a:tr>
              <a:tr h="71245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effectLst/>
                        <a:latin typeface="+mn-lt"/>
                        <a:ea typeface="Times New Roman" panose="02020603050405020304" pitchFamily="18"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effectLst/>
                          <a:latin typeface="+mn-lt"/>
                          <a:ea typeface="Aptos" panose="020B0004020202020204" pitchFamily="34" charset="0"/>
                        </a:rPr>
                        <a:t>2 for 3 Opportunities (Tier 1)</a:t>
                      </a:r>
                      <a:endParaRPr lang="en-US" sz="1100" b="1">
                        <a:effectLst/>
                        <a:latin typeface="+mn-lt"/>
                        <a:ea typeface="Times New Roman" panose="02020603050405020304" pitchFamily="18" charset="0"/>
                      </a:endParaRP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indent="0">
                        <a:buFont typeface="Courier New" panose="02070309020205020404" pitchFamily="49" charset="0"/>
                        <a:buNone/>
                      </a:pPr>
                      <a:r>
                        <a:rPr lang="en-US" sz="1100" b="1" kern="1200" dirty="0">
                          <a:solidFill>
                            <a:schemeClr val="dk1"/>
                          </a:solidFill>
                          <a:effectLst/>
                          <a:latin typeface="+mn-lt"/>
                          <a:ea typeface="+mn-ea"/>
                          <a:cs typeface="+mn-cs"/>
                        </a:rPr>
                        <a:t>(Prevnar/Comirnaty stockers w/o PFE </a:t>
                      </a:r>
                      <a:r>
                        <a:rPr lang="en-US" sz="1100" b="1" kern="1200" dirty="0" err="1">
                          <a:solidFill>
                            <a:schemeClr val="dk1"/>
                          </a:solidFill>
                          <a:effectLst/>
                          <a:latin typeface="+mn-lt"/>
                          <a:ea typeface="+mn-ea"/>
                          <a:cs typeface="+mn-cs"/>
                        </a:rPr>
                        <a:t>mening</a:t>
                      </a:r>
                      <a:r>
                        <a:rPr lang="en-US" sz="1100" b="1" kern="1200" dirty="0">
                          <a:solidFill>
                            <a:schemeClr val="dk1"/>
                          </a:solidFill>
                          <a:effectLst/>
                          <a:latin typeface="+mn-lt"/>
                          <a:ea typeface="+mn-ea"/>
                          <a:cs typeface="+mn-cs"/>
                        </a:rPr>
                        <a:t>) </a:t>
                      </a:r>
                      <a:r>
                        <a:rPr lang="en-US" sz="1100" kern="1200" dirty="0">
                          <a:solidFill>
                            <a:schemeClr val="dk1"/>
                          </a:solidFill>
                          <a:effectLst/>
                          <a:latin typeface="+mn-lt"/>
                          <a:ea typeface="+mn-ea"/>
                          <a:cs typeface="+mn-cs"/>
                        </a:rPr>
                        <a:t>PEN/TRU BREADTH</a:t>
                      </a:r>
                    </a:p>
                    <a:p>
                      <a:pPr marL="114300" indent="-114300">
                        <a:buFont typeface="Arial" panose="020B0604020202020204" pitchFamily="34" charset="0"/>
                        <a:buChar char="•"/>
                      </a:pPr>
                      <a:r>
                        <a:rPr lang="en-US" sz="1100" kern="1200" dirty="0">
                          <a:solidFill>
                            <a:schemeClr val="dk1"/>
                          </a:solidFill>
                          <a:effectLst/>
                          <a:latin typeface="+mn-lt"/>
                          <a:ea typeface="+mn-ea"/>
                          <a:cs typeface="+mn-cs"/>
                        </a:rPr>
                        <a:t>Prevnar = 80%+ of </a:t>
                      </a:r>
                      <a:r>
                        <a:rPr lang="en-US" sz="1100" kern="1200" dirty="0" err="1">
                          <a:solidFill>
                            <a:schemeClr val="dk1"/>
                          </a:solidFill>
                          <a:effectLst/>
                          <a:latin typeface="+mn-lt"/>
                          <a:ea typeface="+mn-ea"/>
                          <a:cs typeface="+mn-cs"/>
                        </a:rPr>
                        <a:t>Pneumo</a:t>
                      </a:r>
                      <a:r>
                        <a:rPr lang="en-US" sz="1100" kern="1200" dirty="0">
                          <a:solidFill>
                            <a:schemeClr val="dk1"/>
                          </a:solidFill>
                          <a:effectLst/>
                          <a:latin typeface="+mn-lt"/>
                          <a:ea typeface="+mn-ea"/>
                          <a:cs typeface="+mn-cs"/>
                        </a:rPr>
                        <a:t> AND Comirnaty = 80%+ of  COVID AND Penbraya or TRU </a:t>
                      </a:r>
                      <a:r>
                        <a:rPr lang="en-US" sz="1100" u="sng" kern="1200" dirty="0">
                          <a:solidFill>
                            <a:schemeClr val="dk1"/>
                          </a:solidFill>
                          <a:effectLst/>
                          <a:latin typeface="+mn-lt"/>
                          <a:ea typeface="+mn-ea"/>
                          <a:cs typeface="+mn-cs"/>
                        </a:rPr>
                        <a:t>not</a:t>
                      </a:r>
                      <a:r>
                        <a:rPr lang="en-US" sz="1100" kern="1200" dirty="0">
                          <a:solidFill>
                            <a:schemeClr val="dk1"/>
                          </a:solidFill>
                          <a:effectLst/>
                          <a:latin typeface="+mn-lt"/>
                          <a:ea typeface="+mn-ea"/>
                          <a:cs typeface="+mn-cs"/>
                        </a:rPr>
                        <a:t> used</a:t>
                      </a:r>
                      <a:endParaRPr lang="en-US" sz="1100" dirty="0">
                        <a:latin typeface="+mn-lt"/>
                      </a:endParaRP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100" b="1">
                          <a:latin typeface="+mn-lt"/>
                        </a:rPr>
                        <a:t>N/A</a:t>
                      </a:r>
                    </a:p>
                  </a:txBody>
                  <a:tcPr marL="91416" marR="91416" marT="45708" marB="45708"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8863568"/>
                  </a:ext>
                </a:extLst>
              </a:tr>
              <a:tr h="94964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effectLst/>
                        <a:latin typeface="+mn-lt"/>
                        <a:ea typeface="Times New Roman" panose="02020603050405020304" pitchFamily="18"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effectLst/>
                          <a:latin typeface="+mn-lt"/>
                          <a:ea typeface="Times New Roman" panose="02020603050405020304" pitchFamily="18" charset="0"/>
                        </a:rPr>
                        <a:t>Vaxelis Loyal (Tier 1)</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1100" b="1">
                          <a:latin typeface="+mn-lt"/>
                        </a:rPr>
                        <a:t>N/A</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mn-lt"/>
                        </a:rPr>
                        <a:t>(High </a:t>
                      </a:r>
                      <a:r>
                        <a:rPr lang="en-US" sz="1100" b="1" dirty="0" err="1">
                          <a:latin typeface="+mn-lt"/>
                        </a:rPr>
                        <a:t>MenQuadfi</a:t>
                      </a:r>
                      <a:r>
                        <a:rPr lang="en-US" sz="1100" b="1" dirty="0">
                          <a:latin typeface="+mn-lt"/>
                        </a:rPr>
                        <a:t>/Trumenba/</a:t>
                      </a:r>
                      <a:r>
                        <a:rPr lang="en-US" sz="1100" b="1" dirty="0" err="1">
                          <a:latin typeface="+mn-lt"/>
                        </a:rPr>
                        <a:t>Vaxelis</a:t>
                      </a:r>
                      <a:r>
                        <a:rPr lang="en-US" sz="1100" b="1" dirty="0">
                          <a:latin typeface="+mn-lt"/>
                        </a:rPr>
                        <a:t> users) </a:t>
                      </a:r>
                      <a:r>
                        <a:rPr lang="en-US" sz="1100" dirty="0">
                          <a:effectLst/>
                          <a:latin typeface="+mn-lt"/>
                          <a:ea typeface="Times New Roman" panose="02020603050405020304" pitchFamily="18" charset="0"/>
                        </a:rPr>
                        <a:t> </a:t>
                      </a:r>
                    </a:p>
                    <a:p>
                      <a:pPr marL="171450" indent="-171450">
                        <a:buFont typeface="Arial" panose="020B0604020202020204" pitchFamily="34" charset="0"/>
                        <a:buChar char="•"/>
                      </a:pPr>
                      <a:r>
                        <a:rPr lang="en-US" sz="1100" dirty="0" err="1">
                          <a:latin typeface="+mn-lt"/>
                        </a:rPr>
                        <a:t>MenQuadfi</a:t>
                      </a:r>
                      <a:r>
                        <a:rPr lang="en-US" sz="1100" dirty="0">
                          <a:latin typeface="+mn-lt"/>
                        </a:rPr>
                        <a:t> &gt; 70% AND Trumenba &gt; 70% AND </a:t>
                      </a:r>
                      <a:r>
                        <a:rPr lang="en-US" sz="1100" dirty="0" err="1">
                          <a:latin typeface="+mn-lt"/>
                        </a:rPr>
                        <a:t>Vaxelis</a:t>
                      </a:r>
                      <a:r>
                        <a:rPr lang="en-US" sz="1100" dirty="0">
                          <a:latin typeface="+mn-lt"/>
                        </a:rPr>
                        <a:t> &gt; 70% </a:t>
                      </a:r>
                    </a:p>
                    <a:p>
                      <a:r>
                        <a:rPr lang="en-US" sz="1100" dirty="0">
                          <a:latin typeface="+mn-lt"/>
                        </a:rPr>
                        <a: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mn-lt"/>
                        </a:rPr>
                        <a:t>(High </a:t>
                      </a:r>
                      <a:r>
                        <a:rPr lang="en-US" sz="1100" b="1" dirty="0" err="1">
                          <a:latin typeface="+mn-lt"/>
                        </a:rPr>
                        <a:t>MenQuadfi</a:t>
                      </a:r>
                      <a:r>
                        <a:rPr lang="en-US" sz="1100" b="1" dirty="0">
                          <a:latin typeface="+mn-lt"/>
                        </a:rPr>
                        <a:t>/Bexsero/</a:t>
                      </a:r>
                      <a:r>
                        <a:rPr lang="en-US" sz="1100" b="1" dirty="0" err="1">
                          <a:latin typeface="+mn-lt"/>
                        </a:rPr>
                        <a:t>Vaxelis</a:t>
                      </a:r>
                      <a:r>
                        <a:rPr lang="en-US" sz="1100" b="1" dirty="0">
                          <a:latin typeface="+mn-lt"/>
                        </a:rPr>
                        <a:t> users) </a:t>
                      </a:r>
                      <a:r>
                        <a:rPr lang="en-US" sz="1100" dirty="0">
                          <a:effectLst/>
                          <a:latin typeface="+mn-lt"/>
                          <a:ea typeface="Times New Roman" panose="02020603050405020304" pitchFamily="18" charset="0"/>
                        </a:rPr>
                        <a:t> </a:t>
                      </a:r>
                      <a:endParaRPr lang="en-US" sz="1100" dirty="0">
                        <a:latin typeface="+mn-lt"/>
                      </a:endParaRPr>
                    </a:p>
                    <a:p>
                      <a:pPr marL="171450" indent="-171450">
                        <a:buFont typeface="Arial" panose="020B0604020202020204" pitchFamily="34" charset="0"/>
                        <a:buChar char="•"/>
                      </a:pPr>
                      <a:r>
                        <a:rPr lang="en-US" sz="1100" dirty="0" err="1">
                          <a:latin typeface="+mn-lt"/>
                        </a:rPr>
                        <a:t>MenQuadfi</a:t>
                      </a:r>
                      <a:r>
                        <a:rPr lang="en-US" sz="1100" dirty="0">
                          <a:latin typeface="+mn-lt"/>
                        </a:rPr>
                        <a:t> &gt; 70% AND Bexsero &gt; 70% AND </a:t>
                      </a:r>
                      <a:r>
                        <a:rPr lang="en-US" sz="1100" dirty="0" err="1">
                          <a:latin typeface="+mn-lt"/>
                        </a:rPr>
                        <a:t>Vaxelis</a:t>
                      </a:r>
                      <a:r>
                        <a:rPr lang="en-US" sz="1100" dirty="0">
                          <a:latin typeface="+mn-lt"/>
                        </a:rPr>
                        <a:t> &gt; 70%</a:t>
                      </a:r>
                    </a:p>
                  </a:txBody>
                  <a:tcPr marL="91416" marR="91416" marT="45708" marB="45708"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1829720"/>
                  </a:ext>
                </a:extLst>
              </a:tr>
              <a:tr h="1437081">
                <a:tc>
                  <a:txBody>
                    <a:bodyPr/>
                    <a:lstStyle/>
                    <a:p>
                      <a:pPr marL="273050" marR="0" indent="-273050">
                        <a:lnSpc>
                          <a:spcPct val="106000"/>
                        </a:lnSpc>
                        <a:spcBef>
                          <a:spcPts val="0"/>
                        </a:spcBef>
                        <a:spcAft>
                          <a:spcPts val="0"/>
                        </a:spcAft>
                      </a:pPr>
                      <a:r>
                        <a:rPr lang="en-US" sz="1600" b="1">
                          <a:effectLst/>
                          <a:latin typeface="+mn-lt"/>
                          <a:ea typeface="Times New Roman" panose="02020603050405020304" pitchFamily="18" charset="0"/>
                        </a:rPr>
                        <a:t>TIER 2</a:t>
                      </a:r>
                    </a:p>
                  </a:txBody>
                  <a:tcPr marL="68562" marR="68562" marT="0" marB="0" anchor="ctr">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273050" marR="0" indent="-273050">
                        <a:lnSpc>
                          <a:spcPct val="106000"/>
                        </a:lnSpc>
                        <a:spcBef>
                          <a:spcPts val="0"/>
                        </a:spcBef>
                        <a:spcAft>
                          <a:spcPts val="0"/>
                        </a:spcAft>
                      </a:pPr>
                      <a:r>
                        <a:rPr lang="en-US" sz="1100" b="1">
                          <a:effectLst/>
                          <a:latin typeface="+mn-lt"/>
                          <a:ea typeface="Aptos" panose="020B0004020202020204" pitchFamily="34" charset="0"/>
                        </a:rPr>
                        <a:t>Sanofi Loyal (Tier 2)</a:t>
                      </a:r>
                      <a:endParaRPr lang="en-US" sz="1100" b="1">
                        <a:effectLst/>
                        <a:latin typeface="+mn-lt"/>
                        <a:ea typeface="Times New Roman" panose="02020603050405020304" pitchFamily="18" charset="0"/>
                      </a:endParaRPr>
                    </a:p>
                  </a:txBody>
                  <a:tcPr marL="68562" marR="6856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r>
                        <a:rPr lang="en-US" sz="1100" b="1">
                          <a:latin typeface="+mn-lt"/>
                        </a:rPr>
                        <a:t>(High MenQuadfi/Bex/Pentacel users) </a:t>
                      </a:r>
                      <a:r>
                        <a:rPr lang="en-US" sz="1100">
                          <a:latin typeface="+mn-lt"/>
                        </a:rPr>
                        <a:t>PEN/TRU BREADTH</a:t>
                      </a:r>
                    </a:p>
                    <a:p>
                      <a:pPr marL="114300" indent="-114300">
                        <a:buFont typeface="Arial" panose="020B0604020202020204" pitchFamily="34" charset="0"/>
                        <a:buChar char="•"/>
                      </a:pPr>
                      <a:r>
                        <a:rPr lang="en-US" sz="1100">
                          <a:latin typeface="+mn-lt"/>
                        </a:rPr>
                        <a:t>MenQuadfi = 75%+ of ACWY vaccines AND Bex = 75%+ of MenB vaccines AND Pentacel is used </a:t>
                      </a: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a:buFont typeface="Symbol" panose="05050102010706020507" pitchFamily="18" charset="2"/>
                        <a:buNone/>
                      </a:pPr>
                      <a:r>
                        <a:rPr lang="en-US" sz="1100" b="1" dirty="0">
                          <a:latin typeface="+mn-lt"/>
                        </a:rPr>
                        <a:t>Sanofi &amp; TRU Loyal (High </a:t>
                      </a:r>
                      <a:r>
                        <a:rPr lang="en-US" sz="1100" b="1" dirty="0" err="1">
                          <a:latin typeface="+mn-lt"/>
                        </a:rPr>
                        <a:t>MenQuadfi</a:t>
                      </a:r>
                      <a:r>
                        <a:rPr lang="en-US" sz="1100" b="1" dirty="0">
                          <a:latin typeface="+mn-lt"/>
                        </a:rPr>
                        <a:t>/Trumenba/</a:t>
                      </a:r>
                      <a:r>
                        <a:rPr lang="en-US" sz="1100" b="1" dirty="0" err="1">
                          <a:latin typeface="+mn-lt"/>
                        </a:rPr>
                        <a:t>Pentacel</a:t>
                      </a:r>
                      <a:r>
                        <a:rPr lang="en-US" sz="1100" b="1" dirty="0">
                          <a:latin typeface="+mn-lt"/>
                        </a:rPr>
                        <a:t> users) </a:t>
                      </a:r>
                      <a:r>
                        <a:rPr lang="en-US" sz="1100" dirty="0">
                          <a:effectLst/>
                          <a:latin typeface="+mn-lt"/>
                          <a:ea typeface="Times New Roman" panose="02020603050405020304" pitchFamily="18" charset="0"/>
                        </a:rPr>
                        <a:t> </a:t>
                      </a:r>
                    </a:p>
                    <a:p>
                      <a:pPr marL="114300" marR="0" lvl="0" indent="-114300" algn="l">
                        <a:buFont typeface="Arial" panose="020B0604020202020204" pitchFamily="34" charset="0"/>
                        <a:buChar char="•"/>
                      </a:pPr>
                      <a:r>
                        <a:rPr lang="en-US" sz="1100" dirty="0" err="1">
                          <a:effectLst/>
                          <a:latin typeface="+mn-lt"/>
                          <a:ea typeface="Times New Roman" panose="02020603050405020304" pitchFamily="18" charset="0"/>
                        </a:rPr>
                        <a:t>MenQuadfi</a:t>
                      </a:r>
                      <a:r>
                        <a:rPr lang="en-US" sz="1100" dirty="0">
                          <a:effectLst/>
                          <a:latin typeface="+mn-lt"/>
                          <a:ea typeface="Times New Roman" panose="02020603050405020304" pitchFamily="18" charset="0"/>
                        </a:rPr>
                        <a:t> &gt; 70% AND Trumenba &gt; 70% AND </a:t>
                      </a:r>
                      <a:r>
                        <a:rPr lang="en-US" sz="1100" dirty="0" err="1">
                          <a:effectLst/>
                          <a:latin typeface="+mn-lt"/>
                          <a:ea typeface="Times New Roman" panose="02020603050405020304" pitchFamily="18" charset="0"/>
                        </a:rPr>
                        <a:t>Pentacel</a:t>
                      </a:r>
                      <a:r>
                        <a:rPr lang="en-US" sz="1100" dirty="0">
                          <a:effectLst/>
                          <a:latin typeface="+mn-lt"/>
                          <a:ea typeface="Times New Roman" panose="02020603050405020304" pitchFamily="18" charset="0"/>
                        </a:rPr>
                        <a:t> &gt; 70%</a:t>
                      </a:r>
                    </a:p>
                    <a:p>
                      <a:pPr marL="0" marR="0" lvl="0" indent="0" algn="l" defTabSz="914400" rtl="0" eaLnBrk="1" fontAlgn="auto" latinLnBrk="0" hangingPunct="1">
                        <a:lnSpc>
                          <a:spcPct val="100000"/>
                        </a:lnSpc>
                        <a:spcBef>
                          <a:spcPts val="400"/>
                        </a:spcBef>
                        <a:spcAft>
                          <a:spcPts val="0"/>
                        </a:spcAft>
                        <a:buClrTx/>
                        <a:buSzTx/>
                        <a:buFont typeface="Symbol" panose="05050102010706020507" pitchFamily="18" charset="2"/>
                        <a:buNone/>
                        <a:tabLst/>
                        <a:defRPr/>
                      </a:pPr>
                      <a:r>
                        <a:rPr lang="en-US" sz="1100" b="1" dirty="0">
                          <a:latin typeface="+mn-lt"/>
                        </a:rPr>
                        <a:t>Sanofi &amp; GSK Loyal (High </a:t>
                      </a:r>
                      <a:r>
                        <a:rPr lang="en-US" sz="1100" b="1" dirty="0" err="1">
                          <a:latin typeface="+mn-lt"/>
                        </a:rPr>
                        <a:t>MenQuadfi</a:t>
                      </a:r>
                      <a:r>
                        <a:rPr lang="en-US" sz="1100" b="1" dirty="0">
                          <a:latin typeface="+mn-lt"/>
                        </a:rPr>
                        <a:t>/Bexsero/</a:t>
                      </a:r>
                      <a:r>
                        <a:rPr lang="en-US" sz="1100" b="1" dirty="0" err="1">
                          <a:latin typeface="+mn-lt"/>
                        </a:rPr>
                        <a:t>Pentacel</a:t>
                      </a:r>
                      <a:r>
                        <a:rPr lang="en-US" sz="1100" b="1" dirty="0">
                          <a:latin typeface="+mn-lt"/>
                        </a:rPr>
                        <a:t> users) </a:t>
                      </a:r>
                      <a:r>
                        <a:rPr lang="en-US" sz="1100" dirty="0">
                          <a:effectLst/>
                          <a:latin typeface="+mn-lt"/>
                          <a:ea typeface="Times New Roman" panose="02020603050405020304" pitchFamily="18" charset="0"/>
                        </a:rPr>
                        <a:t> </a:t>
                      </a:r>
                    </a:p>
                    <a:p>
                      <a:pPr marL="114300" marR="0" lvl="0" indent="-114300" algn="l">
                        <a:buFont typeface="Arial" panose="020B0604020202020204" pitchFamily="34" charset="0"/>
                        <a:buChar char="•"/>
                      </a:pPr>
                      <a:r>
                        <a:rPr lang="en-US" sz="1100" dirty="0" err="1">
                          <a:effectLst/>
                          <a:latin typeface="+mn-lt"/>
                          <a:ea typeface="Times New Roman" panose="02020603050405020304" pitchFamily="18" charset="0"/>
                        </a:rPr>
                        <a:t>MenQuadfi</a:t>
                      </a:r>
                      <a:r>
                        <a:rPr lang="en-US" sz="1100" dirty="0">
                          <a:effectLst/>
                          <a:latin typeface="+mn-lt"/>
                          <a:ea typeface="Times New Roman" panose="02020603050405020304" pitchFamily="18" charset="0"/>
                        </a:rPr>
                        <a:t> &gt; 70% AND Bexsero &gt; 70% AND </a:t>
                      </a:r>
                      <a:r>
                        <a:rPr lang="en-US" sz="1100" dirty="0" err="1">
                          <a:effectLst/>
                          <a:latin typeface="+mn-lt"/>
                          <a:ea typeface="Times New Roman" panose="02020603050405020304" pitchFamily="18" charset="0"/>
                        </a:rPr>
                        <a:t>Pentacel</a:t>
                      </a:r>
                      <a:r>
                        <a:rPr lang="en-US" sz="1100" dirty="0">
                          <a:effectLst/>
                          <a:latin typeface="+mn-lt"/>
                          <a:ea typeface="Times New Roman" panose="02020603050405020304" pitchFamily="18" charset="0"/>
                        </a:rPr>
                        <a:t> &gt; 70%</a:t>
                      </a:r>
                    </a:p>
                    <a:p>
                      <a:pPr marL="0" marR="0" lvl="0" indent="0" algn="l">
                        <a:spcBef>
                          <a:spcPts val="400"/>
                        </a:spcBef>
                        <a:buFont typeface="Symbol" panose="05050102010706020507" pitchFamily="18" charset="2"/>
                        <a:buNone/>
                      </a:pPr>
                      <a:r>
                        <a:rPr lang="en-US" sz="1100" b="1" dirty="0">
                          <a:effectLst/>
                          <a:latin typeface="+mn-lt"/>
                          <a:ea typeface="Times New Roman" panose="02020603050405020304" pitchFamily="18" charset="0"/>
                        </a:rPr>
                        <a:t>(Other Sanofi Loyal) </a:t>
                      </a:r>
                    </a:p>
                    <a:p>
                      <a:pPr marL="114300" marR="0" lvl="0" indent="-114300" algn="l">
                        <a:buFont typeface="Arial" panose="020B0604020202020204" pitchFamily="34" charset="0"/>
                        <a:buChar char="•"/>
                      </a:pPr>
                      <a:r>
                        <a:rPr lang="en-US" sz="1100" dirty="0">
                          <a:effectLst/>
                          <a:latin typeface="+mn-lt"/>
                          <a:ea typeface="Times New Roman" panose="02020603050405020304" pitchFamily="18" charset="0"/>
                        </a:rPr>
                        <a:t>IF LS-L = 2 (SANOFI LOYAL) AND </a:t>
                      </a:r>
                      <a:r>
                        <a:rPr lang="en-US" sz="1100" u="sng" dirty="0">
                          <a:effectLst/>
                          <a:latin typeface="+mn-lt"/>
                          <a:ea typeface="Times New Roman" panose="02020603050405020304" pitchFamily="18" charset="0"/>
                        </a:rPr>
                        <a:t>NOT</a:t>
                      </a:r>
                      <a:r>
                        <a:rPr lang="en-US" sz="1100" dirty="0">
                          <a:effectLst/>
                          <a:latin typeface="+mn-lt"/>
                          <a:ea typeface="Times New Roman" panose="02020603050405020304" pitchFamily="18" charset="0"/>
                        </a:rPr>
                        <a:t> TRU OR GSK LOYAL</a:t>
                      </a:r>
                      <a:endParaRPr lang="en-US" sz="1100" dirty="0">
                        <a:latin typeface="+mn-lt"/>
                      </a:endParaRPr>
                    </a:p>
                  </a:txBody>
                  <a:tcPr marL="91416" marR="91416" marT="45708" marB="45708" anchor="ctr">
                    <a:lnL w="12700" cap="flat" cmpd="sng" algn="ctr">
                      <a:solidFill>
                        <a:schemeClr val="bg1">
                          <a:lumMod val="85000"/>
                        </a:schemeClr>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050524"/>
                  </a:ext>
                </a:extLst>
              </a:tr>
              <a:tr h="511504">
                <a:tc>
                  <a:txBody>
                    <a:bodyPr/>
                    <a:lstStyle/>
                    <a:p>
                      <a:pPr marL="273050" marR="0" indent="-273050">
                        <a:lnSpc>
                          <a:spcPct val="106000"/>
                        </a:lnSpc>
                        <a:spcBef>
                          <a:spcPts val="0"/>
                        </a:spcBef>
                        <a:spcAft>
                          <a:spcPts val="0"/>
                        </a:spcAft>
                      </a:pPr>
                      <a:r>
                        <a:rPr lang="en-US" sz="1600" b="1">
                          <a:effectLst/>
                          <a:latin typeface="+mn-lt"/>
                          <a:ea typeface="Times New Roman" panose="02020603050405020304" pitchFamily="18" charset="0"/>
                        </a:rPr>
                        <a:t>TIER 3</a:t>
                      </a:r>
                    </a:p>
                  </a:txBody>
                  <a:tcPr marL="68562" marR="68562" marT="0" marB="0" anchor="ctr">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marL="273050" marR="0" indent="-273050">
                        <a:lnSpc>
                          <a:spcPct val="106000"/>
                        </a:lnSpc>
                        <a:spcBef>
                          <a:spcPts val="0"/>
                        </a:spcBef>
                        <a:spcAft>
                          <a:spcPts val="0"/>
                        </a:spcAft>
                      </a:pPr>
                      <a:r>
                        <a:rPr lang="en-US" sz="1100" b="1">
                          <a:effectLst/>
                          <a:latin typeface="+mn-lt"/>
                          <a:ea typeface="Aptos" panose="020B0004020202020204" pitchFamily="34" charset="0"/>
                        </a:rPr>
                        <a:t>GSK Loyal (Tier 3)​</a:t>
                      </a:r>
                      <a:endParaRPr lang="en-US" sz="1100" b="1">
                        <a:effectLst/>
                        <a:latin typeface="+mn-lt"/>
                        <a:ea typeface="Times New Roman" panose="02020603050405020304" pitchFamily="18" charset="0"/>
                      </a:endParaRPr>
                    </a:p>
                  </a:txBody>
                  <a:tcPr marL="68562" marR="6856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Courier New" panose="02070309020205020404" pitchFamily="49" charset="0"/>
                        <a:buNone/>
                      </a:pPr>
                      <a:r>
                        <a:rPr lang="en-US" sz="1100" b="1">
                          <a:effectLst/>
                          <a:latin typeface="+mn-lt"/>
                          <a:ea typeface="MS Mincho" panose="02020609040205080304" pitchFamily="49" charset="-128"/>
                          <a:cs typeface="Times New Roman" panose="02020603050405020304" pitchFamily="18" charset="0"/>
                        </a:rPr>
                        <a:t>(High Menveo/Bexsero users) </a:t>
                      </a:r>
                      <a:r>
                        <a:rPr lang="en-US" sz="1100">
                          <a:effectLst/>
                          <a:latin typeface="+mn-lt"/>
                          <a:ea typeface="MS Mincho" panose="02020609040205080304" pitchFamily="49" charset="-128"/>
                          <a:cs typeface="Times New Roman" panose="02020603050405020304" pitchFamily="18" charset="0"/>
                        </a:rPr>
                        <a:t>PEN/TRU BREADTH</a:t>
                      </a:r>
                    </a:p>
                    <a:p>
                      <a:pPr marL="114300" indent="-114300">
                        <a:buFont typeface="Arial" panose="020B0604020202020204" pitchFamily="34" charset="0"/>
                        <a:buChar char="•"/>
                      </a:pPr>
                      <a:r>
                        <a:rPr lang="en-US" sz="1100">
                          <a:effectLst/>
                          <a:latin typeface="+mn-lt"/>
                          <a:ea typeface="MS Mincho" panose="02020609040205080304" pitchFamily="49" charset="-128"/>
                          <a:cs typeface="Times New Roman" panose="02020603050405020304" pitchFamily="18" charset="0"/>
                        </a:rPr>
                        <a:t>Menveo = 80%+ of ACWY vaccines AND Bex = 80%+ of MenB vaccines</a:t>
                      </a:r>
                      <a:endParaRPr lang="en-US" sz="1100">
                        <a:latin typeface="+mn-lt"/>
                      </a:endParaRPr>
                    </a:p>
                  </a:txBody>
                  <a:tcPr marL="91416" marR="91416" marT="45708" marB="4570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a:buFont typeface="Symbol" panose="05050102010706020507" pitchFamily="18" charset="2"/>
                        <a:buNone/>
                      </a:pPr>
                      <a:r>
                        <a:rPr lang="en-US" sz="1100" b="1">
                          <a:effectLst/>
                          <a:latin typeface="+mn-lt"/>
                          <a:ea typeface="MS Mincho" panose="02020609040205080304" pitchFamily="49" charset="-128"/>
                          <a:cs typeface="Times New Roman" panose="02020603050405020304" pitchFamily="18" charset="0"/>
                        </a:rPr>
                        <a:t>(High Menveo/Bexsero/Pediarix users) </a:t>
                      </a:r>
                    </a:p>
                    <a:p>
                      <a:pPr marL="114300" marR="0" lvl="0" indent="-114300" algn="l">
                        <a:buFont typeface="Arial" panose="020B0604020202020204" pitchFamily="34" charset="0"/>
                        <a:buChar char="•"/>
                      </a:pPr>
                      <a:r>
                        <a:rPr lang="en-US" sz="1100">
                          <a:effectLst/>
                          <a:latin typeface="+mn-lt"/>
                          <a:ea typeface="Times New Roman" panose="02020603050405020304" pitchFamily="18" charset="0"/>
                        </a:rPr>
                        <a:t>Menveo &gt; 70% AND Bexsero &gt; 70% AND (Pediarix) &gt; 70%</a:t>
                      </a:r>
                      <a:endParaRPr lang="en-US" sz="1100">
                        <a:latin typeface="+mn-lt"/>
                      </a:endParaRPr>
                    </a:p>
                  </a:txBody>
                  <a:tcPr marL="91416" marR="91416" marT="45708" marB="45708" anchor="ctr">
                    <a:lnL w="12700" cap="flat" cmpd="sng" algn="ctr">
                      <a:solidFill>
                        <a:schemeClr val="bg1">
                          <a:lumMod val="85000"/>
                        </a:schemeClr>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6259579"/>
                  </a:ext>
                </a:extLst>
              </a:tr>
            </a:tbl>
          </a:graphicData>
        </a:graphic>
      </p:graphicFrame>
    </p:spTree>
    <p:extLst>
      <p:ext uri="{BB962C8B-B14F-4D97-AF65-F5344CB8AC3E}">
        <p14:creationId xmlns:p14="http://schemas.microsoft.com/office/powerpoint/2010/main" val="859051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B3AFD-18F9-35DA-3221-C4F313B84B5E}"/>
              </a:ext>
            </a:extLst>
          </p:cNvPr>
          <p:cNvSpPr>
            <a:spLocks noGrp="1"/>
          </p:cNvSpPr>
          <p:nvPr>
            <p:ph type="title"/>
          </p:nvPr>
        </p:nvSpPr>
        <p:spPr/>
        <p:txBody>
          <a:bodyPr/>
          <a:lstStyle/>
          <a:p>
            <a:r>
              <a:rPr lang="en-US" sz="2799">
                <a:solidFill>
                  <a:schemeClr val="accent1"/>
                </a:solidFill>
              </a:rPr>
              <a:t>Notes on Reading this Report </a:t>
            </a:r>
            <a:r>
              <a:rPr lang="en-US" sz="2799"/>
              <a:t>| Wave 5 (Full) Sep’25</a:t>
            </a:r>
          </a:p>
        </p:txBody>
      </p:sp>
      <p:sp>
        <p:nvSpPr>
          <p:cNvPr id="15" name="TextBox 14">
            <a:extLst>
              <a:ext uri="{FF2B5EF4-FFF2-40B4-BE49-F238E27FC236}">
                <a16:creationId xmlns:a16="http://schemas.microsoft.com/office/drawing/2014/main" id="{CCBDEDD3-490A-5035-EEEC-9F67DFD5ACB3}"/>
              </a:ext>
            </a:extLst>
          </p:cNvPr>
          <p:cNvSpPr txBox="1"/>
          <p:nvPr/>
        </p:nvSpPr>
        <p:spPr bwMode="gray">
          <a:xfrm>
            <a:off x="1037165" y="941054"/>
            <a:ext cx="10399742" cy="4800064"/>
          </a:xfrm>
          <a:prstGeom prst="rect">
            <a:avLst/>
          </a:prstGeom>
          <a:noFill/>
        </p:spPr>
        <p:txBody>
          <a:bodyPr wrap="square">
            <a:spAutoFit/>
          </a:bodyPr>
          <a:lstStyle/>
          <a:p>
            <a:pPr marL="22853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Indicates a </a:t>
            </a:r>
            <a:r>
              <a:rPr lang="en-US" sz="1400" b="1" dirty="0">
                <a:solidFill>
                  <a:srgbClr val="0000C9"/>
                </a:solidFill>
                <a:latin typeface="Arial" panose="020B0604020202020204" pitchFamily="34" charset="0"/>
                <a:cs typeface="Arial" panose="020B0604020202020204" pitchFamily="34" charset="0"/>
                <a:sym typeface="Arial"/>
              </a:rPr>
              <a:t>Pfizer KPI metric</a:t>
            </a: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a:t>
            </a:r>
          </a:p>
          <a:p>
            <a:pPr marL="22853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Indicates free text responses</a:t>
            </a:r>
          </a:p>
          <a:p>
            <a:pPr marL="22853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Where applicable, significance testing has been conducted at the 95% confidence level across waves. The term “significant” implies that the chances are 95 in 100 that a survey result would not vary if the interviews were conducted with all persons in the universe represented by the sample.</a:t>
            </a:r>
          </a:p>
          <a:p>
            <a:pPr marL="685594" lvl="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Consider differences between groups of less than 30 “directional” and not significant</a:t>
            </a:r>
          </a:p>
          <a:p>
            <a:pPr marL="685594" lvl="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Comparison to prior wave (Total, </a:t>
            </a:r>
            <a:r>
              <a:rPr lang="en-US" sz="1400" dirty="0">
                <a:solidFill>
                  <a:schemeClr val="tx1">
                    <a:lumMod val="65000"/>
                    <a:lumOff val="35000"/>
                  </a:schemeClr>
                </a:solidFill>
                <a:latin typeface="Arial" panose="020B0604020202020204" pitchFamily="34" charset="0"/>
                <a:cs typeface="Arial" panose="020B0604020202020204" pitchFamily="34" charset="0"/>
                <a:sym typeface="Arial"/>
              </a:rPr>
              <a:t>PED, PCP only</a:t>
            </a: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 is shown </a:t>
            </a:r>
            <a:r>
              <a:rPr lang="en-US" sz="1400" dirty="0">
                <a:solidFill>
                  <a:srgbClr val="000000">
                    <a:lumMod val="65000"/>
                    <a:lumOff val="35000"/>
                  </a:srgbClr>
                </a:solidFill>
                <a:latin typeface="Arial" panose="020B0604020202020204"/>
              </a:rPr>
              <a:t>with </a:t>
            </a:r>
            <a:r>
              <a:rPr lang="en-US" altLang="en-US" sz="1400" dirty="0">
                <a:solidFill>
                  <a:srgbClr val="FF0000"/>
                </a:solidFill>
                <a:latin typeface="Arial" panose="020B0604020202020204"/>
                <a:cs typeface="Arial" panose="020B0604020202020204" pitchFamily="34" charset="0"/>
                <a:sym typeface="Symbol" pitchFamily="18" charset="2"/>
              </a:rPr>
              <a:t></a:t>
            </a:r>
            <a:r>
              <a:rPr lang="en-US" altLang="en-US" sz="1400" dirty="0">
                <a:solidFill>
                  <a:srgbClr val="000000"/>
                </a:solidFill>
                <a:latin typeface="Arial" panose="020B0604020202020204"/>
                <a:cs typeface="Arial" panose="020B0604020202020204" pitchFamily="34" charset="0"/>
                <a:sym typeface="Symbol" pitchFamily="18" charset="2"/>
              </a:rPr>
              <a:t>/</a:t>
            </a:r>
            <a:r>
              <a:rPr lang="en-US" altLang="en-US" sz="1400" dirty="0">
                <a:solidFill>
                  <a:srgbClr val="FF0000"/>
                </a:solidFill>
                <a:latin typeface="Arial" panose="020B0604020202020204"/>
                <a:cs typeface="Arial" panose="020B0604020202020204" pitchFamily="34" charset="0"/>
                <a:sym typeface="Symbol" pitchFamily="18" charset="2"/>
              </a:rPr>
              <a:t></a:t>
            </a:r>
            <a:r>
              <a:rPr lang="en-US" sz="1400" dirty="0">
                <a:solidFill>
                  <a:srgbClr val="000000">
                    <a:lumMod val="65000"/>
                    <a:lumOff val="35000"/>
                  </a:srgbClr>
                </a:solidFill>
                <a:latin typeface="Arial" panose="020B0604020202020204"/>
                <a:sym typeface="Symbol" panose="05050102010706020507" pitchFamily="18" charset="2"/>
              </a:rPr>
              <a:t> to indicate higher/lower differences</a:t>
            </a:r>
          </a:p>
          <a:p>
            <a:pPr lvl="2">
              <a:spcBef>
                <a:spcPts val="600"/>
              </a:spcBef>
              <a:buClr>
                <a:srgbClr val="000483"/>
              </a:buClr>
              <a:defRPr/>
            </a:pPr>
            <a:r>
              <a:rPr lang="en-US" sz="1200" i="1" dirty="0">
                <a:solidFill>
                  <a:srgbClr val="000000">
                    <a:lumMod val="65000"/>
                    <a:lumOff val="35000"/>
                  </a:srgbClr>
                </a:solidFill>
                <a:latin typeface="Arial" panose="020B0604020202020204" pitchFamily="34" charset="0"/>
                <a:cs typeface="Arial" panose="020B0604020202020204" pitchFamily="34" charset="0"/>
              </a:rPr>
              <a:t>NOTE: Interpret differences across waves with caution due to sample list and segment changes, as outlined in the study design</a:t>
            </a:r>
            <a:endParaRPr lang="en-US" sz="1200" i="1" dirty="0">
              <a:solidFill>
                <a:srgbClr val="000000">
                  <a:lumMod val="65000"/>
                  <a:lumOff val="35000"/>
                </a:srgbClr>
              </a:solidFill>
              <a:latin typeface="Arial" panose="020B0604020202020204" pitchFamily="34" charset="0"/>
              <a:cs typeface="Arial" panose="020B0604020202020204" pitchFamily="34" charset="0"/>
              <a:sym typeface="Symbol" panose="05050102010706020507" pitchFamily="18" charset="2"/>
            </a:endParaRPr>
          </a:p>
          <a:p>
            <a:pPr marL="685594" lvl="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rPr>
              <a:t>Group(s) tested and differences denoted by a superscript letter next to the statistically higher number or by a &gt; or &lt; sig:</a:t>
            </a:r>
          </a:p>
          <a:p>
            <a:pPr marL="1142657" lvl="2" indent="-228531">
              <a:spcBef>
                <a:spcPts val="600"/>
              </a:spcBef>
              <a:buClr>
                <a:srgbClr val="000483"/>
              </a:buClr>
              <a:buFont typeface="Arial" panose="020B0604020202020204" pitchFamily="34" charset="0"/>
              <a:buChar char="•"/>
              <a:tabLst>
                <a:tab pos="2112329" algn="l"/>
              </a:tabLst>
              <a:defRPr/>
            </a:pPr>
            <a:r>
              <a:rPr lang="en-US" sz="1400" b="1" dirty="0">
                <a:solidFill>
                  <a:srgbClr val="000000">
                    <a:lumMod val="65000"/>
                    <a:lumOff val="35000"/>
                  </a:srgbClr>
                </a:solidFill>
                <a:latin typeface="Arial" panose="020B0604020202020204"/>
              </a:rPr>
              <a:t>Specialty: 	</a:t>
            </a:r>
            <a:r>
              <a:rPr lang="en-US" sz="1400" dirty="0">
                <a:solidFill>
                  <a:srgbClr val="000000">
                    <a:lumMod val="65000"/>
                    <a:lumOff val="35000"/>
                  </a:srgbClr>
                </a:solidFill>
                <a:latin typeface="Arial" panose="020B0604020202020204"/>
              </a:rPr>
              <a:t>PCP | </a:t>
            </a:r>
            <a:r>
              <a:rPr lang="en-US" sz="1400" baseline="30000" dirty="0">
                <a:solidFill>
                  <a:srgbClr val="000000">
                    <a:lumMod val="65000"/>
                    <a:lumOff val="35000"/>
                  </a:srgbClr>
                </a:solidFill>
                <a:latin typeface="Arial" panose="020B0604020202020204"/>
              </a:rPr>
              <a:t>A</a:t>
            </a:r>
            <a:r>
              <a:rPr lang="en-US" sz="1400" dirty="0">
                <a:solidFill>
                  <a:srgbClr val="000000">
                    <a:lumMod val="65000"/>
                    <a:lumOff val="35000"/>
                  </a:srgbClr>
                </a:solidFill>
                <a:latin typeface="Arial" panose="020B0604020202020204"/>
              </a:rPr>
              <a:t> vs. PED | </a:t>
            </a:r>
            <a:r>
              <a:rPr lang="en-US" sz="1400" baseline="30000" dirty="0">
                <a:solidFill>
                  <a:srgbClr val="000000">
                    <a:lumMod val="65000"/>
                    <a:lumOff val="35000"/>
                  </a:srgbClr>
                </a:solidFill>
                <a:latin typeface="Arial" panose="020B0604020202020204"/>
              </a:rPr>
              <a:t>B</a:t>
            </a:r>
            <a:endParaRPr lang="en-US" sz="1400" dirty="0">
              <a:solidFill>
                <a:srgbClr val="000000">
                  <a:lumMod val="65000"/>
                  <a:lumOff val="35000"/>
                </a:srgbClr>
              </a:solidFill>
              <a:latin typeface="Arial" panose="020B0604020202020204"/>
            </a:endParaRPr>
          </a:p>
          <a:p>
            <a:pPr marL="1142657" lvl="2" indent="-228531">
              <a:spcBef>
                <a:spcPts val="600"/>
              </a:spcBef>
              <a:buClr>
                <a:srgbClr val="000483"/>
              </a:buClr>
              <a:buFont typeface="Arial" panose="020B0604020202020204" pitchFamily="34" charset="0"/>
              <a:buChar char="•"/>
              <a:tabLst>
                <a:tab pos="2112329" algn="l"/>
              </a:tabLst>
              <a:defRPr/>
            </a:pPr>
            <a:r>
              <a:rPr lang="en-US" sz="1400" b="1" dirty="0">
                <a:solidFill>
                  <a:srgbClr val="000000">
                    <a:lumMod val="65000"/>
                    <a:lumOff val="35000"/>
                  </a:srgbClr>
                </a:solidFill>
                <a:latin typeface="Arial" panose="020B0604020202020204"/>
              </a:rPr>
              <a:t>Tier: 	</a:t>
            </a:r>
            <a:r>
              <a:rPr lang="en-US" sz="1400" dirty="0">
                <a:solidFill>
                  <a:srgbClr val="000000">
                    <a:lumMod val="65000"/>
                    <a:lumOff val="35000"/>
                  </a:srgbClr>
                </a:solidFill>
                <a:latin typeface="Arial" panose="020B0604020202020204"/>
              </a:rPr>
              <a:t>Tier 1 | </a:t>
            </a:r>
            <a:r>
              <a:rPr lang="en-US" sz="1400" baseline="30000" dirty="0">
                <a:solidFill>
                  <a:srgbClr val="000000">
                    <a:lumMod val="65000"/>
                    <a:lumOff val="35000"/>
                  </a:srgbClr>
                </a:solidFill>
                <a:latin typeface="Arial" panose="020B0604020202020204"/>
              </a:rPr>
              <a:t>1</a:t>
            </a:r>
            <a:r>
              <a:rPr lang="en-US" sz="1400" dirty="0">
                <a:solidFill>
                  <a:srgbClr val="000000">
                    <a:lumMod val="65000"/>
                    <a:lumOff val="35000"/>
                  </a:srgbClr>
                </a:solidFill>
                <a:latin typeface="Arial" panose="020B0604020202020204"/>
              </a:rPr>
              <a:t> vs. Tier 2 | </a:t>
            </a:r>
            <a:r>
              <a:rPr lang="en-US" sz="1400" baseline="30000" dirty="0">
                <a:solidFill>
                  <a:srgbClr val="000000">
                    <a:lumMod val="65000"/>
                    <a:lumOff val="35000"/>
                  </a:srgbClr>
                </a:solidFill>
                <a:latin typeface="Arial" panose="020B0604020202020204"/>
              </a:rPr>
              <a:t>2</a:t>
            </a:r>
            <a:r>
              <a:rPr lang="en-US" sz="1400" dirty="0">
                <a:solidFill>
                  <a:srgbClr val="000000">
                    <a:lumMod val="65000"/>
                    <a:lumOff val="35000"/>
                  </a:srgbClr>
                </a:solidFill>
                <a:latin typeface="Arial" panose="020B0604020202020204"/>
              </a:rPr>
              <a:t> vs. Tier 3 | </a:t>
            </a:r>
            <a:r>
              <a:rPr lang="en-US" sz="1400" baseline="30000" dirty="0">
                <a:solidFill>
                  <a:srgbClr val="000000">
                    <a:lumMod val="65000"/>
                    <a:lumOff val="35000"/>
                  </a:srgbClr>
                </a:solidFill>
                <a:latin typeface="Arial" panose="020B0604020202020204"/>
              </a:rPr>
              <a:t>3</a:t>
            </a:r>
            <a:endParaRPr lang="en-US" sz="1400" dirty="0">
              <a:solidFill>
                <a:srgbClr val="000000">
                  <a:lumMod val="65000"/>
                  <a:lumOff val="35000"/>
                </a:srgbClr>
              </a:solidFill>
              <a:latin typeface="Arial" panose="020B0604020202020204"/>
            </a:endParaRPr>
          </a:p>
          <a:p>
            <a:pPr marL="1142657" lvl="2" indent="-228531">
              <a:spcBef>
                <a:spcPts val="600"/>
              </a:spcBef>
              <a:buClr>
                <a:srgbClr val="000483"/>
              </a:buClr>
              <a:buFont typeface="Arial" panose="020B0604020202020204" pitchFamily="34" charset="0"/>
              <a:buChar char="•"/>
              <a:tabLst>
                <a:tab pos="2112329" algn="l"/>
              </a:tabLst>
              <a:defRPr/>
            </a:pPr>
            <a:r>
              <a:rPr lang="en-US" sz="1400" b="1" dirty="0">
                <a:solidFill>
                  <a:srgbClr val="000000">
                    <a:lumMod val="65000"/>
                    <a:lumOff val="35000"/>
                  </a:srgbClr>
                </a:solidFill>
                <a:latin typeface="Arial" panose="020B0604020202020204"/>
              </a:rPr>
              <a:t>Stocking: 	</a:t>
            </a:r>
            <a:r>
              <a:rPr lang="en-US" sz="1400" dirty="0">
                <a:solidFill>
                  <a:srgbClr val="000000">
                    <a:lumMod val="65000"/>
                    <a:lumOff val="35000"/>
                  </a:srgbClr>
                </a:solidFill>
                <a:latin typeface="Arial" panose="020B0604020202020204"/>
              </a:rPr>
              <a:t>Penbraya Stocker | </a:t>
            </a:r>
            <a:r>
              <a:rPr lang="en-US" sz="1400" baseline="30000" dirty="0">
                <a:solidFill>
                  <a:srgbClr val="000000">
                    <a:lumMod val="65000"/>
                    <a:lumOff val="35000"/>
                  </a:srgbClr>
                </a:solidFill>
                <a:latin typeface="Arial" panose="020B0604020202020204"/>
              </a:rPr>
              <a:t>S</a:t>
            </a:r>
            <a:r>
              <a:rPr lang="en-US" sz="1400" dirty="0">
                <a:solidFill>
                  <a:srgbClr val="000000">
                    <a:lumMod val="65000"/>
                    <a:lumOff val="35000"/>
                  </a:srgbClr>
                </a:solidFill>
                <a:latin typeface="Arial" panose="020B0604020202020204"/>
              </a:rPr>
              <a:t> vs. Non-Stocker | </a:t>
            </a:r>
            <a:r>
              <a:rPr lang="en-US" sz="1400" baseline="30000" dirty="0">
                <a:solidFill>
                  <a:srgbClr val="000000">
                    <a:lumMod val="65000"/>
                    <a:lumOff val="35000"/>
                  </a:srgbClr>
                </a:solidFill>
                <a:latin typeface="Arial" panose="020B0604020202020204"/>
              </a:rPr>
              <a:t>N</a:t>
            </a:r>
            <a:endParaRPr lang="en-US" sz="1400" dirty="0">
              <a:solidFill>
                <a:srgbClr val="000000">
                  <a:lumMod val="65000"/>
                  <a:lumOff val="35000"/>
                </a:srgbClr>
              </a:solidFill>
              <a:latin typeface="Arial" panose="020B0604020202020204"/>
            </a:endParaRPr>
          </a:p>
          <a:p>
            <a:pPr marL="1142657" lvl="2" indent="-228531">
              <a:spcBef>
                <a:spcPts val="600"/>
              </a:spcBef>
              <a:buClr>
                <a:srgbClr val="000483"/>
              </a:buClr>
              <a:buFont typeface="Arial" panose="020B0604020202020204" pitchFamily="34" charset="0"/>
              <a:buChar char="•"/>
              <a:tabLst>
                <a:tab pos="2112329" algn="l"/>
              </a:tabLst>
              <a:defRPr/>
            </a:pPr>
            <a:r>
              <a:rPr lang="en-US" sz="1400" b="1" dirty="0">
                <a:solidFill>
                  <a:srgbClr val="000000">
                    <a:lumMod val="65000"/>
                    <a:lumOff val="35000"/>
                  </a:srgbClr>
                </a:solidFill>
                <a:latin typeface="Arial" panose="020B0604020202020204"/>
              </a:rPr>
              <a:t>Brand: 	</a:t>
            </a:r>
            <a:r>
              <a:rPr lang="en-US" sz="1400" dirty="0">
                <a:solidFill>
                  <a:srgbClr val="000000">
                    <a:lumMod val="65000"/>
                    <a:lumOff val="35000"/>
                  </a:srgbClr>
                </a:solidFill>
                <a:latin typeface="Arial" panose="020B0604020202020204"/>
              </a:rPr>
              <a:t>Pfizer | </a:t>
            </a:r>
            <a:r>
              <a:rPr lang="en-US" sz="1400" baseline="30000" dirty="0">
                <a:solidFill>
                  <a:srgbClr val="000000">
                    <a:lumMod val="65000"/>
                    <a:lumOff val="35000"/>
                  </a:srgbClr>
                </a:solidFill>
                <a:latin typeface="Arial" panose="020B0604020202020204"/>
              </a:rPr>
              <a:t>P</a:t>
            </a:r>
            <a:r>
              <a:rPr lang="en-US" sz="1400" dirty="0">
                <a:solidFill>
                  <a:srgbClr val="000000">
                    <a:lumMod val="65000"/>
                    <a:lumOff val="35000"/>
                  </a:srgbClr>
                </a:solidFill>
                <a:latin typeface="Arial" panose="020B0604020202020204"/>
              </a:rPr>
              <a:t> vs. GSK | </a:t>
            </a:r>
            <a:r>
              <a:rPr lang="en-US" sz="1400" baseline="30000" dirty="0">
                <a:solidFill>
                  <a:srgbClr val="000000">
                    <a:lumMod val="65000"/>
                    <a:lumOff val="35000"/>
                  </a:srgbClr>
                </a:solidFill>
                <a:latin typeface="Arial" panose="020B0604020202020204"/>
              </a:rPr>
              <a:t>G</a:t>
            </a:r>
            <a:r>
              <a:rPr lang="en-US" sz="1400" dirty="0">
                <a:solidFill>
                  <a:srgbClr val="000000">
                    <a:lumMod val="65000"/>
                    <a:lumOff val="35000"/>
                  </a:srgbClr>
                </a:solidFill>
                <a:latin typeface="Arial" panose="020B0604020202020204"/>
              </a:rPr>
              <a:t> vs. Sanofi | </a:t>
            </a:r>
            <a:r>
              <a:rPr lang="en-US" sz="1400" baseline="30000" dirty="0">
                <a:solidFill>
                  <a:srgbClr val="000000">
                    <a:lumMod val="65000"/>
                    <a:lumOff val="35000"/>
                  </a:srgbClr>
                </a:solidFill>
                <a:latin typeface="Arial" panose="020B0604020202020204"/>
              </a:rPr>
              <a:t>S</a:t>
            </a:r>
            <a:r>
              <a:rPr lang="en-US" sz="1400" dirty="0">
                <a:solidFill>
                  <a:srgbClr val="000000">
                    <a:lumMod val="65000"/>
                    <a:lumOff val="35000"/>
                  </a:srgbClr>
                </a:solidFill>
                <a:latin typeface="Arial" panose="020B0604020202020204"/>
              </a:rPr>
              <a:t> vs. Merck | </a:t>
            </a:r>
            <a:r>
              <a:rPr lang="en-US" sz="1400" baseline="30000" dirty="0">
                <a:solidFill>
                  <a:srgbClr val="000000">
                    <a:lumMod val="65000"/>
                    <a:lumOff val="35000"/>
                  </a:srgbClr>
                </a:solidFill>
                <a:latin typeface="Arial" panose="020B0604020202020204"/>
              </a:rPr>
              <a:t>M</a:t>
            </a:r>
          </a:p>
          <a:p>
            <a:pPr marL="1142657" lvl="2" indent="-228531">
              <a:spcBef>
                <a:spcPts val="600"/>
              </a:spcBef>
              <a:buClr>
                <a:srgbClr val="000483"/>
              </a:buClr>
              <a:buFont typeface="Arial" panose="020B0604020202020204" pitchFamily="34" charset="0"/>
              <a:buChar char="•"/>
              <a:tabLst>
                <a:tab pos="2112329" algn="l"/>
              </a:tabLst>
              <a:defRPr/>
            </a:pPr>
            <a:r>
              <a:rPr lang="en-US" sz="1400" b="1" dirty="0">
                <a:solidFill>
                  <a:srgbClr val="000000">
                    <a:lumMod val="65000"/>
                    <a:lumOff val="35000"/>
                  </a:srgbClr>
                </a:solidFill>
                <a:latin typeface="Arial" panose="020B0604020202020204"/>
              </a:rPr>
              <a:t>High Public Patient Volume</a:t>
            </a:r>
            <a:r>
              <a:rPr lang="en-US" sz="1400" dirty="0">
                <a:solidFill>
                  <a:srgbClr val="000000">
                    <a:lumMod val="65000"/>
                    <a:lumOff val="35000"/>
                  </a:srgbClr>
                </a:solidFill>
                <a:latin typeface="Arial" panose="020B0604020202020204"/>
              </a:rPr>
              <a:t> (&gt;60% patients w/public funding)</a:t>
            </a:r>
            <a:r>
              <a:rPr lang="en-US" sz="1400" b="1" dirty="0">
                <a:solidFill>
                  <a:srgbClr val="000000">
                    <a:lumMod val="65000"/>
                    <a:lumOff val="35000"/>
                  </a:srgbClr>
                </a:solidFill>
                <a:latin typeface="Arial" panose="020B0604020202020204"/>
              </a:rPr>
              <a:t>: </a:t>
            </a:r>
            <a:r>
              <a:rPr lang="en-US" sz="1400" dirty="0">
                <a:solidFill>
                  <a:srgbClr val="000000">
                    <a:lumMod val="65000"/>
                    <a:lumOff val="35000"/>
                  </a:srgbClr>
                </a:solidFill>
                <a:latin typeface="Arial" panose="020B0604020202020204"/>
              </a:rPr>
              <a:t>High Public (n=34) | </a:t>
            </a:r>
            <a:r>
              <a:rPr lang="en-US" sz="1400" baseline="30000" dirty="0">
                <a:solidFill>
                  <a:srgbClr val="000000">
                    <a:lumMod val="65000"/>
                    <a:lumOff val="35000"/>
                  </a:srgbClr>
                </a:solidFill>
                <a:latin typeface="Arial" panose="020B0604020202020204"/>
              </a:rPr>
              <a:t>P</a:t>
            </a:r>
            <a:r>
              <a:rPr lang="en-US" sz="1400" dirty="0">
                <a:solidFill>
                  <a:srgbClr val="000000">
                    <a:lumMod val="65000"/>
                    <a:lumOff val="35000"/>
                  </a:srgbClr>
                </a:solidFill>
                <a:latin typeface="Arial" panose="020B0604020202020204"/>
              </a:rPr>
              <a:t> vs. Others (166) | </a:t>
            </a:r>
            <a:r>
              <a:rPr lang="en-US" sz="1400" baseline="30000" dirty="0">
                <a:solidFill>
                  <a:srgbClr val="000000">
                    <a:lumMod val="65000"/>
                    <a:lumOff val="35000"/>
                  </a:srgbClr>
                </a:solidFill>
                <a:latin typeface="Arial" panose="020B0604020202020204"/>
              </a:rPr>
              <a:t>O</a:t>
            </a:r>
            <a:endParaRPr lang="en-US" sz="1400" dirty="0">
              <a:solidFill>
                <a:srgbClr val="000000">
                  <a:lumMod val="65000"/>
                  <a:lumOff val="35000"/>
                </a:srgbClr>
              </a:solidFill>
              <a:latin typeface="Arial" panose="020B0604020202020204"/>
            </a:endParaRPr>
          </a:p>
          <a:p>
            <a:pPr marL="22853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Outliers &gt;3 standard deviations from the mean (&gt;3SD) are excluded where appropriate</a:t>
            </a:r>
          </a:p>
          <a:p>
            <a:pPr marL="22853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Percentages may not add to 100%, and numbers may not sum to total due to rounding</a:t>
            </a:r>
          </a:p>
          <a:p>
            <a:pPr marL="228531" indent="-228531">
              <a:spcBef>
                <a:spcPts val="600"/>
              </a:spcBef>
              <a:buClr>
                <a:srgbClr val="000483"/>
              </a:buClr>
              <a:buFont typeface="Arial" panose="020B0604020202020204" pitchFamily="34" charset="0"/>
              <a:buChar char="•"/>
              <a:defRPr/>
            </a:pPr>
            <a:r>
              <a:rPr lang="en-US" sz="1400" dirty="0">
                <a:solidFill>
                  <a:srgbClr val="000000">
                    <a:lumMod val="65000"/>
                    <a:lumOff val="35000"/>
                  </a:srgbClr>
                </a:solidFill>
                <a:latin typeface="Arial" panose="020B0604020202020204" pitchFamily="34" charset="0"/>
                <a:cs typeface="Arial" panose="020B0604020202020204" pitchFamily="34" charset="0"/>
                <a:sym typeface="Arial"/>
              </a:rPr>
              <a:t>Data labels &lt;5% are not shown</a:t>
            </a:r>
          </a:p>
        </p:txBody>
      </p:sp>
      <p:grpSp>
        <p:nvGrpSpPr>
          <p:cNvPr id="12" name="Group 11">
            <a:extLst>
              <a:ext uri="{FF2B5EF4-FFF2-40B4-BE49-F238E27FC236}">
                <a16:creationId xmlns:a16="http://schemas.microsoft.com/office/drawing/2014/main" id="{F8290013-5AE0-20A9-643F-5243C4DD6E04}"/>
              </a:ext>
            </a:extLst>
          </p:cNvPr>
          <p:cNvGrpSpPr>
            <a:grpSpLocks noChangeAspect="1"/>
          </p:cNvGrpSpPr>
          <p:nvPr/>
        </p:nvGrpSpPr>
        <p:grpSpPr>
          <a:xfrm>
            <a:off x="1014708" y="951444"/>
            <a:ext cx="251396" cy="252491"/>
            <a:chOff x="7490195" y="1633669"/>
            <a:chExt cx="502920" cy="505111"/>
          </a:xfrm>
        </p:grpSpPr>
        <p:sp>
          <p:nvSpPr>
            <p:cNvPr id="13" name="Star: 5 Points 12">
              <a:extLst>
                <a:ext uri="{FF2B5EF4-FFF2-40B4-BE49-F238E27FC236}">
                  <a16:creationId xmlns:a16="http://schemas.microsoft.com/office/drawing/2014/main" id="{265C2427-74EB-EC11-75D3-622C6031E268}"/>
                </a:ext>
              </a:extLst>
            </p:cNvPr>
            <p:cNvSpPr/>
            <p:nvPr/>
          </p:nvSpPr>
          <p:spPr bwMode="gray">
            <a:xfrm>
              <a:off x="7540487" y="1678609"/>
              <a:ext cx="402336" cy="397565"/>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14" name="Oval 13">
              <a:extLst>
                <a:ext uri="{FF2B5EF4-FFF2-40B4-BE49-F238E27FC236}">
                  <a16:creationId xmlns:a16="http://schemas.microsoft.com/office/drawing/2014/main" id="{37960804-12D7-3298-3702-07D34C041341}"/>
                </a:ext>
              </a:extLst>
            </p:cNvPr>
            <p:cNvSpPr/>
            <p:nvPr/>
          </p:nvSpPr>
          <p:spPr bwMode="gray">
            <a:xfrm>
              <a:off x="7490195" y="1633669"/>
              <a:ext cx="502920" cy="505111"/>
            </a:xfrm>
            <a:prstGeom prst="ellipse">
              <a:avLst/>
            </a:prstGeom>
            <a:noFill/>
            <a:ln w="28575" cap="flat" cmpd="sng" algn="ctr">
              <a:solidFill>
                <a:srgbClr val="C9A909"/>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
        <p:nvSpPr>
          <p:cNvPr id="7" name="Rectangle: Rounded Corners 6">
            <a:extLst>
              <a:ext uri="{FF2B5EF4-FFF2-40B4-BE49-F238E27FC236}">
                <a16:creationId xmlns:a16="http://schemas.microsoft.com/office/drawing/2014/main" id="{105DC7EA-C32C-A0F8-8C22-FC404CD0C61E}"/>
              </a:ext>
            </a:extLst>
          </p:cNvPr>
          <p:cNvSpPr/>
          <p:nvPr/>
        </p:nvSpPr>
        <p:spPr bwMode="gray">
          <a:xfrm>
            <a:off x="904482" y="883145"/>
            <a:ext cx="10732752" cy="520567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nvGrpSpPr>
          <p:cNvPr id="8" name="Group 7">
            <a:extLst>
              <a:ext uri="{FF2B5EF4-FFF2-40B4-BE49-F238E27FC236}">
                <a16:creationId xmlns:a16="http://schemas.microsoft.com/office/drawing/2014/main" id="{3617BBBF-0CE8-8ADF-FD7C-3989E1282641}"/>
              </a:ext>
            </a:extLst>
          </p:cNvPr>
          <p:cNvGrpSpPr/>
          <p:nvPr/>
        </p:nvGrpSpPr>
        <p:grpSpPr>
          <a:xfrm>
            <a:off x="977009" y="1213358"/>
            <a:ext cx="369810" cy="381849"/>
            <a:chOff x="1119929" y="943834"/>
            <a:chExt cx="846331" cy="784203"/>
          </a:xfrm>
        </p:grpSpPr>
        <p:pic>
          <p:nvPicPr>
            <p:cNvPr id="9" name="Picture 6" descr="143,700+ Mouth Icon Illustrations, Royalty-Free Vector Graphics &amp; Clip Art  - iStock | Open mouth icon, Word of mouth icon, Cover mouth icon">
              <a:extLst>
                <a:ext uri="{FF2B5EF4-FFF2-40B4-BE49-F238E27FC236}">
                  <a16:creationId xmlns:a16="http://schemas.microsoft.com/office/drawing/2014/main" id="{4299DD24-CD3A-81A8-3064-4AE40E25FFA5}"/>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Rounded Corners 9">
              <a:extLst>
                <a:ext uri="{FF2B5EF4-FFF2-40B4-BE49-F238E27FC236}">
                  <a16:creationId xmlns:a16="http://schemas.microsoft.com/office/drawing/2014/main" id="{FD3EABD0-3564-899D-395B-2D2C076C9F9C}"/>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Tree>
    <p:extLst>
      <p:ext uri="{BB962C8B-B14F-4D97-AF65-F5344CB8AC3E}">
        <p14:creationId xmlns:p14="http://schemas.microsoft.com/office/powerpoint/2010/main" val="299632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A27E2-3F55-78FC-E5A5-732B52A35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CF98B-94A2-4F1F-41C8-4CFF708D06E1}"/>
              </a:ext>
            </a:extLst>
          </p:cNvPr>
          <p:cNvSpPr>
            <a:spLocks noGrp="1"/>
          </p:cNvSpPr>
          <p:nvPr>
            <p:ph type="title"/>
          </p:nvPr>
        </p:nvSpPr>
        <p:spPr>
          <a:xfrm>
            <a:off x="1080451" y="80329"/>
            <a:ext cx="10411702" cy="850392"/>
          </a:xfrm>
        </p:spPr>
        <p:txBody>
          <a:bodyPr vert="horz" lIns="0" tIns="45696" rIns="0" bIns="45696" rtlCol="0" anchor="t" anchorCtr="0">
            <a:noAutofit/>
          </a:bodyPr>
          <a:lstStyle/>
          <a:p>
            <a:r>
              <a:rPr lang="en-US" sz="2798">
                <a:solidFill>
                  <a:schemeClr val="accent1"/>
                </a:solidFill>
              </a:rPr>
              <a:t>Respondent Demographics </a:t>
            </a:r>
            <a:r>
              <a:rPr lang="en-US" sz="2800"/>
              <a:t>| </a:t>
            </a:r>
            <a:r>
              <a:rPr lang="en-US" sz="1800" kern="0">
                <a:solidFill>
                  <a:srgbClr val="000000"/>
                </a:solidFill>
                <a:latin typeface="Arial" panose="020B0604020202020204"/>
                <a:ea typeface="Yu Gothic UI"/>
                <a:cs typeface="Calibri Light" panose="020F0302020204030204" pitchFamily="34" charset="0"/>
              </a:rPr>
              <a:t>N=200: 160 PEDs </a:t>
            </a:r>
            <a:r>
              <a:rPr kumimoji="0" lang="en-US" sz="1800" b="0" i="0" u="none" strike="noStrike" kern="0" cap="none" spc="0" normalizeH="0" baseline="0" noProof="0">
                <a:ln>
                  <a:noFill/>
                </a:ln>
                <a:solidFill>
                  <a:srgbClr val="000000"/>
                </a:solidFill>
                <a:effectLst/>
                <a:uLnTx/>
                <a:uFillTx/>
                <a:latin typeface="Arial" panose="020B0604020202020204"/>
                <a:ea typeface="Yu Gothic UI"/>
                <a:cs typeface="Calibri Light" panose="020F0302020204030204" pitchFamily="34" charset="0"/>
              </a:rPr>
              <a:t>and 40 PCPs</a:t>
            </a:r>
            <a:endParaRPr lang="en-US" sz="2798">
              <a:solidFill>
                <a:schemeClr val="accent1"/>
              </a:solidFill>
            </a:endParaRPr>
          </a:p>
        </p:txBody>
      </p:sp>
      <p:sp>
        <p:nvSpPr>
          <p:cNvPr id="23" name="Rectangle: Rounded Corners 22">
            <a:extLst>
              <a:ext uri="{FF2B5EF4-FFF2-40B4-BE49-F238E27FC236}">
                <a16:creationId xmlns:a16="http://schemas.microsoft.com/office/drawing/2014/main" id="{0BBE6E5F-2B0C-4D97-058A-7875F8C1A95B}"/>
              </a:ext>
            </a:extLst>
          </p:cNvPr>
          <p:cNvSpPr/>
          <p:nvPr/>
        </p:nvSpPr>
        <p:spPr bwMode="gray">
          <a:xfrm>
            <a:off x="455361" y="1083854"/>
            <a:ext cx="5855566" cy="2198668"/>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24" name="TextBox 23">
            <a:extLst>
              <a:ext uri="{FF2B5EF4-FFF2-40B4-BE49-F238E27FC236}">
                <a16:creationId xmlns:a16="http://schemas.microsoft.com/office/drawing/2014/main" id="{B313699E-9BA8-009D-B589-85D2D2FB2013}"/>
              </a:ext>
            </a:extLst>
          </p:cNvPr>
          <p:cNvSpPr txBox="1"/>
          <p:nvPr/>
        </p:nvSpPr>
        <p:spPr bwMode="gray">
          <a:xfrm>
            <a:off x="1692995" y="940274"/>
            <a:ext cx="1343097" cy="464750"/>
          </a:xfrm>
          <a:prstGeom prst="rect">
            <a:avLst/>
          </a:prstGeom>
          <a:solidFill>
            <a:schemeClr val="bg1"/>
          </a:solidFill>
        </p:spPr>
        <p:txBody>
          <a:bodyPr wrap="square" lIns="18288" tIns="45696" rIns="18288" bIns="45696" rtlCol="0">
            <a:noAutofit/>
          </a:bodyPr>
          <a:lstStyle/>
          <a:p>
            <a:pPr algn="ctr">
              <a:defRPr/>
            </a:pPr>
            <a:r>
              <a:rPr lang="en-US" sz="1400" kern="100" spc="-20">
                <a:solidFill>
                  <a:srgbClr val="000000"/>
                </a:solidFill>
                <a:latin typeface="Arial" panose="020B0604020202020204"/>
              </a:rPr>
              <a:t>Practice Setting</a:t>
            </a:r>
          </a:p>
          <a:p>
            <a:pPr algn="ctr">
              <a:defRPr/>
            </a:pPr>
            <a:r>
              <a:rPr lang="en-US" sz="1000" i="1" kern="100" spc="-20">
                <a:solidFill>
                  <a:srgbClr val="FFFFFF">
                    <a:lumMod val="50000"/>
                  </a:srgbClr>
                </a:solidFill>
                <a:latin typeface="Arial" panose="020B0604020202020204"/>
              </a:rPr>
              <a:t>% Time</a:t>
            </a:r>
          </a:p>
        </p:txBody>
      </p:sp>
      <p:sp>
        <p:nvSpPr>
          <p:cNvPr id="7" name="Text Placeholder 6">
            <a:extLst>
              <a:ext uri="{FF2B5EF4-FFF2-40B4-BE49-F238E27FC236}">
                <a16:creationId xmlns:a16="http://schemas.microsoft.com/office/drawing/2014/main" id="{EC96148A-AC68-B22D-1C6B-90E88DBDC864}"/>
              </a:ext>
            </a:extLst>
          </p:cNvPr>
          <p:cNvSpPr>
            <a:spLocks noGrp="1"/>
          </p:cNvSpPr>
          <p:nvPr>
            <p:ph type="body" sz="quarter" idx="16"/>
          </p:nvPr>
        </p:nvSpPr>
        <p:spPr>
          <a:xfrm>
            <a:off x="1561287" y="6410780"/>
            <a:ext cx="9234439" cy="332225"/>
          </a:xfrm>
        </p:spPr>
        <p:txBody>
          <a:bodyPr/>
          <a:lstStyle/>
          <a:p>
            <a:r>
              <a:rPr lang="en-US"/>
              <a:t>Question wording can be found in the Notes section.</a:t>
            </a:r>
            <a:br>
              <a:rPr lang="en-US"/>
            </a:br>
            <a:r>
              <a:rPr lang="en-US"/>
              <a:t>S8 / D5 / D6 / D7 / D4 / S11 / </a:t>
            </a:r>
            <a:r>
              <a:rPr lang="en-US">
                <a:solidFill>
                  <a:srgbClr val="FF0000"/>
                </a:solidFill>
              </a:rPr>
              <a:t>(New) </a:t>
            </a:r>
            <a:r>
              <a:rPr lang="en-US"/>
              <a:t>D8 / S7 / S9</a:t>
            </a:r>
          </a:p>
        </p:txBody>
      </p:sp>
      <p:graphicFrame>
        <p:nvGraphicFramePr>
          <p:cNvPr id="3" name="Chart 2">
            <a:extLst>
              <a:ext uri="{FF2B5EF4-FFF2-40B4-BE49-F238E27FC236}">
                <a16:creationId xmlns:a16="http://schemas.microsoft.com/office/drawing/2014/main" id="{1DE058CF-B2F0-4F74-7C73-E2533A9F6938}"/>
              </a:ext>
            </a:extLst>
          </p:cNvPr>
          <p:cNvGraphicFramePr/>
          <p:nvPr>
            <p:extLst>
              <p:ext uri="{D42A27DB-BD31-4B8C-83A1-F6EECF244321}">
                <p14:modId xmlns:p14="http://schemas.microsoft.com/office/powerpoint/2010/main" val="1641708801"/>
              </p:ext>
            </p:extLst>
          </p:nvPr>
        </p:nvGraphicFramePr>
        <p:xfrm>
          <a:off x="420150" y="1464286"/>
          <a:ext cx="3767807" cy="180850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4" name="Chart 43">
            <a:extLst>
              <a:ext uri="{FF2B5EF4-FFF2-40B4-BE49-F238E27FC236}">
                <a16:creationId xmlns:a16="http://schemas.microsoft.com/office/drawing/2014/main" id="{FE246108-4328-5AFA-D6BE-F1215A1556E5}"/>
              </a:ext>
            </a:extLst>
          </p:cNvPr>
          <p:cNvGraphicFramePr/>
          <p:nvPr>
            <p:extLst>
              <p:ext uri="{D42A27DB-BD31-4B8C-83A1-F6EECF244321}">
                <p14:modId xmlns:p14="http://schemas.microsoft.com/office/powerpoint/2010/main" val="1626003236"/>
              </p:ext>
            </p:extLst>
          </p:nvPr>
        </p:nvGraphicFramePr>
        <p:xfrm>
          <a:off x="4137158" y="1476909"/>
          <a:ext cx="2148315" cy="1795886"/>
        </p:xfrm>
        <a:graphic>
          <a:graphicData uri="http://schemas.openxmlformats.org/drawingml/2006/chart">
            <c:chart xmlns:c="http://schemas.openxmlformats.org/drawingml/2006/chart" xmlns:r="http://schemas.openxmlformats.org/officeDocument/2006/relationships" r:id="rId4"/>
          </a:graphicData>
        </a:graphic>
      </p:graphicFrame>
      <p:sp>
        <p:nvSpPr>
          <p:cNvPr id="56" name="TextBox 55">
            <a:extLst>
              <a:ext uri="{FF2B5EF4-FFF2-40B4-BE49-F238E27FC236}">
                <a16:creationId xmlns:a16="http://schemas.microsoft.com/office/drawing/2014/main" id="{891CE4C1-6A8E-93F7-E79F-68349603DC94}"/>
              </a:ext>
            </a:extLst>
          </p:cNvPr>
          <p:cNvSpPr txBox="1"/>
          <p:nvPr/>
        </p:nvSpPr>
        <p:spPr bwMode="gray">
          <a:xfrm>
            <a:off x="4836488" y="940274"/>
            <a:ext cx="884535"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Affiliation</a:t>
            </a:r>
          </a:p>
          <a:p>
            <a:pPr algn="ctr">
              <a:defRPr/>
            </a:pPr>
            <a:r>
              <a:rPr lang="en-US" sz="1000" i="1" kern="100" spc="-20">
                <a:solidFill>
                  <a:srgbClr val="FFFFFF">
                    <a:lumMod val="50000"/>
                  </a:srgbClr>
                </a:solidFill>
                <a:latin typeface="Arial" panose="020B0604020202020204"/>
              </a:rPr>
              <a:t>% HCPs</a:t>
            </a:r>
          </a:p>
        </p:txBody>
      </p:sp>
      <p:cxnSp>
        <p:nvCxnSpPr>
          <p:cNvPr id="10" name="Straight Connector 9">
            <a:extLst>
              <a:ext uri="{FF2B5EF4-FFF2-40B4-BE49-F238E27FC236}">
                <a16:creationId xmlns:a16="http://schemas.microsoft.com/office/drawing/2014/main" id="{3DC4FDD3-4571-50AA-B676-0C7891289BB4}"/>
              </a:ext>
            </a:extLst>
          </p:cNvPr>
          <p:cNvCxnSpPr>
            <a:cxnSpLocks/>
          </p:cNvCxnSpPr>
          <p:nvPr/>
        </p:nvCxnSpPr>
        <p:spPr bwMode="gray">
          <a:xfrm>
            <a:off x="4251018" y="1152980"/>
            <a:ext cx="0" cy="2034720"/>
          </a:xfrm>
          <a:prstGeom prst="line">
            <a:avLst/>
          </a:prstGeom>
          <a:noFill/>
          <a:ln w="9525" cap="rnd">
            <a:solidFill>
              <a:schemeClr val="bg1">
                <a:lumMod val="75000"/>
              </a:schemeClr>
            </a:solidFill>
            <a:prstDash val="solid"/>
            <a:round/>
            <a:headEnd/>
            <a:tailEnd/>
          </a:ln>
          <a:effectLst/>
        </p:spPr>
      </p:cxnSp>
      <p:graphicFrame>
        <p:nvGraphicFramePr>
          <p:cNvPr id="68" name="Chart 67">
            <a:extLst>
              <a:ext uri="{FF2B5EF4-FFF2-40B4-BE49-F238E27FC236}">
                <a16:creationId xmlns:a16="http://schemas.microsoft.com/office/drawing/2014/main" id="{320A5D4B-773F-DE97-FEB6-F13BBD781DF1}"/>
              </a:ext>
            </a:extLst>
          </p:cNvPr>
          <p:cNvGraphicFramePr/>
          <p:nvPr>
            <p:extLst>
              <p:ext uri="{D42A27DB-BD31-4B8C-83A1-F6EECF244321}">
                <p14:modId xmlns:p14="http://schemas.microsoft.com/office/powerpoint/2010/main" val="1819899569"/>
              </p:ext>
            </p:extLst>
          </p:nvPr>
        </p:nvGraphicFramePr>
        <p:xfrm>
          <a:off x="420150" y="4072443"/>
          <a:ext cx="2397769" cy="1808509"/>
        </p:xfrm>
        <a:graphic>
          <a:graphicData uri="http://schemas.openxmlformats.org/drawingml/2006/chart">
            <c:chart xmlns:c="http://schemas.openxmlformats.org/drawingml/2006/chart" xmlns:r="http://schemas.openxmlformats.org/officeDocument/2006/relationships" r:id="rId5"/>
          </a:graphicData>
        </a:graphic>
      </p:graphicFrame>
      <p:sp>
        <p:nvSpPr>
          <p:cNvPr id="72" name="Rectangle: Rounded Corners 71">
            <a:extLst>
              <a:ext uri="{FF2B5EF4-FFF2-40B4-BE49-F238E27FC236}">
                <a16:creationId xmlns:a16="http://schemas.microsoft.com/office/drawing/2014/main" id="{727F9597-7885-DD22-45ED-A6BA7BA32E29}"/>
              </a:ext>
            </a:extLst>
          </p:cNvPr>
          <p:cNvSpPr/>
          <p:nvPr/>
        </p:nvSpPr>
        <p:spPr bwMode="gray">
          <a:xfrm>
            <a:off x="455360" y="3693459"/>
            <a:ext cx="2361433" cy="2205192"/>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73" name="TextBox 72">
            <a:extLst>
              <a:ext uri="{FF2B5EF4-FFF2-40B4-BE49-F238E27FC236}">
                <a16:creationId xmlns:a16="http://schemas.microsoft.com/office/drawing/2014/main" id="{3FE0003D-6B42-4691-AFF9-780FBFD76AE6}"/>
              </a:ext>
            </a:extLst>
          </p:cNvPr>
          <p:cNvSpPr txBox="1"/>
          <p:nvPr/>
        </p:nvSpPr>
        <p:spPr bwMode="gray">
          <a:xfrm>
            <a:off x="952436" y="3574733"/>
            <a:ext cx="1294145"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Decision-Maker</a:t>
            </a:r>
          </a:p>
          <a:p>
            <a:pPr algn="ctr">
              <a:defRPr/>
            </a:pPr>
            <a:r>
              <a:rPr lang="en-US" sz="1000" i="1" kern="100" spc="-20">
                <a:solidFill>
                  <a:srgbClr val="FFFFFF">
                    <a:lumMod val="50000"/>
                  </a:srgbClr>
                </a:solidFill>
                <a:latin typeface="Arial" panose="020B0604020202020204"/>
              </a:rPr>
              <a:t>% HCPs</a:t>
            </a:r>
          </a:p>
        </p:txBody>
      </p:sp>
      <p:sp>
        <p:nvSpPr>
          <p:cNvPr id="14" name="Rectangle: Rounded Corners 13">
            <a:extLst>
              <a:ext uri="{FF2B5EF4-FFF2-40B4-BE49-F238E27FC236}">
                <a16:creationId xmlns:a16="http://schemas.microsoft.com/office/drawing/2014/main" id="{4523A49D-6340-B6C2-EA40-8836F4C8A645}"/>
              </a:ext>
            </a:extLst>
          </p:cNvPr>
          <p:cNvSpPr/>
          <p:nvPr/>
        </p:nvSpPr>
        <p:spPr bwMode="gray">
          <a:xfrm>
            <a:off x="6528001" y="1083854"/>
            <a:ext cx="5205464" cy="2198668"/>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5" name="TextBox 14">
            <a:extLst>
              <a:ext uri="{FF2B5EF4-FFF2-40B4-BE49-F238E27FC236}">
                <a16:creationId xmlns:a16="http://schemas.microsoft.com/office/drawing/2014/main" id="{DDF06149-5F78-C10D-9428-CF220FF49FB4}"/>
              </a:ext>
            </a:extLst>
          </p:cNvPr>
          <p:cNvSpPr txBox="1"/>
          <p:nvPr/>
        </p:nvSpPr>
        <p:spPr bwMode="gray">
          <a:xfrm>
            <a:off x="8429345" y="940274"/>
            <a:ext cx="1402776"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Practice Type</a:t>
            </a:r>
          </a:p>
          <a:p>
            <a:pPr algn="ctr">
              <a:defRPr/>
            </a:pPr>
            <a:r>
              <a:rPr lang="en-US" sz="1000" i="1" kern="100" spc="-20">
                <a:solidFill>
                  <a:srgbClr val="FFFFFF">
                    <a:lumMod val="50000"/>
                  </a:srgbClr>
                </a:solidFill>
                <a:latin typeface="Arial" panose="020B0604020202020204"/>
              </a:rPr>
              <a:t>% HCPs</a:t>
            </a:r>
          </a:p>
        </p:txBody>
      </p:sp>
      <p:sp>
        <p:nvSpPr>
          <p:cNvPr id="33" name="TextBox 32">
            <a:extLst>
              <a:ext uri="{FF2B5EF4-FFF2-40B4-BE49-F238E27FC236}">
                <a16:creationId xmlns:a16="http://schemas.microsoft.com/office/drawing/2014/main" id="{29483284-4947-7916-9886-ECB1820FD1A5}"/>
              </a:ext>
            </a:extLst>
          </p:cNvPr>
          <p:cNvSpPr txBox="1"/>
          <p:nvPr/>
        </p:nvSpPr>
        <p:spPr bwMode="gray">
          <a:xfrm>
            <a:off x="5322074" y="2145019"/>
            <a:ext cx="595612"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&lt; PCP</a:t>
            </a:r>
          </a:p>
        </p:txBody>
      </p:sp>
      <p:graphicFrame>
        <p:nvGraphicFramePr>
          <p:cNvPr id="13" name="Chart 12">
            <a:extLst>
              <a:ext uri="{FF2B5EF4-FFF2-40B4-BE49-F238E27FC236}">
                <a16:creationId xmlns:a16="http://schemas.microsoft.com/office/drawing/2014/main" id="{431039F1-523F-F4A6-047E-F22A8D0F0969}"/>
              </a:ext>
            </a:extLst>
          </p:cNvPr>
          <p:cNvGraphicFramePr/>
          <p:nvPr>
            <p:extLst>
              <p:ext uri="{D42A27DB-BD31-4B8C-83A1-F6EECF244321}">
                <p14:modId xmlns:p14="http://schemas.microsoft.com/office/powerpoint/2010/main" val="1377538866"/>
              </p:ext>
            </p:extLst>
          </p:nvPr>
        </p:nvGraphicFramePr>
        <p:xfrm>
          <a:off x="6526924" y="1465034"/>
          <a:ext cx="5205471" cy="179138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8" name="Chart 7">
            <a:extLst>
              <a:ext uri="{FF2B5EF4-FFF2-40B4-BE49-F238E27FC236}">
                <a16:creationId xmlns:a16="http://schemas.microsoft.com/office/drawing/2014/main" id="{B8058C40-9E24-12DF-299A-4A081EC402F5}"/>
              </a:ext>
            </a:extLst>
          </p:cNvPr>
          <p:cNvGraphicFramePr/>
          <p:nvPr>
            <p:extLst>
              <p:ext uri="{D42A27DB-BD31-4B8C-83A1-F6EECF244321}">
                <p14:modId xmlns:p14="http://schemas.microsoft.com/office/powerpoint/2010/main" val="23475986"/>
              </p:ext>
            </p:extLst>
          </p:nvPr>
        </p:nvGraphicFramePr>
        <p:xfrm>
          <a:off x="3051111" y="4085067"/>
          <a:ext cx="2359066" cy="1873355"/>
        </p:xfrm>
        <a:graphic>
          <a:graphicData uri="http://schemas.openxmlformats.org/drawingml/2006/chart">
            <c:chart xmlns:c="http://schemas.openxmlformats.org/drawingml/2006/chart" xmlns:r="http://schemas.openxmlformats.org/officeDocument/2006/relationships" r:id="rId7"/>
          </a:graphicData>
        </a:graphic>
      </p:graphicFrame>
      <p:sp>
        <p:nvSpPr>
          <p:cNvPr id="11" name="Rectangle: Rounded Corners 10">
            <a:extLst>
              <a:ext uri="{FF2B5EF4-FFF2-40B4-BE49-F238E27FC236}">
                <a16:creationId xmlns:a16="http://schemas.microsoft.com/office/drawing/2014/main" id="{976C082F-3269-073B-F9BC-A1CF09C7C043}"/>
              </a:ext>
            </a:extLst>
          </p:cNvPr>
          <p:cNvSpPr/>
          <p:nvPr/>
        </p:nvSpPr>
        <p:spPr bwMode="gray">
          <a:xfrm>
            <a:off x="3051373" y="3707837"/>
            <a:ext cx="2359066" cy="2185713"/>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2" name="TextBox 11">
            <a:extLst>
              <a:ext uri="{FF2B5EF4-FFF2-40B4-BE49-F238E27FC236}">
                <a16:creationId xmlns:a16="http://schemas.microsoft.com/office/drawing/2014/main" id="{72232F84-34EC-324A-9AC1-90FDDA30A696}"/>
              </a:ext>
            </a:extLst>
          </p:cNvPr>
          <p:cNvSpPr txBox="1"/>
          <p:nvPr/>
        </p:nvSpPr>
        <p:spPr bwMode="gray">
          <a:xfrm>
            <a:off x="3522821" y="3574733"/>
            <a:ext cx="1343104" cy="464750"/>
          </a:xfrm>
          <a:prstGeom prst="rect">
            <a:avLst/>
          </a:prstGeom>
          <a:solidFill>
            <a:schemeClr val="bg1"/>
          </a:solidFill>
        </p:spPr>
        <p:txBody>
          <a:bodyPr wrap="square" lIns="9144" tIns="45696" rIns="9144" bIns="45696" rtlCol="0">
            <a:noAutofit/>
          </a:bodyPr>
          <a:lstStyle/>
          <a:p>
            <a:pPr algn="ctr">
              <a:defRPr/>
            </a:pPr>
            <a:r>
              <a:rPr lang="en-US" sz="1400" kern="100" spc="-20">
                <a:solidFill>
                  <a:srgbClr val="000000"/>
                </a:solidFill>
                <a:latin typeface="Arial" panose="020B0604020202020204"/>
              </a:rPr>
              <a:t>Loyalty Segment</a:t>
            </a:r>
          </a:p>
          <a:p>
            <a:pPr algn="ctr">
              <a:defRPr/>
            </a:pPr>
            <a:r>
              <a:rPr lang="en-US" sz="1000" i="1" kern="100" spc="-20">
                <a:solidFill>
                  <a:srgbClr val="FFFFFF">
                    <a:lumMod val="50000"/>
                  </a:srgbClr>
                </a:solidFill>
                <a:latin typeface="Arial" panose="020B0604020202020204"/>
              </a:rPr>
              <a:t>% HCPs</a:t>
            </a:r>
          </a:p>
        </p:txBody>
      </p:sp>
      <p:sp>
        <p:nvSpPr>
          <p:cNvPr id="91" name="Rectangle: Rounded Corners 90">
            <a:extLst>
              <a:ext uri="{FF2B5EF4-FFF2-40B4-BE49-F238E27FC236}">
                <a16:creationId xmlns:a16="http://schemas.microsoft.com/office/drawing/2014/main" id="{25F481FB-27B7-84B7-FD30-CD00C86B5489}"/>
              </a:ext>
            </a:extLst>
          </p:cNvPr>
          <p:cNvSpPr/>
          <p:nvPr/>
        </p:nvSpPr>
        <p:spPr bwMode="gray">
          <a:xfrm>
            <a:off x="10157187" y="3704151"/>
            <a:ext cx="1575208" cy="2185713"/>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spcAft>
                <a:spcPct val="0"/>
              </a:spcAft>
              <a:buClr>
                <a:srgbClr val="0095FF"/>
              </a:buClr>
              <a:buSzPct val="90000"/>
              <a:defRPr/>
            </a:pPr>
            <a:endParaRPr lang="en-US" sz="1798" b="1">
              <a:solidFill>
                <a:srgbClr val="0000C9"/>
              </a:solidFill>
              <a:latin typeface="Arial" panose="020B0604020202020204"/>
            </a:endParaRPr>
          </a:p>
        </p:txBody>
      </p:sp>
      <p:sp>
        <p:nvSpPr>
          <p:cNvPr id="92" name="TextBox 91">
            <a:extLst>
              <a:ext uri="{FF2B5EF4-FFF2-40B4-BE49-F238E27FC236}">
                <a16:creationId xmlns:a16="http://schemas.microsoft.com/office/drawing/2014/main" id="{6164955D-F6D8-F6DA-E72A-3A3D4A061D24}"/>
              </a:ext>
            </a:extLst>
          </p:cNvPr>
          <p:cNvSpPr txBox="1"/>
          <p:nvPr/>
        </p:nvSpPr>
        <p:spPr bwMode="gray">
          <a:xfrm>
            <a:off x="10378228" y="3574733"/>
            <a:ext cx="1133126" cy="464750"/>
          </a:xfrm>
          <a:prstGeom prst="rect">
            <a:avLst/>
          </a:prstGeom>
          <a:solidFill>
            <a:schemeClr val="bg1"/>
          </a:solidFill>
        </p:spPr>
        <p:txBody>
          <a:bodyPr wrap="square" lIns="18288" tIns="45696" rIns="18288" bIns="45696" rtlCol="0">
            <a:noAutofit/>
          </a:bodyPr>
          <a:lstStyle/>
          <a:p>
            <a:pPr algn="ctr">
              <a:defRPr/>
            </a:pPr>
            <a:r>
              <a:rPr lang="en-US" sz="1400" kern="100" spc="-20">
                <a:solidFill>
                  <a:srgbClr val="000000"/>
                </a:solidFill>
                <a:latin typeface="Arial" panose="020B0604020202020204"/>
              </a:rPr>
              <a:t>Time in Direct Patient Care</a:t>
            </a:r>
          </a:p>
          <a:p>
            <a:pPr algn="ctr">
              <a:defRPr/>
            </a:pPr>
            <a:r>
              <a:rPr lang="en-US" sz="1000" i="1" kern="100" spc="-20">
                <a:solidFill>
                  <a:srgbClr val="FFFFFF">
                    <a:lumMod val="50000"/>
                  </a:srgbClr>
                </a:solidFill>
                <a:latin typeface="Arial" panose="020B0604020202020204"/>
              </a:rPr>
              <a:t>% HCPs</a:t>
            </a:r>
          </a:p>
        </p:txBody>
      </p:sp>
      <p:sp>
        <p:nvSpPr>
          <p:cNvPr id="93" name="TextBox 92">
            <a:extLst>
              <a:ext uri="{FF2B5EF4-FFF2-40B4-BE49-F238E27FC236}">
                <a16:creationId xmlns:a16="http://schemas.microsoft.com/office/drawing/2014/main" id="{17888EB7-9663-4D38-AD36-03F10E465B55}"/>
              </a:ext>
            </a:extLst>
          </p:cNvPr>
          <p:cNvSpPr txBox="1"/>
          <p:nvPr/>
        </p:nvSpPr>
        <p:spPr bwMode="gray">
          <a:xfrm>
            <a:off x="10693464" y="5145816"/>
            <a:ext cx="502653" cy="338506"/>
          </a:xfrm>
          <a:prstGeom prst="rect">
            <a:avLst/>
          </a:prstGeom>
        </p:spPr>
        <p:txBody>
          <a:bodyPr wrap="none" lIns="45696" tIns="45696" rIns="45696" bIns="45696" rtlCol="0">
            <a:spAutoFit/>
          </a:bodyPr>
          <a:lstStyle/>
          <a:p>
            <a:pPr algn="ctr">
              <a:spcAft>
                <a:spcPts val="400"/>
              </a:spcAft>
            </a:pPr>
            <a:r>
              <a:rPr lang="en-US" sz="1600" b="1">
                <a:solidFill>
                  <a:srgbClr val="0DBDBA"/>
                </a:solidFill>
                <a:latin typeface="Arial" panose="020B0604020202020204"/>
              </a:rPr>
              <a:t>95%</a:t>
            </a:r>
          </a:p>
        </p:txBody>
      </p:sp>
      <p:pic>
        <p:nvPicPr>
          <p:cNvPr id="94" name="Graphic 93" descr="Clock with solid fill">
            <a:extLst>
              <a:ext uri="{FF2B5EF4-FFF2-40B4-BE49-F238E27FC236}">
                <a16:creationId xmlns:a16="http://schemas.microsoft.com/office/drawing/2014/main" id="{F51590A9-1DE9-A0B2-5DC3-267F61F2F68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651513" y="4526007"/>
            <a:ext cx="586557" cy="586557"/>
          </a:xfrm>
          <a:prstGeom prst="rect">
            <a:avLst/>
          </a:prstGeom>
        </p:spPr>
      </p:pic>
      <p:sp>
        <p:nvSpPr>
          <p:cNvPr id="81" name="Rectangle: Rounded Corners 80">
            <a:extLst>
              <a:ext uri="{FF2B5EF4-FFF2-40B4-BE49-F238E27FC236}">
                <a16:creationId xmlns:a16="http://schemas.microsoft.com/office/drawing/2014/main" id="{40FFCFAE-70E5-C23F-F3BF-DBF796FA1133}"/>
              </a:ext>
            </a:extLst>
          </p:cNvPr>
          <p:cNvSpPr/>
          <p:nvPr/>
        </p:nvSpPr>
        <p:spPr bwMode="gray">
          <a:xfrm>
            <a:off x="8243675" y="3704151"/>
            <a:ext cx="1680318" cy="2185713"/>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86" name="TextBox 85">
            <a:extLst>
              <a:ext uri="{FF2B5EF4-FFF2-40B4-BE49-F238E27FC236}">
                <a16:creationId xmlns:a16="http://schemas.microsoft.com/office/drawing/2014/main" id="{995DC5A1-2EE9-BE22-16EC-EF8F08F011F7}"/>
              </a:ext>
            </a:extLst>
          </p:cNvPr>
          <p:cNvSpPr txBox="1"/>
          <p:nvPr/>
        </p:nvSpPr>
        <p:spPr bwMode="gray">
          <a:xfrm>
            <a:off x="8441611" y="3574733"/>
            <a:ext cx="1284446" cy="620814"/>
          </a:xfrm>
          <a:prstGeom prst="rect">
            <a:avLst/>
          </a:prstGeom>
          <a:solidFill>
            <a:schemeClr val="bg1"/>
          </a:solidFill>
        </p:spPr>
        <p:txBody>
          <a:bodyPr wrap="square" lIns="9144" tIns="45696" rIns="9144" bIns="45696" rtlCol="0">
            <a:noAutofit/>
          </a:bodyPr>
          <a:lstStyle/>
          <a:p>
            <a:pPr algn="ctr">
              <a:defRPr/>
            </a:pPr>
            <a:r>
              <a:rPr lang="en-US" sz="1400" kern="100" spc="-20">
                <a:solidFill>
                  <a:srgbClr val="000000"/>
                </a:solidFill>
                <a:latin typeface="Arial" panose="020B0604020202020204"/>
              </a:rPr>
              <a:t>Time in Practice Post-residency</a:t>
            </a:r>
          </a:p>
          <a:p>
            <a:pPr algn="ctr">
              <a:defRPr/>
            </a:pPr>
            <a:r>
              <a:rPr lang="en-US" sz="1000" i="1" kern="100" spc="-20">
                <a:solidFill>
                  <a:srgbClr val="FFFFFF">
                    <a:lumMod val="50000"/>
                  </a:srgbClr>
                </a:solidFill>
                <a:latin typeface="Arial" panose="020B0604020202020204"/>
              </a:rPr>
              <a:t>% HCPs</a:t>
            </a:r>
          </a:p>
        </p:txBody>
      </p:sp>
      <p:pic>
        <p:nvPicPr>
          <p:cNvPr id="89" name="Graphic 88" descr="Daily calendar outline">
            <a:extLst>
              <a:ext uri="{FF2B5EF4-FFF2-40B4-BE49-F238E27FC236}">
                <a16:creationId xmlns:a16="http://schemas.microsoft.com/office/drawing/2014/main" id="{4F1438EB-5053-ABA0-0ADC-336559B4598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784250" y="4513397"/>
            <a:ext cx="599169" cy="599169"/>
          </a:xfrm>
          <a:prstGeom prst="rect">
            <a:avLst/>
          </a:prstGeom>
        </p:spPr>
      </p:pic>
      <p:sp>
        <p:nvSpPr>
          <p:cNvPr id="90" name="TextBox 89">
            <a:extLst>
              <a:ext uri="{FF2B5EF4-FFF2-40B4-BE49-F238E27FC236}">
                <a16:creationId xmlns:a16="http://schemas.microsoft.com/office/drawing/2014/main" id="{F86157C7-C4B9-4E00-B7D5-8E93F9C27BA9}"/>
              </a:ext>
            </a:extLst>
          </p:cNvPr>
          <p:cNvSpPr txBox="1"/>
          <p:nvPr/>
        </p:nvSpPr>
        <p:spPr bwMode="gray">
          <a:xfrm>
            <a:off x="8741136" y="5145905"/>
            <a:ext cx="685396" cy="313884"/>
          </a:xfrm>
          <a:prstGeom prst="rect">
            <a:avLst/>
          </a:prstGeom>
        </p:spPr>
        <p:txBody>
          <a:bodyPr wrap="none" lIns="45696" tIns="45696" rIns="45696" bIns="45696" rtlCol="0">
            <a:spAutoFit/>
          </a:bodyPr>
          <a:lstStyle/>
          <a:p>
            <a:pPr algn="ctr">
              <a:lnSpc>
                <a:spcPct val="90000"/>
              </a:lnSpc>
              <a:spcAft>
                <a:spcPts val="400"/>
              </a:spcAft>
            </a:pPr>
            <a:r>
              <a:rPr lang="en-US" sz="1600" b="1">
                <a:solidFill>
                  <a:srgbClr val="0DBDBA"/>
                </a:solidFill>
                <a:latin typeface="Arial" panose="020B0604020202020204"/>
              </a:rPr>
              <a:t>19 yrs</a:t>
            </a:r>
          </a:p>
        </p:txBody>
      </p:sp>
      <p:graphicFrame>
        <p:nvGraphicFramePr>
          <p:cNvPr id="9" name="Chart 8">
            <a:extLst>
              <a:ext uri="{FF2B5EF4-FFF2-40B4-BE49-F238E27FC236}">
                <a16:creationId xmlns:a16="http://schemas.microsoft.com/office/drawing/2014/main" id="{EEDB7052-A6BD-45E6-99C7-249582C568E3}"/>
              </a:ext>
            </a:extLst>
          </p:cNvPr>
          <p:cNvGraphicFramePr/>
          <p:nvPr>
            <p:extLst>
              <p:ext uri="{D42A27DB-BD31-4B8C-83A1-F6EECF244321}">
                <p14:modId xmlns:p14="http://schemas.microsoft.com/office/powerpoint/2010/main" val="3390449934"/>
              </p:ext>
            </p:extLst>
          </p:nvPr>
        </p:nvGraphicFramePr>
        <p:xfrm>
          <a:off x="5651417" y="4085067"/>
          <a:ext cx="2359066" cy="1901571"/>
        </p:xfrm>
        <a:graphic>
          <a:graphicData uri="http://schemas.openxmlformats.org/drawingml/2006/chart">
            <c:chart xmlns:c="http://schemas.openxmlformats.org/drawingml/2006/chart" xmlns:r="http://schemas.openxmlformats.org/officeDocument/2006/relationships" r:id="rId12"/>
          </a:graphicData>
        </a:graphic>
      </p:graphicFrame>
      <p:sp>
        <p:nvSpPr>
          <p:cNvPr id="16" name="Rectangle: Rounded Corners 15">
            <a:extLst>
              <a:ext uri="{FF2B5EF4-FFF2-40B4-BE49-F238E27FC236}">
                <a16:creationId xmlns:a16="http://schemas.microsoft.com/office/drawing/2014/main" id="{7F78E50F-A158-FCB0-4873-BBFF7880DFCD}"/>
              </a:ext>
            </a:extLst>
          </p:cNvPr>
          <p:cNvSpPr/>
          <p:nvPr/>
        </p:nvSpPr>
        <p:spPr bwMode="gray">
          <a:xfrm>
            <a:off x="5643631" y="3707837"/>
            <a:ext cx="2359066" cy="2185713"/>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7" name="TextBox 16">
            <a:extLst>
              <a:ext uri="{FF2B5EF4-FFF2-40B4-BE49-F238E27FC236}">
                <a16:creationId xmlns:a16="http://schemas.microsoft.com/office/drawing/2014/main" id="{7B77C160-D5C2-6674-1C73-D5F7DB1D64F9}"/>
              </a:ext>
            </a:extLst>
          </p:cNvPr>
          <p:cNvSpPr txBox="1"/>
          <p:nvPr/>
        </p:nvSpPr>
        <p:spPr bwMode="gray">
          <a:xfrm>
            <a:off x="6310927" y="3574733"/>
            <a:ext cx="951408"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Location</a:t>
            </a:r>
          </a:p>
          <a:p>
            <a:pPr algn="ctr">
              <a:defRPr/>
            </a:pPr>
            <a:r>
              <a:rPr lang="en-US" sz="1000" i="1" kern="100" spc="-20">
                <a:solidFill>
                  <a:srgbClr val="FFFFFF">
                    <a:lumMod val="50000"/>
                  </a:srgbClr>
                </a:solidFill>
                <a:latin typeface="Arial" panose="020B0604020202020204"/>
              </a:rPr>
              <a:t>% HCPs</a:t>
            </a:r>
          </a:p>
        </p:txBody>
      </p:sp>
      <p:sp>
        <p:nvSpPr>
          <p:cNvPr id="6" name="Text Box 30">
            <a:extLst>
              <a:ext uri="{FF2B5EF4-FFF2-40B4-BE49-F238E27FC236}">
                <a16:creationId xmlns:a16="http://schemas.microsoft.com/office/drawing/2014/main" id="{84ADA02B-E96C-1893-817A-0BA89C0B6BA5}"/>
              </a:ext>
            </a:extLst>
          </p:cNvPr>
          <p:cNvSpPr txBox="1">
            <a:spLocks noChangeArrowheads="1"/>
          </p:cNvSpPr>
          <p:nvPr/>
        </p:nvSpPr>
        <p:spPr bwMode="gray">
          <a:xfrm>
            <a:off x="5066846" y="6586583"/>
            <a:ext cx="2374003" cy="193629"/>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buClr>
                <a:srgbClr val="E7E6E6"/>
              </a:buClr>
              <a:buSzPct val="85000"/>
              <a:defRPr/>
            </a:pPr>
            <a:r>
              <a:rPr lang="en-US" altLang="en-US" sz="900">
                <a:solidFill>
                  <a:srgbClr val="FF0000"/>
                </a:solidFill>
                <a:cs typeface="Arial" panose="020B0604020202020204" pitchFamily="34" charset="0"/>
                <a:sym typeface="Symbol" pitchFamily="18" charset="2"/>
              </a:rPr>
              <a:t></a:t>
            </a:r>
            <a:r>
              <a:rPr lang="en-US" altLang="en-US" sz="900">
                <a:solidFill>
                  <a:srgbClr val="000000">
                    <a:lumMod val="65000"/>
                    <a:lumOff val="35000"/>
                  </a:srgbClr>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rPr>
              <a:t> </a:t>
            </a:r>
            <a:r>
              <a:rPr lang="en-US" sz="900">
                <a:solidFill>
                  <a:srgbClr val="000000">
                    <a:lumMod val="65000"/>
                    <a:lumOff val="35000"/>
                  </a:srgbClr>
                </a:solidFill>
                <a:cs typeface="Arial" panose="020B0604020202020204" pitchFamily="34" charset="0"/>
              </a:rPr>
              <a:t>= Significantly higher/lower vs. prior wave</a:t>
            </a:r>
          </a:p>
        </p:txBody>
      </p:sp>
      <p:sp>
        <p:nvSpPr>
          <p:cNvPr id="22" name="Text Box 30">
            <a:extLst>
              <a:ext uri="{FF2B5EF4-FFF2-40B4-BE49-F238E27FC236}">
                <a16:creationId xmlns:a16="http://schemas.microsoft.com/office/drawing/2014/main" id="{E88FEF92-D8AD-7432-7DD7-F6AE11E3547A}"/>
              </a:ext>
            </a:extLst>
          </p:cNvPr>
          <p:cNvSpPr txBox="1">
            <a:spLocks noChangeArrowheads="1"/>
          </p:cNvSpPr>
          <p:nvPr/>
        </p:nvSpPr>
        <p:spPr bwMode="gray">
          <a:xfrm>
            <a:off x="2497434" y="5112802"/>
            <a:ext cx="124202" cy="193772"/>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buClr>
                <a:srgbClr val="E7E6E6"/>
              </a:buClr>
              <a:buSzPct val="85000"/>
              <a:defRPr/>
            </a:pPr>
            <a:r>
              <a:rPr lang="en-US" altLang="en-US" sz="900">
                <a:solidFill>
                  <a:srgbClr val="FF0000"/>
                </a:solidFill>
                <a:cs typeface="Arial" panose="020B0604020202020204" pitchFamily="34" charset="0"/>
                <a:sym typeface="Symbol" pitchFamily="18" charset="2"/>
              </a:rPr>
              <a:t></a:t>
            </a:r>
            <a:endParaRPr lang="en-US" sz="900">
              <a:solidFill>
                <a:srgbClr val="000000">
                  <a:lumMod val="65000"/>
                  <a:lumOff val="35000"/>
                </a:srgbClr>
              </a:solidFill>
              <a:cs typeface="Arial" panose="020B0604020202020204" pitchFamily="34" charset="0"/>
            </a:endParaRPr>
          </a:p>
        </p:txBody>
      </p:sp>
      <p:sp>
        <p:nvSpPr>
          <p:cNvPr id="30" name="Text Box 30">
            <a:extLst>
              <a:ext uri="{FF2B5EF4-FFF2-40B4-BE49-F238E27FC236}">
                <a16:creationId xmlns:a16="http://schemas.microsoft.com/office/drawing/2014/main" id="{5D1A517F-91B2-2E8A-0323-F527D568F1AB}"/>
              </a:ext>
            </a:extLst>
          </p:cNvPr>
          <p:cNvSpPr txBox="1">
            <a:spLocks noChangeArrowheads="1"/>
          </p:cNvSpPr>
          <p:nvPr/>
        </p:nvSpPr>
        <p:spPr bwMode="gray">
          <a:xfrm>
            <a:off x="3626431" y="4470430"/>
            <a:ext cx="124202" cy="193772"/>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buClr>
                <a:srgbClr val="E7E6E6"/>
              </a:buClr>
              <a:buSzPct val="85000"/>
              <a:defRPr/>
            </a:pPr>
            <a:r>
              <a:rPr lang="en-US" altLang="en-US" sz="900">
                <a:solidFill>
                  <a:srgbClr val="FF0000"/>
                </a:solidFill>
                <a:cs typeface="Arial" panose="020B0604020202020204" pitchFamily="34" charset="0"/>
                <a:sym typeface="Symbol" pitchFamily="18" charset="2"/>
              </a:rPr>
              <a:t></a:t>
            </a:r>
            <a:endParaRPr lang="en-US" sz="900">
              <a:solidFill>
                <a:srgbClr val="000000">
                  <a:lumMod val="65000"/>
                  <a:lumOff val="35000"/>
                </a:srgbClr>
              </a:solidFill>
              <a:cs typeface="Arial" panose="020B0604020202020204" pitchFamily="34" charset="0"/>
            </a:endParaRPr>
          </a:p>
        </p:txBody>
      </p:sp>
      <p:sp>
        <p:nvSpPr>
          <p:cNvPr id="31" name="Text Box 30">
            <a:extLst>
              <a:ext uri="{FF2B5EF4-FFF2-40B4-BE49-F238E27FC236}">
                <a16:creationId xmlns:a16="http://schemas.microsoft.com/office/drawing/2014/main" id="{9EEB5692-CDFF-E626-FA2F-77032B62333B}"/>
              </a:ext>
            </a:extLst>
          </p:cNvPr>
          <p:cNvSpPr txBox="1">
            <a:spLocks noChangeArrowheads="1"/>
          </p:cNvSpPr>
          <p:nvPr/>
        </p:nvSpPr>
        <p:spPr bwMode="gray">
          <a:xfrm flipV="1">
            <a:off x="5098294" y="5096549"/>
            <a:ext cx="124202" cy="193772"/>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buClr>
                <a:srgbClr val="E7E6E6"/>
              </a:buClr>
              <a:buSzPct val="85000"/>
              <a:defRPr/>
            </a:pPr>
            <a:r>
              <a:rPr lang="en-US" altLang="en-US" sz="900">
                <a:solidFill>
                  <a:srgbClr val="FF0000"/>
                </a:solidFill>
                <a:cs typeface="Arial" panose="020B0604020202020204" pitchFamily="34" charset="0"/>
                <a:sym typeface="Symbol" pitchFamily="18" charset="2"/>
              </a:rPr>
              <a:t></a:t>
            </a:r>
            <a:endParaRPr lang="en-US" sz="900">
              <a:solidFill>
                <a:srgbClr val="000000">
                  <a:lumMod val="65000"/>
                  <a:lumOff val="35000"/>
                </a:srgbClr>
              </a:solidFill>
              <a:cs typeface="Arial" panose="020B0604020202020204" pitchFamily="34" charset="0"/>
            </a:endParaRPr>
          </a:p>
        </p:txBody>
      </p:sp>
      <p:sp>
        <p:nvSpPr>
          <p:cNvPr id="36" name="TextBox 35">
            <a:extLst>
              <a:ext uri="{FF2B5EF4-FFF2-40B4-BE49-F238E27FC236}">
                <a16:creationId xmlns:a16="http://schemas.microsoft.com/office/drawing/2014/main" id="{7DE2D8C4-44AA-FD60-6127-44D3C92C0C2E}"/>
              </a:ext>
            </a:extLst>
          </p:cNvPr>
          <p:cNvSpPr txBox="1"/>
          <p:nvPr/>
        </p:nvSpPr>
        <p:spPr bwMode="gray">
          <a:xfrm>
            <a:off x="8756271" y="2307579"/>
            <a:ext cx="595612"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&gt; PCP</a:t>
            </a:r>
          </a:p>
        </p:txBody>
      </p:sp>
      <p:sp>
        <p:nvSpPr>
          <p:cNvPr id="38" name="TextBox 37">
            <a:extLst>
              <a:ext uri="{FF2B5EF4-FFF2-40B4-BE49-F238E27FC236}">
                <a16:creationId xmlns:a16="http://schemas.microsoft.com/office/drawing/2014/main" id="{90D8CA7B-DF69-2110-5864-961917472BC4}"/>
              </a:ext>
            </a:extLst>
          </p:cNvPr>
          <p:cNvSpPr txBox="1"/>
          <p:nvPr/>
        </p:nvSpPr>
        <p:spPr bwMode="gray">
          <a:xfrm>
            <a:off x="6859363" y="1621779"/>
            <a:ext cx="595612"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&gt; PCP</a:t>
            </a:r>
          </a:p>
        </p:txBody>
      </p:sp>
      <p:sp>
        <p:nvSpPr>
          <p:cNvPr id="39" name="TextBox 38">
            <a:extLst>
              <a:ext uri="{FF2B5EF4-FFF2-40B4-BE49-F238E27FC236}">
                <a16:creationId xmlns:a16="http://schemas.microsoft.com/office/drawing/2014/main" id="{A09AB7BC-3833-0490-F57F-54DC8D70C602}"/>
              </a:ext>
            </a:extLst>
          </p:cNvPr>
          <p:cNvSpPr txBox="1"/>
          <p:nvPr/>
        </p:nvSpPr>
        <p:spPr bwMode="gray">
          <a:xfrm>
            <a:off x="7829034" y="2078979"/>
            <a:ext cx="595612"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&lt; PCP</a:t>
            </a:r>
          </a:p>
        </p:txBody>
      </p:sp>
      <p:sp>
        <p:nvSpPr>
          <p:cNvPr id="43" name="TextBox 42">
            <a:extLst>
              <a:ext uri="{FF2B5EF4-FFF2-40B4-BE49-F238E27FC236}">
                <a16:creationId xmlns:a16="http://schemas.microsoft.com/office/drawing/2014/main" id="{CE96608C-66D3-67E1-AF04-0450D2C91B0C}"/>
              </a:ext>
            </a:extLst>
          </p:cNvPr>
          <p:cNvSpPr txBox="1"/>
          <p:nvPr/>
        </p:nvSpPr>
        <p:spPr bwMode="gray">
          <a:xfrm>
            <a:off x="1348029" y="4333738"/>
            <a:ext cx="595612"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&gt; PCP</a:t>
            </a:r>
          </a:p>
        </p:txBody>
      </p:sp>
      <p:sp>
        <p:nvSpPr>
          <p:cNvPr id="45" name="TextBox 44">
            <a:extLst>
              <a:ext uri="{FF2B5EF4-FFF2-40B4-BE49-F238E27FC236}">
                <a16:creationId xmlns:a16="http://schemas.microsoft.com/office/drawing/2014/main" id="{F5F0B890-B58B-C58A-3314-E66F65635609}"/>
              </a:ext>
            </a:extLst>
          </p:cNvPr>
          <p:cNvSpPr txBox="1"/>
          <p:nvPr/>
        </p:nvSpPr>
        <p:spPr bwMode="gray">
          <a:xfrm>
            <a:off x="2070025" y="4707193"/>
            <a:ext cx="653320" cy="301621"/>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defRPr/>
            </a:pPr>
            <a:r>
              <a:rPr lang="en-US" sz="800">
                <a:solidFill>
                  <a:srgbClr val="000000">
                    <a:lumMod val="50000"/>
                    <a:lumOff val="50000"/>
                  </a:srgbClr>
                </a:solidFill>
                <a:latin typeface="Arial" panose="020B0604020202020204"/>
              </a:rPr>
              <a:t>  9%</a:t>
            </a:r>
            <a:r>
              <a:rPr lang="en-US" altLang="en-US" sz="800">
                <a:solidFill>
                  <a:srgbClr val="FF0000"/>
                </a:solidFill>
                <a:cs typeface="Arial" panose="020B0604020202020204" pitchFamily="34" charset="0"/>
                <a:sym typeface="Symbol" pitchFamily="18" charset="2"/>
              </a:rPr>
              <a:t></a:t>
            </a:r>
            <a:r>
              <a:rPr lang="en-US" sz="800">
                <a:solidFill>
                  <a:srgbClr val="000000">
                    <a:lumMod val="50000"/>
                    <a:lumOff val="50000"/>
                  </a:srgbClr>
                </a:solidFill>
                <a:latin typeface="Arial" panose="020B0604020202020204"/>
              </a:rPr>
              <a:t> PED &lt;</a:t>
            </a:r>
            <a:br>
              <a:rPr lang="en-US" sz="800">
                <a:solidFill>
                  <a:srgbClr val="000000">
                    <a:lumMod val="50000"/>
                    <a:lumOff val="50000"/>
                  </a:srgbClr>
                </a:solidFill>
                <a:latin typeface="Arial" panose="020B0604020202020204"/>
              </a:rPr>
            </a:br>
            <a:r>
              <a:rPr lang="en-US" sz="800">
                <a:solidFill>
                  <a:srgbClr val="000000">
                    <a:lumMod val="50000"/>
                    <a:lumOff val="50000"/>
                  </a:srgbClr>
                </a:solidFill>
                <a:latin typeface="Arial" panose="020B0604020202020204"/>
              </a:rPr>
              <a:t>25%</a:t>
            </a:r>
            <a:r>
              <a:rPr lang="en-US" altLang="en-US" sz="800">
                <a:solidFill>
                  <a:srgbClr val="FF0000"/>
                </a:solidFill>
                <a:cs typeface="Arial" panose="020B0604020202020204" pitchFamily="34" charset="0"/>
                <a:sym typeface="Symbol" pitchFamily="18" charset="2"/>
              </a:rPr>
              <a:t></a:t>
            </a:r>
            <a:r>
              <a:rPr lang="en-US" sz="800">
                <a:solidFill>
                  <a:srgbClr val="000000">
                    <a:lumMod val="50000"/>
                    <a:lumOff val="50000"/>
                  </a:srgbClr>
                </a:solidFill>
                <a:latin typeface="Arial" panose="020B0604020202020204"/>
              </a:rPr>
              <a:t> PCP</a:t>
            </a:r>
          </a:p>
        </p:txBody>
      </p:sp>
      <p:sp>
        <p:nvSpPr>
          <p:cNvPr id="46" name="TextBox 45">
            <a:extLst>
              <a:ext uri="{FF2B5EF4-FFF2-40B4-BE49-F238E27FC236}">
                <a16:creationId xmlns:a16="http://schemas.microsoft.com/office/drawing/2014/main" id="{ACD9FF2F-26EC-F0F3-BC23-AC886958CBE6}"/>
              </a:ext>
            </a:extLst>
          </p:cNvPr>
          <p:cNvSpPr txBox="1"/>
          <p:nvPr/>
        </p:nvSpPr>
        <p:spPr bwMode="gray">
          <a:xfrm>
            <a:off x="3228980" y="4227058"/>
            <a:ext cx="565155"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66%</a:t>
            </a:r>
            <a:r>
              <a:rPr lang="en-US" altLang="en-US" sz="800">
                <a:solidFill>
                  <a:srgbClr val="FF0000"/>
                </a:solidFill>
                <a:cs typeface="Arial" panose="020B0604020202020204" pitchFamily="34" charset="0"/>
                <a:sym typeface="Symbol" pitchFamily="18" charset="2"/>
              </a:rPr>
              <a:t></a:t>
            </a:r>
            <a:endParaRPr lang="en-US" sz="800">
              <a:solidFill>
                <a:srgbClr val="000000">
                  <a:lumMod val="50000"/>
                  <a:lumOff val="50000"/>
                </a:srgbClr>
              </a:solidFill>
              <a:latin typeface="Arial" panose="020B0604020202020204"/>
            </a:endParaRPr>
          </a:p>
        </p:txBody>
      </p:sp>
      <p:sp>
        <p:nvSpPr>
          <p:cNvPr id="47" name="TextBox 46">
            <a:extLst>
              <a:ext uri="{FF2B5EF4-FFF2-40B4-BE49-F238E27FC236}">
                <a16:creationId xmlns:a16="http://schemas.microsoft.com/office/drawing/2014/main" id="{90D26DA0-F208-3E2E-7B57-C9C508F3456B}"/>
              </a:ext>
            </a:extLst>
          </p:cNvPr>
          <p:cNvSpPr txBox="1"/>
          <p:nvPr/>
        </p:nvSpPr>
        <p:spPr bwMode="gray">
          <a:xfrm>
            <a:off x="4727006" y="4874758"/>
            <a:ext cx="565155"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rPr>
              <a:t>13%</a:t>
            </a:r>
            <a:r>
              <a:rPr lang="en-US" altLang="en-US" sz="800">
                <a:solidFill>
                  <a:srgbClr val="FF0000"/>
                </a:solidFill>
                <a:cs typeface="Arial" panose="020B0604020202020204" pitchFamily="34" charset="0"/>
                <a:sym typeface="Symbol" pitchFamily="18" charset="2"/>
              </a:rPr>
              <a:t> </a:t>
            </a:r>
            <a:r>
              <a:rPr lang="en-US" sz="800">
                <a:solidFill>
                  <a:srgbClr val="000000">
                    <a:lumMod val="50000"/>
                    <a:lumOff val="50000"/>
                  </a:srgbClr>
                </a:solidFill>
                <a:latin typeface="Arial" panose="020B0604020202020204"/>
              </a:rPr>
              <a:t>PED</a:t>
            </a:r>
          </a:p>
        </p:txBody>
      </p:sp>
      <p:sp>
        <p:nvSpPr>
          <p:cNvPr id="52" name="TextBox 51">
            <a:extLst>
              <a:ext uri="{FF2B5EF4-FFF2-40B4-BE49-F238E27FC236}">
                <a16:creationId xmlns:a16="http://schemas.microsoft.com/office/drawing/2014/main" id="{9F0B0714-E856-EE18-D75C-95EA2D01ED5E}"/>
              </a:ext>
            </a:extLst>
          </p:cNvPr>
          <p:cNvSpPr txBox="1"/>
          <p:nvPr/>
        </p:nvSpPr>
        <p:spPr bwMode="gray">
          <a:xfrm>
            <a:off x="5770382" y="4280398"/>
            <a:ext cx="595612"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&gt; PCP</a:t>
            </a:r>
          </a:p>
        </p:txBody>
      </p:sp>
      <p:sp>
        <p:nvSpPr>
          <p:cNvPr id="53" name="TextBox 52">
            <a:extLst>
              <a:ext uri="{FF2B5EF4-FFF2-40B4-BE49-F238E27FC236}">
                <a16:creationId xmlns:a16="http://schemas.microsoft.com/office/drawing/2014/main" id="{78186659-E2FB-EA1C-49E7-F7A22FA13607}"/>
              </a:ext>
            </a:extLst>
          </p:cNvPr>
          <p:cNvSpPr txBox="1"/>
          <p:nvPr/>
        </p:nvSpPr>
        <p:spPr bwMode="gray">
          <a:xfrm>
            <a:off x="6526937" y="4783318"/>
            <a:ext cx="595612"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&lt; PCP</a:t>
            </a:r>
          </a:p>
        </p:txBody>
      </p:sp>
      <p:sp>
        <p:nvSpPr>
          <p:cNvPr id="55" name="TextBox 54">
            <a:extLst>
              <a:ext uri="{FF2B5EF4-FFF2-40B4-BE49-F238E27FC236}">
                <a16:creationId xmlns:a16="http://schemas.microsoft.com/office/drawing/2014/main" id="{2903E9D2-A911-0D5B-CA02-87F042B6264A}"/>
              </a:ext>
            </a:extLst>
          </p:cNvPr>
          <p:cNvSpPr txBox="1"/>
          <p:nvPr/>
        </p:nvSpPr>
        <p:spPr bwMode="gray">
          <a:xfrm>
            <a:off x="8807599" y="5453878"/>
            <a:ext cx="565155"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19%</a:t>
            </a:r>
            <a:r>
              <a:rPr lang="en-US" altLang="en-US" sz="800">
                <a:solidFill>
                  <a:srgbClr val="FF0000"/>
                </a:solidFill>
                <a:cs typeface="Arial" panose="020B0604020202020204" pitchFamily="34" charset="0"/>
                <a:sym typeface="Symbol" pitchFamily="18" charset="2"/>
              </a:rPr>
              <a:t></a:t>
            </a:r>
            <a:endParaRPr lang="en-US" sz="800">
              <a:solidFill>
                <a:srgbClr val="000000">
                  <a:lumMod val="50000"/>
                  <a:lumOff val="50000"/>
                </a:srgbClr>
              </a:solidFill>
              <a:latin typeface="Arial" panose="020B0604020202020204"/>
            </a:endParaRPr>
          </a:p>
        </p:txBody>
      </p:sp>
    </p:spTree>
    <p:extLst>
      <p:ext uri="{BB962C8B-B14F-4D97-AF65-F5344CB8AC3E}">
        <p14:creationId xmlns:p14="http://schemas.microsoft.com/office/powerpoint/2010/main" val="3482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FAE9F-E0F5-B3A2-B7CE-C5CD4BAD534A}"/>
            </a:ext>
          </a:extLst>
        </p:cNvPr>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3CEBBFC2-2775-679D-0B83-0216EF000051}"/>
              </a:ext>
            </a:extLst>
          </p:cNvPr>
          <p:cNvSpPr/>
          <p:nvPr/>
        </p:nvSpPr>
        <p:spPr bwMode="gray">
          <a:xfrm>
            <a:off x="7056193" y="906949"/>
            <a:ext cx="1882967" cy="2194560"/>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60" name="TextBox 59">
            <a:extLst>
              <a:ext uri="{FF2B5EF4-FFF2-40B4-BE49-F238E27FC236}">
                <a16:creationId xmlns:a16="http://schemas.microsoft.com/office/drawing/2014/main" id="{39651E40-F008-090A-D544-D3F617352803}"/>
              </a:ext>
            </a:extLst>
          </p:cNvPr>
          <p:cNvSpPr txBox="1"/>
          <p:nvPr/>
        </p:nvSpPr>
        <p:spPr bwMode="gray">
          <a:xfrm>
            <a:off x="7231397" y="776707"/>
            <a:ext cx="1532558" cy="464750"/>
          </a:xfrm>
          <a:prstGeom prst="rect">
            <a:avLst/>
          </a:prstGeom>
          <a:solidFill>
            <a:schemeClr val="bg1"/>
          </a:solidFill>
        </p:spPr>
        <p:txBody>
          <a:bodyPr wrap="none" lIns="27432" tIns="45696" rIns="27432" bIns="45696" rtlCol="0">
            <a:noAutofit/>
          </a:bodyPr>
          <a:lstStyle/>
          <a:p>
            <a:pPr algn="ctr">
              <a:defRPr/>
            </a:pPr>
            <a:r>
              <a:rPr lang="en-US" sz="1400" kern="100" spc="-20">
                <a:solidFill>
                  <a:srgbClr val="000000"/>
                </a:solidFill>
                <a:latin typeface="Arial" panose="020B0604020202020204"/>
              </a:rPr>
              <a:t>% Patients Receive</a:t>
            </a:r>
          </a:p>
          <a:p>
            <a:pPr algn="ctr">
              <a:defRPr/>
            </a:pPr>
            <a:r>
              <a:rPr lang="en-US" sz="1400" kern="100" spc="-20">
                <a:solidFill>
                  <a:srgbClr val="000000"/>
                </a:solidFill>
                <a:latin typeface="Arial" panose="020B0604020202020204"/>
              </a:rPr>
              <a:t>Vx’s through VFC</a:t>
            </a:r>
          </a:p>
          <a:p>
            <a:pPr algn="ctr">
              <a:defRPr/>
            </a:pPr>
            <a:r>
              <a:rPr lang="en-US" sz="1000" i="1" kern="100" spc="-20">
                <a:solidFill>
                  <a:srgbClr val="FFFFFF">
                    <a:lumMod val="50000"/>
                  </a:srgbClr>
                </a:solidFill>
                <a:latin typeface="Arial" panose="020B0604020202020204"/>
              </a:rPr>
              <a:t>% pediatric patients</a:t>
            </a:r>
          </a:p>
        </p:txBody>
      </p:sp>
      <p:sp>
        <p:nvSpPr>
          <p:cNvPr id="61" name="TextBox 60">
            <a:extLst>
              <a:ext uri="{FF2B5EF4-FFF2-40B4-BE49-F238E27FC236}">
                <a16:creationId xmlns:a16="http://schemas.microsoft.com/office/drawing/2014/main" id="{DD701176-9756-9EAF-6E66-BED18B902908}"/>
              </a:ext>
            </a:extLst>
          </p:cNvPr>
          <p:cNvSpPr txBox="1"/>
          <p:nvPr/>
        </p:nvSpPr>
        <p:spPr bwMode="gray">
          <a:xfrm>
            <a:off x="7746349" y="2274081"/>
            <a:ext cx="502653" cy="313884"/>
          </a:xfrm>
          <a:prstGeom prst="rect">
            <a:avLst/>
          </a:prstGeom>
        </p:spPr>
        <p:txBody>
          <a:bodyPr wrap="none" lIns="45696" tIns="45696" rIns="45696" bIns="45696" rtlCol="0">
            <a:spAutoFit/>
          </a:bodyPr>
          <a:lstStyle/>
          <a:p>
            <a:pPr algn="ctr">
              <a:lnSpc>
                <a:spcPct val="90000"/>
              </a:lnSpc>
              <a:spcAft>
                <a:spcPts val="400"/>
              </a:spcAft>
            </a:pPr>
            <a:r>
              <a:rPr lang="en-US" sz="1600" b="1">
                <a:solidFill>
                  <a:srgbClr val="0DBDBA"/>
                </a:solidFill>
                <a:latin typeface="Arial" panose="020B0604020202020204"/>
              </a:rPr>
              <a:t>32%</a:t>
            </a:r>
          </a:p>
        </p:txBody>
      </p:sp>
      <p:pic>
        <p:nvPicPr>
          <p:cNvPr id="64" name="Graphic 63">
            <a:extLst>
              <a:ext uri="{FF2B5EF4-FFF2-40B4-BE49-F238E27FC236}">
                <a16:creationId xmlns:a16="http://schemas.microsoft.com/office/drawing/2014/main" id="{83C277B4-9E93-606A-3032-04960DF640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16274" y="1650339"/>
            <a:ext cx="562805" cy="562805"/>
          </a:xfrm>
          <a:prstGeom prst="rect">
            <a:avLst/>
          </a:prstGeom>
        </p:spPr>
      </p:pic>
      <p:graphicFrame>
        <p:nvGraphicFramePr>
          <p:cNvPr id="39" name="Chart 38">
            <a:extLst>
              <a:ext uri="{FF2B5EF4-FFF2-40B4-BE49-F238E27FC236}">
                <a16:creationId xmlns:a16="http://schemas.microsoft.com/office/drawing/2014/main" id="{DDF484A1-09CD-BBA8-CC8A-D85BE1F66419}"/>
              </a:ext>
            </a:extLst>
          </p:cNvPr>
          <p:cNvGraphicFramePr/>
          <p:nvPr>
            <p:extLst>
              <p:ext uri="{D42A27DB-BD31-4B8C-83A1-F6EECF244321}">
                <p14:modId xmlns:p14="http://schemas.microsoft.com/office/powerpoint/2010/main" val="1210249166"/>
              </p:ext>
            </p:extLst>
          </p:nvPr>
        </p:nvGraphicFramePr>
        <p:xfrm>
          <a:off x="4659412" y="1582541"/>
          <a:ext cx="3047050" cy="1460907"/>
        </p:xfrm>
        <a:graphic>
          <a:graphicData uri="http://schemas.openxmlformats.org/drawingml/2006/chart">
            <c:chart xmlns:c="http://schemas.openxmlformats.org/drawingml/2006/chart" xmlns:r="http://schemas.openxmlformats.org/officeDocument/2006/relationships" r:id="rId5"/>
          </a:graphicData>
        </a:graphic>
      </p:graphicFrame>
      <p:sp>
        <p:nvSpPr>
          <p:cNvPr id="32" name="Rectangle: Rounded Corners 31">
            <a:extLst>
              <a:ext uri="{FF2B5EF4-FFF2-40B4-BE49-F238E27FC236}">
                <a16:creationId xmlns:a16="http://schemas.microsoft.com/office/drawing/2014/main" id="{32B3B72F-F783-73C8-0E6B-F91F125D3B48}"/>
              </a:ext>
            </a:extLst>
          </p:cNvPr>
          <p:cNvSpPr/>
          <p:nvPr/>
        </p:nvSpPr>
        <p:spPr bwMode="gray">
          <a:xfrm>
            <a:off x="5013750" y="906949"/>
            <a:ext cx="1816317" cy="2194560"/>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4" name="TextBox 33">
            <a:extLst>
              <a:ext uri="{FF2B5EF4-FFF2-40B4-BE49-F238E27FC236}">
                <a16:creationId xmlns:a16="http://schemas.microsoft.com/office/drawing/2014/main" id="{440E7429-A070-B213-2819-C1B5EDE9B15B}"/>
              </a:ext>
            </a:extLst>
          </p:cNvPr>
          <p:cNvSpPr txBox="1"/>
          <p:nvPr/>
        </p:nvSpPr>
        <p:spPr bwMode="gray">
          <a:xfrm>
            <a:off x="5169567" y="776707"/>
            <a:ext cx="1504683" cy="464750"/>
          </a:xfrm>
          <a:prstGeom prst="rect">
            <a:avLst/>
          </a:prstGeom>
          <a:solidFill>
            <a:schemeClr val="bg1"/>
          </a:solidFill>
        </p:spPr>
        <p:txBody>
          <a:bodyPr wrap="square" lIns="27432" tIns="45696" rIns="27432" bIns="45696" rtlCol="0">
            <a:noAutofit/>
          </a:bodyPr>
          <a:lstStyle/>
          <a:p>
            <a:pPr algn="ctr">
              <a:defRPr/>
            </a:pPr>
            <a:r>
              <a:rPr lang="en-US" sz="1400" kern="100" spc="-20">
                <a:solidFill>
                  <a:srgbClr val="000000"/>
                </a:solidFill>
                <a:latin typeface="Arial" panose="020B0604020202020204"/>
              </a:rPr>
              <a:t>Vaccine Coverage</a:t>
            </a:r>
          </a:p>
          <a:p>
            <a:pPr algn="ctr">
              <a:defRPr/>
            </a:pPr>
            <a:r>
              <a:rPr lang="en-US" sz="1000" i="1" kern="100" spc="-20">
                <a:solidFill>
                  <a:srgbClr val="FFFFFF">
                    <a:lumMod val="50000"/>
                  </a:srgbClr>
                </a:solidFill>
                <a:latin typeface="Arial" panose="020B0604020202020204"/>
              </a:rPr>
              <a:t>% 16-18 year old patients</a:t>
            </a:r>
          </a:p>
        </p:txBody>
      </p:sp>
      <p:sp>
        <p:nvSpPr>
          <p:cNvPr id="35" name="TextBox 34">
            <a:extLst>
              <a:ext uri="{FF2B5EF4-FFF2-40B4-BE49-F238E27FC236}">
                <a16:creationId xmlns:a16="http://schemas.microsoft.com/office/drawing/2014/main" id="{90B07042-970F-81CA-3897-ADC496244241}"/>
              </a:ext>
            </a:extLst>
          </p:cNvPr>
          <p:cNvSpPr txBox="1"/>
          <p:nvPr/>
        </p:nvSpPr>
        <p:spPr bwMode="gray">
          <a:xfrm>
            <a:off x="6223478" y="1802568"/>
            <a:ext cx="581248" cy="383182"/>
          </a:xfrm>
          <a:prstGeom prst="rect">
            <a:avLst/>
          </a:prstGeom>
        </p:spPr>
        <p:txBody>
          <a:bodyPr wrap="none" lIns="45720" tIns="45720" rIns="45720" bIns="45720" rtlCol="0">
            <a:spAutoFit/>
          </a:bodyPr>
          <a:lstStyle/>
          <a:p>
            <a:pPr marL="0" marR="0" indent="0" algn="ctr" defTabSz="914400" rtl="0" eaLnBrk="1" fontAlgn="auto" latinLnBrk="0" hangingPunct="1">
              <a:lnSpc>
                <a:spcPct val="90000"/>
              </a:lnSpc>
              <a:spcBef>
                <a:spcPts val="0"/>
              </a:spcBef>
              <a:spcAft>
                <a:spcPts val="400"/>
              </a:spcAft>
              <a:buClrTx/>
              <a:buSzTx/>
              <a:buFontTx/>
              <a:buNone/>
              <a:tabLst/>
            </a:pPr>
            <a:r>
              <a:rPr kumimoji="0" lang="en-US" sz="1050" i="0" u="none" strike="noStrike" kern="1200" cap="none" spc="0" normalizeH="0" baseline="0" noProof="0">
                <a:ln>
                  <a:noFill/>
                </a:ln>
                <a:solidFill>
                  <a:schemeClr val="tx1">
                    <a:lumMod val="75000"/>
                    <a:lumOff val="25000"/>
                  </a:schemeClr>
                </a:solidFill>
                <a:effectLst/>
                <a:uLnTx/>
                <a:uFillTx/>
                <a:latin typeface="Arial" panose="020B0604020202020204"/>
                <a:ea typeface="+mn-ea"/>
                <a:cs typeface="+mn-cs"/>
              </a:rPr>
              <a:t>Public</a:t>
            </a:r>
            <a:br>
              <a:rPr kumimoji="0" lang="en-US" sz="1050" i="0" u="none" strike="noStrike" kern="1200" cap="none" spc="0" normalizeH="0" baseline="0" noProof="0">
                <a:ln>
                  <a:noFill/>
                </a:ln>
                <a:solidFill>
                  <a:schemeClr val="tx1">
                    <a:lumMod val="75000"/>
                    <a:lumOff val="25000"/>
                  </a:schemeClr>
                </a:solidFill>
                <a:effectLst/>
                <a:uLnTx/>
                <a:uFillTx/>
                <a:latin typeface="Arial" panose="020B0604020202020204"/>
                <a:ea typeface="+mn-ea"/>
                <a:cs typeface="+mn-cs"/>
              </a:rPr>
            </a:br>
            <a:r>
              <a:rPr kumimoji="0" lang="en-US" sz="1050" i="0" u="none" strike="noStrike" kern="1200" cap="none" spc="0" normalizeH="0" baseline="0" noProof="0">
                <a:ln>
                  <a:noFill/>
                </a:ln>
                <a:solidFill>
                  <a:schemeClr val="tx1">
                    <a:lumMod val="75000"/>
                    <a:lumOff val="25000"/>
                  </a:schemeClr>
                </a:solidFill>
                <a:effectLst/>
                <a:uLnTx/>
                <a:uFillTx/>
                <a:latin typeface="Arial" panose="020B0604020202020204"/>
                <a:ea typeface="+mn-ea"/>
                <a:cs typeface="+mn-cs"/>
              </a:rPr>
              <a:t>Funding</a:t>
            </a:r>
          </a:p>
        </p:txBody>
      </p:sp>
      <p:sp>
        <p:nvSpPr>
          <p:cNvPr id="36" name="TextBox 35">
            <a:extLst>
              <a:ext uri="{FF2B5EF4-FFF2-40B4-BE49-F238E27FC236}">
                <a16:creationId xmlns:a16="http://schemas.microsoft.com/office/drawing/2014/main" id="{4E4D103C-DF46-654A-6DBA-E0A8190202DB}"/>
              </a:ext>
            </a:extLst>
          </p:cNvPr>
          <p:cNvSpPr txBox="1"/>
          <p:nvPr/>
        </p:nvSpPr>
        <p:spPr bwMode="gray">
          <a:xfrm>
            <a:off x="5040217" y="2419746"/>
            <a:ext cx="685444" cy="383182"/>
          </a:xfrm>
          <a:prstGeom prst="rect">
            <a:avLst/>
          </a:prstGeom>
        </p:spPr>
        <p:txBody>
          <a:bodyPr wrap="none" lIns="45720" tIns="45720" rIns="45720" bIns="45720" rtlCol="0">
            <a:spAutoFit/>
          </a:bodyPr>
          <a:lstStyle/>
          <a:p>
            <a:pPr marL="0" marR="0" indent="0" algn="ctr" defTabSz="914400" rtl="0" eaLnBrk="1" fontAlgn="auto" latinLnBrk="0" hangingPunct="1">
              <a:lnSpc>
                <a:spcPct val="90000"/>
              </a:lnSpc>
              <a:spcBef>
                <a:spcPts val="0"/>
              </a:spcBef>
              <a:spcAft>
                <a:spcPts val="400"/>
              </a:spcAft>
              <a:buClrTx/>
              <a:buSzTx/>
              <a:buFontTx/>
              <a:buNone/>
              <a:tabLst/>
            </a:pPr>
            <a:r>
              <a:rPr kumimoji="0" lang="en-US" sz="1050" i="0" u="none" strike="noStrike" kern="1200" cap="none" spc="0" normalizeH="0" baseline="0" noProof="0">
                <a:ln>
                  <a:noFill/>
                </a:ln>
                <a:solidFill>
                  <a:schemeClr val="tx1">
                    <a:lumMod val="75000"/>
                    <a:lumOff val="25000"/>
                  </a:schemeClr>
                </a:solidFill>
                <a:effectLst/>
                <a:uLnTx/>
                <a:uFillTx/>
                <a:latin typeface="Arial" panose="020B0604020202020204"/>
                <a:ea typeface="+mn-ea"/>
                <a:cs typeface="+mn-cs"/>
              </a:rPr>
              <a:t>Private</a:t>
            </a:r>
            <a:br>
              <a:rPr kumimoji="0" lang="en-US" sz="1050" i="0" u="none" strike="noStrike" kern="1200" cap="none" spc="0" normalizeH="0" baseline="0" noProof="0">
                <a:ln>
                  <a:noFill/>
                </a:ln>
                <a:solidFill>
                  <a:schemeClr val="tx1">
                    <a:lumMod val="75000"/>
                    <a:lumOff val="25000"/>
                  </a:schemeClr>
                </a:solidFill>
                <a:effectLst/>
                <a:uLnTx/>
                <a:uFillTx/>
                <a:latin typeface="Arial" panose="020B0604020202020204"/>
                <a:ea typeface="+mn-ea"/>
                <a:cs typeface="+mn-cs"/>
              </a:rPr>
            </a:br>
            <a:r>
              <a:rPr kumimoji="0" lang="en-US" sz="1050" i="0" u="none" strike="noStrike" kern="1200" cap="none" spc="0" normalizeH="0" baseline="0" noProof="0">
                <a:ln>
                  <a:noFill/>
                </a:ln>
                <a:solidFill>
                  <a:schemeClr val="tx1">
                    <a:lumMod val="75000"/>
                    <a:lumOff val="25000"/>
                  </a:schemeClr>
                </a:solidFill>
                <a:effectLst/>
                <a:uLnTx/>
                <a:uFillTx/>
                <a:latin typeface="Arial" panose="020B0604020202020204"/>
                <a:ea typeface="+mn-ea"/>
                <a:cs typeface="+mn-cs"/>
              </a:rPr>
              <a:t>Insurance</a:t>
            </a:r>
          </a:p>
        </p:txBody>
      </p:sp>
      <p:sp>
        <p:nvSpPr>
          <p:cNvPr id="38" name="TextBox 37">
            <a:extLst>
              <a:ext uri="{FF2B5EF4-FFF2-40B4-BE49-F238E27FC236}">
                <a16:creationId xmlns:a16="http://schemas.microsoft.com/office/drawing/2014/main" id="{E9AFE9BF-F2F3-D84F-9324-9DFB61D32A6B}"/>
              </a:ext>
            </a:extLst>
          </p:cNvPr>
          <p:cNvSpPr txBox="1"/>
          <p:nvPr/>
        </p:nvSpPr>
        <p:spPr bwMode="gray">
          <a:xfrm>
            <a:off x="5669767" y="1540170"/>
            <a:ext cx="428965" cy="237757"/>
          </a:xfrm>
          <a:prstGeom prst="rect">
            <a:avLst/>
          </a:prstGeom>
        </p:spPr>
        <p:txBody>
          <a:bodyPr wrap="none" lIns="45720" tIns="45720" rIns="45720" bIns="45720" rtlCol="0">
            <a:spAutoFit/>
          </a:bodyPr>
          <a:lstStyle/>
          <a:p>
            <a:pPr marL="0" marR="0" indent="0" algn="ctr" defTabSz="914400" rtl="0" eaLnBrk="1" fontAlgn="auto" latinLnBrk="0" hangingPunct="1">
              <a:lnSpc>
                <a:spcPct val="90000"/>
              </a:lnSpc>
              <a:spcBef>
                <a:spcPts val="0"/>
              </a:spcBef>
              <a:spcAft>
                <a:spcPts val="400"/>
              </a:spcAft>
              <a:buClrTx/>
              <a:buSzTx/>
              <a:buFontTx/>
              <a:buNone/>
              <a:tabLst/>
            </a:pPr>
            <a:r>
              <a:rPr kumimoji="0" lang="en-US" sz="1050" i="0" u="none" strike="noStrike" kern="1200" cap="none" spc="0" normalizeH="0" baseline="0" noProof="0">
                <a:ln>
                  <a:noFill/>
                </a:ln>
                <a:solidFill>
                  <a:schemeClr val="tx1">
                    <a:lumMod val="75000"/>
                    <a:lumOff val="25000"/>
                  </a:schemeClr>
                </a:solidFill>
                <a:effectLst/>
                <a:uLnTx/>
                <a:uFillTx/>
                <a:latin typeface="Arial" panose="020B0604020202020204"/>
                <a:ea typeface="+mn-ea"/>
                <a:cs typeface="+mn-cs"/>
              </a:rPr>
              <a:t>Other</a:t>
            </a:r>
          </a:p>
        </p:txBody>
      </p:sp>
      <p:sp>
        <p:nvSpPr>
          <p:cNvPr id="2" name="Title 1">
            <a:extLst>
              <a:ext uri="{FF2B5EF4-FFF2-40B4-BE49-F238E27FC236}">
                <a16:creationId xmlns:a16="http://schemas.microsoft.com/office/drawing/2014/main" id="{6118C678-1F03-7053-7CA3-F0F6DCDA4CD9}"/>
              </a:ext>
            </a:extLst>
          </p:cNvPr>
          <p:cNvSpPr>
            <a:spLocks noGrp="1"/>
          </p:cNvSpPr>
          <p:nvPr>
            <p:ph type="title"/>
          </p:nvPr>
        </p:nvSpPr>
        <p:spPr>
          <a:xfrm>
            <a:off x="1080451" y="80329"/>
            <a:ext cx="10411702" cy="493603"/>
          </a:xfrm>
        </p:spPr>
        <p:txBody>
          <a:bodyPr vert="horz" lIns="0" tIns="45696" rIns="0" bIns="45696" rtlCol="0" anchor="t" anchorCtr="0">
            <a:noAutofit/>
          </a:bodyPr>
          <a:lstStyle/>
          <a:p>
            <a:r>
              <a:rPr lang="en-US" sz="2798">
                <a:solidFill>
                  <a:schemeClr val="accent1"/>
                </a:solidFill>
              </a:rPr>
              <a:t>Vaccine Demographics</a:t>
            </a:r>
            <a:r>
              <a:rPr lang="en-US" sz="2800">
                <a:solidFill>
                  <a:schemeClr val="accent1"/>
                </a:solidFill>
              </a:rPr>
              <a:t> </a:t>
            </a:r>
            <a:r>
              <a:rPr lang="en-US" sz="2800"/>
              <a:t>| </a:t>
            </a:r>
            <a:r>
              <a:rPr lang="en-US" sz="1800" kern="0">
                <a:solidFill>
                  <a:srgbClr val="000000"/>
                </a:solidFill>
                <a:latin typeface="Arial" panose="020B0604020202020204"/>
                <a:ea typeface="Yu Gothic UI"/>
                <a:cs typeface="Calibri Light" panose="020F0302020204030204" pitchFamily="34" charset="0"/>
              </a:rPr>
              <a:t>N=200: 160 PEDs </a:t>
            </a:r>
            <a:r>
              <a:rPr kumimoji="0" lang="en-US" sz="1800" b="0" i="0" u="none" strike="noStrike" kern="0" cap="none" spc="0" normalizeH="0" baseline="0" noProof="0">
                <a:ln>
                  <a:noFill/>
                </a:ln>
                <a:solidFill>
                  <a:srgbClr val="000000"/>
                </a:solidFill>
                <a:effectLst/>
                <a:uLnTx/>
                <a:uFillTx/>
                <a:latin typeface="Arial" panose="020B0604020202020204"/>
                <a:ea typeface="Yu Gothic UI"/>
                <a:cs typeface="Calibri Light" panose="020F0302020204030204" pitchFamily="34" charset="0"/>
              </a:rPr>
              <a:t>and 40 PCPs</a:t>
            </a:r>
            <a:endParaRPr lang="en-US" sz="2798">
              <a:solidFill>
                <a:schemeClr val="accent1"/>
              </a:solidFill>
            </a:endParaRPr>
          </a:p>
        </p:txBody>
      </p:sp>
      <p:sp>
        <p:nvSpPr>
          <p:cNvPr id="5" name="Rectangle: Rounded Corners 4">
            <a:extLst>
              <a:ext uri="{FF2B5EF4-FFF2-40B4-BE49-F238E27FC236}">
                <a16:creationId xmlns:a16="http://schemas.microsoft.com/office/drawing/2014/main" id="{BDC8D2DA-AD86-F177-9501-D1F739A64C7D}"/>
              </a:ext>
            </a:extLst>
          </p:cNvPr>
          <p:cNvSpPr/>
          <p:nvPr/>
        </p:nvSpPr>
        <p:spPr bwMode="gray">
          <a:xfrm>
            <a:off x="9165285" y="906949"/>
            <a:ext cx="2567073" cy="2194560"/>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0" name="TextBox 29">
            <a:extLst>
              <a:ext uri="{FF2B5EF4-FFF2-40B4-BE49-F238E27FC236}">
                <a16:creationId xmlns:a16="http://schemas.microsoft.com/office/drawing/2014/main" id="{D0BF2E45-EC96-E510-729C-8298E01D5537}"/>
              </a:ext>
            </a:extLst>
          </p:cNvPr>
          <p:cNvSpPr txBox="1"/>
          <p:nvPr/>
        </p:nvSpPr>
        <p:spPr bwMode="gray">
          <a:xfrm>
            <a:off x="9724563" y="776707"/>
            <a:ext cx="1343104"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Vaccine Region</a:t>
            </a:r>
          </a:p>
          <a:p>
            <a:pPr algn="ctr">
              <a:defRPr/>
            </a:pPr>
            <a:r>
              <a:rPr lang="en-US" sz="1000" i="1" kern="100" spc="-20">
                <a:solidFill>
                  <a:srgbClr val="FFFFFF">
                    <a:lumMod val="50000"/>
                  </a:srgbClr>
                </a:solidFill>
                <a:latin typeface="Arial" panose="020B0604020202020204"/>
              </a:rPr>
              <a:t>% HCPs</a:t>
            </a:r>
          </a:p>
        </p:txBody>
      </p:sp>
      <p:graphicFrame>
        <p:nvGraphicFramePr>
          <p:cNvPr id="6" name="Chart 5">
            <a:extLst>
              <a:ext uri="{FF2B5EF4-FFF2-40B4-BE49-F238E27FC236}">
                <a16:creationId xmlns:a16="http://schemas.microsoft.com/office/drawing/2014/main" id="{C3143396-03A3-CD54-2CA2-B63DF95AA8DF}"/>
              </a:ext>
            </a:extLst>
          </p:cNvPr>
          <p:cNvGraphicFramePr/>
          <p:nvPr>
            <p:extLst>
              <p:ext uri="{D42A27DB-BD31-4B8C-83A1-F6EECF244321}">
                <p14:modId xmlns:p14="http://schemas.microsoft.com/office/powerpoint/2010/main" val="2098944439"/>
              </p:ext>
            </p:extLst>
          </p:nvPr>
        </p:nvGraphicFramePr>
        <p:xfrm>
          <a:off x="9175613" y="1156981"/>
          <a:ext cx="2567073" cy="1862054"/>
        </p:xfrm>
        <a:graphic>
          <a:graphicData uri="http://schemas.openxmlformats.org/drawingml/2006/chart">
            <c:chart xmlns:c="http://schemas.openxmlformats.org/drawingml/2006/chart" xmlns:r="http://schemas.openxmlformats.org/officeDocument/2006/relationships" r:id="rId6"/>
          </a:graphicData>
        </a:graphic>
      </p:graphicFrame>
      <p:sp>
        <p:nvSpPr>
          <p:cNvPr id="7" name="Text Placeholder 6">
            <a:extLst>
              <a:ext uri="{FF2B5EF4-FFF2-40B4-BE49-F238E27FC236}">
                <a16:creationId xmlns:a16="http://schemas.microsoft.com/office/drawing/2014/main" id="{3153AEDD-5419-460D-65C4-E36B5E3BA6D2}"/>
              </a:ext>
            </a:extLst>
          </p:cNvPr>
          <p:cNvSpPr>
            <a:spLocks noGrp="1"/>
          </p:cNvSpPr>
          <p:nvPr>
            <p:ph type="body" sz="quarter" idx="16"/>
          </p:nvPr>
        </p:nvSpPr>
        <p:spPr>
          <a:xfrm>
            <a:off x="1561287" y="6410780"/>
            <a:ext cx="9234439" cy="332225"/>
          </a:xfrm>
        </p:spPr>
        <p:txBody>
          <a:bodyPr/>
          <a:lstStyle/>
          <a:p>
            <a:r>
              <a:rPr lang="en-US"/>
              <a:t>Question wording can be found in the Notes section.</a:t>
            </a:r>
            <a:br>
              <a:rPr lang="en-US"/>
            </a:br>
            <a:r>
              <a:rPr lang="en-US">
                <a:solidFill>
                  <a:srgbClr val="FF0000"/>
                </a:solidFill>
              </a:rPr>
              <a:t>(New)</a:t>
            </a:r>
            <a:r>
              <a:rPr lang="en-US"/>
              <a:t> D9 / S19 / S20 / S6 / C6_1&gt;0 / S14 / S15</a:t>
            </a:r>
          </a:p>
        </p:txBody>
      </p:sp>
      <p:sp>
        <p:nvSpPr>
          <p:cNvPr id="43" name="Rectangle: Rounded Corners 42">
            <a:extLst>
              <a:ext uri="{FF2B5EF4-FFF2-40B4-BE49-F238E27FC236}">
                <a16:creationId xmlns:a16="http://schemas.microsoft.com/office/drawing/2014/main" id="{9AB24C24-3F00-AF2A-7737-34975980DA68}"/>
              </a:ext>
            </a:extLst>
          </p:cNvPr>
          <p:cNvSpPr/>
          <p:nvPr/>
        </p:nvSpPr>
        <p:spPr bwMode="gray">
          <a:xfrm>
            <a:off x="456327" y="3692137"/>
            <a:ext cx="4206240" cy="2194560"/>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5" name="TextBox 44">
            <a:extLst>
              <a:ext uri="{FF2B5EF4-FFF2-40B4-BE49-F238E27FC236}">
                <a16:creationId xmlns:a16="http://schemas.microsoft.com/office/drawing/2014/main" id="{F13C7BDC-FB30-601D-3028-1F8AFAEF3D72}"/>
              </a:ext>
            </a:extLst>
          </p:cNvPr>
          <p:cNvSpPr txBox="1"/>
          <p:nvPr/>
        </p:nvSpPr>
        <p:spPr bwMode="gray">
          <a:xfrm>
            <a:off x="1701742" y="3570323"/>
            <a:ext cx="1715411"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Vaccines Stocked</a:t>
            </a:r>
          </a:p>
          <a:p>
            <a:pPr algn="ctr">
              <a:defRPr/>
            </a:pPr>
            <a:r>
              <a:rPr lang="en-US" sz="1000" i="1" kern="100" spc="-20">
                <a:solidFill>
                  <a:srgbClr val="FFFFFF">
                    <a:lumMod val="50000"/>
                  </a:srgbClr>
                </a:solidFill>
                <a:latin typeface="Arial" panose="020B0604020202020204"/>
              </a:rPr>
              <a:t>% HCPs</a:t>
            </a:r>
          </a:p>
        </p:txBody>
      </p:sp>
      <p:graphicFrame>
        <p:nvGraphicFramePr>
          <p:cNvPr id="47" name="Chart 46">
            <a:extLst>
              <a:ext uri="{FF2B5EF4-FFF2-40B4-BE49-F238E27FC236}">
                <a16:creationId xmlns:a16="http://schemas.microsoft.com/office/drawing/2014/main" id="{E06C8B4A-0670-0759-D749-BC9B7A75407F}"/>
              </a:ext>
            </a:extLst>
          </p:cNvPr>
          <p:cNvGraphicFramePr/>
          <p:nvPr>
            <p:extLst>
              <p:ext uri="{D42A27DB-BD31-4B8C-83A1-F6EECF244321}">
                <p14:modId xmlns:p14="http://schemas.microsoft.com/office/powerpoint/2010/main" val="2783985212"/>
              </p:ext>
            </p:extLst>
          </p:nvPr>
        </p:nvGraphicFramePr>
        <p:xfrm>
          <a:off x="456327" y="4017625"/>
          <a:ext cx="4195912" cy="186205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4" name="Chart 73">
            <a:extLst>
              <a:ext uri="{FF2B5EF4-FFF2-40B4-BE49-F238E27FC236}">
                <a16:creationId xmlns:a16="http://schemas.microsoft.com/office/drawing/2014/main" id="{96DD7624-10F6-BEE1-1E11-3E046DF68C49}"/>
              </a:ext>
            </a:extLst>
          </p:cNvPr>
          <p:cNvGraphicFramePr/>
          <p:nvPr>
            <p:extLst>
              <p:ext uri="{D42A27DB-BD31-4B8C-83A1-F6EECF244321}">
                <p14:modId xmlns:p14="http://schemas.microsoft.com/office/powerpoint/2010/main" val="2744274175"/>
              </p:ext>
            </p:extLst>
          </p:nvPr>
        </p:nvGraphicFramePr>
        <p:xfrm>
          <a:off x="4896135" y="4316853"/>
          <a:ext cx="2377561" cy="1567662"/>
        </p:xfrm>
        <a:graphic>
          <a:graphicData uri="http://schemas.openxmlformats.org/drawingml/2006/chart">
            <c:chart xmlns:c="http://schemas.openxmlformats.org/drawingml/2006/chart" xmlns:r="http://schemas.openxmlformats.org/officeDocument/2006/relationships" r:id="rId8"/>
          </a:graphicData>
        </a:graphic>
      </p:graphicFrame>
      <p:sp>
        <p:nvSpPr>
          <p:cNvPr id="83" name="Rectangle: Rounded Corners 82">
            <a:extLst>
              <a:ext uri="{FF2B5EF4-FFF2-40B4-BE49-F238E27FC236}">
                <a16:creationId xmlns:a16="http://schemas.microsoft.com/office/drawing/2014/main" id="{54839332-1811-CEA8-0BD8-301BD6643633}"/>
              </a:ext>
            </a:extLst>
          </p:cNvPr>
          <p:cNvSpPr/>
          <p:nvPr/>
        </p:nvSpPr>
        <p:spPr bwMode="gray">
          <a:xfrm>
            <a:off x="4896135" y="3693405"/>
            <a:ext cx="2377561" cy="2194560"/>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84" name="TextBox 83">
            <a:extLst>
              <a:ext uri="{FF2B5EF4-FFF2-40B4-BE49-F238E27FC236}">
                <a16:creationId xmlns:a16="http://schemas.microsoft.com/office/drawing/2014/main" id="{120E7F99-D48F-4759-EB0C-CF0CC95DEBC0}"/>
              </a:ext>
            </a:extLst>
          </p:cNvPr>
          <p:cNvSpPr txBox="1"/>
          <p:nvPr/>
        </p:nvSpPr>
        <p:spPr bwMode="gray">
          <a:xfrm>
            <a:off x="5197726" y="3570323"/>
            <a:ext cx="1774378"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 Doses Admin. P6M</a:t>
            </a:r>
          </a:p>
        </p:txBody>
      </p:sp>
      <p:graphicFrame>
        <p:nvGraphicFramePr>
          <p:cNvPr id="88" name="Chart 87">
            <a:extLst>
              <a:ext uri="{FF2B5EF4-FFF2-40B4-BE49-F238E27FC236}">
                <a16:creationId xmlns:a16="http://schemas.microsoft.com/office/drawing/2014/main" id="{3521BAFE-FCFB-6883-1A80-546846D42333}"/>
              </a:ext>
            </a:extLst>
          </p:cNvPr>
          <p:cNvGraphicFramePr/>
          <p:nvPr>
            <p:extLst>
              <p:ext uri="{D42A27DB-BD31-4B8C-83A1-F6EECF244321}">
                <p14:modId xmlns:p14="http://schemas.microsoft.com/office/powerpoint/2010/main" val="682718157"/>
              </p:ext>
            </p:extLst>
          </p:nvPr>
        </p:nvGraphicFramePr>
        <p:xfrm>
          <a:off x="7507264" y="4062489"/>
          <a:ext cx="4216567" cy="1817190"/>
        </p:xfrm>
        <a:graphic>
          <a:graphicData uri="http://schemas.openxmlformats.org/drawingml/2006/chart">
            <c:chart xmlns:c="http://schemas.openxmlformats.org/drawingml/2006/chart" xmlns:r="http://schemas.openxmlformats.org/officeDocument/2006/relationships" r:id="rId9"/>
          </a:graphicData>
        </a:graphic>
      </p:graphicFrame>
      <p:sp>
        <p:nvSpPr>
          <p:cNvPr id="96" name="Rectangle: Rounded Corners 95">
            <a:extLst>
              <a:ext uri="{FF2B5EF4-FFF2-40B4-BE49-F238E27FC236}">
                <a16:creationId xmlns:a16="http://schemas.microsoft.com/office/drawing/2014/main" id="{DD054248-9DBE-656C-86A5-396A3BA36232}"/>
              </a:ext>
            </a:extLst>
          </p:cNvPr>
          <p:cNvSpPr/>
          <p:nvPr/>
        </p:nvSpPr>
        <p:spPr bwMode="gray">
          <a:xfrm>
            <a:off x="7517591" y="3693405"/>
            <a:ext cx="4206240" cy="2194560"/>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97" name="TextBox 96">
            <a:extLst>
              <a:ext uri="{FF2B5EF4-FFF2-40B4-BE49-F238E27FC236}">
                <a16:creationId xmlns:a16="http://schemas.microsoft.com/office/drawing/2014/main" id="{80DFA181-9A2F-D43C-B91A-19F2481D518A}"/>
              </a:ext>
            </a:extLst>
          </p:cNvPr>
          <p:cNvSpPr txBox="1"/>
          <p:nvPr/>
        </p:nvSpPr>
        <p:spPr bwMode="gray">
          <a:xfrm>
            <a:off x="7677098" y="3570323"/>
            <a:ext cx="3887227" cy="464750"/>
          </a:xfrm>
          <a:prstGeom prst="rect">
            <a:avLst/>
          </a:prstGeom>
          <a:solidFill>
            <a:schemeClr val="bg1"/>
          </a:solidFill>
        </p:spPr>
        <p:txBody>
          <a:bodyPr wrap="square" lIns="18288" tIns="45696" rIns="18288" bIns="45696" rtlCol="0">
            <a:noAutofit/>
          </a:bodyPr>
          <a:lstStyle/>
          <a:p>
            <a:pPr algn="ctr">
              <a:defRPr/>
            </a:pPr>
            <a:r>
              <a:rPr lang="en-US" sz="1400" kern="100" spc="-20">
                <a:solidFill>
                  <a:srgbClr val="000000"/>
                </a:solidFill>
                <a:latin typeface="Arial" panose="020B0604020202020204"/>
              </a:rPr>
              <a:t>Eligible Patients 16-18 to Receive at Least 1 Dose</a:t>
            </a:r>
          </a:p>
          <a:p>
            <a:pPr algn="ctr">
              <a:defRPr/>
            </a:pPr>
            <a:r>
              <a:rPr lang="en-US" sz="1000" i="1" kern="100" spc="-20">
                <a:solidFill>
                  <a:srgbClr val="FFFFFF">
                    <a:lumMod val="50000"/>
                  </a:srgbClr>
                </a:solidFill>
                <a:latin typeface="Arial" panose="020B0604020202020204"/>
              </a:rPr>
              <a:t>% HCPs</a:t>
            </a:r>
          </a:p>
        </p:txBody>
      </p:sp>
      <p:sp>
        <p:nvSpPr>
          <p:cNvPr id="4" name="Rectangle: Rounded Corners 3">
            <a:extLst>
              <a:ext uri="{FF2B5EF4-FFF2-40B4-BE49-F238E27FC236}">
                <a16:creationId xmlns:a16="http://schemas.microsoft.com/office/drawing/2014/main" id="{423E19B4-1695-B4B5-C576-24BAA10F3312}"/>
              </a:ext>
            </a:extLst>
          </p:cNvPr>
          <p:cNvSpPr/>
          <p:nvPr/>
        </p:nvSpPr>
        <p:spPr bwMode="gray">
          <a:xfrm>
            <a:off x="456328" y="895431"/>
            <a:ext cx="4314390" cy="2194560"/>
          </a:xfrm>
          <a:prstGeom prst="roundRect">
            <a:avLst>
              <a:gd name="adj" fmla="val 0"/>
            </a:avLst>
          </a:prstGeom>
          <a:noFill/>
          <a:ln w="28575" cap="flat" cmpd="sng" algn="ctr">
            <a:solidFill>
              <a:schemeClr val="bg1">
                <a:lumMod val="8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8" name="TextBox 17">
            <a:extLst>
              <a:ext uri="{FF2B5EF4-FFF2-40B4-BE49-F238E27FC236}">
                <a16:creationId xmlns:a16="http://schemas.microsoft.com/office/drawing/2014/main" id="{C504B071-DE31-392F-4D52-3D4108B10B46}"/>
              </a:ext>
            </a:extLst>
          </p:cNvPr>
          <p:cNvSpPr txBox="1"/>
          <p:nvPr/>
        </p:nvSpPr>
        <p:spPr bwMode="gray">
          <a:xfrm>
            <a:off x="1816568" y="776707"/>
            <a:ext cx="1593910" cy="464750"/>
          </a:xfrm>
          <a:prstGeom prst="rect">
            <a:avLst/>
          </a:prstGeom>
          <a:solidFill>
            <a:schemeClr val="bg1"/>
          </a:solidFill>
        </p:spPr>
        <p:txBody>
          <a:bodyPr wrap="square" lIns="45696" tIns="45696" rIns="45696" bIns="45696" rtlCol="0">
            <a:noAutofit/>
          </a:bodyPr>
          <a:lstStyle/>
          <a:p>
            <a:pPr algn="ctr">
              <a:defRPr/>
            </a:pPr>
            <a:r>
              <a:rPr lang="en-US" sz="1400" kern="100" spc="-20">
                <a:solidFill>
                  <a:srgbClr val="000000"/>
                </a:solidFill>
                <a:latin typeface="Arial" panose="020B0604020202020204"/>
              </a:rPr>
              <a:t>Vx Purchase Type</a:t>
            </a:r>
          </a:p>
          <a:p>
            <a:pPr algn="ctr">
              <a:defRPr/>
            </a:pPr>
            <a:r>
              <a:rPr lang="en-US" sz="1000" i="1" kern="100" spc="-20">
                <a:solidFill>
                  <a:srgbClr val="FFFFFF">
                    <a:lumMod val="50000"/>
                  </a:srgbClr>
                </a:solidFill>
                <a:latin typeface="Arial" panose="020B0604020202020204"/>
              </a:rPr>
              <a:t>% HCPs</a:t>
            </a:r>
          </a:p>
        </p:txBody>
      </p:sp>
      <p:graphicFrame>
        <p:nvGraphicFramePr>
          <p:cNvPr id="19" name="Chart 18">
            <a:extLst>
              <a:ext uri="{FF2B5EF4-FFF2-40B4-BE49-F238E27FC236}">
                <a16:creationId xmlns:a16="http://schemas.microsoft.com/office/drawing/2014/main" id="{798E2A08-0D40-F117-62D9-18E371C7BC45}"/>
              </a:ext>
            </a:extLst>
          </p:cNvPr>
          <p:cNvGraphicFramePr/>
          <p:nvPr>
            <p:extLst>
              <p:ext uri="{D42A27DB-BD31-4B8C-83A1-F6EECF244321}">
                <p14:modId xmlns:p14="http://schemas.microsoft.com/office/powerpoint/2010/main" val="3044843013"/>
              </p:ext>
            </p:extLst>
          </p:nvPr>
        </p:nvGraphicFramePr>
        <p:xfrm>
          <a:off x="456327" y="1116497"/>
          <a:ext cx="4331297" cy="1973494"/>
        </p:xfrm>
        <a:graphic>
          <a:graphicData uri="http://schemas.openxmlformats.org/drawingml/2006/chart">
            <c:chart xmlns:c="http://schemas.openxmlformats.org/drawingml/2006/chart" xmlns:r="http://schemas.openxmlformats.org/officeDocument/2006/relationships" r:id="rId10"/>
          </a:graphicData>
        </a:graphic>
      </p:graphicFrame>
      <p:sp>
        <p:nvSpPr>
          <p:cNvPr id="3" name="Text Box 30">
            <a:extLst>
              <a:ext uri="{FF2B5EF4-FFF2-40B4-BE49-F238E27FC236}">
                <a16:creationId xmlns:a16="http://schemas.microsoft.com/office/drawing/2014/main" id="{AA4EA598-2941-0CFD-2B22-8BB79DCBFA30}"/>
              </a:ext>
            </a:extLst>
          </p:cNvPr>
          <p:cNvSpPr txBox="1">
            <a:spLocks noChangeArrowheads="1"/>
          </p:cNvSpPr>
          <p:nvPr/>
        </p:nvSpPr>
        <p:spPr bwMode="gray">
          <a:xfrm>
            <a:off x="5066846" y="6586583"/>
            <a:ext cx="2374003" cy="193629"/>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buClr>
                <a:srgbClr val="E7E6E6"/>
              </a:buClr>
              <a:buSzPct val="85000"/>
              <a:defRPr/>
            </a:pPr>
            <a:r>
              <a:rPr lang="en-US" altLang="en-US" sz="900">
                <a:solidFill>
                  <a:srgbClr val="FF0000"/>
                </a:solidFill>
                <a:cs typeface="Arial" panose="020B0604020202020204" pitchFamily="34" charset="0"/>
                <a:sym typeface="Symbol" pitchFamily="18" charset="2"/>
              </a:rPr>
              <a:t></a:t>
            </a:r>
            <a:r>
              <a:rPr lang="en-US" altLang="en-US" sz="900">
                <a:solidFill>
                  <a:srgbClr val="000000">
                    <a:lumMod val="65000"/>
                    <a:lumOff val="35000"/>
                  </a:srgbClr>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rPr>
              <a:t> </a:t>
            </a:r>
            <a:r>
              <a:rPr lang="en-US" sz="900">
                <a:solidFill>
                  <a:srgbClr val="000000">
                    <a:lumMod val="65000"/>
                    <a:lumOff val="35000"/>
                  </a:srgbClr>
                </a:solidFill>
                <a:cs typeface="Arial" panose="020B0604020202020204" pitchFamily="34" charset="0"/>
              </a:rPr>
              <a:t>= Significantly higher/lower vs. prior wave</a:t>
            </a:r>
          </a:p>
        </p:txBody>
      </p:sp>
      <p:sp>
        <p:nvSpPr>
          <p:cNvPr id="9" name="TextBox 8">
            <a:extLst>
              <a:ext uri="{FF2B5EF4-FFF2-40B4-BE49-F238E27FC236}">
                <a16:creationId xmlns:a16="http://schemas.microsoft.com/office/drawing/2014/main" id="{42B4D458-7333-D83E-CCAE-410053FD1597}"/>
              </a:ext>
            </a:extLst>
          </p:cNvPr>
          <p:cNvSpPr txBox="1"/>
          <p:nvPr/>
        </p:nvSpPr>
        <p:spPr bwMode="gray">
          <a:xfrm>
            <a:off x="1518761" y="1573314"/>
            <a:ext cx="595612"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lnSpc>
                <a:spcPct val="90000"/>
              </a:lnSpc>
              <a:defRPr/>
            </a:pPr>
            <a:r>
              <a:rPr lang="en-US" sz="800">
                <a:solidFill>
                  <a:srgbClr val="000000">
                    <a:lumMod val="50000"/>
                    <a:lumOff val="50000"/>
                  </a:srgbClr>
                </a:solidFill>
                <a:latin typeface="Arial" panose="020B0604020202020204"/>
              </a:rPr>
              <a:t>PED &gt; PCP</a:t>
            </a:r>
          </a:p>
        </p:txBody>
      </p:sp>
      <p:sp>
        <p:nvSpPr>
          <p:cNvPr id="12" name="TextBox 11">
            <a:extLst>
              <a:ext uri="{FF2B5EF4-FFF2-40B4-BE49-F238E27FC236}">
                <a16:creationId xmlns:a16="http://schemas.microsoft.com/office/drawing/2014/main" id="{D44E39B5-F5B4-6BFE-267E-CD61C8732C7C}"/>
              </a:ext>
            </a:extLst>
          </p:cNvPr>
          <p:cNvSpPr txBox="1"/>
          <p:nvPr/>
        </p:nvSpPr>
        <p:spPr bwMode="gray">
          <a:xfrm>
            <a:off x="3916430" y="1776514"/>
            <a:ext cx="595612"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lnSpc>
                <a:spcPct val="90000"/>
              </a:lnSpc>
              <a:defRPr/>
            </a:pPr>
            <a:r>
              <a:rPr lang="en-US" sz="800">
                <a:solidFill>
                  <a:srgbClr val="000000">
                    <a:lumMod val="50000"/>
                    <a:lumOff val="50000"/>
                  </a:srgbClr>
                </a:solidFill>
                <a:latin typeface="Arial" panose="020B0604020202020204"/>
              </a:rPr>
              <a:t>PED &lt; PCP</a:t>
            </a:r>
          </a:p>
        </p:txBody>
      </p:sp>
      <p:sp>
        <p:nvSpPr>
          <p:cNvPr id="27" name="Text Box 30">
            <a:extLst>
              <a:ext uri="{FF2B5EF4-FFF2-40B4-BE49-F238E27FC236}">
                <a16:creationId xmlns:a16="http://schemas.microsoft.com/office/drawing/2014/main" id="{A31270A8-5ACA-1867-356C-595F3FDC5307}"/>
              </a:ext>
            </a:extLst>
          </p:cNvPr>
          <p:cNvSpPr txBox="1">
            <a:spLocks noChangeArrowheads="1"/>
          </p:cNvSpPr>
          <p:nvPr/>
        </p:nvSpPr>
        <p:spPr bwMode="gray">
          <a:xfrm>
            <a:off x="998191" y="4341379"/>
            <a:ext cx="124202" cy="179922"/>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lnSpc>
                <a:spcPct val="90000"/>
              </a:lnSpc>
              <a:buClr>
                <a:srgbClr val="E7E6E6"/>
              </a:buClr>
              <a:buSzPct val="85000"/>
              <a:defRPr/>
            </a:pPr>
            <a:r>
              <a:rPr lang="en-US" altLang="en-US" sz="900">
                <a:solidFill>
                  <a:srgbClr val="FF0000"/>
                </a:solidFill>
                <a:cs typeface="Arial" panose="020B0604020202020204" pitchFamily="34" charset="0"/>
                <a:sym typeface="Symbol" pitchFamily="18" charset="2"/>
              </a:rPr>
              <a:t></a:t>
            </a:r>
            <a:endParaRPr lang="en-US" sz="900">
              <a:solidFill>
                <a:srgbClr val="FF0000"/>
              </a:solidFill>
              <a:cs typeface="Arial" panose="020B0604020202020204" pitchFamily="34" charset="0"/>
            </a:endParaRPr>
          </a:p>
        </p:txBody>
      </p:sp>
      <p:sp>
        <p:nvSpPr>
          <p:cNvPr id="28" name="TextBox 27">
            <a:extLst>
              <a:ext uri="{FF2B5EF4-FFF2-40B4-BE49-F238E27FC236}">
                <a16:creationId xmlns:a16="http://schemas.microsoft.com/office/drawing/2014/main" id="{17FDE28C-BD61-0F87-49C4-F55DBA1B6BEB}"/>
              </a:ext>
            </a:extLst>
          </p:cNvPr>
          <p:cNvSpPr txBox="1"/>
          <p:nvPr/>
        </p:nvSpPr>
        <p:spPr bwMode="gray">
          <a:xfrm>
            <a:off x="567451" y="4750177"/>
            <a:ext cx="609626" cy="1661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defPPr>
              <a:defRPr lang="en-US"/>
            </a:defPPr>
            <a:lvl1pPr algn="ctr">
              <a:lnSpc>
                <a:spcPct val="90000"/>
              </a:lnSpc>
              <a:defRPr sz="800">
                <a:solidFill>
                  <a:srgbClr val="000000">
                    <a:lumMod val="50000"/>
                    <a:lumOff val="50000"/>
                  </a:srgbClr>
                </a:solidFill>
                <a:latin typeface="Arial" panose="020B0604020202020204"/>
              </a:defRPr>
            </a:lvl1pPr>
          </a:lstStyle>
          <a:p>
            <a:r>
              <a:rPr lang="en-US"/>
              <a:t>PED &gt; PCP</a:t>
            </a:r>
          </a:p>
        </p:txBody>
      </p:sp>
      <p:sp>
        <p:nvSpPr>
          <p:cNvPr id="48" name="TextBox 47">
            <a:extLst>
              <a:ext uri="{FF2B5EF4-FFF2-40B4-BE49-F238E27FC236}">
                <a16:creationId xmlns:a16="http://schemas.microsoft.com/office/drawing/2014/main" id="{077DEC75-8572-B828-DFF6-833CA6804D84}"/>
              </a:ext>
            </a:extLst>
          </p:cNvPr>
          <p:cNvSpPr txBox="1"/>
          <p:nvPr/>
        </p:nvSpPr>
        <p:spPr bwMode="gray">
          <a:xfrm>
            <a:off x="4989002" y="4229576"/>
            <a:ext cx="595611"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&gt; PCP</a:t>
            </a:r>
          </a:p>
        </p:txBody>
      </p:sp>
      <p:sp>
        <p:nvSpPr>
          <p:cNvPr id="51" name="TextBox 50">
            <a:extLst>
              <a:ext uri="{FF2B5EF4-FFF2-40B4-BE49-F238E27FC236}">
                <a16:creationId xmlns:a16="http://schemas.microsoft.com/office/drawing/2014/main" id="{4AC4281D-0174-EC06-C9BA-FECC051A8DEE}"/>
              </a:ext>
            </a:extLst>
          </p:cNvPr>
          <p:cNvSpPr txBox="1"/>
          <p:nvPr/>
        </p:nvSpPr>
        <p:spPr bwMode="gray">
          <a:xfrm>
            <a:off x="5787108" y="4514056"/>
            <a:ext cx="595611" cy="178510"/>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defRPr/>
            </a:pPr>
            <a:r>
              <a:rPr lang="en-US" sz="800">
                <a:solidFill>
                  <a:srgbClr val="000000">
                    <a:lumMod val="50000"/>
                    <a:lumOff val="50000"/>
                  </a:srgbClr>
                </a:solidFill>
                <a:latin typeface="Arial" panose="020B0604020202020204"/>
              </a:rPr>
              <a:t>PED &gt; PCP</a:t>
            </a:r>
          </a:p>
        </p:txBody>
      </p:sp>
      <p:sp>
        <p:nvSpPr>
          <p:cNvPr id="55" name="TextBox 54">
            <a:extLst>
              <a:ext uri="{FF2B5EF4-FFF2-40B4-BE49-F238E27FC236}">
                <a16:creationId xmlns:a16="http://schemas.microsoft.com/office/drawing/2014/main" id="{E6917EB1-AEC8-BAFB-6274-14037D44A422}"/>
              </a:ext>
            </a:extLst>
          </p:cNvPr>
          <p:cNvSpPr txBox="1"/>
          <p:nvPr/>
        </p:nvSpPr>
        <p:spPr bwMode="gray">
          <a:xfrm>
            <a:off x="7617212" y="4266211"/>
            <a:ext cx="595611"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lnSpc>
                <a:spcPct val="90000"/>
              </a:lnSpc>
              <a:defRPr/>
            </a:pPr>
            <a:r>
              <a:rPr lang="en-US" sz="800">
                <a:solidFill>
                  <a:srgbClr val="000000">
                    <a:lumMod val="50000"/>
                    <a:lumOff val="50000"/>
                  </a:srgbClr>
                </a:solidFill>
                <a:latin typeface="Arial" panose="020B0604020202020204"/>
              </a:rPr>
              <a:t>PED &gt; PCP</a:t>
            </a:r>
          </a:p>
        </p:txBody>
      </p:sp>
      <p:sp>
        <p:nvSpPr>
          <p:cNvPr id="56" name="TextBox 55">
            <a:extLst>
              <a:ext uri="{FF2B5EF4-FFF2-40B4-BE49-F238E27FC236}">
                <a16:creationId xmlns:a16="http://schemas.microsoft.com/office/drawing/2014/main" id="{F0CE8BAE-DDE4-C0C7-E635-1BEAB7580C70}"/>
              </a:ext>
            </a:extLst>
          </p:cNvPr>
          <p:cNvSpPr txBox="1"/>
          <p:nvPr/>
        </p:nvSpPr>
        <p:spPr bwMode="gray">
          <a:xfrm>
            <a:off x="10101234" y="5028211"/>
            <a:ext cx="595611"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lnSpc>
                <a:spcPct val="90000"/>
              </a:lnSpc>
              <a:defRPr/>
            </a:pPr>
            <a:r>
              <a:rPr lang="en-US" sz="800">
                <a:solidFill>
                  <a:srgbClr val="000000">
                    <a:lumMod val="50000"/>
                    <a:lumOff val="50000"/>
                  </a:srgbClr>
                </a:solidFill>
                <a:latin typeface="Arial" panose="020B0604020202020204"/>
              </a:rPr>
              <a:t>PED &lt; PCP</a:t>
            </a:r>
          </a:p>
        </p:txBody>
      </p:sp>
      <p:sp>
        <p:nvSpPr>
          <p:cNvPr id="57" name="TextBox 56">
            <a:extLst>
              <a:ext uri="{FF2B5EF4-FFF2-40B4-BE49-F238E27FC236}">
                <a16:creationId xmlns:a16="http://schemas.microsoft.com/office/drawing/2014/main" id="{EBA6631E-9016-FBE6-E7AE-1BB0EBE74D42}"/>
              </a:ext>
            </a:extLst>
          </p:cNvPr>
          <p:cNvSpPr txBox="1"/>
          <p:nvPr/>
        </p:nvSpPr>
        <p:spPr bwMode="gray">
          <a:xfrm>
            <a:off x="9246620" y="4936771"/>
            <a:ext cx="595611"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lnSpc>
                <a:spcPct val="90000"/>
              </a:lnSpc>
              <a:defRPr/>
            </a:pPr>
            <a:r>
              <a:rPr lang="en-US" sz="800">
                <a:solidFill>
                  <a:srgbClr val="000000">
                    <a:lumMod val="50000"/>
                    <a:lumOff val="50000"/>
                  </a:srgbClr>
                </a:solidFill>
                <a:latin typeface="Arial" panose="020B0604020202020204"/>
              </a:rPr>
              <a:t>PED &lt; PCP</a:t>
            </a:r>
          </a:p>
        </p:txBody>
      </p:sp>
      <p:sp>
        <p:nvSpPr>
          <p:cNvPr id="15" name="TextBox 14">
            <a:extLst>
              <a:ext uri="{FF2B5EF4-FFF2-40B4-BE49-F238E27FC236}">
                <a16:creationId xmlns:a16="http://schemas.microsoft.com/office/drawing/2014/main" id="{45015059-E6AC-88DA-44EF-8BFAC8FEA6CB}"/>
              </a:ext>
            </a:extLst>
          </p:cNvPr>
          <p:cNvSpPr txBox="1"/>
          <p:nvPr/>
        </p:nvSpPr>
        <p:spPr bwMode="gray">
          <a:xfrm>
            <a:off x="2324168" y="1654594"/>
            <a:ext cx="595612"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lnSpc>
                <a:spcPct val="90000"/>
              </a:lnSpc>
              <a:defRPr/>
            </a:pPr>
            <a:r>
              <a:rPr lang="en-US" sz="800">
                <a:solidFill>
                  <a:srgbClr val="000000">
                    <a:lumMod val="50000"/>
                    <a:lumOff val="50000"/>
                  </a:srgbClr>
                </a:solidFill>
                <a:latin typeface="Arial" panose="020B0604020202020204"/>
              </a:rPr>
              <a:t>PED &gt; PCP</a:t>
            </a:r>
          </a:p>
        </p:txBody>
      </p:sp>
      <p:sp>
        <p:nvSpPr>
          <p:cNvPr id="16" name="TextBox 15">
            <a:extLst>
              <a:ext uri="{FF2B5EF4-FFF2-40B4-BE49-F238E27FC236}">
                <a16:creationId xmlns:a16="http://schemas.microsoft.com/office/drawing/2014/main" id="{9FB0BD26-162E-D928-CA26-F698939DBF32}"/>
              </a:ext>
            </a:extLst>
          </p:cNvPr>
          <p:cNvSpPr txBox="1"/>
          <p:nvPr/>
        </p:nvSpPr>
        <p:spPr bwMode="gray">
          <a:xfrm>
            <a:off x="3090175" y="5079011"/>
            <a:ext cx="595611"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defPPr>
              <a:defRPr lang="en-US"/>
            </a:defPPr>
            <a:lvl1pPr algn="ctr">
              <a:lnSpc>
                <a:spcPct val="90000"/>
              </a:lnSpc>
              <a:defRPr sz="800">
                <a:solidFill>
                  <a:srgbClr val="000000">
                    <a:lumMod val="50000"/>
                    <a:lumOff val="50000"/>
                  </a:srgbClr>
                </a:solidFill>
                <a:latin typeface="Arial" panose="020B0604020202020204"/>
              </a:defRPr>
            </a:lvl1pPr>
          </a:lstStyle>
          <a:p>
            <a:r>
              <a:rPr lang="en-US"/>
              <a:t>PED &lt; PCP</a:t>
            </a:r>
          </a:p>
        </p:txBody>
      </p:sp>
      <p:sp>
        <p:nvSpPr>
          <p:cNvPr id="100" name="Text Box 30">
            <a:extLst>
              <a:ext uri="{FF2B5EF4-FFF2-40B4-BE49-F238E27FC236}">
                <a16:creationId xmlns:a16="http://schemas.microsoft.com/office/drawing/2014/main" id="{AB69FB15-E8F5-C807-B5D3-6D9BBCDA798A}"/>
              </a:ext>
            </a:extLst>
          </p:cNvPr>
          <p:cNvSpPr txBox="1">
            <a:spLocks noChangeArrowheads="1"/>
          </p:cNvSpPr>
          <p:nvPr/>
        </p:nvSpPr>
        <p:spPr bwMode="gray">
          <a:xfrm flipV="1">
            <a:off x="1834815" y="4423303"/>
            <a:ext cx="124202" cy="179922"/>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lnSpc>
                <a:spcPct val="90000"/>
              </a:lnSpc>
              <a:buClr>
                <a:srgbClr val="E7E6E6"/>
              </a:buClr>
              <a:buSzPct val="85000"/>
              <a:defRPr/>
            </a:pPr>
            <a:r>
              <a:rPr lang="en-US" altLang="en-US" sz="900">
                <a:solidFill>
                  <a:srgbClr val="FF0000"/>
                </a:solidFill>
                <a:cs typeface="Arial" panose="020B0604020202020204" pitchFamily="34" charset="0"/>
                <a:sym typeface="Symbol" pitchFamily="18" charset="2"/>
              </a:rPr>
              <a:t></a:t>
            </a:r>
            <a:endParaRPr lang="en-US" sz="900">
              <a:solidFill>
                <a:srgbClr val="FF0000"/>
              </a:solidFill>
              <a:cs typeface="Arial" panose="020B0604020202020204" pitchFamily="34" charset="0"/>
            </a:endParaRPr>
          </a:p>
        </p:txBody>
      </p:sp>
      <p:sp>
        <p:nvSpPr>
          <p:cNvPr id="101" name="TextBox 100">
            <a:extLst>
              <a:ext uri="{FF2B5EF4-FFF2-40B4-BE49-F238E27FC236}">
                <a16:creationId xmlns:a16="http://schemas.microsoft.com/office/drawing/2014/main" id="{48AC8565-DAF7-FBF3-0777-2AA28F330D52}"/>
              </a:ext>
            </a:extLst>
          </p:cNvPr>
          <p:cNvSpPr txBox="1"/>
          <p:nvPr/>
        </p:nvSpPr>
        <p:spPr bwMode="gray">
          <a:xfrm>
            <a:off x="1537811" y="4751546"/>
            <a:ext cx="329513" cy="1661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defPPr>
              <a:defRPr lang="en-US"/>
            </a:defPPr>
            <a:lvl1pPr algn="ctr">
              <a:lnSpc>
                <a:spcPct val="90000"/>
              </a:lnSpc>
              <a:defRPr sz="800">
                <a:solidFill>
                  <a:srgbClr val="000000">
                    <a:lumMod val="50000"/>
                    <a:lumOff val="50000"/>
                  </a:srgbClr>
                </a:solidFill>
                <a:latin typeface="Arial" panose="020B0604020202020204"/>
              </a:defRPr>
            </a:lvl1pPr>
          </a:lstStyle>
          <a:p>
            <a:r>
              <a:rPr lang="en-US"/>
              <a:t>PCP</a:t>
            </a:r>
            <a:r>
              <a:rPr lang="en-US" altLang="en-US">
                <a:solidFill>
                  <a:srgbClr val="FF0000"/>
                </a:solidFill>
                <a:latin typeface="Arial" pitchFamily="34" charset="0"/>
                <a:cs typeface="Arial" panose="020B0604020202020204" pitchFamily="34" charset="0"/>
                <a:sym typeface="Symbol" pitchFamily="18" charset="2"/>
              </a:rPr>
              <a:t></a:t>
            </a:r>
            <a:endParaRPr lang="en-US" sz="900">
              <a:solidFill>
                <a:srgbClr val="FF0000"/>
              </a:solidFill>
              <a:latin typeface="Arial" pitchFamily="34" charset="0"/>
              <a:cs typeface="Arial" panose="020B0604020202020204" pitchFamily="34" charset="0"/>
            </a:endParaRPr>
          </a:p>
        </p:txBody>
      </p:sp>
      <p:sp>
        <p:nvSpPr>
          <p:cNvPr id="102" name="Text Box 30">
            <a:extLst>
              <a:ext uri="{FF2B5EF4-FFF2-40B4-BE49-F238E27FC236}">
                <a16:creationId xmlns:a16="http://schemas.microsoft.com/office/drawing/2014/main" id="{1FAAE2EF-2119-9B02-D916-2A995BA32AE6}"/>
              </a:ext>
            </a:extLst>
          </p:cNvPr>
          <p:cNvSpPr txBox="1">
            <a:spLocks noChangeArrowheads="1"/>
          </p:cNvSpPr>
          <p:nvPr/>
        </p:nvSpPr>
        <p:spPr bwMode="gray">
          <a:xfrm flipV="1">
            <a:off x="3500727" y="4745696"/>
            <a:ext cx="124202" cy="179922"/>
          </a:xfrm>
          <a:prstGeom prst="rect">
            <a:avLst/>
          </a:prstGeom>
          <a:noFill/>
          <a:ln>
            <a:noFill/>
          </a:ln>
          <a:effectLst/>
        </p:spPr>
        <p:txBody>
          <a:bodyPr wrap="none" lIns="27369" tIns="27369" rIns="27369" bIns="27369"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2208">
              <a:lnSpc>
                <a:spcPct val="90000"/>
              </a:lnSpc>
              <a:buClr>
                <a:srgbClr val="E7E6E6"/>
              </a:buClr>
              <a:buSzPct val="85000"/>
              <a:defRPr/>
            </a:pPr>
            <a:r>
              <a:rPr lang="en-US" altLang="en-US" sz="900">
                <a:solidFill>
                  <a:srgbClr val="FF0000"/>
                </a:solidFill>
                <a:cs typeface="Arial" panose="020B0604020202020204" pitchFamily="34" charset="0"/>
                <a:sym typeface="Symbol" pitchFamily="18" charset="2"/>
              </a:rPr>
              <a:t></a:t>
            </a:r>
            <a:endParaRPr lang="en-US" sz="900">
              <a:solidFill>
                <a:srgbClr val="FF0000"/>
              </a:solidFill>
              <a:cs typeface="Arial" panose="020B0604020202020204" pitchFamily="34" charset="0"/>
            </a:endParaRPr>
          </a:p>
        </p:txBody>
      </p:sp>
    </p:spTree>
    <p:extLst>
      <p:ext uri="{BB962C8B-B14F-4D97-AF65-F5344CB8AC3E}">
        <p14:creationId xmlns:p14="http://schemas.microsoft.com/office/powerpoint/2010/main" val="396693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62B70-068D-57A4-946E-AC3B1D92EC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BE9B6-7D70-84E3-6D15-61F5DADE0347}"/>
              </a:ext>
            </a:extLst>
          </p:cNvPr>
          <p:cNvSpPr>
            <a:spLocks noGrp="1"/>
          </p:cNvSpPr>
          <p:nvPr>
            <p:ph type="ctrTitle"/>
          </p:nvPr>
        </p:nvSpPr>
        <p:spPr>
          <a:xfrm>
            <a:off x="448056" y="2560320"/>
            <a:ext cx="4233672" cy="1508760"/>
          </a:xfrm>
        </p:spPr>
        <p:txBody>
          <a:bodyPr/>
          <a:lstStyle/>
          <a:p>
            <a:r>
              <a:rPr lang="en-US"/>
              <a:t>Executive Summary</a:t>
            </a:r>
          </a:p>
        </p:txBody>
      </p:sp>
    </p:spTree>
    <p:extLst>
      <p:ext uri="{BB962C8B-B14F-4D97-AF65-F5344CB8AC3E}">
        <p14:creationId xmlns:p14="http://schemas.microsoft.com/office/powerpoint/2010/main" val="2162287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A55A4-49D0-D03D-6437-120437BD7B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FE9817A-EEDE-33A0-D96B-021211FC4BF6}"/>
              </a:ext>
            </a:extLst>
          </p:cNvPr>
          <p:cNvSpPr>
            <a:spLocks noGrp="1"/>
          </p:cNvSpPr>
          <p:nvPr>
            <p:ph type="title"/>
          </p:nvPr>
        </p:nvSpPr>
        <p:spPr/>
        <p:txBody>
          <a:bodyPr/>
          <a:lstStyle/>
          <a:p>
            <a:r>
              <a:rPr lang="en-US" sz="2799"/>
              <a:t>W5 Key Findings</a:t>
            </a:r>
          </a:p>
        </p:txBody>
      </p:sp>
      <p:sp>
        <p:nvSpPr>
          <p:cNvPr id="2" name="Content Placeholder 1">
            <a:extLst>
              <a:ext uri="{FF2B5EF4-FFF2-40B4-BE49-F238E27FC236}">
                <a16:creationId xmlns:a16="http://schemas.microsoft.com/office/drawing/2014/main" id="{8497CAFB-EA97-AB68-56C4-C9E12288CCF5}"/>
              </a:ext>
            </a:extLst>
          </p:cNvPr>
          <p:cNvSpPr>
            <a:spLocks noGrp="1"/>
          </p:cNvSpPr>
          <p:nvPr>
            <p:ph type="body" sz="quarter" idx="16"/>
          </p:nvPr>
        </p:nvSpPr>
        <p:spPr>
          <a:xfrm>
            <a:off x="917947" y="1060216"/>
            <a:ext cx="1559381" cy="547828"/>
          </a:xfrm>
          <a:noFill/>
          <a:ln w="28575">
            <a:noFill/>
          </a:ln>
        </p:spPr>
        <p:txBody>
          <a:bodyPr vert="horz" lIns="0" tIns="27425" rIns="0" bIns="27425" rtlCol="0" anchor="ctr" anchorCtr="0">
            <a:spAutoFit/>
          </a:bodyPr>
          <a:lstStyle/>
          <a:p>
            <a:pPr algn="ctr">
              <a:spcBef>
                <a:spcPts val="0"/>
              </a:spcBef>
            </a:pPr>
            <a:r>
              <a:rPr lang="en-US" sz="1600" b="1">
                <a:solidFill>
                  <a:schemeClr val="accent1"/>
                </a:solidFill>
              </a:rPr>
              <a:t>Unaided / Aided</a:t>
            </a:r>
          </a:p>
          <a:p>
            <a:pPr algn="ctr">
              <a:spcBef>
                <a:spcPts val="0"/>
              </a:spcBef>
            </a:pPr>
            <a:r>
              <a:rPr lang="en-US" sz="1600" b="1">
                <a:solidFill>
                  <a:schemeClr val="accent1"/>
                </a:solidFill>
              </a:rPr>
              <a:t>Awareness</a:t>
            </a:r>
            <a:endParaRPr lang="en-US" sz="1600">
              <a:solidFill>
                <a:schemeClr val="accent1"/>
              </a:solidFill>
            </a:endParaRPr>
          </a:p>
        </p:txBody>
      </p:sp>
      <p:sp>
        <p:nvSpPr>
          <p:cNvPr id="11" name="Content Placeholder 1">
            <a:extLst>
              <a:ext uri="{FF2B5EF4-FFF2-40B4-BE49-F238E27FC236}">
                <a16:creationId xmlns:a16="http://schemas.microsoft.com/office/drawing/2014/main" id="{88C372B1-E3E0-5371-20C0-A050C5F7609B}"/>
              </a:ext>
            </a:extLst>
          </p:cNvPr>
          <p:cNvSpPr txBox="1">
            <a:spLocks/>
          </p:cNvSpPr>
          <p:nvPr/>
        </p:nvSpPr>
        <p:spPr bwMode="gray">
          <a:xfrm>
            <a:off x="2604552" y="683563"/>
            <a:ext cx="9108466" cy="1815833"/>
          </a:xfrm>
          <a:prstGeom prst="rect">
            <a:avLst/>
          </a:prstGeom>
          <a:ln w="6350">
            <a:noFill/>
          </a:ln>
        </p:spPr>
        <p:txBody>
          <a:bodyPr vert="horz" wrap="square" lIns="91416" tIns="91416" rIns="91416" bIns="91416" rtlCol="0" anchor="ctr" anchorCtr="0">
            <a:spAutoFit/>
          </a:bodyPr>
          <a:lstStyle>
            <a:lvl1pPr marL="0" indent="0" algn="l" defTabSz="914400" rtl="0" eaLnBrk="1" latinLnBrk="0" hangingPunct="1">
              <a:lnSpc>
                <a:spcPct val="100000"/>
              </a:lnSpc>
              <a:spcBef>
                <a:spcPts val="2000"/>
              </a:spcBef>
              <a:buClrTx/>
              <a:buSzPct val="100000"/>
              <a:buFont typeface="Arial" panose="020B0604020202020204" pitchFamily="34" charset="0"/>
              <a:buNone/>
              <a:defRPr lang="en-US" sz="900" kern="1200">
                <a:solidFill>
                  <a:schemeClr val="bg1">
                    <a:lumMod val="50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2986" lvl="2">
              <a:lnSpc>
                <a:spcPct val="100000"/>
              </a:lnSpc>
              <a:spcBef>
                <a:spcPts val="0"/>
              </a:spcBef>
              <a:spcAft>
                <a:spcPts val="600"/>
              </a:spcAft>
              <a:buClr>
                <a:srgbClr val="0000C9"/>
              </a:buClr>
              <a:defRPr/>
            </a:pPr>
            <a:r>
              <a:rPr lang="en-US" sz="1300" u="sng" dirty="0">
                <a:solidFill>
                  <a:srgbClr val="000000">
                    <a:lumMod val="65000"/>
                    <a:lumOff val="35000"/>
                  </a:srgbClr>
                </a:solidFill>
                <a:latin typeface="Arial" panose="020B0604020202020204"/>
              </a:rPr>
              <a:t>Unaided</a:t>
            </a:r>
            <a:r>
              <a:rPr lang="en-US" sz="1300" dirty="0">
                <a:solidFill>
                  <a:srgbClr val="000000">
                    <a:lumMod val="65000"/>
                    <a:lumOff val="35000"/>
                  </a:srgbClr>
                </a:solidFill>
                <a:latin typeface="Arial" panose="020B0604020202020204"/>
              </a:rPr>
              <a:t> awareness of Pfizer and GSK as manufacturers of meningococcal meningitis vaccines is similar (29% vs. 32%), while unaided awareness of Penbraya is significantly higher than </a:t>
            </a:r>
            <a:r>
              <a:rPr lang="en-US" sz="1300" dirty="0" err="1">
                <a:solidFill>
                  <a:srgbClr val="000000">
                    <a:lumMod val="65000"/>
                    <a:lumOff val="35000"/>
                  </a:srgbClr>
                </a:solidFill>
                <a:latin typeface="Arial" panose="020B0604020202020204"/>
              </a:rPr>
              <a:t>Penmenvy</a:t>
            </a:r>
            <a:r>
              <a:rPr lang="en-US" sz="1300" dirty="0">
                <a:solidFill>
                  <a:srgbClr val="000000">
                    <a:lumMod val="65000"/>
                    <a:lumOff val="35000"/>
                  </a:srgbClr>
                </a:solidFill>
                <a:latin typeface="Arial" panose="020B0604020202020204"/>
              </a:rPr>
              <a:t> (27% vs. 14%), driven by PEDs</a:t>
            </a:r>
          </a:p>
          <a:p>
            <a:pPr marL="401586" lvl="3">
              <a:lnSpc>
                <a:spcPct val="100000"/>
              </a:lnSpc>
              <a:spcBef>
                <a:spcPts val="0"/>
              </a:spcBef>
              <a:spcAft>
                <a:spcPts val="600"/>
              </a:spcAft>
              <a:buClr>
                <a:srgbClr val="0000C9"/>
              </a:buClr>
              <a:buFont typeface="Arial" panose="020B0604020202020204" pitchFamily="34" charset="0"/>
              <a:buChar char="›"/>
              <a:defRPr/>
            </a:pPr>
            <a:r>
              <a:rPr lang="en-US" sz="1100" dirty="0">
                <a:solidFill>
                  <a:srgbClr val="000000">
                    <a:lumMod val="65000"/>
                    <a:lumOff val="35000"/>
                  </a:srgbClr>
                </a:solidFill>
                <a:latin typeface="Arial" panose="020B0604020202020204"/>
              </a:rPr>
              <a:t>Two-thirds of PCPs and one-third of PEDs are not aware of any vaccines in development or recently launched for the prevention of Meningococcal disease</a:t>
            </a:r>
          </a:p>
          <a:p>
            <a:pPr marL="172986" lvl="2">
              <a:lnSpc>
                <a:spcPct val="100000"/>
              </a:lnSpc>
              <a:spcBef>
                <a:spcPts val="0"/>
              </a:spcBef>
              <a:spcAft>
                <a:spcPts val="600"/>
              </a:spcAft>
              <a:buClr>
                <a:srgbClr val="0000C9"/>
              </a:buClr>
              <a:defRPr/>
            </a:pPr>
            <a:r>
              <a:rPr lang="en-US" sz="1300" u="sng" dirty="0">
                <a:solidFill>
                  <a:srgbClr val="000000">
                    <a:lumMod val="65000"/>
                    <a:lumOff val="35000"/>
                  </a:srgbClr>
                </a:solidFill>
              </a:rPr>
              <a:t>Aided</a:t>
            </a:r>
            <a:r>
              <a:rPr lang="en-US" sz="1300" dirty="0">
                <a:solidFill>
                  <a:srgbClr val="000000">
                    <a:lumMod val="65000"/>
                    <a:lumOff val="35000"/>
                  </a:srgbClr>
                </a:solidFill>
              </a:rPr>
              <a:t> awareness of Penbraya is also higher than </a:t>
            </a:r>
            <a:r>
              <a:rPr lang="en-US" sz="1300" dirty="0" err="1">
                <a:solidFill>
                  <a:srgbClr val="000000">
                    <a:lumMod val="65000"/>
                    <a:lumOff val="35000"/>
                  </a:srgbClr>
                </a:solidFill>
              </a:rPr>
              <a:t>Penmenvy</a:t>
            </a:r>
            <a:r>
              <a:rPr lang="en-US" sz="1300" dirty="0">
                <a:solidFill>
                  <a:srgbClr val="000000">
                    <a:lumMod val="65000"/>
                    <a:lumOff val="35000"/>
                  </a:srgbClr>
                </a:solidFill>
              </a:rPr>
              <a:t> (77% vs. 65%); Penbraya awareness is on par for PEDs and PCPs while awareness of </a:t>
            </a:r>
            <a:r>
              <a:rPr lang="en-US" sz="1300" dirty="0" err="1">
                <a:solidFill>
                  <a:srgbClr val="000000">
                    <a:lumMod val="65000"/>
                    <a:lumOff val="35000"/>
                  </a:srgbClr>
                </a:solidFill>
              </a:rPr>
              <a:t>Penmenvy</a:t>
            </a:r>
            <a:r>
              <a:rPr lang="en-US" sz="1300" dirty="0">
                <a:solidFill>
                  <a:srgbClr val="000000">
                    <a:lumMod val="65000"/>
                    <a:lumOff val="35000"/>
                  </a:srgbClr>
                </a:solidFill>
              </a:rPr>
              <a:t> is significantly higher among PCPs than PEDs (78% vs. 60%) </a:t>
            </a:r>
          </a:p>
          <a:p>
            <a:pPr marL="172986" lvl="2">
              <a:lnSpc>
                <a:spcPct val="100000"/>
              </a:lnSpc>
              <a:spcBef>
                <a:spcPts val="0"/>
              </a:spcBef>
              <a:spcAft>
                <a:spcPts val="600"/>
              </a:spcAft>
              <a:buClr>
                <a:srgbClr val="0000C9"/>
              </a:buClr>
              <a:defRPr/>
            </a:pPr>
            <a:endParaRPr lang="en-US" sz="1300" dirty="0">
              <a:solidFill>
                <a:srgbClr val="000000">
                  <a:lumMod val="65000"/>
                  <a:lumOff val="35000"/>
                </a:srgbClr>
              </a:solidFill>
              <a:latin typeface="Arial" panose="020B0604020202020204"/>
            </a:endParaRPr>
          </a:p>
        </p:txBody>
      </p:sp>
      <p:sp>
        <p:nvSpPr>
          <p:cNvPr id="29" name="Content Placeholder 1">
            <a:extLst>
              <a:ext uri="{FF2B5EF4-FFF2-40B4-BE49-F238E27FC236}">
                <a16:creationId xmlns:a16="http://schemas.microsoft.com/office/drawing/2014/main" id="{20E23CE7-BD64-A300-EE7B-9CC0B3398136}"/>
              </a:ext>
            </a:extLst>
          </p:cNvPr>
          <p:cNvSpPr txBox="1">
            <a:spLocks/>
          </p:cNvSpPr>
          <p:nvPr/>
        </p:nvSpPr>
        <p:spPr bwMode="gray">
          <a:xfrm>
            <a:off x="2604551" y="2323064"/>
            <a:ext cx="9298585" cy="1061781"/>
          </a:xfrm>
          <a:prstGeom prst="rect">
            <a:avLst/>
          </a:prstGeom>
          <a:ln w="6350">
            <a:noFill/>
          </a:ln>
        </p:spPr>
        <p:txBody>
          <a:bodyPr vert="horz" wrap="square" lIns="91416" tIns="91416" rIns="91416" bIns="91416" rtlCol="0" anchor="ctr" anchorCtr="0">
            <a:spAutoFit/>
          </a:bodyPr>
          <a:lstStyle>
            <a:lvl1pPr marL="0" indent="0" algn="l" defTabSz="914400" rtl="0" eaLnBrk="1" latinLnBrk="0" hangingPunct="1">
              <a:lnSpc>
                <a:spcPct val="100000"/>
              </a:lnSpc>
              <a:spcBef>
                <a:spcPts val="2000"/>
              </a:spcBef>
              <a:buClrTx/>
              <a:buSzPct val="100000"/>
              <a:buFont typeface="Arial" panose="020B0604020202020204" pitchFamily="34" charset="0"/>
              <a:buNone/>
              <a:defRPr lang="en-US" sz="900" kern="1200">
                <a:solidFill>
                  <a:schemeClr val="bg1">
                    <a:lumMod val="50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2986" lvl="2">
              <a:lnSpc>
                <a:spcPct val="100000"/>
              </a:lnSpc>
              <a:spcBef>
                <a:spcPts val="0"/>
              </a:spcBef>
              <a:spcAft>
                <a:spcPts val="600"/>
              </a:spcAft>
              <a:buClr>
                <a:srgbClr val="0DBDBA"/>
              </a:buClr>
              <a:defRPr/>
            </a:pPr>
            <a:r>
              <a:rPr lang="en-US" sz="1300" dirty="0" err="1">
                <a:solidFill>
                  <a:srgbClr val="000000">
                    <a:lumMod val="65000"/>
                    <a:lumOff val="35000"/>
                  </a:srgbClr>
                </a:solidFill>
                <a:latin typeface="Arial" panose="020B0604020202020204"/>
              </a:rPr>
              <a:t>MenQuadfi</a:t>
            </a:r>
            <a:r>
              <a:rPr lang="en-US" sz="1300" dirty="0">
                <a:solidFill>
                  <a:srgbClr val="000000">
                    <a:lumMod val="65000"/>
                    <a:lumOff val="35000"/>
                  </a:srgbClr>
                </a:solidFill>
                <a:latin typeface="Arial" panose="020B0604020202020204"/>
              </a:rPr>
              <a:t> share of stock is greatest, outpacing Bexsero, with the former seeing a significant increase and the latter seeing a significant decline; however, both hold a strong lead overall</a:t>
            </a:r>
          </a:p>
          <a:p>
            <a:pPr marL="172986" lvl="2">
              <a:lnSpc>
                <a:spcPct val="100000"/>
              </a:lnSpc>
              <a:spcBef>
                <a:spcPts val="0"/>
              </a:spcBef>
              <a:spcAft>
                <a:spcPts val="600"/>
              </a:spcAft>
              <a:buClr>
                <a:srgbClr val="0DBDBA"/>
              </a:buClr>
              <a:defRPr/>
            </a:pPr>
            <a:r>
              <a:rPr lang="en-US" sz="1300" dirty="0">
                <a:solidFill>
                  <a:srgbClr val="000000">
                    <a:lumMod val="65000"/>
                    <a:lumOff val="35000"/>
                  </a:srgbClr>
                </a:solidFill>
                <a:latin typeface="Arial" panose="020B0604020202020204"/>
              </a:rPr>
              <a:t>Penbraya current share of stock remains low (5%) though significantly higher among PCPs (11% vs. 3% PEDs) while Trumenba share</a:t>
            </a:r>
            <a:r>
              <a:rPr lang="en-US" sz="1300" dirty="0">
                <a:solidFill>
                  <a:srgbClr val="000000">
                    <a:lumMod val="65000"/>
                    <a:lumOff val="35000"/>
                  </a:srgbClr>
                </a:solidFill>
              </a:rPr>
              <a:t> (13%)</a:t>
            </a:r>
            <a:r>
              <a:rPr lang="en-US" sz="1300" dirty="0">
                <a:solidFill>
                  <a:srgbClr val="000000">
                    <a:lumMod val="65000"/>
                    <a:lumOff val="35000"/>
                  </a:srgbClr>
                </a:solidFill>
                <a:latin typeface="Arial" panose="020B0604020202020204"/>
              </a:rPr>
              <a:t> is reportedly over two times as much but still relatively low compared to Bexsero and </a:t>
            </a:r>
            <a:r>
              <a:rPr lang="en-US" sz="1300" dirty="0" err="1">
                <a:solidFill>
                  <a:srgbClr val="000000">
                    <a:lumMod val="65000"/>
                    <a:lumOff val="35000"/>
                  </a:srgbClr>
                </a:solidFill>
                <a:latin typeface="Arial" panose="020B0604020202020204"/>
              </a:rPr>
              <a:t>MenQuadfi</a:t>
            </a:r>
            <a:endParaRPr lang="en-US" sz="1300" dirty="0">
              <a:solidFill>
                <a:srgbClr val="000000">
                  <a:lumMod val="65000"/>
                  <a:lumOff val="35000"/>
                </a:srgbClr>
              </a:solidFill>
              <a:latin typeface="Arial" panose="020B0604020202020204"/>
            </a:endParaRPr>
          </a:p>
        </p:txBody>
      </p:sp>
      <p:sp>
        <p:nvSpPr>
          <p:cNvPr id="36" name="Content Placeholder 1">
            <a:extLst>
              <a:ext uri="{FF2B5EF4-FFF2-40B4-BE49-F238E27FC236}">
                <a16:creationId xmlns:a16="http://schemas.microsoft.com/office/drawing/2014/main" id="{3567C736-BED2-84D0-0E88-8DBC8079FCD7}"/>
              </a:ext>
            </a:extLst>
          </p:cNvPr>
          <p:cNvSpPr txBox="1">
            <a:spLocks/>
          </p:cNvSpPr>
          <p:nvPr/>
        </p:nvSpPr>
        <p:spPr bwMode="gray">
          <a:xfrm>
            <a:off x="2604551" y="3571221"/>
            <a:ext cx="9152474" cy="1338780"/>
          </a:xfrm>
          <a:prstGeom prst="rect">
            <a:avLst/>
          </a:prstGeom>
          <a:ln w="6350">
            <a:noFill/>
          </a:ln>
        </p:spPr>
        <p:txBody>
          <a:bodyPr vert="horz" wrap="square" lIns="91416" tIns="91416" rIns="91416" bIns="91416" rtlCol="0" anchor="ctr" anchorCtr="0">
            <a:spAutoFit/>
          </a:bodyPr>
          <a:lstStyle>
            <a:lvl1pPr marL="0" indent="0" algn="l" defTabSz="914400" rtl="0" eaLnBrk="1" latinLnBrk="0" hangingPunct="1">
              <a:lnSpc>
                <a:spcPct val="100000"/>
              </a:lnSpc>
              <a:spcBef>
                <a:spcPts val="2000"/>
              </a:spcBef>
              <a:buClrTx/>
              <a:buSzPct val="100000"/>
              <a:buFont typeface="Arial" panose="020B0604020202020204" pitchFamily="34" charset="0"/>
              <a:buNone/>
              <a:defRPr lang="en-US" sz="900" kern="1200">
                <a:solidFill>
                  <a:schemeClr val="bg1">
                    <a:lumMod val="50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2986" lvl="2">
              <a:lnSpc>
                <a:spcPct val="100000"/>
              </a:lnSpc>
              <a:spcBef>
                <a:spcPts val="0"/>
              </a:spcBef>
              <a:spcAft>
                <a:spcPts val="600"/>
              </a:spcAft>
              <a:buClr>
                <a:srgbClr val="67BB6E"/>
              </a:buClr>
              <a:buSzPct val="100000"/>
              <a:defRPr/>
            </a:pPr>
            <a:r>
              <a:rPr lang="en-US" sz="1300" dirty="0">
                <a:solidFill>
                  <a:schemeClr val="tx1">
                    <a:lumMod val="65000"/>
                    <a:lumOff val="35000"/>
                  </a:schemeClr>
                </a:solidFill>
                <a:latin typeface="Arial" panose="020B0604020202020204"/>
              </a:rPr>
              <a:t>Anticipated near-term stocking for Penbraya rises to 18% after HCPs view </a:t>
            </a:r>
            <a:r>
              <a:rPr lang="en-US" sz="1300" dirty="0" err="1">
                <a:solidFill>
                  <a:schemeClr val="tx1">
                    <a:lumMod val="65000"/>
                    <a:lumOff val="35000"/>
                  </a:schemeClr>
                </a:solidFill>
                <a:latin typeface="Arial" panose="020B0604020202020204"/>
              </a:rPr>
              <a:t>Penbraya’s</a:t>
            </a:r>
            <a:r>
              <a:rPr lang="en-US" sz="1300" dirty="0">
                <a:solidFill>
                  <a:schemeClr val="tx1">
                    <a:lumMod val="65000"/>
                    <a:lumOff val="35000"/>
                  </a:schemeClr>
                </a:solidFill>
                <a:latin typeface="Arial" panose="020B0604020202020204"/>
              </a:rPr>
              <a:t> TPP and updated Men B dosing info, i.e., Bexsero now has the same dosing schedule as Trumenba</a:t>
            </a:r>
          </a:p>
          <a:p>
            <a:pPr marL="172986" lvl="2">
              <a:lnSpc>
                <a:spcPct val="100000"/>
              </a:lnSpc>
              <a:spcBef>
                <a:spcPts val="0"/>
              </a:spcBef>
              <a:spcAft>
                <a:spcPts val="600"/>
              </a:spcAft>
              <a:buClr>
                <a:srgbClr val="67BB6E"/>
              </a:buClr>
              <a:buSzPct val="100000"/>
              <a:defRPr/>
            </a:pPr>
            <a:r>
              <a:rPr lang="en-US" sz="1300" dirty="0">
                <a:solidFill>
                  <a:schemeClr val="tx1">
                    <a:lumMod val="65000"/>
                    <a:lumOff val="35000"/>
                  </a:schemeClr>
                </a:solidFill>
                <a:latin typeface="Arial" panose="020B0604020202020204"/>
              </a:rPr>
              <a:t>This wave, Tier 1 is largely made up of Trumenba Loyalists who do not stock Penbraya, resulting in a lower share of Penbraya stock reported </a:t>
            </a:r>
            <a:r>
              <a:rPr lang="en-US" sz="1300" dirty="0">
                <a:solidFill>
                  <a:srgbClr val="000000">
                    <a:lumMod val="65000"/>
                    <a:lumOff val="35000"/>
                  </a:srgbClr>
                </a:solidFill>
                <a:latin typeface="Arial" panose="020B0604020202020204"/>
              </a:rPr>
              <a:t>vs. Sep’24</a:t>
            </a:r>
          </a:p>
          <a:p>
            <a:pPr marL="172986" lvl="2">
              <a:lnSpc>
                <a:spcPct val="100000"/>
              </a:lnSpc>
              <a:spcBef>
                <a:spcPts val="0"/>
              </a:spcBef>
              <a:spcAft>
                <a:spcPts val="600"/>
              </a:spcAft>
              <a:buClr>
                <a:srgbClr val="67BB6E"/>
              </a:buClr>
              <a:buSzPct val="100000"/>
              <a:defRPr/>
            </a:pPr>
            <a:r>
              <a:rPr lang="en-US" sz="1300" dirty="0">
                <a:solidFill>
                  <a:srgbClr val="000000">
                    <a:lumMod val="65000"/>
                    <a:lumOff val="35000"/>
                  </a:srgbClr>
                </a:solidFill>
                <a:latin typeface="Arial" panose="020B0604020202020204"/>
              </a:rPr>
              <a:t>PCPs remain twice as likely to stock Penbraya than PEDs</a:t>
            </a:r>
          </a:p>
        </p:txBody>
      </p:sp>
      <p:sp>
        <p:nvSpPr>
          <p:cNvPr id="28" name="Content Placeholder 1">
            <a:extLst>
              <a:ext uri="{FF2B5EF4-FFF2-40B4-BE49-F238E27FC236}">
                <a16:creationId xmlns:a16="http://schemas.microsoft.com/office/drawing/2014/main" id="{DBED5E0C-94BD-2643-D970-3A9A2ABC029B}"/>
              </a:ext>
            </a:extLst>
          </p:cNvPr>
          <p:cNvSpPr txBox="1">
            <a:spLocks/>
          </p:cNvSpPr>
          <p:nvPr/>
        </p:nvSpPr>
        <p:spPr bwMode="gray">
          <a:xfrm>
            <a:off x="937349" y="2392896"/>
            <a:ext cx="1559381" cy="794049"/>
          </a:xfrm>
          <a:prstGeom prst="rect">
            <a:avLst/>
          </a:prstGeom>
          <a:noFill/>
          <a:ln w="28575">
            <a:noFill/>
          </a:ln>
        </p:spPr>
        <p:txBody>
          <a:bodyPr vert="horz" lIns="0" tIns="27425" rIns="0" bIns="27425" rtlCol="0" anchor="ctr" anchorCtr="0">
            <a:spAutoFit/>
          </a:bodyPr>
          <a:lstStyle>
            <a:lvl1pPr marL="0" indent="0" algn="l" defTabSz="914400" rtl="0" eaLnBrk="1" latinLnBrk="0" hangingPunct="1">
              <a:lnSpc>
                <a:spcPct val="100000"/>
              </a:lnSpc>
              <a:spcBef>
                <a:spcPts val="2000"/>
              </a:spcBef>
              <a:buClrTx/>
              <a:buSzPct val="100000"/>
              <a:buFont typeface="Arial" panose="020B0604020202020204" pitchFamily="34" charset="0"/>
              <a:buNone/>
              <a:defRPr lang="en-US" sz="900" kern="1200">
                <a:solidFill>
                  <a:schemeClr val="bg1">
                    <a:lumMod val="50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0"/>
              </a:spcBef>
              <a:defRPr/>
            </a:pPr>
            <a:r>
              <a:rPr lang="en-US" sz="1600" b="1">
                <a:solidFill>
                  <a:srgbClr val="0DBDBA"/>
                </a:solidFill>
                <a:latin typeface="Arial" panose="020B0604020202020204"/>
              </a:rPr>
              <a:t>Meningococcal Meningitis Vx Stocking</a:t>
            </a:r>
            <a:endParaRPr lang="en-US" sz="1600">
              <a:solidFill>
                <a:srgbClr val="0DBDBA"/>
              </a:solidFill>
              <a:latin typeface="Arial" panose="020B0604020202020204"/>
            </a:endParaRPr>
          </a:p>
        </p:txBody>
      </p:sp>
      <p:grpSp>
        <p:nvGrpSpPr>
          <p:cNvPr id="13" name="Group 12">
            <a:extLst>
              <a:ext uri="{FF2B5EF4-FFF2-40B4-BE49-F238E27FC236}">
                <a16:creationId xmlns:a16="http://schemas.microsoft.com/office/drawing/2014/main" id="{E098688D-DA8C-5A11-2B50-2A9314CD4FEA}"/>
              </a:ext>
            </a:extLst>
          </p:cNvPr>
          <p:cNvGrpSpPr/>
          <p:nvPr/>
        </p:nvGrpSpPr>
        <p:grpSpPr>
          <a:xfrm>
            <a:off x="860417" y="3908314"/>
            <a:ext cx="1559381" cy="618159"/>
            <a:chOff x="1093654" y="5317224"/>
            <a:chExt cx="1559787" cy="618321"/>
          </a:xfrm>
        </p:grpSpPr>
        <p:sp>
          <p:nvSpPr>
            <p:cNvPr id="35" name="Content Placeholder 1">
              <a:extLst>
                <a:ext uri="{FF2B5EF4-FFF2-40B4-BE49-F238E27FC236}">
                  <a16:creationId xmlns:a16="http://schemas.microsoft.com/office/drawing/2014/main" id="{06AC07C3-12F7-1DC4-5B02-9C763681C2AB}"/>
                </a:ext>
              </a:extLst>
            </p:cNvPr>
            <p:cNvSpPr txBox="1">
              <a:spLocks/>
            </p:cNvSpPr>
            <p:nvPr/>
          </p:nvSpPr>
          <p:spPr bwMode="gray">
            <a:xfrm>
              <a:off x="1093654" y="5633859"/>
              <a:ext cx="1559787" cy="301686"/>
            </a:xfrm>
            <a:prstGeom prst="rect">
              <a:avLst/>
            </a:prstGeom>
            <a:noFill/>
            <a:ln>
              <a:noFill/>
            </a:ln>
          </p:spPr>
          <p:txBody>
            <a:bodyPr vert="horz" lIns="0" tIns="27425" rIns="0" bIns="27425" rtlCol="0" anchor="ctr" anchorCtr="0">
              <a:spAutoFit/>
            </a:bodyPr>
            <a:lstStyle>
              <a:lvl1pPr marL="0" indent="0" algn="l" defTabSz="914400" rtl="0" eaLnBrk="1" latinLnBrk="0" hangingPunct="1">
                <a:lnSpc>
                  <a:spcPct val="100000"/>
                </a:lnSpc>
                <a:spcBef>
                  <a:spcPts val="2000"/>
                </a:spcBef>
                <a:buClrTx/>
                <a:buSzPct val="100000"/>
                <a:buFont typeface="Arial" panose="020B0604020202020204" pitchFamily="34" charset="0"/>
                <a:buNone/>
                <a:defRPr lang="en-US" sz="900" kern="1200">
                  <a:solidFill>
                    <a:schemeClr val="bg1">
                      <a:lumMod val="50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0"/>
                </a:spcBef>
                <a:defRPr/>
              </a:pPr>
              <a:r>
                <a:rPr lang="en-US" sz="1600" b="1">
                  <a:solidFill>
                    <a:srgbClr val="67BB6E"/>
                  </a:solidFill>
                  <a:latin typeface="Arial" panose="020B0604020202020204"/>
                </a:rPr>
                <a:t>Adoption</a:t>
              </a:r>
              <a:endParaRPr lang="en-US" sz="1600">
                <a:solidFill>
                  <a:srgbClr val="67BB6E"/>
                </a:solidFill>
                <a:latin typeface="Arial" panose="020B0604020202020204"/>
              </a:endParaRPr>
            </a:p>
          </p:txBody>
        </p:sp>
        <p:pic>
          <p:nvPicPr>
            <p:cNvPr id="40" name="Picture 39">
              <a:extLst>
                <a:ext uri="{FF2B5EF4-FFF2-40B4-BE49-F238E27FC236}">
                  <a16:creationId xmlns:a16="http://schemas.microsoft.com/office/drawing/2014/main" id="{33077710-CA4F-7088-65B4-642C43BB70B9}"/>
                </a:ext>
              </a:extLst>
            </p:cNvPr>
            <p:cNvPicPr>
              <a:picLocks noChangeAspect="1"/>
            </p:cNvPicPr>
            <p:nvPr/>
          </p:nvPicPr>
          <p:blipFill>
            <a:blip r:embed="rId2"/>
            <a:stretch>
              <a:fillRect/>
            </a:stretch>
          </p:blipFill>
          <p:spPr>
            <a:xfrm>
              <a:off x="1307943" y="5317224"/>
              <a:ext cx="1134585" cy="201168"/>
            </a:xfrm>
            <a:prstGeom prst="rect">
              <a:avLst/>
            </a:prstGeom>
            <a:solidFill>
              <a:schemeClr val="bg1"/>
            </a:solidFill>
          </p:spPr>
        </p:pic>
      </p:grpSp>
      <p:grpSp>
        <p:nvGrpSpPr>
          <p:cNvPr id="42" name="Group 41">
            <a:extLst>
              <a:ext uri="{FF2B5EF4-FFF2-40B4-BE49-F238E27FC236}">
                <a16:creationId xmlns:a16="http://schemas.microsoft.com/office/drawing/2014/main" id="{F1B376CC-7465-9F81-405C-EAA27CF23644}"/>
              </a:ext>
            </a:extLst>
          </p:cNvPr>
          <p:cNvGrpSpPr/>
          <p:nvPr/>
        </p:nvGrpSpPr>
        <p:grpSpPr>
          <a:xfrm>
            <a:off x="404717" y="3914248"/>
            <a:ext cx="502789" cy="502789"/>
            <a:chOff x="132789" y="4850278"/>
            <a:chExt cx="502920" cy="502920"/>
          </a:xfrm>
        </p:grpSpPr>
        <p:sp>
          <p:nvSpPr>
            <p:cNvPr id="38" name="Oval 37">
              <a:extLst>
                <a:ext uri="{FF2B5EF4-FFF2-40B4-BE49-F238E27FC236}">
                  <a16:creationId xmlns:a16="http://schemas.microsoft.com/office/drawing/2014/main" id="{8CB60646-F15E-6148-2BEE-4DA97FBE9110}"/>
                </a:ext>
              </a:extLst>
            </p:cNvPr>
            <p:cNvSpPr>
              <a:spLocks noChangeAspect="1"/>
            </p:cNvSpPr>
            <p:nvPr/>
          </p:nvSpPr>
          <p:spPr bwMode="gray">
            <a:xfrm>
              <a:off x="132789" y="4850278"/>
              <a:ext cx="502920" cy="502920"/>
            </a:xfrm>
            <a:prstGeom prst="ellipse">
              <a:avLst/>
            </a:prstGeom>
            <a:solidFill>
              <a:schemeClr val="accent4"/>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pic>
          <p:nvPicPr>
            <p:cNvPr id="30" name="Graphic 29">
              <a:extLst>
                <a:ext uri="{FF2B5EF4-FFF2-40B4-BE49-F238E27FC236}">
                  <a16:creationId xmlns:a16="http://schemas.microsoft.com/office/drawing/2014/main" id="{40295D4A-0953-AA57-C417-2A42A666077F}"/>
                </a:ext>
              </a:extLst>
            </p:cNvPr>
            <p:cNvPicPr>
              <a:picLocks noChangeAspect="1"/>
            </p:cNvPicPr>
            <p:nvPr/>
          </p:nvPicPr>
          <p:blipFill>
            <a:blip r:embed="rId3">
              <a:extLst>
                <a:ext uri="{96DAC541-7B7A-43D3-8B79-37D633B846F1}">
                  <asvg:svgBlip xmlns:asvg="http://schemas.microsoft.com/office/drawing/2016/SVG/main" r:embed="rId4"/>
                </a:ext>
              </a:extLst>
            </a:blip>
            <a:srcRect b="20444"/>
            <a:stretch>
              <a:fillRect/>
            </a:stretch>
          </p:blipFill>
          <p:spPr>
            <a:xfrm>
              <a:off x="226043" y="4933441"/>
              <a:ext cx="321827" cy="320040"/>
            </a:xfrm>
            <a:custGeom>
              <a:avLst/>
              <a:gdLst>
                <a:gd name="connsiteX0" fmla="*/ 0 w 914400"/>
                <a:gd name="connsiteY0" fmla="*/ 0 h 909320"/>
                <a:gd name="connsiteX1" fmla="*/ 914400 w 914400"/>
                <a:gd name="connsiteY1" fmla="*/ 0 h 909320"/>
                <a:gd name="connsiteX2" fmla="*/ 914400 w 914400"/>
                <a:gd name="connsiteY2" fmla="*/ 909320 h 909320"/>
                <a:gd name="connsiteX3" fmla="*/ 0 w 914400"/>
                <a:gd name="connsiteY3" fmla="*/ 909320 h 909320"/>
              </a:gdLst>
              <a:ahLst/>
              <a:cxnLst>
                <a:cxn ang="0">
                  <a:pos x="connsiteX0" y="connsiteY0"/>
                </a:cxn>
                <a:cxn ang="0">
                  <a:pos x="connsiteX1" y="connsiteY1"/>
                </a:cxn>
                <a:cxn ang="0">
                  <a:pos x="connsiteX2" y="connsiteY2"/>
                </a:cxn>
                <a:cxn ang="0">
                  <a:pos x="connsiteX3" y="connsiteY3"/>
                </a:cxn>
              </a:cxnLst>
              <a:rect l="l" t="t" r="r" b="b"/>
              <a:pathLst>
                <a:path w="914400" h="909320">
                  <a:moveTo>
                    <a:pt x="0" y="0"/>
                  </a:moveTo>
                  <a:lnTo>
                    <a:pt x="914400" y="0"/>
                  </a:lnTo>
                  <a:lnTo>
                    <a:pt x="914400" y="909320"/>
                  </a:lnTo>
                  <a:lnTo>
                    <a:pt x="0" y="909320"/>
                  </a:lnTo>
                  <a:close/>
                </a:path>
              </a:pathLst>
            </a:custGeom>
          </p:spPr>
        </p:pic>
      </p:grpSp>
      <p:grpSp>
        <p:nvGrpSpPr>
          <p:cNvPr id="41" name="Group 40">
            <a:extLst>
              <a:ext uri="{FF2B5EF4-FFF2-40B4-BE49-F238E27FC236}">
                <a16:creationId xmlns:a16="http://schemas.microsoft.com/office/drawing/2014/main" id="{49DC8C80-2DD7-B9EE-EEB8-01ECF6C299B1}"/>
              </a:ext>
            </a:extLst>
          </p:cNvPr>
          <p:cNvGrpSpPr/>
          <p:nvPr/>
        </p:nvGrpSpPr>
        <p:grpSpPr>
          <a:xfrm>
            <a:off x="407942" y="2494042"/>
            <a:ext cx="502789" cy="502789"/>
            <a:chOff x="876989" y="4884326"/>
            <a:chExt cx="502920" cy="502920"/>
          </a:xfrm>
        </p:grpSpPr>
        <p:sp>
          <p:nvSpPr>
            <p:cNvPr id="33" name="Oval 32">
              <a:extLst>
                <a:ext uri="{FF2B5EF4-FFF2-40B4-BE49-F238E27FC236}">
                  <a16:creationId xmlns:a16="http://schemas.microsoft.com/office/drawing/2014/main" id="{F1336C05-3AC4-BBB6-290A-A8B8BE9C4B3E}"/>
                </a:ext>
              </a:extLst>
            </p:cNvPr>
            <p:cNvSpPr>
              <a:spLocks noChangeAspect="1"/>
            </p:cNvSpPr>
            <p:nvPr/>
          </p:nvSpPr>
          <p:spPr bwMode="gray">
            <a:xfrm>
              <a:off x="876989" y="4884326"/>
              <a:ext cx="502920" cy="502920"/>
            </a:xfrm>
            <a:prstGeom prst="ellipse">
              <a:avLst/>
            </a:prstGeom>
            <a:solidFill>
              <a:schemeClr val="accent3"/>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pic>
          <p:nvPicPr>
            <p:cNvPr id="32" name="Graphic 31">
              <a:extLst>
                <a:ext uri="{FF2B5EF4-FFF2-40B4-BE49-F238E27FC236}">
                  <a16:creationId xmlns:a16="http://schemas.microsoft.com/office/drawing/2014/main" id="{2DA952BB-4853-825E-79E6-BF5994EFF227}"/>
                </a:ext>
              </a:extLst>
            </p:cNvPr>
            <p:cNvPicPr>
              <a:picLocks noChangeAspect="1"/>
            </p:cNvPicPr>
            <p:nvPr/>
          </p:nvPicPr>
          <p:blipFill>
            <a:blip r:embed="rId5">
              <a:extLst>
                <a:ext uri="{96DAC541-7B7A-43D3-8B79-37D633B846F1}">
                  <asvg:svgBlip xmlns:asvg="http://schemas.microsoft.com/office/drawing/2016/SVG/main" r:embed="rId6"/>
                </a:ext>
              </a:extLst>
            </a:blip>
            <a:srcRect b="20069"/>
            <a:stretch/>
          </p:blipFill>
          <p:spPr>
            <a:xfrm>
              <a:off x="961240" y="4975765"/>
              <a:ext cx="338795" cy="320040"/>
            </a:xfrm>
            <a:prstGeom prst="rect">
              <a:avLst/>
            </a:prstGeom>
          </p:spPr>
        </p:pic>
      </p:grpSp>
      <p:sp>
        <p:nvSpPr>
          <p:cNvPr id="5" name="Rectangle 4">
            <a:extLst>
              <a:ext uri="{FF2B5EF4-FFF2-40B4-BE49-F238E27FC236}">
                <a16:creationId xmlns:a16="http://schemas.microsoft.com/office/drawing/2014/main" id="{FB6C5129-ADE8-9E65-4360-3B25211D9AB3}"/>
              </a:ext>
            </a:extLst>
          </p:cNvPr>
          <p:cNvSpPr/>
          <p:nvPr/>
        </p:nvSpPr>
        <p:spPr bwMode="gray">
          <a:xfrm>
            <a:off x="2505610" y="765960"/>
            <a:ext cx="45707" cy="1188720"/>
          </a:xfrm>
          <a:prstGeom prst="rect">
            <a:avLst/>
          </a:prstGeom>
          <a:solidFill>
            <a:schemeClr val="accent1"/>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16" name="TextBox 15">
            <a:extLst>
              <a:ext uri="{FF2B5EF4-FFF2-40B4-BE49-F238E27FC236}">
                <a16:creationId xmlns:a16="http://schemas.microsoft.com/office/drawing/2014/main" id="{980B3046-A447-5E97-D187-A7906145AD2C}"/>
              </a:ext>
            </a:extLst>
          </p:cNvPr>
          <p:cNvSpPr txBox="1"/>
          <p:nvPr/>
        </p:nvSpPr>
        <p:spPr bwMode="gray">
          <a:xfrm>
            <a:off x="2423003" y="6578367"/>
            <a:ext cx="6096000" cy="246221"/>
          </a:xfrm>
          <a:prstGeom prst="rect">
            <a:avLst/>
          </a:prstGeom>
          <a:noFill/>
        </p:spPr>
        <p:txBody>
          <a:bodyPr wrap="square">
            <a:spAutoFit/>
          </a:bodyPr>
          <a:lstStyle/>
          <a:p>
            <a:r>
              <a:rPr lang="en-US" sz="1000">
                <a:solidFill>
                  <a:srgbClr val="000000">
                    <a:lumMod val="65000"/>
                    <a:lumOff val="35000"/>
                  </a:srgbClr>
                </a:solidFill>
                <a:latin typeface="Arial" panose="020B0604020202020204"/>
              </a:rPr>
              <a:t>T2B = Top 2 Box ratings (6,7) on a 7-point scale</a:t>
            </a:r>
            <a:endParaRPr lang="en-US" sz="1000"/>
          </a:p>
        </p:txBody>
      </p:sp>
      <p:sp>
        <p:nvSpPr>
          <p:cNvPr id="18" name="Oval 17">
            <a:extLst>
              <a:ext uri="{FF2B5EF4-FFF2-40B4-BE49-F238E27FC236}">
                <a16:creationId xmlns:a16="http://schemas.microsoft.com/office/drawing/2014/main" id="{31E5EF47-1219-859A-5FCE-DBD175FC390E}"/>
              </a:ext>
            </a:extLst>
          </p:cNvPr>
          <p:cNvSpPr>
            <a:spLocks noChangeAspect="1"/>
          </p:cNvSpPr>
          <p:nvPr/>
        </p:nvSpPr>
        <p:spPr bwMode="gray">
          <a:xfrm>
            <a:off x="401492" y="1073836"/>
            <a:ext cx="502789" cy="502789"/>
          </a:xfrm>
          <a:prstGeom prst="ellipse">
            <a:avLst/>
          </a:prstGeom>
          <a:solidFill>
            <a:schemeClr val="accent1"/>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45" name="Rectangle 44">
            <a:extLst>
              <a:ext uri="{FF2B5EF4-FFF2-40B4-BE49-F238E27FC236}">
                <a16:creationId xmlns:a16="http://schemas.microsoft.com/office/drawing/2014/main" id="{A384E22E-5FFF-B921-5364-5639F94B6901}"/>
              </a:ext>
            </a:extLst>
          </p:cNvPr>
          <p:cNvSpPr/>
          <p:nvPr/>
        </p:nvSpPr>
        <p:spPr bwMode="gray">
          <a:xfrm>
            <a:off x="2505609" y="2220950"/>
            <a:ext cx="45707" cy="1188720"/>
          </a:xfrm>
          <a:prstGeom prst="rect">
            <a:avLst/>
          </a:prstGeom>
          <a:solidFill>
            <a:schemeClr val="accent3"/>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46" name="Rectangle 45">
            <a:extLst>
              <a:ext uri="{FF2B5EF4-FFF2-40B4-BE49-F238E27FC236}">
                <a16:creationId xmlns:a16="http://schemas.microsoft.com/office/drawing/2014/main" id="{57B97E48-26AC-8867-1DCA-E2B3E0282A1A}"/>
              </a:ext>
            </a:extLst>
          </p:cNvPr>
          <p:cNvSpPr/>
          <p:nvPr/>
        </p:nvSpPr>
        <p:spPr bwMode="gray">
          <a:xfrm>
            <a:off x="2505609" y="3675940"/>
            <a:ext cx="45707" cy="1188720"/>
          </a:xfrm>
          <a:prstGeom prst="rect">
            <a:avLst/>
          </a:prstGeom>
          <a:solidFill>
            <a:schemeClr val="accent4"/>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47" name="Rectangle 46">
            <a:extLst>
              <a:ext uri="{FF2B5EF4-FFF2-40B4-BE49-F238E27FC236}">
                <a16:creationId xmlns:a16="http://schemas.microsoft.com/office/drawing/2014/main" id="{270A30F6-1016-858E-3C98-1719FDFF5E22}"/>
              </a:ext>
            </a:extLst>
          </p:cNvPr>
          <p:cNvSpPr/>
          <p:nvPr/>
        </p:nvSpPr>
        <p:spPr bwMode="gray">
          <a:xfrm>
            <a:off x="2505609" y="5130931"/>
            <a:ext cx="45707" cy="1188720"/>
          </a:xfrm>
          <a:prstGeom prst="rect">
            <a:avLst/>
          </a:prstGeom>
          <a:solidFill>
            <a:schemeClr val="accent6"/>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49" name="Content Placeholder 1">
            <a:extLst>
              <a:ext uri="{FF2B5EF4-FFF2-40B4-BE49-F238E27FC236}">
                <a16:creationId xmlns:a16="http://schemas.microsoft.com/office/drawing/2014/main" id="{30572023-E2EC-D763-E4A1-F3A8CBC8CD0D}"/>
              </a:ext>
            </a:extLst>
          </p:cNvPr>
          <p:cNvSpPr txBox="1">
            <a:spLocks/>
          </p:cNvSpPr>
          <p:nvPr/>
        </p:nvSpPr>
        <p:spPr bwMode="gray">
          <a:xfrm>
            <a:off x="863622" y="5537687"/>
            <a:ext cx="1559381" cy="547828"/>
          </a:xfrm>
          <a:prstGeom prst="rect">
            <a:avLst/>
          </a:prstGeom>
          <a:noFill/>
          <a:ln>
            <a:noFill/>
          </a:ln>
        </p:spPr>
        <p:txBody>
          <a:bodyPr vert="horz" lIns="0" tIns="27425" rIns="0" bIns="27425" rtlCol="0" anchor="ctr" anchorCtr="0">
            <a:spAutoFit/>
          </a:bodyPr>
          <a:lstStyle>
            <a:lvl1pPr marL="0" indent="0" algn="l" defTabSz="914400" rtl="0" eaLnBrk="1" latinLnBrk="0" hangingPunct="1">
              <a:lnSpc>
                <a:spcPct val="100000"/>
              </a:lnSpc>
              <a:spcBef>
                <a:spcPts val="2000"/>
              </a:spcBef>
              <a:buClrTx/>
              <a:buSzPct val="100000"/>
              <a:buFont typeface="Arial" panose="020B0604020202020204" pitchFamily="34" charset="0"/>
              <a:buNone/>
              <a:defRPr lang="en-US" sz="900" kern="1200">
                <a:solidFill>
                  <a:schemeClr val="bg1">
                    <a:lumMod val="50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0"/>
              </a:spcBef>
              <a:defRPr/>
            </a:pPr>
            <a:r>
              <a:rPr lang="en-US" sz="1600" b="1">
                <a:solidFill>
                  <a:schemeClr val="accent6"/>
                </a:solidFill>
                <a:latin typeface="Arial" panose="020B0604020202020204"/>
              </a:rPr>
              <a:t>Anticipated Adoption</a:t>
            </a:r>
            <a:endParaRPr lang="en-US" sz="1600">
              <a:solidFill>
                <a:schemeClr val="accent6"/>
              </a:solidFill>
              <a:latin typeface="Arial" panose="020B0604020202020204"/>
            </a:endParaRPr>
          </a:p>
        </p:txBody>
      </p:sp>
      <p:pic>
        <p:nvPicPr>
          <p:cNvPr id="51" name="Picture 50" descr="A close up of a sign&#10;&#10;AI-generated content may be incorrect.">
            <a:extLst>
              <a:ext uri="{FF2B5EF4-FFF2-40B4-BE49-F238E27FC236}">
                <a16:creationId xmlns:a16="http://schemas.microsoft.com/office/drawing/2014/main" id="{EC8FC0FE-50D1-DCDE-0EE5-B0FD1960023C}"/>
              </a:ext>
            </a:extLst>
          </p:cNvPr>
          <p:cNvPicPr>
            <a:picLocks noChangeAspect="1"/>
          </p:cNvPicPr>
          <p:nvPr/>
        </p:nvPicPr>
        <p:blipFill>
          <a:blip r:embed="rId7"/>
          <a:stretch>
            <a:fillRect/>
          </a:stretch>
        </p:blipFill>
        <p:spPr>
          <a:xfrm>
            <a:off x="1142673" y="5257517"/>
            <a:ext cx="974548" cy="290945"/>
          </a:xfrm>
          <a:prstGeom prst="rect">
            <a:avLst/>
          </a:prstGeom>
        </p:spPr>
      </p:pic>
      <p:sp>
        <p:nvSpPr>
          <p:cNvPr id="4" name="Content Placeholder 1">
            <a:extLst>
              <a:ext uri="{FF2B5EF4-FFF2-40B4-BE49-F238E27FC236}">
                <a16:creationId xmlns:a16="http://schemas.microsoft.com/office/drawing/2014/main" id="{C46470AC-F23A-36EE-0F2B-200E9707A862}"/>
              </a:ext>
            </a:extLst>
          </p:cNvPr>
          <p:cNvSpPr txBox="1">
            <a:spLocks/>
          </p:cNvSpPr>
          <p:nvPr/>
        </p:nvSpPr>
        <p:spPr bwMode="gray">
          <a:xfrm>
            <a:off x="2604551" y="5035609"/>
            <a:ext cx="9152474" cy="1338780"/>
          </a:xfrm>
          <a:prstGeom prst="rect">
            <a:avLst/>
          </a:prstGeom>
          <a:ln w="6350">
            <a:noFill/>
          </a:ln>
        </p:spPr>
        <p:txBody>
          <a:bodyPr vert="horz" wrap="square" lIns="91416" tIns="91416" rIns="91416" bIns="91416" rtlCol="0" anchor="ctr" anchorCtr="0">
            <a:spAutoFit/>
          </a:bodyPr>
          <a:lstStyle>
            <a:lvl1pPr marL="0" indent="0" algn="l" defTabSz="914400" rtl="0" eaLnBrk="1" latinLnBrk="0" hangingPunct="1">
              <a:lnSpc>
                <a:spcPct val="100000"/>
              </a:lnSpc>
              <a:spcBef>
                <a:spcPts val="2000"/>
              </a:spcBef>
              <a:buClrTx/>
              <a:buSzPct val="100000"/>
              <a:buFont typeface="Arial" panose="020B0604020202020204" pitchFamily="34" charset="0"/>
              <a:buNone/>
              <a:defRPr lang="en-US" sz="900" kern="1200">
                <a:solidFill>
                  <a:schemeClr val="bg1">
                    <a:lumMod val="50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2986" lvl="2">
              <a:lnSpc>
                <a:spcPct val="100000"/>
              </a:lnSpc>
              <a:spcBef>
                <a:spcPts val="0"/>
              </a:spcBef>
              <a:spcAft>
                <a:spcPts val="600"/>
              </a:spcAft>
              <a:buClr>
                <a:schemeClr val="accent6"/>
              </a:buClr>
              <a:buSzPct val="100000"/>
              <a:defRPr/>
            </a:pPr>
            <a:r>
              <a:rPr lang="en-US" sz="1300" dirty="0">
                <a:solidFill>
                  <a:schemeClr val="tx1">
                    <a:lumMod val="65000"/>
                    <a:lumOff val="35000"/>
                  </a:schemeClr>
                </a:solidFill>
                <a:latin typeface="Arial" panose="020B0604020202020204"/>
              </a:rPr>
              <a:t>Expected near-term uptake of </a:t>
            </a:r>
            <a:r>
              <a:rPr lang="en-US" sz="1300" dirty="0" err="1">
                <a:solidFill>
                  <a:schemeClr val="tx1">
                    <a:lumMod val="65000"/>
                    <a:lumOff val="35000"/>
                  </a:schemeClr>
                </a:solidFill>
                <a:latin typeface="Arial" panose="020B0604020202020204"/>
              </a:rPr>
              <a:t>Penmenvy</a:t>
            </a:r>
            <a:r>
              <a:rPr lang="en-US" sz="1300" dirty="0">
                <a:solidFill>
                  <a:schemeClr val="tx1">
                    <a:lumMod val="65000"/>
                    <a:lumOff val="35000"/>
                  </a:schemeClr>
                </a:solidFill>
                <a:latin typeface="Arial" panose="020B0604020202020204"/>
              </a:rPr>
              <a:t> stock rises to 9% (from 3%) following </a:t>
            </a:r>
            <a:r>
              <a:rPr lang="en-US" sz="1300" dirty="0" err="1">
                <a:solidFill>
                  <a:schemeClr val="tx1">
                    <a:lumMod val="65000"/>
                    <a:lumOff val="35000"/>
                  </a:schemeClr>
                </a:solidFill>
                <a:latin typeface="Arial" panose="020B0604020202020204"/>
              </a:rPr>
              <a:t>Penmenvy’s</a:t>
            </a:r>
            <a:r>
              <a:rPr lang="en-US" sz="1300" dirty="0">
                <a:solidFill>
                  <a:schemeClr val="tx1">
                    <a:lumMod val="65000"/>
                    <a:lumOff val="35000"/>
                  </a:schemeClr>
                </a:solidFill>
                <a:latin typeface="Arial" panose="020B0604020202020204"/>
              </a:rPr>
              <a:t> TPP; notably, info that Bexsero now has the same dosing schedule as Trumenba does not impact future stocking expectations</a:t>
            </a:r>
          </a:p>
          <a:p>
            <a:pPr marL="172986" lvl="2">
              <a:lnSpc>
                <a:spcPct val="100000"/>
              </a:lnSpc>
              <a:spcBef>
                <a:spcPts val="0"/>
              </a:spcBef>
              <a:spcAft>
                <a:spcPts val="600"/>
              </a:spcAft>
              <a:buClr>
                <a:schemeClr val="accent6"/>
              </a:buClr>
              <a:buSzPct val="100000"/>
              <a:defRPr/>
            </a:pPr>
            <a:r>
              <a:rPr lang="en-US" sz="1300" dirty="0">
                <a:solidFill>
                  <a:schemeClr val="tx1">
                    <a:lumMod val="65000"/>
                    <a:lumOff val="35000"/>
                  </a:schemeClr>
                </a:solidFill>
                <a:latin typeface="Arial" panose="020B0604020202020204"/>
              </a:rPr>
              <a:t>Half of HCPs are unlikely to recommend one pentavalent over the other (largely due to non-superiority), while the other half are split between Penbraya and </a:t>
            </a:r>
            <a:r>
              <a:rPr lang="en-US" sz="1300" dirty="0" err="1">
                <a:solidFill>
                  <a:schemeClr val="tx1">
                    <a:lumMod val="65000"/>
                    <a:lumOff val="35000"/>
                  </a:schemeClr>
                </a:solidFill>
                <a:latin typeface="Arial" panose="020B0604020202020204"/>
              </a:rPr>
              <a:t>Penmenvy</a:t>
            </a:r>
            <a:r>
              <a:rPr lang="en-US" sz="1300" dirty="0">
                <a:solidFill>
                  <a:schemeClr val="tx1">
                    <a:lumMod val="65000"/>
                    <a:lumOff val="35000"/>
                  </a:schemeClr>
                </a:solidFill>
                <a:latin typeface="Arial" panose="020B0604020202020204"/>
              </a:rPr>
              <a:t> (largely due to their Men B Vx preference/stock)</a:t>
            </a:r>
          </a:p>
          <a:p>
            <a:pPr marL="172986" lvl="2">
              <a:lnSpc>
                <a:spcPct val="100000"/>
              </a:lnSpc>
              <a:spcBef>
                <a:spcPts val="0"/>
              </a:spcBef>
              <a:spcAft>
                <a:spcPts val="600"/>
              </a:spcAft>
              <a:buClr>
                <a:schemeClr val="accent6"/>
              </a:buClr>
              <a:buSzPct val="100000"/>
              <a:defRPr/>
            </a:pPr>
            <a:r>
              <a:rPr lang="en-US" sz="1300" dirty="0">
                <a:solidFill>
                  <a:schemeClr val="tx1">
                    <a:lumMod val="65000"/>
                    <a:lumOff val="35000"/>
                  </a:schemeClr>
                </a:solidFill>
                <a:latin typeface="Arial" panose="020B0604020202020204"/>
              </a:rPr>
              <a:t>However, preference would strongly shift toward </a:t>
            </a:r>
            <a:r>
              <a:rPr lang="en-US" sz="1300" dirty="0" err="1">
                <a:solidFill>
                  <a:schemeClr val="tx1">
                    <a:lumMod val="65000"/>
                    <a:lumOff val="35000"/>
                  </a:schemeClr>
                </a:solidFill>
                <a:latin typeface="Arial" panose="020B0604020202020204"/>
              </a:rPr>
              <a:t>Penmenvy</a:t>
            </a:r>
            <a:r>
              <a:rPr lang="en-US" sz="1300" dirty="0">
                <a:solidFill>
                  <a:schemeClr val="tx1">
                    <a:lumMod val="65000"/>
                    <a:lumOff val="35000"/>
                  </a:schemeClr>
                </a:solidFill>
                <a:latin typeface="Arial" panose="020B0604020202020204"/>
              </a:rPr>
              <a:t> if it offered cross-protection against N. gonorrhea infection</a:t>
            </a:r>
          </a:p>
        </p:txBody>
      </p:sp>
      <p:pic>
        <p:nvPicPr>
          <p:cNvPr id="9" name="Graphic 8">
            <a:extLst>
              <a:ext uri="{FF2B5EF4-FFF2-40B4-BE49-F238E27FC236}">
                <a16:creationId xmlns:a16="http://schemas.microsoft.com/office/drawing/2014/main" id="{DDEFC936-642B-BE1F-394B-47A50A458B64}"/>
              </a:ext>
            </a:extLst>
          </p:cNvPr>
          <p:cNvPicPr>
            <a:picLocks noChangeAspect="1"/>
          </p:cNvPicPr>
          <p:nvPr/>
        </p:nvPicPr>
        <p:blipFill>
          <a:blip r:embed="rId8">
            <a:extLst>
              <a:ext uri="{96DAC541-7B7A-43D3-8B79-37D633B846F1}">
                <asvg:svgBlip xmlns:asvg="http://schemas.microsoft.com/office/drawing/2016/SVG/main" r:embed="rId9"/>
              </a:ext>
            </a:extLst>
          </a:blip>
          <a:srcRect b="22622"/>
          <a:stretch>
            <a:fillRect/>
          </a:stretch>
        </p:blipFill>
        <p:spPr>
          <a:xfrm>
            <a:off x="461133" y="1113001"/>
            <a:ext cx="378056" cy="365665"/>
          </a:xfrm>
          <a:custGeom>
            <a:avLst/>
            <a:gdLst>
              <a:gd name="connsiteX0" fmla="*/ 0 w 952500"/>
              <a:gd name="connsiteY0" fmla="*/ 0 h 921278"/>
              <a:gd name="connsiteX1" fmla="*/ 952500 w 952500"/>
              <a:gd name="connsiteY1" fmla="*/ 0 h 921278"/>
              <a:gd name="connsiteX2" fmla="*/ 952500 w 952500"/>
              <a:gd name="connsiteY2" fmla="*/ 921278 h 921278"/>
              <a:gd name="connsiteX3" fmla="*/ 0 w 952500"/>
              <a:gd name="connsiteY3" fmla="*/ 921278 h 921278"/>
            </a:gdLst>
            <a:ahLst/>
            <a:cxnLst>
              <a:cxn ang="0">
                <a:pos x="connsiteX0" y="connsiteY0"/>
              </a:cxn>
              <a:cxn ang="0">
                <a:pos x="connsiteX1" y="connsiteY1"/>
              </a:cxn>
              <a:cxn ang="0">
                <a:pos x="connsiteX2" y="connsiteY2"/>
              </a:cxn>
              <a:cxn ang="0">
                <a:pos x="connsiteX3" y="connsiteY3"/>
              </a:cxn>
            </a:cxnLst>
            <a:rect l="l" t="t" r="r" b="b"/>
            <a:pathLst>
              <a:path w="952500" h="921278">
                <a:moveTo>
                  <a:pt x="0" y="0"/>
                </a:moveTo>
                <a:lnTo>
                  <a:pt x="952500" y="0"/>
                </a:lnTo>
                <a:lnTo>
                  <a:pt x="952500" y="921278"/>
                </a:lnTo>
                <a:lnTo>
                  <a:pt x="0" y="921278"/>
                </a:lnTo>
                <a:close/>
              </a:path>
            </a:pathLst>
          </a:custGeom>
        </p:spPr>
      </p:pic>
      <p:grpSp>
        <p:nvGrpSpPr>
          <p:cNvPr id="3" name="Group 2">
            <a:extLst>
              <a:ext uri="{FF2B5EF4-FFF2-40B4-BE49-F238E27FC236}">
                <a16:creationId xmlns:a16="http://schemas.microsoft.com/office/drawing/2014/main" id="{C1723FB8-C6A5-BDA5-EBB4-4C7B28CF2FAC}"/>
              </a:ext>
            </a:extLst>
          </p:cNvPr>
          <p:cNvGrpSpPr/>
          <p:nvPr/>
        </p:nvGrpSpPr>
        <p:grpSpPr>
          <a:xfrm>
            <a:off x="398267" y="5334453"/>
            <a:ext cx="502789" cy="502789"/>
            <a:chOff x="132789" y="4850278"/>
            <a:chExt cx="502920" cy="502920"/>
          </a:xfrm>
          <a:solidFill>
            <a:schemeClr val="accent6"/>
          </a:solidFill>
        </p:grpSpPr>
        <p:sp>
          <p:nvSpPr>
            <p:cNvPr id="7" name="Oval 6">
              <a:extLst>
                <a:ext uri="{FF2B5EF4-FFF2-40B4-BE49-F238E27FC236}">
                  <a16:creationId xmlns:a16="http://schemas.microsoft.com/office/drawing/2014/main" id="{047E44A6-85D0-4724-A975-54449A186F0F}"/>
                </a:ext>
              </a:extLst>
            </p:cNvPr>
            <p:cNvSpPr>
              <a:spLocks noChangeAspect="1"/>
            </p:cNvSpPr>
            <p:nvPr/>
          </p:nvSpPr>
          <p:spPr bwMode="gray">
            <a:xfrm>
              <a:off x="132789" y="4850278"/>
              <a:ext cx="502920" cy="502920"/>
            </a:xfrm>
            <a:prstGeom prst="ellipse">
              <a:avLst/>
            </a:prstGeom>
            <a:grp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pic>
          <p:nvPicPr>
            <p:cNvPr id="12" name="Graphic 11">
              <a:extLst>
                <a:ext uri="{FF2B5EF4-FFF2-40B4-BE49-F238E27FC236}">
                  <a16:creationId xmlns:a16="http://schemas.microsoft.com/office/drawing/2014/main" id="{C7093EF8-8109-6522-7155-A08F38ED7472}"/>
                </a:ext>
              </a:extLst>
            </p:cNvPr>
            <p:cNvPicPr>
              <a:picLocks noChangeAspect="1"/>
            </p:cNvPicPr>
            <p:nvPr/>
          </p:nvPicPr>
          <p:blipFill>
            <a:blip r:embed="rId3">
              <a:extLst>
                <a:ext uri="{96DAC541-7B7A-43D3-8B79-37D633B846F1}">
                  <asvg:svgBlip xmlns:asvg="http://schemas.microsoft.com/office/drawing/2016/SVG/main" r:embed="rId10"/>
                </a:ext>
              </a:extLst>
            </a:blip>
            <a:srcRect b="20444"/>
            <a:stretch>
              <a:fillRect/>
            </a:stretch>
          </p:blipFill>
          <p:spPr>
            <a:xfrm>
              <a:off x="226043" y="4933441"/>
              <a:ext cx="321827" cy="320040"/>
            </a:xfrm>
            <a:custGeom>
              <a:avLst/>
              <a:gdLst>
                <a:gd name="connsiteX0" fmla="*/ 0 w 914400"/>
                <a:gd name="connsiteY0" fmla="*/ 0 h 909320"/>
                <a:gd name="connsiteX1" fmla="*/ 914400 w 914400"/>
                <a:gd name="connsiteY1" fmla="*/ 0 h 909320"/>
                <a:gd name="connsiteX2" fmla="*/ 914400 w 914400"/>
                <a:gd name="connsiteY2" fmla="*/ 909320 h 909320"/>
                <a:gd name="connsiteX3" fmla="*/ 0 w 914400"/>
                <a:gd name="connsiteY3" fmla="*/ 909320 h 909320"/>
              </a:gdLst>
              <a:ahLst/>
              <a:cxnLst>
                <a:cxn ang="0">
                  <a:pos x="connsiteX0" y="connsiteY0"/>
                </a:cxn>
                <a:cxn ang="0">
                  <a:pos x="connsiteX1" y="connsiteY1"/>
                </a:cxn>
                <a:cxn ang="0">
                  <a:pos x="connsiteX2" y="connsiteY2"/>
                </a:cxn>
                <a:cxn ang="0">
                  <a:pos x="connsiteX3" y="connsiteY3"/>
                </a:cxn>
              </a:cxnLst>
              <a:rect l="l" t="t" r="r" b="b"/>
              <a:pathLst>
                <a:path w="914400" h="909320">
                  <a:moveTo>
                    <a:pt x="0" y="0"/>
                  </a:moveTo>
                  <a:lnTo>
                    <a:pt x="914400" y="0"/>
                  </a:lnTo>
                  <a:lnTo>
                    <a:pt x="914400" y="909320"/>
                  </a:lnTo>
                  <a:lnTo>
                    <a:pt x="0" y="909320"/>
                  </a:lnTo>
                  <a:close/>
                </a:path>
              </a:pathLst>
            </a:custGeom>
          </p:spPr>
        </p:pic>
      </p:grpSp>
    </p:spTree>
    <p:extLst>
      <p:ext uri="{BB962C8B-B14F-4D97-AF65-F5344CB8AC3E}">
        <p14:creationId xmlns:p14="http://schemas.microsoft.com/office/powerpoint/2010/main" val="166256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E43E-0352-FE8A-AA8E-51E04489C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6796B-81DB-DB13-6A15-E41CD22902AE}"/>
              </a:ext>
            </a:extLst>
          </p:cNvPr>
          <p:cNvSpPr>
            <a:spLocks noGrp="1"/>
          </p:cNvSpPr>
          <p:nvPr>
            <p:ph type="title"/>
          </p:nvPr>
        </p:nvSpPr>
        <p:spPr>
          <a:xfrm>
            <a:off x="1102163" y="177905"/>
            <a:ext cx="10584433" cy="461425"/>
          </a:xfrm>
        </p:spPr>
        <p:txBody>
          <a:bodyPr/>
          <a:lstStyle/>
          <a:p>
            <a:r>
              <a:rPr lang="en-US" sz="2800"/>
              <a:t>Summary and Implications</a:t>
            </a:r>
          </a:p>
        </p:txBody>
      </p:sp>
      <p:sp>
        <p:nvSpPr>
          <p:cNvPr id="6" name="Rectangle 5">
            <a:extLst>
              <a:ext uri="{FF2B5EF4-FFF2-40B4-BE49-F238E27FC236}">
                <a16:creationId xmlns:a16="http://schemas.microsoft.com/office/drawing/2014/main" id="{967AA15A-E836-3AB1-A63A-7E074B05B829}"/>
              </a:ext>
            </a:extLst>
          </p:cNvPr>
          <p:cNvSpPr/>
          <p:nvPr/>
        </p:nvSpPr>
        <p:spPr>
          <a:xfrm>
            <a:off x="7820121" y="1015532"/>
            <a:ext cx="4215946" cy="5751027"/>
          </a:xfrm>
          <a:prstGeom prst="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179671" tIns="179671" rIns="179671" bIns="179671" rtlCol="0" anchor="t"/>
          <a:lstStyle/>
          <a:p>
            <a:pPr algn="ctr" defTabSz="913578"/>
            <a:endParaRPr lang="en-US" sz="1993">
              <a:solidFill>
                <a:srgbClr val="FFFFFF"/>
              </a:solidFill>
              <a:latin typeface="Arial" panose="020B0604020202020204"/>
            </a:endParaRPr>
          </a:p>
        </p:txBody>
      </p:sp>
      <p:sp>
        <p:nvSpPr>
          <p:cNvPr id="7" name="Rectangle 6">
            <a:extLst>
              <a:ext uri="{FF2B5EF4-FFF2-40B4-BE49-F238E27FC236}">
                <a16:creationId xmlns:a16="http://schemas.microsoft.com/office/drawing/2014/main" id="{109E1311-C46C-3D7D-43B2-85668BE48859}"/>
              </a:ext>
            </a:extLst>
          </p:cNvPr>
          <p:cNvSpPr/>
          <p:nvPr/>
        </p:nvSpPr>
        <p:spPr>
          <a:xfrm>
            <a:off x="155338" y="1015532"/>
            <a:ext cx="3617326" cy="575102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79671" tIns="179671" rIns="179671" bIns="179671" rtlCol="0" anchor="t"/>
          <a:lstStyle/>
          <a:p>
            <a:pPr algn="ctr" defTabSz="913578"/>
            <a:endParaRPr lang="en-US" sz="1798">
              <a:solidFill>
                <a:srgbClr val="FFFFFF"/>
              </a:solidFill>
              <a:latin typeface="Arial" panose="020B0604020202020204"/>
            </a:endParaRPr>
          </a:p>
        </p:txBody>
      </p:sp>
      <p:sp>
        <p:nvSpPr>
          <p:cNvPr id="8" name="Text Box 6">
            <a:extLst>
              <a:ext uri="{FF2B5EF4-FFF2-40B4-BE49-F238E27FC236}">
                <a16:creationId xmlns:a16="http://schemas.microsoft.com/office/drawing/2014/main" id="{EABD791E-3555-8877-2178-BEADD94B38FF}"/>
              </a:ext>
            </a:extLst>
          </p:cNvPr>
          <p:cNvSpPr txBox="1">
            <a:spLocks noChangeArrowheads="1"/>
          </p:cNvSpPr>
          <p:nvPr/>
        </p:nvSpPr>
        <p:spPr bwMode="auto">
          <a:xfrm>
            <a:off x="126100" y="1315513"/>
            <a:ext cx="3484469" cy="4862398"/>
          </a:xfrm>
          <a:prstGeom prst="rect">
            <a:avLst/>
          </a:prstGeom>
          <a:noFill/>
          <a:ln w="9525">
            <a:noFill/>
            <a:miter lim="800000"/>
            <a:headEnd/>
            <a:tailEnd/>
          </a:ln>
        </p:spPr>
        <p:txBody>
          <a:bodyPr lIns="0" tIns="42921" rIns="0" bIns="42921" anchor="t" anchorCtr="0"/>
          <a:lstStyle/>
          <a:p>
            <a:pPr marL="398292" indent="-285750" defTabSz="913578">
              <a:lnSpc>
                <a:spcPct val="95000"/>
              </a:lnSpc>
              <a:spcBef>
                <a:spcPts val="1200"/>
              </a:spcBef>
              <a:buClr>
                <a:srgbClr val="0095FF"/>
              </a:buClr>
              <a:buSzPct val="120000"/>
              <a:buFont typeface="Wingdings" panose="05000000000000000000" pitchFamily="2" charset="2"/>
              <a:buChar char="ü"/>
            </a:pPr>
            <a:r>
              <a:rPr lang="en-US" sz="1300" dirty="0">
                <a:solidFill>
                  <a:srgbClr val="000000">
                    <a:lumMod val="65000"/>
                    <a:lumOff val="35000"/>
                  </a:srgbClr>
                </a:solidFill>
                <a:latin typeface="Arial" panose="020B0604020202020204"/>
              </a:rPr>
              <a:t>Penbraya awareness remains higher than </a:t>
            </a:r>
            <a:r>
              <a:rPr lang="en-US" sz="1300" dirty="0" err="1">
                <a:solidFill>
                  <a:srgbClr val="000000">
                    <a:lumMod val="65000"/>
                    <a:lumOff val="35000"/>
                  </a:srgbClr>
                </a:solidFill>
                <a:latin typeface="Arial" panose="020B0604020202020204"/>
              </a:rPr>
              <a:t>Penmenvy</a:t>
            </a:r>
            <a:r>
              <a:rPr lang="en-US" sz="1300" dirty="0">
                <a:solidFill>
                  <a:srgbClr val="000000">
                    <a:lumMod val="65000"/>
                    <a:lumOff val="35000"/>
                  </a:srgbClr>
                </a:solidFill>
                <a:latin typeface="Arial" panose="020B0604020202020204"/>
              </a:rPr>
              <a:t>, particularly among PEDs; unaided Penbraya is mentioned ~2x more than </a:t>
            </a:r>
            <a:r>
              <a:rPr lang="en-US" sz="1300" dirty="0" err="1">
                <a:solidFill>
                  <a:srgbClr val="000000">
                    <a:lumMod val="65000"/>
                    <a:lumOff val="35000"/>
                  </a:srgbClr>
                </a:solidFill>
                <a:latin typeface="Arial" panose="020B0604020202020204"/>
              </a:rPr>
              <a:t>Penmenvy</a:t>
            </a:r>
            <a:endParaRPr lang="en-US" sz="1300" dirty="0">
              <a:solidFill>
                <a:srgbClr val="000000">
                  <a:lumMod val="65000"/>
                  <a:lumOff val="35000"/>
                </a:srgbClr>
              </a:solidFill>
              <a:latin typeface="Arial" panose="020B0604020202020204"/>
            </a:endParaRPr>
          </a:p>
          <a:p>
            <a:pPr marL="398292" indent="-285750" defTabSz="913578">
              <a:lnSpc>
                <a:spcPct val="95000"/>
              </a:lnSpc>
              <a:spcBef>
                <a:spcPts val="1200"/>
              </a:spcBef>
              <a:buClr>
                <a:srgbClr val="0095FF"/>
              </a:buClr>
              <a:buSzPct val="120000"/>
              <a:buFont typeface="Wingdings" panose="05000000000000000000" pitchFamily="2" charset="2"/>
              <a:buChar char="ü"/>
            </a:pPr>
            <a:r>
              <a:rPr lang="en-US" sz="1300" dirty="0">
                <a:solidFill>
                  <a:srgbClr val="000000">
                    <a:lumMod val="65000"/>
                    <a:lumOff val="35000"/>
                  </a:srgbClr>
                </a:solidFill>
                <a:latin typeface="Arial" panose="020B0604020202020204"/>
              </a:rPr>
              <a:t>HCPs view Penbraya as effective and safe with some citing there is more data for long term immunity - clear clinical advantages vs. </a:t>
            </a:r>
            <a:r>
              <a:rPr lang="en-US" sz="1300" dirty="0" err="1">
                <a:solidFill>
                  <a:srgbClr val="000000">
                    <a:lumMod val="65000"/>
                    <a:lumOff val="35000"/>
                  </a:srgbClr>
                </a:solidFill>
                <a:latin typeface="Arial" panose="020B0604020202020204"/>
              </a:rPr>
              <a:t>Penmenvy</a:t>
            </a:r>
            <a:r>
              <a:rPr lang="en-US" sz="1300" dirty="0">
                <a:solidFill>
                  <a:srgbClr val="000000">
                    <a:lumMod val="65000"/>
                    <a:lumOff val="35000"/>
                  </a:srgbClr>
                </a:solidFill>
                <a:latin typeface="Arial" panose="020B0604020202020204"/>
              </a:rPr>
              <a:t>, supporting positive perception</a:t>
            </a:r>
          </a:p>
          <a:p>
            <a:pPr marL="398292" indent="-285750" defTabSz="913578">
              <a:lnSpc>
                <a:spcPct val="95000"/>
              </a:lnSpc>
              <a:spcBef>
                <a:spcPts val="1200"/>
              </a:spcBef>
              <a:buClr>
                <a:srgbClr val="0095FF"/>
              </a:buClr>
              <a:buSzPct val="120000"/>
              <a:buFont typeface="Wingdings" panose="05000000000000000000" pitchFamily="2" charset="2"/>
              <a:buChar char="ü"/>
            </a:pPr>
            <a:r>
              <a:rPr lang="en-US" sz="1300" dirty="0">
                <a:solidFill>
                  <a:srgbClr val="000000">
                    <a:lumMod val="65000"/>
                    <a:lumOff val="35000"/>
                  </a:srgbClr>
                </a:solidFill>
                <a:latin typeface="Arial" panose="020B0604020202020204"/>
              </a:rPr>
              <a:t>Existing Trumenba familiarity and experience create a strong foundation for transitioning practices toward Penbraya, as dosing principles are well understood</a:t>
            </a:r>
          </a:p>
          <a:p>
            <a:pPr marL="398292" indent="-285750" defTabSz="913578">
              <a:lnSpc>
                <a:spcPct val="95000"/>
              </a:lnSpc>
              <a:spcBef>
                <a:spcPts val="1200"/>
              </a:spcBef>
              <a:buClr>
                <a:srgbClr val="0095FF"/>
              </a:buClr>
              <a:buSzPct val="120000"/>
              <a:buFont typeface="Wingdings" panose="05000000000000000000" pitchFamily="2" charset="2"/>
              <a:buChar char="ü"/>
            </a:pPr>
            <a:r>
              <a:rPr lang="en-US" sz="1300" dirty="0">
                <a:solidFill>
                  <a:srgbClr val="000000">
                    <a:lumMod val="65000"/>
                    <a:lumOff val="35000"/>
                  </a:srgbClr>
                </a:solidFill>
                <a:latin typeface="Arial" panose="020B0604020202020204"/>
              </a:rPr>
              <a:t>PCPs show the strongest intent to stock and recommend Penbraya, citing fewer stocking barriers and greater openness to updating vaccination protocols</a:t>
            </a:r>
          </a:p>
          <a:p>
            <a:pPr marL="398292" indent="-285750" defTabSz="913578">
              <a:lnSpc>
                <a:spcPct val="95000"/>
              </a:lnSpc>
              <a:spcBef>
                <a:spcPts val="1200"/>
              </a:spcBef>
              <a:buClr>
                <a:srgbClr val="0095FF"/>
              </a:buClr>
              <a:buSzPct val="120000"/>
              <a:buFont typeface="Wingdings" panose="05000000000000000000" pitchFamily="2" charset="2"/>
              <a:buChar char="ü"/>
            </a:pPr>
            <a:r>
              <a:rPr lang="en-US" sz="1300" dirty="0">
                <a:solidFill>
                  <a:srgbClr val="000000">
                    <a:lumMod val="65000"/>
                    <a:lumOff val="35000"/>
                  </a:srgbClr>
                </a:solidFill>
                <a:latin typeface="Arial" panose="020B0604020202020204"/>
              </a:rPr>
              <a:t>Safety and tolerability confidence for Penbraya remains high, comparable to Trumenba, reinforcing trust in the Pfizer’s meningococcal vaccine portfolio</a:t>
            </a:r>
          </a:p>
        </p:txBody>
      </p:sp>
      <p:sp>
        <p:nvSpPr>
          <p:cNvPr id="9" name="Rectangle 8">
            <a:extLst>
              <a:ext uri="{FF2B5EF4-FFF2-40B4-BE49-F238E27FC236}">
                <a16:creationId xmlns:a16="http://schemas.microsoft.com/office/drawing/2014/main" id="{19250746-9F7F-9E8D-FD52-BEB250B44E73}"/>
              </a:ext>
            </a:extLst>
          </p:cNvPr>
          <p:cNvSpPr/>
          <p:nvPr/>
        </p:nvSpPr>
        <p:spPr>
          <a:xfrm>
            <a:off x="3926048" y="1015532"/>
            <a:ext cx="3736525" cy="5751027"/>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79671" tIns="179671" rIns="179671" bIns="179671" rtlCol="0" anchor="t"/>
          <a:lstStyle/>
          <a:p>
            <a:pPr algn="ctr" defTabSz="913578"/>
            <a:endParaRPr lang="en-US" sz="1993">
              <a:solidFill>
                <a:srgbClr val="FFFFFF"/>
              </a:solidFill>
              <a:latin typeface="Arial" panose="020B0604020202020204"/>
            </a:endParaRPr>
          </a:p>
        </p:txBody>
      </p:sp>
      <p:grpSp>
        <p:nvGrpSpPr>
          <p:cNvPr id="12" name="Group 11">
            <a:extLst>
              <a:ext uri="{FF2B5EF4-FFF2-40B4-BE49-F238E27FC236}">
                <a16:creationId xmlns:a16="http://schemas.microsoft.com/office/drawing/2014/main" id="{BD4539B8-DD40-972A-515B-916C6F2AA78E}"/>
              </a:ext>
            </a:extLst>
          </p:cNvPr>
          <p:cNvGrpSpPr/>
          <p:nvPr/>
        </p:nvGrpSpPr>
        <p:grpSpPr>
          <a:xfrm>
            <a:off x="3916804" y="807671"/>
            <a:ext cx="3765690" cy="496932"/>
            <a:chOff x="4690285" y="459747"/>
            <a:chExt cx="3796929" cy="497840"/>
          </a:xfrm>
        </p:grpSpPr>
        <p:sp>
          <p:nvSpPr>
            <p:cNvPr id="13" name="Freeform 46">
              <a:extLst>
                <a:ext uri="{FF2B5EF4-FFF2-40B4-BE49-F238E27FC236}">
                  <a16:creationId xmlns:a16="http://schemas.microsoft.com/office/drawing/2014/main" id="{0BE22D2F-AC69-9F29-ADA0-5FB16E1FB155}"/>
                </a:ext>
              </a:extLst>
            </p:cNvPr>
            <p:cNvSpPr/>
            <p:nvPr/>
          </p:nvSpPr>
          <p:spPr bwMode="auto">
            <a:xfrm>
              <a:off x="4690285" y="459747"/>
              <a:ext cx="182880" cy="143510"/>
            </a:xfrm>
            <a:custGeom>
              <a:avLst/>
              <a:gdLst>
                <a:gd name="connsiteX0" fmla="*/ 182880 w 205740"/>
                <a:gd name="connsiteY0" fmla="*/ 0 h 160020"/>
                <a:gd name="connsiteX1" fmla="*/ 0 w 205740"/>
                <a:gd name="connsiteY1" fmla="*/ 160020 h 160020"/>
                <a:gd name="connsiteX2" fmla="*/ 205740 w 205740"/>
                <a:gd name="connsiteY2" fmla="*/ 160020 h 160020"/>
                <a:gd name="connsiteX3" fmla="*/ 182880 w 205740"/>
                <a:gd name="connsiteY3" fmla="*/ 0 h 160020"/>
                <a:gd name="connsiteX0" fmla="*/ 197168 w 205740"/>
                <a:gd name="connsiteY0" fmla="*/ 0 h 162402"/>
                <a:gd name="connsiteX1" fmla="*/ 0 w 205740"/>
                <a:gd name="connsiteY1" fmla="*/ 162402 h 162402"/>
                <a:gd name="connsiteX2" fmla="*/ 205740 w 205740"/>
                <a:gd name="connsiteY2" fmla="*/ 162402 h 162402"/>
                <a:gd name="connsiteX3" fmla="*/ 197168 w 205740"/>
                <a:gd name="connsiteY3" fmla="*/ 0 h 162402"/>
                <a:gd name="connsiteX0" fmla="*/ 197168 w 197168"/>
                <a:gd name="connsiteY0" fmla="*/ 0 h 169546"/>
                <a:gd name="connsiteX1" fmla="*/ 0 w 197168"/>
                <a:gd name="connsiteY1" fmla="*/ 162402 h 169546"/>
                <a:gd name="connsiteX2" fmla="*/ 193834 w 197168"/>
                <a:gd name="connsiteY2" fmla="*/ 169546 h 169546"/>
                <a:gd name="connsiteX3" fmla="*/ 197168 w 197168"/>
                <a:gd name="connsiteY3" fmla="*/ 0 h 169546"/>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6429"/>
                <a:gd name="connsiteY0" fmla="*/ 0 h 174308"/>
                <a:gd name="connsiteX1" fmla="*/ 0 w 196429"/>
                <a:gd name="connsiteY1" fmla="*/ 174308 h 174308"/>
                <a:gd name="connsiteX2" fmla="*/ 196216 w 196429"/>
                <a:gd name="connsiteY2" fmla="*/ 174308 h 174308"/>
                <a:gd name="connsiteX3" fmla="*/ 194787 w 196429"/>
                <a:gd name="connsiteY3" fmla="*/ 0 h 174308"/>
              </a:gdLst>
              <a:ahLst/>
              <a:cxnLst>
                <a:cxn ang="0">
                  <a:pos x="connsiteX0" y="connsiteY0"/>
                </a:cxn>
                <a:cxn ang="0">
                  <a:pos x="connsiteX1" y="connsiteY1"/>
                </a:cxn>
                <a:cxn ang="0">
                  <a:pos x="connsiteX2" y="connsiteY2"/>
                </a:cxn>
                <a:cxn ang="0">
                  <a:pos x="connsiteX3" y="connsiteY3"/>
                </a:cxn>
              </a:cxnLst>
              <a:rect l="l" t="t" r="r" b="b"/>
              <a:pathLst>
                <a:path w="196429" h="174308">
                  <a:moveTo>
                    <a:pt x="194787" y="0"/>
                  </a:moveTo>
                  <a:cubicBezTo>
                    <a:pt x="122714" y="41434"/>
                    <a:pt x="53023" y="82867"/>
                    <a:pt x="0" y="174308"/>
                  </a:cubicBezTo>
                  <a:lnTo>
                    <a:pt x="196216" y="174308"/>
                  </a:lnTo>
                  <a:cubicBezTo>
                    <a:pt x="197327" y="117793"/>
                    <a:pt x="193676" y="56515"/>
                    <a:pt x="194787" y="0"/>
                  </a:cubicBezTo>
                  <a:close/>
                </a:path>
              </a:pathLst>
            </a:custGeom>
            <a:solidFill>
              <a:schemeClr val="accent4">
                <a:lumMod val="7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14" name="Freeform 47">
              <a:extLst>
                <a:ext uri="{FF2B5EF4-FFF2-40B4-BE49-F238E27FC236}">
                  <a16:creationId xmlns:a16="http://schemas.microsoft.com/office/drawing/2014/main" id="{B20B8DCE-F489-40E0-A326-0A7E0D747AFD}"/>
                </a:ext>
              </a:extLst>
            </p:cNvPr>
            <p:cNvSpPr/>
            <p:nvPr/>
          </p:nvSpPr>
          <p:spPr bwMode="auto">
            <a:xfrm flipH="1">
              <a:off x="8304334" y="459747"/>
              <a:ext cx="182880" cy="143510"/>
            </a:xfrm>
            <a:custGeom>
              <a:avLst/>
              <a:gdLst>
                <a:gd name="connsiteX0" fmla="*/ 182880 w 205740"/>
                <a:gd name="connsiteY0" fmla="*/ 0 h 160020"/>
                <a:gd name="connsiteX1" fmla="*/ 0 w 205740"/>
                <a:gd name="connsiteY1" fmla="*/ 160020 h 160020"/>
                <a:gd name="connsiteX2" fmla="*/ 205740 w 205740"/>
                <a:gd name="connsiteY2" fmla="*/ 160020 h 160020"/>
                <a:gd name="connsiteX3" fmla="*/ 182880 w 205740"/>
                <a:gd name="connsiteY3" fmla="*/ 0 h 160020"/>
                <a:gd name="connsiteX0" fmla="*/ 197168 w 205740"/>
                <a:gd name="connsiteY0" fmla="*/ 0 h 162402"/>
                <a:gd name="connsiteX1" fmla="*/ 0 w 205740"/>
                <a:gd name="connsiteY1" fmla="*/ 162402 h 162402"/>
                <a:gd name="connsiteX2" fmla="*/ 205740 w 205740"/>
                <a:gd name="connsiteY2" fmla="*/ 162402 h 162402"/>
                <a:gd name="connsiteX3" fmla="*/ 197168 w 205740"/>
                <a:gd name="connsiteY3" fmla="*/ 0 h 162402"/>
                <a:gd name="connsiteX0" fmla="*/ 197168 w 197168"/>
                <a:gd name="connsiteY0" fmla="*/ 0 h 169546"/>
                <a:gd name="connsiteX1" fmla="*/ 0 w 197168"/>
                <a:gd name="connsiteY1" fmla="*/ 162402 h 169546"/>
                <a:gd name="connsiteX2" fmla="*/ 193834 w 197168"/>
                <a:gd name="connsiteY2" fmla="*/ 169546 h 169546"/>
                <a:gd name="connsiteX3" fmla="*/ 197168 w 197168"/>
                <a:gd name="connsiteY3" fmla="*/ 0 h 169546"/>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6429"/>
                <a:gd name="connsiteY0" fmla="*/ 0 h 174308"/>
                <a:gd name="connsiteX1" fmla="*/ 0 w 196429"/>
                <a:gd name="connsiteY1" fmla="*/ 174308 h 174308"/>
                <a:gd name="connsiteX2" fmla="*/ 196216 w 196429"/>
                <a:gd name="connsiteY2" fmla="*/ 174308 h 174308"/>
                <a:gd name="connsiteX3" fmla="*/ 194787 w 196429"/>
                <a:gd name="connsiteY3" fmla="*/ 0 h 174308"/>
              </a:gdLst>
              <a:ahLst/>
              <a:cxnLst>
                <a:cxn ang="0">
                  <a:pos x="connsiteX0" y="connsiteY0"/>
                </a:cxn>
                <a:cxn ang="0">
                  <a:pos x="connsiteX1" y="connsiteY1"/>
                </a:cxn>
                <a:cxn ang="0">
                  <a:pos x="connsiteX2" y="connsiteY2"/>
                </a:cxn>
                <a:cxn ang="0">
                  <a:pos x="connsiteX3" y="connsiteY3"/>
                </a:cxn>
              </a:cxnLst>
              <a:rect l="l" t="t" r="r" b="b"/>
              <a:pathLst>
                <a:path w="196429" h="174308">
                  <a:moveTo>
                    <a:pt x="194787" y="0"/>
                  </a:moveTo>
                  <a:cubicBezTo>
                    <a:pt x="122714" y="41434"/>
                    <a:pt x="53023" y="82867"/>
                    <a:pt x="0" y="174308"/>
                  </a:cubicBezTo>
                  <a:lnTo>
                    <a:pt x="196216" y="174308"/>
                  </a:lnTo>
                  <a:cubicBezTo>
                    <a:pt x="197327" y="117793"/>
                    <a:pt x="193676" y="56515"/>
                    <a:pt x="194787" y="0"/>
                  </a:cubicBezTo>
                  <a:close/>
                </a:path>
              </a:pathLst>
            </a:custGeom>
            <a:solidFill>
              <a:schemeClr val="accent4">
                <a:lumMod val="7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16" name="Rectangle 8">
              <a:extLst>
                <a:ext uri="{FF2B5EF4-FFF2-40B4-BE49-F238E27FC236}">
                  <a16:creationId xmlns:a16="http://schemas.microsoft.com/office/drawing/2014/main" id="{F2097D03-08E4-7C92-4776-AFF5C150DA6F}"/>
                </a:ext>
              </a:extLst>
            </p:cNvPr>
            <p:cNvSpPr/>
            <p:nvPr/>
          </p:nvSpPr>
          <p:spPr bwMode="auto">
            <a:xfrm>
              <a:off x="4862550" y="459747"/>
              <a:ext cx="3441784" cy="497840"/>
            </a:xfrm>
            <a:custGeom>
              <a:avLst/>
              <a:gdLst>
                <a:gd name="connsiteX0" fmla="*/ 0 w 2098834"/>
                <a:gd name="connsiteY0" fmla="*/ 0 h 595313"/>
                <a:gd name="connsiteX1" fmla="*/ 2098834 w 2098834"/>
                <a:gd name="connsiteY1" fmla="*/ 0 h 595313"/>
                <a:gd name="connsiteX2" fmla="*/ 2098834 w 2098834"/>
                <a:gd name="connsiteY2" fmla="*/ 595313 h 595313"/>
                <a:gd name="connsiteX3" fmla="*/ 0 w 2098834"/>
                <a:gd name="connsiteY3" fmla="*/ 595313 h 595313"/>
                <a:gd name="connsiteX4" fmla="*/ 0 w 2098834"/>
                <a:gd name="connsiteY4" fmla="*/ 0 h 595313"/>
                <a:gd name="connsiteX0" fmla="*/ 0 w 2098834"/>
                <a:gd name="connsiteY0" fmla="*/ 0 h 596901"/>
                <a:gd name="connsiteX1" fmla="*/ 2098834 w 2098834"/>
                <a:gd name="connsiteY1" fmla="*/ 0 h 596901"/>
                <a:gd name="connsiteX2" fmla="*/ 2098834 w 2098834"/>
                <a:gd name="connsiteY2" fmla="*/ 595313 h 596901"/>
                <a:gd name="connsiteX3" fmla="*/ 1023144 w 2098834"/>
                <a:gd name="connsiteY3" fmla="*/ 596901 h 596901"/>
                <a:gd name="connsiteX4" fmla="*/ 0 w 2098834"/>
                <a:gd name="connsiteY4" fmla="*/ 595313 h 596901"/>
                <a:gd name="connsiteX5" fmla="*/ 0 w 2098834"/>
                <a:gd name="connsiteY5" fmla="*/ 0 h 59690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8834" h="819151">
                  <a:moveTo>
                    <a:pt x="0" y="0"/>
                  </a:moveTo>
                  <a:lnTo>
                    <a:pt x="2098834" y="0"/>
                  </a:lnTo>
                  <a:lnTo>
                    <a:pt x="2098834" y="595313"/>
                  </a:lnTo>
                  <a:cubicBezTo>
                    <a:pt x="1748737" y="669926"/>
                    <a:pt x="1420072" y="782638"/>
                    <a:pt x="1048544" y="819151"/>
                  </a:cubicBezTo>
                  <a:cubicBezTo>
                    <a:pt x="644260" y="763588"/>
                    <a:pt x="349515" y="669926"/>
                    <a:pt x="0" y="595313"/>
                  </a:cubicBezTo>
                  <a:lnTo>
                    <a:pt x="0" y="0"/>
                  </a:lnTo>
                  <a:close/>
                </a:path>
              </a:pathLst>
            </a:custGeom>
            <a:solidFill>
              <a:schemeClr val="accent4"/>
            </a:solidFill>
            <a:ln>
              <a:noFill/>
              <a:headEnd/>
              <a:tailEnd/>
            </a:ln>
            <a:effectLst>
              <a:outerShdw blurRad="50800" dist="38100" dir="5400000" algn="t" rotWithShape="0">
                <a:prstClr val="black">
                  <a:alpha val="24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17" name="Rectangle 8">
              <a:extLst>
                <a:ext uri="{FF2B5EF4-FFF2-40B4-BE49-F238E27FC236}">
                  <a16:creationId xmlns:a16="http://schemas.microsoft.com/office/drawing/2014/main" id="{1951E6D2-59E8-39D1-306D-50BBE71B0C77}"/>
                </a:ext>
              </a:extLst>
            </p:cNvPr>
            <p:cNvSpPr/>
            <p:nvPr/>
          </p:nvSpPr>
          <p:spPr bwMode="auto">
            <a:xfrm flipH="1">
              <a:off x="4867520" y="460822"/>
              <a:ext cx="3441784" cy="361801"/>
            </a:xfrm>
            <a:custGeom>
              <a:avLst/>
              <a:gdLst>
                <a:gd name="connsiteX0" fmla="*/ 0 w 2098834"/>
                <a:gd name="connsiteY0" fmla="*/ 0 h 595313"/>
                <a:gd name="connsiteX1" fmla="*/ 2098834 w 2098834"/>
                <a:gd name="connsiteY1" fmla="*/ 0 h 595313"/>
                <a:gd name="connsiteX2" fmla="*/ 2098834 w 2098834"/>
                <a:gd name="connsiteY2" fmla="*/ 595313 h 595313"/>
                <a:gd name="connsiteX3" fmla="*/ 0 w 2098834"/>
                <a:gd name="connsiteY3" fmla="*/ 595313 h 595313"/>
                <a:gd name="connsiteX4" fmla="*/ 0 w 2098834"/>
                <a:gd name="connsiteY4" fmla="*/ 0 h 595313"/>
                <a:gd name="connsiteX0" fmla="*/ 0 w 2098834"/>
                <a:gd name="connsiteY0" fmla="*/ 0 h 596901"/>
                <a:gd name="connsiteX1" fmla="*/ 2098834 w 2098834"/>
                <a:gd name="connsiteY1" fmla="*/ 0 h 596901"/>
                <a:gd name="connsiteX2" fmla="*/ 2098834 w 2098834"/>
                <a:gd name="connsiteY2" fmla="*/ 595313 h 596901"/>
                <a:gd name="connsiteX3" fmla="*/ 1023144 w 2098834"/>
                <a:gd name="connsiteY3" fmla="*/ 596901 h 596901"/>
                <a:gd name="connsiteX4" fmla="*/ 0 w 2098834"/>
                <a:gd name="connsiteY4" fmla="*/ 595313 h 596901"/>
                <a:gd name="connsiteX5" fmla="*/ 0 w 2098834"/>
                <a:gd name="connsiteY5" fmla="*/ 0 h 59690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1048544 w 2098834"/>
                <a:gd name="connsiteY2" fmla="*/ 819151 h 819151"/>
                <a:gd name="connsiteX3" fmla="*/ 0 w 2098834"/>
                <a:gd name="connsiteY3" fmla="*/ 595313 h 819151"/>
                <a:gd name="connsiteX4" fmla="*/ 0 w 2098834"/>
                <a:gd name="connsiteY4" fmla="*/ 0 h 819151"/>
                <a:gd name="connsiteX0" fmla="*/ 0 w 2098834"/>
                <a:gd name="connsiteY0" fmla="*/ 0 h 595313"/>
                <a:gd name="connsiteX1" fmla="*/ 2098834 w 2098834"/>
                <a:gd name="connsiteY1" fmla="*/ 0 h 595313"/>
                <a:gd name="connsiteX2" fmla="*/ 0 w 2098834"/>
                <a:gd name="connsiteY2" fmla="*/ 595313 h 595313"/>
                <a:gd name="connsiteX3" fmla="*/ 0 w 2098834"/>
                <a:gd name="connsiteY3" fmla="*/ 0 h 595313"/>
                <a:gd name="connsiteX0" fmla="*/ 0 w 2098834"/>
                <a:gd name="connsiteY0" fmla="*/ 0 h 595313"/>
                <a:gd name="connsiteX1" fmla="*/ 2098834 w 2098834"/>
                <a:gd name="connsiteY1" fmla="*/ 0 h 595313"/>
                <a:gd name="connsiteX2" fmla="*/ 0 w 2098834"/>
                <a:gd name="connsiteY2" fmla="*/ 595313 h 595313"/>
                <a:gd name="connsiteX3" fmla="*/ 0 w 2098834"/>
                <a:gd name="connsiteY3" fmla="*/ 0 h 595313"/>
              </a:gdLst>
              <a:ahLst/>
              <a:cxnLst>
                <a:cxn ang="0">
                  <a:pos x="connsiteX0" y="connsiteY0"/>
                </a:cxn>
                <a:cxn ang="0">
                  <a:pos x="connsiteX1" y="connsiteY1"/>
                </a:cxn>
                <a:cxn ang="0">
                  <a:pos x="connsiteX2" y="connsiteY2"/>
                </a:cxn>
                <a:cxn ang="0">
                  <a:pos x="connsiteX3" y="connsiteY3"/>
                </a:cxn>
              </a:cxnLst>
              <a:rect l="l" t="t" r="r" b="b"/>
              <a:pathLst>
                <a:path w="2098834" h="595313">
                  <a:moveTo>
                    <a:pt x="0" y="0"/>
                  </a:moveTo>
                  <a:lnTo>
                    <a:pt x="2098834" y="0"/>
                  </a:lnTo>
                  <a:lnTo>
                    <a:pt x="0" y="595313"/>
                  </a:lnTo>
                  <a:lnTo>
                    <a:pt x="0" y="0"/>
                  </a:lnTo>
                  <a:close/>
                </a:path>
              </a:pathLst>
            </a:custGeom>
            <a:solidFill>
              <a:schemeClr val="bg1">
                <a:alpha val="3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18" name="Freeform 278">
              <a:extLst>
                <a:ext uri="{FF2B5EF4-FFF2-40B4-BE49-F238E27FC236}">
                  <a16:creationId xmlns:a16="http://schemas.microsoft.com/office/drawing/2014/main" id="{F4C85A5B-145F-22EF-D078-B347133E2EFB}"/>
                </a:ext>
              </a:extLst>
            </p:cNvPr>
            <p:cNvSpPr>
              <a:spLocks/>
            </p:cNvSpPr>
            <p:nvPr/>
          </p:nvSpPr>
          <p:spPr bwMode="auto">
            <a:xfrm>
              <a:off x="5589164" y="470993"/>
              <a:ext cx="1998496" cy="367594"/>
            </a:xfrm>
            <a:prstGeom prst="rect">
              <a:avLst/>
            </a:prstGeom>
            <a:noFill/>
            <a:ln w="28575">
              <a:noFill/>
              <a:prstDash val="solid"/>
              <a:round/>
              <a:headEnd/>
              <a:tailEnd/>
            </a:ln>
          </p:spPr>
          <p:txBody>
            <a:bodyPr vert="horz" wrap="none" lIns="0" tIns="0" rIns="0" bIns="0" numCol="1" anchor="ctr" anchorCtr="0" compatLnSpc="1">
              <a:prstTxWarp prst="textNoShape">
                <a:avLst/>
              </a:prstTxWarp>
              <a:noAutofit/>
            </a:bodyPr>
            <a:lstStyle/>
            <a:p>
              <a:pPr algn="ctr" defTabSz="913578"/>
              <a:r>
                <a:rPr lang="en-US" sz="1993" b="1" cap="small">
                  <a:solidFill>
                    <a:srgbClr val="FFFFFF"/>
                  </a:solidFill>
                  <a:latin typeface="Arial" panose="020B0604020202020204"/>
                </a:rPr>
                <a:t>CHALLENGES</a:t>
              </a:r>
            </a:p>
          </p:txBody>
        </p:sp>
      </p:grpSp>
      <p:grpSp>
        <p:nvGrpSpPr>
          <p:cNvPr id="21" name="Group 20">
            <a:extLst>
              <a:ext uri="{FF2B5EF4-FFF2-40B4-BE49-F238E27FC236}">
                <a16:creationId xmlns:a16="http://schemas.microsoft.com/office/drawing/2014/main" id="{C44D08FE-C25E-ACCA-83DE-0DBA564D6DB5}"/>
              </a:ext>
            </a:extLst>
          </p:cNvPr>
          <p:cNvGrpSpPr/>
          <p:nvPr/>
        </p:nvGrpSpPr>
        <p:grpSpPr>
          <a:xfrm>
            <a:off x="7815956" y="782500"/>
            <a:ext cx="4229820" cy="503468"/>
            <a:chOff x="1603281" y="3282575"/>
            <a:chExt cx="3796929" cy="504385"/>
          </a:xfrm>
        </p:grpSpPr>
        <p:sp>
          <p:nvSpPr>
            <p:cNvPr id="26" name="Freeform 46">
              <a:extLst>
                <a:ext uri="{FF2B5EF4-FFF2-40B4-BE49-F238E27FC236}">
                  <a16:creationId xmlns:a16="http://schemas.microsoft.com/office/drawing/2014/main" id="{2CC931C6-C182-BF85-4543-3BAD139E381B}"/>
                </a:ext>
              </a:extLst>
            </p:cNvPr>
            <p:cNvSpPr/>
            <p:nvPr/>
          </p:nvSpPr>
          <p:spPr bwMode="auto">
            <a:xfrm>
              <a:off x="1603281" y="3289120"/>
              <a:ext cx="182880" cy="143510"/>
            </a:xfrm>
            <a:custGeom>
              <a:avLst/>
              <a:gdLst>
                <a:gd name="connsiteX0" fmla="*/ 182880 w 205740"/>
                <a:gd name="connsiteY0" fmla="*/ 0 h 160020"/>
                <a:gd name="connsiteX1" fmla="*/ 0 w 205740"/>
                <a:gd name="connsiteY1" fmla="*/ 160020 h 160020"/>
                <a:gd name="connsiteX2" fmla="*/ 205740 w 205740"/>
                <a:gd name="connsiteY2" fmla="*/ 160020 h 160020"/>
                <a:gd name="connsiteX3" fmla="*/ 182880 w 205740"/>
                <a:gd name="connsiteY3" fmla="*/ 0 h 160020"/>
                <a:gd name="connsiteX0" fmla="*/ 197168 w 205740"/>
                <a:gd name="connsiteY0" fmla="*/ 0 h 162402"/>
                <a:gd name="connsiteX1" fmla="*/ 0 w 205740"/>
                <a:gd name="connsiteY1" fmla="*/ 162402 h 162402"/>
                <a:gd name="connsiteX2" fmla="*/ 205740 w 205740"/>
                <a:gd name="connsiteY2" fmla="*/ 162402 h 162402"/>
                <a:gd name="connsiteX3" fmla="*/ 197168 w 205740"/>
                <a:gd name="connsiteY3" fmla="*/ 0 h 162402"/>
                <a:gd name="connsiteX0" fmla="*/ 197168 w 197168"/>
                <a:gd name="connsiteY0" fmla="*/ 0 h 169546"/>
                <a:gd name="connsiteX1" fmla="*/ 0 w 197168"/>
                <a:gd name="connsiteY1" fmla="*/ 162402 h 169546"/>
                <a:gd name="connsiteX2" fmla="*/ 193834 w 197168"/>
                <a:gd name="connsiteY2" fmla="*/ 169546 h 169546"/>
                <a:gd name="connsiteX3" fmla="*/ 197168 w 197168"/>
                <a:gd name="connsiteY3" fmla="*/ 0 h 169546"/>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6429"/>
                <a:gd name="connsiteY0" fmla="*/ 0 h 174308"/>
                <a:gd name="connsiteX1" fmla="*/ 0 w 196429"/>
                <a:gd name="connsiteY1" fmla="*/ 174308 h 174308"/>
                <a:gd name="connsiteX2" fmla="*/ 196216 w 196429"/>
                <a:gd name="connsiteY2" fmla="*/ 174308 h 174308"/>
                <a:gd name="connsiteX3" fmla="*/ 194787 w 196429"/>
                <a:gd name="connsiteY3" fmla="*/ 0 h 174308"/>
              </a:gdLst>
              <a:ahLst/>
              <a:cxnLst>
                <a:cxn ang="0">
                  <a:pos x="connsiteX0" y="connsiteY0"/>
                </a:cxn>
                <a:cxn ang="0">
                  <a:pos x="connsiteX1" y="connsiteY1"/>
                </a:cxn>
                <a:cxn ang="0">
                  <a:pos x="connsiteX2" y="connsiteY2"/>
                </a:cxn>
                <a:cxn ang="0">
                  <a:pos x="connsiteX3" y="connsiteY3"/>
                </a:cxn>
              </a:cxnLst>
              <a:rect l="l" t="t" r="r" b="b"/>
              <a:pathLst>
                <a:path w="196429" h="174308">
                  <a:moveTo>
                    <a:pt x="194787" y="0"/>
                  </a:moveTo>
                  <a:cubicBezTo>
                    <a:pt x="122714" y="41434"/>
                    <a:pt x="53023" y="82867"/>
                    <a:pt x="0" y="174308"/>
                  </a:cubicBezTo>
                  <a:lnTo>
                    <a:pt x="196216" y="174308"/>
                  </a:lnTo>
                  <a:cubicBezTo>
                    <a:pt x="197327" y="117793"/>
                    <a:pt x="193676" y="56515"/>
                    <a:pt x="194787" y="0"/>
                  </a:cubicBezTo>
                  <a:close/>
                </a:path>
              </a:pathLst>
            </a:custGeom>
            <a:solidFill>
              <a:schemeClr val="accent3">
                <a:lumMod val="7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27" name="Freeform 47">
              <a:extLst>
                <a:ext uri="{FF2B5EF4-FFF2-40B4-BE49-F238E27FC236}">
                  <a16:creationId xmlns:a16="http://schemas.microsoft.com/office/drawing/2014/main" id="{B72E0720-BE58-C634-8C11-990EB89EFB5D}"/>
                </a:ext>
              </a:extLst>
            </p:cNvPr>
            <p:cNvSpPr/>
            <p:nvPr/>
          </p:nvSpPr>
          <p:spPr bwMode="auto">
            <a:xfrm flipH="1">
              <a:off x="5217330" y="3289120"/>
              <a:ext cx="182880" cy="143510"/>
            </a:xfrm>
            <a:custGeom>
              <a:avLst/>
              <a:gdLst>
                <a:gd name="connsiteX0" fmla="*/ 182880 w 205740"/>
                <a:gd name="connsiteY0" fmla="*/ 0 h 160020"/>
                <a:gd name="connsiteX1" fmla="*/ 0 w 205740"/>
                <a:gd name="connsiteY1" fmla="*/ 160020 h 160020"/>
                <a:gd name="connsiteX2" fmla="*/ 205740 w 205740"/>
                <a:gd name="connsiteY2" fmla="*/ 160020 h 160020"/>
                <a:gd name="connsiteX3" fmla="*/ 182880 w 205740"/>
                <a:gd name="connsiteY3" fmla="*/ 0 h 160020"/>
                <a:gd name="connsiteX0" fmla="*/ 197168 w 205740"/>
                <a:gd name="connsiteY0" fmla="*/ 0 h 162402"/>
                <a:gd name="connsiteX1" fmla="*/ 0 w 205740"/>
                <a:gd name="connsiteY1" fmla="*/ 162402 h 162402"/>
                <a:gd name="connsiteX2" fmla="*/ 205740 w 205740"/>
                <a:gd name="connsiteY2" fmla="*/ 162402 h 162402"/>
                <a:gd name="connsiteX3" fmla="*/ 197168 w 205740"/>
                <a:gd name="connsiteY3" fmla="*/ 0 h 162402"/>
                <a:gd name="connsiteX0" fmla="*/ 197168 w 197168"/>
                <a:gd name="connsiteY0" fmla="*/ 0 h 169546"/>
                <a:gd name="connsiteX1" fmla="*/ 0 w 197168"/>
                <a:gd name="connsiteY1" fmla="*/ 162402 h 169546"/>
                <a:gd name="connsiteX2" fmla="*/ 193834 w 197168"/>
                <a:gd name="connsiteY2" fmla="*/ 169546 h 169546"/>
                <a:gd name="connsiteX3" fmla="*/ 197168 w 197168"/>
                <a:gd name="connsiteY3" fmla="*/ 0 h 169546"/>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6429"/>
                <a:gd name="connsiteY0" fmla="*/ 0 h 174308"/>
                <a:gd name="connsiteX1" fmla="*/ 0 w 196429"/>
                <a:gd name="connsiteY1" fmla="*/ 174308 h 174308"/>
                <a:gd name="connsiteX2" fmla="*/ 196216 w 196429"/>
                <a:gd name="connsiteY2" fmla="*/ 174308 h 174308"/>
                <a:gd name="connsiteX3" fmla="*/ 194787 w 196429"/>
                <a:gd name="connsiteY3" fmla="*/ 0 h 174308"/>
              </a:gdLst>
              <a:ahLst/>
              <a:cxnLst>
                <a:cxn ang="0">
                  <a:pos x="connsiteX0" y="connsiteY0"/>
                </a:cxn>
                <a:cxn ang="0">
                  <a:pos x="connsiteX1" y="connsiteY1"/>
                </a:cxn>
                <a:cxn ang="0">
                  <a:pos x="connsiteX2" y="connsiteY2"/>
                </a:cxn>
                <a:cxn ang="0">
                  <a:pos x="connsiteX3" y="connsiteY3"/>
                </a:cxn>
              </a:cxnLst>
              <a:rect l="l" t="t" r="r" b="b"/>
              <a:pathLst>
                <a:path w="196429" h="174308">
                  <a:moveTo>
                    <a:pt x="194787" y="0"/>
                  </a:moveTo>
                  <a:cubicBezTo>
                    <a:pt x="122714" y="41434"/>
                    <a:pt x="53023" y="82867"/>
                    <a:pt x="0" y="174308"/>
                  </a:cubicBezTo>
                  <a:lnTo>
                    <a:pt x="196216" y="174308"/>
                  </a:lnTo>
                  <a:cubicBezTo>
                    <a:pt x="197327" y="117793"/>
                    <a:pt x="193676" y="56515"/>
                    <a:pt x="194787" y="0"/>
                  </a:cubicBezTo>
                  <a:close/>
                </a:path>
              </a:pathLst>
            </a:custGeom>
            <a:solidFill>
              <a:schemeClr val="accent3">
                <a:lumMod val="7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28" name="Rectangle 8">
              <a:extLst>
                <a:ext uri="{FF2B5EF4-FFF2-40B4-BE49-F238E27FC236}">
                  <a16:creationId xmlns:a16="http://schemas.microsoft.com/office/drawing/2014/main" id="{2D6961B0-8624-4FA7-0C49-5B97175450FB}"/>
                </a:ext>
              </a:extLst>
            </p:cNvPr>
            <p:cNvSpPr/>
            <p:nvPr/>
          </p:nvSpPr>
          <p:spPr bwMode="auto">
            <a:xfrm>
              <a:off x="1775546" y="3289120"/>
              <a:ext cx="3441784" cy="497840"/>
            </a:xfrm>
            <a:custGeom>
              <a:avLst/>
              <a:gdLst>
                <a:gd name="connsiteX0" fmla="*/ 0 w 2098834"/>
                <a:gd name="connsiteY0" fmla="*/ 0 h 595313"/>
                <a:gd name="connsiteX1" fmla="*/ 2098834 w 2098834"/>
                <a:gd name="connsiteY1" fmla="*/ 0 h 595313"/>
                <a:gd name="connsiteX2" fmla="*/ 2098834 w 2098834"/>
                <a:gd name="connsiteY2" fmla="*/ 595313 h 595313"/>
                <a:gd name="connsiteX3" fmla="*/ 0 w 2098834"/>
                <a:gd name="connsiteY3" fmla="*/ 595313 h 595313"/>
                <a:gd name="connsiteX4" fmla="*/ 0 w 2098834"/>
                <a:gd name="connsiteY4" fmla="*/ 0 h 595313"/>
                <a:gd name="connsiteX0" fmla="*/ 0 w 2098834"/>
                <a:gd name="connsiteY0" fmla="*/ 0 h 596901"/>
                <a:gd name="connsiteX1" fmla="*/ 2098834 w 2098834"/>
                <a:gd name="connsiteY1" fmla="*/ 0 h 596901"/>
                <a:gd name="connsiteX2" fmla="*/ 2098834 w 2098834"/>
                <a:gd name="connsiteY2" fmla="*/ 595313 h 596901"/>
                <a:gd name="connsiteX3" fmla="*/ 1023144 w 2098834"/>
                <a:gd name="connsiteY3" fmla="*/ 596901 h 596901"/>
                <a:gd name="connsiteX4" fmla="*/ 0 w 2098834"/>
                <a:gd name="connsiteY4" fmla="*/ 595313 h 596901"/>
                <a:gd name="connsiteX5" fmla="*/ 0 w 2098834"/>
                <a:gd name="connsiteY5" fmla="*/ 0 h 59690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8834" h="819151">
                  <a:moveTo>
                    <a:pt x="0" y="0"/>
                  </a:moveTo>
                  <a:lnTo>
                    <a:pt x="2098834" y="0"/>
                  </a:lnTo>
                  <a:lnTo>
                    <a:pt x="2098834" y="595313"/>
                  </a:lnTo>
                  <a:cubicBezTo>
                    <a:pt x="1748737" y="669926"/>
                    <a:pt x="1420072" y="782638"/>
                    <a:pt x="1048544" y="819151"/>
                  </a:cubicBezTo>
                  <a:cubicBezTo>
                    <a:pt x="644260" y="763588"/>
                    <a:pt x="349515" y="669926"/>
                    <a:pt x="0" y="595313"/>
                  </a:cubicBezTo>
                  <a:lnTo>
                    <a:pt x="0" y="0"/>
                  </a:lnTo>
                  <a:close/>
                </a:path>
              </a:pathLst>
            </a:custGeom>
            <a:solidFill>
              <a:schemeClr val="accent3"/>
            </a:solidFill>
            <a:ln>
              <a:noFill/>
              <a:headEnd/>
              <a:tailEnd/>
            </a:ln>
            <a:effectLst>
              <a:outerShdw blurRad="50800" dist="38100" dir="5400000" algn="t" rotWithShape="0">
                <a:prstClr val="black">
                  <a:alpha val="24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29" name="Rectangle 8">
              <a:extLst>
                <a:ext uri="{FF2B5EF4-FFF2-40B4-BE49-F238E27FC236}">
                  <a16:creationId xmlns:a16="http://schemas.microsoft.com/office/drawing/2014/main" id="{F67ED0EE-6CAF-F454-BD29-DB2AA8DF7DD2}"/>
                </a:ext>
              </a:extLst>
            </p:cNvPr>
            <p:cNvSpPr/>
            <p:nvPr/>
          </p:nvSpPr>
          <p:spPr bwMode="auto">
            <a:xfrm flipH="1">
              <a:off x="1780516" y="3282575"/>
              <a:ext cx="3441784" cy="361801"/>
            </a:xfrm>
            <a:custGeom>
              <a:avLst/>
              <a:gdLst>
                <a:gd name="connsiteX0" fmla="*/ 0 w 2098834"/>
                <a:gd name="connsiteY0" fmla="*/ 0 h 595313"/>
                <a:gd name="connsiteX1" fmla="*/ 2098834 w 2098834"/>
                <a:gd name="connsiteY1" fmla="*/ 0 h 595313"/>
                <a:gd name="connsiteX2" fmla="*/ 2098834 w 2098834"/>
                <a:gd name="connsiteY2" fmla="*/ 595313 h 595313"/>
                <a:gd name="connsiteX3" fmla="*/ 0 w 2098834"/>
                <a:gd name="connsiteY3" fmla="*/ 595313 h 595313"/>
                <a:gd name="connsiteX4" fmla="*/ 0 w 2098834"/>
                <a:gd name="connsiteY4" fmla="*/ 0 h 595313"/>
                <a:gd name="connsiteX0" fmla="*/ 0 w 2098834"/>
                <a:gd name="connsiteY0" fmla="*/ 0 h 596901"/>
                <a:gd name="connsiteX1" fmla="*/ 2098834 w 2098834"/>
                <a:gd name="connsiteY1" fmla="*/ 0 h 596901"/>
                <a:gd name="connsiteX2" fmla="*/ 2098834 w 2098834"/>
                <a:gd name="connsiteY2" fmla="*/ 595313 h 596901"/>
                <a:gd name="connsiteX3" fmla="*/ 1023144 w 2098834"/>
                <a:gd name="connsiteY3" fmla="*/ 596901 h 596901"/>
                <a:gd name="connsiteX4" fmla="*/ 0 w 2098834"/>
                <a:gd name="connsiteY4" fmla="*/ 595313 h 596901"/>
                <a:gd name="connsiteX5" fmla="*/ 0 w 2098834"/>
                <a:gd name="connsiteY5" fmla="*/ 0 h 59690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1048544 w 2098834"/>
                <a:gd name="connsiteY2" fmla="*/ 819151 h 819151"/>
                <a:gd name="connsiteX3" fmla="*/ 0 w 2098834"/>
                <a:gd name="connsiteY3" fmla="*/ 595313 h 819151"/>
                <a:gd name="connsiteX4" fmla="*/ 0 w 2098834"/>
                <a:gd name="connsiteY4" fmla="*/ 0 h 819151"/>
                <a:gd name="connsiteX0" fmla="*/ 0 w 2098834"/>
                <a:gd name="connsiteY0" fmla="*/ 0 h 595313"/>
                <a:gd name="connsiteX1" fmla="*/ 2098834 w 2098834"/>
                <a:gd name="connsiteY1" fmla="*/ 0 h 595313"/>
                <a:gd name="connsiteX2" fmla="*/ 0 w 2098834"/>
                <a:gd name="connsiteY2" fmla="*/ 595313 h 595313"/>
                <a:gd name="connsiteX3" fmla="*/ 0 w 2098834"/>
                <a:gd name="connsiteY3" fmla="*/ 0 h 595313"/>
                <a:gd name="connsiteX0" fmla="*/ 0 w 2098834"/>
                <a:gd name="connsiteY0" fmla="*/ 0 h 595313"/>
                <a:gd name="connsiteX1" fmla="*/ 2098834 w 2098834"/>
                <a:gd name="connsiteY1" fmla="*/ 0 h 595313"/>
                <a:gd name="connsiteX2" fmla="*/ 0 w 2098834"/>
                <a:gd name="connsiteY2" fmla="*/ 595313 h 595313"/>
                <a:gd name="connsiteX3" fmla="*/ 0 w 2098834"/>
                <a:gd name="connsiteY3" fmla="*/ 0 h 595313"/>
              </a:gdLst>
              <a:ahLst/>
              <a:cxnLst>
                <a:cxn ang="0">
                  <a:pos x="connsiteX0" y="connsiteY0"/>
                </a:cxn>
                <a:cxn ang="0">
                  <a:pos x="connsiteX1" y="connsiteY1"/>
                </a:cxn>
                <a:cxn ang="0">
                  <a:pos x="connsiteX2" y="connsiteY2"/>
                </a:cxn>
                <a:cxn ang="0">
                  <a:pos x="connsiteX3" y="connsiteY3"/>
                </a:cxn>
              </a:cxnLst>
              <a:rect l="l" t="t" r="r" b="b"/>
              <a:pathLst>
                <a:path w="2098834" h="595313">
                  <a:moveTo>
                    <a:pt x="0" y="0"/>
                  </a:moveTo>
                  <a:lnTo>
                    <a:pt x="2098834" y="0"/>
                  </a:lnTo>
                  <a:lnTo>
                    <a:pt x="0" y="595313"/>
                  </a:lnTo>
                  <a:lnTo>
                    <a:pt x="0" y="0"/>
                  </a:lnTo>
                  <a:close/>
                </a:path>
              </a:pathLst>
            </a:custGeom>
            <a:solidFill>
              <a:schemeClr val="bg1">
                <a:alpha val="3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30" name="Freeform 278">
              <a:extLst>
                <a:ext uri="{FF2B5EF4-FFF2-40B4-BE49-F238E27FC236}">
                  <a16:creationId xmlns:a16="http://schemas.microsoft.com/office/drawing/2014/main" id="{75810FDC-6327-9DB7-E7E1-668ECE14A79D}"/>
                </a:ext>
              </a:extLst>
            </p:cNvPr>
            <p:cNvSpPr>
              <a:spLocks/>
            </p:cNvSpPr>
            <p:nvPr/>
          </p:nvSpPr>
          <p:spPr bwMode="auto">
            <a:xfrm>
              <a:off x="1796110" y="3300366"/>
              <a:ext cx="3439876" cy="367594"/>
            </a:xfrm>
            <a:prstGeom prst="rect">
              <a:avLst/>
            </a:prstGeom>
            <a:noFill/>
            <a:ln w="28575">
              <a:noFill/>
              <a:prstDash val="solid"/>
              <a:round/>
              <a:headEnd/>
              <a:tailEnd/>
            </a:ln>
          </p:spPr>
          <p:txBody>
            <a:bodyPr vert="horz" wrap="none" lIns="0" tIns="0" rIns="0" bIns="0" numCol="1" anchor="ctr" anchorCtr="0" compatLnSpc="1">
              <a:prstTxWarp prst="textNoShape">
                <a:avLst/>
              </a:prstTxWarp>
              <a:noAutofit/>
            </a:bodyPr>
            <a:lstStyle/>
            <a:p>
              <a:pPr algn="ctr" defTabSz="913578"/>
              <a:r>
                <a:rPr lang="en-US" sz="1993" b="1" cap="small">
                  <a:solidFill>
                    <a:srgbClr val="FFFFFF"/>
                  </a:solidFill>
                  <a:latin typeface="Arial" panose="020B0604020202020204"/>
                </a:rPr>
                <a:t>OPPORTUNITIES</a:t>
              </a:r>
            </a:p>
          </p:txBody>
        </p:sp>
      </p:grpSp>
      <p:grpSp>
        <p:nvGrpSpPr>
          <p:cNvPr id="33" name="Group 32">
            <a:extLst>
              <a:ext uri="{FF2B5EF4-FFF2-40B4-BE49-F238E27FC236}">
                <a16:creationId xmlns:a16="http://schemas.microsoft.com/office/drawing/2014/main" id="{533BD946-F3CC-9FBF-A41D-EFE2BD43E48B}"/>
              </a:ext>
            </a:extLst>
          </p:cNvPr>
          <p:cNvGrpSpPr/>
          <p:nvPr/>
        </p:nvGrpSpPr>
        <p:grpSpPr>
          <a:xfrm>
            <a:off x="162783" y="801141"/>
            <a:ext cx="3603651" cy="503468"/>
            <a:chOff x="1603281" y="3282575"/>
            <a:chExt cx="3796929" cy="504385"/>
          </a:xfrm>
        </p:grpSpPr>
        <p:sp>
          <p:nvSpPr>
            <p:cNvPr id="34" name="Freeform 46">
              <a:extLst>
                <a:ext uri="{FF2B5EF4-FFF2-40B4-BE49-F238E27FC236}">
                  <a16:creationId xmlns:a16="http://schemas.microsoft.com/office/drawing/2014/main" id="{DCBD3449-6AAB-8C2D-765D-3AAEB81BF6E7}"/>
                </a:ext>
              </a:extLst>
            </p:cNvPr>
            <p:cNvSpPr/>
            <p:nvPr/>
          </p:nvSpPr>
          <p:spPr bwMode="auto">
            <a:xfrm>
              <a:off x="1603281" y="3289120"/>
              <a:ext cx="182880" cy="143510"/>
            </a:xfrm>
            <a:custGeom>
              <a:avLst/>
              <a:gdLst>
                <a:gd name="connsiteX0" fmla="*/ 182880 w 205740"/>
                <a:gd name="connsiteY0" fmla="*/ 0 h 160020"/>
                <a:gd name="connsiteX1" fmla="*/ 0 w 205740"/>
                <a:gd name="connsiteY1" fmla="*/ 160020 h 160020"/>
                <a:gd name="connsiteX2" fmla="*/ 205740 w 205740"/>
                <a:gd name="connsiteY2" fmla="*/ 160020 h 160020"/>
                <a:gd name="connsiteX3" fmla="*/ 182880 w 205740"/>
                <a:gd name="connsiteY3" fmla="*/ 0 h 160020"/>
                <a:gd name="connsiteX0" fmla="*/ 197168 w 205740"/>
                <a:gd name="connsiteY0" fmla="*/ 0 h 162402"/>
                <a:gd name="connsiteX1" fmla="*/ 0 w 205740"/>
                <a:gd name="connsiteY1" fmla="*/ 162402 h 162402"/>
                <a:gd name="connsiteX2" fmla="*/ 205740 w 205740"/>
                <a:gd name="connsiteY2" fmla="*/ 162402 h 162402"/>
                <a:gd name="connsiteX3" fmla="*/ 197168 w 205740"/>
                <a:gd name="connsiteY3" fmla="*/ 0 h 162402"/>
                <a:gd name="connsiteX0" fmla="*/ 197168 w 197168"/>
                <a:gd name="connsiteY0" fmla="*/ 0 h 169546"/>
                <a:gd name="connsiteX1" fmla="*/ 0 w 197168"/>
                <a:gd name="connsiteY1" fmla="*/ 162402 h 169546"/>
                <a:gd name="connsiteX2" fmla="*/ 193834 w 197168"/>
                <a:gd name="connsiteY2" fmla="*/ 169546 h 169546"/>
                <a:gd name="connsiteX3" fmla="*/ 197168 w 197168"/>
                <a:gd name="connsiteY3" fmla="*/ 0 h 169546"/>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6429"/>
                <a:gd name="connsiteY0" fmla="*/ 0 h 174308"/>
                <a:gd name="connsiteX1" fmla="*/ 0 w 196429"/>
                <a:gd name="connsiteY1" fmla="*/ 174308 h 174308"/>
                <a:gd name="connsiteX2" fmla="*/ 196216 w 196429"/>
                <a:gd name="connsiteY2" fmla="*/ 174308 h 174308"/>
                <a:gd name="connsiteX3" fmla="*/ 194787 w 196429"/>
                <a:gd name="connsiteY3" fmla="*/ 0 h 174308"/>
              </a:gdLst>
              <a:ahLst/>
              <a:cxnLst>
                <a:cxn ang="0">
                  <a:pos x="connsiteX0" y="connsiteY0"/>
                </a:cxn>
                <a:cxn ang="0">
                  <a:pos x="connsiteX1" y="connsiteY1"/>
                </a:cxn>
                <a:cxn ang="0">
                  <a:pos x="connsiteX2" y="connsiteY2"/>
                </a:cxn>
                <a:cxn ang="0">
                  <a:pos x="connsiteX3" y="connsiteY3"/>
                </a:cxn>
              </a:cxnLst>
              <a:rect l="l" t="t" r="r" b="b"/>
              <a:pathLst>
                <a:path w="196429" h="174308">
                  <a:moveTo>
                    <a:pt x="194787" y="0"/>
                  </a:moveTo>
                  <a:cubicBezTo>
                    <a:pt x="122714" y="41434"/>
                    <a:pt x="53023" y="82867"/>
                    <a:pt x="0" y="174308"/>
                  </a:cubicBezTo>
                  <a:lnTo>
                    <a:pt x="196216" y="174308"/>
                  </a:lnTo>
                  <a:cubicBezTo>
                    <a:pt x="197327" y="117793"/>
                    <a:pt x="193676" y="56515"/>
                    <a:pt x="194787" y="0"/>
                  </a:cubicBezTo>
                  <a:close/>
                </a:path>
              </a:pathLst>
            </a:custGeom>
            <a:solidFill>
              <a:schemeClr val="accent2">
                <a:lumMod val="7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35" name="Freeform 47">
              <a:extLst>
                <a:ext uri="{FF2B5EF4-FFF2-40B4-BE49-F238E27FC236}">
                  <a16:creationId xmlns:a16="http://schemas.microsoft.com/office/drawing/2014/main" id="{60A4F6E0-F007-993C-58BE-1CA4341C9C51}"/>
                </a:ext>
              </a:extLst>
            </p:cNvPr>
            <p:cNvSpPr/>
            <p:nvPr/>
          </p:nvSpPr>
          <p:spPr bwMode="auto">
            <a:xfrm flipH="1">
              <a:off x="5217330" y="3289120"/>
              <a:ext cx="182880" cy="143510"/>
            </a:xfrm>
            <a:custGeom>
              <a:avLst/>
              <a:gdLst>
                <a:gd name="connsiteX0" fmla="*/ 182880 w 205740"/>
                <a:gd name="connsiteY0" fmla="*/ 0 h 160020"/>
                <a:gd name="connsiteX1" fmla="*/ 0 w 205740"/>
                <a:gd name="connsiteY1" fmla="*/ 160020 h 160020"/>
                <a:gd name="connsiteX2" fmla="*/ 205740 w 205740"/>
                <a:gd name="connsiteY2" fmla="*/ 160020 h 160020"/>
                <a:gd name="connsiteX3" fmla="*/ 182880 w 205740"/>
                <a:gd name="connsiteY3" fmla="*/ 0 h 160020"/>
                <a:gd name="connsiteX0" fmla="*/ 197168 w 205740"/>
                <a:gd name="connsiteY0" fmla="*/ 0 h 162402"/>
                <a:gd name="connsiteX1" fmla="*/ 0 w 205740"/>
                <a:gd name="connsiteY1" fmla="*/ 162402 h 162402"/>
                <a:gd name="connsiteX2" fmla="*/ 205740 w 205740"/>
                <a:gd name="connsiteY2" fmla="*/ 162402 h 162402"/>
                <a:gd name="connsiteX3" fmla="*/ 197168 w 205740"/>
                <a:gd name="connsiteY3" fmla="*/ 0 h 162402"/>
                <a:gd name="connsiteX0" fmla="*/ 197168 w 197168"/>
                <a:gd name="connsiteY0" fmla="*/ 0 h 169546"/>
                <a:gd name="connsiteX1" fmla="*/ 0 w 197168"/>
                <a:gd name="connsiteY1" fmla="*/ 162402 h 169546"/>
                <a:gd name="connsiteX2" fmla="*/ 193834 w 197168"/>
                <a:gd name="connsiteY2" fmla="*/ 169546 h 169546"/>
                <a:gd name="connsiteX3" fmla="*/ 197168 w 197168"/>
                <a:gd name="connsiteY3" fmla="*/ 0 h 169546"/>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4787"/>
                <a:gd name="connsiteY0" fmla="*/ 0 h 174308"/>
                <a:gd name="connsiteX1" fmla="*/ 0 w 194787"/>
                <a:gd name="connsiteY1" fmla="*/ 174308 h 174308"/>
                <a:gd name="connsiteX2" fmla="*/ 191453 w 194787"/>
                <a:gd name="connsiteY2" fmla="*/ 169546 h 174308"/>
                <a:gd name="connsiteX3" fmla="*/ 194787 w 194787"/>
                <a:gd name="connsiteY3" fmla="*/ 0 h 174308"/>
                <a:gd name="connsiteX0" fmla="*/ 194787 w 196429"/>
                <a:gd name="connsiteY0" fmla="*/ 0 h 174308"/>
                <a:gd name="connsiteX1" fmla="*/ 0 w 196429"/>
                <a:gd name="connsiteY1" fmla="*/ 174308 h 174308"/>
                <a:gd name="connsiteX2" fmla="*/ 196216 w 196429"/>
                <a:gd name="connsiteY2" fmla="*/ 174308 h 174308"/>
                <a:gd name="connsiteX3" fmla="*/ 194787 w 196429"/>
                <a:gd name="connsiteY3" fmla="*/ 0 h 174308"/>
              </a:gdLst>
              <a:ahLst/>
              <a:cxnLst>
                <a:cxn ang="0">
                  <a:pos x="connsiteX0" y="connsiteY0"/>
                </a:cxn>
                <a:cxn ang="0">
                  <a:pos x="connsiteX1" y="connsiteY1"/>
                </a:cxn>
                <a:cxn ang="0">
                  <a:pos x="connsiteX2" y="connsiteY2"/>
                </a:cxn>
                <a:cxn ang="0">
                  <a:pos x="connsiteX3" y="connsiteY3"/>
                </a:cxn>
              </a:cxnLst>
              <a:rect l="l" t="t" r="r" b="b"/>
              <a:pathLst>
                <a:path w="196429" h="174308">
                  <a:moveTo>
                    <a:pt x="194787" y="0"/>
                  </a:moveTo>
                  <a:cubicBezTo>
                    <a:pt x="122714" y="41434"/>
                    <a:pt x="53023" y="82867"/>
                    <a:pt x="0" y="174308"/>
                  </a:cubicBezTo>
                  <a:lnTo>
                    <a:pt x="196216" y="174308"/>
                  </a:lnTo>
                  <a:cubicBezTo>
                    <a:pt x="197327" y="117793"/>
                    <a:pt x="193676" y="56515"/>
                    <a:pt x="194787" y="0"/>
                  </a:cubicBezTo>
                  <a:close/>
                </a:path>
              </a:pathLst>
            </a:custGeom>
            <a:solidFill>
              <a:schemeClr val="accent2">
                <a:lumMod val="7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36" name="Rectangle 8">
              <a:extLst>
                <a:ext uri="{FF2B5EF4-FFF2-40B4-BE49-F238E27FC236}">
                  <a16:creationId xmlns:a16="http://schemas.microsoft.com/office/drawing/2014/main" id="{0524052F-F90D-F09E-20F3-3127D43D127B}"/>
                </a:ext>
              </a:extLst>
            </p:cNvPr>
            <p:cNvSpPr/>
            <p:nvPr/>
          </p:nvSpPr>
          <p:spPr bwMode="auto">
            <a:xfrm>
              <a:off x="1775546" y="3289120"/>
              <a:ext cx="3441784" cy="497840"/>
            </a:xfrm>
            <a:custGeom>
              <a:avLst/>
              <a:gdLst>
                <a:gd name="connsiteX0" fmla="*/ 0 w 2098834"/>
                <a:gd name="connsiteY0" fmla="*/ 0 h 595313"/>
                <a:gd name="connsiteX1" fmla="*/ 2098834 w 2098834"/>
                <a:gd name="connsiteY1" fmla="*/ 0 h 595313"/>
                <a:gd name="connsiteX2" fmla="*/ 2098834 w 2098834"/>
                <a:gd name="connsiteY2" fmla="*/ 595313 h 595313"/>
                <a:gd name="connsiteX3" fmla="*/ 0 w 2098834"/>
                <a:gd name="connsiteY3" fmla="*/ 595313 h 595313"/>
                <a:gd name="connsiteX4" fmla="*/ 0 w 2098834"/>
                <a:gd name="connsiteY4" fmla="*/ 0 h 595313"/>
                <a:gd name="connsiteX0" fmla="*/ 0 w 2098834"/>
                <a:gd name="connsiteY0" fmla="*/ 0 h 596901"/>
                <a:gd name="connsiteX1" fmla="*/ 2098834 w 2098834"/>
                <a:gd name="connsiteY1" fmla="*/ 0 h 596901"/>
                <a:gd name="connsiteX2" fmla="*/ 2098834 w 2098834"/>
                <a:gd name="connsiteY2" fmla="*/ 595313 h 596901"/>
                <a:gd name="connsiteX3" fmla="*/ 1023144 w 2098834"/>
                <a:gd name="connsiteY3" fmla="*/ 596901 h 596901"/>
                <a:gd name="connsiteX4" fmla="*/ 0 w 2098834"/>
                <a:gd name="connsiteY4" fmla="*/ 595313 h 596901"/>
                <a:gd name="connsiteX5" fmla="*/ 0 w 2098834"/>
                <a:gd name="connsiteY5" fmla="*/ 0 h 59690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8834" h="819151">
                  <a:moveTo>
                    <a:pt x="0" y="0"/>
                  </a:moveTo>
                  <a:lnTo>
                    <a:pt x="2098834" y="0"/>
                  </a:lnTo>
                  <a:lnTo>
                    <a:pt x="2098834" y="595313"/>
                  </a:lnTo>
                  <a:cubicBezTo>
                    <a:pt x="1748737" y="669926"/>
                    <a:pt x="1420072" y="782638"/>
                    <a:pt x="1048544" y="819151"/>
                  </a:cubicBezTo>
                  <a:cubicBezTo>
                    <a:pt x="644260" y="763588"/>
                    <a:pt x="349515" y="669926"/>
                    <a:pt x="0" y="595313"/>
                  </a:cubicBezTo>
                  <a:lnTo>
                    <a:pt x="0" y="0"/>
                  </a:lnTo>
                  <a:close/>
                </a:path>
              </a:pathLst>
            </a:custGeom>
            <a:solidFill>
              <a:schemeClr val="accent2"/>
            </a:solidFill>
            <a:ln>
              <a:noFill/>
              <a:headEnd/>
              <a:tailEnd/>
            </a:ln>
            <a:effectLst>
              <a:outerShdw blurRad="50800" dist="38100" dir="5400000" algn="t" rotWithShape="0">
                <a:prstClr val="black">
                  <a:alpha val="24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37" name="Rectangle 8">
              <a:extLst>
                <a:ext uri="{FF2B5EF4-FFF2-40B4-BE49-F238E27FC236}">
                  <a16:creationId xmlns:a16="http://schemas.microsoft.com/office/drawing/2014/main" id="{276CC9D2-3912-F5F9-155D-431A36FBF6F8}"/>
                </a:ext>
              </a:extLst>
            </p:cNvPr>
            <p:cNvSpPr/>
            <p:nvPr/>
          </p:nvSpPr>
          <p:spPr bwMode="auto">
            <a:xfrm flipH="1">
              <a:off x="1780516" y="3282575"/>
              <a:ext cx="3441784" cy="361801"/>
            </a:xfrm>
            <a:custGeom>
              <a:avLst/>
              <a:gdLst>
                <a:gd name="connsiteX0" fmla="*/ 0 w 2098834"/>
                <a:gd name="connsiteY0" fmla="*/ 0 h 595313"/>
                <a:gd name="connsiteX1" fmla="*/ 2098834 w 2098834"/>
                <a:gd name="connsiteY1" fmla="*/ 0 h 595313"/>
                <a:gd name="connsiteX2" fmla="*/ 2098834 w 2098834"/>
                <a:gd name="connsiteY2" fmla="*/ 595313 h 595313"/>
                <a:gd name="connsiteX3" fmla="*/ 0 w 2098834"/>
                <a:gd name="connsiteY3" fmla="*/ 595313 h 595313"/>
                <a:gd name="connsiteX4" fmla="*/ 0 w 2098834"/>
                <a:gd name="connsiteY4" fmla="*/ 0 h 595313"/>
                <a:gd name="connsiteX0" fmla="*/ 0 w 2098834"/>
                <a:gd name="connsiteY0" fmla="*/ 0 h 596901"/>
                <a:gd name="connsiteX1" fmla="*/ 2098834 w 2098834"/>
                <a:gd name="connsiteY1" fmla="*/ 0 h 596901"/>
                <a:gd name="connsiteX2" fmla="*/ 2098834 w 2098834"/>
                <a:gd name="connsiteY2" fmla="*/ 595313 h 596901"/>
                <a:gd name="connsiteX3" fmla="*/ 1023144 w 2098834"/>
                <a:gd name="connsiteY3" fmla="*/ 596901 h 596901"/>
                <a:gd name="connsiteX4" fmla="*/ 0 w 2098834"/>
                <a:gd name="connsiteY4" fmla="*/ 595313 h 596901"/>
                <a:gd name="connsiteX5" fmla="*/ 0 w 2098834"/>
                <a:gd name="connsiteY5" fmla="*/ 0 h 59690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2098834 w 2098834"/>
                <a:gd name="connsiteY2" fmla="*/ 595313 h 819151"/>
                <a:gd name="connsiteX3" fmla="*/ 1048544 w 2098834"/>
                <a:gd name="connsiteY3" fmla="*/ 819151 h 819151"/>
                <a:gd name="connsiteX4" fmla="*/ 0 w 2098834"/>
                <a:gd name="connsiteY4" fmla="*/ 595313 h 819151"/>
                <a:gd name="connsiteX5" fmla="*/ 0 w 2098834"/>
                <a:gd name="connsiteY5" fmla="*/ 0 h 819151"/>
                <a:gd name="connsiteX0" fmla="*/ 0 w 2098834"/>
                <a:gd name="connsiteY0" fmla="*/ 0 h 819151"/>
                <a:gd name="connsiteX1" fmla="*/ 2098834 w 2098834"/>
                <a:gd name="connsiteY1" fmla="*/ 0 h 819151"/>
                <a:gd name="connsiteX2" fmla="*/ 1048544 w 2098834"/>
                <a:gd name="connsiteY2" fmla="*/ 819151 h 819151"/>
                <a:gd name="connsiteX3" fmla="*/ 0 w 2098834"/>
                <a:gd name="connsiteY3" fmla="*/ 595313 h 819151"/>
                <a:gd name="connsiteX4" fmla="*/ 0 w 2098834"/>
                <a:gd name="connsiteY4" fmla="*/ 0 h 819151"/>
                <a:gd name="connsiteX0" fmla="*/ 0 w 2098834"/>
                <a:gd name="connsiteY0" fmla="*/ 0 h 595313"/>
                <a:gd name="connsiteX1" fmla="*/ 2098834 w 2098834"/>
                <a:gd name="connsiteY1" fmla="*/ 0 h 595313"/>
                <a:gd name="connsiteX2" fmla="*/ 0 w 2098834"/>
                <a:gd name="connsiteY2" fmla="*/ 595313 h 595313"/>
                <a:gd name="connsiteX3" fmla="*/ 0 w 2098834"/>
                <a:gd name="connsiteY3" fmla="*/ 0 h 595313"/>
                <a:gd name="connsiteX0" fmla="*/ 0 w 2098834"/>
                <a:gd name="connsiteY0" fmla="*/ 0 h 595313"/>
                <a:gd name="connsiteX1" fmla="*/ 2098834 w 2098834"/>
                <a:gd name="connsiteY1" fmla="*/ 0 h 595313"/>
                <a:gd name="connsiteX2" fmla="*/ 0 w 2098834"/>
                <a:gd name="connsiteY2" fmla="*/ 595313 h 595313"/>
                <a:gd name="connsiteX3" fmla="*/ 0 w 2098834"/>
                <a:gd name="connsiteY3" fmla="*/ 0 h 595313"/>
              </a:gdLst>
              <a:ahLst/>
              <a:cxnLst>
                <a:cxn ang="0">
                  <a:pos x="connsiteX0" y="connsiteY0"/>
                </a:cxn>
                <a:cxn ang="0">
                  <a:pos x="connsiteX1" y="connsiteY1"/>
                </a:cxn>
                <a:cxn ang="0">
                  <a:pos x="connsiteX2" y="connsiteY2"/>
                </a:cxn>
                <a:cxn ang="0">
                  <a:pos x="connsiteX3" y="connsiteY3"/>
                </a:cxn>
              </a:cxnLst>
              <a:rect l="l" t="t" r="r" b="b"/>
              <a:pathLst>
                <a:path w="2098834" h="595313">
                  <a:moveTo>
                    <a:pt x="0" y="0"/>
                  </a:moveTo>
                  <a:lnTo>
                    <a:pt x="2098834" y="0"/>
                  </a:lnTo>
                  <a:lnTo>
                    <a:pt x="0" y="595313"/>
                  </a:lnTo>
                  <a:lnTo>
                    <a:pt x="0" y="0"/>
                  </a:lnTo>
                  <a:close/>
                </a:path>
              </a:pathLst>
            </a:custGeom>
            <a:solidFill>
              <a:schemeClr val="bg1">
                <a:alpha val="3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1867" tIns="71867" rIns="71867" bIns="71867" numCol="1" spcCol="0" rtlCol="0" fromWordArt="0" anchor="t" anchorCtr="0" forceAA="0" compatLnSpc="1">
              <a:prstTxWarp prst="textNoShape">
                <a:avLst/>
              </a:prstTxWarp>
              <a:noAutofit/>
            </a:bodyPr>
            <a:lstStyle/>
            <a:p>
              <a:pPr marL="180597" indent="-180597" algn="ctr" defTabSz="913578" eaLnBrk="0" hangingPunct="0">
                <a:buClr>
                  <a:srgbClr val="FFFFFF"/>
                </a:buClr>
                <a:buFont typeface="Arial" pitchFamily="34" charset="0"/>
                <a:buChar char="–"/>
              </a:pPr>
              <a:endParaRPr lang="en-US" sz="1993" b="1" kern="0">
                <a:solidFill>
                  <a:srgbClr val="FFFFFF"/>
                </a:solidFill>
                <a:latin typeface="Arial"/>
              </a:endParaRPr>
            </a:p>
          </p:txBody>
        </p:sp>
        <p:sp>
          <p:nvSpPr>
            <p:cNvPr id="38" name="Freeform 278">
              <a:extLst>
                <a:ext uri="{FF2B5EF4-FFF2-40B4-BE49-F238E27FC236}">
                  <a16:creationId xmlns:a16="http://schemas.microsoft.com/office/drawing/2014/main" id="{A53E0675-E4BA-CC0C-27F4-6CCFF3D95FF1}"/>
                </a:ext>
              </a:extLst>
            </p:cNvPr>
            <p:cNvSpPr>
              <a:spLocks/>
            </p:cNvSpPr>
            <p:nvPr/>
          </p:nvSpPr>
          <p:spPr bwMode="auto">
            <a:xfrm>
              <a:off x="1796110" y="3300366"/>
              <a:ext cx="3439876" cy="367594"/>
            </a:xfrm>
            <a:prstGeom prst="rect">
              <a:avLst/>
            </a:prstGeom>
            <a:noFill/>
            <a:ln w="28575">
              <a:noFill/>
              <a:prstDash val="solid"/>
              <a:round/>
              <a:headEnd/>
              <a:tailEnd/>
            </a:ln>
          </p:spPr>
          <p:txBody>
            <a:bodyPr vert="horz" wrap="none" lIns="0" tIns="0" rIns="0" bIns="0" numCol="1" anchor="ctr" anchorCtr="0" compatLnSpc="1">
              <a:prstTxWarp prst="textNoShape">
                <a:avLst/>
              </a:prstTxWarp>
              <a:noAutofit/>
            </a:bodyPr>
            <a:lstStyle/>
            <a:p>
              <a:pPr algn="ctr" defTabSz="913578"/>
              <a:r>
                <a:rPr lang="en-US" sz="1993" b="1" cap="small">
                  <a:solidFill>
                    <a:srgbClr val="FFFFFF"/>
                  </a:solidFill>
                  <a:latin typeface="Arial" panose="020B0604020202020204"/>
                </a:rPr>
                <a:t>SUCCESSES</a:t>
              </a:r>
            </a:p>
          </p:txBody>
        </p:sp>
      </p:grpSp>
      <p:sp>
        <p:nvSpPr>
          <p:cNvPr id="39" name="Text Box 6">
            <a:extLst>
              <a:ext uri="{FF2B5EF4-FFF2-40B4-BE49-F238E27FC236}">
                <a16:creationId xmlns:a16="http://schemas.microsoft.com/office/drawing/2014/main" id="{54E25BA1-B157-FF5B-2EA5-6D1BFC16F271}"/>
              </a:ext>
            </a:extLst>
          </p:cNvPr>
          <p:cNvSpPr txBox="1">
            <a:spLocks noChangeArrowheads="1"/>
          </p:cNvSpPr>
          <p:nvPr/>
        </p:nvSpPr>
        <p:spPr bwMode="auto">
          <a:xfrm>
            <a:off x="3891209" y="1315512"/>
            <a:ext cx="3681357" cy="5268167"/>
          </a:xfrm>
          <a:prstGeom prst="rect">
            <a:avLst/>
          </a:prstGeom>
          <a:noFill/>
          <a:ln w="9525">
            <a:noFill/>
            <a:miter lim="800000"/>
            <a:headEnd/>
            <a:tailEnd/>
          </a:ln>
        </p:spPr>
        <p:txBody>
          <a:bodyPr lIns="0" tIns="42921" rIns="0" bIns="42921" anchor="t" anchorCtr="0"/>
          <a:lstStyle/>
          <a:p>
            <a:pPr marL="398145" indent="-285750" defTabSz="913578">
              <a:lnSpc>
                <a:spcPct val="95000"/>
              </a:lnSpc>
              <a:spcBef>
                <a:spcPts val="1200"/>
              </a:spcBef>
              <a:buClr>
                <a:srgbClr val="67BB6E"/>
              </a:buClr>
              <a:buSzPct val="120000"/>
              <a:buFont typeface="Courier New" panose="02070309020205020404" pitchFamily="49" charset="0"/>
              <a:buChar char="o"/>
            </a:pPr>
            <a:r>
              <a:rPr lang="en-US" sz="1300" dirty="0" err="1">
                <a:solidFill>
                  <a:schemeClr val="tx1">
                    <a:lumMod val="65000"/>
                    <a:lumOff val="35000"/>
                  </a:schemeClr>
                </a:solidFill>
                <a:latin typeface="+mj-lt"/>
              </a:rPr>
              <a:t>MenB</a:t>
            </a:r>
            <a:r>
              <a:rPr lang="en-US" sz="1300" dirty="0">
                <a:solidFill>
                  <a:schemeClr val="tx1">
                    <a:lumMod val="65000"/>
                    <a:lumOff val="35000"/>
                  </a:schemeClr>
                </a:solidFill>
                <a:latin typeface="+mj-lt"/>
              </a:rPr>
              <a:t> regimens are deeply embedded, particularly Trumenba among Tier 1 practices, reducing urgency to modify existing workflows, even when aware of </a:t>
            </a:r>
            <a:r>
              <a:rPr lang="en-US" sz="1300" dirty="0" err="1">
                <a:solidFill>
                  <a:schemeClr val="tx1">
                    <a:lumMod val="65000"/>
                    <a:lumOff val="35000"/>
                  </a:schemeClr>
                </a:solidFill>
                <a:latin typeface="+mj-lt"/>
              </a:rPr>
              <a:t>Penbraya’s</a:t>
            </a:r>
            <a:r>
              <a:rPr lang="en-US" sz="1300" dirty="0">
                <a:solidFill>
                  <a:schemeClr val="tx1">
                    <a:lumMod val="65000"/>
                    <a:lumOff val="35000"/>
                  </a:schemeClr>
                </a:solidFill>
                <a:latin typeface="+mj-lt"/>
              </a:rPr>
              <a:t> incremental benefits </a:t>
            </a:r>
            <a:r>
              <a:rPr lang="en-US" sz="1300" i="1" dirty="0">
                <a:solidFill>
                  <a:schemeClr val="tx1">
                    <a:lumMod val="65000"/>
                    <a:lumOff val="35000"/>
                  </a:schemeClr>
                </a:solidFill>
                <a:latin typeface="+mj-lt"/>
              </a:rPr>
              <a:t>(i.e., fewer shots, broader coverage)</a:t>
            </a:r>
            <a:endParaRPr lang="en-US" dirty="0"/>
          </a:p>
          <a:p>
            <a:pPr marL="398145" indent="-285750" defTabSz="913578">
              <a:lnSpc>
                <a:spcPct val="95000"/>
              </a:lnSpc>
              <a:spcBef>
                <a:spcPts val="1200"/>
              </a:spcBef>
              <a:buClr>
                <a:srgbClr val="67BB6E"/>
              </a:buClr>
              <a:buSzPct val="120000"/>
              <a:buFont typeface="Courier New" panose="02070309020205020404" pitchFamily="49" charset="0"/>
              <a:buChar char="o"/>
            </a:pPr>
            <a:r>
              <a:rPr lang="en-US" sz="1300" dirty="0">
                <a:solidFill>
                  <a:schemeClr val="tx1">
                    <a:lumMod val="65000"/>
                    <a:lumOff val="35000"/>
                  </a:schemeClr>
                </a:solidFill>
                <a:latin typeface="+mj-lt"/>
              </a:rPr>
              <a:t>Penbraya near-term adoption expectations have lessened among Tier 1/Trumenba Loyalists, though </a:t>
            </a:r>
            <a:r>
              <a:rPr lang="en-US" sz="1300" dirty="0" err="1">
                <a:solidFill>
                  <a:schemeClr val="tx1">
                    <a:lumMod val="65000"/>
                    <a:lumOff val="35000"/>
                  </a:schemeClr>
                </a:solidFill>
                <a:latin typeface="+mj-lt"/>
              </a:rPr>
              <a:t>Penmenvy</a:t>
            </a:r>
            <a:r>
              <a:rPr lang="en-US" sz="1300" dirty="0">
                <a:solidFill>
                  <a:schemeClr val="tx1">
                    <a:lumMod val="65000"/>
                    <a:lumOff val="35000"/>
                  </a:schemeClr>
                </a:solidFill>
                <a:latin typeface="+mj-lt"/>
              </a:rPr>
              <a:t> is also not gaining traction</a:t>
            </a:r>
            <a:endParaRPr lang="en-US" sz="1300" dirty="0">
              <a:solidFill>
                <a:schemeClr val="tx1">
                  <a:lumMod val="65000"/>
                  <a:lumOff val="35000"/>
                </a:schemeClr>
              </a:solidFill>
              <a:latin typeface="+mj-lt"/>
              <a:cs typeface="Arial" panose="020B0604020202020204"/>
            </a:endParaRPr>
          </a:p>
          <a:p>
            <a:pPr marL="398145" indent="-285750" defTabSz="913578">
              <a:lnSpc>
                <a:spcPct val="95000"/>
              </a:lnSpc>
              <a:spcBef>
                <a:spcPts val="1200"/>
              </a:spcBef>
              <a:buClr>
                <a:srgbClr val="67BB6E"/>
              </a:buClr>
              <a:buSzPct val="120000"/>
              <a:buFont typeface="Courier New" panose="02070309020205020404" pitchFamily="49" charset="0"/>
              <a:buChar char="o"/>
            </a:pPr>
            <a:r>
              <a:rPr lang="en-US" sz="1300" dirty="0">
                <a:solidFill>
                  <a:schemeClr val="tx1">
                    <a:lumMod val="65000"/>
                    <a:lumOff val="35000"/>
                  </a:schemeClr>
                </a:solidFill>
                <a:latin typeface="+mj-lt"/>
              </a:rPr>
              <a:t>Operational concerns remain more pronounced in PED settings, including storage capacity and perceived disruption/risk of administration error when introducing a new pentavalent option; cost and reimbursement remain top concerns</a:t>
            </a:r>
            <a:endParaRPr lang="en-US" sz="1300" dirty="0">
              <a:solidFill>
                <a:schemeClr val="tx1">
                  <a:lumMod val="65000"/>
                  <a:lumOff val="35000"/>
                </a:schemeClr>
              </a:solidFill>
              <a:latin typeface="+mj-lt"/>
              <a:cs typeface="Arial"/>
            </a:endParaRPr>
          </a:p>
          <a:p>
            <a:pPr marL="398145" indent="-285750" defTabSz="913578">
              <a:lnSpc>
                <a:spcPct val="95000"/>
              </a:lnSpc>
              <a:spcBef>
                <a:spcPts val="1200"/>
              </a:spcBef>
              <a:buClr>
                <a:srgbClr val="67BB6E"/>
              </a:buClr>
              <a:buSzPct val="120000"/>
              <a:buFont typeface="Courier New" panose="02070309020205020404" pitchFamily="49" charset="0"/>
              <a:buChar char="o"/>
            </a:pPr>
            <a:r>
              <a:rPr lang="en-US" sz="1300" dirty="0">
                <a:solidFill>
                  <a:schemeClr val="tx1">
                    <a:lumMod val="65000"/>
                    <a:lumOff val="35000"/>
                  </a:schemeClr>
                </a:solidFill>
                <a:latin typeface="+mj-lt"/>
              </a:rPr>
              <a:t>Some HCPs remain uncertain about ACIP guideline interpretations, particularly regarding the requirement of the </a:t>
            </a:r>
            <a:r>
              <a:rPr lang="en-US" sz="1300" dirty="0" err="1">
                <a:solidFill>
                  <a:schemeClr val="tx1">
                    <a:lumMod val="65000"/>
                    <a:lumOff val="35000"/>
                  </a:schemeClr>
                </a:solidFill>
                <a:latin typeface="+mj-lt"/>
              </a:rPr>
              <a:t>MenB</a:t>
            </a:r>
            <a:r>
              <a:rPr lang="en-US" sz="1300" dirty="0">
                <a:solidFill>
                  <a:schemeClr val="tx1">
                    <a:lumMod val="65000"/>
                    <a:lumOff val="35000"/>
                  </a:schemeClr>
                </a:solidFill>
                <a:latin typeface="+mj-lt"/>
              </a:rPr>
              <a:t> second dose to be from the same pentavalent manufacturer</a:t>
            </a:r>
            <a:endParaRPr lang="en-US" sz="1300" dirty="0">
              <a:solidFill>
                <a:schemeClr val="tx1">
                  <a:lumMod val="65000"/>
                  <a:lumOff val="35000"/>
                </a:schemeClr>
              </a:solidFill>
              <a:latin typeface="+mj-lt"/>
              <a:cs typeface="Arial" panose="020B0604020202020204"/>
            </a:endParaRPr>
          </a:p>
          <a:p>
            <a:pPr marL="398145" indent="-285750" defTabSz="913578">
              <a:lnSpc>
                <a:spcPct val="95000"/>
              </a:lnSpc>
              <a:spcBef>
                <a:spcPts val="1200"/>
              </a:spcBef>
              <a:buClr>
                <a:srgbClr val="67BB6E"/>
              </a:buClr>
              <a:buSzPct val="120000"/>
              <a:buFont typeface="Courier New" panose="02070309020205020404" pitchFamily="49" charset="0"/>
              <a:buChar char="o"/>
            </a:pPr>
            <a:r>
              <a:rPr lang="en-US" sz="1300" dirty="0">
                <a:solidFill>
                  <a:schemeClr val="tx1">
                    <a:lumMod val="65000"/>
                    <a:lumOff val="35000"/>
                  </a:schemeClr>
                </a:solidFill>
                <a:latin typeface="+mj-lt"/>
              </a:rPr>
              <a:t>Established </a:t>
            </a:r>
            <a:r>
              <a:rPr lang="en-US" sz="1300" dirty="0" err="1">
                <a:solidFill>
                  <a:schemeClr val="tx1">
                    <a:lumMod val="65000"/>
                    <a:lumOff val="35000"/>
                  </a:schemeClr>
                </a:solidFill>
                <a:latin typeface="+mj-lt"/>
              </a:rPr>
              <a:t>MenACWY</a:t>
            </a:r>
            <a:r>
              <a:rPr lang="en-US" sz="1300" dirty="0">
                <a:solidFill>
                  <a:schemeClr val="tx1">
                    <a:lumMod val="65000"/>
                    <a:lumOff val="35000"/>
                  </a:schemeClr>
                </a:solidFill>
                <a:latin typeface="+mj-lt"/>
              </a:rPr>
              <a:t> + </a:t>
            </a:r>
            <a:r>
              <a:rPr lang="en-US" sz="1300" dirty="0" err="1">
                <a:solidFill>
                  <a:schemeClr val="tx1">
                    <a:lumMod val="65000"/>
                    <a:lumOff val="35000"/>
                  </a:schemeClr>
                </a:solidFill>
                <a:latin typeface="+mj-lt"/>
              </a:rPr>
              <a:t>MenB</a:t>
            </a:r>
            <a:r>
              <a:rPr lang="en-US" sz="1300" dirty="0">
                <a:solidFill>
                  <a:schemeClr val="tx1">
                    <a:lumMod val="65000"/>
                    <a:lumOff val="35000"/>
                  </a:schemeClr>
                </a:solidFill>
                <a:latin typeface="+mj-lt"/>
              </a:rPr>
              <a:t> two-product routines remain entrenched, and many practices have not yet re-evaluated protocols</a:t>
            </a:r>
            <a:endParaRPr lang="en-US" sz="1300" dirty="0">
              <a:solidFill>
                <a:schemeClr val="tx1">
                  <a:lumMod val="65000"/>
                  <a:lumOff val="35000"/>
                </a:schemeClr>
              </a:solidFill>
              <a:latin typeface="+mj-lt"/>
              <a:cs typeface="Arial" panose="020B0604020202020204"/>
            </a:endParaRPr>
          </a:p>
        </p:txBody>
      </p:sp>
      <p:sp>
        <p:nvSpPr>
          <p:cNvPr id="40" name="Text Box 6">
            <a:extLst>
              <a:ext uri="{FF2B5EF4-FFF2-40B4-BE49-F238E27FC236}">
                <a16:creationId xmlns:a16="http://schemas.microsoft.com/office/drawing/2014/main" id="{02308E15-91F0-800F-6119-60D7E11929AB}"/>
              </a:ext>
            </a:extLst>
          </p:cNvPr>
          <p:cNvSpPr txBox="1">
            <a:spLocks noChangeArrowheads="1"/>
          </p:cNvSpPr>
          <p:nvPr/>
        </p:nvSpPr>
        <p:spPr bwMode="auto">
          <a:xfrm>
            <a:off x="7881658" y="1315513"/>
            <a:ext cx="4076661" cy="5451044"/>
          </a:xfrm>
          <a:prstGeom prst="rect">
            <a:avLst/>
          </a:prstGeom>
          <a:noFill/>
          <a:ln w="9525">
            <a:noFill/>
            <a:miter lim="800000"/>
            <a:headEnd/>
            <a:tailEnd/>
          </a:ln>
        </p:spPr>
        <p:txBody>
          <a:bodyPr lIns="0" tIns="42921" rIns="0" bIns="42921" anchor="t" anchorCtr="0"/>
          <a:lstStyle/>
          <a:p>
            <a:pPr marL="285750" indent="-285750" defTabSz="913578">
              <a:lnSpc>
                <a:spcPct val="95000"/>
              </a:lnSpc>
              <a:spcBef>
                <a:spcPts val="900"/>
              </a:spcBef>
              <a:buClr>
                <a:srgbClr val="0DBDBA"/>
              </a:buClr>
              <a:buSzPct val="120000"/>
              <a:buFont typeface="Wingdings" panose="05000000000000000000" pitchFamily="2" charset="2"/>
              <a:buChar char="Ø"/>
            </a:pPr>
            <a:r>
              <a:rPr lang="en-US" sz="1300" dirty="0">
                <a:solidFill>
                  <a:schemeClr val="tx1">
                    <a:lumMod val="65000"/>
                    <a:lumOff val="35000"/>
                  </a:schemeClr>
                </a:solidFill>
                <a:latin typeface="+mj-lt"/>
              </a:rPr>
              <a:t>Leverage existing Trumenba familiarity to position Penbraya as clinically backed, i.e., Penbraya is built on well-established vaccines, has real world and clinical data, and one fewer shot/combination may improve patient acceptance and compliance</a:t>
            </a:r>
          </a:p>
          <a:p>
            <a:pPr marL="285750" indent="-285750" defTabSz="913578">
              <a:lnSpc>
                <a:spcPct val="95000"/>
              </a:lnSpc>
              <a:spcBef>
                <a:spcPts val="900"/>
              </a:spcBef>
              <a:buClr>
                <a:srgbClr val="0DBDBA"/>
              </a:buClr>
              <a:buSzPct val="120000"/>
              <a:buFont typeface="Wingdings" panose="05000000000000000000" pitchFamily="2" charset="2"/>
              <a:buChar char="Ø"/>
            </a:pPr>
            <a:r>
              <a:rPr lang="en-US" sz="1300" dirty="0">
                <a:solidFill>
                  <a:schemeClr val="tx1">
                    <a:lumMod val="65000"/>
                    <a:lumOff val="35000"/>
                  </a:schemeClr>
                </a:solidFill>
                <a:latin typeface="+mj-lt"/>
              </a:rPr>
              <a:t>Reinforce </a:t>
            </a:r>
            <a:r>
              <a:rPr lang="en-US" sz="1300" dirty="0" err="1">
                <a:solidFill>
                  <a:schemeClr val="tx1">
                    <a:lumMod val="65000"/>
                    <a:lumOff val="35000"/>
                  </a:schemeClr>
                </a:solidFill>
                <a:latin typeface="+mj-lt"/>
              </a:rPr>
              <a:t>Penbraya’s</a:t>
            </a:r>
            <a:r>
              <a:rPr lang="en-US" sz="1300" dirty="0">
                <a:solidFill>
                  <a:schemeClr val="tx1">
                    <a:lumMod val="65000"/>
                    <a:lumOff val="35000"/>
                  </a:schemeClr>
                </a:solidFill>
                <a:latin typeface="+mj-lt"/>
              </a:rPr>
              <a:t> full serogroup coverage advantage to support a clear, clinical rationale for preferring Penbraya as the protocol for adolescents eligible for both </a:t>
            </a:r>
            <a:r>
              <a:rPr lang="en-US" sz="1300" dirty="0" err="1">
                <a:solidFill>
                  <a:schemeClr val="tx1">
                    <a:lumMod val="65000"/>
                    <a:lumOff val="35000"/>
                  </a:schemeClr>
                </a:solidFill>
                <a:latin typeface="+mj-lt"/>
              </a:rPr>
              <a:t>MenACWY</a:t>
            </a:r>
            <a:r>
              <a:rPr lang="en-US" sz="1300" dirty="0">
                <a:solidFill>
                  <a:schemeClr val="tx1">
                    <a:lumMod val="65000"/>
                    <a:lumOff val="35000"/>
                  </a:schemeClr>
                </a:solidFill>
                <a:latin typeface="+mj-lt"/>
              </a:rPr>
              <a:t> and </a:t>
            </a:r>
            <a:r>
              <a:rPr lang="en-US" sz="1300" dirty="0" err="1">
                <a:solidFill>
                  <a:schemeClr val="tx1">
                    <a:lumMod val="65000"/>
                    <a:lumOff val="35000"/>
                  </a:schemeClr>
                </a:solidFill>
                <a:latin typeface="+mj-lt"/>
              </a:rPr>
              <a:t>MenB</a:t>
            </a:r>
            <a:endParaRPr lang="en-US" sz="1300" dirty="0">
              <a:solidFill>
                <a:schemeClr val="tx1">
                  <a:lumMod val="65000"/>
                  <a:lumOff val="35000"/>
                </a:schemeClr>
              </a:solidFill>
              <a:latin typeface="+mj-lt"/>
            </a:endParaRPr>
          </a:p>
          <a:p>
            <a:pPr marL="285750" indent="-285750" defTabSz="913578">
              <a:lnSpc>
                <a:spcPct val="95000"/>
              </a:lnSpc>
              <a:spcBef>
                <a:spcPts val="900"/>
              </a:spcBef>
              <a:buClr>
                <a:srgbClr val="0DBDBA"/>
              </a:buClr>
              <a:buSzPct val="120000"/>
              <a:buFont typeface="Wingdings" panose="05000000000000000000" pitchFamily="2" charset="2"/>
              <a:buChar char="Ø"/>
            </a:pPr>
            <a:r>
              <a:rPr lang="en-US" sz="1300" dirty="0">
                <a:solidFill>
                  <a:schemeClr val="tx1">
                    <a:lumMod val="65000"/>
                    <a:lumOff val="35000"/>
                  </a:schemeClr>
                </a:solidFill>
                <a:latin typeface="+mj-lt"/>
              </a:rPr>
              <a:t>Focus near-term marketing to PCPs, where operational hurdles are lower and willingness to adopt Penbraya is highest</a:t>
            </a:r>
          </a:p>
          <a:p>
            <a:pPr marL="285750" indent="-285750" defTabSz="913578">
              <a:lnSpc>
                <a:spcPct val="95000"/>
              </a:lnSpc>
              <a:spcBef>
                <a:spcPts val="900"/>
              </a:spcBef>
              <a:buClr>
                <a:srgbClr val="0DBDBA"/>
              </a:buClr>
              <a:buSzPct val="120000"/>
              <a:buFont typeface="Wingdings" panose="05000000000000000000" pitchFamily="2" charset="2"/>
              <a:buChar char="Ø"/>
            </a:pPr>
            <a:r>
              <a:rPr lang="en-US" sz="1300" dirty="0">
                <a:solidFill>
                  <a:schemeClr val="tx1">
                    <a:lumMod val="65000"/>
                    <a:lumOff val="35000"/>
                  </a:schemeClr>
                </a:solidFill>
                <a:latin typeface="+mj-lt"/>
              </a:rPr>
              <a:t>Provide HCPs with stocking support tools (e.g., inventory guidance, early-adopter examples, reorder simplification) to address hesitancy due to stocking concerns; offer staff training and education to build workflow confidence and mitigate perception of administration errors, especially among PEDs</a:t>
            </a:r>
          </a:p>
          <a:p>
            <a:pPr marL="285750" indent="-285750" defTabSz="913578">
              <a:lnSpc>
                <a:spcPct val="95000"/>
              </a:lnSpc>
              <a:spcBef>
                <a:spcPts val="900"/>
              </a:spcBef>
              <a:buClr>
                <a:srgbClr val="0DBDBA"/>
              </a:buClr>
              <a:buSzPct val="120000"/>
              <a:buFont typeface="Wingdings" panose="05000000000000000000" pitchFamily="2" charset="2"/>
              <a:buChar char="Ø"/>
            </a:pPr>
            <a:r>
              <a:rPr lang="en-US" sz="1300" dirty="0">
                <a:solidFill>
                  <a:schemeClr val="tx1">
                    <a:lumMod val="65000"/>
                    <a:lumOff val="35000"/>
                  </a:schemeClr>
                </a:solidFill>
              </a:rPr>
              <a:t>Offer HCPs patient education materials and talking points to appropriately convey the importance and seriousness of completing the full meningococcal vaccine series; ensure HCPs convey the importance of the second </a:t>
            </a:r>
            <a:r>
              <a:rPr lang="en-US" sz="1300" dirty="0" err="1">
                <a:solidFill>
                  <a:schemeClr val="tx1">
                    <a:lumMod val="65000"/>
                    <a:lumOff val="35000"/>
                  </a:schemeClr>
                </a:solidFill>
              </a:rPr>
              <a:t>MenB</a:t>
            </a:r>
            <a:r>
              <a:rPr lang="en-US" sz="1300" dirty="0">
                <a:solidFill>
                  <a:schemeClr val="tx1">
                    <a:lumMod val="65000"/>
                    <a:lumOff val="35000"/>
                  </a:schemeClr>
                </a:solidFill>
              </a:rPr>
              <a:t> dose, to encourage vaccination and improve adherence</a:t>
            </a:r>
            <a:endParaRPr lang="en-US" sz="1300" dirty="0">
              <a:solidFill>
                <a:schemeClr val="tx1">
                  <a:lumMod val="65000"/>
                  <a:lumOff val="35000"/>
                </a:schemeClr>
              </a:solidFill>
              <a:cs typeface="Arial"/>
            </a:endParaRPr>
          </a:p>
          <a:p>
            <a:pPr defTabSz="913578">
              <a:lnSpc>
                <a:spcPct val="95000"/>
              </a:lnSpc>
              <a:spcBef>
                <a:spcPts val="900"/>
              </a:spcBef>
              <a:buClr>
                <a:srgbClr val="0DBDBA"/>
              </a:buClr>
              <a:buSzPct val="120000"/>
            </a:pPr>
            <a:endParaRPr lang="en-US" sz="1300" dirty="0">
              <a:solidFill>
                <a:schemeClr val="tx1">
                  <a:lumMod val="65000"/>
                  <a:lumOff val="35000"/>
                </a:schemeClr>
              </a:solidFill>
              <a:latin typeface="+mj-lt"/>
            </a:endParaRPr>
          </a:p>
        </p:txBody>
      </p:sp>
    </p:spTree>
    <p:extLst>
      <p:ext uri="{BB962C8B-B14F-4D97-AF65-F5344CB8AC3E}">
        <p14:creationId xmlns:p14="http://schemas.microsoft.com/office/powerpoint/2010/main" val="348417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662B70-068D-57A4-946E-AC3B1D92EC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BE9B6-7D70-84E3-6D15-61F5DADE0347}"/>
              </a:ext>
            </a:extLst>
          </p:cNvPr>
          <p:cNvSpPr>
            <a:spLocks noGrp="1"/>
          </p:cNvSpPr>
          <p:nvPr>
            <p:ph type="ctrTitle"/>
          </p:nvPr>
        </p:nvSpPr>
        <p:spPr>
          <a:xfrm>
            <a:off x="448056" y="2560320"/>
            <a:ext cx="4233672" cy="1508760"/>
          </a:xfrm>
        </p:spPr>
        <p:txBody>
          <a:bodyPr/>
          <a:lstStyle/>
          <a:p>
            <a:r>
              <a:rPr lang="en-US"/>
              <a:t>Key Metric Summary</a:t>
            </a:r>
          </a:p>
        </p:txBody>
      </p:sp>
    </p:spTree>
    <p:extLst>
      <p:ext uri="{BB962C8B-B14F-4D97-AF65-F5344CB8AC3E}">
        <p14:creationId xmlns:p14="http://schemas.microsoft.com/office/powerpoint/2010/main" val="3848842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972BD9-A05E-58FB-A1E9-8065B99EA50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02E2B8-F225-5036-90E0-32C957AE4196}"/>
              </a:ext>
            </a:extLst>
          </p:cNvPr>
          <p:cNvSpPr/>
          <p:nvPr/>
        </p:nvSpPr>
        <p:spPr bwMode="gray">
          <a:xfrm>
            <a:off x="14275" y="8028"/>
            <a:ext cx="12160287" cy="415588"/>
          </a:xfrm>
          <a:prstGeom prst="rect">
            <a:avLst/>
          </a:prstGeom>
          <a:solidFill>
            <a:schemeClr val="accent2">
              <a:lumMod val="75000"/>
            </a:schemeClr>
          </a:solidFill>
          <a:ln w="19050" cap="flat" cmpd="sng" algn="ctr">
            <a:solidFill>
              <a:schemeClr val="accent2">
                <a:lumMod val="75000"/>
              </a:schemeClr>
            </a:solidFill>
            <a:prstDash val="solid"/>
            <a:miter lim="800000"/>
            <a:headEnd type="none" w="med" len="med"/>
            <a:tailEnd type="none" w="med" len="med"/>
          </a:ln>
          <a:effectLst/>
        </p:spPr>
        <p:txBody>
          <a:bodyPr vert="horz" wrap="square" lIns="91213" tIns="45607" rIns="91213" bIns="45607" numCol="1" rtlCol="0" anchor="ctr" anchorCtr="0" compatLnSpc="1">
            <a:prstTxWarp prst="textNoShape">
              <a:avLst/>
            </a:prstTxWarp>
            <a:noAutofit/>
          </a:bodyPr>
          <a:lstStyle/>
          <a:p>
            <a:pPr algn="ctr" defTabSz="911934" fontAlgn="base">
              <a:lnSpc>
                <a:spcPct val="90000"/>
              </a:lnSpc>
              <a:spcAft>
                <a:spcPct val="0"/>
              </a:spcAft>
              <a:buClr>
                <a:srgbClr val="0095FF"/>
              </a:buClr>
              <a:buSzPct val="90000"/>
            </a:pPr>
            <a:r>
              <a:rPr lang="en-US" sz="1791" b="1">
                <a:solidFill>
                  <a:srgbClr val="FFFFFF"/>
                </a:solidFill>
                <a:latin typeface="Arial" panose="020B0604020202020204"/>
              </a:rPr>
              <a:t>Meningococcal Disease Awareness &amp; Perceptions</a:t>
            </a:r>
          </a:p>
        </p:txBody>
      </p:sp>
      <p:sp>
        <p:nvSpPr>
          <p:cNvPr id="7" name="TextBox 6">
            <a:extLst>
              <a:ext uri="{FF2B5EF4-FFF2-40B4-BE49-F238E27FC236}">
                <a16:creationId xmlns:a16="http://schemas.microsoft.com/office/drawing/2014/main" id="{57E26328-E36D-E804-180B-C26A3BAF3A33}"/>
              </a:ext>
            </a:extLst>
          </p:cNvPr>
          <p:cNvSpPr txBox="1"/>
          <p:nvPr/>
        </p:nvSpPr>
        <p:spPr bwMode="gray">
          <a:xfrm>
            <a:off x="51374" y="84435"/>
            <a:ext cx="2707343" cy="258271"/>
          </a:xfrm>
          <a:prstGeom prst="rect">
            <a:avLst/>
          </a:prstGeom>
        </p:spPr>
        <p:txBody>
          <a:bodyPr wrap="none" lIns="45612" tIns="45612" rIns="45612" bIns="45612" rtlCol="0" anchor="ctr" anchorCtr="0">
            <a:spAutoFit/>
          </a:bodyPr>
          <a:lstStyle/>
          <a:p>
            <a:pPr defTabSz="911934">
              <a:lnSpc>
                <a:spcPct val="90000"/>
              </a:lnSpc>
              <a:spcBef>
                <a:spcPts val="1000"/>
              </a:spcBef>
              <a:defRPr/>
            </a:pPr>
            <a:r>
              <a:rPr lang="en-US" sz="1200">
                <a:solidFill>
                  <a:srgbClr val="FFFFFF"/>
                </a:solidFill>
                <a:latin typeface="Arial" panose="020B0604020202020204"/>
              </a:rPr>
              <a:t>HCP ATU Key Metrics: </a:t>
            </a:r>
            <a:r>
              <a:rPr lang="en-US" sz="1200" b="1">
                <a:solidFill>
                  <a:srgbClr val="FFFFFF"/>
                </a:solidFill>
                <a:latin typeface="Arial" panose="020B0604020202020204"/>
              </a:rPr>
              <a:t>UNBRANDED </a:t>
            </a:r>
          </a:p>
        </p:txBody>
      </p:sp>
      <p:sp>
        <p:nvSpPr>
          <p:cNvPr id="9" name="TextBox 8">
            <a:extLst>
              <a:ext uri="{FF2B5EF4-FFF2-40B4-BE49-F238E27FC236}">
                <a16:creationId xmlns:a16="http://schemas.microsoft.com/office/drawing/2014/main" id="{B365D18B-45F7-6F76-52BE-589827C35170}"/>
              </a:ext>
            </a:extLst>
          </p:cNvPr>
          <p:cNvSpPr txBox="1"/>
          <p:nvPr/>
        </p:nvSpPr>
        <p:spPr bwMode="gray">
          <a:xfrm>
            <a:off x="10697950" y="84433"/>
            <a:ext cx="1268413" cy="258271"/>
          </a:xfrm>
          <a:prstGeom prst="rect">
            <a:avLst/>
          </a:prstGeom>
        </p:spPr>
        <p:txBody>
          <a:bodyPr wrap="none" lIns="45612" tIns="45612" rIns="45612" bIns="45612" rtlCol="0" anchor="ctr" anchorCtr="0">
            <a:spAutoFit/>
          </a:bodyPr>
          <a:lstStyle/>
          <a:p>
            <a:pPr algn="r" defTabSz="911934">
              <a:lnSpc>
                <a:spcPct val="90000"/>
              </a:lnSpc>
              <a:spcBef>
                <a:spcPts val="1000"/>
              </a:spcBef>
              <a:defRPr/>
            </a:pPr>
            <a:r>
              <a:rPr lang="en-US" sz="1200" b="1">
                <a:solidFill>
                  <a:srgbClr val="FFFFFF"/>
                </a:solidFill>
                <a:latin typeface="Arial" panose="020B0604020202020204"/>
              </a:rPr>
              <a:t>September 2025</a:t>
            </a:r>
          </a:p>
        </p:txBody>
      </p:sp>
      <p:cxnSp>
        <p:nvCxnSpPr>
          <p:cNvPr id="13" name="Straight Connector 12">
            <a:extLst>
              <a:ext uri="{FF2B5EF4-FFF2-40B4-BE49-F238E27FC236}">
                <a16:creationId xmlns:a16="http://schemas.microsoft.com/office/drawing/2014/main" id="{40262C57-3F84-F17A-F771-A71B29AEDEF4}"/>
              </a:ext>
            </a:extLst>
          </p:cNvPr>
          <p:cNvCxnSpPr>
            <a:cxnSpLocks/>
          </p:cNvCxnSpPr>
          <p:nvPr/>
        </p:nvCxnSpPr>
        <p:spPr bwMode="gray">
          <a:xfrm>
            <a:off x="2962608" y="89124"/>
            <a:ext cx="0" cy="243272"/>
          </a:xfrm>
          <a:prstGeom prst="line">
            <a:avLst/>
          </a:prstGeom>
          <a:ln cap="rnd">
            <a:solidFill>
              <a:schemeClr val="bg1"/>
            </a:solidFill>
            <a:headEnd/>
            <a:tailEnd/>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7F133B96-DBE2-AA72-8AB0-92A907BB0D0D}"/>
              </a:ext>
            </a:extLst>
          </p:cNvPr>
          <p:cNvCxnSpPr>
            <a:cxnSpLocks/>
          </p:cNvCxnSpPr>
          <p:nvPr/>
        </p:nvCxnSpPr>
        <p:spPr bwMode="gray">
          <a:xfrm>
            <a:off x="9226836" y="89124"/>
            <a:ext cx="0" cy="243272"/>
          </a:xfrm>
          <a:prstGeom prst="line">
            <a:avLst/>
          </a:prstGeom>
          <a:ln cap="rnd">
            <a:solidFill>
              <a:schemeClr val="bg1"/>
            </a:solidFill>
            <a:headEnd/>
            <a:tailEnd/>
          </a:ln>
        </p:spPr>
        <p:style>
          <a:lnRef idx="3">
            <a:schemeClr val="dk1"/>
          </a:lnRef>
          <a:fillRef idx="0">
            <a:schemeClr val="dk1"/>
          </a:fillRef>
          <a:effectRef idx="2">
            <a:schemeClr val="dk1"/>
          </a:effectRef>
          <a:fontRef idx="minor">
            <a:schemeClr val="tx1"/>
          </a:fontRef>
        </p:style>
      </p:cxnSp>
      <p:sp>
        <p:nvSpPr>
          <p:cNvPr id="199" name="Text Placeholder 2">
            <a:extLst>
              <a:ext uri="{FF2B5EF4-FFF2-40B4-BE49-F238E27FC236}">
                <a16:creationId xmlns:a16="http://schemas.microsoft.com/office/drawing/2014/main" id="{859CD712-CC6C-3220-0304-A7B717DBEBFD}"/>
              </a:ext>
            </a:extLst>
          </p:cNvPr>
          <p:cNvSpPr txBox="1">
            <a:spLocks/>
          </p:cNvSpPr>
          <p:nvPr/>
        </p:nvSpPr>
        <p:spPr bwMode="gray">
          <a:xfrm>
            <a:off x="1514149" y="6466063"/>
            <a:ext cx="3887398" cy="313276"/>
          </a:xfrm>
          <a:prstGeom prst="rect">
            <a:avLst/>
          </a:prstGeom>
          <a:solidFill>
            <a:schemeClr val="bg1"/>
          </a:solidFill>
        </p:spPr>
        <p:txBody>
          <a:bodyPr vert="horz" wrap="none" lIns="0" tIns="0" rIns="0" bIns="0" rtlCol="0" anchor="b">
            <a:noAutofit/>
          </a:bodyPr>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2756">
              <a:spcBef>
                <a:spcPts val="0"/>
              </a:spcBef>
              <a:buClr>
                <a:srgbClr val="0095FF"/>
              </a:buClr>
              <a:tabLst>
                <a:tab pos="174209" algn="r"/>
                <a:tab pos="395923" algn="l"/>
              </a:tabLst>
              <a:defRPr/>
            </a:pPr>
            <a:r>
              <a:rPr lang="en-US" sz="900">
                <a:solidFill>
                  <a:srgbClr val="FFFFFF">
                    <a:lumMod val="50000"/>
                  </a:srgbClr>
                </a:solidFill>
                <a:latin typeface="Arial" panose="020B0604020202020204"/>
              </a:rPr>
              <a:t>Question wording can be found in the Notes section.</a:t>
            </a:r>
          </a:p>
        </p:txBody>
      </p:sp>
      <p:graphicFrame>
        <p:nvGraphicFramePr>
          <p:cNvPr id="2" name="Table 1">
            <a:extLst>
              <a:ext uri="{FF2B5EF4-FFF2-40B4-BE49-F238E27FC236}">
                <a16:creationId xmlns:a16="http://schemas.microsoft.com/office/drawing/2014/main" id="{D37A379F-94C6-4BA2-6E6C-E024338B2569}"/>
              </a:ext>
            </a:extLst>
          </p:cNvPr>
          <p:cNvGraphicFramePr>
            <a:graphicFrameLocks noGrp="1"/>
          </p:cNvGraphicFramePr>
          <p:nvPr/>
        </p:nvGraphicFramePr>
        <p:xfrm>
          <a:off x="1500090" y="803078"/>
          <a:ext cx="9633838" cy="5146409"/>
        </p:xfrm>
        <a:graphic>
          <a:graphicData uri="http://schemas.openxmlformats.org/drawingml/2006/table">
            <a:tbl>
              <a:tblPr firstRow="1" bandRow="1">
                <a:tableStyleId>{2D5ABB26-0587-4C30-8999-92F81FD0307C}</a:tableStyleId>
              </a:tblPr>
              <a:tblGrid>
                <a:gridCol w="4155263">
                  <a:extLst>
                    <a:ext uri="{9D8B030D-6E8A-4147-A177-3AD203B41FA5}">
                      <a16:colId xmlns:a16="http://schemas.microsoft.com/office/drawing/2014/main" val="664799818"/>
                    </a:ext>
                  </a:extLst>
                </a:gridCol>
                <a:gridCol w="755647">
                  <a:extLst>
                    <a:ext uri="{9D8B030D-6E8A-4147-A177-3AD203B41FA5}">
                      <a16:colId xmlns:a16="http://schemas.microsoft.com/office/drawing/2014/main" val="3981885767"/>
                    </a:ext>
                  </a:extLst>
                </a:gridCol>
                <a:gridCol w="755647">
                  <a:extLst>
                    <a:ext uri="{9D8B030D-6E8A-4147-A177-3AD203B41FA5}">
                      <a16:colId xmlns:a16="http://schemas.microsoft.com/office/drawing/2014/main" val="1145194268"/>
                    </a:ext>
                  </a:extLst>
                </a:gridCol>
                <a:gridCol w="755647">
                  <a:extLst>
                    <a:ext uri="{9D8B030D-6E8A-4147-A177-3AD203B41FA5}">
                      <a16:colId xmlns:a16="http://schemas.microsoft.com/office/drawing/2014/main" val="3922928663"/>
                    </a:ext>
                  </a:extLst>
                </a:gridCol>
                <a:gridCol w="182832">
                  <a:extLst>
                    <a:ext uri="{9D8B030D-6E8A-4147-A177-3AD203B41FA5}">
                      <a16:colId xmlns:a16="http://schemas.microsoft.com/office/drawing/2014/main" val="2703076429"/>
                    </a:ext>
                  </a:extLst>
                </a:gridCol>
                <a:gridCol w="755647">
                  <a:extLst>
                    <a:ext uri="{9D8B030D-6E8A-4147-A177-3AD203B41FA5}">
                      <a16:colId xmlns:a16="http://schemas.microsoft.com/office/drawing/2014/main" val="3316403955"/>
                    </a:ext>
                  </a:extLst>
                </a:gridCol>
                <a:gridCol w="758754">
                  <a:extLst>
                    <a:ext uri="{9D8B030D-6E8A-4147-A177-3AD203B41FA5}">
                      <a16:colId xmlns:a16="http://schemas.microsoft.com/office/drawing/2014/main" val="4158502524"/>
                    </a:ext>
                  </a:extLst>
                </a:gridCol>
                <a:gridCol w="758754">
                  <a:extLst>
                    <a:ext uri="{9D8B030D-6E8A-4147-A177-3AD203B41FA5}">
                      <a16:colId xmlns:a16="http://schemas.microsoft.com/office/drawing/2014/main" val="1024196619"/>
                    </a:ext>
                  </a:extLst>
                </a:gridCol>
                <a:gridCol w="755647">
                  <a:extLst>
                    <a:ext uri="{9D8B030D-6E8A-4147-A177-3AD203B41FA5}">
                      <a16:colId xmlns:a16="http://schemas.microsoft.com/office/drawing/2014/main" val="3835666150"/>
                    </a:ext>
                  </a:extLst>
                </a:gridCol>
              </a:tblGrid>
              <a:tr h="294261">
                <a:tc>
                  <a:txBody>
                    <a:bodyPr/>
                    <a:lstStyle/>
                    <a:p>
                      <a:endParaRPr lang="en-US" sz="1200">
                        <a:latin typeface="+mn-lt"/>
                      </a:endParaRPr>
                    </a:p>
                  </a:txBody>
                  <a:tcPr marL="0" marR="0" marT="0" marB="0">
                    <a:lnR w="19050" cap="flat" cmpd="sng" algn="ctr">
                      <a:solidFill>
                        <a:schemeClr val="accent2">
                          <a:lumMod val="75000"/>
                        </a:schemeClr>
                      </a:solidFill>
                      <a:prstDash val="solid"/>
                      <a:round/>
                      <a:headEnd type="none" w="med" len="med"/>
                      <a:tailEnd type="none" w="med" len="med"/>
                    </a:lnR>
                    <a:lnB w="6350" cap="flat" cmpd="sng" algn="ctr">
                      <a:noFill/>
                      <a:prstDash val="solid"/>
                      <a:round/>
                      <a:headEnd type="none" w="med" len="med"/>
                      <a:tailEnd type="none" w="med" len="med"/>
                    </a:lnB>
                    <a:noFill/>
                  </a:tcPr>
                </a:tc>
                <a:tc gridSpan="3">
                  <a:txBody>
                    <a:bodyPr/>
                    <a:lstStyle/>
                    <a:p>
                      <a:pPr algn="ctr"/>
                      <a:r>
                        <a:rPr lang="en-US" sz="1600" b="1">
                          <a:solidFill>
                            <a:schemeClr val="accent2">
                              <a:lumMod val="50000"/>
                            </a:schemeClr>
                          </a:solidFill>
                          <a:latin typeface="+mn-lt"/>
                        </a:rPr>
                        <a:t>Current Wave</a:t>
                      </a: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noFill/>
                  </a:tcPr>
                </a:tc>
                <a:tc hMerge="1">
                  <a:txBody>
                    <a:bodyPr/>
                    <a:lstStyle/>
                    <a:p>
                      <a:pPr algn="ctr"/>
                      <a:endParaRPr lang="en-US" sz="1400" b="1">
                        <a:solidFill>
                          <a:srgbClr val="0000C9"/>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hMerge="1">
                  <a:txBody>
                    <a:bodyPr/>
                    <a:lstStyle/>
                    <a:p>
                      <a:pPr algn="ctr"/>
                      <a:endParaRPr lang="en-US" sz="1400" b="1">
                        <a:solidFill>
                          <a:srgbClr val="0000C9"/>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ctr"/>
                      <a:endParaRPr lang="en-US" sz="1400" b="1">
                        <a:solidFill>
                          <a:srgbClr val="2B077B"/>
                        </a:solidFill>
                        <a:latin typeface="+mn-lt"/>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gridSpan="4">
                  <a:txBody>
                    <a:bodyPr/>
                    <a:lstStyle/>
                    <a:p>
                      <a:pPr algn="ctr"/>
                      <a:r>
                        <a:rPr lang="en-US" sz="1600" b="1">
                          <a:solidFill>
                            <a:schemeClr val="accent2">
                              <a:lumMod val="50000"/>
                            </a:schemeClr>
                          </a:solidFill>
                          <a:latin typeface="+mn-lt"/>
                        </a:rPr>
                        <a:t>PED Trended Data</a:t>
                      </a: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noFill/>
                  </a:tcPr>
                </a:tc>
                <a:tc hMerge="1">
                  <a:txBody>
                    <a:bodyPr/>
                    <a:lstStyle/>
                    <a:p>
                      <a:pPr algn="ctr"/>
                      <a:endParaRPr lang="en-US" sz="1400" b="1">
                        <a:solidFill>
                          <a:srgbClr val="0000C9"/>
                        </a:solidFill>
                        <a:latin typeface="+mn-lt"/>
                      </a:endParaRPr>
                    </a:p>
                  </a:txBody>
                  <a:tcPr marL="0" marR="0" marT="0" marB="0">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1400" b="1">
                        <a:solidFill>
                          <a:srgbClr val="0000C9"/>
                        </a:solidFill>
                        <a:latin typeface="+mn-lt"/>
                      </a:endParaRPr>
                    </a:p>
                  </a:txBody>
                  <a:tcPr marL="0" marR="0" marT="0" marB="0">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279058055"/>
                  </a:ext>
                </a:extLst>
              </a:tr>
              <a:tr h="182832">
                <a:tc>
                  <a:txBody>
                    <a:bodyPr/>
                    <a:lstStyle/>
                    <a:p>
                      <a:endParaRPr lang="en-US" sz="1200">
                        <a:latin typeface="+mn-lt"/>
                      </a:endParaRPr>
                    </a:p>
                  </a:txBody>
                  <a:tcPr marL="0" marR="0" marT="0" marB="0">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chemeClr val="accent2">
                              <a:lumMod val="50000"/>
                            </a:schemeClr>
                          </a:solidFill>
                          <a:latin typeface="+mn-lt"/>
                        </a:rPr>
                        <a:t>TOTAL</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chemeClr val="accent2">
                              <a:lumMod val="50000"/>
                            </a:schemeClr>
                          </a:solidFill>
                          <a:latin typeface="+mn-lt"/>
                        </a:rPr>
                        <a:t>PED</a:t>
                      </a:r>
                      <a:r>
                        <a:rPr lang="en-US" sz="1200" b="0">
                          <a:solidFill>
                            <a:srgbClr val="7F7F7F"/>
                          </a:solidFill>
                          <a:latin typeface="+mn-lt"/>
                          <a:cs typeface="Arial"/>
                        </a:rPr>
                        <a:t> </a:t>
                      </a:r>
                      <a:r>
                        <a:rPr lang="en-US" sz="1200" b="0" baseline="15000">
                          <a:solidFill>
                            <a:srgbClr val="7F7F7F"/>
                          </a:solidFill>
                          <a:latin typeface="+mn-lt"/>
                          <a:cs typeface="Arial"/>
                        </a:rPr>
                        <a:t>| A</a:t>
                      </a:r>
                      <a:endParaRPr lang="en-US" sz="1200" b="0" baseline="1500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chemeClr val="accent2">
                              <a:lumMod val="50000"/>
                            </a:schemeClr>
                          </a:solidFill>
                          <a:latin typeface="+mn-lt"/>
                        </a:rPr>
                        <a:t>PCP</a:t>
                      </a:r>
                      <a:r>
                        <a:rPr lang="en-US" sz="1200" b="0">
                          <a:solidFill>
                            <a:srgbClr val="7F7F7F"/>
                          </a:solidFill>
                          <a:latin typeface="+mn-lt"/>
                          <a:cs typeface="Arial"/>
                        </a:rPr>
                        <a:t> </a:t>
                      </a:r>
                      <a:r>
                        <a:rPr lang="en-US" sz="1200" b="0" baseline="15000">
                          <a:solidFill>
                            <a:srgbClr val="7F7F7F"/>
                          </a:solidFill>
                          <a:latin typeface="+mn-lt"/>
                          <a:cs typeface="Arial"/>
                        </a:rPr>
                        <a:t>| B</a:t>
                      </a:r>
                      <a:endParaRPr lang="en-US" sz="1200" b="0" baseline="1500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endParaRPr lang="en-US" sz="1200" b="0">
                        <a:solidFill>
                          <a:srgbClr val="2B077B"/>
                        </a:solidFill>
                        <a:latin typeface="+mn-lt"/>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sz="1200" b="0" kern="1200">
                          <a:solidFill>
                            <a:schemeClr val="accent2">
                              <a:lumMod val="50000"/>
                            </a:schemeClr>
                          </a:solidFill>
                          <a:latin typeface="+mn-lt"/>
                          <a:ea typeface="+mn-ea"/>
                          <a:cs typeface="+mn-cs"/>
                        </a:rPr>
                        <a:t>Jan’24</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kern="1200">
                          <a:solidFill>
                            <a:schemeClr val="accent2">
                              <a:lumMod val="50000"/>
                            </a:schemeClr>
                          </a:solidFill>
                          <a:latin typeface="+mn-lt"/>
                          <a:ea typeface="+mn-ea"/>
                          <a:cs typeface="+mn-cs"/>
                        </a:rPr>
                        <a:t>Jun’24</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chemeClr val="accent2">
                              <a:lumMod val="50000"/>
                            </a:schemeClr>
                          </a:solidFill>
                          <a:latin typeface="+mn-lt"/>
                        </a:rPr>
                        <a:t>Sep’24</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chemeClr val="accent2">
                              <a:lumMod val="50000"/>
                            </a:schemeClr>
                          </a:solidFill>
                          <a:latin typeface="+mn-lt"/>
                        </a:rPr>
                        <a:t>Sep’25</a:t>
                      </a: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28386083"/>
                  </a:ext>
                </a:extLst>
              </a:tr>
              <a:tr h="137124">
                <a:tc>
                  <a:txBody>
                    <a:bodyPr/>
                    <a:lstStyle/>
                    <a:p>
                      <a:endParaRPr lang="en-US" sz="900">
                        <a:latin typeface="+mn-lt"/>
                      </a:endParaRPr>
                    </a:p>
                  </a:txBody>
                  <a:tcPr marL="0" marR="0" marT="0" marB="0">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(n=200)</a:t>
                      </a:r>
                    </a:p>
                  </a:txBody>
                  <a:tcPr marL="0" marR="0" marT="0" marB="0">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bg1">
                              <a:lumMod val="65000"/>
                            </a:schemeClr>
                          </a:solidFill>
                          <a:latin typeface="+mn-lt"/>
                        </a:rPr>
                        <a:t>(n=160)</a:t>
                      </a: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(n=40)</a:t>
                      </a:r>
                    </a:p>
                  </a:txBody>
                  <a:tcPr marL="0" marR="0" marT="0" marB="0">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endParaRPr lang="en-US" sz="900" b="0">
                        <a:solidFill>
                          <a:schemeClr val="bg1">
                            <a:lumMod val="65000"/>
                          </a:schemeClr>
                        </a:solidFill>
                        <a:latin typeface="+mn-lt"/>
                      </a:endParaRPr>
                    </a:p>
                  </a:txBody>
                  <a:tcPr marL="0" marR="0" marT="0" marB="0">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(n=192)</a:t>
                      </a:r>
                    </a:p>
                  </a:txBody>
                  <a:tcPr marL="0" marR="0" marT="0" marB="0">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(n=150)</a:t>
                      </a:r>
                    </a:p>
                  </a:txBody>
                  <a:tcPr marL="0" marR="0"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(n=160)</a:t>
                      </a:r>
                    </a:p>
                  </a:txBody>
                  <a:tcPr marL="0" marR="0"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(n=160)</a:t>
                      </a:r>
                    </a:p>
                  </a:txBody>
                  <a:tcPr marL="0" marR="0" marT="0" marB="0">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662937761"/>
                  </a:ext>
                </a:extLst>
              </a:tr>
              <a:tr h="323722">
                <a:tc>
                  <a:txBody>
                    <a:bodyPr/>
                    <a:lstStyle/>
                    <a:p>
                      <a:pPr algn="l"/>
                      <a:r>
                        <a:rPr lang="en-US" sz="1600" b="1" i="1" kern="1200">
                          <a:solidFill>
                            <a:schemeClr val="accent2">
                              <a:lumMod val="50000"/>
                            </a:schemeClr>
                          </a:solidFill>
                          <a:latin typeface="+mn-lt"/>
                          <a:ea typeface="+mn-ea"/>
                          <a:cs typeface="+mn-cs"/>
                        </a:rPr>
                        <a:t>Awareness</a:t>
                      </a:r>
                      <a:endParaRPr lang="en-US" sz="1600" b="0" i="1" kern="1200">
                        <a:solidFill>
                          <a:schemeClr val="accent2">
                            <a:lumMod val="50000"/>
                          </a:schemeClr>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tc>
                  <a:txBody>
                    <a:bodyPr/>
                    <a:lstStyle/>
                    <a:p>
                      <a:pPr algn="ctr"/>
                      <a:endParaRPr lang="en-US" sz="1600" b="0">
                        <a:solidFill>
                          <a:schemeClr val="accent2">
                            <a:lumMod val="50000"/>
                          </a:schemeClr>
                        </a:solidFill>
                        <a:latin typeface="+mn-lt"/>
                      </a:endParaRP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tc>
                  <a:txBody>
                    <a:bodyPr/>
                    <a:lstStyle/>
                    <a:p>
                      <a:pPr algn="ctr"/>
                      <a:endParaRPr lang="en-US" sz="1600" b="0">
                        <a:solidFill>
                          <a:schemeClr val="accent2">
                            <a:lumMod val="50000"/>
                          </a:schemeClr>
                        </a:solidFill>
                        <a:latin typeface="+mn-lt"/>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en-US" sz="1600" b="1">
                        <a:solidFill>
                          <a:schemeClr val="bg1">
                            <a:lumMod val="65000"/>
                          </a:schemeClr>
                        </a:solidFill>
                        <a:latin typeface="+mn-lt"/>
                      </a:endParaRP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tc>
                  <a:txBody>
                    <a:bodyPr/>
                    <a:lstStyle/>
                    <a:p>
                      <a:pPr algn="ctr"/>
                      <a:endParaRPr lang="en-US" sz="1600" b="1">
                        <a:solidFill>
                          <a:schemeClr val="bg1">
                            <a:lumMod val="65000"/>
                          </a:schemeClr>
                        </a:solidFill>
                        <a:latin typeface="+mn-lt"/>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tc>
                  <a:txBody>
                    <a:bodyPr/>
                    <a:lstStyle/>
                    <a:p>
                      <a:pPr algn="ctr"/>
                      <a:endParaRPr lang="en-US" sz="1600" b="1">
                        <a:solidFill>
                          <a:schemeClr val="accent2">
                            <a:lumMod val="50000"/>
                          </a:schemeClr>
                        </a:solidFill>
                        <a:latin typeface="+mn-lt"/>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tc>
                  <a:txBody>
                    <a:bodyPr/>
                    <a:lstStyle/>
                    <a:p>
                      <a:pPr algn="ctr"/>
                      <a:endParaRPr lang="en-US" sz="1600" b="1">
                        <a:solidFill>
                          <a:schemeClr val="accent2">
                            <a:lumMod val="50000"/>
                          </a:schemeClr>
                        </a:solidFill>
                        <a:latin typeface="+mn-lt"/>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7F5FF"/>
                    </a:solidFill>
                  </a:tcPr>
                </a:tc>
                <a:extLst>
                  <a:ext uri="{0D108BD9-81ED-4DB2-BD59-A6C34878D82A}">
                    <a16:rowId xmlns:a16="http://schemas.microsoft.com/office/drawing/2014/main" val="2063017590"/>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Unaided Awareness of Pfizer*</a:t>
                      </a:r>
                      <a:endParaRPr lang="en-US" sz="1600" b="0" i="1">
                        <a:solidFill>
                          <a:schemeClr val="bg1">
                            <a:lumMod val="50000"/>
                          </a:schemeClr>
                        </a:solidFill>
                        <a:latin typeface="+mn-lt"/>
                      </a:endParaRPr>
                    </a:p>
                  </a:txBody>
                  <a:tcPr marL="91392" marR="91392" marT="0" marB="0" anchor="ctr">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29%</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33%</a:t>
                      </a:r>
                      <a:r>
                        <a:rPr lang="en-US" sz="1200" b="0" kern="1200" baseline="40000">
                          <a:solidFill>
                            <a:schemeClr val="tx1"/>
                          </a:solidFill>
                          <a:latin typeface="+mn-lt"/>
                          <a:ea typeface="+mn-ea"/>
                          <a:cs typeface="+mn-cs"/>
                        </a:rPr>
                        <a:t>B</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15%</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endParaRPr lang="en-US" sz="1200" b="0">
                        <a:solidFill>
                          <a:schemeClr val="tx1"/>
                        </a:solidFill>
                        <a:latin typeface="+mn-lt"/>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ctr" defTabSz="914400" rtl="0" eaLnBrk="1" latinLnBrk="0" hangingPunct="1"/>
                      <a:r>
                        <a:rPr lang="en-US" sz="1200" b="0" kern="1200">
                          <a:solidFill>
                            <a:schemeClr val="tx1"/>
                          </a:solidFill>
                          <a:latin typeface="+mn-lt"/>
                          <a:ea typeface="+mn-ea"/>
                          <a:cs typeface="+mn-cs"/>
                        </a:rPr>
                        <a:t>27%</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algn="ctr" defTabSz="914400" rtl="0" eaLnBrk="1" latinLnBrk="0" hangingPunct="1"/>
                      <a:r>
                        <a:rPr lang="en-US" sz="1200" b="0" kern="1200">
                          <a:solidFill>
                            <a:schemeClr val="tx1"/>
                          </a:solidFill>
                          <a:latin typeface="+mn-lt"/>
                          <a:ea typeface="+mn-ea"/>
                          <a:cs typeface="+mn-cs"/>
                        </a:rPr>
                        <a:t>29%</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algn="ctr" defTabSz="914400" rtl="0" eaLnBrk="1" latinLnBrk="0" hangingPunct="1"/>
                      <a:r>
                        <a:rPr lang="en-US" sz="1200" b="0" kern="1200">
                          <a:solidFill>
                            <a:schemeClr val="tx1"/>
                          </a:solidFill>
                          <a:latin typeface="+mn-lt"/>
                          <a:ea typeface="+mn-ea"/>
                          <a:cs typeface="+mn-cs"/>
                        </a:rPr>
                        <a:t>39%</a:t>
                      </a:r>
                      <a:r>
                        <a:rPr lang="en-US" altLang="en-US" sz="1000">
                          <a:solidFill>
                            <a:srgbClr val="FF0000"/>
                          </a:solidFill>
                          <a:cs typeface="Arial" panose="020B0604020202020204" pitchFamily="34" charset="0"/>
                          <a:sym typeface="Symbol" pitchFamily="18" charset="2"/>
                        </a:rPr>
                        <a:t></a:t>
                      </a:r>
                      <a:endParaRPr lang="en-US" sz="10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algn="ctr" defTabSz="914400" rtl="0" eaLnBrk="1" latinLnBrk="0" hangingPunct="1"/>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33%</a:t>
                      </a:r>
                      <a:endParaRPr lang="en-US" sz="10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57574244"/>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Aided Awareness of MenABCWY Pentavalent</a:t>
                      </a:r>
                      <a:endParaRPr lang="en-US" sz="1600" b="0" i="1">
                        <a:solidFill>
                          <a:schemeClr val="bg1">
                            <a:lumMod val="50000"/>
                          </a:schemeClr>
                        </a:solidFill>
                        <a:latin typeface="+mn-lt"/>
                      </a:endParaRPr>
                    </a:p>
                  </a:txBody>
                  <a:tcPr marL="91392" marR="91392" marT="0" marB="0" anchor="ctr">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85%</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85%</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85%</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endParaRPr lang="en-US" sz="1200" b="0" baseline="0">
                        <a:solidFill>
                          <a:schemeClr val="tx1"/>
                        </a:solidFill>
                        <a:latin typeface="+mn-lt"/>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ctr" defTabSz="914400" rtl="0" eaLnBrk="1" latinLnBrk="0" hangingPunct="1"/>
                      <a:r>
                        <a:rPr lang="en-US" sz="1200" b="0" kern="1200">
                          <a:solidFill>
                            <a:schemeClr val="tx1"/>
                          </a:solidFill>
                          <a:latin typeface="+mn-lt"/>
                          <a:ea typeface="+mn-ea"/>
                          <a:cs typeface="+mn-cs"/>
                        </a:rPr>
                        <a:t>56%</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marL="0" algn="ctr" defTabSz="914400" rtl="0" eaLnBrk="1" latinLnBrk="0" hangingPunct="1"/>
                      <a:r>
                        <a:rPr lang="en-US" sz="1200" b="0" kern="1200">
                          <a:solidFill>
                            <a:schemeClr val="tx1"/>
                          </a:solidFill>
                          <a:latin typeface="+mn-lt"/>
                          <a:ea typeface="+mn-ea"/>
                          <a:cs typeface="+mn-cs"/>
                        </a:rPr>
                        <a:t>76%</a:t>
                      </a:r>
                      <a:r>
                        <a:rPr lang="en-US" altLang="en-US" sz="1000">
                          <a:solidFill>
                            <a:srgbClr val="FF0000"/>
                          </a:solidFill>
                          <a:cs typeface="Arial" panose="020B0604020202020204" pitchFamily="34" charset="0"/>
                          <a:sym typeface="Symbol" pitchFamily="18" charset="2"/>
                        </a:rPr>
                        <a:t></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marL="0" algn="ctr" defTabSz="914400" rtl="0" eaLnBrk="1" latinLnBrk="0" hangingPunct="1"/>
                      <a:r>
                        <a:rPr lang="en-US" sz="1200" b="0" kern="1200">
                          <a:solidFill>
                            <a:schemeClr val="tx1"/>
                          </a:solidFill>
                          <a:latin typeface="+mn-lt"/>
                          <a:ea typeface="+mn-ea"/>
                          <a:cs typeface="+mn-cs"/>
                        </a:rPr>
                        <a:t>89%</a:t>
                      </a:r>
                      <a:r>
                        <a:rPr lang="en-US" altLang="en-US" sz="1000">
                          <a:solidFill>
                            <a:srgbClr val="FF0000"/>
                          </a:solidFill>
                          <a:cs typeface="Arial" panose="020B0604020202020204" pitchFamily="34" charset="0"/>
                          <a:sym typeface="Symbol" pitchFamily="18" charset="2"/>
                        </a:rPr>
                        <a:t></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marL="0" algn="ctr" defTabSz="914400" rtl="0" eaLnBrk="1" latinLnBrk="0" hangingPunct="1"/>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85%</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287188810"/>
                  </a:ext>
                </a:extLst>
              </a:tr>
              <a:tr h="323722">
                <a:tc>
                  <a:txBody>
                    <a:bodyPr/>
                    <a:lstStyle/>
                    <a:p>
                      <a:pPr marL="0" marR="0" lvl="1" indent="0" algn="l" defTabSz="914400" rtl="0" eaLnBrk="1" fontAlgn="auto" latinLnBrk="0" hangingPunct="1">
                        <a:lnSpc>
                          <a:spcPct val="86000"/>
                        </a:lnSpc>
                        <a:spcBef>
                          <a:spcPts val="0"/>
                        </a:spcBef>
                        <a:spcAft>
                          <a:spcPts val="0"/>
                        </a:spcAft>
                        <a:buClrTx/>
                        <a:buSzTx/>
                        <a:buFontTx/>
                        <a:buNone/>
                        <a:tabLst/>
                        <a:defRPr/>
                      </a:pPr>
                      <a:r>
                        <a:rPr lang="en-US" sz="1600" b="1" i="1" kern="1200">
                          <a:solidFill>
                            <a:schemeClr val="accent2">
                              <a:lumMod val="50000"/>
                            </a:schemeClr>
                          </a:solidFill>
                          <a:latin typeface="+mn-lt"/>
                          <a:ea typeface="+mn-ea"/>
                          <a:cs typeface="+mn-cs"/>
                        </a:rPr>
                        <a:t>Disease Knowledge </a:t>
                      </a:r>
                      <a:r>
                        <a:rPr kumimoji="0" lang="en-US" sz="1000" b="0" i="1" u="none" strike="noStrike" kern="1200" cap="none" spc="0" normalizeH="0" baseline="0" noProof="0">
                          <a:ln>
                            <a:noFill/>
                          </a:ln>
                          <a:solidFill>
                            <a:srgbClr val="FFFFFF">
                              <a:lumMod val="50000"/>
                            </a:srgbClr>
                          </a:solidFill>
                          <a:effectLst/>
                          <a:uLnTx/>
                          <a:uFillTx/>
                          <a:latin typeface="+mn-lt"/>
                          <a:ea typeface="+mn-ea"/>
                          <a:cs typeface="+mn-cs"/>
                        </a:rPr>
                        <a:t>(% Extremely Knowledgeable)</a:t>
                      </a:r>
                      <a:endParaRPr lang="en-US" sz="1600" b="0" i="1" kern="1200">
                        <a:solidFill>
                          <a:schemeClr val="accent2">
                            <a:lumMod val="50000"/>
                          </a:schemeClr>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extLst>
                  <a:ext uri="{0D108BD9-81ED-4DB2-BD59-A6C34878D82A}">
                    <a16:rowId xmlns:a16="http://schemas.microsoft.com/office/drawing/2014/main" val="1150189215"/>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MenACWY</a:t>
                      </a:r>
                      <a:endParaRPr lang="en-US" sz="1400" b="0">
                        <a:solidFill>
                          <a:schemeClr val="bg1">
                            <a:lumMod val="50000"/>
                          </a:schemeClr>
                        </a:solidFill>
                        <a:latin typeface="+mn-lt"/>
                      </a:endParaRPr>
                    </a:p>
                  </a:txBody>
                  <a:tcPr marL="91392" marR="91392" marT="0" marB="0" anchor="ctr">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52%</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56%</a:t>
                      </a:r>
                      <a:r>
                        <a:rPr lang="en-US" sz="1200" b="0" kern="1200" baseline="30000">
                          <a:solidFill>
                            <a:schemeClr val="tx1"/>
                          </a:solidFill>
                          <a:latin typeface="+mn-lt"/>
                          <a:ea typeface="+mn-ea"/>
                          <a:cs typeface="+mn-cs"/>
                        </a:rPr>
                        <a:t>B</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35%</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58%</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62%</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56%</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56%</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16878308"/>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MenB</a:t>
                      </a:r>
                      <a:endParaRPr lang="en-US" sz="1000" b="0" i="1" kern="1200">
                        <a:solidFill>
                          <a:schemeClr val="tx1"/>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52%</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56%</a:t>
                      </a:r>
                      <a:r>
                        <a:rPr lang="en-US" sz="1200" b="0" kern="1200" baseline="30000">
                          <a:solidFill>
                            <a:schemeClr val="tx1"/>
                          </a:solidFill>
                          <a:latin typeface="+mn-lt"/>
                          <a:ea typeface="+mn-ea"/>
                          <a:cs typeface="+mn-cs"/>
                        </a:rPr>
                        <a:t>B</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35%</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56%</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57%</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49%</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56%</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1707114"/>
                  </a:ext>
                </a:extLst>
              </a:tr>
              <a:tr h="323722">
                <a:tc>
                  <a:txBody>
                    <a:bodyPr/>
                    <a:lstStyle/>
                    <a:p>
                      <a:pPr marL="0" marR="0" lvl="1" indent="0" algn="l" defTabSz="914400" rtl="0" eaLnBrk="1" fontAlgn="auto" latinLnBrk="0" hangingPunct="1">
                        <a:lnSpc>
                          <a:spcPct val="86000"/>
                        </a:lnSpc>
                        <a:spcBef>
                          <a:spcPts val="0"/>
                        </a:spcBef>
                        <a:spcAft>
                          <a:spcPts val="0"/>
                        </a:spcAft>
                        <a:buClrTx/>
                        <a:buSzTx/>
                        <a:buFontTx/>
                        <a:buNone/>
                        <a:tabLst/>
                        <a:defRPr/>
                      </a:pPr>
                      <a:r>
                        <a:rPr lang="en-US" sz="1600" b="1" i="1" kern="1200">
                          <a:solidFill>
                            <a:schemeClr val="accent2">
                              <a:lumMod val="50000"/>
                            </a:schemeClr>
                          </a:solidFill>
                          <a:latin typeface="+mn-lt"/>
                          <a:ea typeface="+mn-ea"/>
                          <a:cs typeface="+mn-cs"/>
                        </a:rPr>
                        <a:t>Concern</a:t>
                      </a:r>
                      <a:r>
                        <a:rPr kumimoji="0" lang="en-US" sz="1000" b="0" i="1" u="none" strike="noStrike" kern="1200" cap="none" spc="0" normalizeH="0" baseline="0" noProof="0">
                          <a:ln>
                            <a:noFill/>
                          </a:ln>
                          <a:solidFill>
                            <a:srgbClr val="FFFFFF">
                              <a:lumMod val="50000"/>
                            </a:srgbClr>
                          </a:solidFill>
                          <a:effectLst/>
                          <a:uLnTx/>
                          <a:uFillTx/>
                          <a:latin typeface="+mn-lt"/>
                          <a:ea typeface="+mn-ea"/>
                          <a:cs typeface="+mn-cs"/>
                        </a:rPr>
                        <a:t> (% Extremely Concerned)</a:t>
                      </a:r>
                      <a:endParaRPr lang="en-US" sz="1600" b="0" i="1" kern="1200">
                        <a:solidFill>
                          <a:schemeClr val="accent2">
                            <a:lumMod val="50000"/>
                          </a:schemeClr>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solidFill>
                      <a:srgbClr val="E7F5FF"/>
                    </a:solidFill>
                  </a:tcPr>
                </a:tc>
                <a:extLst>
                  <a:ext uri="{0D108BD9-81ED-4DB2-BD59-A6C34878D82A}">
                    <a16:rowId xmlns:a16="http://schemas.microsoft.com/office/drawing/2014/main" val="397152441"/>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MenACWY</a:t>
                      </a:r>
                      <a:endParaRPr lang="en-US" sz="1400" b="0">
                        <a:solidFill>
                          <a:schemeClr val="bg1">
                            <a:lumMod val="50000"/>
                          </a:schemeClr>
                        </a:solidFill>
                        <a:latin typeface="+mn-lt"/>
                      </a:endParaRPr>
                    </a:p>
                  </a:txBody>
                  <a:tcPr marL="91392" marR="91392" marT="0" marB="0" anchor="ctr">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55%</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59%</a:t>
                      </a:r>
                      <a:r>
                        <a:rPr lang="en-US" sz="1200" b="0" kern="1200" baseline="30000">
                          <a:solidFill>
                            <a:schemeClr val="tx1"/>
                          </a:solidFill>
                          <a:latin typeface="+mn-lt"/>
                          <a:ea typeface="+mn-ea"/>
                          <a:cs typeface="+mn-cs"/>
                        </a:rPr>
                        <a:t>B</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38%</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65%</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73%</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mn-lt"/>
                          <a:ea typeface="+mn-ea"/>
                          <a:cs typeface="+mn-cs"/>
                        </a:rPr>
                        <a:t>58%</a:t>
                      </a:r>
                      <a:r>
                        <a:rPr lang="en-US" altLang="en-US" sz="1000">
                          <a:solidFill>
                            <a:srgbClr val="FF0000"/>
                          </a:solidFill>
                          <a:cs typeface="Arial" panose="020B0604020202020204" pitchFamily="34" charset="0"/>
                          <a:sym typeface="Symbol" pitchFamily="18" charset="2"/>
                        </a:rPr>
                        <a:t></a:t>
                      </a:r>
                      <a:endParaRPr lang="en-US" sz="1200">
                        <a:solidFill>
                          <a:srgbClr val="000000">
                            <a:lumMod val="65000"/>
                            <a:lumOff val="35000"/>
                          </a:srgbClr>
                        </a:solidFill>
                        <a:cs typeface="Arial" panose="020B0604020202020204" pitchFamily="34" charset="0"/>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59%</a:t>
                      </a:r>
                      <a:endParaRPr lang="en-US" sz="1200">
                        <a:solidFill>
                          <a:srgbClr val="000000">
                            <a:lumMod val="65000"/>
                            <a:lumOff val="35000"/>
                          </a:srgbClr>
                        </a:solidFill>
                        <a:cs typeface="Arial" panose="020B0604020202020204" pitchFamily="34" charset="0"/>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631434351"/>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MenB</a:t>
                      </a:r>
                      <a:endParaRPr lang="en-US" sz="1000" b="0" i="1" kern="1200">
                        <a:solidFill>
                          <a:schemeClr val="tx1"/>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53%</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56%</a:t>
                      </a:r>
                      <a:r>
                        <a:rPr lang="en-US" sz="1200" b="0" kern="1200" baseline="30000">
                          <a:solidFill>
                            <a:schemeClr val="tx1"/>
                          </a:solidFill>
                          <a:latin typeface="+mn-lt"/>
                          <a:ea typeface="+mn-ea"/>
                          <a:cs typeface="+mn-cs"/>
                        </a:rPr>
                        <a:t>B</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38%</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64%</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70%</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55%</a:t>
                      </a:r>
                      <a:r>
                        <a:rPr lang="en-US" altLang="en-US" sz="1000">
                          <a:solidFill>
                            <a:srgbClr val="FF0000"/>
                          </a:solidFill>
                          <a:cs typeface="Arial" panose="020B0604020202020204" pitchFamily="34" charset="0"/>
                          <a:sym typeface="Symbol" pitchFamily="18" charset="2"/>
                        </a:rPr>
                        <a:t></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56%</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29603678"/>
                  </a:ext>
                </a:extLst>
              </a:tr>
              <a:tr h="323722">
                <a:tc>
                  <a:txBody>
                    <a:bodyPr/>
                    <a:lstStyle/>
                    <a:p>
                      <a:pPr marL="0" marR="0" lvl="1" indent="0" algn="l" defTabSz="914400" rtl="0" eaLnBrk="1" fontAlgn="auto" latinLnBrk="0" hangingPunct="1">
                        <a:lnSpc>
                          <a:spcPct val="86000"/>
                        </a:lnSpc>
                        <a:spcBef>
                          <a:spcPts val="0"/>
                        </a:spcBef>
                        <a:spcAft>
                          <a:spcPts val="0"/>
                        </a:spcAft>
                        <a:buClrTx/>
                        <a:buSzTx/>
                        <a:buFontTx/>
                        <a:buNone/>
                        <a:tabLst/>
                        <a:defRPr/>
                      </a:pPr>
                      <a:r>
                        <a:rPr lang="en-US" sz="1600" b="1" i="1" kern="1200">
                          <a:solidFill>
                            <a:schemeClr val="accent2">
                              <a:lumMod val="50000"/>
                            </a:schemeClr>
                          </a:solidFill>
                          <a:latin typeface="+mn-lt"/>
                          <a:ea typeface="+mn-ea"/>
                          <a:cs typeface="+mn-cs"/>
                        </a:rPr>
                        <a:t>Priority to Discuss </a:t>
                      </a:r>
                      <a:r>
                        <a:rPr kumimoji="0" lang="en-US" sz="1000" b="0" i="1" u="none" strike="noStrike" kern="1200" cap="none" spc="0" normalizeH="0" baseline="0" noProof="0">
                          <a:ln>
                            <a:noFill/>
                          </a:ln>
                          <a:solidFill>
                            <a:srgbClr val="FFFFFF">
                              <a:lumMod val="50000"/>
                            </a:srgbClr>
                          </a:solidFill>
                          <a:effectLst/>
                          <a:uLnTx/>
                          <a:uFillTx/>
                          <a:latin typeface="+mn-lt"/>
                          <a:ea typeface="+mn-ea"/>
                          <a:cs typeface="+mn-cs"/>
                        </a:rPr>
                        <a:t>(% Top Priority)</a:t>
                      </a:r>
                      <a:endParaRPr lang="en-US" sz="1600" b="0" i="1" kern="1200">
                        <a:solidFill>
                          <a:schemeClr val="accent2">
                            <a:lumMod val="50000"/>
                          </a:schemeClr>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tc>
                  <a:txBody>
                    <a:bodyPr/>
                    <a:lstStyle/>
                    <a:p>
                      <a:pPr algn="l"/>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7F5FF"/>
                    </a:solidFill>
                  </a:tcPr>
                </a:tc>
                <a:extLst>
                  <a:ext uri="{0D108BD9-81ED-4DB2-BD59-A6C34878D82A}">
                    <a16:rowId xmlns:a16="http://schemas.microsoft.com/office/drawing/2014/main" val="1489414374"/>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MenACWY</a:t>
                      </a:r>
                      <a:endParaRPr lang="en-US" sz="1400" b="0">
                        <a:solidFill>
                          <a:schemeClr val="bg1">
                            <a:lumMod val="50000"/>
                          </a:schemeClr>
                        </a:solidFill>
                        <a:latin typeface="+mn-lt"/>
                      </a:endParaRPr>
                    </a:p>
                  </a:txBody>
                  <a:tcPr marL="91392" marR="91392" marT="0" marB="0" anchor="ctr">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63%</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68%</a:t>
                      </a:r>
                      <a:r>
                        <a:rPr lang="en-US" sz="1200" b="0" kern="1200" baseline="30000">
                          <a:solidFill>
                            <a:schemeClr val="tx1"/>
                          </a:solidFill>
                          <a:latin typeface="+mn-lt"/>
                          <a:ea typeface="+mn-ea"/>
                          <a:cs typeface="+mn-cs"/>
                        </a:rPr>
                        <a:t>B</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40%</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84%</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83%</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65%</a:t>
                      </a:r>
                      <a:r>
                        <a:rPr lang="en-US" altLang="en-US" sz="1000">
                          <a:solidFill>
                            <a:srgbClr val="FF0000"/>
                          </a:solidFill>
                          <a:cs typeface="Arial" panose="020B0604020202020204" pitchFamily="34" charset="0"/>
                          <a:sym typeface="Symbol" pitchFamily="18" charset="2"/>
                        </a:rPr>
                        <a:t></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68%</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65026105"/>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MenB</a:t>
                      </a:r>
                      <a:endParaRPr lang="en-US" sz="1000" b="0" i="1" kern="1200">
                        <a:solidFill>
                          <a:schemeClr val="tx1"/>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57%</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61%</a:t>
                      </a:r>
                      <a:r>
                        <a:rPr lang="en-US" sz="1200" b="0" kern="1200" baseline="30000">
                          <a:solidFill>
                            <a:schemeClr val="tx1"/>
                          </a:solidFill>
                          <a:latin typeface="+mn-lt"/>
                          <a:ea typeface="+mn-ea"/>
                          <a:cs typeface="+mn-cs"/>
                        </a:rPr>
                        <a:t>B</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38%</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78%</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79%</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59%</a:t>
                      </a:r>
                      <a:r>
                        <a:rPr lang="en-US" altLang="en-US" sz="1000">
                          <a:solidFill>
                            <a:srgbClr val="FF0000"/>
                          </a:solidFill>
                          <a:cs typeface="Arial" panose="020B0604020202020204" pitchFamily="34" charset="0"/>
                          <a:sym typeface="Symbol" pitchFamily="18" charset="2"/>
                        </a:rPr>
                        <a:t></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61%</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97304319"/>
                  </a:ext>
                </a:extLst>
              </a:tr>
              <a:tr h="323722">
                <a:tc>
                  <a:txBody>
                    <a:bodyPr/>
                    <a:lstStyle/>
                    <a:p>
                      <a:pPr algn="l">
                        <a:lnSpc>
                          <a:spcPct val="86000"/>
                        </a:lnSpc>
                      </a:pPr>
                      <a:r>
                        <a:rPr lang="en-US" sz="1600" b="1" i="1" kern="1200">
                          <a:solidFill>
                            <a:schemeClr val="accent2">
                              <a:lumMod val="50000"/>
                            </a:schemeClr>
                          </a:solidFill>
                          <a:latin typeface="+mn-lt"/>
                          <a:ea typeface="+mn-ea"/>
                          <a:cs typeface="+mn-cs"/>
                        </a:rPr>
                        <a:t>Coadministration</a:t>
                      </a:r>
                      <a:endParaRPr lang="en-US" sz="900" b="0" i="1" kern="1200">
                        <a:solidFill>
                          <a:schemeClr val="accent2">
                            <a:lumMod val="50000"/>
                          </a:schemeClr>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tc>
                  <a:txBody>
                    <a:bodyPr/>
                    <a:lstStyle/>
                    <a:p>
                      <a:pPr algn="ct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solidFill>
                      <a:srgbClr val="E7F5FF"/>
                    </a:solidFill>
                  </a:tcPr>
                </a:tc>
                <a:extLst>
                  <a:ext uri="{0D108BD9-81ED-4DB2-BD59-A6C34878D82A}">
                    <a16:rowId xmlns:a16="http://schemas.microsoft.com/office/drawing/2014/main" val="3044240888"/>
                  </a:ext>
                </a:extLst>
              </a:tr>
              <a:tr h="323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MenACWY with other vaccines (e.g., flu, Tdap)</a:t>
                      </a:r>
                      <a:endParaRPr lang="en-US" sz="1000" b="0" i="1" kern="1200">
                        <a:solidFill>
                          <a:schemeClr val="tx1"/>
                        </a:solidFill>
                        <a:latin typeface="+mn-lt"/>
                        <a:ea typeface="+mn-ea"/>
                        <a:cs typeface="+mn-cs"/>
                      </a:endParaRPr>
                    </a:p>
                  </a:txBody>
                  <a:tcPr marL="91392" marR="91392" marT="0" marB="0" anchor="ctr">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94%</a:t>
                      </a:r>
                    </a:p>
                  </a:txBody>
                  <a:tcPr marL="0" marR="0" marT="0" marB="0" anchor="ctr">
                    <a:lnL w="19050" cap="flat" cmpd="sng" algn="ctr">
                      <a:solidFill>
                        <a:schemeClr val="accent2">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96%</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85%</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tcPr>
                </a:tc>
                <a:tc>
                  <a:txBody>
                    <a:bodyPr/>
                    <a:lstStyle/>
                    <a:p>
                      <a:pPr algn="ctr"/>
                      <a:endParaRPr lang="en-US" sz="1200" b="0" kern="1200">
                        <a:solidFill>
                          <a:schemeClr val="tx1"/>
                        </a:solidFill>
                        <a:latin typeface="+mn-lt"/>
                        <a:ea typeface="+mn-ea"/>
                        <a:cs typeface="+mn-cs"/>
                      </a:endParaRPr>
                    </a:p>
                  </a:txBody>
                  <a:tcPr marL="0" marR="0" marT="0" marB="0" anchor="ctr">
                    <a:lnL w="19050" cap="flat" cmpd="sng" algn="ctr">
                      <a:solidFill>
                        <a:schemeClr val="accent2">
                          <a:lumMod val="7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97%</a:t>
                      </a:r>
                    </a:p>
                  </a:txBody>
                  <a:tcPr marL="0" marR="0" marT="0" marB="0" anchor="ctr">
                    <a:lnL w="19050" cap="flat" cmpd="sng" algn="ctr">
                      <a:solidFill>
                        <a:schemeClr val="accent2">
                          <a:lumMod val="7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95%</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97%</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tcPr>
                </a:tc>
                <a:tc>
                  <a:txBody>
                    <a:bodyPr/>
                    <a:lstStyle/>
                    <a:p>
                      <a:pPr algn="ctr"/>
                      <a:r>
                        <a:rPr lang="en-US" sz="1200" b="0">
                          <a:solidFill>
                            <a:schemeClr val="tx1"/>
                          </a:solidFill>
                          <a:latin typeface="+mn-lt"/>
                        </a:rPr>
                        <a:t>96%</a:t>
                      </a:r>
                      <a:endParaRPr lang="en-US" sz="1200" b="0" kern="1200">
                        <a:solidFill>
                          <a:schemeClr val="tx1"/>
                        </a:solidFill>
                        <a:latin typeface="+mn-lt"/>
                        <a:ea typeface="+mn-ea"/>
                        <a:cs typeface="+mn-cs"/>
                      </a:endParaRPr>
                    </a:p>
                  </a:txBody>
                  <a:tcPr marL="0" marR="0" marT="0" marB="0" anchor="ctr">
                    <a:lnL w="9525" cap="flat" cmpd="sng" algn="ctr">
                      <a:solidFill>
                        <a:schemeClr val="bg1">
                          <a:lumMod val="85000"/>
                        </a:schemeClr>
                      </a:solidFill>
                      <a:prstDash val="solid"/>
                      <a:round/>
                      <a:headEnd type="none" w="med" len="med"/>
                      <a:tailEnd type="none" w="med" len="med"/>
                    </a:lnL>
                    <a:lnR w="19050" cap="flat" cmpd="sng" algn="ctr">
                      <a:solidFill>
                        <a:schemeClr val="accent2">
                          <a:lumMod val="75000"/>
                        </a:schemeClr>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tcPr>
                </a:tc>
                <a:extLst>
                  <a:ext uri="{0D108BD9-81ED-4DB2-BD59-A6C34878D82A}">
                    <a16:rowId xmlns:a16="http://schemas.microsoft.com/office/drawing/2014/main" val="2470618578"/>
                  </a:ext>
                </a:extLst>
              </a:tr>
            </a:tbl>
          </a:graphicData>
        </a:graphic>
      </p:graphicFrame>
      <p:sp>
        <p:nvSpPr>
          <p:cNvPr id="226" name="Text Box 30">
            <a:extLst>
              <a:ext uri="{FF2B5EF4-FFF2-40B4-BE49-F238E27FC236}">
                <a16:creationId xmlns:a16="http://schemas.microsoft.com/office/drawing/2014/main" id="{2AF1155E-F08D-94E7-9647-3E91E36699E3}"/>
              </a:ext>
            </a:extLst>
          </p:cNvPr>
          <p:cNvSpPr txBox="1">
            <a:spLocks noChangeArrowheads="1"/>
          </p:cNvSpPr>
          <p:nvPr/>
        </p:nvSpPr>
        <p:spPr bwMode="gray">
          <a:xfrm>
            <a:off x="5067115" y="6585762"/>
            <a:ext cx="2373385" cy="193579"/>
          </a:xfrm>
          <a:prstGeom prst="rect">
            <a:avLst/>
          </a:prstGeom>
          <a:noFill/>
          <a:ln>
            <a:noFill/>
          </a:ln>
          <a:effectLst/>
        </p:spPr>
        <p:txBody>
          <a:bodyPr wrap="none" lIns="27362" tIns="27362" rIns="27362" bIns="27362"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1934">
              <a:buClr>
                <a:srgbClr val="E7E6E6"/>
              </a:buClr>
              <a:buSzPct val="85000"/>
              <a:defRPr/>
            </a:pPr>
            <a:r>
              <a:rPr lang="en-US" altLang="en-US" sz="900">
                <a:solidFill>
                  <a:srgbClr val="FF0000"/>
                </a:solidFill>
                <a:cs typeface="Arial" panose="020B0604020202020204" pitchFamily="34" charset="0"/>
                <a:sym typeface="Symbol" pitchFamily="18" charset="2"/>
              </a:rPr>
              <a:t></a:t>
            </a:r>
            <a:r>
              <a:rPr lang="en-US" altLang="en-US" sz="900">
                <a:solidFill>
                  <a:srgbClr val="000000">
                    <a:lumMod val="65000"/>
                    <a:lumOff val="35000"/>
                  </a:srgbClr>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rPr>
              <a:t> </a:t>
            </a:r>
            <a:r>
              <a:rPr lang="en-US" sz="900">
                <a:solidFill>
                  <a:srgbClr val="000000">
                    <a:lumMod val="65000"/>
                    <a:lumOff val="35000"/>
                  </a:srgbClr>
                </a:solidFill>
                <a:cs typeface="Arial" panose="020B0604020202020204" pitchFamily="34" charset="0"/>
              </a:rPr>
              <a:t>= Significantly higher/lower vs. prior wave</a:t>
            </a:r>
          </a:p>
        </p:txBody>
      </p:sp>
      <p:sp>
        <p:nvSpPr>
          <p:cNvPr id="6" name="TextBox 5">
            <a:extLst>
              <a:ext uri="{FF2B5EF4-FFF2-40B4-BE49-F238E27FC236}">
                <a16:creationId xmlns:a16="http://schemas.microsoft.com/office/drawing/2014/main" id="{1D813604-9495-69AF-4EDA-9B89546BF6E3}"/>
              </a:ext>
            </a:extLst>
          </p:cNvPr>
          <p:cNvSpPr txBox="1"/>
          <p:nvPr/>
        </p:nvSpPr>
        <p:spPr bwMode="gray">
          <a:xfrm>
            <a:off x="1639642" y="6154700"/>
            <a:ext cx="4614164" cy="230772"/>
          </a:xfrm>
          <a:prstGeom prst="rect">
            <a:avLst/>
          </a:prstGeom>
          <a:noFill/>
        </p:spPr>
        <p:txBody>
          <a:bodyPr wrap="none">
            <a:spAutoFit/>
          </a:bodyPr>
          <a:lstStyle/>
          <a:p>
            <a:r>
              <a:rPr lang="en-US" sz="900" i="1">
                <a:solidFill>
                  <a:srgbClr val="FFFFFF">
                    <a:lumMod val="50000"/>
                  </a:srgbClr>
                </a:solidFill>
                <a:latin typeface="Arial" panose="020B0604020202020204"/>
              </a:rPr>
              <a:t>*As manufacturer of a meningococcal vaccine under development or recently launched</a:t>
            </a:r>
            <a:endParaRPr lang="en-US" sz="900">
              <a:solidFill>
                <a:srgbClr val="000000"/>
              </a:solidFill>
              <a:latin typeface="Arial" panose="020B0604020202020204"/>
            </a:endParaRPr>
          </a:p>
        </p:txBody>
      </p:sp>
      <p:grpSp>
        <p:nvGrpSpPr>
          <p:cNvPr id="8" name="Group 7">
            <a:extLst>
              <a:ext uri="{FF2B5EF4-FFF2-40B4-BE49-F238E27FC236}">
                <a16:creationId xmlns:a16="http://schemas.microsoft.com/office/drawing/2014/main" id="{B4D59353-8B3E-FA57-3E39-31C884693EF8}"/>
              </a:ext>
            </a:extLst>
          </p:cNvPr>
          <p:cNvGrpSpPr/>
          <p:nvPr/>
        </p:nvGrpSpPr>
        <p:grpSpPr>
          <a:xfrm>
            <a:off x="1138761" y="1773724"/>
            <a:ext cx="231440" cy="231440"/>
            <a:chOff x="11904257" y="1412230"/>
            <a:chExt cx="112380" cy="112870"/>
          </a:xfrm>
        </p:grpSpPr>
        <p:sp>
          <p:nvSpPr>
            <p:cNvPr id="10" name="Star: 5 Points 9">
              <a:extLst>
                <a:ext uri="{FF2B5EF4-FFF2-40B4-BE49-F238E27FC236}">
                  <a16:creationId xmlns:a16="http://schemas.microsoft.com/office/drawing/2014/main" id="{1F355FD7-B1E5-77CD-F52D-7C2EFB0E5ED7}"/>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11" name="Oval 10">
              <a:extLst>
                <a:ext uri="{FF2B5EF4-FFF2-40B4-BE49-F238E27FC236}">
                  <a16:creationId xmlns:a16="http://schemas.microsoft.com/office/drawing/2014/main" id="{C506135C-503F-4FC0-5EFC-474EEAA7CEE0}"/>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pSp>
        <p:nvGrpSpPr>
          <p:cNvPr id="12" name="Group 11">
            <a:extLst>
              <a:ext uri="{FF2B5EF4-FFF2-40B4-BE49-F238E27FC236}">
                <a16:creationId xmlns:a16="http://schemas.microsoft.com/office/drawing/2014/main" id="{05DBF794-FF11-E7BC-FB4C-6A4874B2AFC6}"/>
              </a:ext>
            </a:extLst>
          </p:cNvPr>
          <p:cNvGrpSpPr/>
          <p:nvPr/>
        </p:nvGrpSpPr>
        <p:grpSpPr>
          <a:xfrm>
            <a:off x="1138761" y="4380892"/>
            <a:ext cx="231440" cy="231440"/>
            <a:chOff x="11904257" y="1412230"/>
            <a:chExt cx="112380" cy="112870"/>
          </a:xfrm>
        </p:grpSpPr>
        <p:sp>
          <p:nvSpPr>
            <p:cNvPr id="15" name="Star: 5 Points 14">
              <a:extLst>
                <a:ext uri="{FF2B5EF4-FFF2-40B4-BE49-F238E27FC236}">
                  <a16:creationId xmlns:a16="http://schemas.microsoft.com/office/drawing/2014/main" id="{F8647CCC-EBA2-F8B9-9FB2-9DB321C162E7}"/>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16" name="Oval 15">
              <a:extLst>
                <a:ext uri="{FF2B5EF4-FFF2-40B4-BE49-F238E27FC236}">
                  <a16:creationId xmlns:a16="http://schemas.microsoft.com/office/drawing/2014/main" id="{99BB4C23-241B-42C2-48D4-96A4E7038396}"/>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pSp>
        <p:nvGrpSpPr>
          <p:cNvPr id="17" name="Group 16">
            <a:extLst>
              <a:ext uri="{FF2B5EF4-FFF2-40B4-BE49-F238E27FC236}">
                <a16:creationId xmlns:a16="http://schemas.microsoft.com/office/drawing/2014/main" id="{249AA76E-03B6-00C7-997A-AC797BA3B2BF}"/>
              </a:ext>
            </a:extLst>
          </p:cNvPr>
          <p:cNvGrpSpPr/>
          <p:nvPr/>
        </p:nvGrpSpPr>
        <p:grpSpPr>
          <a:xfrm>
            <a:off x="1138761" y="2420523"/>
            <a:ext cx="231440" cy="231440"/>
            <a:chOff x="11904257" y="1412230"/>
            <a:chExt cx="112380" cy="112870"/>
          </a:xfrm>
        </p:grpSpPr>
        <p:sp>
          <p:nvSpPr>
            <p:cNvPr id="18" name="Star: 5 Points 17">
              <a:extLst>
                <a:ext uri="{FF2B5EF4-FFF2-40B4-BE49-F238E27FC236}">
                  <a16:creationId xmlns:a16="http://schemas.microsoft.com/office/drawing/2014/main" id="{70FAD17E-57A0-5329-58BE-928BE752B541}"/>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19" name="Oval 18">
              <a:extLst>
                <a:ext uri="{FF2B5EF4-FFF2-40B4-BE49-F238E27FC236}">
                  <a16:creationId xmlns:a16="http://schemas.microsoft.com/office/drawing/2014/main" id="{4B79F3A5-F5C4-E2D4-43F9-7131DBE62B06}"/>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pSp>
        <p:nvGrpSpPr>
          <p:cNvPr id="23" name="Group 22">
            <a:extLst>
              <a:ext uri="{FF2B5EF4-FFF2-40B4-BE49-F238E27FC236}">
                <a16:creationId xmlns:a16="http://schemas.microsoft.com/office/drawing/2014/main" id="{2B724E37-4DAF-1FE4-4345-9F172B4433EC}"/>
              </a:ext>
            </a:extLst>
          </p:cNvPr>
          <p:cNvGrpSpPr/>
          <p:nvPr/>
        </p:nvGrpSpPr>
        <p:grpSpPr>
          <a:xfrm>
            <a:off x="1138761" y="5681033"/>
            <a:ext cx="231440" cy="231440"/>
            <a:chOff x="11904257" y="1412230"/>
            <a:chExt cx="112380" cy="112870"/>
          </a:xfrm>
        </p:grpSpPr>
        <p:sp>
          <p:nvSpPr>
            <p:cNvPr id="24" name="Star: 5 Points 23">
              <a:extLst>
                <a:ext uri="{FF2B5EF4-FFF2-40B4-BE49-F238E27FC236}">
                  <a16:creationId xmlns:a16="http://schemas.microsoft.com/office/drawing/2014/main" id="{FBAB0FC3-9912-E372-BBD2-BF8AAE3549F7}"/>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25" name="Oval 24">
              <a:extLst>
                <a:ext uri="{FF2B5EF4-FFF2-40B4-BE49-F238E27FC236}">
                  <a16:creationId xmlns:a16="http://schemas.microsoft.com/office/drawing/2014/main" id="{C58A3C9D-287D-7316-4C59-17CFFD443D4D}"/>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sp>
        <p:nvSpPr>
          <p:cNvPr id="4" name="TextBox 1">
            <a:extLst>
              <a:ext uri="{FF2B5EF4-FFF2-40B4-BE49-F238E27FC236}">
                <a16:creationId xmlns:a16="http://schemas.microsoft.com/office/drawing/2014/main" id="{2C940C28-188B-AFEB-36AA-2AEF937AC7C9}"/>
              </a:ext>
            </a:extLst>
          </p:cNvPr>
          <p:cNvSpPr txBox="1"/>
          <p:nvPr/>
        </p:nvSpPr>
        <p:spPr bwMode="gray">
          <a:xfrm>
            <a:off x="11580739" y="438525"/>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cxnSp>
        <p:nvCxnSpPr>
          <p:cNvPr id="3" name="Straight Connector 2">
            <a:extLst>
              <a:ext uri="{FF2B5EF4-FFF2-40B4-BE49-F238E27FC236}">
                <a16:creationId xmlns:a16="http://schemas.microsoft.com/office/drawing/2014/main" id="{6F9C2990-10D4-30C5-70B5-A1B993188361}"/>
              </a:ext>
            </a:extLst>
          </p:cNvPr>
          <p:cNvCxnSpPr>
            <a:cxnSpLocks/>
          </p:cNvCxnSpPr>
          <p:nvPr/>
        </p:nvCxnSpPr>
        <p:spPr bwMode="gray">
          <a:xfrm>
            <a:off x="2961020" y="89123"/>
            <a:ext cx="0" cy="243272"/>
          </a:xfrm>
          <a:prstGeom prst="line">
            <a:avLst/>
          </a:prstGeom>
          <a:ln cap="rnd">
            <a:solidFill>
              <a:schemeClr val="bg1"/>
            </a:solidFill>
            <a:headEnd/>
            <a:tailEnd/>
          </a:ln>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B8D498E9-F4CF-E0A5-C7E7-3A60021A6CCD}"/>
              </a:ext>
            </a:extLst>
          </p:cNvPr>
          <p:cNvCxnSpPr>
            <a:cxnSpLocks/>
          </p:cNvCxnSpPr>
          <p:nvPr/>
        </p:nvCxnSpPr>
        <p:spPr bwMode="gray">
          <a:xfrm>
            <a:off x="2961020" y="89123"/>
            <a:ext cx="0" cy="243272"/>
          </a:xfrm>
          <a:prstGeom prst="line">
            <a:avLst/>
          </a:prstGeom>
          <a:ln cap="rnd">
            <a:solidFill>
              <a:schemeClr val="bg1"/>
            </a:solidFill>
            <a:headEnd/>
            <a:tailEn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156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020A22-B595-BC81-E2A8-661432F9EE0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493FD7-B122-808F-CC5E-66BCF2A182B0}"/>
              </a:ext>
            </a:extLst>
          </p:cNvPr>
          <p:cNvSpPr/>
          <p:nvPr/>
        </p:nvSpPr>
        <p:spPr bwMode="gray">
          <a:xfrm>
            <a:off x="14275" y="8028"/>
            <a:ext cx="12160287" cy="415588"/>
          </a:xfrm>
          <a:prstGeom prst="rect">
            <a:avLst/>
          </a:prstGeom>
          <a:solidFill>
            <a:srgbClr val="937DAD"/>
          </a:solidFill>
          <a:ln w="19050" cap="flat" cmpd="sng" algn="ctr">
            <a:solidFill>
              <a:srgbClr val="937DAD"/>
            </a:solidFill>
            <a:prstDash val="solid"/>
            <a:miter lim="800000"/>
            <a:headEnd type="none" w="med" len="med"/>
            <a:tailEnd type="none" w="med" len="med"/>
          </a:ln>
          <a:effectLst/>
        </p:spPr>
        <p:txBody>
          <a:bodyPr vert="horz" wrap="square" lIns="91213" tIns="45607" rIns="91213" bIns="45607" numCol="1" rtlCol="0" anchor="ctr" anchorCtr="0" compatLnSpc="1">
            <a:prstTxWarp prst="textNoShape">
              <a:avLst/>
            </a:prstTxWarp>
            <a:noAutofit/>
          </a:bodyPr>
          <a:lstStyle/>
          <a:p>
            <a:pPr algn="ctr" defTabSz="912756" fontAlgn="base">
              <a:lnSpc>
                <a:spcPct val="90000"/>
              </a:lnSpc>
              <a:spcAft>
                <a:spcPct val="0"/>
              </a:spcAft>
              <a:buClr>
                <a:srgbClr val="0095FF"/>
              </a:buClr>
              <a:buSzPct val="90000"/>
            </a:pPr>
            <a:r>
              <a:rPr lang="en-US" sz="1799" b="1">
                <a:solidFill>
                  <a:srgbClr val="FFFFFF"/>
                </a:solidFill>
                <a:latin typeface="Arial" panose="020B0604020202020204"/>
                <a:cs typeface="Times New Roman" panose="02020603050405020304" pitchFamily="18" charset="0"/>
              </a:rPr>
              <a:t>Pentavalent Awareness &amp; Perceptions</a:t>
            </a:r>
          </a:p>
        </p:txBody>
      </p:sp>
      <p:sp>
        <p:nvSpPr>
          <p:cNvPr id="7" name="TextBox 6">
            <a:extLst>
              <a:ext uri="{FF2B5EF4-FFF2-40B4-BE49-F238E27FC236}">
                <a16:creationId xmlns:a16="http://schemas.microsoft.com/office/drawing/2014/main" id="{E7BD37C7-8FCE-BBFD-206A-0D61AFCF85A4}"/>
              </a:ext>
            </a:extLst>
          </p:cNvPr>
          <p:cNvSpPr txBox="1"/>
          <p:nvPr/>
        </p:nvSpPr>
        <p:spPr bwMode="gray">
          <a:xfrm>
            <a:off x="51374" y="84435"/>
            <a:ext cx="2486186" cy="258271"/>
          </a:xfrm>
          <a:prstGeom prst="rect">
            <a:avLst/>
          </a:prstGeom>
        </p:spPr>
        <p:txBody>
          <a:bodyPr wrap="none" lIns="45612" tIns="45612" rIns="45612" bIns="45612" rtlCol="0" anchor="ctr" anchorCtr="0">
            <a:spAutoFit/>
          </a:bodyPr>
          <a:lstStyle/>
          <a:p>
            <a:pPr defTabSz="911934">
              <a:lnSpc>
                <a:spcPct val="90000"/>
              </a:lnSpc>
              <a:spcBef>
                <a:spcPts val="1000"/>
              </a:spcBef>
              <a:defRPr/>
            </a:pPr>
            <a:r>
              <a:rPr lang="en-US" sz="1200">
                <a:solidFill>
                  <a:srgbClr val="FFFFFF"/>
                </a:solidFill>
                <a:latin typeface="Arial" panose="020B0604020202020204"/>
              </a:rPr>
              <a:t>HCP ATU Key Metrics: </a:t>
            </a:r>
            <a:r>
              <a:rPr lang="en-US" sz="1200" b="1">
                <a:solidFill>
                  <a:srgbClr val="FFFFFF"/>
                </a:solidFill>
                <a:latin typeface="Arial" panose="020B0604020202020204"/>
              </a:rPr>
              <a:t>BRANDED </a:t>
            </a:r>
          </a:p>
        </p:txBody>
      </p:sp>
      <p:sp>
        <p:nvSpPr>
          <p:cNvPr id="9" name="TextBox 8">
            <a:extLst>
              <a:ext uri="{FF2B5EF4-FFF2-40B4-BE49-F238E27FC236}">
                <a16:creationId xmlns:a16="http://schemas.microsoft.com/office/drawing/2014/main" id="{1F4707CD-DEFC-CE93-AA6B-9CA9E0B6D658}"/>
              </a:ext>
            </a:extLst>
          </p:cNvPr>
          <p:cNvSpPr txBox="1"/>
          <p:nvPr/>
        </p:nvSpPr>
        <p:spPr bwMode="gray">
          <a:xfrm>
            <a:off x="10697950" y="84433"/>
            <a:ext cx="1268413" cy="258271"/>
          </a:xfrm>
          <a:prstGeom prst="rect">
            <a:avLst/>
          </a:prstGeom>
        </p:spPr>
        <p:txBody>
          <a:bodyPr wrap="none" lIns="45612" tIns="45612" rIns="45612" bIns="45612" rtlCol="0" anchor="ctr" anchorCtr="0">
            <a:spAutoFit/>
          </a:bodyPr>
          <a:lstStyle/>
          <a:p>
            <a:pPr algn="r" defTabSz="911934">
              <a:lnSpc>
                <a:spcPct val="90000"/>
              </a:lnSpc>
              <a:spcBef>
                <a:spcPts val="1000"/>
              </a:spcBef>
              <a:defRPr/>
            </a:pPr>
            <a:r>
              <a:rPr lang="en-US" sz="1200" b="1">
                <a:solidFill>
                  <a:srgbClr val="FFFFFF"/>
                </a:solidFill>
                <a:latin typeface="Arial" panose="020B0604020202020204"/>
              </a:rPr>
              <a:t>September 2025</a:t>
            </a:r>
          </a:p>
        </p:txBody>
      </p:sp>
      <p:cxnSp>
        <p:nvCxnSpPr>
          <p:cNvPr id="13" name="Straight Connector 12">
            <a:extLst>
              <a:ext uri="{FF2B5EF4-FFF2-40B4-BE49-F238E27FC236}">
                <a16:creationId xmlns:a16="http://schemas.microsoft.com/office/drawing/2014/main" id="{C853CCA1-FA55-9994-0F52-03B21F7D9FA7}"/>
              </a:ext>
            </a:extLst>
          </p:cNvPr>
          <p:cNvCxnSpPr>
            <a:cxnSpLocks/>
          </p:cNvCxnSpPr>
          <p:nvPr/>
        </p:nvCxnSpPr>
        <p:spPr bwMode="gray">
          <a:xfrm>
            <a:off x="2962608" y="89124"/>
            <a:ext cx="0" cy="243272"/>
          </a:xfrm>
          <a:prstGeom prst="line">
            <a:avLst/>
          </a:prstGeom>
          <a:ln cap="rnd">
            <a:solidFill>
              <a:schemeClr val="bg1"/>
            </a:solidFill>
            <a:headEnd/>
            <a:tailEnd/>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1AE1674C-F9E5-105E-DD0F-1C2CD6FB3385}"/>
              </a:ext>
            </a:extLst>
          </p:cNvPr>
          <p:cNvCxnSpPr>
            <a:cxnSpLocks/>
          </p:cNvCxnSpPr>
          <p:nvPr/>
        </p:nvCxnSpPr>
        <p:spPr bwMode="gray">
          <a:xfrm>
            <a:off x="9226836" y="89124"/>
            <a:ext cx="0" cy="243272"/>
          </a:xfrm>
          <a:prstGeom prst="line">
            <a:avLst/>
          </a:prstGeom>
          <a:ln cap="rnd">
            <a:solidFill>
              <a:schemeClr val="bg1"/>
            </a:solidFill>
            <a:headEnd/>
            <a:tailEnd/>
          </a:ln>
        </p:spPr>
        <p:style>
          <a:lnRef idx="3">
            <a:schemeClr val="dk1"/>
          </a:lnRef>
          <a:fillRef idx="0">
            <a:schemeClr val="dk1"/>
          </a:fillRef>
          <a:effectRef idx="2">
            <a:schemeClr val="dk1"/>
          </a:effectRef>
          <a:fontRef idx="minor">
            <a:schemeClr val="tx1"/>
          </a:fontRef>
        </p:style>
      </p:cxnSp>
      <p:sp>
        <p:nvSpPr>
          <p:cNvPr id="199" name="Text Placeholder 2">
            <a:extLst>
              <a:ext uri="{FF2B5EF4-FFF2-40B4-BE49-F238E27FC236}">
                <a16:creationId xmlns:a16="http://schemas.microsoft.com/office/drawing/2014/main" id="{BBCF4146-34D4-7E73-941F-DBB822556304}"/>
              </a:ext>
            </a:extLst>
          </p:cNvPr>
          <p:cNvSpPr txBox="1">
            <a:spLocks/>
          </p:cNvSpPr>
          <p:nvPr/>
        </p:nvSpPr>
        <p:spPr bwMode="gray">
          <a:xfrm>
            <a:off x="1514149" y="6466063"/>
            <a:ext cx="3887398" cy="313276"/>
          </a:xfrm>
          <a:prstGeom prst="rect">
            <a:avLst/>
          </a:prstGeom>
          <a:solidFill>
            <a:schemeClr val="bg1"/>
          </a:solidFill>
        </p:spPr>
        <p:txBody>
          <a:bodyPr vert="horz" wrap="none" lIns="0" tIns="0" rIns="0" bIns="0" rtlCol="0" anchor="b">
            <a:noAutofit/>
          </a:bodyPr>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2756">
              <a:spcBef>
                <a:spcPts val="0"/>
              </a:spcBef>
              <a:buClr>
                <a:srgbClr val="0095FF"/>
              </a:buClr>
              <a:tabLst>
                <a:tab pos="174209" algn="r"/>
                <a:tab pos="395923" algn="l"/>
              </a:tabLst>
              <a:defRPr/>
            </a:pPr>
            <a:r>
              <a:rPr lang="en-US" sz="900">
                <a:solidFill>
                  <a:srgbClr val="FFFFFF">
                    <a:lumMod val="50000"/>
                  </a:srgbClr>
                </a:solidFill>
                <a:latin typeface="Arial" panose="020B0604020202020204"/>
              </a:rPr>
              <a:t>Question wording can be found in the Notes section.</a:t>
            </a:r>
          </a:p>
        </p:txBody>
      </p:sp>
      <p:graphicFrame>
        <p:nvGraphicFramePr>
          <p:cNvPr id="2" name="Table 1">
            <a:extLst>
              <a:ext uri="{FF2B5EF4-FFF2-40B4-BE49-F238E27FC236}">
                <a16:creationId xmlns:a16="http://schemas.microsoft.com/office/drawing/2014/main" id="{EEB22100-97D0-F3F9-360B-A293F48B8769}"/>
              </a:ext>
            </a:extLst>
          </p:cNvPr>
          <p:cNvGraphicFramePr>
            <a:graphicFrameLocks noGrp="1"/>
          </p:cNvGraphicFramePr>
          <p:nvPr/>
        </p:nvGraphicFramePr>
        <p:xfrm>
          <a:off x="1432514" y="683885"/>
          <a:ext cx="9667412" cy="2791326"/>
        </p:xfrm>
        <a:graphic>
          <a:graphicData uri="http://schemas.openxmlformats.org/drawingml/2006/table">
            <a:tbl>
              <a:tblPr firstRow="1" bandRow="1">
                <a:tableStyleId>{2D5ABB26-0587-4C30-8999-92F81FD0307C}</a:tableStyleId>
              </a:tblPr>
              <a:tblGrid>
                <a:gridCol w="4188837">
                  <a:extLst>
                    <a:ext uri="{9D8B030D-6E8A-4147-A177-3AD203B41FA5}">
                      <a16:colId xmlns:a16="http://schemas.microsoft.com/office/drawing/2014/main" val="664799818"/>
                    </a:ext>
                  </a:extLst>
                </a:gridCol>
                <a:gridCol w="755647">
                  <a:extLst>
                    <a:ext uri="{9D8B030D-6E8A-4147-A177-3AD203B41FA5}">
                      <a16:colId xmlns:a16="http://schemas.microsoft.com/office/drawing/2014/main" val="3981885767"/>
                    </a:ext>
                  </a:extLst>
                </a:gridCol>
                <a:gridCol w="755647">
                  <a:extLst>
                    <a:ext uri="{9D8B030D-6E8A-4147-A177-3AD203B41FA5}">
                      <a16:colId xmlns:a16="http://schemas.microsoft.com/office/drawing/2014/main" val="1145194268"/>
                    </a:ext>
                  </a:extLst>
                </a:gridCol>
                <a:gridCol w="755647">
                  <a:extLst>
                    <a:ext uri="{9D8B030D-6E8A-4147-A177-3AD203B41FA5}">
                      <a16:colId xmlns:a16="http://schemas.microsoft.com/office/drawing/2014/main" val="3922928663"/>
                    </a:ext>
                  </a:extLst>
                </a:gridCol>
                <a:gridCol w="182832">
                  <a:extLst>
                    <a:ext uri="{9D8B030D-6E8A-4147-A177-3AD203B41FA5}">
                      <a16:colId xmlns:a16="http://schemas.microsoft.com/office/drawing/2014/main" val="2703076429"/>
                    </a:ext>
                  </a:extLst>
                </a:gridCol>
                <a:gridCol w="755647">
                  <a:extLst>
                    <a:ext uri="{9D8B030D-6E8A-4147-A177-3AD203B41FA5}">
                      <a16:colId xmlns:a16="http://schemas.microsoft.com/office/drawing/2014/main" val="3316403955"/>
                    </a:ext>
                  </a:extLst>
                </a:gridCol>
                <a:gridCol w="758754">
                  <a:extLst>
                    <a:ext uri="{9D8B030D-6E8A-4147-A177-3AD203B41FA5}">
                      <a16:colId xmlns:a16="http://schemas.microsoft.com/office/drawing/2014/main" val="4158502524"/>
                    </a:ext>
                  </a:extLst>
                </a:gridCol>
                <a:gridCol w="758754">
                  <a:extLst>
                    <a:ext uri="{9D8B030D-6E8A-4147-A177-3AD203B41FA5}">
                      <a16:colId xmlns:a16="http://schemas.microsoft.com/office/drawing/2014/main" val="1250612696"/>
                    </a:ext>
                  </a:extLst>
                </a:gridCol>
                <a:gridCol w="755647">
                  <a:extLst>
                    <a:ext uri="{9D8B030D-6E8A-4147-A177-3AD203B41FA5}">
                      <a16:colId xmlns:a16="http://schemas.microsoft.com/office/drawing/2014/main" val="3835666150"/>
                    </a:ext>
                  </a:extLst>
                </a:gridCol>
              </a:tblGrid>
              <a:tr h="244482">
                <a:tc>
                  <a:txBody>
                    <a:bodyPr/>
                    <a:lstStyle/>
                    <a:p>
                      <a:endParaRPr lang="en-US" sz="1200">
                        <a:latin typeface="+mn-lt"/>
                      </a:endParaRPr>
                    </a:p>
                  </a:txBody>
                  <a:tcPr marL="0" marR="0" marT="0" marB="0">
                    <a:lnR w="12700" cap="flat" cmpd="sng" algn="ctr">
                      <a:solidFill>
                        <a:srgbClr val="7030A0"/>
                      </a:solidFill>
                      <a:prstDash val="solid"/>
                      <a:round/>
                      <a:headEnd type="none" w="med" len="med"/>
                      <a:tailEnd type="none" w="med" len="med"/>
                    </a:lnR>
                    <a:lnB w="6350" cap="flat" cmpd="sng" algn="ctr">
                      <a:noFill/>
                      <a:prstDash val="solid"/>
                      <a:round/>
                      <a:headEnd type="none" w="med" len="med"/>
                      <a:tailEnd type="none" w="med" len="med"/>
                    </a:lnB>
                    <a:noFill/>
                  </a:tcPr>
                </a:tc>
                <a:tc gridSpan="3">
                  <a:txBody>
                    <a:bodyPr/>
                    <a:lstStyle/>
                    <a:p>
                      <a:pPr algn="ctr"/>
                      <a:r>
                        <a:rPr lang="en-US" sz="1600" b="1">
                          <a:solidFill>
                            <a:srgbClr val="2B077B"/>
                          </a:solidFill>
                          <a:latin typeface="+mn-lt"/>
                        </a:rPr>
                        <a:t>Current Wave</a:t>
                      </a:r>
                      <a:endParaRPr lang="en-US" sz="1400" b="1">
                        <a:solidFill>
                          <a:srgbClr val="2B077B"/>
                        </a:solidFill>
                        <a:latin typeface="+mn-lt"/>
                      </a:endParaRPr>
                    </a:p>
                  </a:txBody>
                  <a:tcPr marL="0" marR="0" marT="0" marB="0" anchor="ct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9525" cap="flat" cmpd="sng" algn="ctr">
                      <a:solidFill>
                        <a:srgbClr val="937DAD"/>
                      </a:solidFill>
                      <a:prstDash val="solid"/>
                      <a:round/>
                      <a:headEnd type="none" w="med" len="med"/>
                      <a:tailEnd type="none" w="med" len="med"/>
                    </a:lnB>
                    <a:noFill/>
                  </a:tcPr>
                </a:tc>
                <a:tc hMerge="1">
                  <a:txBody>
                    <a:bodyPr/>
                    <a:lstStyle/>
                    <a:p>
                      <a:pPr algn="ctr"/>
                      <a:endParaRPr lang="en-US" sz="1400" b="1">
                        <a:solidFill>
                          <a:srgbClr val="0000C9"/>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hMerge="1">
                  <a:txBody>
                    <a:bodyPr/>
                    <a:lstStyle/>
                    <a:p>
                      <a:pPr algn="ctr"/>
                      <a:endParaRPr lang="en-US" sz="1400" b="1">
                        <a:solidFill>
                          <a:srgbClr val="0000C9"/>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ctr"/>
                      <a:endParaRPr lang="en-US" sz="1400" b="1">
                        <a:solidFill>
                          <a:srgbClr val="2B077B"/>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gridSpan="4">
                  <a:txBody>
                    <a:bodyPr/>
                    <a:lstStyle/>
                    <a:p>
                      <a:pPr algn="ctr"/>
                      <a:r>
                        <a:rPr lang="en-US" sz="1600" b="1">
                          <a:solidFill>
                            <a:srgbClr val="2B077B"/>
                          </a:solidFill>
                          <a:latin typeface="+mn-lt"/>
                        </a:rPr>
                        <a:t>PED Trended Data</a:t>
                      </a:r>
                    </a:p>
                  </a:txBody>
                  <a:tcPr marL="0" marR="0" marT="0" marB="0" anchor="ctr">
                    <a:lnL w="19050" cap="flat" cmpd="sng" algn="ctr">
                      <a:solidFill>
                        <a:srgbClr val="937DAD"/>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solidFill>
                        <a:srgbClr val="937DAD"/>
                      </a:solidFill>
                      <a:prstDash val="solid"/>
                      <a:round/>
                      <a:headEnd type="none" w="med" len="med"/>
                      <a:tailEnd type="none" w="med" len="med"/>
                    </a:lnT>
                    <a:lnB w="9525" cap="flat" cmpd="sng" algn="ctr">
                      <a:solidFill>
                        <a:srgbClr val="937DAD"/>
                      </a:solidFill>
                      <a:prstDash val="solid"/>
                      <a:round/>
                      <a:headEnd type="none" w="med" len="med"/>
                      <a:tailEnd type="none" w="med" len="med"/>
                    </a:lnB>
                    <a:noFill/>
                  </a:tcPr>
                </a:tc>
                <a:tc hMerge="1">
                  <a:txBody>
                    <a:bodyPr/>
                    <a:lstStyle/>
                    <a:p>
                      <a:pPr algn="ctr"/>
                      <a:endParaRPr lang="en-US" sz="1400" b="1">
                        <a:solidFill>
                          <a:srgbClr val="0000C9"/>
                        </a:solidFill>
                        <a:latin typeface="+mn-lt"/>
                      </a:endParaRPr>
                    </a:p>
                  </a:txBody>
                  <a:tcPr marL="0" marR="0" marT="0" marB="0">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1400" b="1">
                        <a:solidFill>
                          <a:srgbClr val="0000C9"/>
                        </a:solidFill>
                        <a:latin typeface="+mn-lt"/>
                      </a:endParaRPr>
                    </a:p>
                  </a:txBody>
                  <a:tcPr marL="0" marR="0" marT="0" marB="0">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279058055"/>
                  </a:ext>
                </a:extLst>
              </a:tr>
              <a:tr h="182832">
                <a:tc>
                  <a:txBody>
                    <a:bodyPr/>
                    <a:lstStyle/>
                    <a:p>
                      <a:endParaRPr lang="en-US" sz="1200">
                        <a:latin typeface="+mn-lt"/>
                      </a:endParaRPr>
                    </a:p>
                  </a:txBody>
                  <a:tcPr marL="0" marR="0" marT="0" marB="0">
                    <a:lnR w="12700" cap="flat" cmpd="sng" algn="ctr">
                      <a:solidFill>
                        <a:srgbClr val="7030A0"/>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2B077B"/>
                          </a:solidFill>
                          <a:latin typeface="+mn-lt"/>
                        </a:rPr>
                        <a:t>TOTAL</a:t>
                      </a:r>
                    </a:p>
                  </a:txBody>
                  <a:tcPr marL="0" marR="0" marT="0"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2B077B"/>
                          </a:solidFill>
                          <a:latin typeface="+mn-lt"/>
                        </a:rPr>
                        <a:t>PED</a:t>
                      </a:r>
                      <a:r>
                        <a:rPr lang="en-US" sz="1200" b="0">
                          <a:solidFill>
                            <a:srgbClr val="7F7F7F"/>
                          </a:solidFill>
                          <a:latin typeface="+mn-lt"/>
                          <a:cs typeface="Arial"/>
                        </a:rPr>
                        <a:t> </a:t>
                      </a:r>
                      <a:r>
                        <a:rPr lang="en-US" sz="1200" b="0" baseline="15000">
                          <a:solidFill>
                            <a:srgbClr val="7F7F7F"/>
                          </a:solidFill>
                          <a:latin typeface="+mn-lt"/>
                          <a:cs typeface="Arial"/>
                        </a:rPr>
                        <a:t>| A</a:t>
                      </a:r>
                      <a:endParaRPr lang="en-US" sz="1200" b="0" baseline="1500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2B077B"/>
                          </a:solidFill>
                          <a:latin typeface="+mn-lt"/>
                        </a:rPr>
                        <a:t>PCP</a:t>
                      </a:r>
                      <a:r>
                        <a:rPr lang="en-US" sz="1200" b="0">
                          <a:solidFill>
                            <a:srgbClr val="7F7F7F"/>
                          </a:solidFill>
                          <a:latin typeface="+mn-lt"/>
                          <a:cs typeface="Arial"/>
                        </a:rPr>
                        <a:t> </a:t>
                      </a:r>
                      <a:r>
                        <a:rPr lang="en-US" sz="1200" b="0" baseline="15000">
                          <a:solidFill>
                            <a:srgbClr val="7F7F7F"/>
                          </a:solidFill>
                          <a:latin typeface="+mn-lt"/>
                          <a:cs typeface="Arial"/>
                        </a:rPr>
                        <a:t>| B</a:t>
                      </a:r>
                      <a:endParaRPr lang="en-US" sz="1200" b="0" baseline="1500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endParaRPr lang="en-US" sz="1200" b="0">
                        <a:solidFill>
                          <a:srgbClr val="2B077B"/>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sz="1200" b="0" kern="1200">
                          <a:solidFill>
                            <a:srgbClr val="2B077B"/>
                          </a:solidFill>
                          <a:latin typeface="+mn-lt"/>
                          <a:ea typeface="+mn-ea"/>
                          <a:cs typeface="+mn-cs"/>
                        </a:rPr>
                        <a:t>Jan’24</a:t>
                      </a:r>
                    </a:p>
                  </a:txBody>
                  <a:tcPr marL="0" marR="0" marT="0" marB="0" anchor="ctr">
                    <a:lnL w="19050" cap="flat" cmpd="sng" algn="ctr">
                      <a:solidFill>
                        <a:srgbClr val="937DAD"/>
                      </a:solidFill>
                      <a:prstDash val="solid"/>
                      <a:round/>
                      <a:headEnd type="none" w="med" len="med"/>
                      <a:tailEnd type="none" w="med" len="med"/>
                    </a:lnL>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kern="1200">
                          <a:solidFill>
                            <a:srgbClr val="2B077B"/>
                          </a:solidFill>
                          <a:latin typeface="+mn-lt"/>
                          <a:ea typeface="+mn-ea"/>
                          <a:cs typeface="+mn-cs"/>
                        </a:rPr>
                        <a:t>Jun’24</a:t>
                      </a:r>
                    </a:p>
                  </a:txBody>
                  <a:tcPr marL="0" marR="0" marT="0" marB="0" anchor="ct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2B077B"/>
                          </a:solidFill>
                          <a:latin typeface="+mn-lt"/>
                        </a:rPr>
                        <a:t>Sep’24</a:t>
                      </a:r>
                    </a:p>
                  </a:txBody>
                  <a:tcPr marL="0" marR="0" marT="0" marB="0" anchor="ct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2B077B"/>
                          </a:solidFill>
                          <a:latin typeface="+mn-lt"/>
                        </a:rPr>
                        <a:t>Sep’25</a:t>
                      </a:r>
                    </a:p>
                  </a:txBody>
                  <a:tcPr marL="0" marR="0" marT="0" marB="0" anchor="ctr">
                    <a:lnR w="19050" cap="flat" cmpd="sng" algn="ctr">
                      <a:solidFill>
                        <a:srgbClr val="937DAD"/>
                      </a:solidFill>
                      <a:prstDash val="solid"/>
                      <a:round/>
                      <a:headEnd type="none" w="med" len="med"/>
                      <a:tailEnd type="none" w="med" len="med"/>
                    </a:ln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28386083"/>
                  </a:ext>
                </a:extLst>
              </a:tr>
              <a:tr h="137124">
                <a:tc>
                  <a:txBody>
                    <a:bodyPr/>
                    <a:lstStyle/>
                    <a:p>
                      <a:endParaRPr lang="en-US" sz="900">
                        <a:latin typeface="+mn-lt"/>
                      </a:endParaRPr>
                    </a:p>
                  </a:txBody>
                  <a:tcPr marL="0" marR="0" marT="0" marB="0">
                    <a:lnR w="12700" cap="flat" cmpd="sng" algn="ctr">
                      <a:solidFill>
                        <a:srgbClr val="7030A0"/>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(n=200)</a:t>
                      </a:r>
                    </a:p>
                  </a:txBody>
                  <a:tcPr marL="0" marR="0" marT="0" marB="0">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bg1">
                              <a:lumMod val="65000"/>
                            </a:schemeClr>
                          </a:solidFill>
                          <a:latin typeface="+mn-lt"/>
                        </a:rPr>
                        <a:t>(n=160)</a:t>
                      </a: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(n=40)</a:t>
                      </a: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endParaRPr lang="en-US" sz="900" b="0">
                        <a:solidFill>
                          <a:schemeClr val="bg1">
                            <a:lumMod val="65000"/>
                          </a:schemeClr>
                        </a:solidFill>
                        <a:latin typeface="+mn-lt"/>
                      </a:endParaRPr>
                    </a:p>
                  </a:txBody>
                  <a:tcPr marL="0" marR="0" marT="0" marB="0">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(n=192)</a:t>
                      </a:r>
                    </a:p>
                  </a:txBody>
                  <a:tcPr marL="0" marR="0" marT="0" marB="0">
                    <a:lnL w="19050" cap="flat" cmpd="sng" algn="ctr">
                      <a:solidFill>
                        <a:srgbClr val="937DAD"/>
                      </a:solidFill>
                      <a:prstDash val="solid"/>
                      <a:round/>
                      <a:headEnd type="none" w="med" len="med"/>
                      <a:tailEnd type="none" w="med" len="med"/>
                    </a:lnL>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(n=150)</a:t>
                      </a:r>
                    </a:p>
                  </a:txBody>
                  <a:tcPr marL="0" marR="0" marT="0" marB="0">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(n=160)</a:t>
                      </a:r>
                    </a:p>
                  </a:txBody>
                  <a:tcPr marL="0" marR="0" marT="0" marB="0">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(n=160)</a:t>
                      </a:r>
                    </a:p>
                  </a:txBody>
                  <a:tcPr marL="0" marR="0" marT="0" marB="0">
                    <a:lnR w="19050" cap="flat" cmpd="sng" algn="ctr">
                      <a:solidFill>
                        <a:srgbClr val="937DAD"/>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662937761"/>
                  </a:ext>
                </a:extLst>
              </a:tr>
              <a:tr h="267402">
                <a:tc>
                  <a:txBody>
                    <a:bodyPr/>
                    <a:lstStyle/>
                    <a:p>
                      <a:pPr algn="l"/>
                      <a:r>
                        <a:rPr lang="en-US" sz="1600" b="1" i="1" kern="1200">
                          <a:solidFill>
                            <a:srgbClr val="2B077B"/>
                          </a:solidFill>
                          <a:latin typeface="+mn-lt"/>
                          <a:ea typeface="+mn-ea"/>
                          <a:cs typeface="+mn-cs"/>
                        </a:rPr>
                        <a:t>Awareness</a:t>
                      </a:r>
                      <a:endParaRPr lang="en-US" sz="1600" b="0" i="1" kern="1200">
                        <a:solidFill>
                          <a:schemeClr val="bg1">
                            <a:lumMod val="65000"/>
                          </a:schemeClr>
                        </a:solidFill>
                        <a:latin typeface="+mn-lt"/>
                        <a:ea typeface="+mn-ea"/>
                        <a:cs typeface="+mn-cs"/>
                      </a:endParaRPr>
                    </a:p>
                  </a:txBody>
                  <a:tcPr marL="91392" marR="91392" marT="0" marB="0" anchor="ctr">
                    <a:lnR w="12700" cap="flat" cmpd="sng" algn="ctr">
                      <a:solidFill>
                        <a:srgbClr val="7030A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endParaRPr lang="en-US" sz="1600" b="1">
                        <a:solidFill>
                          <a:schemeClr val="bg1">
                            <a:lumMod val="65000"/>
                          </a:schemeClr>
                        </a:solidFill>
                        <a:latin typeface="+mn-lt"/>
                      </a:endParaRPr>
                    </a:p>
                  </a:txBody>
                  <a:tcPr marL="0" marR="0" marT="0" marB="0" anchor="ctr">
                    <a:lnL w="19050" cap="flat" cmpd="sng" algn="ctr">
                      <a:solidFill>
                        <a:srgbClr val="937DAD"/>
                      </a:solidFill>
                      <a:prstDash val="solid"/>
                      <a:round/>
                      <a:headEnd type="none" w="med" len="med"/>
                      <a:tailEnd type="none" w="med" len="med"/>
                    </a:lnL>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tc>
                  <a:txBody>
                    <a:bodyPr/>
                    <a:lstStyle/>
                    <a:p>
                      <a:pPr algn="ctr"/>
                      <a:endParaRPr lang="en-US" sz="1600" b="1">
                        <a:solidFill>
                          <a:schemeClr val="bg1">
                            <a:lumMod val="65000"/>
                          </a:schemeClr>
                        </a:solidFill>
                        <a:latin typeface="+mn-lt"/>
                      </a:endParaRPr>
                    </a:p>
                  </a:txBody>
                  <a:tcPr marL="0" marR="0" marT="0" marB="0" anchor="ct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tc>
                  <a:txBody>
                    <a:bodyPr/>
                    <a:lstStyle/>
                    <a:p>
                      <a:pPr algn="ctr"/>
                      <a:endParaRPr lang="en-US" sz="1600" b="1">
                        <a:solidFill>
                          <a:schemeClr val="accent2">
                            <a:lumMod val="50000"/>
                          </a:schemeClr>
                        </a:solidFill>
                        <a:latin typeface="+mn-lt"/>
                      </a:endParaRPr>
                    </a:p>
                  </a:txBody>
                  <a:tcPr marL="0" marR="0" marT="0" marB="0" anchor="ct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tc>
                  <a:txBody>
                    <a:bodyPr/>
                    <a:lstStyle/>
                    <a:p>
                      <a:pPr algn="ctr"/>
                      <a:endParaRPr lang="en-US" sz="1600" b="1">
                        <a:solidFill>
                          <a:schemeClr val="accent2">
                            <a:lumMod val="50000"/>
                          </a:schemeClr>
                        </a:solidFill>
                        <a:latin typeface="+mn-lt"/>
                      </a:endParaRPr>
                    </a:p>
                  </a:txBody>
                  <a:tcPr marL="0" marR="0" marT="0" marB="0" anchor="ctr">
                    <a:lnR w="19050" cap="flat" cmpd="sng" algn="ctr">
                      <a:solidFill>
                        <a:srgbClr val="937DAD"/>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rgbClr val="E1E1FF">
                        <a:alpha val="40000"/>
                      </a:srgbClr>
                    </a:solidFill>
                  </a:tcPr>
                </a:tc>
                <a:extLst>
                  <a:ext uri="{0D108BD9-81ED-4DB2-BD59-A6C34878D82A}">
                    <a16:rowId xmlns:a16="http://schemas.microsoft.com/office/drawing/2014/main" val="2063017590"/>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Unaided Awareness</a:t>
                      </a:r>
                      <a:endParaRPr lang="en-US" sz="1600" b="0" i="1">
                        <a:solidFill>
                          <a:schemeClr val="bg1">
                            <a:lumMod val="50000"/>
                          </a:schemeClr>
                        </a:solidFill>
                        <a:latin typeface="+mn-lt"/>
                      </a:endParaRPr>
                    </a:p>
                  </a:txBody>
                  <a:tcPr marL="91392" marR="91392" marT="0" marB="0" anchor="ctr">
                    <a:lnR w="12700" cap="flat" cmpd="sng" algn="ctr">
                      <a:solidFill>
                        <a:srgbClr val="7030A0"/>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27%</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31%</a:t>
                      </a:r>
                      <a:r>
                        <a:rPr lang="en-US" sz="1200" b="0" baseline="30000">
                          <a:solidFill>
                            <a:schemeClr val="tx1"/>
                          </a:solidFill>
                          <a:latin typeface="+mn-lt"/>
                        </a:rPr>
                        <a:t>B</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8%</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endParaRPr lang="en-US" sz="1200" b="0">
                        <a:solidFill>
                          <a:schemeClr val="tx1"/>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27%</a:t>
                      </a:r>
                    </a:p>
                  </a:txBody>
                  <a:tcPr marL="0" marR="0" marT="0" marB="0" anchor="ctr">
                    <a:lnL w="19050" cap="flat" cmpd="sng" algn="ctr">
                      <a:solidFill>
                        <a:srgbClr val="937DAD"/>
                      </a:solidFill>
                      <a:prstDash val="solid"/>
                      <a:round/>
                      <a:headEnd type="none" w="med" len="med"/>
                      <a:tailEnd type="none" w="med" len="med"/>
                    </a:lnL>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31%</a:t>
                      </a:r>
                    </a:p>
                  </a:txBody>
                  <a:tcPr marL="0" marR="0" marT="0" marB="0" anchor="ct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42%</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31%</a:t>
                      </a:r>
                      <a:r>
                        <a:rPr kumimoji="0" lang="en-US" altLang="en-US" sz="1000" b="0" i="0" u="none" strike="noStrike" kern="1200" cap="none" spc="0" normalizeH="0" baseline="0" noProof="0">
                          <a:ln>
                            <a:noFill/>
                          </a:ln>
                          <a:solidFill>
                            <a:srgbClr val="FF0000"/>
                          </a:solidFill>
                          <a:effectLst/>
                          <a:uLnTx/>
                          <a:uFillTx/>
                          <a:latin typeface="+mn-lt"/>
                          <a:ea typeface="+mn-ea"/>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R w="19050" cap="flat" cmpd="sng" algn="ctr">
                      <a:solidFill>
                        <a:srgbClr val="937DAD"/>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57574244"/>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Aided Awareness</a:t>
                      </a:r>
                      <a:endParaRPr lang="en-US" sz="1600" b="0" i="1">
                        <a:solidFill>
                          <a:schemeClr val="bg1">
                            <a:lumMod val="50000"/>
                          </a:schemeClr>
                        </a:solidFill>
                        <a:latin typeface="+mn-lt"/>
                      </a:endParaRPr>
                    </a:p>
                  </a:txBody>
                  <a:tcPr marL="91392" marR="91392" marT="0" marB="0" anchor="ctr">
                    <a:lnR w="12700" cap="flat" cmpd="sng" algn="ctr">
                      <a:solidFill>
                        <a:srgbClr val="7030A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baseline="0">
                          <a:solidFill>
                            <a:schemeClr val="tx1"/>
                          </a:solidFill>
                          <a:latin typeface="+mn-lt"/>
                        </a:rPr>
                        <a:t>76%</a:t>
                      </a:r>
                    </a:p>
                  </a:txBody>
                  <a:tcPr marL="0" marR="0" marT="0"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77%</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73%</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endParaRPr lang="en-US" sz="1200" b="0" baseline="0">
                        <a:solidFill>
                          <a:schemeClr val="tx1"/>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58%</a:t>
                      </a:r>
                    </a:p>
                  </a:txBody>
                  <a:tcPr marL="0" marR="0" marT="0" marB="0" anchor="ctr">
                    <a:lnL w="19050" cap="flat" cmpd="sng" algn="ctr">
                      <a:solidFill>
                        <a:srgbClr val="937DAD"/>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71%</a:t>
                      </a:r>
                      <a:r>
                        <a:rPr lang="en-US" altLang="en-US" sz="1000">
                          <a:solidFill>
                            <a:srgbClr val="FF0000"/>
                          </a:solidFill>
                          <a:cs typeface="Arial" panose="020B0604020202020204" pitchFamily="34" charset="0"/>
                          <a:sym typeface="Symbol" pitchFamily="18" charset="2"/>
                        </a:rPr>
                        <a:t></a:t>
                      </a:r>
                      <a:endParaRPr lang="en-US" sz="1200" b="0" kern="1200">
                        <a:solidFill>
                          <a:schemeClr val="tx1"/>
                        </a:solidFill>
                        <a:latin typeface="+mn-lt"/>
                        <a:ea typeface="+mn-ea"/>
                        <a:cs typeface="+mn-cs"/>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83%</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77%</a:t>
                      </a:r>
                      <a:endParaRPr lang="en-US" sz="1200" b="0">
                        <a:solidFill>
                          <a:schemeClr val="tx1"/>
                        </a:solidFill>
                        <a:latin typeface="+mn-lt"/>
                      </a:endParaRPr>
                    </a:p>
                  </a:txBody>
                  <a:tcPr marL="0" marR="0" marT="0" marB="0" anchor="ctr">
                    <a:lnR w="19050" cap="flat" cmpd="sng" algn="ctr">
                      <a:solidFill>
                        <a:srgbClr val="937DAD"/>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47864391"/>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Familiarity </a:t>
                      </a:r>
                      <a:r>
                        <a:rPr lang="en-US" sz="1000" b="0" i="1" kern="1200">
                          <a:solidFill>
                            <a:schemeClr val="bg1">
                              <a:lumMod val="50000"/>
                            </a:schemeClr>
                          </a:solidFill>
                          <a:latin typeface="+mn-lt"/>
                          <a:ea typeface="+mn-ea"/>
                          <a:cs typeface="+mn-cs"/>
                        </a:rPr>
                        <a:t>(% Very/Somewhat </a:t>
                      </a:r>
                      <a:r>
                        <a:rPr lang="en-US" sz="1000" b="0" i="1">
                          <a:solidFill>
                            <a:schemeClr val="bg1">
                              <a:lumMod val="50000"/>
                            </a:schemeClr>
                          </a:solidFill>
                          <a:latin typeface="+mn-lt"/>
                        </a:rPr>
                        <a:t>Familiar)</a:t>
                      </a:r>
                      <a:endParaRPr lang="en-US" sz="1100" b="0" i="1">
                        <a:solidFill>
                          <a:schemeClr val="bg1">
                            <a:lumMod val="50000"/>
                          </a:schemeClr>
                        </a:solidFill>
                        <a:latin typeface="+mn-lt"/>
                      </a:endParaRPr>
                    </a:p>
                  </a:txBody>
                  <a:tcPr marL="91392" marR="91392" marT="0" marB="0" anchor="ctr">
                    <a:lnR w="12700" cap="flat" cmpd="sng" algn="ctr">
                      <a:solidFill>
                        <a:srgbClr val="7030A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baseline="0">
                          <a:solidFill>
                            <a:schemeClr val="tx1"/>
                          </a:solidFill>
                          <a:latin typeface="+mn-lt"/>
                        </a:rPr>
                        <a:t>44%</a:t>
                      </a:r>
                    </a:p>
                  </a:txBody>
                  <a:tcPr marL="0" marR="0" marT="0"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45%</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38%</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endParaRPr lang="en-US" sz="1200" b="0" baseline="0">
                        <a:solidFill>
                          <a:schemeClr val="tx1"/>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n-US" sz="1200" b="0" kern="1200">
                          <a:solidFill>
                            <a:schemeClr val="tx1"/>
                          </a:solidFill>
                          <a:latin typeface="+mn-lt"/>
                          <a:ea typeface="+mn-ea"/>
                          <a:cs typeface="+mn-cs"/>
                        </a:rPr>
                        <a:t>27%</a:t>
                      </a:r>
                    </a:p>
                  </a:txBody>
                  <a:tcPr marL="0" marR="0" marT="0" marB="0" anchor="ctr">
                    <a:lnL w="19050" cap="flat" cmpd="sng" algn="ctr">
                      <a:solidFill>
                        <a:srgbClr val="937DAD"/>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kern="1200">
                          <a:solidFill>
                            <a:schemeClr val="tx1"/>
                          </a:solidFill>
                          <a:latin typeface="+mn-lt"/>
                          <a:ea typeface="+mn-ea"/>
                          <a:cs typeface="+mn-cs"/>
                        </a:rPr>
                        <a:t>37%</a:t>
                      </a:r>
                      <a:r>
                        <a:rPr lang="en-US" altLang="en-US" sz="1000">
                          <a:solidFill>
                            <a:srgbClr val="FF0000"/>
                          </a:solidFill>
                          <a:cs typeface="Arial" panose="020B0604020202020204" pitchFamily="34" charset="0"/>
                          <a:sym typeface="Symbol" pitchFamily="18" charset="2"/>
                        </a:rPr>
                        <a:t></a:t>
                      </a:r>
                      <a:endParaRPr lang="en-US" sz="1200" b="0" kern="1200">
                        <a:solidFill>
                          <a:schemeClr val="tx1"/>
                        </a:solidFill>
                        <a:latin typeface="+mn-lt"/>
                        <a:ea typeface="+mn-ea"/>
                        <a:cs typeface="+mn-cs"/>
                      </a:endParaRPr>
                    </a:p>
                  </a:txBody>
                  <a:tcPr marL="0" marR="0" marT="0" marB="0" anchor="ct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46%</a:t>
                      </a:r>
                    </a:p>
                  </a:txBody>
                  <a:tcPr marL="0" marR="0" marT="0" marB="0" anchor="ct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45%</a:t>
                      </a:r>
                      <a:endParaRPr lang="en-US" sz="1200" b="0">
                        <a:solidFill>
                          <a:schemeClr val="tx1"/>
                        </a:solidFill>
                        <a:latin typeface="+mn-lt"/>
                      </a:endParaRPr>
                    </a:p>
                  </a:txBody>
                  <a:tcPr marL="0" marR="0" marT="0" marB="0" anchor="ctr">
                    <a:lnR w="19050" cap="flat" cmpd="sng" algn="ctr">
                      <a:solidFill>
                        <a:srgbClr val="937DAD"/>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287188810"/>
                  </a:ext>
                </a:extLst>
              </a:tr>
              <a:tr h="267402">
                <a:tc>
                  <a:txBody>
                    <a:bodyPr/>
                    <a:lstStyle/>
                    <a:p>
                      <a:pPr marL="0" marR="0" lvl="1" indent="0" algn="l" defTabSz="914400" rtl="0" eaLnBrk="1" fontAlgn="auto" latinLnBrk="0" hangingPunct="1">
                        <a:lnSpc>
                          <a:spcPct val="86000"/>
                        </a:lnSpc>
                        <a:spcBef>
                          <a:spcPts val="0"/>
                        </a:spcBef>
                        <a:spcAft>
                          <a:spcPts val="0"/>
                        </a:spcAft>
                        <a:buClrTx/>
                        <a:buSzTx/>
                        <a:buFontTx/>
                        <a:buNone/>
                        <a:tabLst/>
                        <a:defRPr/>
                      </a:pPr>
                      <a:r>
                        <a:rPr lang="en-US" sz="1600" b="1" i="1" kern="1200">
                          <a:solidFill>
                            <a:srgbClr val="2B077B"/>
                          </a:solidFill>
                          <a:latin typeface="+mn-lt"/>
                          <a:ea typeface="+mn-ea"/>
                          <a:cs typeface="+mn-cs"/>
                        </a:rPr>
                        <a:t>Adoption</a:t>
                      </a:r>
                      <a:endParaRPr lang="en-US" sz="1600" b="0" i="1" kern="1200">
                        <a:solidFill>
                          <a:schemeClr val="bg1">
                            <a:lumMod val="65000"/>
                          </a:schemeClr>
                        </a:solidFill>
                        <a:latin typeface="+mn-lt"/>
                        <a:ea typeface="+mn-ea"/>
                        <a:cs typeface="+mn-cs"/>
                      </a:endParaRPr>
                    </a:p>
                  </a:txBody>
                  <a:tcPr marL="91392" marR="91392" marT="0" marB="0" anchor="ctr">
                    <a:lnR w="12700" cap="flat" cmpd="sng" algn="ctr">
                      <a:solidFill>
                        <a:srgbClr val="7030A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tc>
                  <a:txBody>
                    <a:bodyPr/>
                    <a:lstStyle/>
                    <a:p>
                      <a:pPr algn="l"/>
                      <a:endParaRPr lang="en-US" sz="1200" b="0">
                        <a:solidFill>
                          <a:srgbClr val="2B077B"/>
                        </a:solidFill>
                        <a:latin typeface="+mn-lt"/>
                      </a:endParaRPr>
                    </a:p>
                  </a:txBody>
                  <a:tcPr marL="0" marR="0" marT="0"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tc>
                  <a:txBody>
                    <a:bodyPr/>
                    <a:lstStyle/>
                    <a:p>
                      <a:pPr algn="l"/>
                      <a:endParaRPr lang="en-US" sz="1200" b="0">
                        <a:solidFill>
                          <a:srgbClr val="2B077B"/>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tc>
                  <a:txBody>
                    <a:bodyPr/>
                    <a:lstStyle/>
                    <a:p>
                      <a:pPr algn="l"/>
                      <a:endParaRPr lang="en-US" sz="1200" b="0">
                        <a:solidFill>
                          <a:srgbClr val="2B077B"/>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tc>
                  <a:txBody>
                    <a:bodyPr/>
                    <a:lstStyle/>
                    <a:p>
                      <a:pPr algn="l"/>
                      <a:endParaRPr lang="en-US" sz="1200" b="0">
                        <a:solidFill>
                          <a:srgbClr val="2B077B"/>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l"/>
                      <a:endParaRPr lang="en-US" sz="1200" b="0">
                        <a:solidFill>
                          <a:schemeClr val="bg1">
                            <a:lumMod val="65000"/>
                          </a:schemeClr>
                        </a:solidFill>
                        <a:latin typeface="+mn-lt"/>
                      </a:endParaRPr>
                    </a:p>
                  </a:txBody>
                  <a:tcPr marL="0" marR="0" marT="0" marB="0" anchor="ctr">
                    <a:lnL w="19050" cap="flat" cmpd="sng" algn="ctr">
                      <a:solidFill>
                        <a:srgbClr val="937DAD"/>
                      </a:solidFill>
                      <a:prstDash val="solid"/>
                      <a:round/>
                      <a:headEnd type="none" w="med" len="med"/>
                      <a:tailEnd type="none" w="med" len="med"/>
                    </a:lnL>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tc>
                  <a:txBody>
                    <a:bodyPr/>
                    <a:lstStyle/>
                    <a:p>
                      <a:pPr algn="l"/>
                      <a:endParaRPr lang="en-US" sz="1200" b="0">
                        <a:solidFill>
                          <a:schemeClr val="bg1">
                            <a:lumMod val="65000"/>
                          </a:schemeClr>
                        </a:solidFill>
                        <a:latin typeface="+mn-lt"/>
                      </a:endParaRPr>
                    </a:p>
                  </a:txBody>
                  <a:tcPr marL="0" marR="0" marT="0" marB="0" anchor="ct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tc>
                  <a:txBody>
                    <a:bodyPr/>
                    <a:lstStyle/>
                    <a:p>
                      <a:pPr algn="l"/>
                      <a:endParaRPr lang="en-US" sz="1200" b="1">
                        <a:solidFill>
                          <a:srgbClr val="2B077B"/>
                        </a:solidFill>
                        <a:latin typeface="+mn-lt"/>
                      </a:endParaRPr>
                    </a:p>
                  </a:txBody>
                  <a:tcPr marL="0" marR="0" marT="0" marB="0" anchor="ct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tc>
                  <a:txBody>
                    <a:bodyPr/>
                    <a:lstStyle/>
                    <a:p>
                      <a:pPr algn="l"/>
                      <a:endParaRPr lang="en-US" sz="1200" b="1">
                        <a:solidFill>
                          <a:srgbClr val="2B077B"/>
                        </a:solidFill>
                        <a:latin typeface="+mn-lt"/>
                      </a:endParaRPr>
                    </a:p>
                  </a:txBody>
                  <a:tcPr marL="0" marR="0" marT="0" marB="0" anchor="ctr">
                    <a:lnR w="19050" cap="flat" cmpd="sng" algn="ctr">
                      <a:solidFill>
                        <a:srgbClr val="937DAD"/>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rgbClr val="E1E1FF">
                        <a:alpha val="40000"/>
                      </a:srgbClr>
                    </a:solidFill>
                  </a:tcPr>
                </a:tc>
                <a:extLst>
                  <a:ext uri="{0D108BD9-81ED-4DB2-BD59-A6C34878D82A}">
                    <a16:rowId xmlns:a16="http://schemas.microsoft.com/office/drawing/2014/main" val="1489414374"/>
                  </a:ext>
                </a:extLst>
              </a:tr>
              <a:tr h="259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mn-cs"/>
                        </a:rPr>
                        <a:t>Current Stocker</a:t>
                      </a:r>
                      <a:endParaRPr lang="en-US" sz="1200" b="0" i="1" kern="1200">
                        <a:solidFill>
                          <a:schemeClr val="bg1">
                            <a:lumMod val="50000"/>
                          </a:schemeClr>
                        </a:solidFill>
                        <a:latin typeface="+mn-lt"/>
                        <a:ea typeface="+mn-ea"/>
                        <a:cs typeface="+mn-cs"/>
                      </a:endParaRPr>
                    </a:p>
                  </a:txBody>
                  <a:tcPr marL="91392" marR="91392" marT="45708" marB="0" anchor="ctr">
                    <a:lnR w="12700" cap="flat" cmpd="sng" algn="ctr">
                      <a:solidFill>
                        <a:srgbClr val="7030A0"/>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1200" b="0">
                          <a:solidFill>
                            <a:schemeClr val="tx1"/>
                          </a:solidFill>
                          <a:latin typeface="+mn-lt"/>
                        </a:rPr>
                        <a:t>17%</a:t>
                      </a:r>
                    </a:p>
                  </a:txBody>
                  <a:tcPr marL="0" marR="0" marT="45708"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1200" b="0">
                          <a:solidFill>
                            <a:schemeClr val="tx1"/>
                          </a:solidFill>
                          <a:latin typeface="+mn-lt"/>
                        </a:rPr>
                        <a:t>14%</a:t>
                      </a:r>
                    </a:p>
                  </a:txBody>
                  <a:tcPr marL="0" marR="0" marT="45708"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1200" b="0">
                          <a:solidFill>
                            <a:schemeClr val="tx1"/>
                          </a:solidFill>
                          <a:latin typeface="+mn-lt"/>
                        </a:rPr>
                        <a:t>28%</a:t>
                      </a:r>
                    </a:p>
                  </a:txBody>
                  <a:tcPr marL="0" marR="0" marT="45708"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endParaRPr lang="en-US" sz="1200" b="0">
                        <a:solidFill>
                          <a:schemeClr val="tx1"/>
                        </a:solidFill>
                        <a:latin typeface="+mn-lt"/>
                      </a:endParaRPr>
                    </a:p>
                  </a:txBody>
                  <a:tcPr marL="0" marR="0" marT="45708"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sz="1100" b="0">
                          <a:solidFill>
                            <a:schemeClr val="bg1">
                              <a:lumMod val="65000"/>
                            </a:schemeClr>
                          </a:solidFill>
                          <a:latin typeface="+mn-lt"/>
                        </a:rPr>
                        <a:t>n/a</a:t>
                      </a:r>
                    </a:p>
                  </a:txBody>
                  <a:tcPr marL="0" marR="0" marT="45708" marB="0" anchor="ctr">
                    <a:lnL w="19050" cap="flat" cmpd="sng" algn="ctr">
                      <a:solidFill>
                        <a:srgbClr val="937DAD"/>
                      </a:solidFill>
                      <a:prstDash val="solid"/>
                      <a:round/>
                      <a:headEnd type="none" w="med" len="med"/>
                      <a:tailEnd type="none" w="med" len="med"/>
                    </a:lnL>
                    <a:lnT w="9525"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sz="1200" b="0">
                          <a:solidFill>
                            <a:schemeClr val="tx1"/>
                          </a:solidFill>
                          <a:latin typeface="+mn-lt"/>
                        </a:rPr>
                        <a:t>9%</a:t>
                      </a:r>
                    </a:p>
                  </a:txBody>
                  <a:tcPr marL="0" marR="0" marT="45708" marB="0" anchor="ctr">
                    <a:lnT w="9525"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1200" b="0">
                          <a:solidFill>
                            <a:schemeClr val="tx1"/>
                          </a:solidFill>
                          <a:latin typeface="+mn-lt"/>
                        </a:rPr>
                        <a:t>12%</a:t>
                      </a:r>
                    </a:p>
                  </a:txBody>
                  <a:tcPr marL="0" marR="0" marT="45708" marB="0" anchor="ctr">
                    <a:lnT w="9525"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1200" b="0">
                          <a:solidFill>
                            <a:schemeClr val="tx1"/>
                          </a:solidFill>
                          <a:latin typeface="+mn-lt"/>
                        </a:rPr>
                        <a:t>14%</a:t>
                      </a:r>
                    </a:p>
                  </a:txBody>
                  <a:tcPr marL="0" marR="0" marT="45708" marB="0" anchor="ctr">
                    <a:lnR w="19050" cap="flat" cmpd="sng" algn="ctr">
                      <a:solidFill>
                        <a:srgbClr val="937DAD"/>
                      </a:solidFill>
                      <a:prstDash val="solid"/>
                      <a:round/>
                      <a:headEnd type="none" w="med" len="med"/>
                      <a:tailEnd type="none" w="med" len="med"/>
                    </a:lnR>
                    <a:lnT w="9525" cap="flat" cmpd="sng" algn="ctr">
                      <a:no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2835743456"/>
                  </a:ext>
                </a:extLst>
              </a:tr>
              <a:tr h="12188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Non-Stocker </a:t>
                      </a:r>
                      <a:r>
                        <a:rPr lang="en-US" sz="1400" b="0" kern="1200">
                          <a:solidFill>
                            <a:schemeClr val="tx1"/>
                          </a:solidFill>
                          <a:latin typeface="+mn-lt"/>
                          <a:ea typeface="+mn-ea"/>
                          <a:cs typeface="+mn-cs"/>
                        </a:rPr>
                        <a:t>Intent to Stock </a:t>
                      </a:r>
                      <a:r>
                        <a:rPr lang="en-US" sz="1000" b="0" i="1" kern="1200">
                          <a:solidFill>
                            <a:schemeClr val="bg1">
                              <a:lumMod val="50000"/>
                            </a:schemeClr>
                          </a:solidFill>
                          <a:latin typeface="+mn-lt"/>
                          <a:ea typeface="+mn-ea"/>
                          <a:cs typeface="+mn-cs"/>
                        </a:rPr>
                        <a:t>(% Extremely/Very Likely)</a:t>
                      </a:r>
                      <a:endParaRPr lang="en-US" sz="1400" b="0">
                        <a:solidFill>
                          <a:schemeClr val="bg1">
                            <a:lumMod val="50000"/>
                          </a:schemeClr>
                        </a:solidFill>
                        <a:latin typeface="+mn-lt"/>
                      </a:endParaRPr>
                    </a:p>
                  </a:txBody>
                  <a:tcPr marL="91392" marR="91392" marT="0" marB="0" anchor="b">
                    <a:lnR w="12700" cap="flat" cmpd="sng" algn="ctr">
                      <a:solidFill>
                        <a:srgbClr val="7030A0"/>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800" b="0">
                          <a:solidFill>
                            <a:schemeClr val="bg1">
                              <a:lumMod val="65000"/>
                            </a:schemeClr>
                          </a:solidFill>
                          <a:latin typeface="+mn-lt"/>
                        </a:rPr>
                        <a:t>(n=166)</a:t>
                      </a:r>
                    </a:p>
                  </a:txBody>
                  <a:tcPr marL="0" marR="0" marT="0" marB="0" anchor="b">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800" b="0">
                          <a:solidFill>
                            <a:schemeClr val="bg1">
                              <a:lumMod val="65000"/>
                            </a:schemeClr>
                          </a:solidFill>
                          <a:latin typeface="+mn-lt"/>
                        </a:rPr>
                        <a:t>(n=137)</a:t>
                      </a: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bg1">
                              <a:lumMod val="65000"/>
                            </a:schemeClr>
                          </a:solidFill>
                          <a:latin typeface="+mn-lt"/>
                        </a:rPr>
                        <a:t>(n=29)</a:t>
                      </a:r>
                      <a:r>
                        <a:rPr lang="en-US" sz="800" b="0">
                          <a:solidFill>
                            <a:srgbClr val="FF0000"/>
                          </a:solidFill>
                          <a:latin typeface="+mn-lt"/>
                        </a:rPr>
                        <a:t>*</a:t>
                      </a:r>
                      <a:endParaRPr lang="en-US" sz="800" b="0">
                        <a:solidFill>
                          <a:schemeClr val="bg1">
                            <a:lumMod val="65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800" b="0">
                        <a:solidFill>
                          <a:schemeClr val="bg1">
                            <a:lumMod val="65000"/>
                          </a:schemeClr>
                        </a:solidFill>
                        <a:latin typeface="+mn-lt"/>
                      </a:endParaRPr>
                    </a:p>
                  </a:txBody>
                  <a:tcPr marL="0" marR="0" marT="0" marB="0" anchor="b">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rowSpan="2">
                  <a:txBody>
                    <a:bodyPr/>
                    <a:lstStyle/>
                    <a:p>
                      <a:pPr algn="ctr"/>
                      <a:r>
                        <a:rPr lang="en-US" sz="1100" b="0">
                          <a:solidFill>
                            <a:schemeClr val="bg1">
                              <a:lumMod val="65000"/>
                            </a:schemeClr>
                          </a:solidFill>
                          <a:latin typeface="+mn-lt"/>
                        </a:rPr>
                        <a:t>n/a</a:t>
                      </a:r>
                    </a:p>
                  </a:txBody>
                  <a:tcPr marL="0" marR="0" marT="0" marB="0" anchor="b">
                    <a:lnL w="19050" cap="flat" cmpd="sng" algn="ctr">
                      <a:solidFill>
                        <a:srgbClr val="937DAD"/>
                      </a:solidFill>
                      <a:prstDash val="solid"/>
                      <a:round/>
                      <a:headEnd type="none" w="med" len="med"/>
                      <a:tailEnd type="none" w="med" len="med"/>
                    </a:lnL>
                    <a:lnT w="952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rowSpan="2">
                  <a:txBody>
                    <a:bodyPr/>
                    <a:lstStyle/>
                    <a:p>
                      <a:pPr algn="ctr"/>
                      <a:r>
                        <a:rPr lang="en-US" sz="1100" b="0">
                          <a:solidFill>
                            <a:schemeClr val="bg1">
                              <a:lumMod val="65000"/>
                            </a:schemeClr>
                          </a:solidFill>
                          <a:latin typeface="+mn-lt"/>
                        </a:rPr>
                        <a:t>n/a</a:t>
                      </a:r>
                    </a:p>
                  </a:txBody>
                  <a:tcPr marL="0" marR="0" marT="0" marB="0" anchor="b">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800" b="0">
                          <a:solidFill>
                            <a:schemeClr val="bg1">
                              <a:lumMod val="65000"/>
                            </a:schemeClr>
                          </a:solidFill>
                          <a:latin typeface="+mn-lt"/>
                        </a:rPr>
                        <a:t>(n=141)</a:t>
                      </a:r>
                    </a:p>
                  </a:txBody>
                  <a:tcPr marL="0" marR="0" marT="0" marB="0" anchor="b">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800" b="0">
                          <a:solidFill>
                            <a:schemeClr val="bg1">
                              <a:lumMod val="65000"/>
                            </a:schemeClr>
                          </a:solidFill>
                          <a:latin typeface="+mn-lt"/>
                        </a:rPr>
                        <a:t>(n=137)</a:t>
                      </a:r>
                    </a:p>
                  </a:txBody>
                  <a:tcPr marL="0" marR="0" marT="0" marB="0" anchor="b">
                    <a:lnR w="19050" cap="flat" cmpd="sng" algn="ctr">
                      <a:solidFill>
                        <a:srgbClr val="937DAD"/>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2601531"/>
                  </a:ext>
                </a:extLst>
              </a:tr>
              <a:tr h="182832">
                <a:tc vMerge="1">
                  <a:txBody>
                    <a:bodyPr/>
                    <a:lstStyle/>
                    <a:p>
                      <a:endParaRPr/>
                    </a:p>
                  </a:txBody>
                  <a:tcPr marL="91416" marR="91416" marT="0" marB="0" anchor="ctr">
                    <a:lnR w="19050" cap="flat" cmpd="sng" algn="ctr">
                      <a:solidFill>
                        <a:srgbClr val="937DAD"/>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18%</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b">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200" b="0">
                          <a:solidFill>
                            <a:schemeClr val="tx1"/>
                          </a:solidFill>
                          <a:latin typeface="+mn-lt"/>
                        </a:rPr>
                        <a:t>15%</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200" b="0">
                          <a:solidFill>
                            <a:schemeClr val="tx1"/>
                          </a:solidFill>
                          <a:latin typeface="+mn-lt"/>
                        </a:rPr>
                        <a:t>31%</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1200" b="0">
                        <a:solidFill>
                          <a:schemeClr val="tx1"/>
                        </a:solidFill>
                        <a:latin typeface="+mn-lt"/>
                      </a:endParaRPr>
                    </a:p>
                  </a:txBody>
                  <a:tcPr marL="0" marR="0" marT="0" marB="0" anchor="b">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vMerge="1">
                  <a:txBody>
                    <a:bodyPr/>
                    <a:lstStyle/>
                    <a:p>
                      <a:endParaRPr/>
                    </a:p>
                  </a:txBody>
                  <a:tcPr marL="0" marR="0" marT="0" marB="0" anchor="ctr">
                    <a:lnL w="19050" cap="flat" cmpd="sng" algn="ctr">
                      <a:solidFill>
                        <a:srgbClr val="937DAD"/>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vMerge="1">
                  <a:txBody>
                    <a:bodyPr/>
                    <a:lstStyle/>
                    <a:p>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34%</a:t>
                      </a:r>
                      <a:endParaRPr lang="en-US" sz="1200" b="0">
                        <a:solidFill>
                          <a:srgbClr val="2B077B"/>
                        </a:solidFill>
                        <a:latin typeface="+mn-lt"/>
                      </a:endParaRPr>
                    </a:p>
                  </a:txBody>
                  <a:tcPr marL="0" marR="0" marT="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200" b="0">
                          <a:solidFill>
                            <a:schemeClr val="tx1"/>
                          </a:solidFill>
                          <a:latin typeface="+mn-lt"/>
                        </a:rPr>
                        <a:t>15%</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b">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24476059"/>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mn-cs"/>
                        </a:rPr>
                        <a:t>Intent to Recommend </a:t>
                      </a:r>
                      <a:r>
                        <a:rPr lang="en-US" sz="1000" b="0" i="1" kern="1200">
                          <a:solidFill>
                            <a:schemeClr val="bg1">
                              <a:lumMod val="50000"/>
                            </a:schemeClr>
                          </a:solidFill>
                          <a:latin typeface="+mn-lt"/>
                          <a:ea typeface="+mn-ea"/>
                          <a:cs typeface="+mn-cs"/>
                        </a:rPr>
                        <a:t>(% Extremely/Very Likely)</a:t>
                      </a:r>
                      <a:endParaRPr lang="en-US" sz="1200" b="0" i="1" kern="1200">
                        <a:solidFill>
                          <a:schemeClr val="bg1">
                            <a:lumMod val="50000"/>
                          </a:schemeClr>
                        </a:solidFill>
                        <a:latin typeface="+mn-lt"/>
                        <a:ea typeface="+mn-ea"/>
                        <a:cs typeface="+mn-cs"/>
                      </a:endParaRPr>
                    </a:p>
                  </a:txBody>
                  <a:tcPr marL="91392" marR="91392" marT="0" marB="0" anchor="ctr">
                    <a:lnR w="12700" cap="flat" cmpd="sng" algn="ctr">
                      <a:solidFill>
                        <a:srgbClr val="7030A0"/>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a:solidFill>
                            <a:schemeClr val="tx1"/>
                          </a:solidFill>
                          <a:latin typeface="+mn-lt"/>
                        </a:rPr>
                        <a:t>43%</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L w="12700" cap="flat" cmpd="sng" algn="ctr">
                      <a:solidFill>
                        <a:srgbClr val="7030A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7030A0"/>
                      </a:solidFill>
                      <a:prstDash val="solid"/>
                      <a:round/>
                      <a:headEnd type="none" w="med" len="med"/>
                      <a:tailEnd type="none" w="med" len="med"/>
                    </a:lnB>
                    <a:noFill/>
                  </a:tcPr>
                </a:tc>
                <a:tc>
                  <a:txBody>
                    <a:bodyPr/>
                    <a:lstStyle/>
                    <a:p>
                      <a:pPr algn="ctr"/>
                      <a:r>
                        <a:rPr lang="en-US" sz="1200" b="0">
                          <a:solidFill>
                            <a:schemeClr val="tx1"/>
                          </a:solidFill>
                          <a:latin typeface="+mn-lt"/>
                        </a:rPr>
                        <a:t>35%</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7030A0"/>
                      </a:solidFill>
                      <a:prstDash val="solid"/>
                      <a:round/>
                      <a:headEnd type="none" w="med" len="med"/>
                      <a:tailEnd type="none" w="med" len="med"/>
                    </a:lnB>
                    <a:noFill/>
                  </a:tcPr>
                </a:tc>
                <a:tc>
                  <a:txBody>
                    <a:bodyPr/>
                    <a:lstStyle/>
                    <a:p>
                      <a:pPr algn="ctr"/>
                      <a:r>
                        <a:rPr lang="en-US" sz="1200" b="0">
                          <a:solidFill>
                            <a:schemeClr val="tx1"/>
                          </a:solidFill>
                          <a:latin typeface="+mn-lt"/>
                        </a:rPr>
                        <a:t>73%</a:t>
                      </a:r>
                      <a:r>
                        <a:rPr lang="en-US" sz="1200" b="0" baseline="30000">
                          <a:solidFill>
                            <a:schemeClr val="tx1"/>
                          </a:solidFill>
                          <a:latin typeface="+mn-lt"/>
                        </a:rPr>
                        <a:t>A</a:t>
                      </a:r>
                      <a:endParaRPr lang="en-US" sz="1200" b="0">
                        <a:solidFill>
                          <a:schemeClr val="tx1"/>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7030A0"/>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7030A0"/>
                      </a:solidFill>
                      <a:prstDash val="solid"/>
                      <a:round/>
                      <a:headEnd type="none" w="med" len="med"/>
                      <a:tailEnd type="none" w="med" len="med"/>
                    </a:lnB>
                    <a:noFill/>
                  </a:tcPr>
                </a:tc>
                <a:tc>
                  <a:txBody>
                    <a:bodyPr/>
                    <a:lstStyle/>
                    <a:p>
                      <a:pPr algn="ctr"/>
                      <a:endParaRPr lang="en-US" sz="1200" b="0">
                        <a:solidFill>
                          <a:schemeClr val="tx1"/>
                        </a:solidFill>
                        <a:latin typeface="+mn-lt"/>
                      </a:endParaRPr>
                    </a:p>
                  </a:txBody>
                  <a:tcPr marL="0" marR="0" marT="0" marB="0" anchor="ctr">
                    <a:lnL w="12700" cap="flat" cmpd="sng" algn="ctr">
                      <a:solidFill>
                        <a:srgbClr val="7030A0"/>
                      </a:solidFill>
                      <a:prstDash val="solid"/>
                      <a:round/>
                      <a:headEnd type="none" w="med" len="med"/>
                      <a:tailEnd type="none" w="med" len="med"/>
                    </a:lnL>
                    <a:lnR w="19050" cap="flat" cmpd="sng" algn="ctr">
                      <a:solidFill>
                        <a:srgbClr val="937DAD"/>
                      </a:solidFill>
                      <a:prstDash val="solid"/>
                      <a:round/>
                      <a:headEnd type="none" w="med" len="med"/>
                      <a:tailEnd type="none" w="med" len="med"/>
                    </a:lnR>
                    <a:lnT w="9525"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sz="1100" b="0">
                          <a:solidFill>
                            <a:schemeClr val="bg1">
                              <a:lumMod val="65000"/>
                            </a:schemeClr>
                          </a:solidFill>
                          <a:latin typeface="+mn-lt"/>
                        </a:rPr>
                        <a:t>n/a</a:t>
                      </a:r>
                    </a:p>
                  </a:txBody>
                  <a:tcPr marL="0" marR="0" marT="0" marB="0" anchor="ctr">
                    <a:lnL w="19050" cap="flat" cmpd="sng" algn="ctr">
                      <a:solidFill>
                        <a:srgbClr val="937DAD"/>
                      </a:solidFill>
                      <a:prstDash val="solid"/>
                      <a:round/>
                      <a:headEnd type="none" w="med" len="med"/>
                      <a:tailEnd type="none" w="med" len="med"/>
                    </a:lnL>
                    <a:lnT w="9525"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100" b="0">
                          <a:solidFill>
                            <a:schemeClr val="bg1">
                              <a:lumMod val="65000"/>
                            </a:schemeClr>
                          </a:solidFill>
                          <a:latin typeface="+mn-lt"/>
                        </a:rPr>
                        <a:t>n/a</a:t>
                      </a:r>
                    </a:p>
                  </a:txBody>
                  <a:tcPr marL="0" marR="0" marT="0" marB="0" anchor="ctr">
                    <a:lnT w="9525"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a:solidFill>
                            <a:schemeClr val="tx1"/>
                          </a:solidFill>
                          <a:latin typeface="+mn-lt"/>
                        </a:rPr>
                        <a:t>50%</a:t>
                      </a:r>
                    </a:p>
                  </a:txBody>
                  <a:tcPr marL="0" marR="0" marT="0" marB="0" anchor="ctr">
                    <a:lnT w="9525"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a:solidFill>
                            <a:schemeClr val="tx1"/>
                          </a:solidFill>
                          <a:latin typeface="+mn-lt"/>
                        </a:rPr>
                        <a:t>35%</a:t>
                      </a:r>
                      <a:r>
                        <a:rPr lang="en-US" altLang="en-US" sz="1000">
                          <a:solidFill>
                            <a:srgbClr val="FF0000"/>
                          </a:solidFill>
                          <a:cs typeface="Arial" panose="020B0604020202020204" pitchFamily="34" charset="0"/>
                          <a:sym typeface="Symbol" pitchFamily="18" charset="2"/>
                        </a:rPr>
                        <a:t></a:t>
                      </a:r>
                      <a:endParaRPr lang="en-US" sz="1200" b="0">
                        <a:solidFill>
                          <a:schemeClr val="tx1"/>
                        </a:solidFill>
                        <a:latin typeface="+mn-lt"/>
                      </a:endParaRPr>
                    </a:p>
                  </a:txBody>
                  <a:tcPr marL="0" marR="0" marT="0" marB="0" anchor="ctr">
                    <a:lnR w="19050" cap="flat" cmpd="sng" algn="ctr">
                      <a:solidFill>
                        <a:srgbClr val="937DAD"/>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77839709"/>
                  </a:ext>
                </a:extLst>
              </a:tr>
            </a:tbl>
          </a:graphicData>
        </a:graphic>
      </p:graphicFrame>
      <p:sp>
        <p:nvSpPr>
          <p:cNvPr id="226" name="Text Box 30">
            <a:extLst>
              <a:ext uri="{FF2B5EF4-FFF2-40B4-BE49-F238E27FC236}">
                <a16:creationId xmlns:a16="http://schemas.microsoft.com/office/drawing/2014/main" id="{4828E41C-6FC3-3A66-74BA-44F851010856}"/>
              </a:ext>
            </a:extLst>
          </p:cNvPr>
          <p:cNvSpPr txBox="1">
            <a:spLocks noChangeArrowheads="1"/>
          </p:cNvSpPr>
          <p:nvPr/>
        </p:nvSpPr>
        <p:spPr bwMode="gray">
          <a:xfrm>
            <a:off x="5082595" y="6599825"/>
            <a:ext cx="2373385" cy="193579"/>
          </a:xfrm>
          <a:prstGeom prst="rect">
            <a:avLst/>
          </a:prstGeom>
          <a:noFill/>
          <a:ln>
            <a:noFill/>
          </a:ln>
          <a:effectLst/>
        </p:spPr>
        <p:txBody>
          <a:bodyPr wrap="none" lIns="27362" tIns="27362" rIns="27362" bIns="27362" anchor="b">
            <a:spAutoFit/>
          </a:bodyPr>
          <a:lstStyle>
            <a:lvl1pPr marL="347663" indent="-347663" algn="l">
              <a:defRPr>
                <a:solidFill>
                  <a:schemeClr val="tx1"/>
                </a:solidFill>
                <a:latin typeface="Arial" pitchFamily="34" charset="0"/>
              </a:defRPr>
            </a:lvl1pPr>
            <a:lvl2pPr marL="808038" indent="-228600" algn="l">
              <a:defRPr>
                <a:solidFill>
                  <a:schemeClr val="tx1"/>
                </a:solidFill>
                <a:latin typeface="Arial" pitchFamily="34" charset="0"/>
              </a:defRPr>
            </a:lvl2pPr>
            <a:lvl3pPr marL="1150938" indent="-228600" algn="l">
              <a:defRPr>
                <a:solidFill>
                  <a:schemeClr val="tx1"/>
                </a:solidFill>
                <a:latin typeface="Arial" pitchFamily="34" charset="0"/>
              </a:defRPr>
            </a:lvl3pPr>
            <a:lvl4pPr marL="1493838" indent="-228600" algn="l">
              <a:defRPr>
                <a:solidFill>
                  <a:schemeClr val="tx1"/>
                </a:solidFill>
                <a:latin typeface="Arial" pitchFamily="34" charset="0"/>
              </a:defRPr>
            </a:lvl4pPr>
            <a:lvl5pPr marL="1836738" indent="-228600" algn="l">
              <a:defRPr>
                <a:solidFill>
                  <a:schemeClr val="tx1"/>
                </a:solidFill>
                <a:latin typeface="Arial" pitchFamily="34" charset="0"/>
              </a:defRPr>
            </a:lvl5pPr>
            <a:lvl6pPr marL="2293938" indent="-228600" fontAlgn="base">
              <a:spcBef>
                <a:spcPct val="0"/>
              </a:spcBef>
              <a:spcAft>
                <a:spcPct val="0"/>
              </a:spcAft>
              <a:defRPr>
                <a:solidFill>
                  <a:schemeClr val="tx1"/>
                </a:solidFill>
                <a:latin typeface="Arial" pitchFamily="34" charset="0"/>
              </a:defRPr>
            </a:lvl6pPr>
            <a:lvl7pPr marL="2751138" indent="-228600" fontAlgn="base">
              <a:spcBef>
                <a:spcPct val="0"/>
              </a:spcBef>
              <a:spcAft>
                <a:spcPct val="0"/>
              </a:spcAft>
              <a:defRPr>
                <a:solidFill>
                  <a:schemeClr val="tx1"/>
                </a:solidFill>
                <a:latin typeface="Arial" pitchFamily="34" charset="0"/>
              </a:defRPr>
            </a:lvl7pPr>
            <a:lvl8pPr marL="3208338" indent="-228600" fontAlgn="base">
              <a:spcBef>
                <a:spcPct val="0"/>
              </a:spcBef>
              <a:spcAft>
                <a:spcPct val="0"/>
              </a:spcAft>
              <a:defRPr>
                <a:solidFill>
                  <a:schemeClr val="tx1"/>
                </a:solidFill>
                <a:latin typeface="Arial" pitchFamily="34" charset="0"/>
              </a:defRPr>
            </a:lvl8pPr>
            <a:lvl9pPr marL="3665538" indent="-228600" fontAlgn="base">
              <a:spcBef>
                <a:spcPct val="0"/>
              </a:spcBef>
              <a:spcAft>
                <a:spcPct val="0"/>
              </a:spcAft>
              <a:defRPr>
                <a:solidFill>
                  <a:schemeClr val="tx1"/>
                </a:solidFill>
                <a:latin typeface="Arial" pitchFamily="34" charset="0"/>
              </a:defRPr>
            </a:lvl9pPr>
          </a:lstStyle>
          <a:p>
            <a:pPr marL="0" indent="0" algn="ctr" defTabSz="911934">
              <a:buClr>
                <a:srgbClr val="E7E6E6"/>
              </a:buClr>
              <a:buSzPct val="85000"/>
              <a:defRPr/>
            </a:pPr>
            <a:r>
              <a:rPr lang="en-US" altLang="en-US" sz="900">
                <a:solidFill>
                  <a:srgbClr val="FF0000"/>
                </a:solidFill>
                <a:cs typeface="Arial" panose="020B0604020202020204" pitchFamily="34" charset="0"/>
                <a:sym typeface="Symbol" pitchFamily="18" charset="2"/>
              </a:rPr>
              <a:t></a:t>
            </a:r>
            <a:r>
              <a:rPr lang="en-US" altLang="en-US" sz="900">
                <a:solidFill>
                  <a:srgbClr val="000000">
                    <a:lumMod val="65000"/>
                    <a:lumOff val="35000"/>
                  </a:srgbClr>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sym typeface="Symbol" pitchFamily="18" charset="2"/>
              </a:rPr>
              <a:t></a:t>
            </a:r>
            <a:r>
              <a:rPr lang="en-US" altLang="en-US" sz="900">
                <a:solidFill>
                  <a:srgbClr val="FF0000"/>
                </a:solidFill>
                <a:cs typeface="Arial" panose="020B0604020202020204" pitchFamily="34" charset="0"/>
              </a:rPr>
              <a:t> </a:t>
            </a:r>
            <a:r>
              <a:rPr lang="en-US" sz="900">
                <a:solidFill>
                  <a:srgbClr val="000000">
                    <a:lumMod val="65000"/>
                    <a:lumOff val="35000"/>
                  </a:srgbClr>
                </a:solidFill>
                <a:cs typeface="Arial" panose="020B0604020202020204" pitchFamily="34" charset="0"/>
              </a:rPr>
              <a:t>= Significantly higher/lower vs. prior wave</a:t>
            </a:r>
          </a:p>
        </p:txBody>
      </p:sp>
      <p:sp>
        <p:nvSpPr>
          <p:cNvPr id="228" name="Text Placeholder 2">
            <a:extLst>
              <a:ext uri="{FF2B5EF4-FFF2-40B4-BE49-F238E27FC236}">
                <a16:creationId xmlns:a16="http://schemas.microsoft.com/office/drawing/2014/main" id="{67A19D76-956F-D296-176B-77544B997C9D}"/>
              </a:ext>
            </a:extLst>
          </p:cNvPr>
          <p:cNvSpPr txBox="1">
            <a:spLocks/>
          </p:cNvSpPr>
          <p:nvPr/>
        </p:nvSpPr>
        <p:spPr bwMode="gray">
          <a:xfrm>
            <a:off x="8594477" y="6663617"/>
            <a:ext cx="1431593" cy="130669"/>
          </a:xfrm>
          <a:prstGeom prst="rect">
            <a:avLst/>
          </a:prstGeom>
          <a:noFill/>
        </p:spPr>
        <p:txBody>
          <a:bodyPr vert="horz" wrap="none" lIns="0" tIns="0" rIns="0" bIns="0" rtlCol="0" anchor="b">
            <a:spAutoFit/>
          </a:bodyPr>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900" kern="1200" dirty="0">
                <a:solidFill>
                  <a:schemeClr val="tx1">
                    <a:lumMod val="65000"/>
                    <a:lumOff val="35000"/>
                  </a:schemeClr>
                </a:solidFill>
                <a:latin typeface="+mn-lt"/>
                <a:ea typeface="+mn-ea"/>
                <a:cs typeface="Arial" pitchFamily="34" charset="0"/>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3304">
              <a:buClr>
                <a:srgbClr val="0095FF"/>
              </a:buClr>
              <a:tabLst>
                <a:tab pos="174417" algn="r"/>
                <a:tab pos="283823" algn="l"/>
              </a:tabLst>
              <a:defRPr/>
            </a:pPr>
            <a:r>
              <a:rPr lang="en-US" sz="1000">
                <a:solidFill>
                  <a:srgbClr val="FF0000"/>
                </a:solidFill>
                <a:latin typeface="Arial" panose="020B0604020202020204"/>
              </a:rPr>
              <a:t>*Caution: small base size</a:t>
            </a:r>
          </a:p>
        </p:txBody>
      </p:sp>
      <p:pic>
        <p:nvPicPr>
          <p:cNvPr id="3" name="Picture 2">
            <a:extLst>
              <a:ext uri="{FF2B5EF4-FFF2-40B4-BE49-F238E27FC236}">
                <a16:creationId xmlns:a16="http://schemas.microsoft.com/office/drawing/2014/main" id="{520A4570-4CB7-3D9B-A204-435963638571}"/>
              </a:ext>
            </a:extLst>
          </p:cNvPr>
          <p:cNvPicPr>
            <a:picLocks noChangeAspect="1"/>
          </p:cNvPicPr>
          <p:nvPr/>
        </p:nvPicPr>
        <p:blipFill>
          <a:blip r:embed="rId3"/>
          <a:stretch>
            <a:fillRect/>
          </a:stretch>
        </p:blipFill>
        <p:spPr>
          <a:xfrm>
            <a:off x="2474124" y="844608"/>
            <a:ext cx="1996127" cy="353924"/>
          </a:xfrm>
          <a:prstGeom prst="rect">
            <a:avLst/>
          </a:prstGeom>
          <a:solidFill>
            <a:schemeClr val="bg1"/>
          </a:solidFill>
        </p:spPr>
      </p:pic>
      <p:sp>
        <p:nvSpPr>
          <p:cNvPr id="19" name="TextBox 1">
            <a:extLst>
              <a:ext uri="{FF2B5EF4-FFF2-40B4-BE49-F238E27FC236}">
                <a16:creationId xmlns:a16="http://schemas.microsoft.com/office/drawing/2014/main" id="{AE3B3AD6-D5F6-2625-705B-DD1E76367B32}"/>
              </a:ext>
            </a:extLst>
          </p:cNvPr>
          <p:cNvSpPr txBox="1"/>
          <p:nvPr/>
        </p:nvSpPr>
        <p:spPr bwMode="gray">
          <a:xfrm>
            <a:off x="11580739" y="438525"/>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grpSp>
        <p:nvGrpSpPr>
          <p:cNvPr id="18" name="Group 17">
            <a:extLst>
              <a:ext uri="{FF2B5EF4-FFF2-40B4-BE49-F238E27FC236}">
                <a16:creationId xmlns:a16="http://schemas.microsoft.com/office/drawing/2014/main" id="{7EBA9840-7260-B2F9-1A58-66623ABC4BFA}"/>
              </a:ext>
            </a:extLst>
          </p:cNvPr>
          <p:cNvGrpSpPr/>
          <p:nvPr/>
        </p:nvGrpSpPr>
        <p:grpSpPr>
          <a:xfrm>
            <a:off x="1116614" y="1559353"/>
            <a:ext cx="220187" cy="220185"/>
            <a:chOff x="11904257" y="1412230"/>
            <a:chExt cx="112380" cy="112870"/>
          </a:xfrm>
        </p:grpSpPr>
        <p:sp>
          <p:nvSpPr>
            <p:cNvPr id="20" name="Star: 5 Points 19">
              <a:extLst>
                <a:ext uri="{FF2B5EF4-FFF2-40B4-BE49-F238E27FC236}">
                  <a16:creationId xmlns:a16="http://schemas.microsoft.com/office/drawing/2014/main" id="{64D65BE7-88B0-0131-D822-3234E9190C16}"/>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27" name="Oval 26">
              <a:extLst>
                <a:ext uri="{FF2B5EF4-FFF2-40B4-BE49-F238E27FC236}">
                  <a16:creationId xmlns:a16="http://schemas.microsoft.com/office/drawing/2014/main" id="{8F50F948-509F-D68C-00A9-587C14A9BD7D}"/>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pSp>
        <p:nvGrpSpPr>
          <p:cNvPr id="28" name="Group 27">
            <a:extLst>
              <a:ext uri="{FF2B5EF4-FFF2-40B4-BE49-F238E27FC236}">
                <a16:creationId xmlns:a16="http://schemas.microsoft.com/office/drawing/2014/main" id="{FF08A1CD-CF98-517A-E0C8-C288880F9A05}"/>
              </a:ext>
            </a:extLst>
          </p:cNvPr>
          <p:cNvGrpSpPr/>
          <p:nvPr/>
        </p:nvGrpSpPr>
        <p:grpSpPr>
          <a:xfrm>
            <a:off x="1116614" y="1840083"/>
            <a:ext cx="220187" cy="220185"/>
            <a:chOff x="11904257" y="1412230"/>
            <a:chExt cx="112380" cy="112870"/>
          </a:xfrm>
        </p:grpSpPr>
        <p:sp>
          <p:nvSpPr>
            <p:cNvPr id="29" name="Star: 5 Points 28">
              <a:extLst>
                <a:ext uri="{FF2B5EF4-FFF2-40B4-BE49-F238E27FC236}">
                  <a16:creationId xmlns:a16="http://schemas.microsoft.com/office/drawing/2014/main" id="{1C354602-D587-F02C-FBE4-360AB358F7C0}"/>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30" name="Oval 29">
              <a:extLst>
                <a:ext uri="{FF2B5EF4-FFF2-40B4-BE49-F238E27FC236}">
                  <a16:creationId xmlns:a16="http://schemas.microsoft.com/office/drawing/2014/main" id="{998EF528-A4B6-ED8B-F4EB-8973C805FE37}"/>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pSp>
        <p:nvGrpSpPr>
          <p:cNvPr id="34" name="Group 33">
            <a:extLst>
              <a:ext uri="{FF2B5EF4-FFF2-40B4-BE49-F238E27FC236}">
                <a16:creationId xmlns:a16="http://schemas.microsoft.com/office/drawing/2014/main" id="{6C5075B7-B2C0-230E-639D-1DBBE984E60F}"/>
              </a:ext>
            </a:extLst>
          </p:cNvPr>
          <p:cNvGrpSpPr/>
          <p:nvPr/>
        </p:nvGrpSpPr>
        <p:grpSpPr>
          <a:xfrm>
            <a:off x="1116614" y="2688937"/>
            <a:ext cx="220187" cy="220185"/>
            <a:chOff x="11904257" y="1412230"/>
            <a:chExt cx="112380" cy="112870"/>
          </a:xfrm>
        </p:grpSpPr>
        <p:sp>
          <p:nvSpPr>
            <p:cNvPr id="35" name="Star: 5 Points 34">
              <a:extLst>
                <a:ext uri="{FF2B5EF4-FFF2-40B4-BE49-F238E27FC236}">
                  <a16:creationId xmlns:a16="http://schemas.microsoft.com/office/drawing/2014/main" id="{AA00E5D0-71F1-F1D6-907A-83960A965D49}"/>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36" name="Oval 35">
              <a:extLst>
                <a:ext uri="{FF2B5EF4-FFF2-40B4-BE49-F238E27FC236}">
                  <a16:creationId xmlns:a16="http://schemas.microsoft.com/office/drawing/2014/main" id="{964B59A5-485F-790A-453F-DADCCF591767}"/>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pSp>
        <p:nvGrpSpPr>
          <p:cNvPr id="37" name="Group 36">
            <a:extLst>
              <a:ext uri="{FF2B5EF4-FFF2-40B4-BE49-F238E27FC236}">
                <a16:creationId xmlns:a16="http://schemas.microsoft.com/office/drawing/2014/main" id="{D70F87EB-168E-1519-5A3D-60FF32EACD92}"/>
              </a:ext>
            </a:extLst>
          </p:cNvPr>
          <p:cNvGrpSpPr/>
          <p:nvPr/>
        </p:nvGrpSpPr>
        <p:grpSpPr>
          <a:xfrm>
            <a:off x="1116614" y="2963208"/>
            <a:ext cx="220187" cy="220185"/>
            <a:chOff x="11904257" y="1412230"/>
            <a:chExt cx="112380" cy="112870"/>
          </a:xfrm>
        </p:grpSpPr>
        <p:sp>
          <p:nvSpPr>
            <p:cNvPr id="38" name="Star: 5 Points 37">
              <a:extLst>
                <a:ext uri="{FF2B5EF4-FFF2-40B4-BE49-F238E27FC236}">
                  <a16:creationId xmlns:a16="http://schemas.microsoft.com/office/drawing/2014/main" id="{ACCBB736-B48A-22E2-B0ED-5BFD2C1FB532}"/>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39" name="Oval 38">
              <a:extLst>
                <a:ext uri="{FF2B5EF4-FFF2-40B4-BE49-F238E27FC236}">
                  <a16:creationId xmlns:a16="http://schemas.microsoft.com/office/drawing/2014/main" id="{B92A1A0E-7EE3-C9AB-7120-7411EFFD30B1}"/>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pSp>
        <p:nvGrpSpPr>
          <p:cNvPr id="40" name="Group 39">
            <a:extLst>
              <a:ext uri="{FF2B5EF4-FFF2-40B4-BE49-F238E27FC236}">
                <a16:creationId xmlns:a16="http://schemas.microsoft.com/office/drawing/2014/main" id="{1D6B361A-AA22-21F3-CD31-1BE93BF7D416}"/>
              </a:ext>
            </a:extLst>
          </p:cNvPr>
          <p:cNvGrpSpPr/>
          <p:nvPr/>
        </p:nvGrpSpPr>
        <p:grpSpPr>
          <a:xfrm>
            <a:off x="1116614" y="3233189"/>
            <a:ext cx="220187" cy="220187"/>
            <a:chOff x="11904257" y="1412230"/>
            <a:chExt cx="112380" cy="112870"/>
          </a:xfrm>
        </p:grpSpPr>
        <p:sp>
          <p:nvSpPr>
            <p:cNvPr id="41" name="Star: 5 Points 40">
              <a:extLst>
                <a:ext uri="{FF2B5EF4-FFF2-40B4-BE49-F238E27FC236}">
                  <a16:creationId xmlns:a16="http://schemas.microsoft.com/office/drawing/2014/main" id="{80BD69FB-98B7-0AFF-DB9A-312FBD893E6D}"/>
                </a:ext>
              </a:extLst>
            </p:cNvPr>
            <p:cNvSpPr/>
            <p:nvPr/>
          </p:nvSpPr>
          <p:spPr bwMode="gray">
            <a:xfrm>
              <a:off x="11915495" y="1422272"/>
              <a:ext cx="89904" cy="88838"/>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sp>
          <p:nvSpPr>
            <p:cNvPr id="42" name="Oval 41">
              <a:extLst>
                <a:ext uri="{FF2B5EF4-FFF2-40B4-BE49-F238E27FC236}">
                  <a16:creationId xmlns:a16="http://schemas.microsoft.com/office/drawing/2014/main" id="{FA92DDBD-DBD3-6128-3A17-27E1F89D8F95}"/>
                </a:ext>
              </a:extLst>
            </p:cNvPr>
            <p:cNvSpPr/>
            <p:nvPr/>
          </p:nvSpPr>
          <p:spPr bwMode="gray">
            <a:xfrm>
              <a:off x="11904257" y="1412230"/>
              <a:ext cx="112380" cy="112870"/>
            </a:xfrm>
            <a:prstGeom prst="ellipse">
              <a:avLst/>
            </a:prstGeom>
            <a:noFill/>
            <a:ln w="9525" cap="flat" cmpd="sng" algn="ctr">
              <a:solidFill>
                <a:srgbClr val="C9A909"/>
              </a:solidFill>
              <a:prstDash val="solid"/>
              <a:miter lim="800000"/>
              <a:headEnd type="none" w="med" len="med"/>
              <a:tailEnd type="none" w="med" len="med"/>
            </a:ln>
            <a:effectLst/>
          </p:spPr>
          <p:txBody>
            <a:bodyPr vert="horz" wrap="square" lIns="91309" tIns="45655" rIns="91309" bIns="45655"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5" b="1">
                <a:solidFill>
                  <a:srgbClr val="0000C9"/>
                </a:solidFill>
                <a:latin typeface="Arial" panose="020B0604020202020204"/>
              </a:endParaRPr>
            </a:p>
          </p:txBody>
        </p:sp>
      </p:grpSp>
      <p:graphicFrame>
        <p:nvGraphicFramePr>
          <p:cNvPr id="4" name="Table 3">
            <a:extLst>
              <a:ext uri="{FF2B5EF4-FFF2-40B4-BE49-F238E27FC236}">
                <a16:creationId xmlns:a16="http://schemas.microsoft.com/office/drawing/2014/main" id="{10B46634-A0A3-4767-64CD-39E1AE44597D}"/>
              </a:ext>
            </a:extLst>
          </p:cNvPr>
          <p:cNvGraphicFramePr>
            <a:graphicFrameLocks noGrp="1"/>
          </p:cNvGraphicFramePr>
          <p:nvPr/>
        </p:nvGraphicFramePr>
        <p:xfrm>
          <a:off x="1432515" y="3631361"/>
          <a:ext cx="6455778" cy="2791326"/>
        </p:xfrm>
        <a:graphic>
          <a:graphicData uri="http://schemas.openxmlformats.org/drawingml/2006/table">
            <a:tbl>
              <a:tblPr firstRow="1" bandRow="1">
                <a:tableStyleId>{2D5ABB26-0587-4C30-8999-92F81FD0307C}</a:tableStyleId>
              </a:tblPr>
              <a:tblGrid>
                <a:gridCol w="4188837">
                  <a:extLst>
                    <a:ext uri="{9D8B030D-6E8A-4147-A177-3AD203B41FA5}">
                      <a16:colId xmlns:a16="http://schemas.microsoft.com/office/drawing/2014/main" val="664799818"/>
                    </a:ext>
                  </a:extLst>
                </a:gridCol>
                <a:gridCol w="755647">
                  <a:extLst>
                    <a:ext uri="{9D8B030D-6E8A-4147-A177-3AD203B41FA5}">
                      <a16:colId xmlns:a16="http://schemas.microsoft.com/office/drawing/2014/main" val="3981885767"/>
                    </a:ext>
                  </a:extLst>
                </a:gridCol>
                <a:gridCol w="755647">
                  <a:extLst>
                    <a:ext uri="{9D8B030D-6E8A-4147-A177-3AD203B41FA5}">
                      <a16:colId xmlns:a16="http://schemas.microsoft.com/office/drawing/2014/main" val="1145194268"/>
                    </a:ext>
                  </a:extLst>
                </a:gridCol>
                <a:gridCol w="755647">
                  <a:extLst>
                    <a:ext uri="{9D8B030D-6E8A-4147-A177-3AD203B41FA5}">
                      <a16:colId xmlns:a16="http://schemas.microsoft.com/office/drawing/2014/main" val="3922928663"/>
                    </a:ext>
                  </a:extLst>
                </a:gridCol>
              </a:tblGrid>
              <a:tr h="244482">
                <a:tc>
                  <a:txBody>
                    <a:bodyPr/>
                    <a:lstStyle/>
                    <a:p>
                      <a:endParaRPr lang="en-US" sz="1200">
                        <a:latin typeface="+mn-lt"/>
                      </a:endParaRPr>
                    </a:p>
                  </a:txBody>
                  <a:tcPr marL="0" marR="0" marT="0" marB="0">
                    <a:lnR w="12700" cap="flat" cmpd="sng" algn="ctr">
                      <a:solidFill>
                        <a:srgbClr val="5F0020"/>
                      </a:solidFill>
                      <a:prstDash val="solid"/>
                      <a:round/>
                      <a:headEnd type="none" w="med" len="med"/>
                      <a:tailEnd type="none" w="med" len="med"/>
                    </a:lnR>
                    <a:lnB w="6350" cap="flat" cmpd="sng" algn="ctr">
                      <a:noFill/>
                      <a:prstDash val="solid"/>
                      <a:round/>
                      <a:headEnd type="none" w="med" len="med"/>
                      <a:tailEnd type="none" w="med" len="med"/>
                    </a:lnB>
                    <a:noFill/>
                  </a:tcPr>
                </a:tc>
                <a:tc gridSpan="3">
                  <a:txBody>
                    <a:bodyPr/>
                    <a:lstStyle/>
                    <a:p>
                      <a:pPr algn="ctr"/>
                      <a:r>
                        <a:rPr lang="en-US" sz="1600" b="1">
                          <a:solidFill>
                            <a:srgbClr val="5F0020"/>
                          </a:solidFill>
                          <a:latin typeface="+mn-lt"/>
                        </a:rPr>
                        <a:t>Current Wave</a:t>
                      </a:r>
                      <a:endParaRPr lang="en-US" sz="1400" b="1">
                        <a:solidFill>
                          <a:srgbClr val="5F0020"/>
                        </a:solidFill>
                        <a:latin typeface="+mn-lt"/>
                      </a:endParaRPr>
                    </a:p>
                  </a:txBody>
                  <a:tcPr marL="0" marR="0" marT="0" marB="0" anchor="ctr">
                    <a:lnL w="12700" cap="flat" cmpd="sng" algn="ctr">
                      <a:solidFill>
                        <a:srgbClr val="5F0020"/>
                      </a:solidFill>
                      <a:prstDash val="solid"/>
                      <a:round/>
                      <a:headEnd type="none" w="med" len="med"/>
                      <a:tailEnd type="none" w="med" len="med"/>
                    </a:lnL>
                    <a:lnR w="12700" cap="flat" cmpd="sng" algn="ctr">
                      <a:solidFill>
                        <a:srgbClr val="5F0020"/>
                      </a:solidFill>
                      <a:prstDash val="solid"/>
                      <a:round/>
                      <a:headEnd type="none" w="med" len="med"/>
                      <a:tailEnd type="none" w="med" len="med"/>
                    </a:lnR>
                    <a:lnT w="12700" cap="flat" cmpd="sng" algn="ctr">
                      <a:solidFill>
                        <a:srgbClr val="5F0020"/>
                      </a:solidFill>
                      <a:prstDash val="solid"/>
                      <a:round/>
                      <a:headEnd type="none" w="med" len="med"/>
                      <a:tailEnd type="none" w="med" len="med"/>
                    </a:lnT>
                    <a:lnB w="9525" cap="flat" cmpd="sng" algn="ctr">
                      <a:solidFill>
                        <a:srgbClr val="937DAD"/>
                      </a:solidFill>
                      <a:prstDash val="solid"/>
                      <a:round/>
                      <a:headEnd type="none" w="med" len="med"/>
                      <a:tailEnd type="none" w="med" len="med"/>
                    </a:lnB>
                    <a:noFill/>
                  </a:tcPr>
                </a:tc>
                <a:tc hMerge="1">
                  <a:txBody>
                    <a:bodyPr/>
                    <a:lstStyle/>
                    <a:p>
                      <a:pPr algn="ctr"/>
                      <a:endParaRPr lang="en-US" sz="1400" b="1">
                        <a:solidFill>
                          <a:srgbClr val="0000C9"/>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hMerge="1">
                  <a:txBody>
                    <a:bodyPr/>
                    <a:lstStyle/>
                    <a:p>
                      <a:pPr algn="ctr"/>
                      <a:endParaRPr lang="en-US" sz="1400" b="1">
                        <a:solidFill>
                          <a:srgbClr val="0000C9"/>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279058055"/>
                  </a:ext>
                </a:extLst>
              </a:tr>
              <a:tr h="182832">
                <a:tc>
                  <a:txBody>
                    <a:bodyPr/>
                    <a:lstStyle/>
                    <a:p>
                      <a:endParaRPr lang="en-US" sz="1200">
                        <a:latin typeface="+mn-lt"/>
                      </a:endParaRPr>
                    </a:p>
                  </a:txBody>
                  <a:tcPr marL="0" marR="0" marT="0" marB="0">
                    <a:lnR w="12700" cap="flat" cmpd="sng" algn="ctr">
                      <a:solidFill>
                        <a:srgbClr val="5F0020"/>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5F0020"/>
                          </a:solidFill>
                          <a:latin typeface="+mn-lt"/>
                        </a:rPr>
                        <a:t>TOTAL</a:t>
                      </a:r>
                    </a:p>
                  </a:txBody>
                  <a:tcPr marL="0" marR="0" marT="0"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5F0020"/>
                          </a:solidFill>
                          <a:latin typeface="+mn-lt"/>
                        </a:rPr>
                        <a:t>PED</a:t>
                      </a:r>
                      <a:r>
                        <a:rPr lang="en-US" sz="1200" b="0">
                          <a:solidFill>
                            <a:srgbClr val="7F7F7F"/>
                          </a:solidFill>
                          <a:latin typeface="+mn-lt"/>
                          <a:cs typeface="Arial"/>
                        </a:rPr>
                        <a:t> </a:t>
                      </a:r>
                      <a:r>
                        <a:rPr lang="en-US" sz="1200" b="0" baseline="15000">
                          <a:solidFill>
                            <a:srgbClr val="7F7F7F"/>
                          </a:solidFill>
                          <a:latin typeface="+mn-lt"/>
                          <a:cs typeface="Arial"/>
                        </a:rPr>
                        <a:t>| A</a:t>
                      </a:r>
                      <a:endParaRPr lang="en-US" sz="1200" b="0" baseline="1500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200" b="0">
                          <a:solidFill>
                            <a:srgbClr val="5F0020"/>
                          </a:solidFill>
                          <a:latin typeface="+mn-lt"/>
                        </a:rPr>
                        <a:t>PCP</a:t>
                      </a:r>
                      <a:r>
                        <a:rPr lang="en-US" sz="1200" b="0">
                          <a:solidFill>
                            <a:srgbClr val="7F7F7F"/>
                          </a:solidFill>
                          <a:latin typeface="+mn-lt"/>
                          <a:cs typeface="Arial"/>
                        </a:rPr>
                        <a:t> </a:t>
                      </a:r>
                      <a:r>
                        <a:rPr lang="en-US" sz="1200" b="0" baseline="15000">
                          <a:solidFill>
                            <a:srgbClr val="7F7F7F"/>
                          </a:solidFill>
                          <a:latin typeface="+mn-lt"/>
                          <a:cs typeface="Arial"/>
                        </a:rPr>
                        <a:t>| B</a:t>
                      </a:r>
                      <a:endParaRPr lang="en-US" sz="1200" b="0" baseline="1500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9525"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28386083"/>
                  </a:ext>
                </a:extLst>
              </a:tr>
              <a:tr h="137124">
                <a:tc>
                  <a:txBody>
                    <a:bodyPr/>
                    <a:lstStyle/>
                    <a:p>
                      <a:endParaRPr lang="en-US" sz="900">
                        <a:latin typeface="+mn-lt"/>
                      </a:endParaRPr>
                    </a:p>
                  </a:txBody>
                  <a:tcPr marL="0" marR="0" marT="0" marB="0">
                    <a:lnR w="12700" cap="flat" cmpd="sng" algn="ctr">
                      <a:solidFill>
                        <a:srgbClr val="5F0020"/>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(n=200)</a:t>
                      </a:r>
                    </a:p>
                  </a:txBody>
                  <a:tcPr marL="0" marR="0" marT="0" marB="0">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bg1">
                              <a:lumMod val="65000"/>
                            </a:schemeClr>
                          </a:solidFill>
                          <a:latin typeface="+mn-lt"/>
                        </a:rPr>
                        <a:t>(n=160)</a:t>
                      </a: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900" b="0">
                          <a:solidFill>
                            <a:schemeClr val="bg1">
                              <a:lumMod val="65000"/>
                            </a:schemeClr>
                          </a:solidFill>
                          <a:latin typeface="+mn-lt"/>
                        </a:rPr>
                        <a:t>(n=40)</a:t>
                      </a: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662937761"/>
                  </a:ext>
                </a:extLst>
              </a:tr>
              <a:tr h="267402">
                <a:tc>
                  <a:txBody>
                    <a:bodyPr/>
                    <a:lstStyle/>
                    <a:p>
                      <a:pPr algn="l"/>
                      <a:r>
                        <a:rPr lang="en-US" sz="1600" b="1" i="1" kern="1200">
                          <a:solidFill>
                            <a:srgbClr val="5F0020"/>
                          </a:solidFill>
                          <a:latin typeface="+mn-lt"/>
                          <a:ea typeface="+mn-ea"/>
                          <a:cs typeface="+mn-cs"/>
                        </a:rPr>
                        <a:t>Awareness</a:t>
                      </a:r>
                      <a:endParaRPr lang="en-US" sz="1600" b="0" i="1" kern="1200">
                        <a:solidFill>
                          <a:srgbClr val="5F0020"/>
                        </a:solidFill>
                        <a:latin typeface="+mn-lt"/>
                        <a:ea typeface="+mn-ea"/>
                        <a:cs typeface="+mn-cs"/>
                      </a:endParaRPr>
                    </a:p>
                  </a:txBody>
                  <a:tcPr marL="91392" marR="91392" marT="0" marB="0" anchor="ctr">
                    <a:lnR w="12700" cap="flat" cmpd="sng" algn="ctr">
                      <a:solidFill>
                        <a:srgbClr val="5F002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40000"/>
                      </a:schemeClr>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40000"/>
                      </a:schemeClr>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40000"/>
                      </a:schemeClr>
                    </a:solidFill>
                  </a:tcPr>
                </a:tc>
                <a:tc>
                  <a:txBody>
                    <a:bodyPr/>
                    <a:lstStyle/>
                    <a:p>
                      <a:pPr algn="ctr"/>
                      <a:endParaRPr lang="en-US" sz="1600" b="0">
                        <a:solidFill>
                          <a:schemeClr val="accent2">
                            <a:lumMod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40000"/>
                      </a:schemeClr>
                    </a:solidFill>
                  </a:tcPr>
                </a:tc>
                <a:extLst>
                  <a:ext uri="{0D108BD9-81ED-4DB2-BD59-A6C34878D82A}">
                    <a16:rowId xmlns:a16="http://schemas.microsoft.com/office/drawing/2014/main" val="2063017590"/>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Unaided Awareness</a:t>
                      </a:r>
                      <a:endParaRPr lang="en-US" sz="1600" b="0" i="1">
                        <a:solidFill>
                          <a:schemeClr val="bg1">
                            <a:lumMod val="50000"/>
                          </a:schemeClr>
                        </a:solidFill>
                        <a:latin typeface="+mn-lt"/>
                      </a:endParaRPr>
                    </a:p>
                  </a:txBody>
                  <a:tcPr marL="91392" marR="91392" marT="0" marB="0" anchor="ctr">
                    <a:lnR w="12700" cap="flat" cmpd="sng" algn="ctr">
                      <a:solidFill>
                        <a:srgbClr val="5F0020"/>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14%</a:t>
                      </a:r>
                    </a:p>
                  </a:txBody>
                  <a:tcPr marL="0" marR="0" marT="0"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16%</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8%</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57574244"/>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Aided Awareness</a:t>
                      </a:r>
                      <a:endParaRPr lang="en-US" sz="1600" b="0" i="1">
                        <a:solidFill>
                          <a:schemeClr val="bg1">
                            <a:lumMod val="50000"/>
                          </a:schemeClr>
                        </a:solidFill>
                        <a:latin typeface="+mn-lt"/>
                      </a:endParaRPr>
                    </a:p>
                  </a:txBody>
                  <a:tcPr marL="91392" marR="91392" marT="0" marB="0" anchor="ctr">
                    <a:lnR w="12700" cap="flat" cmpd="sng" algn="ctr">
                      <a:solidFill>
                        <a:srgbClr val="5F002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baseline="0">
                          <a:solidFill>
                            <a:schemeClr val="tx1"/>
                          </a:solidFill>
                          <a:latin typeface="+mn-lt"/>
                        </a:rPr>
                        <a:t>64%</a:t>
                      </a:r>
                    </a:p>
                  </a:txBody>
                  <a:tcPr marL="0" marR="0" marT="0"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60%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78%</a:t>
                      </a:r>
                      <a:r>
                        <a:rPr lang="en-US" sz="1200" b="0" baseline="30000">
                          <a:solidFill>
                            <a:schemeClr val="tx1"/>
                          </a:solidFill>
                          <a:latin typeface="+mn-lt"/>
                        </a:rPr>
                        <a:t>A</a:t>
                      </a:r>
                      <a:endParaRPr lang="en-US" sz="1200" b="0">
                        <a:solidFill>
                          <a:schemeClr val="tx1"/>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47864391"/>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Familiarity </a:t>
                      </a:r>
                      <a:r>
                        <a:rPr lang="en-US" sz="1000" b="0" i="1" kern="1200">
                          <a:solidFill>
                            <a:schemeClr val="bg1">
                              <a:lumMod val="50000"/>
                            </a:schemeClr>
                          </a:solidFill>
                          <a:latin typeface="+mn-lt"/>
                          <a:ea typeface="+mn-ea"/>
                          <a:cs typeface="+mn-cs"/>
                        </a:rPr>
                        <a:t>(% Very/Somewhat </a:t>
                      </a:r>
                      <a:r>
                        <a:rPr lang="en-US" sz="1000" b="0" i="1">
                          <a:solidFill>
                            <a:schemeClr val="bg1">
                              <a:lumMod val="50000"/>
                            </a:schemeClr>
                          </a:solidFill>
                          <a:latin typeface="+mn-lt"/>
                        </a:rPr>
                        <a:t>Familiar)</a:t>
                      </a:r>
                      <a:endParaRPr lang="en-US" sz="1100" b="0" i="1">
                        <a:solidFill>
                          <a:schemeClr val="bg1">
                            <a:lumMod val="50000"/>
                          </a:schemeClr>
                        </a:solidFill>
                        <a:latin typeface="+mn-lt"/>
                      </a:endParaRPr>
                    </a:p>
                  </a:txBody>
                  <a:tcPr marL="91392" marR="91392" marT="0" marB="0" anchor="ctr">
                    <a:lnR w="12700" cap="flat" cmpd="sng" algn="ctr">
                      <a:solidFill>
                        <a:srgbClr val="5F002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baseline="0">
                          <a:solidFill>
                            <a:schemeClr val="tx1"/>
                          </a:solidFill>
                          <a:latin typeface="+mn-lt"/>
                        </a:rPr>
                        <a:t>30%</a:t>
                      </a:r>
                    </a:p>
                  </a:txBody>
                  <a:tcPr marL="0" marR="0" marT="0"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28%</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38%</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287188810"/>
                  </a:ext>
                </a:extLst>
              </a:tr>
              <a:tr h="267402">
                <a:tc>
                  <a:txBody>
                    <a:bodyPr/>
                    <a:lstStyle/>
                    <a:p>
                      <a:pPr marL="0" marR="0" lvl="1" indent="0" algn="l" defTabSz="914400" rtl="0" eaLnBrk="1" fontAlgn="auto" latinLnBrk="0" hangingPunct="1">
                        <a:lnSpc>
                          <a:spcPct val="86000"/>
                        </a:lnSpc>
                        <a:spcBef>
                          <a:spcPts val="0"/>
                        </a:spcBef>
                        <a:spcAft>
                          <a:spcPts val="0"/>
                        </a:spcAft>
                        <a:buClrTx/>
                        <a:buSzTx/>
                        <a:buFontTx/>
                        <a:buNone/>
                        <a:tabLst/>
                        <a:defRPr/>
                      </a:pPr>
                      <a:r>
                        <a:rPr lang="en-US" sz="1600" b="1" i="1" kern="1200">
                          <a:solidFill>
                            <a:srgbClr val="5F0020"/>
                          </a:solidFill>
                          <a:latin typeface="+mn-lt"/>
                          <a:ea typeface="+mn-ea"/>
                          <a:cs typeface="+mn-cs"/>
                        </a:rPr>
                        <a:t>Adoption</a:t>
                      </a:r>
                      <a:endParaRPr lang="en-US" sz="1600" b="0" i="1" kern="1200">
                        <a:solidFill>
                          <a:srgbClr val="5F0020"/>
                        </a:solidFill>
                        <a:latin typeface="+mn-lt"/>
                        <a:ea typeface="+mn-ea"/>
                        <a:cs typeface="+mn-cs"/>
                      </a:endParaRPr>
                    </a:p>
                  </a:txBody>
                  <a:tcPr marL="91392" marR="91392" marT="0" marB="0" anchor="ctr">
                    <a:lnR w="12700" cap="flat" cmpd="sng" algn="ctr">
                      <a:solidFill>
                        <a:srgbClr val="5F002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6">
                        <a:lumMod val="20000"/>
                        <a:lumOff val="80000"/>
                        <a:alpha val="40000"/>
                      </a:schemeClr>
                    </a:solidFill>
                  </a:tcPr>
                </a:tc>
                <a:tc>
                  <a:txBody>
                    <a:bodyPr/>
                    <a:lstStyle/>
                    <a:p>
                      <a:pPr algn="l"/>
                      <a:endParaRPr lang="en-US" sz="1200" b="0">
                        <a:solidFill>
                          <a:srgbClr val="2B077B"/>
                        </a:solidFill>
                        <a:latin typeface="+mn-lt"/>
                      </a:endParaRPr>
                    </a:p>
                  </a:txBody>
                  <a:tcPr marL="0" marR="0" marT="0"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6">
                        <a:lumMod val="20000"/>
                        <a:lumOff val="80000"/>
                        <a:alpha val="40000"/>
                      </a:schemeClr>
                    </a:solidFill>
                  </a:tcPr>
                </a:tc>
                <a:tc>
                  <a:txBody>
                    <a:bodyPr/>
                    <a:lstStyle/>
                    <a:p>
                      <a:pPr algn="l"/>
                      <a:endParaRPr lang="en-US" sz="1200" b="0">
                        <a:solidFill>
                          <a:srgbClr val="2B077B"/>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6">
                        <a:lumMod val="20000"/>
                        <a:lumOff val="80000"/>
                        <a:alpha val="40000"/>
                      </a:schemeClr>
                    </a:solidFill>
                  </a:tcPr>
                </a:tc>
                <a:tc>
                  <a:txBody>
                    <a:bodyPr/>
                    <a:lstStyle/>
                    <a:p>
                      <a:pPr algn="l"/>
                      <a:endParaRPr lang="en-US" sz="1200" b="0">
                        <a:solidFill>
                          <a:srgbClr val="2B077B"/>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6">
                        <a:lumMod val="20000"/>
                        <a:lumOff val="80000"/>
                        <a:alpha val="40000"/>
                      </a:schemeClr>
                    </a:solidFill>
                  </a:tcPr>
                </a:tc>
                <a:extLst>
                  <a:ext uri="{0D108BD9-81ED-4DB2-BD59-A6C34878D82A}">
                    <a16:rowId xmlns:a16="http://schemas.microsoft.com/office/drawing/2014/main" val="1489414374"/>
                  </a:ext>
                </a:extLst>
              </a:tr>
              <a:tr h="259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mn-cs"/>
                        </a:rPr>
                        <a:t>Current Stocker</a:t>
                      </a:r>
                      <a:endParaRPr lang="en-US" sz="1200" b="0" i="1" kern="1200">
                        <a:solidFill>
                          <a:schemeClr val="bg1">
                            <a:lumMod val="50000"/>
                          </a:schemeClr>
                        </a:solidFill>
                        <a:latin typeface="+mn-lt"/>
                        <a:ea typeface="+mn-ea"/>
                        <a:cs typeface="+mn-cs"/>
                      </a:endParaRPr>
                    </a:p>
                  </a:txBody>
                  <a:tcPr marL="91392" marR="91392" marT="45708" marB="0" anchor="ctr">
                    <a:lnR w="12700" cap="flat" cmpd="sng" algn="ctr">
                      <a:solidFill>
                        <a:srgbClr val="5F0020"/>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1200" b="0">
                          <a:solidFill>
                            <a:schemeClr val="tx1"/>
                          </a:solidFill>
                          <a:latin typeface="+mn-lt"/>
                        </a:rPr>
                        <a:t>n/a</a:t>
                      </a:r>
                    </a:p>
                  </a:txBody>
                  <a:tcPr marL="0" marR="0" marT="45708"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n-lt"/>
                        </a:rPr>
                        <a:t>n/a</a:t>
                      </a:r>
                    </a:p>
                  </a:txBody>
                  <a:tcPr marL="0" marR="0" marT="45708"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n-lt"/>
                        </a:rPr>
                        <a:t>n/a</a:t>
                      </a:r>
                    </a:p>
                  </a:txBody>
                  <a:tcPr marL="0" marR="0" marT="45708"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2835743456"/>
                  </a:ext>
                </a:extLst>
              </a:tr>
              <a:tr h="12188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lt"/>
                        </a:rPr>
                        <a:t>Non-Stocker </a:t>
                      </a:r>
                      <a:r>
                        <a:rPr lang="en-US" sz="1400" b="0" kern="1200">
                          <a:solidFill>
                            <a:schemeClr val="tx1"/>
                          </a:solidFill>
                          <a:latin typeface="+mn-lt"/>
                          <a:ea typeface="+mn-ea"/>
                          <a:cs typeface="+mn-cs"/>
                        </a:rPr>
                        <a:t>Intent to Stock </a:t>
                      </a:r>
                      <a:r>
                        <a:rPr lang="en-US" sz="1000" b="0" i="1" kern="1200">
                          <a:solidFill>
                            <a:schemeClr val="bg1">
                              <a:lumMod val="50000"/>
                            </a:schemeClr>
                          </a:solidFill>
                          <a:latin typeface="+mn-lt"/>
                          <a:ea typeface="+mn-ea"/>
                          <a:cs typeface="+mn-cs"/>
                        </a:rPr>
                        <a:t>(% Extremely/Very Likely)</a:t>
                      </a:r>
                      <a:endParaRPr lang="en-US" sz="1400" b="0">
                        <a:solidFill>
                          <a:schemeClr val="bg1">
                            <a:lumMod val="50000"/>
                          </a:schemeClr>
                        </a:solidFill>
                        <a:latin typeface="+mn-lt"/>
                      </a:endParaRPr>
                    </a:p>
                  </a:txBody>
                  <a:tcPr marL="91392" marR="91392" marT="0" marB="0" anchor="b">
                    <a:lnR w="12700" cap="flat" cmpd="sng" algn="ctr">
                      <a:solidFill>
                        <a:srgbClr val="5F0020"/>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800" b="0">
                        <a:solidFill>
                          <a:schemeClr val="bg1">
                            <a:lumMod val="65000"/>
                          </a:schemeClr>
                        </a:solidFill>
                        <a:latin typeface="+mn-lt"/>
                      </a:endParaRPr>
                    </a:p>
                  </a:txBody>
                  <a:tcPr marL="0" marR="0" marT="0" marB="0" anchor="b">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800" b="0">
                        <a:solidFill>
                          <a:schemeClr val="bg1">
                            <a:lumMod val="65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a:solidFill>
                          <a:schemeClr val="bg1">
                            <a:lumMod val="65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2601531"/>
                  </a:ext>
                </a:extLst>
              </a:tr>
              <a:tr h="182832">
                <a:tc vMerge="1">
                  <a:txBody>
                    <a:bodyPr/>
                    <a:lstStyle/>
                    <a:p>
                      <a:endParaRPr/>
                    </a:p>
                  </a:txBody>
                  <a:tcPr marL="91416" marR="91416" marT="0" marB="0" anchor="ctr">
                    <a:lnR w="19050" cap="flat" cmpd="sng" algn="ctr">
                      <a:solidFill>
                        <a:srgbClr val="937DAD"/>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0">
                          <a:solidFill>
                            <a:schemeClr val="tx1"/>
                          </a:solidFill>
                          <a:latin typeface="+mn-lt"/>
                        </a:rPr>
                        <a:t>34%</a:t>
                      </a:r>
                    </a:p>
                  </a:txBody>
                  <a:tcPr marL="0" marR="0" marT="0" marB="0" anchor="b">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200" b="0">
                          <a:solidFill>
                            <a:schemeClr val="tx1"/>
                          </a:solidFill>
                          <a:latin typeface="+mn-lt"/>
                        </a:rPr>
                        <a:t>31%</a:t>
                      </a: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200" b="0">
                          <a:solidFill>
                            <a:schemeClr val="tx1"/>
                          </a:solidFill>
                          <a:latin typeface="+mn-lt"/>
                        </a:rPr>
                        <a:t>43%</a:t>
                      </a: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24476059"/>
                  </a:ext>
                </a:extLst>
              </a:tr>
              <a:tr h="282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mn-cs"/>
                        </a:rPr>
                        <a:t>Intent to Recommend </a:t>
                      </a:r>
                      <a:r>
                        <a:rPr lang="en-US" sz="1000" b="0" i="1" kern="1200">
                          <a:solidFill>
                            <a:schemeClr val="bg1">
                              <a:lumMod val="50000"/>
                            </a:schemeClr>
                          </a:solidFill>
                          <a:latin typeface="+mn-lt"/>
                          <a:ea typeface="+mn-ea"/>
                          <a:cs typeface="+mn-cs"/>
                        </a:rPr>
                        <a:t>(% Extremely/Very Likely)</a:t>
                      </a:r>
                      <a:endParaRPr lang="en-US" sz="1200" b="0" i="1" kern="1200">
                        <a:solidFill>
                          <a:schemeClr val="bg1">
                            <a:lumMod val="50000"/>
                          </a:schemeClr>
                        </a:solidFill>
                        <a:latin typeface="+mn-lt"/>
                        <a:ea typeface="+mn-ea"/>
                        <a:cs typeface="+mn-cs"/>
                      </a:endParaRPr>
                    </a:p>
                  </a:txBody>
                  <a:tcPr marL="91392" marR="91392" marT="0" marB="0" anchor="ctr">
                    <a:lnR w="12700" cap="flat" cmpd="sng" algn="ctr">
                      <a:solidFill>
                        <a:srgbClr val="5F0020"/>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noFill/>
                  </a:tcPr>
                </a:tc>
                <a:tc>
                  <a:txBody>
                    <a:bodyPr/>
                    <a:lstStyle/>
                    <a:p>
                      <a:pPr algn="ctr"/>
                      <a:r>
                        <a:rPr lang="en-US" sz="1200" b="0">
                          <a:solidFill>
                            <a:schemeClr val="tx1"/>
                          </a:solidFill>
                          <a:latin typeface="+mn-lt"/>
                        </a:rPr>
                        <a:t>36%</a:t>
                      </a:r>
                    </a:p>
                  </a:txBody>
                  <a:tcPr marL="0" marR="0" marT="0" marB="0" anchor="ctr">
                    <a:lnL w="12700" cap="flat" cmpd="sng" algn="ctr">
                      <a:solidFill>
                        <a:srgbClr val="5F002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5F0020"/>
                      </a:solidFill>
                      <a:prstDash val="solid"/>
                      <a:round/>
                      <a:headEnd type="none" w="med" len="med"/>
                      <a:tailEnd type="none" w="med" len="med"/>
                    </a:lnB>
                    <a:noFill/>
                  </a:tcPr>
                </a:tc>
                <a:tc>
                  <a:txBody>
                    <a:bodyPr/>
                    <a:lstStyle/>
                    <a:p>
                      <a:pPr algn="ctr"/>
                      <a:r>
                        <a:rPr lang="en-US" sz="1200" b="0">
                          <a:solidFill>
                            <a:schemeClr val="tx1"/>
                          </a:solidFill>
                          <a:latin typeface="+mn-lt"/>
                        </a:rPr>
                        <a:t>35%</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5F0020"/>
                      </a:solidFill>
                      <a:prstDash val="solid"/>
                      <a:round/>
                      <a:headEnd type="none" w="med" len="med"/>
                      <a:tailEnd type="none" w="med" len="med"/>
                    </a:lnB>
                    <a:noFill/>
                  </a:tcPr>
                </a:tc>
                <a:tc>
                  <a:txBody>
                    <a:bodyPr/>
                    <a:lstStyle/>
                    <a:p>
                      <a:pPr algn="ctr"/>
                      <a:r>
                        <a:rPr lang="en-US" sz="1200" b="0">
                          <a:solidFill>
                            <a:schemeClr val="tx1"/>
                          </a:solidFill>
                          <a:latin typeface="+mn-lt"/>
                        </a:rPr>
                        <a:t>40%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rgbClr val="5F0020"/>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5F0020"/>
                      </a:solidFill>
                      <a:prstDash val="solid"/>
                      <a:round/>
                      <a:headEnd type="none" w="med" len="med"/>
                      <a:tailEnd type="none" w="med" len="med"/>
                    </a:lnB>
                    <a:noFill/>
                  </a:tcPr>
                </a:tc>
                <a:extLst>
                  <a:ext uri="{0D108BD9-81ED-4DB2-BD59-A6C34878D82A}">
                    <a16:rowId xmlns:a16="http://schemas.microsoft.com/office/drawing/2014/main" val="1477839709"/>
                  </a:ext>
                </a:extLst>
              </a:tr>
            </a:tbl>
          </a:graphicData>
        </a:graphic>
      </p:graphicFrame>
      <p:pic>
        <p:nvPicPr>
          <p:cNvPr id="45" name="Picture 44">
            <a:extLst>
              <a:ext uri="{FF2B5EF4-FFF2-40B4-BE49-F238E27FC236}">
                <a16:creationId xmlns:a16="http://schemas.microsoft.com/office/drawing/2014/main" id="{C841C90F-9794-B080-1CC6-9AF20BF2FFE0}"/>
              </a:ext>
            </a:extLst>
          </p:cNvPr>
          <p:cNvPicPr>
            <a:picLocks noChangeAspect="1"/>
          </p:cNvPicPr>
          <p:nvPr/>
        </p:nvPicPr>
        <p:blipFill>
          <a:blip r:embed="rId4"/>
          <a:stretch>
            <a:fillRect/>
          </a:stretch>
        </p:blipFill>
        <p:spPr>
          <a:xfrm>
            <a:off x="2645990" y="3631361"/>
            <a:ext cx="1501826" cy="514438"/>
          </a:xfrm>
          <a:prstGeom prst="rect">
            <a:avLst/>
          </a:prstGeom>
        </p:spPr>
      </p:pic>
    </p:spTree>
    <p:extLst>
      <p:ext uri="{BB962C8B-B14F-4D97-AF65-F5344CB8AC3E}">
        <p14:creationId xmlns:p14="http://schemas.microsoft.com/office/powerpoint/2010/main" val="69280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58B71-38BC-A7C7-0A25-CC666A51F07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D6A7071-7718-E1C8-05EA-D6E5ECE54F07}"/>
              </a:ext>
            </a:extLst>
          </p:cNvPr>
          <p:cNvSpPr>
            <a:spLocks noGrp="1"/>
          </p:cNvSpPr>
          <p:nvPr>
            <p:ph type="body" sz="quarter" idx="10"/>
          </p:nvPr>
        </p:nvSpPr>
        <p:spPr>
          <a:xfrm>
            <a:off x="448056" y="4215384"/>
            <a:ext cx="4233672" cy="905256"/>
          </a:xfrm>
        </p:spPr>
        <p:txBody>
          <a:bodyPr/>
          <a:lstStyle/>
          <a:p>
            <a:r>
              <a:rPr lang="en-US"/>
              <a:t>Meningococcal Vaccine Perceptions, Awareness and Knowledge</a:t>
            </a:r>
          </a:p>
        </p:txBody>
      </p:sp>
      <p:sp>
        <p:nvSpPr>
          <p:cNvPr id="3" name="Title 2">
            <a:extLst>
              <a:ext uri="{FF2B5EF4-FFF2-40B4-BE49-F238E27FC236}">
                <a16:creationId xmlns:a16="http://schemas.microsoft.com/office/drawing/2014/main" id="{16BE2AEA-4165-56A3-8F49-A2CFB328C833}"/>
              </a:ext>
            </a:extLst>
          </p:cNvPr>
          <p:cNvSpPr>
            <a:spLocks noGrp="1"/>
          </p:cNvSpPr>
          <p:nvPr>
            <p:ph type="ctrTitle"/>
          </p:nvPr>
        </p:nvSpPr>
        <p:spPr>
          <a:xfrm>
            <a:off x="448056" y="2560320"/>
            <a:ext cx="4233672" cy="1508760"/>
          </a:xfrm>
        </p:spPr>
        <p:txBody>
          <a:bodyPr/>
          <a:lstStyle/>
          <a:p>
            <a:r>
              <a:rPr lang="en-US"/>
              <a:t>Detailed Findings</a:t>
            </a:r>
          </a:p>
        </p:txBody>
      </p:sp>
    </p:spTree>
    <p:extLst>
      <p:ext uri="{BB962C8B-B14F-4D97-AF65-F5344CB8AC3E}">
        <p14:creationId xmlns:p14="http://schemas.microsoft.com/office/powerpoint/2010/main" val="2220556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A68A1-5545-4078-78E3-9FA002C3EC4B}"/>
            </a:ext>
          </a:extLst>
        </p:cNvPr>
        <p:cNvGrpSpPr/>
        <p:nvPr/>
      </p:nvGrpSpPr>
      <p:grpSpPr>
        <a:xfrm>
          <a:off x="0" y="0"/>
          <a:ext cx="0" cy="0"/>
          <a:chOff x="0" y="0"/>
          <a:chExt cx="0" cy="0"/>
        </a:xfrm>
      </p:grpSpPr>
      <p:graphicFrame>
        <p:nvGraphicFramePr>
          <p:cNvPr id="11" name="Chart 10">
            <a:extLst>
              <a:ext uri="{FF2B5EF4-FFF2-40B4-BE49-F238E27FC236}">
                <a16:creationId xmlns:a16="http://schemas.microsoft.com/office/drawing/2014/main" id="{6965EA91-0347-4AA4-C220-2F5EAF5EE4CC}"/>
              </a:ext>
            </a:extLst>
          </p:cNvPr>
          <p:cNvGraphicFramePr/>
          <p:nvPr/>
        </p:nvGraphicFramePr>
        <p:xfrm>
          <a:off x="260924" y="2507822"/>
          <a:ext cx="3768943" cy="3201770"/>
        </p:xfrm>
        <a:graphic>
          <a:graphicData uri="http://schemas.openxmlformats.org/drawingml/2006/chart">
            <c:chart xmlns:c="http://schemas.openxmlformats.org/drawingml/2006/chart" xmlns:r="http://schemas.openxmlformats.org/officeDocument/2006/relationships" r:id="rId3"/>
          </a:graphicData>
        </a:graphic>
      </p:graphicFrame>
      <p:sp>
        <p:nvSpPr>
          <p:cNvPr id="18" name="Rectangle: Rounded Corners 17">
            <a:extLst>
              <a:ext uri="{FF2B5EF4-FFF2-40B4-BE49-F238E27FC236}">
                <a16:creationId xmlns:a16="http://schemas.microsoft.com/office/drawing/2014/main" id="{F8105569-CC4B-2DFE-0FB2-9A5878D8A626}"/>
              </a:ext>
            </a:extLst>
          </p:cNvPr>
          <p:cNvSpPr/>
          <p:nvPr/>
        </p:nvSpPr>
        <p:spPr bwMode="gray">
          <a:xfrm>
            <a:off x="322387" y="1543773"/>
            <a:ext cx="11544054" cy="424681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5" name="Title 4">
            <a:extLst>
              <a:ext uri="{FF2B5EF4-FFF2-40B4-BE49-F238E27FC236}">
                <a16:creationId xmlns:a16="http://schemas.microsoft.com/office/drawing/2014/main" id="{4383F29D-5CA5-C57C-5668-3B16190D2A08}"/>
              </a:ext>
            </a:extLst>
          </p:cNvPr>
          <p:cNvSpPr>
            <a:spLocks noGrp="1"/>
          </p:cNvSpPr>
          <p:nvPr>
            <p:ph type="title"/>
          </p:nvPr>
        </p:nvSpPr>
        <p:spPr>
          <a:xfrm>
            <a:off x="1143414" y="171156"/>
            <a:ext cx="10656828" cy="1129356"/>
          </a:xfrm>
        </p:spPr>
        <p:txBody>
          <a:bodyPr/>
          <a:lstStyle/>
          <a:p>
            <a:r>
              <a:rPr lang="en-US"/>
              <a:t>HCPs continue to express </a:t>
            </a:r>
            <a:r>
              <a:rPr lang="en-US" b="1"/>
              <a:t>strongest</a:t>
            </a:r>
            <a:r>
              <a:rPr lang="en-US"/>
              <a:t> </a:t>
            </a:r>
            <a:r>
              <a:rPr lang="en-US" b="1"/>
              <a:t>concern </a:t>
            </a:r>
            <a:r>
              <a:rPr lang="en-US"/>
              <a:t>and </a:t>
            </a:r>
            <a:r>
              <a:rPr lang="en-US" b="1"/>
              <a:t>discussion priority </a:t>
            </a:r>
            <a:r>
              <a:rPr lang="en-US"/>
              <a:t>for</a:t>
            </a:r>
            <a:r>
              <a:rPr lang="en-US" b="1"/>
              <a:t> </a:t>
            </a:r>
            <a:r>
              <a:rPr lang="en-US"/>
              <a:t>MenACWY and MenB, while </a:t>
            </a:r>
            <a:r>
              <a:rPr lang="en-US" b="1"/>
              <a:t>knowledge</a:t>
            </a:r>
            <a:r>
              <a:rPr lang="en-US"/>
              <a:t> </a:t>
            </a:r>
            <a:r>
              <a:rPr lang="en-US" b="1"/>
              <a:t>trails</a:t>
            </a:r>
            <a:r>
              <a:rPr lang="en-US"/>
              <a:t> other diseases</a:t>
            </a:r>
            <a:endParaRPr lang="en-US" strike="sngStrike"/>
          </a:p>
        </p:txBody>
      </p:sp>
      <p:sp>
        <p:nvSpPr>
          <p:cNvPr id="17" name="Text Placeholder 16">
            <a:extLst>
              <a:ext uri="{FF2B5EF4-FFF2-40B4-BE49-F238E27FC236}">
                <a16:creationId xmlns:a16="http://schemas.microsoft.com/office/drawing/2014/main" id="{239DAA16-E6BB-E468-DD23-AF0954E1D396}"/>
              </a:ext>
            </a:extLst>
          </p:cNvPr>
          <p:cNvSpPr>
            <a:spLocks noGrp="1"/>
          </p:cNvSpPr>
          <p:nvPr>
            <p:ph type="body" sz="quarter" idx="16"/>
          </p:nvPr>
        </p:nvSpPr>
        <p:spPr>
          <a:xfrm>
            <a:off x="1450634" y="6181722"/>
            <a:ext cx="10349608" cy="630778"/>
          </a:xfrm>
        </p:spPr>
        <p:txBody>
          <a:bodyPr vert="horz" wrap="square" lIns="45708" tIns="27425" rIns="45708" bIns="27425" rtlCol="0" anchor="b" anchorCtr="0">
            <a:spAutoFit/>
          </a:bodyPr>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a:t>
            </a:r>
          </a:p>
          <a:p>
            <a:r>
              <a:rPr lang="en-US"/>
              <a:t>A1. How knowledgeable do you feel when it comes to the following diseases? (5-pt scale: 1=Not at all knowledgeable, 5=Extremely knowledgeable)</a:t>
            </a:r>
          </a:p>
          <a:p>
            <a:r>
              <a:rPr lang="en-US"/>
              <a:t>A2. How concerned are you about your 16-18 year old patients contracting each of these diseases? (5-pt scale: 1=Not at all concerned, 5=Extremely concerned)</a:t>
            </a:r>
            <a:endParaRPr lang="en-US" b="1"/>
          </a:p>
          <a:p>
            <a:r>
              <a:rPr lang="en-US"/>
              <a:t>A3. How much of a priority is discussing each of these diseases during conversations with your 16-18 year old patients and/or their caregivers? (5-pt scale: 1=Not at all a priority, 5=Top priority)</a:t>
            </a:r>
          </a:p>
        </p:txBody>
      </p:sp>
      <p:sp>
        <p:nvSpPr>
          <p:cNvPr id="12" name="TextBox 11">
            <a:extLst>
              <a:ext uri="{FF2B5EF4-FFF2-40B4-BE49-F238E27FC236}">
                <a16:creationId xmlns:a16="http://schemas.microsoft.com/office/drawing/2014/main" id="{4464AF1E-32BB-5754-73F4-BC936C3B26EC}"/>
              </a:ext>
            </a:extLst>
          </p:cNvPr>
          <p:cNvSpPr txBox="1"/>
          <p:nvPr/>
        </p:nvSpPr>
        <p:spPr bwMode="gray">
          <a:xfrm>
            <a:off x="1429626" y="1816286"/>
            <a:ext cx="1560278" cy="660009"/>
          </a:xfrm>
          <a:prstGeom prst="rect">
            <a:avLst/>
          </a:prstGeom>
        </p:spPr>
        <p:txBody>
          <a:bodyPr wrap="none" lIns="45708" tIns="45708" rIns="45708" bIns="45708" rtlCol="0">
            <a:spAutoFit/>
          </a:bodyPr>
          <a:lstStyle/>
          <a:p>
            <a:pPr algn="ctr">
              <a:lnSpc>
                <a:spcPct val="90000"/>
              </a:lnSpc>
              <a:spcAft>
                <a:spcPts val="400"/>
              </a:spcAft>
              <a:defRPr/>
            </a:pPr>
            <a:r>
              <a:rPr lang="en-US" sz="1600" b="1">
                <a:solidFill>
                  <a:srgbClr val="0000C9"/>
                </a:solidFill>
                <a:latin typeface="Arial" panose="020B0604020202020204"/>
              </a:rPr>
              <a:t>Disease</a:t>
            </a:r>
            <a:br>
              <a:rPr lang="en-US" sz="1600" b="1">
                <a:solidFill>
                  <a:srgbClr val="0000C9"/>
                </a:solidFill>
                <a:latin typeface="Arial" panose="020B0604020202020204"/>
              </a:rPr>
            </a:br>
            <a:r>
              <a:rPr lang="en-US" sz="1600" b="1">
                <a:solidFill>
                  <a:srgbClr val="0000C9"/>
                </a:solidFill>
                <a:latin typeface="Arial" panose="020B0604020202020204"/>
              </a:rPr>
              <a:t>Knowledge</a:t>
            </a:r>
            <a:br>
              <a:rPr lang="en-US" sz="1600" b="1">
                <a:solidFill>
                  <a:srgbClr val="0000C9"/>
                </a:solidFill>
                <a:latin typeface="Arial" panose="020B0604020202020204"/>
              </a:rPr>
            </a:br>
            <a:r>
              <a:rPr lang="en-US" sz="900" i="1">
                <a:solidFill>
                  <a:srgbClr val="FFFFFF">
                    <a:lumMod val="50000"/>
                  </a:srgbClr>
                </a:solidFill>
                <a:latin typeface="Arial" panose="020B0604020202020204"/>
              </a:rPr>
              <a:t>% Extremely Knowledgeable</a:t>
            </a:r>
          </a:p>
        </p:txBody>
      </p:sp>
      <p:sp>
        <p:nvSpPr>
          <p:cNvPr id="36" name="TextBox 35">
            <a:extLst>
              <a:ext uri="{FF2B5EF4-FFF2-40B4-BE49-F238E27FC236}">
                <a16:creationId xmlns:a16="http://schemas.microsoft.com/office/drawing/2014/main" id="{30644AA2-3CBC-89EE-4CA8-8F3C404E168E}"/>
              </a:ext>
            </a:extLst>
          </p:cNvPr>
          <p:cNvSpPr txBox="1"/>
          <p:nvPr/>
        </p:nvSpPr>
        <p:spPr bwMode="gray">
          <a:xfrm>
            <a:off x="5263174" y="1816286"/>
            <a:ext cx="1515405" cy="660009"/>
          </a:xfrm>
          <a:prstGeom prst="rect">
            <a:avLst/>
          </a:prstGeom>
        </p:spPr>
        <p:txBody>
          <a:bodyPr wrap="none" lIns="45708" tIns="45708" rIns="45708" bIns="45708" rtlCol="0">
            <a:spAutoFit/>
          </a:bodyPr>
          <a:lstStyle/>
          <a:p>
            <a:pPr algn="ctr">
              <a:lnSpc>
                <a:spcPct val="90000"/>
              </a:lnSpc>
              <a:spcAft>
                <a:spcPts val="400"/>
              </a:spcAft>
              <a:defRPr/>
            </a:pPr>
            <a:r>
              <a:rPr lang="en-US" sz="1600" b="1">
                <a:solidFill>
                  <a:srgbClr val="0000C9"/>
                </a:solidFill>
                <a:latin typeface="Arial" panose="020B0604020202020204"/>
              </a:rPr>
              <a:t>Concern</a:t>
            </a:r>
            <a:br>
              <a:rPr lang="en-US" sz="1600" b="1">
                <a:solidFill>
                  <a:srgbClr val="0000C9"/>
                </a:solidFill>
                <a:latin typeface="Arial" panose="020B0604020202020204"/>
              </a:rPr>
            </a:br>
            <a:r>
              <a:rPr lang="en-US" sz="1600" b="1">
                <a:solidFill>
                  <a:srgbClr val="0000C9"/>
                </a:solidFill>
                <a:latin typeface="Arial" panose="020B0604020202020204"/>
              </a:rPr>
              <a:t>About Disease</a:t>
            </a:r>
            <a:br>
              <a:rPr lang="en-US" sz="1600" b="1">
                <a:solidFill>
                  <a:srgbClr val="0000C9"/>
                </a:solidFill>
                <a:latin typeface="Arial" panose="020B0604020202020204"/>
              </a:rPr>
            </a:br>
            <a:r>
              <a:rPr lang="en-US" sz="900" i="1">
                <a:solidFill>
                  <a:srgbClr val="FFFFFF">
                    <a:lumMod val="50000"/>
                  </a:srgbClr>
                </a:solidFill>
                <a:latin typeface="Arial" panose="020B0604020202020204"/>
              </a:rPr>
              <a:t>% Extremely Concerned</a:t>
            </a:r>
          </a:p>
        </p:txBody>
      </p:sp>
      <p:sp>
        <p:nvSpPr>
          <p:cNvPr id="37" name="TextBox 36">
            <a:extLst>
              <a:ext uri="{FF2B5EF4-FFF2-40B4-BE49-F238E27FC236}">
                <a16:creationId xmlns:a16="http://schemas.microsoft.com/office/drawing/2014/main" id="{2FC47A1E-2AE5-9F6E-1E37-BC96F82DDD56}"/>
              </a:ext>
            </a:extLst>
          </p:cNvPr>
          <p:cNvSpPr txBox="1"/>
          <p:nvPr/>
        </p:nvSpPr>
        <p:spPr bwMode="gray">
          <a:xfrm>
            <a:off x="8755809" y="1816286"/>
            <a:ext cx="2432083" cy="660009"/>
          </a:xfrm>
          <a:prstGeom prst="rect">
            <a:avLst/>
          </a:prstGeom>
        </p:spPr>
        <p:txBody>
          <a:bodyPr wrap="none" lIns="45708" tIns="45708" rIns="45708" bIns="45708" rtlCol="0">
            <a:spAutoFit/>
          </a:bodyPr>
          <a:lstStyle/>
          <a:p>
            <a:pPr algn="ctr">
              <a:lnSpc>
                <a:spcPct val="90000"/>
              </a:lnSpc>
              <a:spcAft>
                <a:spcPts val="400"/>
              </a:spcAft>
              <a:defRPr/>
            </a:pPr>
            <a:r>
              <a:rPr lang="en-US" sz="1600" b="1">
                <a:solidFill>
                  <a:srgbClr val="0000C9"/>
                </a:solidFill>
                <a:latin typeface="Arial" panose="020B0604020202020204"/>
              </a:rPr>
              <a:t>Priority Discussing with</a:t>
            </a:r>
            <a:br>
              <a:rPr lang="en-US" sz="1600" b="1">
                <a:solidFill>
                  <a:srgbClr val="0000C9"/>
                </a:solidFill>
                <a:latin typeface="Arial" panose="020B0604020202020204"/>
              </a:rPr>
            </a:br>
            <a:r>
              <a:rPr lang="en-US" sz="1600" b="1">
                <a:solidFill>
                  <a:srgbClr val="0000C9"/>
                </a:solidFill>
                <a:latin typeface="Arial" panose="020B0604020202020204"/>
              </a:rPr>
              <a:t>Patients/Caregivers</a:t>
            </a:r>
            <a:br>
              <a:rPr lang="en-US" sz="1600" b="1">
                <a:solidFill>
                  <a:srgbClr val="0000C9"/>
                </a:solidFill>
                <a:latin typeface="Arial" panose="020B0604020202020204"/>
              </a:rPr>
            </a:br>
            <a:r>
              <a:rPr lang="en-US" sz="900" i="1">
                <a:solidFill>
                  <a:srgbClr val="FFFFFF">
                    <a:lumMod val="50000"/>
                  </a:srgbClr>
                </a:solidFill>
                <a:latin typeface="Arial" panose="020B0604020202020204"/>
              </a:rPr>
              <a:t>% Top Priority</a:t>
            </a:r>
          </a:p>
        </p:txBody>
      </p:sp>
      <p:sp>
        <p:nvSpPr>
          <p:cNvPr id="39" name="TextBox 38">
            <a:extLst>
              <a:ext uri="{FF2B5EF4-FFF2-40B4-BE49-F238E27FC236}">
                <a16:creationId xmlns:a16="http://schemas.microsoft.com/office/drawing/2014/main" id="{C8D3460A-4B20-E9DC-E0DE-A127467F7980}"/>
              </a:ext>
            </a:extLst>
          </p:cNvPr>
          <p:cNvSpPr txBox="1"/>
          <p:nvPr/>
        </p:nvSpPr>
        <p:spPr bwMode="gray">
          <a:xfrm>
            <a:off x="1283737" y="796050"/>
            <a:ext cx="10607358" cy="668985"/>
          </a:xfrm>
          <a:prstGeom prst="rect">
            <a:avLst/>
          </a:prstGeom>
          <a:noFill/>
        </p:spPr>
        <p:txBody>
          <a:bodyPr wrap="square" lIns="45708" tIns="45708" rIns="45708" bIns="45708" rtlCol="0">
            <a:noAutofit/>
          </a:bodyPr>
          <a:lstStyle/>
          <a:p>
            <a:pPr marL="171399" indent="-171399">
              <a:buFont typeface="Arial" panose="020B0604020202020204" pitchFamily="34" charset="0"/>
              <a:buChar char="•"/>
              <a:defRPr/>
            </a:pPr>
            <a:r>
              <a:rPr lang="en-US" sz="1400">
                <a:solidFill>
                  <a:srgbClr val="FFFFFF">
                    <a:lumMod val="50000"/>
                  </a:srgbClr>
                </a:solidFill>
                <a:latin typeface="Arial" panose="020B0604020202020204"/>
              </a:rPr>
              <a:t>PED knowledge, concern, and priority to discuss are up significantly this wave, and higher than PCPs</a:t>
            </a:r>
          </a:p>
        </p:txBody>
      </p:sp>
      <p:grpSp>
        <p:nvGrpSpPr>
          <p:cNvPr id="31" name="Group 30">
            <a:extLst>
              <a:ext uri="{FF2B5EF4-FFF2-40B4-BE49-F238E27FC236}">
                <a16:creationId xmlns:a16="http://schemas.microsoft.com/office/drawing/2014/main" id="{94AFA6D9-A1D2-230B-F68D-CE794F7D5A6B}"/>
              </a:ext>
            </a:extLst>
          </p:cNvPr>
          <p:cNvGrpSpPr/>
          <p:nvPr/>
        </p:nvGrpSpPr>
        <p:grpSpPr>
          <a:xfrm>
            <a:off x="2133045" y="1646385"/>
            <a:ext cx="182040" cy="182832"/>
            <a:chOff x="2132012" y="1676400"/>
            <a:chExt cx="182087" cy="182880"/>
          </a:xfrm>
        </p:grpSpPr>
        <p:sp>
          <p:nvSpPr>
            <p:cNvPr id="22" name="Oval 21">
              <a:extLst>
                <a:ext uri="{FF2B5EF4-FFF2-40B4-BE49-F238E27FC236}">
                  <a16:creationId xmlns:a16="http://schemas.microsoft.com/office/drawing/2014/main" id="{3B988631-53DD-DBBA-C8DA-17F1EDEB35AE}"/>
                </a:ext>
              </a:extLst>
            </p:cNvPr>
            <p:cNvSpPr/>
            <p:nvPr/>
          </p:nvSpPr>
          <p:spPr bwMode="gray">
            <a:xfrm>
              <a:off x="2132012" y="1676400"/>
              <a:ext cx="182087" cy="182880"/>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21" name="Star: 5 Points 20">
              <a:extLst>
                <a:ext uri="{FF2B5EF4-FFF2-40B4-BE49-F238E27FC236}">
                  <a16:creationId xmlns:a16="http://schemas.microsoft.com/office/drawing/2014/main" id="{491842BD-53B7-AD91-2E10-8B879F40B340}"/>
                </a:ext>
              </a:extLst>
            </p:cNvPr>
            <p:cNvSpPr/>
            <p:nvPr/>
          </p:nvSpPr>
          <p:spPr bwMode="gray">
            <a:xfrm>
              <a:off x="2150221" y="1692671"/>
              <a:ext cx="145670" cy="143942"/>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grpSp>
        <p:nvGrpSpPr>
          <p:cNvPr id="33" name="Group 32">
            <a:extLst>
              <a:ext uri="{FF2B5EF4-FFF2-40B4-BE49-F238E27FC236}">
                <a16:creationId xmlns:a16="http://schemas.microsoft.com/office/drawing/2014/main" id="{C2255096-662D-62AE-A645-EF7EE644442A}"/>
              </a:ext>
            </a:extLst>
          </p:cNvPr>
          <p:cNvGrpSpPr/>
          <p:nvPr/>
        </p:nvGrpSpPr>
        <p:grpSpPr>
          <a:xfrm>
            <a:off x="9880831" y="1646385"/>
            <a:ext cx="182040" cy="182832"/>
            <a:chOff x="2132012" y="1676400"/>
            <a:chExt cx="182087" cy="182880"/>
          </a:xfrm>
        </p:grpSpPr>
        <p:sp>
          <p:nvSpPr>
            <p:cNvPr id="34" name="Oval 33">
              <a:extLst>
                <a:ext uri="{FF2B5EF4-FFF2-40B4-BE49-F238E27FC236}">
                  <a16:creationId xmlns:a16="http://schemas.microsoft.com/office/drawing/2014/main" id="{B11ADA76-AAD4-16FE-214E-D388254328FC}"/>
                </a:ext>
              </a:extLst>
            </p:cNvPr>
            <p:cNvSpPr/>
            <p:nvPr/>
          </p:nvSpPr>
          <p:spPr bwMode="gray">
            <a:xfrm>
              <a:off x="2132012" y="1676400"/>
              <a:ext cx="182087" cy="182880"/>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40" name="Star: 5 Points 39">
              <a:extLst>
                <a:ext uri="{FF2B5EF4-FFF2-40B4-BE49-F238E27FC236}">
                  <a16:creationId xmlns:a16="http://schemas.microsoft.com/office/drawing/2014/main" id="{5547425B-A842-7639-6691-9E83E9F33E47}"/>
                </a:ext>
              </a:extLst>
            </p:cNvPr>
            <p:cNvSpPr/>
            <p:nvPr/>
          </p:nvSpPr>
          <p:spPr bwMode="gray">
            <a:xfrm>
              <a:off x="2150221" y="1692671"/>
              <a:ext cx="145670" cy="143942"/>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
        <p:nvSpPr>
          <p:cNvPr id="29" name="Rectangle: Rounded Corners 28">
            <a:extLst>
              <a:ext uri="{FF2B5EF4-FFF2-40B4-BE49-F238E27FC236}">
                <a16:creationId xmlns:a16="http://schemas.microsoft.com/office/drawing/2014/main" id="{393156BD-83C0-E0AE-0492-6D3EDAE746BA}"/>
              </a:ext>
            </a:extLst>
          </p:cNvPr>
          <p:cNvSpPr/>
          <p:nvPr/>
        </p:nvSpPr>
        <p:spPr bwMode="gray">
          <a:xfrm>
            <a:off x="2137217" y="3331228"/>
            <a:ext cx="1153774" cy="2331113"/>
          </a:xfrm>
          <a:prstGeom prst="roundRect">
            <a:avLst>
              <a:gd name="adj" fmla="val 8609"/>
            </a:avLst>
          </a:prstGeom>
          <a:noFill/>
          <a:ln w="19050" cap="flat" cmpd="sng" algn="ctr">
            <a:solidFill>
              <a:schemeClr val="accent1"/>
            </a:solidFill>
            <a:prstDash val="dash"/>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nvGrpSpPr>
          <p:cNvPr id="6" name="Group 5">
            <a:extLst>
              <a:ext uri="{FF2B5EF4-FFF2-40B4-BE49-F238E27FC236}">
                <a16:creationId xmlns:a16="http://schemas.microsoft.com/office/drawing/2014/main" id="{4166C919-253C-4146-5629-0A7454727D22}"/>
              </a:ext>
            </a:extLst>
          </p:cNvPr>
          <p:cNvGrpSpPr/>
          <p:nvPr/>
        </p:nvGrpSpPr>
        <p:grpSpPr>
          <a:xfrm>
            <a:off x="424961" y="1600795"/>
            <a:ext cx="650010" cy="538982"/>
            <a:chOff x="1686341" y="1600319"/>
            <a:chExt cx="650179" cy="539122"/>
          </a:xfrm>
        </p:grpSpPr>
        <p:cxnSp>
          <p:nvCxnSpPr>
            <p:cNvPr id="9" name="Straight Connector 8">
              <a:extLst>
                <a:ext uri="{FF2B5EF4-FFF2-40B4-BE49-F238E27FC236}">
                  <a16:creationId xmlns:a16="http://schemas.microsoft.com/office/drawing/2014/main" id="{4C594A90-5322-8FA7-545E-1F6477E6CFAB}"/>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0" name="TextBox 9">
              <a:extLst>
                <a:ext uri="{FF2B5EF4-FFF2-40B4-BE49-F238E27FC236}">
                  <a16:creationId xmlns:a16="http://schemas.microsoft.com/office/drawing/2014/main" id="{09A6AEE5-EB0F-FEF9-E145-2E9D9F3584D8}"/>
                </a:ext>
              </a:extLst>
            </p:cNvPr>
            <p:cNvSpPr txBox="1"/>
            <p:nvPr/>
          </p:nvSpPr>
          <p:spPr bwMode="gray">
            <a:xfrm>
              <a:off x="1686341" y="1600319"/>
              <a:ext cx="650179" cy="53912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a:p>
              <a:pPr algn="ctr">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13" name="TextBox 12">
            <a:extLst>
              <a:ext uri="{FF2B5EF4-FFF2-40B4-BE49-F238E27FC236}">
                <a16:creationId xmlns:a16="http://schemas.microsoft.com/office/drawing/2014/main" id="{DA11EF4C-44EA-9DC6-97D9-0821EE2281A4}"/>
              </a:ext>
            </a:extLst>
          </p:cNvPr>
          <p:cNvSpPr txBox="1"/>
          <p:nvPr/>
        </p:nvSpPr>
        <p:spPr bwMode="gray">
          <a:xfrm>
            <a:off x="337010" y="1310100"/>
            <a:ext cx="825909" cy="338466"/>
          </a:xfrm>
          <a:prstGeom prst="rect">
            <a:avLst/>
          </a:prstGeom>
          <a:noFill/>
        </p:spPr>
        <p:txBody>
          <a:bodyPr wrap="none">
            <a:spAutoFit/>
          </a:bodyPr>
          <a:lstStyle/>
          <a:p>
            <a:pPr>
              <a:defRPr/>
            </a:pPr>
            <a:r>
              <a:rPr lang="en-US" sz="1600">
                <a:solidFill>
                  <a:srgbClr val="000000"/>
                </a:solidFill>
                <a:latin typeface="Arial" panose="020B0604020202020204"/>
              </a:rPr>
              <a:t>TOTAL</a:t>
            </a:r>
          </a:p>
        </p:txBody>
      </p:sp>
      <p:grpSp>
        <p:nvGrpSpPr>
          <p:cNvPr id="3" name="Group 2">
            <a:extLst>
              <a:ext uri="{FF2B5EF4-FFF2-40B4-BE49-F238E27FC236}">
                <a16:creationId xmlns:a16="http://schemas.microsoft.com/office/drawing/2014/main" id="{04FA2615-9DBA-1FC7-F264-D18DE17BF5F1}"/>
              </a:ext>
            </a:extLst>
          </p:cNvPr>
          <p:cNvGrpSpPr/>
          <p:nvPr/>
        </p:nvGrpSpPr>
        <p:grpSpPr>
          <a:xfrm>
            <a:off x="4101089" y="1866719"/>
            <a:ext cx="3862277" cy="3791821"/>
            <a:chOff x="4100568" y="1866311"/>
            <a:chExt cx="3863283" cy="3017520"/>
          </a:xfrm>
        </p:grpSpPr>
        <p:cxnSp>
          <p:nvCxnSpPr>
            <p:cNvPr id="15" name="Straight Connector 14">
              <a:extLst>
                <a:ext uri="{FF2B5EF4-FFF2-40B4-BE49-F238E27FC236}">
                  <a16:creationId xmlns:a16="http://schemas.microsoft.com/office/drawing/2014/main" id="{76E7E100-B425-E477-7B8E-D1C7B3631496}"/>
                </a:ext>
              </a:extLst>
            </p:cNvPr>
            <p:cNvCxnSpPr>
              <a:cxnSpLocks/>
            </p:cNvCxnSpPr>
            <p:nvPr/>
          </p:nvCxnSpPr>
          <p:spPr bwMode="gray">
            <a:xfrm>
              <a:off x="4100568" y="1866311"/>
              <a:ext cx="0" cy="3017520"/>
            </a:xfrm>
            <a:prstGeom prst="line">
              <a:avLst/>
            </a:prstGeom>
            <a:noFill/>
            <a:ln w="9525" cap="rnd">
              <a:solidFill>
                <a:schemeClr val="bg1">
                  <a:lumMod val="75000"/>
                </a:schemeClr>
              </a:solidFill>
              <a:prstDash val="solid"/>
              <a:round/>
              <a:headEnd/>
              <a:tailEnd/>
            </a:ln>
            <a:effectLst/>
          </p:spPr>
        </p:cxnSp>
        <p:cxnSp>
          <p:nvCxnSpPr>
            <p:cNvPr id="16" name="Straight Connector 15">
              <a:extLst>
                <a:ext uri="{FF2B5EF4-FFF2-40B4-BE49-F238E27FC236}">
                  <a16:creationId xmlns:a16="http://schemas.microsoft.com/office/drawing/2014/main" id="{524F96BD-7162-039E-2FD5-E32492D12BDC}"/>
                </a:ext>
              </a:extLst>
            </p:cNvPr>
            <p:cNvCxnSpPr>
              <a:cxnSpLocks/>
            </p:cNvCxnSpPr>
            <p:nvPr/>
          </p:nvCxnSpPr>
          <p:spPr bwMode="gray">
            <a:xfrm>
              <a:off x="7963851" y="1866311"/>
              <a:ext cx="0" cy="3017520"/>
            </a:xfrm>
            <a:prstGeom prst="line">
              <a:avLst/>
            </a:prstGeom>
            <a:noFill/>
            <a:ln w="9525" cap="rnd">
              <a:solidFill>
                <a:schemeClr val="bg1">
                  <a:lumMod val="75000"/>
                </a:schemeClr>
              </a:solidFill>
              <a:prstDash val="solid"/>
              <a:round/>
              <a:headEnd/>
              <a:tailEnd/>
            </a:ln>
            <a:effectLst/>
          </p:spPr>
        </p:cxnSp>
      </p:grpSp>
      <p:graphicFrame>
        <p:nvGraphicFramePr>
          <p:cNvPr id="24" name="Chart 23">
            <a:extLst>
              <a:ext uri="{FF2B5EF4-FFF2-40B4-BE49-F238E27FC236}">
                <a16:creationId xmlns:a16="http://schemas.microsoft.com/office/drawing/2014/main" id="{62193B02-1AFF-0664-6034-7F887FFC9228}"/>
              </a:ext>
            </a:extLst>
          </p:cNvPr>
          <p:cNvGraphicFramePr/>
          <p:nvPr/>
        </p:nvGraphicFramePr>
        <p:xfrm>
          <a:off x="4171506" y="2507822"/>
          <a:ext cx="3768943" cy="320177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2" name="Chart 31">
            <a:extLst>
              <a:ext uri="{FF2B5EF4-FFF2-40B4-BE49-F238E27FC236}">
                <a16:creationId xmlns:a16="http://schemas.microsoft.com/office/drawing/2014/main" id="{4501EFB6-AAF7-1685-4774-DE7214613A2F}"/>
              </a:ext>
            </a:extLst>
          </p:cNvPr>
          <p:cNvGraphicFramePr/>
          <p:nvPr/>
        </p:nvGraphicFramePr>
        <p:xfrm>
          <a:off x="8031300" y="2507822"/>
          <a:ext cx="3768943" cy="3201770"/>
        </p:xfrm>
        <a:graphic>
          <a:graphicData uri="http://schemas.openxmlformats.org/drawingml/2006/chart">
            <c:chart xmlns:c="http://schemas.openxmlformats.org/drawingml/2006/chart" xmlns:r="http://schemas.openxmlformats.org/officeDocument/2006/relationships" r:id="rId5"/>
          </a:graphicData>
        </a:graphic>
      </p:graphicFrame>
      <p:sp>
        <p:nvSpPr>
          <p:cNvPr id="45" name="TextBox 44">
            <a:extLst>
              <a:ext uri="{FF2B5EF4-FFF2-40B4-BE49-F238E27FC236}">
                <a16:creationId xmlns:a16="http://schemas.microsoft.com/office/drawing/2014/main" id="{89929D15-EF7D-893D-0771-AB72F0F1906C}"/>
              </a:ext>
            </a:extLst>
          </p:cNvPr>
          <p:cNvSpPr txBox="1"/>
          <p:nvPr/>
        </p:nvSpPr>
        <p:spPr bwMode="gray">
          <a:xfrm>
            <a:off x="2329823" y="3046099"/>
            <a:ext cx="735989" cy="193849"/>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algn="ctr">
              <a:defRPr/>
            </a:pPr>
            <a:r>
              <a:rPr lang="en-US" sz="900">
                <a:solidFill>
                  <a:srgbClr val="000000">
                    <a:lumMod val="50000"/>
                    <a:lumOff val="50000"/>
                  </a:srgbClr>
                </a:solidFill>
                <a:latin typeface="Arial" panose="020B0604020202020204"/>
              </a:rPr>
              <a:t>PED</a:t>
            </a:r>
            <a:r>
              <a:rPr lang="en-US" altLang="en-US" sz="900">
                <a:solidFill>
                  <a:srgbClr val="FF0000"/>
                </a:solidFill>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&gt; PCP</a:t>
            </a:r>
          </a:p>
        </p:txBody>
      </p:sp>
      <p:sp>
        <p:nvSpPr>
          <p:cNvPr id="2" name="TextBox 1">
            <a:extLst>
              <a:ext uri="{FF2B5EF4-FFF2-40B4-BE49-F238E27FC236}">
                <a16:creationId xmlns:a16="http://schemas.microsoft.com/office/drawing/2014/main" id="{B31C2A25-3930-476F-56EA-4E157914E0E5}"/>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sp>
        <p:nvSpPr>
          <p:cNvPr id="4" name="Rectangle: Rounded Corners 3">
            <a:extLst>
              <a:ext uri="{FF2B5EF4-FFF2-40B4-BE49-F238E27FC236}">
                <a16:creationId xmlns:a16="http://schemas.microsoft.com/office/drawing/2014/main" id="{7DC420BB-45D6-86F5-274A-56D7409CB989}"/>
              </a:ext>
            </a:extLst>
          </p:cNvPr>
          <p:cNvSpPr/>
          <p:nvPr/>
        </p:nvSpPr>
        <p:spPr bwMode="gray">
          <a:xfrm>
            <a:off x="4297500" y="3333512"/>
            <a:ext cx="1146237" cy="2331113"/>
          </a:xfrm>
          <a:prstGeom prst="roundRect">
            <a:avLst>
              <a:gd name="adj" fmla="val 8913"/>
            </a:avLst>
          </a:prstGeom>
          <a:noFill/>
          <a:ln w="19050" cap="flat" cmpd="sng" algn="ctr">
            <a:solidFill>
              <a:schemeClr val="accent1"/>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28" name="Rectangle: Rounded Corners 27">
            <a:extLst>
              <a:ext uri="{FF2B5EF4-FFF2-40B4-BE49-F238E27FC236}">
                <a16:creationId xmlns:a16="http://schemas.microsoft.com/office/drawing/2014/main" id="{D6FA98E7-8DEB-00CB-2B49-3B5335EB5E81}"/>
              </a:ext>
            </a:extLst>
          </p:cNvPr>
          <p:cNvSpPr/>
          <p:nvPr/>
        </p:nvSpPr>
        <p:spPr bwMode="gray">
          <a:xfrm>
            <a:off x="8167020" y="3333514"/>
            <a:ext cx="1146237" cy="2327771"/>
          </a:xfrm>
          <a:prstGeom prst="roundRect">
            <a:avLst>
              <a:gd name="adj" fmla="val 10021"/>
            </a:avLst>
          </a:prstGeom>
          <a:noFill/>
          <a:ln w="19050" cap="flat" cmpd="sng" algn="ctr">
            <a:solidFill>
              <a:schemeClr val="accent1"/>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20" name="TextBox 19">
            <a:extLst>
              <a:ext uri="{FF2B5EF4-FFF2-40B4-BE49-F238E27FC236}">
                <a16:creationId xmlns:a16="http://schemas.microsoft.com/office/drawing/2014/main" id="{9CAA6E85-75BA-D96B-C7F5-908F9AB61913}"/>
              </a:ext>
            </a:extLst>
          </p:cNvPr>
          <p:cNvSpPr txBox="1"/>
          <p:nvPr/>
        </p:nvSpPr>
        <p:spPr bwMode="gray">
          <a:xfrm>
            <a:off x="4496497" y="3046099"/>
            <a:ext cx="735989" cy="193849"/>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algn="ctr">
              <a:defRPr/>
            </a:pPr>
            <a:r>
              <a:rPr lang="en-US" sz="900">
                <a:solidFill>
                  <a:srgbClr val="000000">
                    <a:lumMod val="50000"/>
                    <a:lumOff val="50000"/>
                  </a:srgbClr>
                </a:solidFill>
                <a:latin typeface="Arial" panose="020B0604020202020204"/>
              </a:rPr>
              <a:t>PED</a:t>
            </a:r>
            <a:r>
              <a:rPr lang="en-US" altLang="en-US" sz="900">
                <a:solidFill>
                  <a:srgbClr val="FF0000"/>
                </a:solidFill>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&gt; PCP</a:t>
            </a:r>
          </a:p>
        </p:txBody>
      </p:sp>
      <p:sp>
        <p:nvSpPr>
          <p:cNvPr id="25" name="TextBox 24">
            <a:extLst>
              <a:ext uri="{FF2B5EF4-FFF2-40B4-BE49-F238E27FC236}">
                <a16:creationId xmlns:a16="http://schemas.microsoft.com/office/drawing/2014/main" id="{B4489E48-7F85-0A28-C8BA-BCC7D2C67C57}"/>
              </a:ext>
            </a:extLst>
          </p:cNvPr>
          <p:cNvSpPr txBox="1"/>
          <p:nvPr/>
        </p:nvSpPr>
        <p:spPr bwMode="gray">
          <a:xfrm>
            <a:off x="8368930" y="3046099"/>
            <a:ext cx="735989" cy="193849"/>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algn="ctr">
              <a:defRPr/>
            </a:pPr>
            <a:r>
              <a:rPr lang="en-US" sz="900">
                <a:solidFill>
                  <a:srgbClr val="000000">
                    <a:lumMod val="50000"/>
                    <a:lumOff val="50000"/>
                  </a:srgbClr>
                </a:solidFill>
                <a:latin typeface="Arial" panose="020B0604020202020204"/>
              </a:rPr>
              <a:t>PED</a:t>
            </a:r>
            <a:r>
              <a:rPr lang="en-US" altLang="en-US" sz="900">
                <a:solidFill>
                  <a:srgbClr val="FF0000"/>
                </a:solidFill>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&gt; PCP</a:t>
            </a:r>
          </a:p>
        </p:txBody>
      </p:sp>
    </p:spTree>
    <p:extLst>
      <p:ext uri="{BB962C8B-B14F-4D97-AF65-F5344CB8AC3E}">
        <p14:creationId xmlns:p14="http://schemas.microsoft.com/office/powerpoint/2010/main" val="197266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C2A06-8D97-AF8B-334D-C17083D658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CA14524-A73D-4800-E290-94A5D62BE228}"/>
              </a:ext>
            </a:extLst>
          </p:cNvPr>
          <p:cNvSpPr>
            <a:spLocks noGrp="1"/>
          </p:cNvSpPr>
          <p:nvPr>
            <p:ph type="title"/>
          </p:nvPr>
        </p:nvSpPr>
        <p:spPr>
          <a:xfrm>
            <a:off x="1143412" y="171155"/>
            <a:ext cx="10112524" cy="850171"/>
          </a:xfrm>
        </p:spPr>
        <p:txBody>
          <a:bodyPr/>
          <a:lstStyle/>
          <a:p>
            <a:r>
              <a:rPr lang="en-US"/>
              <a:t>Most HCPs continue to co-administer other vaccines with the MenACWY booster dose, two-thirds doing so with the first MenB dose (higher among PEDs than PCPs)</a:t>
            </a:r>
          </a:p>
        </p:txBody>
      </p:sp>
      <p:sp>
        <p:nvSpPr>
          <p:cNvPr id="10" name="Text Placeholder 2">
            <a:extLst>
              <a:ext uri="{FF2B5EF4-FFF2-40B4-BE49-F238E27FC236}">
                <a16:creationId xmlns:a16="http://schemas.microsoft.com/office/drawing/2014/main" id="{1CE9E4E0-1794-5CB7-C461-ED2713E7716B}"/>
              </a:ext>
            </a:extLst>
          </p:cNvPr>
          <p:cNvSpPr>
            <a:spLocks noGrp="1"/>
          </p:cNvSpPr>
          <p:nvPr>
            <p:ph type="body" sz="quarter" idx="16"/>
          </p:nvPr>
        </p:nvSpPr>
        <p:spPr>
          <a:xfrm>
            <a:off x="1572803" y="6414165"/>
            <a:ext cx="9236844" cy="330261"/>
          </a:xfrm>
        </p:spPr>
        <p:txBody>
          <a:bodyPr/>
          <a:lstStyle/>
          <a:p>
            <a:pPr defTabSz="913030">
              <a:buClr>
                <a:srgbClr val="E7E6E6"/>
              </a:buClr>
              <a:buSzPct val="85000"/>
              <a:defRPr/>
            </a:pP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a:t>
            </a:r>
          </a:p>
          <a:p>
            <a:r>
              <a:rPr lang="en-US"/>
              <a:t>C12. Which of these other vaccines, if any, do you commonly administer the MenACWY booster dose with? </a:t>
            </a:r>
          </a:p>
        </p:txBody>
      </p:sp>
      <p:graphicFrame>
        <p:nvGraphicFramePr>
          <p:cNvPr id="21" name="Chart 20">
            <a:extLst>
              <a:ext uri="{FF2B5EF4-FFF2-40B4-BE49-F238E27FC236}">
                <a16:creationId xmlns:a16="http://schemas.microsoft.com/office/drawing/2014/main" id="{0DF3F1B0-94C6-973F-DF68-A06E900164F3}"/>
              </a:ext>
            </a:extLst>
          </p:cNvPr>
          <p:cNvGraphicFramePr/>
          <p:nvPr/>
        </p:nvGraphicFramePr>
        <p:xfrm>
          <a:off x="3339841" y="2653590"/>
          <a:ext cx="2178429" cy="33011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Chart 29">
            <a:extLst>
              <a:ext uri="{FF2B5EF4-FFF2-40B4-BE49-F238E27FC236}">
                <a16:creationId xmlns:a16="http://schemas.microsoft.com/office/drawing/2014/main" id="{861A834C-69EB-B1C5-A623-371A148FAC24}"/>
              </a:ext>
            </a:extLst>
          </p:cNvPr>
          <p:cNvGraphicFramePr/>
          <p:nvPr/>
        </p:nvGraphicFramePr>
        <p:xfrm>
          <a:off x="7891489" y="2726678"/>
          <a:ext cx="2483607" cy="2782231"/>
        </p:xfrm>
        <a:graphic>
          <a:graphicData uri="http://schemas.openxmlformats.org/drawingml/2006/chart">
            <c:chart xmlns:c="http://schemas.openxmlformats.org/drawingml/2006/chart" xmlns:r="http://schemas.openxmlformats.org/officeDocument/2006/relationships" r:id="rId4"/>
          </a:graphicData>
        </a:graphic>
      </p:graphicFrame>
      <p:sp>
        <p:nvSpPr>
          <p:cNvPr id="31" name="Oval 30">
            <a:extLst>
              <a:ext uri="{FF2B5EF4-FFF2-40B4-BE49-F238E27FC236}">
                <a16:creationId xmlns:a16="http://schemas.microsoft.com/office/drawing/2014/main" id="{B7F4B051-DEF6-4317-81F9-8255E09C96DF}"/>
              </a:ext>
            </a:extLst>
          </p:cNvPr>
          <p:cNvSpPr/>
          <p:nvPr/>
        </p:nvSpPr>
        <p:spPr bwMode="gray">
          <a:xfrm>
            <a:off x="1711714" y="4214616"/>
            <a:ext cx="182832" cy="182832"/>
          </a:xfrm>
          <a:prstGeom prst="ellipse">
            <a:avLst/>
          </a:prstGeom>
          <a:solidFill>
            <a:schemeClr val="accent3"/>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32" name="TextBox 31">
            <a:extLst>
              <a:ext uri="{FF2B5EF4-FFF2-40B4-BE49-F238E27FC236}">
                <a16:creationId xmlns:a16="http://schemas.microsoft.com/office/drawing/2014/main" id="{09496E85-8B77-ECCE-5843-F943950B0E4D}"/>
              </a:ext>
            </a:extLst>
          </p:cNvPr>
          <p:cNvSpPr txBox="1"/>
          <p:nvPr/>
        </p:nvSpPr>
        <p:spPr bwMode="gray">
          <a:xfrm>
            <a:off x="1964244" y="3095052"/>
            <a:ext cx="1941769" cy="674962"/>
          </a:xfrm>
          <a:prstGeom prst="rect">
            <a:avLst/>
          </a:prstGeom>
        </p:spPr>
        <p:txBody>
          <a:bodyPr wrap="square" lIns="45708" tIns="45708" rIns="45708" bIns="45708" rtlCol="0">
            <a:noAutofit/>
          </a:bodyPr>
          <a:lstStyle/>
          <a:p>
            <a:pPr>
              <a:lnSpc>
                <a:spcPct val="90000"/>
              </a:lnSpc>
              <a:defRPr/>
            </a:pPr>
            <a:r>
              <a:rPr lang="en-US" sz="1400" b="1" u="sng">
                <a:solidFill>
                  <a:srgbClr val="000000"/>
                </a:solidFill>
                <a:latin typeface="Arial" panose="020B0604020202020204"/>
              </a:rPr>
              <a:t>Do not</a:t>
            </a:r>
            <a:r>
              <a:rPr lang="en-US" sz="1400" b="1">
                <a:solidFill>
                  <a:srgbClr val="000000"/>
                </a:solidFill>
                <a:latin typeface="Arial" panose="020B0604020202020204"/>
              </a:rPr>
              <a:t> co-administer</a:t>
            </a:r>
            <a:r>
              <a:rPr lang="en-US" sz="1400">
                <a:solidFill>
                  <a:srgbClr val="000000"/>
                </a:solidFill>
                <a:latin typeface="Arial" panose="020B0604020202020204"/>
              </a:rPr>
              <a:t> any Vx with MenACWY booster dose</a:t>
            </a:r>
            <a:endParaRPr lang="en-US" sz="1200">
              <a:solidFill>
                <a:srgbClr val="000000"/>
              </a:solidFill>
              <a:latin typeface="Arial" panose="020B0604020202020204"/>
            </a:endParaRPr>
          </a:p>
        </p:txBody>
      </p:sp>
      <p:sp>
        <p:nvSpPr>
          <p:cNvPr id="34" name="Oval 33">
            <a:extLst>
              <a:ext uri="{FF2B5EF4-FFF2-40B4-BE49-F238E27FC236}">
                <a16:creationId xmlns:a16="http://schemas.microsoft.com/office/drawing/2014/main" id="{FB5C2499-2B94-FB4E-FE47-A1FC9C695E16}"/>
              </a:ext>
            </a:extLst>
          </p:cNvPr>
          <p:cNvSpPr/>
          <p:nvPr/>
        </p:nvSpPr>
        <p:spPr bwMode="gray">
          <a:xfrm>
            <a:off x="1711713" y="3156569"/>
            <a:ext cx="185846" cy="182832"/>
          </a:xfrm>
          <a:prstGeom prst="ellipse">
            <a:avLst/>
          </a:prstGeom>
          <a:solidFill>
            <a:schemeClr val="bg1">
              <a:lumMod val="65000"/>
            </a:schemeClr>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35" name="TextBox 34">
            <a:extLst>
              <a:ext uri="{FF2B5EF4-FFF2-40B4-BE49-F238E27FC236}">
                <a16:creationId xmlns:a16="http://schemas.microsoft.com/office/drawing/2014/main" id="{8E59913C-761E-12E2-768D-C3CC71195842}"/>
              </a:ext>
            </a:extLst>
          </p:cNvPr>
          <p:cNvSpPr txBox="1"/>
          <p:nvPr/>
        </p:nvSpPr>
        <p:spPr bwMode="gray">
          <a:xfrm>
            <a:off x="1964244" y="4184604"/>
            <a:ext cx="1535006" cy="728113"/>
          </a:xfrm>
          <a:prstGeom prst="rect">
            <a:avLst/>
          </a:prstGeom>
        </p:spPr>
        <p:txBody>
          <a:bodyPr wrap="square" lIns="45708" tIns="45708" rIns="45708" bIns="45708" rtlCol="0">
            <a:noAutofit/>
          </a:bodyPr>
          <a:lstStyle/>
          <a:p>
            <a:pPr>
              <a:lnSpc>
                <a:spcPct val="90000"/>
              </a:lnSpc>
              <a:defRPr/>
            </a:pPr>
            <a:r>
              <a:rPr lang="en-US" sz="1400" b="1">
                <a:solidFill>
                  <a:srgbClr val="000000"/>
                </a:solidFill>
                <a:latin typeface="Arial" panose="020B0604020202020204"/>
              </a:rPr>
              <a:t>Co-administer</a:t>
            </a:r>
            <a:r>
              <a:rPr lang="en-US" sz="1400">
                <a:solidFill>
                  <a:srgbClr val="000000"/>
                </a:solidFill>
                <a:latin typeface="Arial" panose="020B0604020202020204"/>
              </a:rPr>
              <a:t> other Vxs with MenACWY booster dose</a:t>
            </a:r>
            <a:endParaRPr lang="en-US" sz="1200">
              <a:solidFill>
                <a:srgbClr val="000000"/>
              </a:solidFill>
              <a:latin typeface="Arial" panose="020B0604020202020204"/>
            </a:endParaRPr>
          </a:p>
        </p:txBody>
      </p:sp>
      <p:sp>
        <p:nvSpPr>
          <p:cNvPr id="38" name="Rectangle: Rounded Corners 37">
            <a:extLst>
              <a:ext uri="{FF2B5EF4-FFF2-40B4-BE49-F238E27FC236}">
                <a16:creationId xmlns:a16="http://schemas.microsoft.com/office/drawing/2014/main" id="{8FBFD097-870D-762E-F008-A8F2B49304EB}"/>
              </a:ext>
            </a:extLst>
          </p:cNvPr>
          <p:cNvSpPr/>
          <p:nvPr/>
        </p:nvSpPr>
        <p:spPr bwMode="gray">
          <a:xfrm>
            <a:off x="3906013" y="3224941"/>
            <a:ext cx="1065960" cy="2177125"/>
          </a:xfrm>
          <a:prstGeom prst="roundRect">
            <a:avLst/>
          </a:prstGeom>
          <a:noFill/>
          <a:ln w="12700" cap="flat" cmpd="sng" algn="ctr">
            <a:solidFill>
              <a:srgbClr val="0AA7A4"/>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49" name="TextBox 48">
            <a:extLst>
              <a:ext uri="{FF2B5EF4-FFF2-40B4-BE49-F238E27FC236}">
                <a16:creationId xmlns:a16="http://schemas.microsoft.com/office/drawing/2014/main" id="{1564FD40-A899-2D53-E33C-494B78A7508E}"/>
              </a:ext>
            </a:extLst>
          </p:cNvPr>
          <p:cNvSpPr txBox="1"/>
          <p:nvPr/>
        </p:nvSpPr>
        <p:spPr bwMode="gray">
          <a:xfrm>
            <a:off x="3071148" y="1932564"/>
            <a:ext cx="2818949" cy="590777"/>
          </a:xfrm>
          <a:prstGeom prst="rect">
            <a:avLst/>
          </a:prstGeom>
        </p:spPr>
        <p:txBody>
          <a:bodyPr wrap="non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Coadministration with</a:t>
            </a:r>
            <a:br>
              <a:rPr lang="en-US" sz="1799" b="1">
                <a:solidFill>
                  <a:srgbClr val="0000C9"/>
                </a:solidFill>
                <a:latin typeface="Arial" panose="020B0604020202020204"/>
              </a:rPr>
            </a:br>
            <a:r>
              <a:rPr lang="en-US" sz="1799" b="1">
                <a:solidFill>
                  <a:srgbClr val="0000C9"/>
                </a:solidFill>
                <a:latin typeface="Arial" panose="020B0604020202020204"/>
              </a:rPr>
              <a:t>MenACWY Booster Dose</a:t>
            </a:r>
            <a:endParaRPr lang="en-US" sz="1000" i="1">
              <a:solidFill>
                <a:srgbClr val="FFFFFF">
                  <a:lumMod val="50000"/>
                </a:srgbClr>
              </a:solidFill>
              <a:latin typeface="Arial" panose="020B0604020202020204"/>
            </a:endParaRPr>
          </a:p>
        </p:txBody>
      </p:sp>
      <p:sp>
        <p:nvSpPr>
          <p:cNvPr id="50" name="TextBox 49">
            <a:extLst>
              <a:ext uri="{FF2B5EF4-FFF2-40B4-BE49-F238E27FC236}">
                <a16:creationId xmlns:a16="http://schemas.microsoft.com/office/drawing/2014/main" id="{9D2FE1B0-EF91-96D3-570B-612A0B6558CD}"/>
              </a:ext>
            </a:extLst>
          </p:cNvPr>
          <p:cNvSpPr txBox="1"/>
          <p:nvPr/>
        </p:nvSpPr>
        <p:spPr bwMode="gray">
          <a:xfrm>
            <a:off x="7003456" y="1932564"/>
            <a:ext cx="3284723" cy="590777"/>
          </a:xfrm>
          <a:prstGeom prst="rect">
            <a:avLst/>
          </a:prstGeom>
        </p:spPr>
        <p:txBody>
          <a:bodyPr wrap="non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Vaccine Coadministered with</a:t>
            </a:r>
            <a:br>
              <a:rPr lang="en-US" sz="1799" b="1">
                <a:solidFill>
                  <a:srgbClr val="0000C9"/>
                </a:solidFill>
                <a:latin typeface="Arial" panose="020B0604020202020204"/>
              </a:rPr>
            </a:br>
            <a:r>
              <a:rPr lang="en-US" sz="1799" b="1">
                <a:solidFill>
                  <a:srgbClr val="0000C9"/>
                </a:solidFill>
                <a:latin typeface="Arial" panose="020B0604020202020204"/>
              </a:rPr>
              <a:t>MenACWY Booster Dose</a:t>
            </a:r>
            <a:endParaRPr lang="en-US" sz="1200" i="1">
              <a:solidFill>
                <a:srgbClr val="FFFFFF">
                  <a:lumMod val="50000"/>
                </a:srgbClr>
              </a:solidFill>
              <a:latin typeface="Arial" panose="020B0604020202020204"/>
            </a:endParaRPr>
          </a:p>
        </p:txBody>
      </p:sp>
      <p:sp>
        <p:nvSpPr>
          <p:cNvPr id="51" name="Arrow: Right 50">
            <a:extLst>
              <a:ext uri="{FF2B5EF4-FFF2-40B4-BE49-F238E27FC236}">
                <a16:creationId xmlns:a16="http://schemas.microsoft.com/office/drawing/2014/main" id="{EDA1EE55-7D9E-37AA-4542-2D2058E53EDB}"/>
              </a:ext>
            </a:extLst>
          </p:cNvPr>
          <p:cNvSpPr/>
          <p:nvPr/>
        </p:nvSpPr>
        <p:spPr bwMode="gray">
          <a:xfrm>
            <a:off x="4969197" y="3791213"/>
            <a:ext cx="944634" cy="731330"/>
          </a:xfrm>
          <a:prstGeom prst="rightArrow">
            <a:avLst/>
          </a:prstGeom>
          <a:solidFill>
            <a:schemeClr val="accent3">
              <a:alpha val="15000"/>
            </a:schemeClr>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aphicFrame>
        <p:nvGraphicFramePr>
          <p:cNvPr id="29" name="Table 28">
            <a:extLst>
              <a:ext uri="{FF2B5EF4-FFF2-40B4-BE49-F238E27FC236}">
                <a16:creationId xmlns:a16="http://schemas.microsoft.com/office/drawing/2014/main" id="{09B5BA1A-C2B7-A697-D90F-3789BCB33759}"/>
              </a:ext>
            </a:extLst>
          </p:cNvPr>
          <p:cNvGraphicFramePr>
            <a:graphicFrameLocks noGrp="1"/>
          </p:cNvGraphicFramePr>
          <p:nvPr/>
        </p:nvGraphicFramePr>
        <p:xfrm>
          <a:off x="6420593" y="2806171"/>
          <a:ext cx="1506516" cy="2669760"/>
        </p:xfrm>
        <a:graphic>
          <a:graphicData uri="http://schemas.openxmlformats.org/drawingml/2006/table">
            <a:tbl>
              <a:tblPr firstRow="1" bandRow="1">
                <a:tableStyleId>{2D5ABB26-0587-4C30-8999-92F81FD0307C}</a:tableStyleId>
              </a:tblPr>
              <a:tblGrid>
                <a:gridCol w="1506516">
                  <a:extLst>
                    <a:ext uri="{9D8B030D-6E8A-4147-A177-3AD203B41FA5}">
                      <a16:colId xmlns:a16="http://schemas.microsoft.com/office/drawing/2014/main" val="3609493144"/>
                    </a:ext>
                  </a:extLst>
                </a:gridCol>
              </a:tblGrid>
              <a:tr h="5339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kern="1200">
                          <a:solidFill>
                            <a:srgbClr val="000000"/>
                          </a:solidFill>
                          <a:effectLst/>
                          <a:latin typeface="+mn-lt"/>
                          <a:ea typeface="+mn-ea"/>
                          <a:cs typeface="+mn-cs"/>
                        </a:rPr>
                        <a:t>Influenza</a:t>
                      </a:r>
                      <a:endParaRPr lang="en-US" sz="1400" b="0" i="0" u="none" strike="noStrike">
                        <a:solidFill>
                          <a:srgbClr val="000000"/>
                        </a:solidFill>
                        <a:effectLst/>
                        <a:latin typeface="+mj-lt"/>
                      </a:endParaRPr>
                    </a:p>
                  </a:txBody>
                  <a:tcPr marL="7618" marR="7618" marT="761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4825376"/>
                  </a:ext>
                </a:extLst>
              </a:tr>
              <a:tr h="533952">
                <a:tc>
                  <a:txBody>
                    <a:bodyPr/>
                    <a:lstStyle/>
                    <a:p>
                      <a:pPr algn="r" fontAlgn="b"/>
                      <a:r>
                        <a:rPr lang="en-US" sz="1400" b="0" i="0" u="none" strike="noStrike" kern="1200">
                          <a:solidFill>
                            <a:srgbClr val="000000"/>
                          </a:solidFill>
                          <a:effectLst/>
                          <a:latin typeface="+mn-lt"/>
                          <a:ea typeface="+mn-ea"/>
                          <a:cs typeface="+mn-cs"/>
                        </a:rPr>
                        <a:t>First dose of MenB</a:t>
                      </a:r>
                      <a:endParaRPr lang="en-US" sz="1400" b="0" i="0" u="none" strike="noStrike">
                        <a:solidFill>
                          <a:srgbClr val="000000"/>
                        </a:solidFill>
                        <a:effectLst/>
                        <a:latin typeface="+mj-lt"/>
                      </a:endParaRPr>
                    </a:p>
                  </a:txBody>
                  <a:tcPr marL="7618" marR="7618" marT="761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7704089"/>
                  </a:ext>
                </a:extLst>
              </a:tr>
              <a:tr h="533952">
                <a:tc>
                  <a:txBody>
                    <a:bodyPr/>
                    <a:lstStyle/>
                    <a:p>
                      <a:pPr algn="r" fontAlgn="b"/>
                      <a:r>
                        <a:rPr lang="en-US" sz="1400" b="0" i="0" u="none" strike="noStrike" kern="1200">
                          <a:solidFill>
                            <a:srgbClr val="000000"/>
                          </a:solidFill>
                          <a:effectLst/>
                          <a:latin typeface="+mn-lt"/>
                          <a:ea typeface="+mn-ea"/>
                          <a:cs typeface="+mn-cs"/>
                        </a:rPr>
                        <a:t>HPV</a:t>
                      </a:r>
                      <a:endParaRPr lang="en-US" sz="1400" b="0" i="0" u="none" strike="noStrike">
                        <a:solidFill>
                          <a:srgbClr val="000000"/>
                        </a:solidFill>
                        <a:effectLst/>
                        <a:latin typeface="+mj-lt"/>
                      </a:endParaRPr>
                    </a:p>
                  </a:txBody>
                  <a:tcPr marL="7618" marR="7618" marT="761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1416636"/>
                  </a:ext>
                </a:extLst>
              </a:tr>
              <a:tr h="533952">
                <a:tc>
                  <a:txBody>
                    <a:bodyPr/>
                    <a:lstStyle/>
                    <a:p>
                      <a:pPr algn="r" fontAlgn="b"/>
                      <a:r>
                        <a:rPr lang="en-US" sz="1400" b="0" i="0" u="none" strike="noStrike" kern="1200">
                          <a:solidFill>
                            <a:srgbClr val="000000"/>
                          </a:solidFill>
                          <a:effectLst/>
                          <a:latin typeface="+mn-lt"/>
                          <a:ea typeface="+mn-ea"/>
                          <a:cs typeface="+mn-cs"/>
                        </a:rPr>
                        <a:t>Tdap</a:t>
                      </a:r>
                      <a:endParaRPr lang="en-US" sz="1400" b="0" i="0" u="none" strike="noStrike">
                        <a:solidFill>
                          <a:srgbClr val="000000"/>
                        </a:solidFill>
                        <a:effectLst/>
                        <a:latin typeface="+mj-lt"/>
                      </a:endParaRPr>
                    </a:p>
                  </a:txBody>
                  <a:tcPr marL="7618" marR="7618" marT="761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0620075"/>
                  </a:ext>
                </a:extLst>
              </a:tr>
              <a:tr h="533952">
                <a:tc>
                  <a:txBody>
                    <a:bodyPr/>
                    <a:lstStyle/>
                    <a:p>
                      <a:pPr algn="r" fontAlgn="b"/>
                      <a:r>
                        <a:rPr lang="en-US" sz="1400" b="0" i="0" u="none" strike="noStrike">
                          <a:solidFill>
                            <a:srgbClr val="000000"/>
                          </a:solidFill>
                          <a:effectLst/>
                          <a:latin typeface="+mj-lt"/>
                        </a:rPr>
                        <a:t>COVID-19</a:t>
                      </a:r>
                    </a:p>
                  </a:txBody>
                  <a:tcPr marL="7618" marR="7618" marT="761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5935155"/>
                  </a:ext>
                </a:extLst>
              </a:tr>
            </a:tbl>
          </a:graphicData>
        </a:graphic>
      </p:graphicFrame>
      <p:sp>
        <p:nvSpPr>
          <p:cNvPr id="4" name="Rectangle: Rounded Corners 3">
            <a:extLst>
              <a:ext uri="{FF2B5EF4-FFF2-40B4-BE49-F238E27FC236}">
                <a16:creationId xmlns:a16="http://schemas.microsoft.com/office/drawing/2014/main" id="{BFAF474D-8728-19F0-172E-0AC7BA89DC76}"/>
              </a:ext>
            </a:extLst>
          </p:cNvPr>
          <p:cNvSpPr/>
          <p:nvPr/>
        </p:nvSpPr>
        <p:spPr bwMode="gray">
          <a:xfrm>
            <a:off x="952341" y="1543773"/>
            <a:ext cx="10303594" cy="424681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nvGrpSpPr>
          <p:cNvPr id="6" name="Group 5">
            <a:extLst>
              <a:ext uri="{FF2B5EF4-FFF2-40B4-BE49-F238E27FC236}">
                <a16:creationId xmlns:a16="http://schemas.microsoft.com/office/drawing/2014/main" id="{7CE41E07-0E78-45EA-DCF7-9D98E529F890}"/>
              </a:ext>
            </a:extLst>
          </p:cNvPr>
          <p:cNvGrpSpPr/>
          <p:nvPr/>
        </p:nvGrpSpPr>
        <p:grpSpPr>
          <a:xfrm>
            <a:off x="1075032" y="1600795"/>
            <a:ext cx="650010" cy="538982"/>
            <a:chOff x="1686341" y="1600319"/>
            <a:chExt cx="650179" cy="539122"/>
          </a:xfrm>
        </p:grpSpPr>
        <p:cxnSp>
          <p:nvCxnSpPr>
            <p:cNvPr id="7" name="Straight Connector 6">
              <a:extLst>
                <a:ext uri="{FF2B5EF4-FFF2-40B4-BE49-F238E27FC236}">
                  <a16:creationId xmlns:a16="http://schemas.microsoft.com/office/drawing/2014/main" id="{13FAA9A7-ABCD-C149-4887-0ED94F3618F6}"/>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8" name="TextBox 7">
              <a:extLst>
                <a:ext uri="{FF2B5EF4-FFF2-40B4-BE49-F238E27FC236}">
                  <a16:creationId xmlns:a16="http://schemas.microsoft.com/office/drawing/2014/main" id="{1A8A7DC3-E3F6-8074-A14A-5A670B39BF36}"/>
                </a:ext>
              </a:extLst>
            </p:cNvPr>
            <p:cNvSpPr txBox="1"/>
            <p:nvPr/>
          </p:nvSpPr>
          <p:spPr bwMode="gray">
            <a:xfrm>
              <a:off x="1686341" y="1600319"/>
              <a:ext cx="650179" cy="53912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a:p>
              <a:pPr algn="ctr">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9" name="TextBox 8">
            <a:extLst>
              <a:ext uri="{FF2B5EF4-FFF2-40B4-BE49-F238E27FC236}">
                <a16:creationId xmlns:a16="http://schemas.microsoft.com/office/drawing/2014/main" id="{7B14F85B-9F38-2D35-01C8-C400BED396D7}"/>
              </a:ext>
            </a:extLst>
          </p:cNvPr>
          <p:cNvSpPr txBox="1"/>
          <p:nvPr/>
        </p:nvSpPr>
        <p:spPr bwMode="gray">
          <a:xfrm>
            <a:off x="987080" y="1310100"/>
            <a:ext cx="825909" cy="338466"/>
          </a:xfrm>
          <a:prstGeom prst="rect">
            <a:avLst/>
          </a:prstGeom>
          <a:noFill/>
        </p:spPr>
        <p:txBody>
          <a:bodyPr wrap="none">
            <a:spAutoFit/>
          </a:bodyPr>
          <a:lstStyle/>
          <a:p>
            <a:pPr>
              <a:defRPr/>
            </a:pPr>
            <a:r>
              <a:rPr lang="en-US" sz="1600">
                <a:solidFill>
                  <a:srgbClr val="000000"/>
                </a:solidFill>
                <a:latin typeface="Arial" panose="020B0604020202020204"/>
              </a:rPr>
              <a:t>TOTAL</a:t>
            </a:r>
          </a:p>
        </p:txBody>
      </p:sp>
      <p:sp>
        <p:nvSpPr>
          <p:cNvPr id="14" name="Rectangle: Rounded Corners 13">
            <a:extLst>
              <a:ext uri="{FF2B5EF4-FFF2-40B4-BE49-F238E27FC236}">
                <a16:creationId xmlns:a16="http://schemas.microsoft.com/office/drawing/2014/main" id="{AF736437-74A9-3A65-2D50-F85B40EF7CD2}"/>
              </a:ext>
            </a:extLst>
          </p:cNvPr>
          <p:cNvSpPr/>
          <p:nvPr/>
        </p:nvSpPr>
        <p:spPr bwMode="gray">
          <a:xfrm rot="16200000">
            <a:off x="8094538" y="1603693"/>
            <a:ext cx="532980" cy="4028141"/>
          </a:xfrm>
          <a:prstGeom prst="roundRect">
            <a:avLst/>
          </a:prstGeom>
          <a:noFill/>
          <a:ln w="12700" cap="flat" cmpd="sng" algn="ctr">
            <a:solidFill>
              <a:srgbClr val="0AA7A4"/>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nvGrpSpPr>
          <p:cNvPr id="16" name="Group 15">
            <a:extLst>
              <a:ext uri="{FF2B5EF4-FFF2-40B4-BE49-F238E27FC236}">
                <a16:creationId xmlns:a16="http://schemas.microsoft.com/office/drawing/2014/main" id="{D9739315-9620-DDE0-FB54-BA8B1B7D9056}"/>
              </a:ext>
            </a:extLst>
          </p:cNvPr>
          <p:cNvGrpSpPr/>
          <p:nvPr/>
        </p:nvGrpSpPr>
        <p:grpSpPr>
          <a:xfrm>
            <a:off x="1529675" y="4535392"/>
            <a:ext cx="182040" cy="182832"/>
            <a:chOff x="2132012" y="1676400"/>
            <a:chExt cx="182087" cy="182880"/>
          </a:xfrm>
        </p:grpSpPr>
        <p:sp>
          <p:nvSpPr>
            <p:cNvPr id="17" name="Oval 16">
              <a:extLst>
                <a:ext uri="{FF2B5EF4-FFF2-40B4-BE49-F238E27FC236}">
                  <a16:creationId xmlns:a16="http://schemas.microsoft.com/office/drawing/2014/main" id="{9B9F1DA9-E50C-56E3-1F39-7EBAF7554A8C}"/>
                </a:ext>
              </a:extLst>
            </p:cNvPr>
            <p:cNvSpPr/>
            <p:nvPr/>
          </p:nvSpPr>
          <p:spPr bwMode="gray">
            <a:xfrm>
              <a:off x="2132012" y="1676400"/>
              <a:ext cx="182087" cy="182880"/>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18" name="Star: 5 Points 17">
              <a:extLst>
                <a:ext uri="{FF2B5EF4-FFF2-40B4-BE49-F238E27FC236}">
                  <a16:creationId xmlns:a16="http://schemas.microsoft.com/office/drawing/2014/main" id="{C879D241-8765-649C-A9C7-C352B714FF9E}"/>
                </a:ext>
              </a:extLst>
            </p:cNvPr>
            <p:cNvSpPr/>
            <p:nvPr/>
          </p:nvSpPr>
          <p:spPr bwMode="gray">
            <a:xfrm>
              <a:off x="2150221" y="1692671"/>
              <a:ext cx="145670" cy="143942"/>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
        <p:nvSpPr>
          <p:cNvPr id="2" name="TextBox 1">
            <a:extLst>
              <a:ext uri="{FF2B5EF4-FFF2-40B4-BE49-F238E27FC236}">
                <a16:creationId xmlns:a16="http://schemas.microsoft.com/office/drawing/2014/main" id="{6D217C61-57FB-AD3B-E4FF-5E99137B7C99}"/>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sp>
        <p:nvSpPr>
          <p:cNvPr id="3" name="TextBox 2">
            <a:extLst>
              <a:ext uri="{FF2B5EF4-FFF2-40B4-BE49-F238E27FC236}">
                <a16:creationId xmlns:a16="http://schemas.microsoft.com/office/drawing/2014/main" id="{5297937D-859F-5647-89B4-41558ED937A9}"/>
              </a:ext>
            </a:extLst>
          </p:cNvPr>
          <p:cNvSpPr txBox="1"/>
          <p:nvPr/>
        </p:nvSpPr>
        <p:spPr bwMode="gray">
          <a:xfrm>
            <a:off x="4060012" y="4795232"/>
            <a:ext cx="738087" cy="332312"/>
          </a:xfrm>
          <a:prstGeom prst="rect">
            <a:avLst/>
          </a:prstGeom>
          <a:solidFill>
            <a:schemeClr val="bg1">
              <a:lumMod val="95000"/>
            </a:schemeClr>
          </a:solidFill>
          <a:ln w="12700">
            <a:solidFill>
              <a:schemeClr val="tx1">
                <a:lumMod val="50000"/>
                <a:lumOff val="50000"/>
              </a:schemeClr>
            </a:solidFill>
            <a:prstDash val="solid"/>
          </a:ln>
        </p:spPr>
        <p:txBody>
          <a:bodyPr wrap="none" lIns="27425" tIns="27425" rIns="27425" bIns="27425" rtlCol="0" anchor="ctr" anchorCtr="0">
            <a:spAutoFit/>
          </a:bodyPr>
          <a:lstStyle/>
          <a:p>
            <a:pPr algn="ctr">
              <a:defRPr/>
            </a:pPr>
            <a:r>
              <a:rPr lang="en-US" sz="900">
                <a:solidFill>
                  <a:srgbClr val="000000">
                    <a:lumMod val="50000"/>
                    <a:lumOff val="50000"/>
                  </a:srgbClr>
                </a:solidFill>
                <a:latin typeface="Arial" panose="020B0604020202020204"/>
              </a:rPr>
              <a:t>High Public &lt;</a:t>
            </a:r>
            <a:br>
              <a:rPr lang="en-US" sz="900">
                <a:solidFill>
                  <a:srgbClr val="000000">
                    <a:lumMod val="50000"/>
                    <a:lumOff val="50000"/>
                  </a:srgbClr>
                </a:solidFill>
                <a:latin typeface="Arial" panose="020B0604020202020204"/>
              </a:rPr>
            </a:br>
            <a:r>
              <a:rPr lang="en-US" sz="900">
                <a:solidFill>
                  <a:srgbClr val="000000">
                    <a:lumMod val="50000"/>
                    <a:lumOff val="50000"/>
                  </a:srgbClr>
                </a:solidFill>
                <a:latin typeface="Arial" panose="020B0604020202020204"/>
              </a:rPr>
              <a:t>Others</a:t>
            </a:r>
          </a:p>
        </p:txBody>
      </p:sp>
      <p:sp>
        <p:nvSpPr>
          <p:cNvPr id="11" name="TextBox 10">
            <a:extLst>
              <a:ext uri="{FF2B5EF4-FFF2-40B4-BE49-F238E27FC236}">
                <a16:creationId xmlns:a16="http://schemas.microsoft.com/office/drawing/2014/main" id="{F0CA9F5F-A11F-287F-77AC-8149294A08C0}"/>
              </a:ext>
            </a:extLst>
          </p:cNvPr>
          <p:cNvSpPr txBox="1"/>
          <p:nvPr/>
        </p:nvSpPr>
        <p:spPr bwMode="gray">
          <a:xfrm>
            <a:off x="10253444" y="2935768"/>
            <a:ext cx="686804" cy="332312"/>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defRPr/>
            </a:pPr>
            <a:r>
              <a:rPr lang="en-US" sz="900">
                <a:solidFill>
                  <a:srgbClr val="000000">
                    <a:lumMod val="50000"/>
                    <a:lumOff val="50000"/>
                  </a:srgbClr>
                </a:solidFill>
                <a:latin typeface="Arial" panose="020B0604020202020204"/>
              </a:rPr>
              <a:t>74% PED &gt; </a:t>
            </a:r>
          </a:p>
          <a:p>
            <a:pPr>
              <a:defRPr/>
            </a:pPr>
            <a:r>
              <a:rPr lang="en-US" sz="900">
                <a:solidFill>
                  <a:srgbClr val="000000">
                    <a:lumMod val="50000"/>
                    <a:lumOff val="50000"/>
                  </a:srgbClr>
                </a:solidFill>
                <a:latin typeface="Arial" panose="020B0604020202020204"/>
              </a:rPr>
              <a:t>55% PCP</a:t>
            </a:r>
          </a:p>
        </p:txBody>
      </p:sp>
      <p:sp>
        <p:nvSpPr>
          <p:cNvPr id="12" name="TextBox 11">
            <a:extLst>
              <a:ext uri="{FF2B5EF4-FFF2-40B4-BE49-F238E27FC236}">
                <a16:creationId xmlns:a16="http://schemas.microsoft.com/office/drawing/2014/main" id="{242F80A3-8F0D-87E4-04D4-B5308C21374E}"/>
              </a:ext>
            </a:extLst>
          </p:cNvPr>
          <p:cNvSpPr txBox="1"/>
          <p:nvPr/>
        </p:nvSpPr>
        <p:spPr bwMode="gray">
          <a:xfrm>
            <a:off x="10253444" y="3457653"/>
            <a:ext cx="686804" cy="332312"/>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defRPr/>
            </a:pPr>
            <a:r>
              <a:rPr lang="en-US" sz="900">
                <a:solidFill>
                  <a:srgbClr val="000000">
                    <a:lumMod val="50000"/>
                    <a:lumOff val="50000"/>
                  </a:srgbClr>
                </a:solidFill>
                <a:latin typeface="Arial" panose="020B0604020202020204"/>
              </a:rPr>
              <a:t>72% PED &gt; </a:t>
            </a:r>
          </a:p>
          <a:p>
            <a:pPr>
              <a:defRPr/>
            </a:pPr>
            <a:r>
              <a:rPr lang="en-US" sz="900">
                <a:solidFill>
                  <a:srgbClr val="000000">
                    <a:lumMod val="50000"/>
                    <a:lumOff val="50000"/>
                  </a:srgbClr>
                </a:solidFill>
                <a:latin typeface="Arial" panose="020B0604020202020204"/>
              </a:rPr>
              <a:t>48% PCP</a:t>
            </a:r>
          </a:p>
        </p:txBody>
      </p:sp>
      <p:sp>
        <p:nvSpPr>
          <p:cNvPr id="19" name="Text Placeholder 2">
            <a:extLst>
              <a:ext uri="{FF2B5EF4-FFF2-40B4-BE49-F238E27FC236}">
                <a16:creationId xmlns:a16="http://schemas.microsoft.com/office/drawing/2014/main" id="{A4880A5E-4050-C70F-4E1F-150A2A109FD3}"/>
              </a:ext>
            </a:extLst>
          </p:cNvPr>
          <p:cNvSpPr txBox="1">
            <a:spLocks/>
          </p:cNvSpPr>
          <p:nvPr/>
        </p:nvSpPr>
        <p:spPr bwMode="gray">
          <a:xfrm>
            <a:off x="8990371" y="5114374"/>
            <a:ext cx="245282" cy="187157"/>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3030">
              <a:buClr>
                <a:srgbClr val="E7E6E6"/>
              </a:buClr>
              <a:buSzPct val="85000"/>
              <a:defRPr/>
            </a:pP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20" name="TextBox 19">
            <a:extLst>
              <a:ext uri="{FF2B5EF4-FFF2-40B4-BE49-F238E27FC236}">
                <a16:creationId xmlns:a16="http://schemas.microsoft.com/office/drawing/2014/main" id="{F9D02C48-E454-70AD-9566-9B739017A3BB}"/>
              </a:ext>
            </a:extLst>
          </p:cNvPr>
          <p:cNvSpPr txBox="1"/>
          <p:nvPr/>
        </p:nvSpPr>
        <p:spPr bwMode="gray">
          <a:xfrm>
            <a:off x="9274859" y="5108204"/>
            <a:ext cx="393530" cy="193849"/>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lgn="ctr">
              <a:defRPr/>
            </a:pPr>
            <a:r>
              <a:rPr lang="en-US" sz="900">
                <a:solidFill>
                  <a:srgbClr val="000000">
                    <a:lumMod val="50000"/>
                    <a:lumOff val="50000"/>
                  </a:srgbClr>
                </a:solidFill>
                <a:latin typeface="Arial" panose="020B0604020202020204"/>
              </a:rPr>
              <a:t>PED </a:t>
            </a:r>
            <a:r>
              <a:rPr lang="en-US" altLang="en-US" sz="900">
                <a:solidFill>
                  <a:srgbClr val="FF0000"/>
                </a:solidFill>
                <a:latin typeface="Arial" panose="020B0604020202020204"/>
                <a:cs typeface="Arial" panose="020B0604020202020204" pitchFamily="34" charset="0"/>
                <a:sym typeface="Symbol" pitchFamily="18" charset="2"/>
              </a:rPr>
              <a:t></a:t>
            </a:r>
            <a:endParaRPr lang="en-US" sz="900">
              <a:solidFill>
                <a:srgbClr val="000000">
                  <a:lumMod val="50000"/>
                  <a:lumOff val="50000"/>
                </a:srgbClr>
              </a:solidFill>
              <a:latin typeface="Arial" panose="020B0604020202020204"/>
            </a:endParaRPr>
          </a:p>
        </p:txBody>
      </p:sp>
    </p:spTree>
    <p:extLst>
      <p:ext uri="{BB962C8B-B14F-4D97-AF65-F5344CB8AC3E}">
        <p14:creationId xmlns:p14="http://schemas.microsoft.com/office/powerpoint/2010/main" val="2589333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6E920-3DAD-5E13-B73D-F452F04759C0}"/>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8BD3E545-7CAC-2292-1705-238213963DAE}"/>
              </a:ext>
            </a:extLst>
          </p:cNvPr>
          <p:cNvGrpSpPr/>
          <p:nvPr/>
        </p:nvGrpSpPr>
        <p:grpSpPr>
          <a:xfrm>
            <a:off x="4334715" y="1552485"/>
            <a:ext cx="420514" cy="420514"/>
            <a:chOff x="1119929" y="943834"/>
            <a:chExt cx="846331" cy="784203"/>
          </a:xfrm>
        </p:grpSpPr>
        <p:pic>
          <p:nvPicPr>
            <p:cNvPr id="35" name="Picture 6" descr="143,700+ Mouth Icon Illustrations, Royalty-Free Vector Graphics &amp; Clip Art  - iStock | Open mouth icon, Word of mouth icon, Cover mouth icon">
              <a:extLst>
                <a:ext uri="{FF2B5EF4-FFF2-40B4-BE49-F238E27FC236}">
                  <a16:creationId xmlns:a16="http://schemas.microsoft.com/office/drawing/2014/main" id="{BA277E5D-2AA2-0352-32CA-6910E597A5A5}"/>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Rounded Corners 35">
              <a:extLst>
                <a:ext uri="{FF2B5EF4-FFF2-40B4-BE49-F238E27FC236}">
                  <a16:creationId xmlns:a16="http://schemas.microsoft.com/office/drawing/2014/main" id="{305DCB0B-21AC-0DAA-A3AF-91FCDDF97BF8}"/>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
        <p:nvSpPr>
          <p:cNvPr id="3" name="Title 2">
            <a:extLst>
              <a:ext uri="{FF2B5EF4-FFF2-40B4-BE49-F238E27FC236}">
                <a16:creationId xmlns:a16="http://schemas.microsoft.com/office/drawing/2014/main" id="{72CC172A-C02B-8683-E078-25C4270A7A71}"/>
              </a:ext>
            </a:extLst>
          </p:cNvPr>
          <p:cNvSpPr>
            <a:spLocks noGrp="1"/>
          </p:cNvSpPr>
          <p:nvPr>
            <p:ph type="title"/>
          </p:nvPr>
        </p:nvSpPr>
        <p:spPr>
          <a:xfrm>
            <a:off x="1143412" y="171155"/>
            <a:ext cx="10654753" cy="850171"/>
          </a:xfrm>
        </p:spPr>
        <p:txBody>
          <a:bodyPr/>
          <a:lstStyle/>
          <a:p>
            <a:r>
              <a:rPr lang="en-US" u="sng"/>
              <a:t>Unaided</a:t>
            </a:r>
            <a:r>
              <a:rPr lang="en-US"/>
              <a:t> awareness of GSK and Pfizer as manufacturers of a meningococcal Vx under development or recently launched remains highest; PEDs are twice as likely to mention Pfizer than PCPs </a:t>
            </a:r>
          </a:p>
        </p:txBody>
      </p:sp>
      <p:sp>
        <p:nvSpPr>
          <p:cNvPr id="27" name="Text Placeholder 26">
            <a:extLst>
              <a:ext uri="{FF2B5EF4-FFF2-40B4-BE49-F238E27FC236}">
                <a16:creationId xmlns:a16="http://schemas.microsoft.com/office/drawing/2014/main" id="{AC070E33-1CEB-A953-BF3D-BCE39DF785A5}"/>
              </a:ext>
            </a:extLst>
          </p:cNvPr>
          <p:cNvSpPr>
            <a:spLocks noGrp="1"/>
          </p:cNvSpPr>
          <p:nvPr>
            <p:ph type="body" sz="quarter" idx="16"/>
          </p:nvPr>
        </p:nvSpPr>
        <p:spPr>
          <a:xfrm>
            <a:off x="1572803" y="6414165"/>
            <a:ext cx="8162930" cy="330261"/>
          </a:xfrm>
        </p:spPr>
        <p:txBody>
          <a:bodyPr wrap="none"/>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a:t>
            </a:r>
          </a:p>
          <a:p>
            <a:r>
              <a:rPr lang="en-US"/>
              <a:t>C1. What manufacturers are you aware of, if any, that have a Meningococcal vaccine under development or recently launched a Meningococcal vaccine?</a:t>
            </a:r>
          </a:p>
        </p:txBody>
      </p:sp>
      <p:graphicFrame>
        <p:nvGraphicFramePr>
          <p:cNvPr id="26" name="Chart 25">
            <a:extLst>
              <a:ext uri="{FF2B5EF4-FFF2-40B4-BE49-F238E27FC236}">
                <a16:creationId xmlns:a16="http://schemas.microsoft.com/office/drawing/2014/main" id="{3EA6C829-C50A-8507-DB25-BEDE56186666}"/>
              </a:ext>
            </a:extLst>
          </p:cNvPr>
          <p:cNvGraphicFramePr/>
          <p:nvPr/>
        </p:nvGraphicFramePr>
        <p:xfrm>
          <a:off x="2432903" y="2178585"/>
          <a:ext cx="7342469" cy="320177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a:extLst>
              <a:ext uri="{FF2B5EF4-FFF2-40B4-BE49-F238E27FC236}">
                <a16:creationId xmlns:a16="http://schemas.microsoft.com/office/drawing/2014/main" id="{20F012EE-5A62-1F52-E3EE-F6FF2B620CE5}"/>
              </a:ext>
            </a:extLst>
          </p:cNvPr>
          <p:cNvSpPr txBox="1"/>
          <p:nvPr/>
        </p:nvSpPr>
        <p:spPr bwMode="gray">
          <a:xfrm>
            <a:off x="4144854" y="1653931"/>
            <a:ext cx="3899119" cy="863601"/>
          </a:xfrm>
          <a:prstGeom prst="rect">
            <a:avLst/>
          </a:prstGeom>
        </p:spPr>
        <p:txBody>
          <a:bodyPr wrap="squar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Unaided Awareness of </a:t>
            </a:r>
            <a:r>
              <a:rPr lang="en-US" sz="1799" b="1" u="sng">
                <a:solidFill>
                  <a:srgbClr val="0000C9"/>
                </a:solidFill>
                <a:latin typeface="Arial" panose="020B0604020202020204"/>
              </a:rPr>
              <a:t>Manufacturer</a:t>
            </a:r>
            <a:r>
              <a:rPr lang="en-US" sz="1799" b="1">
                <a:solidFill>
                  <a:srgbClr val="0000C9"/>
                </a:solidFill>
                <a:latin typeface="Arial" panose="020B0604020202020204"/>
              </a:rPr>
              <a:t> of Meningococcal Vx</a:t>
            </a:r>
          </a:p>
          <a:p>
            <a:pPr algn="ctr">
              <a:lnSpc>
                <a:spcPct val="90000"/>
              </a:lnSpc>
              <a:spcAft>
                <a:spcPts val="400"/>
              </a:spcAft>
              <a:defRPr/>
            </a:pPr>
            <a:r>
              <a:rPr lang="en-US" sz="1600">
                <a:solidFill>
                  <a:srgbClr val="0000C9"/>
                </a:solidFill>
                <a:latin typeface="Arial" panose="020B0604020202020204"/>
              </a:rPr>
              <a:t>(under development or recently launched)</a:t>
            </a:r>
          </a:p>
        </p:txBody>
      </p:sp>
      <p:sp>
        <p:nvSpPr>
          <p:cNvPr id="2" name="Rectangle: Rounded Corners 1">
            <a:extLst>
              <a:ext uri="{FF2B5EF4-FFF2-40B4-BE49-F238E27FC236}">
                <a16:creationId xmlns:a16="http://schemas.microsoft.com/office/drawing/2014/main" id="{9F92ABAB-B0C3-EBD4-748F-DD1F36C2961E}"/>
              </a:ext>
            </a:extLst>
          </p:cNvPr>
          <p:cNvSpPr/>
          <p:nvPr/>
        </p:nvSpPr>
        <p:spPr bwMode="gray">
          <a:xfrm>
            <a:off x="952341" y="1543773"/>
            <a:ext cx="10303594" cy="424681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nvGrpSpPr>
          <p:cNvPr id="4" name="Group 3">
            <a:extLst>
              <a:ext uri="{FF2B5EF4-FFF2-40B4-BE49-F238E27FC236}">
                <a16:creationId xmlns:a16="http://schemas.microsoft.com/office/drawing/2014/main" id="{1AE34777-A9BB-CA6D-A785-D36244F86DD9}"/>
              </a:ext>
            </a:extLst>
          </p:cNvPr>
          <p:cNvGrpSpPr/>
          <p:nvPr/>
        </p:nvGrpSpPr>
        <p:grpSpPr>
          <a:xfrm>
            <a:off x="1075032" y="1600795"/>
            <a:ext cx="650010" cy="538982"/>
            <a:chOff x="1686341" y="1600319"/>
            <a:chExt cx="650179" cy="539122"/>
          </a:xfrm>
        </p:grpSpPr>
        <p:cxnSp>
          <p:nvCxnSpPr>
            <p:cNvPr id="5" name="Straight Connector 4">
              <a:extLst>
                <a:ext uri="{FF2B5EF4-FFF2-40B4-BE49-F238E27FC236}">
                  <a16:creationId xmlns:a16="http://schemas.microsoft.com/office/drawing/2014/main" id="{0791622B-180B-7DBC-9E32-62EA108BE56C}"/>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7" name="TextBox 6">
              <a:extLst>
                <a:ext uri="{FF2B5EF4-FFF2-40B4-BE49-F238E27FC236}">
                  <a16:creationId xmlns:a16="http://schemas.microsoft.com/office/drawing/2014/main" id="{9D245F7F-82DE-23D0-43E5-A987BB87F733}"/>
                </a:ext>
              </a:extLst>
            </p:cNvPr>
            <p:cNvSpPr txBox="1"/>
            <p:nvPr/>
          </p:nvSpPr>
          <p:spPr bwMode="gray">
            <a:xfrm>
              <a:off x="1686341" y="1600319"/>
              <a:ext cx="650179" cy="53912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a:p>
              <a:pPr algn="ctr">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8" name="TextBox 7">
            <a:extLst>
              <a:ext uri="{FF2B5EF4-FFF2-40B4-BE49-F238E27FC236}">
                <a16:creationId xmlns:a16="http://schemas.microsoft.com/office/drawing/2014/main" id="{16BE6FF9-8423-7BD4-4CE5-76ACD8102DC3}"/>
              </a:ext>
            </a:extLst>
          </p:cNvPr>
          <p:cNvSpPr txBox="1"/>
          <p:nvPr/>
        </p:nvSpPr>
        <p:spPr bwMode="gray">
          <a:xfrm>
            <a:off x="987080" y="1310100"/>
            <a:ext cx="825909" cy="338466"/>
          </a:xfrm>
          <a:prstGeom prst="rect">
            <a:avLst/>
          </a:prstGeom>
          <a:noFill/>
        </p:spPr>
        <p:txBody>
          <a:bodyPr wrap="none">
            <a:spAutoFit/>
          </a:bodyPr>
          <a:lstStyle/>
          <a:p>
            <a:pPr>
              <a:defRPr/>
            </a:pPr>
            <a:r>
              <a:rPr lang="en-US" sz="1600">
                <a:solidFill>
                  <a:srgbClr val="000000"/>
                </a:solidFill>
                <a:latin typeface="Arial" panose="020B0604020202020204"/>
              </a:rPr>
              <a:t>TOTAL</a:t>
            </a:r>
          </a:p>
        </p:txBody>
      </p:sp>
      <p:pic>
        <p:nvPicPr>
          <p:cNvPr id="21" name="Picture 20">
            <a:extLst>
              <a:ext uri="{FF2B5EF4-FFF2-40B4-BE49-F238E27FC236}">
                <a16:creationId xmlns:a16="http://schemas.microsoft.com/office/drawing/2014/main" id="{89732CD1-8644-E44B-2210-C6AA26E96629}"/>
              </a:ext>
            </a:extLst>
          </p:cNvPr>
          <p:cNvPicPr>
            <a:picLocks noChangeAspect="1"/>
          </p:cNvPicPr>
          <p:nvPr/>
        </p:nvPicPr>
        <p:blipFill>
          <a:blip r:embed="rId5"/>
          <a:stretch>
            <a:fillRect/>
          </a:stretch>
        </p:blipFill>
        <p:spPr>
          <a:xfrm>
            <a:off x="3050880" y="5175841"/>
            <a:ext cx="830109" cy="263862"/>
          </a:xfrm>
          <a:prstGeom prst="rect">
            <a:avLst/>
          </a:prstGeom>
        </p:spPr>
      </p:pic>
      <p:pic>
        <p:nvPicPr>
          <p:cNvPr id="2052" name="Picture 4" descr="LobbyMap Sanofi">
            <a:extLst>
              <a:ext uri="{FF2B5EF4-FFF2-40B4-BE49-F238E27FC236}">
                <a16:creationId xmlns:a16="http://schemas.microsoft.com/office/drawing/2014/main" id="{52CF1808-7E0F-8081-8A51-1C3E207B96B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4221" b="24036"/>
          <a:stretch/>
        </p:blipFill>
        <p:spPr bwMode="auto">
          <a:xfrm>
            <a:off x="6501680" y="5175839"/>
            <a:ext cx="1013789" cy="26228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7A1DE974-ED71-E8F1-8CA3-5562F1A353DE}"/>
              </a:ext>
            </a:extLst>
          </p:cNvPr>
          <p:cNvPicPr>
            <a:picLocks noChangeAspect="1"/>
          </p:cNvPicPr>
          <p:nvPr/>
        </p:nvPicPr>
        <p:blipFill>
          <a:blip r:embed="rId7"/>
          <a:stretch>
            <a:fillRect/>
          </a:stretch>
        </p:blipFill>
        <p:spPr>
          <a:xfrm>
            <a:off x="8043971" y="5120199"/>
            <a:ext cx="1288270" cy="372749"/>
          </a:xfrm>
          <a:prstGeom prst="rect">
            <a:avLst/>
          </a:prstGeom>
        </p:spPr>
      </p:pic>
      <p:grpSp>
        <p:nvGrpSpPr>
          <p:cNvPr id="11" name="Group 10">
            <a:extLst>
              <a:ext uri="{FF2B5EF4-FFF2-40B4-BE49-F238E27FC236}">
                <a16:creationId xmlns:a16="http://schemas.microsoft.com/office/drawing/2014/main" id="{D889AEEF-8C25-A7CA-7EB8-BF8FCF19778B}"/>
              </a:ext>
            </a:extLst>
          </p:cNvPr>
          <p:cNvGrpSpPr/>
          <p:nvPr/>
        </p:nvGrpSpPr>
        <p:grpSpPr>
          <a:xfrm>
            <a:off x="5912374" y="1436875"/>
            <a:ext cx="182040" cy="182832"/>
            <a:chOff x="2132012" y="1676400"/>
            <a:chExt cx="182087" cy="182880"/>
          </a:xfrm>
        </p:grpSpPr>
        <p:sp>
          <p:nvSpPr>
            <p:cNvPr id="12" name="Oval 11">
              <a:extLst>
                <a:ext uri="{FF2B5EF4-FFF2-40B4-BE49-F238E27FC236}">
                  <a16:creationId xmlns:a16="http://schemas.microsoft.com/office/drawing/2014/main" id="{E06CEB7C-0CC1-E3CC-3809-D234E18E8AFD}"/>
                </a:ext>
              </a:extLst>
            </p:cNvPr>
            <p:cNvSpPr/>
            <p:nvPr/>
          </p:nvSpPr>
          <p:spPr bwMode="gray">
            <a:xfrm>
              <a:off x="2132012" y="1676400"/>
              <a:ext cx="182087" cy="182880"/>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13" name="Star: 5 Points 12">
              <a:extLst>
                <a:ext uri="{FF2B5EF4-FFF2-40B4-BE49-F238E27FC236}">
                  <a16:creationId xmlns:a16="http://schemas.microsoft.com/office/drawing/2014/main" id="{F3A39DE2-54CC-6CB2-7A39-170B5A15CA00}"/>
                </a:ext>
              </a:extLst>
            </p:cNvPr>
            <p:cNvSpPr/>
            <p:nvPr/>
          </p:nvSpPr>
          <p:spPr bwMode="gray">
            <a:xfrm>
              <a:off x="2150221" y="1692671"/>
              <a:ext cx="145670" cy="143942"/>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
        <p:nvSpPr>
          <p:cNvPr id="15" name="TextBox 14">
            <a:extLst>
              <a:ext uri="{FF2B5EF4-FFF2-40B4-BE49-F238E27FC236}">
                <a16:creationId xmlns:a16="http://schemas.microsoft.com/office/drawing/2014/main" id="{B3E2045B-DCDC-6260-0916-D41BB37A0DFF}"/>
              </a:ext>
            </a:extLst>
          </p:cNvPr>
          <p:cNvSpPr txBox="1"/>
          <p:nvPr/>
        </p:nvSpPr>
        <p:spPr bwMode="gray">
          <a:xfrm>
            <a:off x="7029903" y="4629146"/>
            <a:ext cx="686804" cy="332312"/>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defRPr/>
            </a:pPr>
            <a:r>
              <a:rPr lang="en-US" sz="900">
                <a:solidFill>
                  <a:srgbClr val="000000">
                    <a:lumMod val="50000"/>
                    <a:lumOff val="50000"/>
                  </a:srgbClr>
                </a:solidFill>
                <a:latin typeface="Arial" panose="020B0604020202020204"/>
              </a:rPr>
              <a:t>23% PED &gt; </a:t>
            </a:r>
          </a:p>
          <a:p>
            <a:pPr>
              <a:defRPr/>
            </a:pPr>
            <a:r>
              <a:rPr lang="en-US" sz="900">
                <a:solidFill>
                  <a:srgbClr val="000000">
                    <a:lumMod val="50000"/>
                    <a:lumOff val="50000"/>
                  </a:srgbClr>
                </a:solidFill>
                <a:latin typeface="Arial" panose="020B0604020202020204"/>
              </a:rPr>
              <a:t>10% PCP</a:t>
            </a:r>
          </a:p>
        </p:txBody>
      </p:sp>
      <p:sp>
        <p:nvSpPr>
          <p:cNvPr id="16" name="TextBox 15">
            <a:extLst>
              <a:ext uri="{FF2B5EF4-FFF2-40B4-BE49-F238E27FC236}">
                <a16:creationId xmlns:a16="http://schemas.microsoft.com/office/drawing/2014/main" id="{081E885B-2C90-06A3-2B12-26AF6D9CBBAA}"/>
              </a:ext>
            </a:extLst>
          </p:cNvPr>
          <p:cNvSpPr txBox="1"/>
          <p:nvPr/>
        </p:nvSpPr>
        <p:spPr bwMode="gray">
          <a:xfrm>
            <a:off x="6587141" y="3641614"/>
            <a:ext cx="786164" cy="470775"/>
          </a:xfrm>
          <a:prstGeom prst="rect">
            <a:avLst/>
          </a:prstGeom>
          <a:solidFill>
            <a:schemeClr val="bg1"/>
          </a:solidFill>
          <a:ln w="6350">
            <a:solidFill>
              <a:schemeClr val="tx1">
                <a:lumMod val="50000"/>
                <a:lumOff val="50000"/>
              </a:schemeClr>
            </a:solidFill>
            <a:prstDash val="solid"/>
          </a:ln>
        </p:spPr>
        <p:txBody>
          <a:bodyPr wrap="none" lIns="27425" tIns="27425" rIns="27425" bIns="27425" rtlCol="0" anchor="ctr" anchorCtr="0">
            <a:spAutoFit/>
          </a:bodyPr>
          <a:lstStyle/>
          <a:p>
            <a:pPr marL="399930" indent="-399930" defTabSz="913852">
              <a:defRPr/>
            </a:pPr>
            <a:r>
              <a:rPr lang="en-US" sz="900">
                <a:solidFill>
                  <a:srgbClr val="000000">
                    <a:lumMod val="50000"/>
                    <a:lumOff val="50000"/>
                  </a:srgbClr>
                </a:solidFill>
                <a:latin typeface="Arial" panose="020B0604020202020204"/>
              </a:rPr>
              <a:t>22%</a:t>
            </a:r>
            <a:r>
              <a:rPr lang="en-US" sz="900" baseline="30000">
                <a:solidFill>
                  <a:srgbClr val="000000">
                    <a:lumMod val="50000"/>
                    <a:lumOff val="50000"/>
                  </a:srgbClr>
                </a:solidFill>
                <a:latin typeface="Arial" panose="020B0604020202020204"/>
              </a:rPr>
              <a:t>3	</a:t>
            </a:r>
            <a:r>
              <a:rPr lang="en-US" sz="900">
                <a:solidFill>
                  <a:srgbClr val="000000">
                    <a:lumMod val="50000"/>
                    <a:lumOff val="50000"/>
                  </a:srgbClr>
                </a:solidFill>
                <a:latin typeface="Arial" panose="020B0604020202020204"/>
              </a:rPr>
              <a:t>Tier 1</a:t>
            </a:r>
          </a:p>
          <a:p>
            <a:pPr marL="399930" indent="-399930" defTabSz="913852">
              <a:defRPr/>
            </a:pPr>
            <a:r>
              <a:rPr lang="en-US" sz="900">
                <a:solidFill>
                  <a:srgbClr val="000000">
                    <a:lumMod val="50000"/>
                    <a:lumOff val="50000"/>
                  </a:srgbClr>
                </a:solidFill>
                <a:latin typeface="Arial" panose="020B0604020202020204"/>
              </a:rPr>
              <a:t>23%	Tier 2 </a:t>
            </a:r>
          </a:p>
          <a:p>
            <a:pPr marL="399930" indent="-399930" defTabSz="913852">
              <a:defRPr/>
            </a:pPr>
            <a:r>
              <a:rPr lang="en-US" sz="900">
                <a:solidFill>
                  <a:srgbClr val="000000">
                    <a:lumMod val="50000"/>
                    <a:lumOff val="50000"/>
                  </a:srgbClr>
                </a:solidFill>
                <a:latin typeface="Arial" panose="020B0604020202020204"/>
              </a:rPr>
              <a:t>  7%	Tier 3</a:t>
            </a:r>
          </a:p>
        </p:txBody>
      </p:sp>
      <p:sp>
        <p:nvSpPr>
          <p:cNvPr id="25" name="TextBox 24">
            <a:extLst>
              <a:ext uri="{FF2B5EF4-FFF2-40B4-BE49-F238E27FC236}">
                <a16:creationId xmlns:a16="http://schemas.microsoft.com/office/drawing/2014/main" id="{A4877390-1490-8DC9-6475-B6C69C22DBF7}"/>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pic>
        <p:nvPicPr>
          <p:cNvPr id="10" name="Google Shape;53;p7">
            <a:extLst>
              <a:ext uri="{FF2B5EF4-FFF2-40B4-BE49-F238E27FC236}">
                <a16:creationId xmlns:a16="http://schemas.microsoft.com/office/drawing/2014/main" id="{51161A47-712C-3D52-CB5C-1A4EE3A5E0B3}"/>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rcRect t="787" b="787"/>
          <a:stretch/>
        </p:blipFill>
        <p:spPr bwMode="gray">
          <a:xfrm>
            <a:off x="4619090" y="5076576"/>
            <a:ext cx="1191421" cy="484453"/>
          </a:xfrm>
          <a:prstGeom prst="rect">
            <a:avLst/>
          </a:prstGeom>
          <a:solidFill>
            <a:schemeClr val="bg1"/>
          </a:solidFill>
          <a:ln>
            <a:noFill/>
          </a:ln>
        </p:spPr>
      </p:pic>
      <p:sp>
        <p:nvSpPr>
          <p:cNvPr id="18" name="TextBox 17">
            <a:extLst>
              <a:ext uri="{FF2B5EF4-FFF2-40B4-BE49-F238E27FC236}">
                <a16:creationId xmlns:a16="http://schemas.microsoft.com/office/drawing/2014/main" id="{DE6DBEA6-FBD1-37AD-0815-13230A5AA49C}"/>
              </a:ext>
            </a:extLst>
          </p:cNvPr>
          <p:cNvSpPr txBox="1"/>
          <p:nvPr/>
        </p:nvSpPr>
        <p:spPr bwMode="gray">
          <a:xfrm>
            <a:off x="5264480" y="4629146"/>
            <a:ext cx="686804" cy="332312"/>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defRPr/>
            </a:pPr>
            <a:r>
              <a:rPr lang="en-US" sz="900">
                <a:solidFill>
                  <a:srgbClr val="000000">
                    <a:lumMod val="50000"/>
                    <a:lumOff val="50000"/>
                  </a:srgbClr>
                </a:solidFill>
                <a:latin typeface="Arial" panose="020B0604020202020204"/>
              </a:rPr>
              <a:t>33% PED &gt; </a:t>
            </a:r>
          </a:p>
          <a:p>
            <a:pPr>
              <a:defRPr/>
            </a:pPr>
            <a:r>
              <a:rPr lang="en-US" sz="900">
                <a:solidFill>
                  <a:srgbClr val="000000">
                    <a:lumMod val="50000"/>
                    <a:lumOff val="50000"/>
                  </a:srgbClr>
                </a:solidFill>
                <a:latin typeface="Arial" panose="020B0604020202020204"/>
              </a:rPr>
              <a:t>15% PCP</a:t>
            </a:r>
          </a:p>
        </p:txBody>
      </p:sp>
      <p:sp>
        <p:nvSpPr>
          <p:cNvPr id="19" name="TextBox 18">
            <a:extLst>
              <a:ext uri="{FF2B5EF4-FFF2-40B4-BE49-F238E27FC236}">
                <a16:creationId xmlns:a16="http://schemas.microsoft.com/office/drawing/2014/main" id="{B92C2520-86B2-90F9-D486-C7FCE1D69910}"/>
              </a:ext>
            </a:extLst>
          </p:cNvPr>
          <p:cNvSpPr txBox="1"/>
          <p:nvPr/>
        </p:nvSpPr>
        <p:spPr bwMode="gray">
          <a:xfrm>
            <a:off x="4821718" y="3397837"/>
            <a:ext cx="786164" cy="470775"/>
          </a:xfrm>
          <a:prstGeom prst="rect">
            <a:avLst/>
          </a:prstGeom>
          <a:solidFill>
            <a:schemeClr val="bg1"/>
          </a:solidFill>
          <a:ln w="6350">
            <a:solidFill>
              <a:schemeClr val="tx1">
                <a:lumMod val="50000"/>
                <a:lumOff val="50000"/>
              </a:schemeClr>
            </a:solidFill>
            <a:prstDash val="solid"/>
          </a:ln>
        </p:spPr>
        <p:txBody>
          <a:bodyPr wrap="none" lIns="27425" tIns="27425" rIns="27425" bIns="27425" rtlCol="0" anchor="ctr" anchorCtr="0">
            <a:spAutoFit/>
          </a:bodyPr>
          <a:lstStyle/>
          <a:p>
            <a:pPr marL="399930" indent="-399930" defTabSz="913852">
              <a:defRPr/>
            </a:pPr>
            <a:r>
              <a:rPr lang="en-US" sz="900">
                <a:solidFill>
                  <a:srgbClr val="000000">
                    <a:lumMod val="50000"/>
                    <a:lumOff val="50000"/>
                  </a:srgbClr>
                </a:solidFill>
                <a:latin typeface="Arial" panose="020B0604020202020204"/>
              </a:rPr>
              <a:t>34%</a:t>
            </a:r>
            <a:r>
              <a:rPr lang="en-US" sz="900" baseline="30000">
                <a:solidFill>
                  <a:srgbClr val="000000">
                    <a:lumMod val="50000"/>
                    <a:lumOff val="50000"/>
                  </a:srgbClr>
                </a:solidFill>
                <a:latin typeface="Arial" panose="020B0604020202020204"/>
              </a:rPr>
              <a:t>3	</a:t>
            </a:r>
            <a:r>
              <a:rPr lang="en-US" sz="900">
                <a:solidFill>
                  <a:srgbClr val="000000">
                    <a:lumMod val="50000"/>
                    <a:lumOff val="50000"/>
                  </a:srgbClr>
                </a:solidFill>
                <a:latin typeface="Arial" panose="020B0604020202020204"/>
              </a:rPr>
              <a:t>Tier 1</a:t>
            </a:r>
          </a:p>
          <a:p>
            <a:pPr marL="399930" indent="-399930" defTabSz="913852">
              <a:defRPr/>
            </a:pPr>
            <a:r>
              <a:rPr lang="en-US" sz="900">
                <a:solidFill>
                  <a:srgbClr val="000000">
                    <a:lumMod val="50000"/>
                    <a:lumOff val="50000"/>
                  </a:srgbClr>
                </a:solidFill>
                <a:latin typeface="Arial" panose="020B0604020202020204"/>
              </a:rPr>
              <a:t>28%	Tier 2 </a:t>
            </a:r>
          </a:p>
          <a:p>
            <a:pPr marL="399930" indent="-399930" defTabSz="913852">
              <a:defRPr/>
            </a:pPr>
            <a:r>
              <a:rPr lang="en-US" sz="900">
                <a:solidFill>
                  <a:srgbClr val="000000">
                    <a:lumMod val="50000"/>
                    <a:lumOff val="50000"/>
                  </a:srgbClr>
                </a:solidFill>
                <a:latin typeface="Arial" panose="020B0604020202020204"/>
              </a:rPr>
              <a:t>10%</a:t>
            </a:r>
            <a:r>
              <a:rPr lang="en-US" altLang="en-US" sz="900">
                <a:solidFill>
                  <a:srgbClr val="FF0000"/>
                </a:solidFill>
                <a:latin typeface="Arial" panose="020B0604020202020204"/>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Tier 3</a:t>
            </a:r>
          </a:p>
        </p:txBody>
      </p:sp>
    </p:spTree>
    <p:extLst>
      <p:ext uri="{BB962C8B-B14F-4D97-AF65-F5344CB8AC3E}">
        <p14:creationId xmlns:p14="http://schemas.microsoft.com/office/powerpoint/2010/main" val="120608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A1C52-9D27-3BC8-A939-1B008E3D8584}"/>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44CE6194-0F25-5B8C-A0A2-1B5C44CAA29B}"/>
              </a:ext>
            </a:extLst>
          </p:cNvPr>
          <p:cNvGrpSpPr/>
          <p:nvPr/>
        </p:nvGrpSpPr>
        <p:grpSpPr>
          <a:xfrm>
            <a:off x="4334715" y="1552485"/>
            <a:ext cx="420514" cy="420514"/>
            <a:chOff x="1119929" y="943834"/>
            <a:chExt cx="846331" cy="784203"/>
          </a:xfrm>
        </p:grpSpPr>
        <p:pic>
          <p:nvPicPr>
            <p:cNvPr id="30" name="Picture 6" descr="143,700+ Mouth Icon Illustrations, Royalty-Free Vector Graphics &amp; Clip Art  - iStock | Open mouth icon, Word of mouth icon, Cover mouth icon">
              <a:extLst>
                <a:ext uri="{FF2B5EF4-FFF2-40B4-BE49-F238E27FC236}">
                  <a16:creationId xmlns:a16="http://schemas.microsoft.com/office/drawing/2014/main" id="{B4823CF6-223F-E8DF-23BD-150E06617136}"/>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Rounded Corners 30">
              <a:extLst>
                <a:ext uri="{FF2B5EF4-FFF2-40B4-BE49-F238E27FC236}">
                  <a16:creationId xmlns:a16="http://schemas.microsoft.com/office/drawing/2014/main" id="{DB4DBB86-C937-8F1B-6DF9-ECA0393471CD}"/>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
        <p:nvSpPr>
          <p:cNvPr id="2" name="Rectangle: Rounded Corners 1">
            <a:extLst>
              <a:ext uri="{FF2B5EF4-FFF2-40B4-BE49-F238E27FC236}">
                <a16:creationId xmlns:a16="http://schemas.microsoft.com/office/drawing/2014/main" id="{3808209A-FB65-ADB7-F262-F5715F727821}"/>
              </a:ext>
            </a:extLst>
          </p:cNvPr>
          <p:cNvSpPr/>
          <p:nvPr/>
        </p:nvSpPr>
        <p:spPr bwMode="gray">
          <a:xfrm>
            <a:off x="952341" y="1543773"/>
            <a:ext cx="10303594" cy="424681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3" name="Title 2">
            <a:extLst>
              <a:ext uri="{FF2B5EF4-FFF2-40B4-BE49-F238E27FC236}">
                <a16:creationId xmlns:a16="http://schemas.microsoft.com/office/drawing/2014/main" id="{A6703B69-5A77-4636-60D7-87AE08D91451}"/>
              </a:ext>
            </a:extLst>
          </p:cNvPr>
          <p:cNvSpPr>
            <a:spLocks noGrp="1"/>
          </p:cNvSpPr>
          <p:nvPr>
            <p:ph type="title"/>
          </p:nvPr>
        </p:nvSpPr>
        <p:spPr>
          <a:xfrm>
            <a:off x="1143413" y="171155"/>
            <a:ext cx="10721305" cy="850171"/>
          </a:xfrm>
        </p:spPr>
        <p:txBody>
          <a:bodyPr/>
          <a:lstStyle/>
          <a:p>
            <a:r>
              <a:rPr lang="en-US" u="sng" dirty="0"/>
              <a:t>Unaided</a:t>
            </a:r>
            <a:r>
              <a:rPr lang="en-US" dirty="0"/>
              <a:t>, nearly half of HCPs (46%) are aware that a pentavalent Vx is under development or recently launched for meningococcal disease; </a:t>
            </a:r>
            <a:r>
              <a:rPr lang="en-US" b="1" dirty="0"/>
              <a:t>Penbraya is </a:t>
            </a:r>
            <a:r>
              <a:rPr lang="en-US" dirty="0"/>
              <a:t>mentioned most often, despite a decrease this wave (driven by PEDs and Tier 1)</a:t>
            </a:r>
          </a:p>
        </p:txBody>
      </p:sp>
      <p:sp>
        <p:nvSpPr>
          <p:cNvPr id="7" name="Text Placeholder 6">
            <a:extLst>
              <a:ext uri="{FF2B5EF4-FFF2-40B4-BE49-F238E27FC236}">
                <a16:creationId xmlns:a16="http://schemas.microsoft.com/office/drawing/2014/main" id="{3EE01EC8-C42F-08C9-F042-AC6897704146}"/>
              </a:ext>
            </a:extLst>
          </p:cNvPr>
          <p:cNvSpPr>
            <a:spLocks noGrp="1"/>
          </p:cNvSpPr>
          <p:nvPr>
            <p:ph type="body" sz="quarter" idx="16"/>
          </p:nvPr>
        </p:nvSpPr>
        <p:spPr>
          <a:xfrm>
            <a:off x="1572803" y="6413607"/>
            <a:ext cx="9236844" cy="330261"/>
          </a:xfrm>
        </p:spPr>
        <p:txBody>
          <a:bodyPr/>
          <a:lstStyle/>
          <a:p>
            <a:pPr defTabSz="913030">
              <a:buClr>
                <a:srgbClr val="E7E6E6"/>
              </a:buClr>
              <a:buSzPct val="85000"/>
              <a:defRPr/>
            </a:pP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a:t>
            </a:r>
          </a:p>
          <a:p>
            <a:r>
              <a:rPr lang="en-US"/>
              <a:t>C2. In the text boxes below please type vaccines you are aware of, if any, that are in development or were recently launched for the prevention of Meningococcal disease.</a:t>
            </a:r>
          </a:p>
        </p:txBody>
      </p:sp>
      <p:sp>
        <p:nvSpPr>
          <p:cNvPr id="18" name="TextBox 17">
            <a:extLst>
              <a:ext uri="{FF2B5EF4-FFF2-40B4-BE49-F238E27FC236}">
                <a16:creationId xmlns:a16="http://schemas.microsoft.com/office/drawing/2014/main" id="{98D29825-AF25-9BDD-60A2-E1ED4AD1C88C}"/>
              </a:ext>
            </a:extLst>
          </p:cNvPr>
          <p:cNvSpPr txBox="1"/>
          <p:nvPr/>
        </p:nvSpPr>
        <p:spPr bwMode="gray">
          <a:xfrm>
            <a:off x="3651537" y="1653931"/>
            <a:ext cx="4885751" cy="863601"/>
          </a:xfrm>
          <a:prstGeom prst="rect">
            <a:avLst/>
          </a:prstGeom>
        </p:spPr>
        <p:txBody>
          <a:bodyPr wrap="squar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Unaided Awareness of </a:t>
            </a:r>
            <a:br>
              <a:rPr lang="en-US" sz="1799" b="1">
                <a:solidFill>
                  <a:srgbClr val="0000C9"/>
                </a:solidFill>
                <a:latin typeface="Arial" panose="020B0604020202020204"/>
              </a:rPr>
            </a:br>
            <a:r>
              <a:rPr lang="en-US" sz="1799" b="1" u="sng">
                <a:solidFill>
                  <a:srgbClr val="0000C9"/>
                </a:solidFill>
                <a:latin typeface="Arial" panose="020B0604020202020204"/>
              </a:rPr>
              <a:t>Meningococcal Vaccines</a:t>
            </a:r>
          </a:p>
          <a:p>
            <a:pPr algn="ctr">
              <a:lnSpc>
                <a:spcPct val="90000"/>
              </a:lnSpc>
              <a:spcAft>
                <a:spcPts val="400"/>
              </a:spcAft>
              <a:defRPr/>
            </a:pPr>
            <a:r>
              <a:rPr lang="en-US" sz="1600">
                <a:solidFill>
                  <a:srgbClr val="0000C9"/>
                </a:solidFill>
                <a:latin typeface="Arial" panose="020B0604020202020204"/>
              </a:rPr>
              <a:t>(under development or recently launched)</a:t>
            </a:r>
            <a:endParaRPr lang="en-US" sz="1799" b="1">
              <a:solidFill>
                <a:srgbClr val="0000C9"/>
              </a:solidFill>
              <a:highlight>
                <a:srgbClr val="00FF00"/>
              </a:highlight>
              <a:latin typeface="Arial" panose="020B0604020202020204"/>
            </a:endParaRPr>
          </a:p>
        </p:txBody>
      </p:sp>
      <p:grpSp>
        <p:nvGrpSpPr>
          <p:cNvPr id="10" name="Group 9">
            <a:extLst>
              <a:ext uri="{FF2B5EF4-FFF2-40B4-BE49-F238E27FC236}">
                <a16:creationId xmlns:a16="http://schemas.microsoft.com/office/drawing/2014/main" id="{864EADED-A089-AB74-0A4E-9490AD3DFA6B}"/>
              </a:ext>
            </a:extLst>
          </p:cNvPr>
          <p:cNvGrpSpPr/>
          <p:nvPr/>
        </p:nvGrpSpPr>
        <p:grpSpPr>
          <a:xfrm>
            <a:off x="1075032" y="1600795"/>
            <a:ext cx="650010" cy="538982"/>
            <a:chOff x="1686341" y="1600319"/>
            <a:chExt cx="650179" cy="539122"/>
          </a:xfrm>
        </p:grpSpPr>
        <p:cxnSp>
          <p:nvCxnSpPr>
            <p:cNvPr id="11" name="Straight Connector 10">
              <a:extLst>
                <a:ext uri="{FF2B5EF4-FFF2-40B4-BE49-F238E27FC236}">
                  <a16:creationId xmlns:a16="http://schemas.microsoft.com/office/drawing/2014/main" id="{ADE77FC5-6FB8-3D0B-082B-1CC4861D5371}"/>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2" name="TextBox 11">
              <a:extLst>
                <a:ext uri="{FF2B5EF4-FFF2-40B4-BE49-F238E27FC236}">
                  <a16:creationId xmlns:a16="http://schemas.microsoft.com/office/drawing/2014/main" id="{2FE415C5-94D5-5648-6486-34CCD5321D88}"/>
                </a:ext>
              </a:extLst>
            </p:cNvPr>
            <p:cNvSpPr txBox="1"/>
            <p:nvPr/>
          </p:nvSpPr>
          <p:spPr bwMode="gray">
            <a:xfrm>
              <a:off x="1686341" y="1600319"/>
              <a:ext cx="650179" cy="53912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a:p>
              <a:pPr algn="ctr">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13" name="TextBox 12">
            <a:extLst>
              <a:ext uri="{FF2B5EF4-FFF2-40B4-BE49-F238E27FC236}">
                <a16:creationId xmlns:a16="http://schemas.microsoft.com/office/drawing/2014/main" id="{504ED743-7DE2-5852-68F5-5E49076E74B7}"/>
              </a:ext>
            </a:extLst>
          </p:cNvPr>
          <p:cNvSpPr txBox="1"/>
          <p:nvPr/>
        </p:nvSpPr>
        <p:spPr bwMode="gray">
          <a:xfrm>
            <a:off x="987080" y="1310100"/>
            <a:ext cx="825909" cy="338466"/>
          </a:xfrm>
          <a:prstGeom prst="rect">
            <a:avLst/>
          </a:prstGeom>
          <a:noFill/>
        </p:spPr>
        <p:txBody>
          <a:bodyPr wrap="none">
            <a:spAutoFit/>
          </a:bodyPr>
          <a:lstStyle/>
          <a:p>
            <a:pPr>
              <a:defRPr/>
            </a:pPr>
            <a:r>
              <a:rPr lang="en-US" sz="1600">
                <a:solidFill>
                  <a:srgbClr val="000000"/>
                </a:solidFill>
                <a:latin typeface="Arial" panose="020B0604020202020204"/>
              </a:rPr>
              <a:t>TOTAL</a:t>
            </a:r>
          </a:p>
        </p:txBody>
      </p:sp>
      <p:grpSp>
        <p:nvGrpSpPr>
          <p:cNvPr id="4" name="Group 3">
            <a:extLst>
              <a:ext uri="{FF2B5EF4-FFF2-40B4-BE49-F238E27FC236}">
                <a16:creationId xmlns:a16="http://schemas.microsoft.com/office/drawing/2014/main" id="{F61BA950-1779-C9E4-8937-1237820E3B88}"/>
              </a:ext>
            </a:extLst>
          </p:cNvPr>
          <p:cNvGrpSpPr/>
          <p:nvPr/>
        </p:nvGrpSpPr>
        <p:grpSpPr>
          <a:xfrm>
            <a:off x="5912374" y="1436875"/>
            <a:ext cx="182040" cy="182832"/>
            <a:chOff x="2132012" y="1676400"/>
            <a:chExt cx="182087" cy="182880"/>
          </a:xfrm>
        </p:grpSpPr>
        <p:sp>
          <p:nvSpPr>
            <p:cNvPr id="5" name="Oval 4">
              <a:extLst>
                <a:ext uri="{FF2B5EF4-FFF2-40B4-BE49-F238E27FC236}">
                  <a16:creationId xmlns:a16="http://schemas.microsoft.com/office/drawing/2014/main" id="{AFD69607-A936-4D5C-1E03-6767FC0C8310}"/>
                </a:ext>
              </a:extLst>
            </p:cNvPr>
            <p:cNvSpPr/>
            <p:nvPr/>
          </p:nvSpPr>
          <p:spPr bwMode="gray">
            <a:xfrm>
              <a:off x="2132012" y="1676400"/>
              <a:ext cx="182087" cy="182880"/>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6" name="Star: 5 Points 5">
              <a:extLst>
                <a:ext uri="{FF2B5EF4-FFF2-40B4-BE49-F238E27FC236}">
                  <a16:creationId xmlns:a16="http://schemas.microsoft.com/office/drawing/2014/main" id="{4B4DE993-5C9C-258A-20A7-9E3A12B5CA51}"/>
                </a:ext>
              </a:extLst>
            </p:cNvPr>
            <p:cNvSpPr/>
            <p:nvPr/>
          </p:nvSpPr>
          <p:spPr bwMode="gray">
            <a:xfrm>
              <a:off x="2150221" y="1692671"/>
              <a:ext cx="145670" cy="143942"/>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sp>
        <p:nvSpPr>
          <p:cNvPr id="21" name="TextBox 20">
            <a:extLst>
              <a:ext uri="{FF2B5EF4-FFF2-40B4-BE49-F238E27FC236}">
                <a16:creationId xmlns:a16="http://schemas.microsoft.com/office/drawing/2014/main" id="{71C6EA74-4079-FB78-8DEF-42050C9C6F51}"/>
              </a:ext>
            </a:extLst>
          </p:cNvPr>
          <p:cNvSpPr txBox="1"/>
          <p:nvPr/>
        </p:nvSpPr>
        <p:spPr bwMode="gray">
          <a:xfrm>
            <a:off x="9831353" y="4294657"/>
            <a:ext cx="654752" cy="332312"/>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defPPr>
              <a:defRPr lang="en-US"/>
            </a:defPPr>
            <a:lvl1pPr>
              <a:defRPr sz="900">
                <a:solidFill>
                  <a:srgbClr val="000000">
                    <a:lumMod val="50000"/>
                    <a:lumOff val="50000"/>
                  </a:srgbClr>
                </a:solidFill>
                <a:latin typeface="Arial" panose="020B0604020202020204"/>
              </a:defRPr>
            </a:lvl1pPr>
          </a:lstStyle>
          <a:p>
            <a:r>
              <a:rPr lang="en-US"/>
              <a:t>34% PED &lt;</a:t>
            </a:r>
          </a:p>
          <a:p>
            <a:r>
              <a:rPr lang="en-US"/>
              <a:t>68% PCP </a:t>
            </a:r>
          </a:p>
        </p:txBody>
      </p:sp>
      <p:sp>
        <p:nvSpPr>
          <p:cNvPr id="32" name="TextBox 31">
            <a:extLst>
              <a:ext uri="{FF2B5EF4-FFF2-40B4-BE49-F238E27FC236}">
                <a16:creationId xmlns:a16="http://schemas.microsoft.com/office/drawing/2014/main" id="{6020F325-7296-AAE3-F283-5768D66BD9E6}"/>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pic>
        <p:nvPicPr>
          <p:cNvPr id="17" name="Picture 16">
            <a:extLst>
              <a:ext uri="{FF2B5EF4-FFF2-40B4-BE49-F238E27FC236}">
                <a16:creationId xmlns:a16="http://schemas.microsoft.com/office/drawing/2014/main" id="{F41840A9-AAFD-1A31-EA64-FED7C9357AAF}"/>
              </a:ext>
            </a:extLst>
          </p:cNvPr>
          <p:cNvPicPr>
            <a:picLocks noChangeAspect="1"/>
          </p:cNvPicPr>
          <p:nvPr/>
        </p:nvPicPr>
        <p:blipFill>
          <a:blip r:embed="rId4"/>
          <a:stretch>
            <a:fillRect/>
          </a:stretch>
        </p:blipFill>
        <p:spPr>
          <a:xfrm>
            <a:off x="3489903" y="5112056"/>
            <a:ext cx="1493268" cy="264764"/>
          </a:xfrm>
          <a:prstGeom prst="rect">
            <a:avLst/>
          </a:prstGeom>
          <a:solidFill>
            <a:schemeClr val="bg1"/>
          </a:solidFill>
        </p:spPr>
      </p:pic>
      <p:pic>
        <p:nvPicPr>
          <p:cNvPr id="24" name="Picture 23" descr="A close up of a sign&#10;&#10;AI-generated content may be incorrect.">
            <a:extLst>
              <a:ext uri="{FF2B5EF4-FFF2-40B4-BE49-F238E27FC236}">
                <a16:creationId xmlns:a16="http://schemas.microsoft.com/office/drawing/2014/main" id="{89BCC2B7-9089-D996-6EAD-07D33C458468}"/>
              </a:ext>
            </a:extLst>
          </p:cNvPr>
          <p:cNvPicPr>
            <a:picLocks noChangeAspect="1"/>
          </p:cNvPicPr>
          <p:nvPr/>
        </p:nvPicPr>
        <p:blipFill>
          <a:blip r:embed="rId5"/>
          <a:stretch>
            <a:fillRect/>
          </a:stretch>
        </p:blipFill>
        <p:spPr>
          <a:xfrm>
            <a:off x="5401451" y="5112056"/>
            <a:ext cx="1071724" cy="343308"/>
          </a:xfrm>
          <a:prstGeom prst="rect">
            <a:avLst/>
          </a:prstGeom>
          <a:solidFill>
            <a:schemeClr val="bg1"/>
          </a:solidFill>
        </p:spPr>
      </p:pic>
      <p:graphicFrame>
        <p:nvGraphicFramePr>
          <p:cNvPr id="8" name="Chart 7">
            <a:extLst>
              <a:ext uri="{FF2B5EF4-FFF2-40B4-BE49-F238E27FC236}">
                <a16:creationId xmlns:a16="http://schemas.microsoft.com/office/drawing/2014/main" id="{1B43B20F-AF2B-337B-F660-E78005B85BA3}"/>
              </a:ext>
            </a:extLst>
          </p:cNvPr>
          <p:cNvGraphicFramePr/>
          <p:nvPr>
            <p:extLst>
              <p:ext uri="{D42A27DB-BD31-4B8C-83A1-F6EECF244321}">
                <p14:modId xmlns:p14="http://schemas.microsoft.com/office/powerpoint/2010/main" val="2134868470"/>
              </p:ext>
            </p:extLst>
          </p:nvPr>
        </p:nvGraphicFramePr>
        <p:xfrm>
          <a:off x="3218631" y="2101503"/>
          <a:ext cx="7220226" cy="3201770"/>
        </p:xfrm>
        <a:graphic>
          <a:graphicData uri="http://schemas.openxmlformats.org/drawingml/2006/chart">
            <c:chart xmlns:c="http://schemas.openxmlformats.org/drawingml/2006/chart" xmlns:r="http://schemas.openxmlformats.org/officeDocument/2006/relationships" r:id="rId6"/>
          </a:graphicData>
        </a:graphic>
      </p:graphicFrame>
      <p:sp>
        <p:nvSpPr>
          <p:cNvPr id="14" name="TextBox 13">
            <a:extLst>
              <a:ext uri="{FF2B5EF4-FFF2-40B4-BE49-F238E27FC236}">
                <a16:creationId xmlns:a16="http://schemas.microsoft.com/office/drawing/2014/main" id="{036EF010-7219-9904-76E1-BEFA644EA922}"/>
              </a:ext>
            </a:extLst>
          </p:cNvPr>
          <p:cNvSpPr txBox="1"/>
          <p:nvPr/>
        </p:nvSpPr>
        <p:spPr bwMode="gray">
          <a:xfrm>
            <a:off x="7240943" y="5112056"/>
            <a:ext cx="954500" cy="424621"/>
          </a:xfrm>
          <a:prstGeom prst="rect">
            <a:avLst/>
          </a:prstGeom>
          <a:noFill/>
        </p:spPr>
        <p:txBody>
          <a:bodyPr wrap="none" lIns="45708" tIns="45708" rIns="45708" bIns="45708" rtlCol="0">
            <a:spAutoFit/>
          </a:bodyPr>
          <a:lstStyle/>
          <a:p>
            <a:pPr algn="ctr" defTabSz="914126">
              <a:lnSpc>
                <a:spcPct val="90000"/>
              </a:lnSpc>
              <a:spcAft>
                <a:spcPts val="400"/>
              </a:spcAft>
            </a:pPr>
            <a:r>
              <a:rPr lang="en-US" sz="1200">
                <a:latin typeface="Arial" panose="020B0604020202020204"/>
              </a:rPr>
              <a:t>Pentavalent/</a:t>
            </a:r>
            <a:br>
              <a:rPr lang="en-US" sz="1200">
                <a:latin typeface="Arial" panose="020B0604020202020204"/>
              </a:rPr>
            </a:br>
            <a:r>
              <a:rPr lang="en-US" sz="1200">
                <a:latin typeface="Arial" panose="020B0604020202020204"/>
              </a:rPr>
              <a:t>MenABCWY</a:t>
            </a:r>
          </a:p>
        </p:txBody>
      </p:sp>
      <p:sp>
        <p:nvSpPr>
          <p:cNvPr id="16" name="TextBox 15">
            <a:extLst>
              <a:ext uri="{FF2B5EF4-FFF2-40B4-BE49-F238E27FC236}">
                <a16:creationId xmlns:a16="http://schemas.microsoft.com/office/drawing/2014/main" id="{A715367B-A26D-DFB7-D704-AB3297EED430}"/>
              </a:ext>
            </a:extLst>
          </p:cNvPr>
          <p:cNvSpPr txBox="1"/>
          <p:nvPr/>
        </p:nvSpPr>
        <p:spPr bwMode="gray">
          <a:xfrm>
            <a:off x="9199147" y="5112055"/>
            <a:ext cx="457700" cy="258465"/>
          </a:xfrm>
          <a:prstGeom prst="rect">
            <a:avLst/>
          </a:prstGeom>
          <a:noFill/>
        </p:spPr>
        <p:txBody>
          <a:bodyPr wrap="none" lIns="45708" tIns="45708" rIns="45708" bIns="45708" rtlCol="0">
            <a:spAutoFit/>
          </a:bodyPr>
          <a:lstStyle/>
          <a:p>
            <a:pPr algn="ctr" defTabSz="914126">
              <a:lnSpc>
                <a:spcPct val="90000"/>
              </a:lnSpc>
              <a:spcAft>
                <a:spcPts val="400"/>
              </a:spcAft>
            </a:pPr>
            <a:r>
              <a:rPr lang="en-US" sz="1200">
                <a:latin typeface="Arial" panose="020B0604020202020204"/>
              </a:rPr>
              <a:t>None</a:t>
            </a:r>
          </a:p>
        </p:txBody>
      </p:sp>
      <p:sp>
        <p:nvSpPr>
          <p:cNvPr id="22" name="TextBox 21">
            <a:extLst>
              <a:ext uri="{FF2B5EF4-FFF2-40B4-BE49-F238E27FC236}">
                <a16:creationId xmlns:a16="http://schemas.microsoft.com/office/drawing/2014/main" id="{3AD17BE5-EEE1-9BDE-3BFF-EE7E1422384A}"/>
              </a:ext>
            </a:extLst>
          </p:cNvPr>
          <p:cNvSpPr txBox="1"/>
          <p:nvPr/>
        </p:nvSpPr>
        <p:spPr bwMode="gray">
          <a:xfrm>
            <a:off x="3049828" y="4468197"/>
            <a:ext cx="755898" cy="332385"/>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defRPr/>
            </a:pPr>
            <a:r>
              <a:rPr lang="en-US" sz="900">
                <a:solidFill>
                  <a:srgbClr val="000000">
                    <a:lumMod val="50000"/>
                    <a:lumOff val="50000"/>
                  </a:srgbClr>
                </a:solidFill>
                <a:latin typeface="Arial" panose="020B0604020202020204"/>
              </a:rPr>
              <a:t>31%</a:t>
            </a:r>
            <a:r>
              <a:rPr lang="en-US" altLang="en-US" sz="900">
                <a:solidFill>
                  <a:srgbClr val="FF0000"/>
                </a:solidFill>
                <a:latin typeface="Arial" panose="020B0604020202020204"/>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PED &gt;</a:t>
            </a:r>
          </a:p>
          <a:p>
            <a:pPr>
              <a:defRPr/>
            </a:pPr>
            <a:r>
              <a:rPr lang="en-US" sz="900">
                <a:solidFill>
                  <a:srgbClr val="000000">
                    <a:lumMod val="50000"/>
                    <a:lumOff val="50000"/>
                  </a:srgbClr>
                </a:solidFill>
                <a:latin typeface="Arial" panose="020B0604020202020204"/>
              </a:rPr>
              <a:t>  8%    PCP </a:t>
            </a:r>
          </a:p>
        </p:txBody>
      </p:sp>
      <p:sp>
        <p:nvSpPr>
          <p:cNvPr id="35" name="Rectangle 34">
            <a:extLst>
              <a:ext uri="{FF2B5EF4-FFF2-40B4-BE49-F238E27FC236}">
                <a16:creationId xmlns:a16="http://schemas.microsoft.com/office/drawing/2014/main" id="{DED01436-BFF7-6D62-3692-6709353A57A7}"/>
              </a:ext>
            </a:extLst>
          </p:cNvPr>
          <p:cNvSpPr/>
          <p:nvPr/>
        </p:nvSpPr>
        <p:spPr bwMode="gray">
          <a:xfrm>
            <a:off x="2774375" y="3163949"/>
            <a:ext cx="5841864" cy="2447140"/>
          </a:xfrm>
          <a:prstGeom prst="rect">
            <a:avLst/>
          </a:prstGeom>
          <a:noFill/>
          <a:ln w="19050" cap="flat" cmpd="sng" algn="ctr">
            <a:solidFill>
              <a:schemeClr val="tx1"/>
            </a:solidFill>
            <a:prstDash val="dash"/>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36" name="TextBox 35">
            <a:extLst>
              <a:ext uri="{FF2B5EF4-FFF2-40B4-BE49-F238E27FC236}">
                <a16:creationId xmlns:a16="http://schemas.microsoft.com/office/drawing/2014/main" id="{55FAB423-1A37-4ED3-F882-FAFB02DE29A7}"/>
              </a:ext>
            </a:extLst>
          </p:cNvPr>
          <p:cNvSpPr txBox="1"/>
          <p:nvPr/>
        </p:nvSpPr>
        <p:spPr bwMode="gray">
          <a:xfrm>
            <a:off x="4290794" y="2996830"/>
            <a:ext cx="2276633" cy="313850"/>
          </a:xfrm>
          <a:prstGeom prst="rect">
            <a:avLst/>
          </a:prstGeom>
          <a:solidFill>
            <a:schemeClr val="bg1"/>
          </a:solidFill>
        </p:spPr>
        <p:txBody>
          <a:bodyPr wrap="none" lIns="45708" tIns="45708" rIns="45708" bIns="45708" rtlCol="0">
            <a:spAutoFit/>
          </a:bodyPr>
          <a:lstStyle/>
          <a:p>
            <a:pPr defTabSz="914126">
              <a:lnSpc>
                <a:spcPct val="90000"/>
              </a:lnSpc>
              <a:spcBef>
                <a:spcPts val="1000"/>
              </a:spcBef>
              <a:defRPr/>
            </a:pPr>
            <a:r>
              <a:rPr lang="en-US" sz="1600" b="1">
                <a:latin typeface="Arial" panose="020B0604020202020204"/>
              </a:rPr>
              <a:t>Pentavalent Net = 46%</a:t>
            </a:r>
          </a:p>
        </p:txBody>
      </p:sp>
      <p:sp>
        <p:nvSpPr>
          <p:cNvPr id="15" name="TextBox 14">
            <a:extLst>
              <a:ext uri="{FF2B5EF4-FFF2-40B4-BE49-F238E27FC236}">
                <a16:creationId xmlns:a16="http://schemas.microsoft.com/office/drawing/2014/main" id="{811A5B4F-C223-086C-65CE-7AE6BBF847D5}"/>
              </a:ext>
            </a:extLst>
          </p:cNvPr>
          <p:cNvSpPr txBox="1"/>
          <p:nvPr/>
        </p:nvSpPr>
        <p:spPr bwMode="gray">
          <a:xfrm>
            <a:off x="6546416" y="2971382"/>
            <a:ext cx="686804" cy="332312"/>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defRPr/>
            </a:pPr>
            <a:r>
              <a:rPr lang="en-US" sz="900">
                <a:solidFill>
                  <a:srgbClr val="000000">
                    <a:lumMod val="50000"/>
                    <a:lumOff val="50000"/>
                  </a:srgbClr>
                </a:solidFill>
                <a:latin typeface="Arial" panose="020B0604020202020204"/>
              </a:rPr>
              <a:t>52%</a:t>
            </a:r>
            <a:r>
              <a:rPr lang="en-US" altLang="en-US" sz="900">
                <a:solidFill>
                  <a:srgbClr val="FF0000"/>
                </a:solidFill>
                <a:latin typeface="Arial" panose="020B0604020202020204"/>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PED &gt;</a:t>
            </a:r>
          </a:p>
          <a:p>
            <a:pPr>
              <a:defRPr/>
            </a:pPr>
            <a:r>
              <a:rPr lang="en-US" sz="900">
                <a:solidFill>
                  <a:srgbClr val="000000">
                    <a:lumMod val="50000"/>
                    <a:lumOff val="50000"/>
                  </a:srgbClr>
                </a:solidFill>
                <a:latin typeface="Arial" panose="020B0604020202020204"/>
              </a:rPr>
              <a:t>20%  PCP </a:t>
            </a:r>
          </a:p>
        </p:txBody>
      </p:sp>
      <p:sp>
        <p:nvSpPr>
          <p:cNvPr id="9" name="TextBox 8">
            <a:extLst>
              <a:ext uri="{FF2B5EF4-FFF2-40B4-BE49-F238E27FC236}">
                <a16:creationId xmlns:a16="http://schemas.microsoft.com/office/drawing/2014/main" id="{5BCE3130-9D01-2F90-46CF-FB4C33CC0494}"/>
              </a:ext>
            </a:extLst>
          </p:cNvPr>
          <p:cNvSpPr txBox="1"/>
          <p:nvPr/>
        </p:nvSpPr>
        <p:spPr bwMode="gray">
          <a:xfrm>
            <a:off x="3049828" y="3942422"/>
            <a:ext cx="731853" cy="470884"/>
          </a:xfrm>
          <a:prstGeom prst="rect">
            <a:avLst/>
          </a:prstGeom>
          <a:solidFill>
            <a:schemeClr val="bg1"/>
          </a:solidFill>
          <a:ln w="6350">
            <a:solidFill>
              <a:schemeClr val="tx1">
                <a:lumMod val="50000"/>
                <a:lumOff val="50000"/>
              </a:schemeClr>
            </a:solidFill>
            <a:prstDash val="solid"/>
          </a:ln>
        </p:spPr>
        <p:txBody>
          <a:bodyPr wrap="none" lIns="27425" tIns="27425" rIns="27425" bIns="27425" rtlCol="0" anchor="ctr" anchorCtr="0">
            <a:spAutoFit/>
          </a:bodyPr>
          <a:lstStyle/>
          <a:p>
            <a:pPr marL="346075" indent="-346075" defTabSz="913852">
              <a:defRPr/>
            </a:pPr>
            <a:r>
              <a:rPr lang="en-US" sz="900">
                <a:solidFill>
                  <a:srgbClr val="000000">
                    <a:lumMod val="50000"/>
                    <a:lumOff val="50000"/>
                  </a:srgbClr>
                </a:solidFill>
                <a:latin typeface="Arial" panose="020B0604020202020204"/>
              </a:rPr>
              <a:t>27%</a:t>
            </a:r>
            <a:r>
              <a:rPr lang="en-US" altLang="en-US" sz="9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lang="en-US" sz="900">
                <a:solidFill>
                  <a:srgbClr val="000000">
                    <a:lumMod val="50000"/>
                    <a:lumOff val="50000"/>
                  </a:srgbClr>
                </a:solidFill>
                <a:latin typeface="Arial" panose="020B0604020202020204"/>
              </a:rPr>
              <a:t>Tier 1</a:t>
            </a:r>
          </a:p>
          <a:p>
            <a:pPr marL="346075" indent="-346075" defTabSz="913852">
              <a:defRPr/>
            </a:pPr>
            <a:r>
              <a:rPr lang="en-US" sz="900">
                <a:solidFill>
                  <a:srgbClr val="000000">
                    <a:lumMod val="50000"/>
                    <a:lumOff val="50000"/>
                  </a:srgbClr>
                </a:solidFill>
                <a:latin typeface="Arial" panose="020B0604020202020204"/>
              </a:rPr>
              <a:t>28%</a:t>
            </a:r>
            <a:r>
              <a:rPr lang="en-US" altLang="en-US" sz="900">
                <a:solidFill>
                  <a:srgbClr val="FF0000"/>
                </a:solidFill>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Tier 2 </a:t>
            </a:r>
          </a:p>
          <a:p>
            <a:pPr marL="346075" indent="-346075" defTabSz="913852">
              <a:defRPr/>
            </a:pPr>
            <a:r>
              <a:rPr lang="en-US" sz="900">
                <a:solidFill>
                  <a:srgbClr val="000000">
                    <a:lumMod val="50000"/>
                    <a:lumOff val="50000"/>
                  </a:srgbClr>
                </a:solidFill>
                <a:latin typeface="Arial" panose="020B0604020202020204"/>
              </a:rPr>
              <a:t>21%	Tier 3</a:t>
            </a:r>
          </a:p>
        </p:txBody>
      </p:sp>
      <p:sp>
        <p:nvSpPr>
          <p:cNvPr id="20" name="Text Placeholder 2">
            <a:extLst>
              <a:ext uri="{FF2B5EF4-FFF2-40B4-BE49-F238E27FC236}">
                <a16:creationId xmlns:a16="http://schemas.microsoft.com/office/drawing/2014/main" id="{949ED800-18C3-C136-58D1-CE16DD53366A}"/>
              </a:ext>
            </a:extLst>
          </p:cNvPr>
          <p:cNvSpPr txBox="1">
            <a:spLocks/>
          </p:cNvSpPr>
          <p:nvPr/>
        </p:nvSpPr>
        <p:spPr bwMode="gray">
          <a:xfrm>
            <a:off x="4346534" y="4014598"/>
            <a:ext cx="413216"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a:solidFill>
                  <a:srgbClr val="FF0000"/>
                </a:solidFill>
                <a:cs typeface="Arial" panose="020B0604020202020204" pitchFamily="34" charset="0"/>
                <a:sym typeface="Symbol" pitchFamily="18" charset="2"/>
              </a:rPr>
              <a:t> </a:t>
            </a:r>
            <a:r>
              <a:rPr lang="en-US" altLang="en-US" baseline="30000">
                <a:solidFill>
                  <a:schemeClr val="tx1">
                    <a:lumMod val="75000"/>
                    <a:lumOff val="25000"/>
                  </a:schemeClr>
                </a:solidFill>
                <a:cs typeface="Arial" panose="020B0604020202020204" pitchFamily="34" charset="0"/>
                <a:sym typeface="Symbol" pitchFamily="18" charset="2"/>
              </a:rPr>
              <a:t>(37%)</a:t>
            </a:r>
            <a:endParaRPr lang="en-US" baseline="30000">
              <a:solidFill>
                <a:schemeClr val="tx1">
                  <a:lumMod val="75000"/>
                  <a:lumOff val="25000"/>
                </a:schemeClr>
              </a:solidFill>
            </a:endParaRPr>
          </a:p>
        </p:txBody>
      </p:sp>
    </p:spTree>
    <p:extLst>
      <p:ext uri="{BB962C8B-B14F-4D97-AF65-F5344CB8AC3E}">
        <p14:creationId xmlns:p14="http://schemas.microsoft.com/office/powerpoint/2010/main" val="521102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34F3441D-9776-82AE-9930-AA2F86E38CA7}"/>
              </a:ext>
            </a:extLst>
          </p:cNvPr>
          <p:cNvSpPr/>
          <p:nvPr/>
        </p:nvSpPr>
        <p:spPr bwMode="gray">
          <a:xfrm>
            <a:off x="952341" y="1543773"/>
            <a:ext cx="10303594" cy="424681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49" name="Arrow: Right 48">
            <a:extLst>
              <a:ext uri="{FF2B5EF4-FFF2-40B4-BE49-F238E27FC236}">
                <a16:creationId xmlns:a16="http://schemas.microsoft.com/office/drawing/2014/main" id="{0EB7E70C-0AFB-4BF2-A706-F4BC039F3B92}"/>
              </a:ext>
            </a:extLst>
          </p:cNvPr>
          <p:cNvSpPr/>
          <p:nvPr/>
        </p:nvSpPr>
        <p:spPr bwMode="gray">
          <a:xfrm>
            <a:off x="3627762" y="3616911"/>
            <a:ext cx="944634" cy="731330"/>
          </a:xfrm>
          <a:prstGeom prst="rightArrow">
            <a:avLst/>
          </a:prstGeom>
          <a:solidFill>
            <a:schemeClr val="bg1">
              <a:lumMod val="95000"/>
            </a:schemeClr>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2" name="Title 1">
            <a:extLst>
              <a:ext uri="{FF2B5EF4-FFF2-40B4-BE49-F238E27FC236}">
                <a16:creationId xmlns:a16="http://schemas.microsoft.com/office/drawing/2014/main" id="{CFB7CE5B-CBBE-C227-1B6D-D0EBFD9BA983}"/>
              </a:ext>
            </a:extLst>
          </p:cNvPr>
          <p:cNvSpPr>
            <a:spLocks noGrp="1"/>
          </p:cNvSpPr>
          <p:nvPr>
            <p:ph type="title"/>
          </p:nvPr>
        </p:nvSpPr>
        <p:spPr>
          <a:xfrm>
            <a:off x="1143413" y="171155"/>
            <a:ext cx="10936781" cy="850171"/>
          </a:xfrm>
        </p:spPr>
        <p:txBody>
          <a:bodyPr/>
          <a:lstStyle/>
          <a:p>
            <a:r>
              <a:rPr lang="en-US" u="sng" dirty="0"/>
              <a:t>Aided</a:t>
            </a:r>
            <a:r>
              <a:rPr lang="en-US" dirty="0"/>
              <a:t>, most HCPs are aware of a recently approved </a:t>
            </a:r>
            <a:r>
              <a:rPr lang="en-US" dirty="0" err="1"/>
              <a:t>MenABCWY</a:t>
            </a:r>
            <a:r>
              <a:rPr lang="en-US" dirty="0"/>
              <a:t> Vx; unaided, 3 in 10 cite awareness of Pfizer and/or Penbraya and half as many cite GSK and/or </a:t>
            </a:r>
            <a:r>
              <a:rPr lang="en-US" dirty="0" err="1"/>
              <a:t>Penmenvy</a:t>
            </a:r>
            <a:endParaRPr lang="en-US" i="1" u="sng" dirty="0"/>
          </a:p>
        </p:txBody>
      </p:sp>
      <p:sp>
        <p:nvSpPr>
          <p:cNvPr id="3" name="Text Placeholder 2">
            <a:extLst>
              <a:ext uri="{FF2B5EF4-FFF2-40B4-BE49-F238E27FC236}">
                <a16:creationId xmlns:a16="http://schemas.microsoft.com/office/drawing/2014/main" id="{7C7D7F8D-AFAF-1B1C-0CBE-6730ADC5D348}"/>
              </a:ext>
            </a:extLst>
          </p:cNvPr>
          <p:cNvSpPr>
            <a:spLocks noGrp="1"/>
          </p:cNvSpPr>
          <p:nvPr>
            <p:ph type="body" sz="quarter" idx="16"/>
          </p:nvPr>
        </p:nvSpPr>
        <p:spPr>
          <a:xfrm>
            <a:off x="1572803" y="6263348"/>
            <a:ext cx="9236844" cy="480519"/>
          </a:xfrm>
        </p:spPr>
        <p:txBody>
          <a:bodyPr/>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a:t>
            </a:r>
          </a:p>
          <a:p>
            <a:r>
              <a:rPr lang="en-US"/>
              <a:t>C3. To confirm, are you aware of a recently approved (October 2023) pentavalent Meningococcal vaccine that covers five serogroups A,B,C,W,Y?</a:t>
            </a:r>
          </a:p>
          <a:p>
            <a:r>
              <a:rPr lang="en-US"/>
              <a:t>C4. What do you know about the pentavalent Meningococcal vaccine that covers the five serogroups A,B,C,W,Y?</a:t>
            </a:r>
          </a:p>
        </p:txBody>
      </p:sp>
      <p:sp>
        <p:nvSpPr>
          <p:cNvPr id="6" name="TextBox 5">
            <a:extLst>
              <a:ext uri="{FF2B5EF4-FFF2-40B4-BE49-F238E27FC236}">
                <a16:creationId xmlns:a16="http://schemas.microsoft.com/office/drawing/2014/main" id="{4CCD3706-CD37-D8C8-8202-514CB8DA4810}"/>
              </a:ext>
            </a:extLst>
          </p:cNvPr>
          <p:cNvSpPr txBox="1"/>
          <p:nvPr/>
        </p:nvSpPr>
        <p:spPr bwMode="gray">
          <a:xfrm>
            <a:off x="1982905" y="2333999"/>
            <a:ext cx="1789319" cy="313850"/>
          </a:xfrm>
          <a:prstGeom prst="rect">
            <a:avLst/>
          </a:prstGeom>
        </p:spPr>
        <p:txBody>
          <a:bodyPr wrap="none" lIns="45708" tIns="45708" rIns="45708" bIns="45708" rtlCol="0">
            <a:spAutoFit/>
          </a:bodyPr>
          <a:lstStyle/>
          <a:p>
            <a:pPr algn="ctr">
              <a:lnSpc>
                <a:spcPct val="90000"/>
              </a:lnSpc>
              <a:spcAft>
                <a:spcPts val="400"/>
              </a:spcAft>
              <a:defRPr/>
            </a:pPr>
            <a:r>
              <a:rPr lang="en-US" sz="1600" b="1">
                <a:solidFill>
                  <a:srgbClr val="000000"/>
                </a:solidFill>
                <a:latin typeface="Arial" panose="020B0604020202020204"/>
              </a:rPr>
              <a:t>Aided Awareness</a:t>
            </a:r>
            <a:endParaRPr lang="en-US" sz="1000" i="1">
              <a:solidFill>
                <a:srgbClr val="FFFFFF">
                  <a:lumMod val="50000"/>
                </a:srgbClr>
              </a:solidFill>
              <a:highlight>
                <a:srgbClr val="00FF00"/>
              </a:highlight>
              <a:latin typeface="Arial" panose="020B0604020202020204"/>
            </a:endParaRPr>
          </a:p>
        </p:txBody>
      </p:sp>
      <p:sp>
        <p:nvSpPr>
          <p:cNvPr id="7" name="TextBox 6">
            <a:extLst>
              <a:ext uri="{FF2B5EF4-FFF2-40B4-BE49-F238E27FC236}">
                <a16:creationId xmlns:a16="http://schemas.microsoft.com/office/drawing/2014/main" id="{D307253F-9E68-79C8-0AC5-5F225E34563D}"/>
              </a:ext>
            </a:extLst>
          </p:cNvPr>
          <p:cNvSpPr txBox="1"/>
          <p:nvPr/>
        </p:nvSpPr>
        <p:spPr bwMode="gray">
          <a:xfrm>
            <a:off x="7228440" y="2333999"/>
            <a:ext cx="2119580" cy="313850"/>
          </a:xfrm>
          <a:prstGeom prst="rect">
            <a:avLst/>
          </a:prstGeom>
        </p:spPr>
        <p:txBody>
          <a:bodyPr wrap="none" lIns="45708" tIns="45708" rIns="45708" bIns="45708" rtlCol="0">
            <a:spAutoFit/>
          </a:bodyPr>
          <a:lstStyle/>
          <a:p>
            <a:pPr algn="ctr">
              <a:lnSpc>
                <a:spcPct val="90000"/>
              </a:lnSpc>
              <a:spcAft>
                <a:spcPts val="400"/>
              </a:spcAft>
              <a:defRPr/>
            </a:pPr>
            <a:r>
              <a:rPr lang="en-US" sz="1600" b="1">
                <a:solidFill>
                  <a:srgbClr val="000000"/>
                </a:solidFill>
                <a:latin typeface="Arial" panose="020B0604020202020204"/>
              </a:rPr>
              <a:t>Unaided Knowledge</a:t>
            </a:r>
            <a:endParaRPr lang="en-US" sz="1000" i="1">
              <a:solidFill>
                <a:srgbClr val="FFFFFF">
                  <a:lumMod val="50000"/>
                </a:srgbClr>
              </a:solidFill>
              <a:latin typeface="Arial" panose="020B0604020202020204"/>
            </a:endParaRPr>
          </a:p>
        </p:txBody>
      </p:sp>
      <p:graphicFrame>
        <p:nvGraphicFramePr>
          <p:cNvPr id="8" name="Chart 7">
            <a:extLst>
              <a:ext uri="{FF2B5EF4-FFF2-40B4-BE49-F238E27FC236}">
                <a16:creationId xmlns:a16="http://schemas.microsoft.com/office/drawing/2014/main" id="{3D4BACA5-698D-B08D-49CD-92574847720F}"/>
              </a:ext>
            </a:extLst>
          </p:cNvPr>
          <p:cNvGraphicFramePr/>
          <p:nvPr/>
        </p:nvGraphicFramePr>
        <p:xfrm>
          <a:off x="1445802" y="2736999"/>
          <a:ext cx="2761937" cy="247565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8C587E6F-5DD9-87DC-847A-E6F2F45BAF32}"/>
              </a:ext>
            </a:extLst>
          </p:cNvPr>
          <p:cNvSpPr txBox="1"/>
          <p:nvPr/>
        </p:nvSpPr>
        <p:spPr bwMode="gray">
          <a:xfrm>
            <a:off x="3651537" y="1653933"/>
            <a:ext cx="4885751" cy="535392"/>
          </a:xfrm>
          <a:prstGeom prst="rect">
            <a:avLst/>
          </a:prstGeom>
        </p:spPr>
        <p:txBody>
          <a:bodyPr wrap="squar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“MenABCWY” Vx Awareness &amp; Knowledge</a:t>
            </a:r>
            <a:br>
              <a:rPr lang="en-US" sz="1799" b="1">
                <a:solidFill>
                  <a:srgbClr val="0000C9"/>
                </a:solidFill>
                <a:latin typeface="Arial" panose="020B0604020202020204"/>
              </a:rPr>
            </a:br>
            <a:endParaRPr lang="en-US" sz="1400">
              <a:solidFill>
                <a:srgbClr val="FFFFFF">
                  <a:lumMod val="50000"/>
                </a:srgbClr>
              </a:solidFill>
              <a:highlight>
                <a:srgbClr val="FFFF00"/>
              </a:highlight>
              <a:latin typeface="Arial" panose="020B0604020202020204"/>
            </a:endParaRPr>
          </a:p>
        </p:txBody>
      </p:sp>
      <p:sp>
        <p:nvSpPr>
          <p:cNvPr id="48" name="TextBox 47">
            <a:extLst>
              <a:ext uri="{FF2B5EF4-FFF2-40B4-BE49-F238E27FC236}">
                <a16:creationId xmlns:a16="http://schemas.microsoft.com/office/drawing/2014/main" id="{064EA07B-B5EF-98DB-F2BB-77242D48A0F8}"/>
              </a:ext>
            </a:extLst>
          </p:cNvPr>
          <p:cNvSpPr txBox="1"/>
          <p:nvPr/>
        </p:nvSpPr>
        <p:spPr bwMode="gray">
          <a:xfrm>
            <a:off x="3903940" y="3873250"/>
            <a:ext cx="585266" cy="216925"/>
          </a:xfrm>
          <a:prstGeom prst="rect">
            <a:avLst/>
          </a:prstGeom>
          <a:noFill/>
        </p:spPr>
        <p:txBody>
          <a:bodyPr wrap="none">
            <a:spAutoFit/>
          </a:bodyPr>
          <a:lstStyle/>
          <a:p>
            <a:pPr algn="r">
              <a:lnSpc>
                <a:spcPct val="90000"/>
              </a:lnSpc>
              <a:spcBef>
                <a:spcPts val="1000"/>
              </a:spcBef>
              <a:defRPr/>
            </a:pPr>
            <a:r>
              <a:rPr lang="en-US" sz="900">
                <a:solidFill>
                  <a:srgbClr val="FFFFFF">
                    <a:lumMod val="50000"/>
                  </a:srgbClr>
                </a:solidFill>
                <a:latin typeface="Arial" panose="020B0604020202020204"/>
              </a:rPr>
              <a:t>(n=170)</a:t>
            </a:r>
            <a:endParaRPr lang="en-US" sz="1400">
              <a:solidFill>
                <a:srgbClr val="FFFFFF">
                  <a:lumMod val="50000"/>
                </a:srgbClr>
              </a:solidFill>
              <a:latin typeface="Arial" panose="020B0604020202020204"/>
            </a:endParaRPr>
          </a:p>
        </p:txBody>
      </p:sp>
      <p:grpSp>
        <p:nvGrpSpPr>
          <p:cNvPr id="4" name="Group 3">
            <a:extLst>
              <a:ext uri="{FF2B5EF4-FFF2-40B4-BE49-F238E27FC236}">
                <a16:creationId xmlns:a16="http://schemas.microsoft.com/office/drawing/2014/main" id="{A24E9AB0-FBB3-BEEC-8EA8-49D43456FDE4}"/>
              </a:ext>
            </a:extLst>
          </p:cNvPr>
          <p:cNvGrpSpPr/>
          <p:nvPr/>
        </p:nvGrpSpPr>
        <p:grpSpPr>
          <a:xfrm>
            <a:off x="6858511" y="2282243"/>
            <a:ext cx="420514" cy="420514"/>
            <a:chOff x="1119929" y="943834"/>
            <a:chExt cx="846331" cy="784203"/>
          </a:xfrm>
        </p:grpSpPr>
        <p:pic>
          <p:nvPicPr>
            <p:cNvPr id="5" name="Picture 6" descr="143,700+ Mouth Icon Illustrations, Royalty-Free Vector Graphics &amp; Clip Art  - iStock | Open mouth icon, Word of mouth icon, Cover mouth icon">
              <a:extLst>
                <a:ext uri="{FF2B5EF4-FFF2-40B4-BE49-F238E27FC236}">
                  <a16:creationId xmlns:a16="http://schemas.microsoft.com/office/drawing/2014/main" id="{B92609D4-509A-3A52-AE27-659B9B9E408A}"/>
                </a:ext>
              </a:extLst>
            </p:cNvPr>
            <p:cNvPicPr>
              <a:picLocks noChangeAspect="1" noChangeArrowheads="1"/>
            </p:cNvPicPr>
            <p:nvPr/>
          </p:nvPicPr>
          <p:blipFill>
            <a:blip r:embed="rId4">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80302FA7-B045-794F-6578-EF06DE0F08F8}"/>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grpSp>
        <p:nvGrpSpPr>
          <p:cNvPr id="17" name="Group 16">
            <a:extLst>
              <a:ext uri="{FF2B5EF4-FFF2-40B4-BE49-F238E27FC236}">
                <a16:creationId xmlns:a16="http://schemas.microsoft.com/office/drawing/2014/main" id="{8DB83433-8CAC-4B9B-14E1-76DBDEB87F1F}"/>
              </a:ext>
            </a:extLst>
          </p:cNvPr>
          <p:cNvGrpSpPr/>
          <p:nvPr/>
        </p:nvGrpSpPr>
        <p:grpSpPr>
          <a:xfrm>
            <a:off x="1075030" y="1600795"/>
            <a:ext cx="650009" cy="538982"/>
            <a:chOff x="1686341" y="1600319"/>
            <a:chExt cx="650178" cy="539122"/>
          </a:xfrm>
        </p:grpSpPr>
        <p:cxnSp>
          <p:nvCxnSpPr>
            <p:cNvPr id="18" name="Straight Connector 17">
              <a:extLst>
                <a:ext uri="{FF2B5EF4-FFF2-40B4-BE49-F238E27FC236}">
                  <a16:creationId xmlns:a16="http://schemas.microsoft.com/office/drawing/2014/main" id="{97BC9F6E-1C76-26D8-9275-8B619AEBDCC4}"/>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9" name="TextBox 18">
              <a:extLst>
                <a:ext uri="{FF2B5EF4-FFF2-40B4-BE49-F238E27FC236}">
                  <a16:creationId xmlns:a16="http://schemas.microsoft.com/office/drawing/2014/main" id="{22FB33C4-A777-BFFD-74BA-90165276BB41}"/>
                </a:ext>
              </a:extLst>
            </p:cNvPr>
            <p:cNvSpPr txBox="1"/>
            <p:nvPr/>
          </p:nvSpPr>
          <p:spPr bwMode="gray">
            <a:xfrm>
              <a:off x="1686341" y="1600319"/>
              <a:ext cx="650178" cy="53912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a:p>
              <a:pPr algn="ctr">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21" name="TextBox 20">
            <a:extLst>
              <a:ext uri="{FF2B5EF4-FFF2-40B4-BE49-F238E27FC236}">
                <a16:creationId xmlns:a16="http://schemas.microsoft.com/office/drawing/2014/main" id="{479145BA-CE2F-5966-F9C7-D3A307FC59E5}"/>
              </a:ext>
            </a:extLst>
          </p:cNvPr>
          <p:cNvSpPr txBox="1"/>
          <p:nvPr/>
        </p:nvSpPr>
        <p:spPr bwMode="gray">
          <a:xfrm>
            <a:off x="987080" y="1310100"/>
            <a:ext cx="825909" cy="338466"/>
          </a:xfrm>
          <a:prstGeom prst="rect">
            <a:avLst/>
          </a:prstGeom>
          <a:noFill/>
        </p:spPr>
        <p:txBody>
          <a:bodyPr wrap="none">
            <a:spAutoFit/>
          </a:bodyPr>
          <a:lstStyle/>
          <a:p>
            <a:pPr>
              <a:defRPr/>
            </a:pPr>
            <a:r>
              <a:rPr lang="en-US" sz="1600">
                <a:solidFill>
                  <a:srgbClr val="000000"/>
                </a:solidFill>
                <a:latin typeface="Arial" panose="020B0604020202020204"/>
              </a:rPr>
              <a:t>TOTAL</a:t>
            </a:r>
          </a:p>
        </p:txBody>
      </p:sp>
      <p:sp>
        <p:nvSpPr>
          <p:cNvPr id="30" name="Rectangle 29">
            <a:extLst>
              <a:ext uri="{FF2B5EF4-FFF2-40B4-BE49-F238E27FC236}">
                <a16:creationId xmlns:a16="http://schemas.microsoft.com/office/drawing/2014/main" id="{C77B22CA-1806-0AEF-7906-D95DB737C5E8}"/>
              </a:ext>
            </a:extLst>
          </p:cNvPr>
          <p:cNvSpPr/>
          <p:nvPr/>
        </p:nvSpPr>
        <p:spPr bwMode="gray">
          <a:xfrm>
            <a:off x="5758507" y="3120614"/>
            <a:ext cx="5109784" cy="2024344"/>
          </a:xfrm>
          <a:prstGeom prst="rect">
            <a:avLst/>
          </a:prstGeom>
          <a:no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ln>
                <a:solidFill>
                  <a:srgbClr val="FFFFFF">
                    <a:lumMod val="65000"/>
                  </a:srgbClr>
                </a:solidFill>
              </a:ln>
              <a:solidFill>
                <a:srgbClr val="0000C9"/>
              </a:solidFill>
              <a:latin typeface="Arial" panose="020B0604020202020204"/>
            </a:endParaRPr>
          </a:p>
        </p:txBody>
      </p:sp>
      <p:sp>
        <p:nvSpPr>
          <p:cNvPr id="31" name="Cloud 30">
            <a:extLst>
              <a:ext uri="{FF2B5EF4-FFF2-40B4-BE49-F238E27FC236}">
                <a16:creationId xmlns:a16="http://schemas.microsoft.com/office/drawing/2014/main" id="{D529F4C8-3BCB-128C-EAF9-A4B16417DBB6}"/>
              </a:ext>
            </a:extLst>
          </p:cNvPr>
          <p:cNvSpPr/>
          <p:nvPr/>
        </p:nvSpPr>
        <p:spPr bwMode="gray">
          <a:xfrm>
            <a:off x="5152416" y="2655854"/>
            <a:ext cx="5916660" cy="3050935"/>
          </a:xfrm>
          <a:prstGeom prst="cloud">
            <a:avLst/>
          </a:prstGeom>
          <a:noFill/>
          <a:ln w="28575" cap="flat" cmpd="sng" algn="ctr">
            <a:solidFill>
              <a:schemeClr val="bg1">
                <a:lumMod val="7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nvGrpSpPr>
          <p:cNvPr id="20" name="Group 19">
            <a:extLst>
              <a:ext uri="{FF2B5EF4-FFF2-40B4-BE49-F238E27FC236}">
                <a16:creationId xmlns:a16="http://schemas.microsoft.com/office/drawing/2014/main" id="{B8E3D524-1C9A-BEC5-B3C6-29129550B847}"/>
              </a:ext>
            </a:extLst>
          </p:cNvPr>
          <p:cNvGrpSpPr/>
          <p:nvPr/>
        </p:nvGrpSpPr>
        <p:grpSpPr>
          <a:xfrm>
            <a:off x="8214276" y="3072776"/>
            <a:ext cx="1211951" cy="517407"/>
            <a:chOff x="8069731" y="3018038"/>
            <a:chExt cx="1212267" cy="517542"/>
          </a:xfrm>
        </p:grpSpPr>
        <p:sp>
          <p:nvSpPr>
            <p:cNvPr id="24" name="TextBox 23">
              <a:extLst>
                <a:ext uri="{FF2B5EF4-FFF2-40B4-BE49-F238E27FC236}">
                  <a16:creationId xmlns:a16="http://schemas.microsoft.com/office/drawing/2014/main" id="{6842B8B3-7086-C4FE-F87B-DDFDED088498}"/>
                </a:ext>
              </a:extLst>
            </p:cNvPr>
            <p:cNvSpPr txBox="1"/>
            <p:nvPr/>
          </p:nvSpPr>
          <p:spPr bwMode="gray">
            <a:xfrm>
              <a:off x="8239084" y="3041599"/>
              <a:ext cx="1042914" cy="493981"/>
            </a:xfrm>
            <a:prstGeom prst="rect">
              <a:avLst/>
            </a:prstGeom>
          </p:spPr>
          <p:txBody>
            <a:bodyPr wrap="none" lIns="45708" tIns="45708" rIns="45708" bIns="45708" rtlCol="0">
              <a:spAutoFit/>
            </a:bodyPr>
            <a:lstStyle/>
            <a:p>
              <a:pPr>
                <a:lnSpc>
                  <a:spcPct val="90000"/>
                </a:lnSpc>
                <a:spcBef>
                  <a:spcPts val="1000"/>
                </a:spcBef>
                <a:defRPr/>
              </a:pPr>
              <a:r>
                <a:rPr lang="en-US" sz="2899">
                  <a:solidFill>
                    <a:srgbClr val="0000C9"/>
                  </a:solidFill>
                  <a:latin typeface="Arial" panose="020B0604020202020204"/>
                </a:rPr>
                <a:t>Pfizer</a:t>
              </a:r>
            </a:p>
          </p:txBody>
        </p:sp>
        <p:sp>
          <p:nvSpPr>
            <p:cNvPr id="40" name="TextBox 39">
              <a:extLst>
                <a:ext uri="{FF2B5EF4-FFF2-40B4-BE49-F238E27FC236}">
                  <a16:creationId xmlns:a16="http://schemas.microsoft.com/office/drawing/2014/main" id="{A3EF3E85-8A07-43AF-D2A2-277279CE1468}"/>
                </a:ext>
              </a:extLst>
            </p:cNvPr>
            <p:cNvSpPr txBox="1"/>
            <p:nvPr/>
          </p:nvSpPr>
          <p:spPr bwMode="gray">
            <a:xfrm rot="16200000">
              <a:off x="7941942" y="3145827"/>
              <a:ext cx="501799" cy="246221"/>
            </a:xfrm>
            <a:prstGeom prst="rect">
              <a:avLst/>
            </a:prstGeom>
            <a:noFill/>
          </p:spPr>
          <p:txBody>
            <a:bodyPr wrap="square">
              <a:spAutoFit/>
            </a:bodyPr>
            <a:lstStyle/>
            <a:p>
              <a:pPr algn="ctr">
                <a:defRPr/>
              </a:pPr>
              <a:r>
                <a:rPr lang="en-US" sz="1000">
                  <a:solidFill>
                    <a:srgbClr val="FFFFFF">
                      <a:lumMod val="65000"/>
                    </a:srgbClr>
                  </a:solidFill>
                  <a:latin typeface="Arial" panose="020B0604020202020204"/>
                </a:rPr>
                <a:t>29%</a:t>
              </a:r>
            </a:p>
          </p:txBody>
        </p:sp>
      </p:grpSp>
      <p:grpSp>
        <p:nvGrpSpPr>
          <p:cNvPr id="29" name="Group 28">
            <a:extLst>
              <a:ext uri="{FF2B5EF4-FFF2-40B4-BE49-F238E27FC236}">
                <a16:creationId xmlns:a16="http://schemas.microsoft.com/office/drawing/2014/main" id="{389A2C5E-DFF3-EB9D-D004-DF2D91A7FD73}"/>
              </a:ext>
            </a:extLst>
          </p:cNvPr>
          <p:cNvGrpSpPr/>
          <p:nvPr/>
        </p:nvGrpSpPr>
        <p:grpSpPr>
          <a:xfrm>
            <a:off x="5841955" y="3293323"/>
            <a:ext cx="2249225" cy="501668"/>
            <a:chOff x="6504693" y="3453493"/>
            <a:chExt cx="2249811" cy="501799"/>
          </a:xfrm>
        </p:grpSpPr>
        <p:sp>
          <p:nvSpPr>
            <p:cNvPr id="25" name="TextBox 24">
              <a:extLst>
                <a:ext uri="{FF2B5EF4-FFF2-40B4-BE49-F238E27FC236}">
                  <a16:creationId xmlns:a16="http://schemas.microsoft.com/office/drawing/2014/main" id="{4C10C892-489E-C8EB-AE07-688CED38D05A}"/>
                </a:ext>
              </a:extLst>
            </p:cNvPr>
            <p:cNvSpPr txBox="1"/>
            <p:nvPr/>
          </p:nvSpPr>
          <p:spPr bwMode="gray">
            <a:xfrm>
              <a:off x="6687913" y="3457402"/>
              <a:ext cx="2066591" cy="493981"/>
            </a:xfrm>
            <a:prstGeom prst="rect">
              <a:avLst/>
            </a:prstGeom>
          </p:spPr>
          <p:txBody>
            <a:bodyPr wrap="none" lIns="45708" tIns="45708" rIns="45708" bIns="45708" rtlCol="0">
              <a:spAutoFit/>
            </a:bodyPr>
            <a:lstStyle/>
            <a:p>
              <a:pPr>
                <a:lnSpc>
                  <a:spcPct val="90000"/>
                </a:lnSpc>
                <a:spcBef>
                  <a:spcPts val="1000"/>
                </a:spcBef>
                <a:defRPr/>
              </a:pPr>
              <a:r>
                <a:rPr lang="en-US" sz="2899" dirty="0">
                  <a:solidFill>
                    <a:srgbClr val="9D73F7"/>
                  </a:solidFill>
                  <a:latin typeface="Arial" panose="020B0604020202020204"/>
                </a:rPr>
                <a:t>PENBRAYA</a:t>
              </a:r>
            </a:p>
          </p:txBody>
        </p:sp>
        <p:sp>
          <p:nvSpPr>
            <p:cNvPr id="41" name="TextBox 40">
              <a:extLst>
                <a:ext uri="{FF2B5EF4-FFF2-40B4-BE49-F238E27FC236}">
                  <a16:creationId xmlns:a16="http://schemas.microsoft.com/office/drawing/2014/main" id="{9C8FBED5-48D4-7EC3-668E-66A4AE1256E6}"/>
                </a:ext>
              </a:extLst>
            </p:cNvPr>
            <p:cNvSpPr txBox="1"/>
            <p:nvPr/>
          </p:nvSpPr>
          <p:spPr bwMode="gray">
            <a:xfrm rot="16200000">
              <a:off x="6376904" y="3581282"/>
              <a:ext cx="501799" cy="246221"/>
            </a:xfrm>
            <a:prstGeom prst="rect">
              <a:avLst/>
            </a:prstGeom>
            <a:noFill/>
          </p:spPr>
          <p:txBody>
            <a:bodyPr wrap="square">
              <a:spAutoFit/>
            </a:bodyPr>
            <a:lstStyle/>
            <a:p>
              <a:pPr algn="ctr">
                <a:defRPr/>
              </a:pPr>
              <a:r>
                <a:rPr lang="en-US" sz="1000">
                  <a:solidFill>
                    <a:srgbClr val="FFFFFF">
                      <a:lumMod val="65000"/>
                    </a:srgbClr>
                  </a:solidFill>
                  <a:latin typeface="Arial" panose="020B0604020202020204"/>
                </a:rPr>
                <a:t>29%</a:t>
              </a:r>
            </a:p>
          </p:txBody>
        </p:sp>
      </p:grpSp>
      <p:grpSp>
        <p:nvGrpSpPr>
          <p:cNvPr id="34" name="Group 33">
            <a:extLst>
              <a:ext uri="{FF2B5EF4-FFF2-40B4-BE49-F238E27FC236}">
                <a16:creationId xmlns:a16="http://schemas.microsoft.com/office/drawing/2014/main" id="{1378EC49-BEDC-2B31-EDFD-C1C8C2DA574E}"/>
              </a:ext>
            </a:extLst>
          </p:cNvPr>
          <p:cNvGrpSpPr/>
          <p:nvPr/>
        </p:nvGrpSpPr>
        <p:grpSpPr>
          <a:xfrm>
            <a:off x="7058152" y="4454372"/>
            <a:ext cx="3037939" cy="501668"/>
            <a:chOff x="6037547" y="4547320"/>
            <a:chExt cx="3038730" cy="501799"/>
          </a:xfrm>
        </p:grpSpPr>
        <p:sp>
          <p:nvSpPr>
            <p:cNvPr id="33" name="TextBox 32">
              <a:extLst>
                <a:ext uri="{FF2B5EF4-FFF2-40B4-BE49-F238E27FC236}">
                  <a16:creationId xmlns:a16="http://schemas.microsoft.com/office/drawing/2014/main" id="{05582D8B-2D80-255B-E973-059E7859FD3D}"/>
                </a:ext>
              </a:extLst>
            </p:cNvPr>
            <p:cNvSpPr txBox="1"/>
            <p:nvPr/>
          </p:nvSpPr>
          <p:spPr bwMode="gray">
            <a:xfrm>
              <a:off x="6170407" y="4605859"/>
              <a:ext cx="2905870" cy="384721"/>
            </a:xfrm>
            <a:prstGeom prst="rect">
              <a:avLst/>
            </a:prstGeom>
            <a:noFill/>
          </p:spPr>
          <p:txBody>
            <a:bodyPr wrap="square">
              <a:spAutoFit/>
            </a:bodyPr>
            <a:lstStyle/>
            <a:p>
              <a:pPr>
                <a:defRPr/>
              </a:pPr>
              <a:r>
                <a:rPr lang="en-US" sz="1899">
                  <a:solidFill>
                    <a:srgbClr val="0DBDBA">
                      <a:lumMod val="75000"/>
                    </a:srgbClr>
                  </a:solidFill>
                  <a:latin typeface="Arial" panose="020B0604020202020204"/>
                </a:rPr>
                <a:t>Given at 16 / 16-18 / 16+</a:t>
              </a:r>
            </a:p>
          </p:txBody>
        </p:sp>
        <p:sp>
          <p:nvSpPr>
            <p:cNvPr id="44" name="TextBox 43">
              <a:extLst>
                <a:ext uri="{FF2B5EF4-FFF2-40B4-BE49-F238E27FC236}">
                  <a16:creationId xmlns:a16="http://schemas.microsoft.com/office/drawing/2014/main" id="{3197FB71-8702-A84B-F77B-040994595E62}"/>
                </a:ext>
              </a:extLst>
            </p:cNvPr>
            <p:cNvSpPr txBox="1"/>
            <p:nvPr/>
          </p:nvSpPr>
          <p:spPr bwMode="gray">
            <a:xfrm rot="16200000">
              <a:off x="5909758" y="4675109"/>
              <a:ext cx="501799" cy="246221"/>
            </a:xfrm>
            <a:prstGeom prst="rect">
              <a:avLst/>
            </a:prstGeom>
            <a:noFill/>
          </p:spPr>
          <p:txBody>
            <a:bodyPr wrap="square">
              <a:spAutoFit/>
            </a:bodyPr>
            <a:lstStyle/>
            <a:p>
              <a:pPr algn="ctr">
                <a:defRPr/>
              </a:pPr>
              <a:r>
                <a:rPr lang="en-US" sz="1000">
                  <a:solidFill>
                    <a:srgbClr val="FFFFFF">
                      <a:lumMod val="65000"/>
                    </a:srgbClr>
                  </a:solidFill>
                  <a:latin typeface="Arial" panose="020B0604020202020204"/>
                </a:rPr>
                <a:t>19%</a:t>
              </a:r>
            </a:p>
          </p:txBody>
        </p:sp>
      </p:grpSp>
      <p:grpSp>
        <p:nvGrpSpPr>
          <p:cNvPr id="55" name="Group 54">
            <a:extLst>
              <a:ext uri="{FF2B5EF4-FFF2-40B4-BE49-F238E27FC236}">
                <a16:creationId xmlns:a16="http://schemas.microsoft.com/office/drawing/2014/main" id="{007CAFBA-ED1F-5E03-50B3-2B840A865D80}"/>
              </a:ext>
            </a:extLst>
          </p:cNvPr>
          <p:cNvGrpSpPr/>
          <p:nvPr/>
        </p:nvGrpSpPr>
        <p:grpSpPr>
          <a:xfrm>
            <a:off x="5462323" y="4691747"/>
            <a:ext cx="2324258" cy="501668"/>
            <a:chOff x="10598657" y="5134940"/>
            <a:chExt cx="2324863" cy="501799"/>
          </a:xfrm>
        </p:grpSpPr>
        <p:sp>
          <p:nvSpPr>
            <p:cNvPr id="38" name="TextBox 37">
              <a:extLst>
                <a:ext uri="{FF2B5EF4-FFF2-40B4-BE49-F238E27FC236}">
                  <a16:creationId xmlns:a16="http://schemas.microsoft.com/office/drawing/2014/main" id="{5DC33BBF-3660-52BE-3A20-5B8AF538CC96}"/>
                </a:ext>
              </a:extLst>
            </p:cNvPr>
            <p:cNvSpPr txBox="1"/>
            <p:nvPr/>
          </p:nvSpPr>
          <p:spPr bwMode="gray">
            <a:xfrm>
              <a:off x="10744234" y="5262729"/>
              <a:ext cx="2179286" cy="246221"/>
            </a:xfrm>
            <a:prstGeom prst="rect">
              <a:avLst/>
            </a:prstGeom>
            <a:noFill/>
          </p:spPr>
          <p:txBody>
            <a:bodyPr wrap="square">
              <a:spAutoFit/>
            </a:bodyPr>
            <a:lstStyle/>
            <a:p>
              <a:pPr marL="345971" indent="-345971">
                <a:defRPr/>
              </a:pPr>
              <a:r>
                <a:rPr lang="en-US" sz="1000">
                  <a:solidFill>
                    <a:srgbClr val="D95776">
                      <a:lumMod val="75000"/>
                    </a:srgbClr>
                  </a:solidFill>
                  <a:latin typeface="Arial" panose="020B0604020202020204"/>
                </a:rPr>
                <a:t>New vaccine / Available / Approved</a:t>
              </a:r>
            </a:p>
          </p:txBody>
        </p:sp>
        <p:sp>
          <p:nvSpPr>
            <p:cNvPr id="47" name="TextBox 46">
              <a:extLst>
                <a:ext uri="{FF2B5EF4-FFF2-40B4-BE49-F238E27FC236}">
                  <a16:creationId xmlns:a16="http://schemas.microsoft.com/office/drawing/2014/main" id="{117CC990-FDDE-A295-EFE5-47F37A3C0EB6}"/>
                </a:ext>
              </a:extLst>
            </p:cNvPr>
            <p:cNvSpPr txBox="1"/>
            <p:nvPr/>
          </p:nvSpPr>
          <p:spPr bwMode="gray">
            <a:xfrm rot="16200000">
              <a:off x="10470868" y="5262729"/>
              <a:ext cx="501799" cy="246221"/>
            </a:xfrm>
            <a:prstGeom prst="rect">
              <a:avLst/>
            </a:prstGeom>
            <a:noFill/>
          </p:spPr>
          <p:txBody>
            <a:bodyPr wrap="square">
              <a:spAutoFit/>
            </a:bodyPr>
            <a:lstStyle/>
            <a:p>
              <a:pPr algn="ctr">
                <a:defRPr/>
              </a:pPr>
              <a:r>
                <a:rPr lang="en-US" sz="1000">
                  <a:solidFill>
                    <a:srgbClr val="A6A6A6"/>
                  </a:solidFill>
                  <a:latin typeface="Arial" panose="020B0604020202020204"/>
                </a:rPr>
                <a:t>10%</a:t>
              </a:r>
            </a:p>
          </p:txBody>
        </p:sp>
      </p:grpSp>
      <p:grpSp>
        <p:nvGrpSpPr>
          <p:cNvPr id="32" name="Group 31">
            <a:extLst>
              <a:ext uri="{FF2B5EF4-FFF2-40B4-BE49-F238E27FC236}">
                <a16:creationId xmlns:a16="http://schemas.microsoft.com/office/drawing/2014/main" id="{2A3F079C-C082-C620-885F-A71584D3CEBF}"/>
              </a:ext>
            </a:extLst>
          </p:cNvPr>
          <p:cNvGrpSpPr/>
          <p:nvPr/>
        </p:nvGrpSpPr>
        <p:grpSpPr>
          <a:xfrm>
            <a:off x="5216165" y="3734891"/>
            <a:ext cx="5542094" cy="576931"/>
            <a:chOff x="5614184" y="3858274"/>
            <a:chExt cx="5543538" cy="577081"/>
          </a:xfrm>
        </p:grpSpPr>
        <p:sp>
          <p:nvSpPr>
            <p:cNvPr id="43" name="TextBox 42">
              <a:extLst>
                <a:ext uri="{FF2B5EF4-FFF2-40B4-BE49-F238E27FC236}">
                  <a16:creationId xmlns:a16="http://schemas.microsoft.com/office/drawing/2014/main" id="{9C34C7C7-55D9-134B-9FCB-558DF037F141}"/>
                </a:ext>
              </a:extLst>
            </p:cNvPr>
            <p:cNvSpPr txBox="1"/>
            <p:nvPr/>
          </p:nvSpPr>
          <p:spPr bwMode="gray">
            <a:xfrm rot="16200000">
              <a:off x="5486395" y="4023704"/>
              <a:ext cx="501799" cy="246221"/>
            </a:xfrm>
            <a:prstGeom prst="rect">
              <a:avLst/>
            </a:prstGeom>
            <a:noFill/>
          </p:spPr>
          <p:txBody>
            <a:bodyPr wrap="square">
              <a:spAutoFit/>
            </a:bodyPr>
            <a:lstStyle/>
            <a:p>
              <a:pPr algn="ctr">
                <a:defRPr/>
              </a:pPr>
              <a:r>
                <a:rPr lang="en-US" sz="1000">
                  <a:solidFill>
                    <a:srgbClr val="FFFFFF">
                      <a:lumMod val="65000"/>
                    </a:srgbClr>
                  </a:solidFill>
                  <a:latin typeface="Arial" panose="020B0604020202020204"/>
                </a:rPr>
                <a:t>35%</a:t>
              </a:r>
            </a:p>
          </p:txBody>
        </p:sp>
        <p:sp>
          <p:nvSpPr>
            <p:cNvPr id="26" name="TextBox 25">
              <a:extLst>
                <a:ext uri="{FF2B5EF4-FFF2-40B4-BE49-F238E27FC236}">
                  <a16:creationId xmlns:a16="http://schemas.microsoft.com/office/drawing/2014/main" id="{4A07A541-954F-59A7-D0B4-CBD5B21CEF61}"/>
                </a:ext>
              </a:extLst>
            </p:cNvPr>
            <p:cNvSpPr txBox="1"/>
            <p:nvPr/>
          </p:nvSpPr>
          <p:spPr bwMode="gray">
            <a:xfrm>
              <a:off x="5796318" y="3858274"/>
              <a:ext cx="5361404" cy="577081"/>
            </a:xfrm>
            <a:prstGeom prst="rect">
              <a:avLst/>
            </a:prstGeom>
            <a:noFill/>
          </p:spPr>
          <p:txBody>
            <a:bodyPr wrap="none" lIns="45708" tIns="45708" rIns="45708" bIns="45708" rtlCol="0">
              <a:spAutoFit/>
            </a:bodyPr>
            <a:lstStyle/>
            <a:p>
              <a:pPr>
                <a:lnSpc>
                  <a:spcPct val="90000"/>
                </a:lnSpc>
                <a:spcBef>
                  <a:spcPts val="1000"/>
                </a:spcBef>
                <a:defRPr/>
              </a:pPr>
              <a:r>
                <a:rPr lang="en-US" sz="3499">
                  <a:solidFill>
                    <a:srgbClr val="67BB6E"/>
                  </a:solidFill>
                  <a:latin typeface="Arial" panose="020B0604020202020204"/>
                </a:rPr>
                <a:t>Broad/more coverage/all 5</a:t>
              </a:r>
            </a:p>
          </p:txBody>
        </p:sp>
      </p:grpSp>
      <p:grpSp>
        <p:nvGrpSpPr>
          <p:cNvPr id="35" name="Group 34">
            <a:extLst>
              <a:ext uri="{FF2B5EF4-FFF2-40B4-BE49-F238E27FC236}">
                <a16:creationId xmlns:a16="http://schemas.microsoft.com/office/drawing/2014/main" id="{CC1AABA2-B8E5-DA6F-797B-88662B4CFFF3}"/>
              </a:ext>
            </a:extLst>
          </p:cNvPr>
          <p:cNvGrpSpPr/>
          <p:nvPr/>
        </p:nvGrpSpPr>
        <p:grpSpPr>
          <a:xfrm>
            <a:off x="5736243" y="4104125"/>
            <a:ext cx="4370456" cy="502197"/>
            <a:chOff x="6211441" y="4211263"/>
            <a:chExt cx="4371594" cy="502328"/>
          </a:xfrm>
        </p:grpSpPr>
        <p:sp>
          <p:nvSpPr>
            <p:cNvPr id="22" name="TextBox 21">
              <a:extLst>
                <a:ext uri="{FF2B5EF4-FFF2-40B4-BE49-F238E27FC236}">
                  <a16:creationId xmlns:a16="http://schemas.microsoft.com/office/drawing/2014/main" id="{F19A966C-E495-BFF7-C4F5-A81E650F125A}"/>
                </a:ext>
              </a:extLst>
            </p:cNvPr>
            <p:cNvSpPr txBox="1"/>
            <p:nvPr/>
          </p:nvSpPr>
          <p:spPr bwMode="gray">
            <a:xfrm>
              <a:off x="6393427" y="4247310"/>
              <a:ext cx="4189608" cy="466281"/>
            </a:xfrm>
            <a:prstGeom prst="rect">
              <a:avLst/>
            </a:prstGeom>
          </p:spPr>
          <p:txBody>
            <a:bodyPr wrap="none" lIns="45708" tIns="45708" rIns="45708" bIns="45708" rtlCol="0">
              <a:spAutoFit/>
            </a:bodyPr>
            <a:lstStyle/>
            <a:p>
              <a:pPr>
                <a:lnSpc>
                  <a:spcPct val="90000"/>
                </a:lnSpc>
                <a:spcBef>
                  <a:spcPts val="1000"/>
                </a:spcBef>
                <a:defRPr/>
              </a:pPr>
              <a:r>
                <a:rPr lang="en-US" sz="2699">
                  <a:solidFill>
                    <a:srgbClr val="0095FF"/>
                  </a:solidFill>
                  <a:latin typeface="Arial" panose="020B0604020202020204"/>
                </a:rPr>
                <a:t>One vaccine / Fewer shots</a:t>
              </a:r>
            </a:p>
          </p:txBody>
        </p:sp>
        <p:sp>
          <p:nvSpPr>
            <p:cNvPr id="45" name="TextBox 44">
              <a:extLst>
                <a:ext uri="{FF2B5EF4-FFF2-40B4-BE49-F238E27FC236}">
                  <a16:creationId xmlns:a16="http://schemas.microsoft.com/office/drawing/2014/main" id="{7B003FB1-D079-21A5-40DC-4567DDE6FA20}"/>
                </a:ext>
              </a:extLst>
            </p:cNvPr>
            <p:cNvSpPr txBox="1"/>
            <p:nvPr/>
          </p:nvSpPr>
          <p:spPr bwMode="gray">
            <a:xfrm rot="16200000">
              <a:off x="6083652" y="4339052"/>
              <a:ext cx="501799" cy="246221"/>
            </a:xfrm>
            <a:prstGeom prst="rect">
              <a:avLst/>
            </a:prstGeom>
            <a:noFill/>
          </p:spPr>
          <p:txBody>
            <a:bodyPr wrap="square">
              <a:spAutoFit/>
            </a:bodyPr>
            <a:lstStyle/>
            <a:p>
              <a:pPr algn="ctr">
                <a:defRPr/>
              </a:pPr>
              <a:r>
                <a:rPr lang="en-US" sz="1000">
                  <a:solidFill>
                    <a:srgbClr val="A6A6A6"/>
                  </a:solidFill>
                  <a:latin typeface="Arial" panose="020B0604020202020204"/>
                </a:rPr>
                <a:t>27%</a:t>
              </a:r>
            </a:p>
          </p:txBody>
        </p:sp>
      </p:grpSp>
      <p:sp>
        <p:nvSpPr>
          <p:cNvPr id="14" name="TextBox 13">
            <a:extLst>
              <a:ext uri="{FF2B5EF4-FFF2-40B4-BE49-F238E27FC236}">
                <a16:creationId xmlns:a16="http://schemas.microsoft.com/office/drawing/2014/main" id="{8FF48D82-9894-2723-B53D-D92DFBA6F96B}"/>
              </a:ext>
            </a:extLst>
          </p:cNvPr>
          <p:cNvSpPr txBox="1"/>
          <p:nvPr/>
        </p:nvSpPr>
        <p:spPr bwMode="gray">
          <a:xfrm>
            <a:off x="1982906" y="4942580"/>
            <a:ext cx="1711569" cy="707702"/>
          </a:xfrm>
          <a:prstGeom prst="rect">
            <a:avLst/>
          </a:prstGeom>
          <a:noFill/>
        </p:spPr>
        <p:txBody>
          <a:bodyPr wrap="square">
            <a:spAutoFit/>
          </a:bodyPr>
          <a:lstStyle/>
          <a:p>
            <a:pPr algn="ctr">
              <a:defRPr/>
            </a:pPr>
            <a:r>
              <a:rPr lang="en-US" sz="1600" b="1">
                <a:solidFill>
                  <a:srgbClr val="0000C9"/>
                </a:solidFill>
                <a:latin typeface="Arial" panose="020B0604020202020204"/>
              </a:rPr>
              <a:t>MenABCWY</a:t>
            </a:r>
          </a:p>
          <a:p>
            <a:pPr algn="ctr">
              <a:defRPr/>
            </a:pPr>
            <a:r>
              <a:rPr lang="en-US" sz="1200">
                <a:solidFill>
                  <a:srgbClr val="0000C9"/>
                </a:solidFill>
                <a:latin typeface="Arial" panose="020B0604020202020204"/>
              </a:rPr>
              <a:t>Recently Approved (October 2023)</a:t>
            </a:r>
            <a:endParaRPr lang="en-US" sz="1200">
              <a:solidFill>
                <a:srgbClr val="000000"/>
              </a:solidFill>
              <a:latin typeface="Arial" panose="020B0604020202020204"/>
            </a:endParaRPr>
          </a:p>
        </p:txBody>
      </p:sp>
      <p:sp>
        <p:nvSpPr>
          <p:cNvPr id="10" name="TextBox 9">
            <a:extLst>
              <a:ext uri="{FF2B5EF4-FFF2-40B4-BE49-F238E27FC236}">
                <a16:creationId xmlns:a16="http://schemas.microsoft.com/office/drawing/2014/main" id="{216DFB28-28D4-36BB-A588-3300B99AEECE}"/>
              </a:ext>
            </a:extLst>
          </p:cNvPr>
          <p:cNvSpPr txBox="1"/>
          <p:nvPr/>
        </p:nvSpPr>
        <p:spPr bwMode="gray">
          <a:xfrm>
            <a:off x="1283737" y="796050"/>
            <a:ext cx="10607358" cy="304941"/>
          </a:xfrm>
          <a:prstGeom prst="rect">
            <a:avLst/>
          </a:prstGeom>
        </p:spPr>
        <p:txBody>
          <a:bodyPr wrap="square" lIns="45708" tIns="45708" rIns="45708" bIns="45708" rtlCol="0">
            <a:noAutofit/>
          </a:bodyPr>
          <a:lstStyle/>
          <a:p>
            <a:pPr marL="171399" indent="-171399">
              <a:spcBef>
                <a:spcPts val="600"/>
              </a:spcBef>
              <a:buFont typeface="Arial" panose="020B0604020202020204" pitchFamily="34" charset="0"/>
              <a:buChar char="•"/>
              <a:defRPr/>
            </a:pPr>
            <a:r>
              <a:rPr lang="en-US" sz="1400" dirty="0">
                <a:solidFill>
                  <a:srgbClr val="FFFFFF">
                    <a:lumMod val="50000"/>
                  </a:srgbClr>
                </a:solidFill>
                <a:latin typeface="Arial" panose="020B0604020202020204"/>
              </a:rPr>
              <a:t>Significantly higher awareness of a recently approved pentavalent Meningococcal Vx among </a:t>
            </a:r>
            <a:r>
              <a:rPr lang="en-US" sz="1400" dirty="0">
                <a:solidFill>
                  <a:srgbClr val="FFFFFF">
                    <a:lumMod val="50000"/>
                  </a:srgbClr>
                </a:solidFill>
              </a:rPr>
              <a:t>HCPs who are more likely to recommend Penbraya over </a:t>
            </a:r>
            <a:r>
              <a:rPr lang="en-US" sz="1400" dirty="0" err="1">
                <a:solidFill>
                  <a:srgbClr val="FFFFFF">
                    <a:lumMod val="50000"/>
                  </a:srgbClr>
                </a:solidFill>
              </a:rPr>
              <a:t>Penmenvy</a:t>
            </a:r>
            <a:r>
              <a:rPr lang="en-US" sz="1400" dirty="0">
                <a:solidFill>
                  <a:srgbClr val="FFFFFF">
                    <a:lumMod val="50000"/>
                  </a:srgbClr>
                </a:solidFill>
              </a:rPr>
              <a:t> </a:t>
            </a:r>
            <a:endParaRPr lang="en-US" sz="1400" dirty="0">
              <a:solidFill>
                <a:srgbClr val="FFFFFF">
                  <a:lumMod val="50000"/>
                </a:srgbClr>
              </a:solidFill>
              <a:latin typeface="Arial" panose="020B0604020202020204"/>
            </a:endParaRPr>
          </a:p>
        </p:txBody>
      </p:sp>
      <p:grpSp>
        <p:nvGrpSpPr>
          <p:cNvPr id="39" name="Group 38">
            <a:extLst>
              <a:ext uri="{FF2B5EF4-FFF2-40B4-BE49-F238E27FC236}">
                <a16:creationId xmlns:a16="http://schemas.microsoft.com/office/drawing/2014/main" id="{7AF5458F-018E-B2AC-4767-B80CF6B78F64}"/>
              </a:ext>
            </a:extLst>
          </p:cNvPr>
          <p:cNvGrpSpPr/>
          <p:nvPr/>
        </p:nvGrpSpPr>
        <p:grpSpPr>
          <a:xfrm>
            <a:off x="9550271" y="2905244"/>
            <a:ext cx="667072" cy="501668"/>
            <a:chOff x="8069731" y="3036326"/>
            <a:chExt cx="667246" cy="501799"/>
          </a:xfrm>
        </p:grpSpPr>
        <p:sp>
          <p:nvSpPr>
            <p:cNvPr id="42" name="TextBox 41">
              <a:extLst>
                <a:ext uri="{FF2B5EF4-FFF2-40B4-BE49-F238E27FC236}">
                  <a16:creationId xmlns:a16="http://schemas.microsoft.com/office/drawing/2014/main" id="{3BF7BEFD-E42F-DFAD-D909-0CDC497C2E6A}"/>
                </a:ext>
              </a:extLst>
            </p:cNvPr>
            <p:cNvSpPr txBox="1"/>
            <p:nvPr/>
          </p:nvSpPr>
          <p:spPr bwMode="gray">
            <a:xfrm>
              <a:off x="8239084" y="3137184"/>
              <a:ext cx="497893" cy="300082"/>
            </a:xfrm>
            <a:prstGeom prst="rect">
              <a:avLst/>
            </a:prstGeom>
          </p:spPr>
          <p:txBody>
            <a:bodyPr wrap="none" lIns="45708" tIns="45708" rIns="45708" bIns="45708" rtlCol="0">
              <a:spAutoFit/>
            </a:bodyPr>
            <a:lstStyle/>
            <a:p>
              <a:pPr>
                <a:lnSpc>
                  <a:spcPct val="90000"/>
                </a:lnSpc>
                <a:spcBef>
                  <a:spcPts val="1000"/>
                </a:spcBef>
                <a:defRPr/>
              </a:pPr>
              <a:r>
                <a:rPr lang="en-US" sz="1500">
                  <a:solidFill>
                    <a:srgbClr val="F49C34"/>
                  </a:solidFill>
                  <a:latin typeface="Arial" panose="020B0604020202020204"/>
                </a:rPr>
                <a:t>GSK</a:t>
              </a:r>
            </a:p>
          </p:txBody>
        </p:sp>
        <p:sp>
          <p:nvSpPr>
            <p:cNvPr id="50" name="TextBox 49">
              <a:extLst>
                <a:ext uri="{FF2B5EF4-FFF2-40B4-BE49-F238E27FC236}">
                  <a16:creationId xmlns:a16="http://schemas.microsoft.com/office/drawing/2014/main" id="{32401498-D054-6309-48CD-9F30BE6CFAB4}"/>
                </a:ext>
              </a:extLst>
            </p:cNvPr>
            <p:cNvSpPr txBox="1"/>
            <p:nvPr/>
          </p:nvSpPr>
          <p:spPr bwMode="gray">
            <a:xfrm rot="16200000">
              <a:off x="7941942" y="3164115"/>
              <a:ext cx="501799" cy="246221"/>
            </a:xfrm>
            <a:prstGeom prst="rect">
              <a:avLst/>
            </a:prstGeom>
            <a:noFill/>
          </p:spPr>
          <p:txBody>
            <a:bodyPr wrap="square">
              <a:spAutoFit/>
            </a:bodyPr>
            <a:lstStyle/>
            <a:p>
              <a:pPr algn="ctr">
                <a:defRPr/>
              </a:pPr>
              <a:r>
                <a:rPr lang="en-US" sz="1000">
                  <a:solidFill>
                    <a:srgbClr val="FFFFFF">
                      <a:lumMod val="65000"/>
                    </a:srgbClr>
                  </a:solidFill>
                  <a:latin typeface="Arial" panose="020B0604020202020204"/>
                </a:rPr>
                <a:t>15%</a:t>
              </a:r>
            </a:p>
          </p:txBody>
        </p:sp>
      </p:grpSp>
      <p:grpSp>
        <p:nvGrpSpPr>
          <p:cNvPr id="51" name="Group 50">
            <a:extLst>
              <a:ext uri="{FF2B5EF4-FFF2-40B4-BE49-F238E27FC236}">
                <a16:creationId xmlns:a16="http://schemas.microsoft.com/office/drawing/2014/main" id="{C3016155-40FB-4D83-5933-6E421B5BC5B3}"/>
              </a:ext>
            </a:extLst>
          </p:cNvPr>
          <p:cNvGrpSpPr/>
          <p:nvPr/>
        </p:nvGrpSpPr>
        <p:grpSpPr>
          <a:xfrm>
            <a:off x="9294620" y="3325826"/>
            <a:ext cx="1171887" cy="501668"/>
            <a:chOff x="8069731" y="3036326"/>
            <a:chExt cx="1172192" cy="501799"/>
          </a:xfrm>
        </p:grpSpPr>
        <p:sp>
          <p:nvSpPr>
            <p:cNvPr id="52" name="TextBox 51">
              <a:extLst>
                <a:ext uri="{FF2B5EF4-FFF2-40B4-BE49-F238E27FC236}">
                  <a16:creationId xmlns:a16="http://schemas.microsoft.com/office/drawing/2014/main" id="{6C20D5EB-2FD0-FD53-CA7B-BE6F550A4ACF}"/>
                </a:ext>
              </a:extLst>
            </p:cNvPr>
            <p:cNvSpPr txBox="1"/>
            <p:nvPr/>
          </p:nvSpPr>
          <p:spPr bwMode="gray">
            <a:xfrm>
              <a:off x="8239084" y="3137184"/>
              <a:ext cx="1002839" cy="300082"/>
            </a:xfrm>
            <a:prstGeom prst="rect">
              <a:avLst/>
            </a:prstGeom>
          </p:spPr>
          <p:txBody>
            <a:bodyPr wrap="none" lIns="45708" tIns="45708" rIns="45708" bIns="45708" rtlCol="0">
              <a:spAutoFit/>
            </a:bodyPr>
            <a:lstStyle/>
            <a:p>
              <a:pPr>
                <a:lnSpc>
                  <a:spcPct val="90000"/>
                </a:lnSpc>
                <a:spcBef>
                  <a:spcPts val="1000"/>
                </a:spcBef>
                <a:defRPr/>
              </a:pPr>
              <a:r>
                <a:rPr lang="en-US" sz="1500">
                  <a:solidFill>
                    <a:srgbClr val="D95776"/>
                  </a:solidFill>
                  <a:latin typeface="Arial" panose="020B0604020202020204"/>
                </a:rPr>
                <a:t>Penmenvy</a:t>
              </a:r>
            </a:p>
          </p:txBody>
        </p:sp>
        <p:sp>
          <p:nvSpPr>
            <p:cNvPr id="53" name="TextBox 52">
              <a:extLst>
                <a:ext uri="{FF2B5EF4-FFF2-40B4-BE49-F238E27FC236}">
                  <a16:creationId xmlns:a16="http://schemas.microsoft.com/office/drawing/2014/main" id="{6F626356-D694-9C1B-9BA3-3E1225C2951D}"/>
                </a:ext>
              </a:extLst>
            </p:cNvPr>
            <p:cNvSpPr txBox="1"/>
            <p:nvPr/>
          </p:nvSpPr>
          <p:spPr bwMode="gray">
            <a:xfrm rot="16200000">
              <a:off x="7941942" y="3164115"/>
              <a:ext cx="501799" cy="246221"/>
            </a:xfrm>
            <a:prstGeom prst="rect">
              <a:avLst/>
            </a:prstGeom>
            <a:noFill/>
          </p:spPr>
          <p:txBody>
            <a:bodyPr wrap="square">
              <a:spAutoFit/>
            </a:bodyPr>
            <a:lstStyle/>
            <a:p>
              <a:pPr algn="ctr">
                <a:defRPr/>
              </a:pPr>
              <a:r>
                <a:rPr lang="en-US" sz="1000">
                  <a:solidFill>
                    <a:srgbClr val="FFFFFF">
                      <a:lumMod val="65000"/>
                    </a:srgbClr>
                  </a:solidFill>
                  <a:latin typeface="Arial" panose="020B0604020202020204"/>
                </a:rPr>
                <a:t>15%</a:t>
              </a:r>
            </a:p>
          </p:txBody>
        </p:sp>
      </p:grpSp>
      <p:grpSp>
        <p:nvGrpSpPr>
          <p:cNvPr id="56" name="Group 55">
            <a:extLst>
              <a:ext uri="{FF2B5EF4-FFF2-40B4-BE49-F238E27FC236}">
                <a16:creationId xmlns:a16="http://schemas.microsoft.com/office/drawing/2014/main" id="{D810994B-4644-A358-3713-645E7F87E667}"/>
              </a:ext>
            </a:extLst>
          </p:cNvPr>
          <p:cNvGrpSpPr/>
          <p:nvPr/>
        </p:nvGrpSpPr>
        <p:grpSpPr>
          <a:xfrm>
            <a:off x="8807405" y="4743173"/>
            <a:ext cx="974433" cy="501668"/>
            <a:chOff x="10598657" y="5134940"/>
            <a:chExt cx="974687" cy="501799"/>
          </a:xfrm>
        </p:grpSpPr>
        <p:sp>
          <p:nvSpPr>
            <p:cNvPr id="57" name="TextBox 56">
              <a:extLst>
                <a:ext uri="{FF2B5EF4-FFF2-40B4-BE49-F238E27FC236}">
                  <a16:creationId xmlns:a16="http://schemas.microsoft.com/office/drawing/2014/main" id="{62996A0E-811E-6FF0-65C2-92B3044B9C8E}"/>
                </a:ext>
              </a:extLst>
            </p:cNvPr>
            <p:cNvSpPr txBox="1"/>
            <p:nvPr/>
          </p:nvSpPr>
          <p:spPr bwMode="gray">
            <a:xfrm>
              <a:off x="10744234" y="5262729"/>
              <a:ext cx="829110" cy="261610"/>
            </a:xfrm>
            <a:prstGeom prst="rect">
              <a:avLst/>
            </a:prstGeom>
            <a:noFill/>
          </p:spPr>
          <p:txBody>
            <a:bodyPr wrap="square">
              <a:spAutoFit/>
            </a:bodyPr>
            <a:lstStyle/>
            <a:p>
              <a:pPr marL="345971" indent="-345971">
                <a:defRPr/>
              </a:pPr>
              <a:r>
                <a:rPr lang="en-US" sz="1100">
                  <a:solidFill>
                    <a:srgbClr val="0095FF">
                      <a:lumMod val="60000"/>
                      <a:lumOff val="40000"/>
                    </a:srgbClr>
                  </a:solidFill>
                  <a:latin typeface="Arial" panose="020B0604020202020204"/>
                </a:rPr>
                <a:t>Very little</a:t>
              </a:r>
            </a:p>
          </p:txBody>
        </p:sp>
        <p:sp>
          <p:nvSpPr>
            <p:cNvPr id="58" name="TextBox 57">
              <a:extLst>
                <a:ext uri="{FF2B5EF4-FFF2-40B4-BE49-F238E27FC236}">
                  <a16:creationId xmlns:a16="http://schemas.microsoft.com/office/drawing/2014/main" id="{ADF48E80-16D2-12AC-056C-F43A1112986B}"/>
                </a:ext>
              </a:extLst>
            </p:cNvPr>
            <p:cNvSpPr txBox="1"/>
            <p:nvPr/>
          </p:nvSpPr>
          <p:spPr bwMode="gray">
            <a:xfrm rot="16200000">
              <a:off x="10470868" y="5262729"/>
              <a:ext cx="501799" cy="246221"/>
            </a:xfrm>
            <a:prstGeom prst="rect">
              <a:avLst/>
            </a:prstGeom>
            <a:noFill/>
          </p:spPr>
          <p:txBody>
            <a:bodyPr wrap="square">
              <a:spAutoFit/>
            </a:bodyPr>
            <a:lstStyle/>
            <a:p>
              <a:pPr algn="ctr">
                <a:defRPr/>
              </a:pPr>
              <a:r>
                <a:rPr lang="en-US" sz="1000">
                  <a:solidFill>
                    <a:srgbClr val="A6A6A6"/>
                  </a:solidFill>
                  <a:latin typeface="Arial" panose="020B0604020202020204"/>
                </a:rPr>
                <a:t>11%</a:t>
              </a:r>
            </a:p>
          </p:txBody>
        </p:sp>
      </p:grpSp>
      <p:grpSp>
        <p:nvGrpSpPr>
          <p:cNvPr id="37" name="Group 36">
            <a:extLst>
              <a:ext uri="{FF2B5EF4-FFF2-40B4-BE49-F238E27FC236}">
                <a16:creationId xmlns:a16="http://schemas.microsoft.com/office/drawing/2014/main" id="{F7A4315D-E487-FA59-99D9-B6CE4E3580E8}"/>
              </a:ext>
            </a:extLst>
          </p:cNvPr>
          <p:cNvGrpSpPr/>
          <p:nvPr/>
        </p:nvGrpSpPr>
        <p:grpSpPr>
          <a:xfrm>
            <a:off x="6505936" y="4934952"/>
            <a:ext cx="2196378" cy="501668"/>
            <a:chOff x="6506043" y="4935343"/>
            <a:chExt cx="2196950" cy="501799"/>
          </a:xfrm>
        </p:grpSpPr>
        <p:sp>
          <p:nvSpPr>
            <p:cNvPr id="23" name="TextBox 22">
              <a:extLst>
                <a:ext uri="{FF2B5EF4-FFF2-40B4-BE49-F238E27FC236}">
                  <a16:creationId xmlns:a16="http://schemas.microsoft.com/office/drawing/2014/main" id="{E3CCBFE5-0872-AC92-122F-2C8E12CDC193}"/>
                </a:ext>
              </a:extLst>
            </p:cNvPr>
            <p:cNvSpPr txBox="1"/>
            <p:nvPr/>
          </p:nvSpPr>
          <p:spPr bwMode="gray">
            <a:xfrm>
              <a:off x="6691746" y="5096039"/>
              <a:ext cx="2011247" cy="216982"/>
            </a:xfrm>
            <a:prstGeom prst="rect">
              <a:avLst/>
            </a:prstGeom>
          </p:spPr>
          <p:txBody>
            <a:bodyPr wrap="square" lIns="45708" tIns="45708" rIns="45708" bIns="45708" rtlCol="0">
              <a:spAutoFit/>
            </a:bodyPr>
            <a:lstStyle/>
            <a:p>
              <a:pPr>
                <a:lnSpc>
                  <a:spcPct val="90000"/>
                </a:lnSpc>
                <a:spcBef>
                  <a:spcPts val="1000"/>
                </a:spcBef>
                <a:defRPr/>
              </a:pPr>
              <a:r>
                <a:rPr lang="en-US" sz="900" dirty="0">
                  <a:solidFill>
                    <a:srgbClr val="000000"/>
                  </a:solidFill>
                  <a:latin typeface="Arial" panose="020B0604020202020204"/>
                </a:rPr>
                <a:t>Must use with Trumenba / Same </a:t>
              </a:r>
              <a:r>
                <a:rPr lang="en-US" sz="900" dirty="0" err="1">
                  <a:solidFill>
                    <a:srgbClr val="000000"/>
                  </a:solidFill>
                  <a:latin typeface="Arial" panose="020B0604020202020204"/>
                </a:rPr>
                <a:t>mfr</a:t>
              </a:r>
              <a:endParaRPr lang="en-US" sz="900" dirty="0">
                <a:solidFill>
                  <a:srgbClr val="000000"/>
                </a:solidFill>
                <a:latin typeface="Arial" panose="020B0604020202020204"/>
              </a:endParaRPr>
            </a:p>
          </p:txBody>
        </p:sp>
        <p:sp>
          <p:nvSpPr>
            <p:cNvPr id="36" name="TextBox 35">
              <a:extLst>
                <a:ext uri="{FF2B5EF4-FFF2-40B4-BE49-F238E27FC236}">
                  <a16:creationId xmlns:a16="http://schemas.microsoft.com/office/drawing/2014/main" id="{7752342A-333F-FD0B-4EF7-4BCE30E420F1}"/>
                </a:ext>
              </a:extLst>
            </p:cNvPr>
            <p:cNvSpPr txBox="1"/>
            <p:nvPr/>
          </p:nvSpPr>
          <p:spPr bwMode="gray">
            <a:xfrm rot="16200000">
              <a:off x="6378254" y="5063132"/>
              <a:ext cx="501799" cy="246221"/>
            </a:xfrm>
            <a:prstGeom prst="rect">
              <a:avLst/>
            </a:prstGeom>
            <a:noFill/>
          </p:spPr>
          <p:txBody>
            <a:bodyPr wrap="square">
              <a:spAutoFit/>
            </a:bodyPr>
            <a:lstStyle/>
            <a:p>
              <a:pPr algn="ctr">
                <a:defRPr/>
              </a:pPr>
              <a:r>
                <a:rPr lang="en-US" sz="1000">
                  <a:solidFill>
                    <a:srgbClr val="A6A6A6"/>
                  </a:solidFill>
                  <a:latin typeface="Arial" panose="020B0604020202020204"/>
                </a:rPr>
                <a:t>9%</a:t>
              </a:r>
            </a:p>
          </p:txBody>
        </p:sp>
      </p:grpSp>
      <p:sp>
        <p:nvSpPr>
          <p:cNvPr id="54" name="TextBox 53">
            <a:extLst>
              <a:ext uri="{FF2B5EF4-FFF2-40B4-BE49-F238E27FC236}">
                <a16:creationId xmlns:a16="http://schemas.microsoft.com/office/drawing/2014/main" id="{BCD79D09-C7EF-F8A9-8639-38FA391A939C}"/>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spTree>
    <p:extLst>
      <p:ext uri="{BB962C8B-B14F-4D97-AF65-F5344CB8AC3E}">
        <p14:creationId xmlns:p14="http://schemas.microsoft.com/office/powerpoint/2010/main" val="2130479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7AA9D-0463-9AD6-4515-DDF436C0FFC6}"/>
            </a:ext>
          </a:extLst>
        </p:cNvPr>
        <p:cNvGrpSpPr/>
        <p:nvPr/>
      </p:nvGrpSpPr>
      <p:grpSpPr>
        <a:xfrm>
          <a:off x="0" y="0"/>
          <a:ext cx="0" cy="0"/>
          <a:chOff x="0" y="0"/>
          <a:chExt cx="0" cy="0"/>
        </a:xfrm>
      </p:grpSpPr>
      <p:graphicFrame>
        <p:nvGraphicFramePr>
          <p:cNvPr id="75" name="Chart 74">
            <a:extLst>
              <a:ext uri="{FF2B5EF4-FFF2-40B4-BE49-F238E27FC236}">
                <a16:creationId xmlns:a16="http://schemas.microsoft.com/office/drawing/2014/main" id="{AD251B44-7627-FFFD-99F4-68211CC47D8D}"/>
              </a:ext>
            </a:extLst>
          </p:cNvPr>
          <p:cNvGraphicFramePr/>
          <p:nvPr>
            <p:extLst>
              <p:ext uri="{D42A27DB-BD31-4B8C-83A1-F6EECF244321}">
                <p14:modId xmlns:p14="http://schemas.microsoft.com/office/powerpoint/2010/main" val="4059205146"/>
              </p:ext>
            </p:extLst>
          </p:nvPr>
        </p:nvGraphicFramePr>
        <p:xfrm>
          <a:off x="936105" y="2727177"/>
          <a:ext cx="7700296" cy="3058520"/>
        </p:xfrm>
        <a:graphic>
          <a:graphicData uri="http://schemas.openxmlformats.org/drawingml/2006/chart">
            <c:chart xmlns:c="http://schemas.openxmlformats.org/drawingml/2006/chart" xmlns:r="http://schemas.openxmlformats.org/officeDocument/2006/relationships" r:id="rId3"/>
          </a:graphicData>
        </a:graphic>
      </p:graphicFrame>
      <p:sp>
        <p:nvSpPr>
          <p:cNvPr id="9" name="Right Brace 8">
            <a:extLst>
              <a:ext uri="{FF2B5EF4-FFF2-40B4-BE49-F238E27FC236}">
                <a16:creationId xmlns:a16="http://schemas.microsoft.com/office/drawing/2014/main" id="{4D9889FD-4BC3-0348-4449-0CCBCCA05CB9}"/>
              </a:ext>
            </a:extLst>
          </p:cNvPr>
          <p:cNvSpPr/>
          <p:nvPr/>
        </p:nvSpPr>
        <p:spPr bwMode="gray">
          <a:xfrm>
            <a:off x="6854359" y="2857797"/>
            <a:ext cx="156041" cy="1973283"/>
          </a:xfrm>
          <a:prstGeom prst="rightBrace">
            <a:avLst>
              <a:gd name="adj1" fmla="val 0"/>
              <a:gd name="adj2" fmla="val 66798"/>
            </a:avLst>
          </a:prstGeom>
          <a:noFill/>
          <a:ln w="12700" cap="rnd">
            <a:solidFill>
              <a:schemeClr val="bg1">
                <a:lumMod val="75000"/>
              </a:schemeClr>
            </a:solidFill>
            <a:prstDash val="solid"/>
            <a:round/>
            <a:headEnd/>
            <a:tailEnd/>
          </a:ln>
          <a:effectLst/>
        </p:spPr>
        <p:txBody>
          <a:bodyPr rtlCol="0" anchor="ctr"/>
          <a:lstStyle/>
          <a:p>
            <a:pPr algn="ctr"/>
            <a:endParaRPr lang="en-US"/>
          </a:p>
        </p:txBody>
      </p:sp>
      <p:sp>
        <p:nvSpPr>
          <p:cNvPr id="5" name="Rectangle: Rounded Corners 4">
            <a:extLst>
              <a:ext uri="{FF2B5EF4-FFF2-40B4-BE49-F238E27FC236}">
                <a16:creationId xmlns:a16="http://schemas.microsoft.com/office/drawing/2014/main" id="{A68C054B-A519-44A3-5058-D29ABFEE8C16}"/>
              </a:ext>
            </a:extLst>
          </p:cNvPr>
          <p:cNvSpPr/>
          <p:nvPr/>
        </p:nvSpPr>
        <p:spPr bwMode="gray">
          <a:xfrm>
            <a:off x="638884" y="1544265"/>
            <a:ext cx="10930503" cy="4245707"/>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0" name="Title 29">
            <a:extLst>
              <a:ext uri="{FF2B5EF4-FFF2-40B4-BE49-F238E27FC236}">
                <a16:creationId xmlns:a16="http://schemas.microsoft.com/office/drawing/2014/main" id="{FAE8ECB2-D7ED-9FD4-E2AF-B768F848B6E0}"/>
              </a:ext>
            </a:extLst>
          </p:cNvPr>
          <p:cNvSpPr>
            <a:spLocks noGrp="1"/>
          </p:cNvSpPr>
          <p:nvPr>
            <p:ph type="title"/>
          </p:nvPr>
        </p:nvSpPr>
        <p:spPr>
          <a:xfrm>
            <a:off x="1144704" y="172005"/>
            <a:ext cx="10587040" cy="849950"/>
          </a:xfrm>
        </p:spPr>
        <p:txBody>
          <a:bodyPr/>
          <a:lstStyle/>
          <a:p>
            <a:r>
              <a:rPr lang="en-US" dirty="0"/>
              <a:t>Nearly half of HCPs (44%) express familiarity with Penbraya, while significantly fewer (30%) are familiar with </a:t>
            </a:r>
            <a:r>
              <a:rPr lang="en-US" dirty="0" err="1"/>
              <a:t>Penmenvy</a:t>
            </a:r>
            <a:r>
              <a:rPr lang="en-US" dirty="0"/>
              <a:t> </a:t>
            </a:r>
          </a:p>
        </p:txBody>
      </p:sp>
      <p:sp>
        <p:nvSpPr>
          <p:cNvPr id="27" name="Text Placeholder 26">
            <a:extLst>
              <a:ext uri="{FF2B5EF4-FFF2-40B4-BE49-F238E27FC236}">
                <a16:creationId xmlns:a16="http://schemas.microsoft.com/office/drawing/2014/main" id="{4131E2C3-94E3-D49D-C7AE-E7E90E56F9D5}"/>
              </a:ext>
            </a:extLst>
          </p:cNvPr>
          <p:cNvSpPr>
            <a:spLocks noGrp="1"/>
          </p:cNvSpPr>
          <p:nvPr>
            <p:ph type="body" sz="quarter" idx="16"/>
          </p:nvPr>
        </p:nvSpPr>
        <p:spPr>
          <a:xfrm>
            <a:off x="1573980" y="6248640"/>
            <a:ext cx="9234439" cy="494365"/>
          </a:xfrm>
        </p:spPr>
        <p:txBody>
          <a:bodyPr/>
          <a:lstStyle/>
          <a:p>
            <a:r>
              <a:rPr lang="en-US" baseline="30000">
                <a:solidFill>
                  <a:srgbClr val="FF0000"/>
                </a:solidFill>
              </a:rPr>
              <a:t>† </a:t>
            </a:r>
            <a:r>
              <a:rPr lang="en-US">
                <a:solidFill>
                  <a:srgbClr val="FF0000"/>
                </a:solidFill>
              </a:rPr>
              <a:t>Added in Sep‘25</a:t>
            </a:r>
            <a:endParaRPr lang="en-US" sz="1000">
              <a:solidFill>
                <a:srgbClr val="FF0000"/>
              </a:solidFill>
            </a:endParaRPr>
          </a:p>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a:t>
            </a:r>
          </a:p>
          <a:p>
            <a:r>
              <a:rPr lang="en-US"/>
              <a:t>C5. How familiar are you with the following Meningococcal vaccines?</a:t>
            </a:r>
            <a:endParaRPr lang="en-US" b="1"/>
          </a:p>
        </p:txBody>
      </p:sp>
      <p:grpSp>
        <p:nvGrpSpPr>
          <p:cNvPr id="28" name="Group 27">
            <a:extLst>
              <a:ext uri="{FF2B5EF4-FFF2-40B4-BE49-F238E27FC236}">
                <a16:creationId xmlns:a16="http://schemas.microsoft.com/office/drawing/2014/main" id="{4EA36C50-6FAE-1B21-12F1-EC4C7C801C90}"/>
              </a:ext>
            </a:extLst>
          </p:cNvPr>
          <p:cNvGrpSpPr/>
          <p:nvPr/>
        </p:nvGrpSpPr>
        <p:grpSpPr>
          <a:xfrm>
            <a:off x="751388" y="1601271"/>
            <a:ext cx="649840" cy="538842"/>
            <a:chOff x="1686341" y="1600319"/>
            <a:chExt cx="650178" cy="539122"/>
          </a:xfrm>
        </p:grpSpPr>
        <p:cxnSp>
          <p:nvCxnSpPr>
            <p:cNvPr id="29" name="Straight Connector 28">
              <a:extLst>
                <a:ext uri="{FF2B5EF4-FFF2-40B4-BE49-F238E27FC236}">
                  <a16:creationId xmlns:a16="http://schemas.microsoft.com/office/drawing/2014/main" id="{CFAAC629-EE4B-E8A2-BB60-6D94A4957491}"/>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31" name="TextBox 30">
              <a:extLst>
                <a:ext uri="{FF2B5EF4-FFF2-40B4-BE49-F238E27FC236}">
                  <a16:creationId xmlns:a16="http://schemas.microsoft.com/office/drawing/2014/main" id="{7EE371E4-424E-EE36-3A14-F1039095DBCC}"/>
                </a:ext>
              </a:extLst>
            </p:cNvPr>
            <p:cNvSpPr txBox="1"/>
            <p:nvPr/>
          </p:nvSpPr>
          <p:spPr bwMode="gray">
            <a:xfrm>
              <a:off x="1686341" y="1600319"/>
              <a:ext cx="650178" cy="539122"/>
            </a:xfrm>
            <a:prstGeom prst="rect">
              <a:avLst/>
            </a:prstGeom>
          </p:spPr>
          <p:txBody>
            <a:bodyPr wrap="none" lIns="45696" tIns="45696" rIns="45696" bIns="45696" rtlCol="0">
              <a:spAutoFit/>
            </a:bodyPr>
            <a:lstStyle/>
            <a:p>
              <a:pPr algn="ctr">
                <a:lnSpc>
                  <a:spcPct val="90000"/>
                </a:lnSpc>
                <a:spcBef>
                  <a:spcPts val="1000"/>
                </a:spcBef>
                <a:defRPr/>
              </a:pPr>
              <a:r>
                <a:rPr lang="en-US" sz="1400">
                  <a:solidFill>
                    <a:srgbClr val="000000"/>
                  </a:solidFill>
                  <a:latin typeface="Arial" panose="020B0604020202020204"/>
                </a:rPr>
                <a:t>Sep’25</a:t>
              </a:r>
            </a:p>
            <a:p>
              <a:pPr algn="ctr">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36" name="TextBox 35">
            <a:extLst>
              <a:ext uri="{FF2B5EF4-FFF2-40B4-BE49-F238E27FC236}">
                <a16:creationId xmlns:a16="http://schemas.microsoft.com/office/drawing/2014/main" id="{717F3A61-31A9-A214-69E7-D9DCACA129FD}"/>
              </a:ext>
            </a:extLst>
          </p:cNvPr>
          <p:cNvSpPr txBox="1"/>
          <p:nvPr/>
        </p:nvSpPr>
        <p:spPr bwMode="gray">
          <a:xfrm>
            <a:off x="663461" y="1310652"/>
            <a:ext cx="825694" cy="338378"/>
          </a:xfrm>
          <a:prstGeom prst="rect">
            <a:avLst/>
          </a:prstGeom>
          <a:noFill/>
        </p:spPr>
        <p:txBody>
          <a:bodyPr wrap="none">
            <a:spAutoFit/>
          </a:bodyPr>
          <a:lstStyle/>
          <a:p>
            <a:pPr>
              <a:defRPr/>
            </a:pPr>
            <a:r>
              <a:rPr lang="en-US" sz="1600">
                <a:solidFill>
                  <a:srgbClr val="000000"/>
                </a:solidFill>
                <a:latin typeface="Arial" panose="020B0604020202020204"/>
              </a:rPr>
              <a:t>TOTAL</a:t>
            </a:r>
          </a:p>
        </p:txBody>
      </p:sp>
      <p:cxnSp>
        <p:nvCxnSpPr>
          <p:cNvPr id="76" name="Straight Connector 75">
            <a:extLst>
              <a:ext uri="{FF2B5EF4-FFF2-40B4-BE49-F238E27FC236}">
                <a16:creationId xmlns:a16="http://schemas.microsoft.com/office/drawing/2014/main" id="{4535E13D-7848-1CD3-8248-59378987F40A}"/>
              </a:ext>
            </a:extLst>
          </p:cNvPr>
          <p:cNvCxnSpPr>
            <a:cxnSpLocks/>
          </p:cNvCxnSpPr>
          <p:nvPr/>
        </p:nvCxnSpPr>
        <p:spPr bwMode="gray">
          <a:xfrm>
            <a:off x="3548863" y="2672631"/>
            <a:ext cx="0" cy="3015948"/>
          </a:xfrm>
          <a:prstGeom prst="line">
            <a:avLst/>
          </a:prstGeom>
          <a:noFill/>
          <a:ln w="9525" cap="rnd">
            <a:solidFill>
              <a:schemeClr val="bg1">
                <a:lumMod val="75000"/>
              </a:schemeClr>
            </a:solidFill>
            <a:prstDash val="solid"/>
            <a:round/>
            <a:headEnd/>
            <a:tailEnd/>
          </a:ln>
          <a:effectLst/>
        </p:spPr>
      </p:cxnSp>
      <p:cxnSp>
        <p:nvCxnSpPr>
          <p:cNvPr id="77" name="Straight Connector 76">
            <a:extLst>
              <a:ext uri="{FF2B5EF4-FFF2-40B4-BE49-F238E27FC236}">
                <a16:creationId xmlns:a16="http://schemas.microsoft.com/office/drawing/2014/main" id="{5951F53F-5204-2E9D-0FB8-106E0656B2ED}"/>
              </a:ext>
            </a:extLst>
          </p:cNvPr>
          <p:cNvCxnSpPr>
            <a:cxnSpLocks/>
          </p:cNvCxnSpPr>
          <p:nvPr/>
        </p:nvCxnSpPr>
        <p:spPr bwMode="gray">
          <a:xfrm>
            <a:off x="6030562" y="2672631"/>
            <a:ext cx="0" cy="3015948"/>
          </a:xfrm>
          <a:prstGeom prst="line">
            <a:avLst/>
          </a:prstGeom>
          <a:noFill/>
          <a:ln w="9525" cap="rnd">
            <a:solidFill>
              <a:schemeClr val="bg1">
                <a:lumMod val="75000"/>
              </a:schemeClr>
            </a:solidFill>
            <a:prstDash val="solid"/>
            <a:round/>
            <a:headEnd/>
            <a:tailEnd/>
          </a:ln>
          <a:effectLst/>
        </p:spPr>
      </p:cxnSp>
      <p:graphicFrame>
        <p:nvGraphicFramePr>
          <p:cNvPr id="78" name="Table 3">
            <a:extLst>
              <a:ext uri="{FF2B5EF4-FFF2-40B4-BE49-F238E27FC236}">
                <a16:creationId xmlns:a16="http://schemas.microsoft.com/office/drawing/2014/main" id="{544E4C2F-9933-2EB9-C949-C96608E8C133}"/>
              </a:ext>
            </a:extLst>
          </p:cNvPr>
          <p:cNvGraphicFramePr>
            <a:graphicFrameLocks noGrp="1"/>
          </p:cNvGraphicFramePr>
          <p:nvPr/>
        </p:nvGraphicFramePr>
        <p:xfrm>
          <a:off x="1275527" y="2187144"/>
          <a:ext cx="2100080" cy="325419"/>
        </p:xfrm>
        <a:graphic>
          <a:graphicData uri="http://schemas.openxmlformats.org/drawingml/2006/table">
            <a:tbl>
              <a:tblPr firstRow="1" bandRow="1">
                <a:tableStyleId>{5C22544A-7EE6-4342-B048-85BDC9FD1C3A}</a:tableStyleId>
              </a:tblPr>
              <a:tblGrid>
                <a:gridCol w="2100080">
                  <a:extLst>
                    <a:ext uri="{9D8B030D-6E8A-4147-A177-3AD203B41FA5}">
                      <a16:colId xmlns:a16="http://schemas.microsoft.com/office/drawing/2014/main" val="2733787592"/>
                    </a:ext>
                  </a:extLst>
                </a:gridCol>
              </a:tblGrid>
              <a:tr h="325419">
                <a:tc>
                  <a:txBody>
                    <a:bodyPr/>
                    <a:lstStyle/>
                    <a:p>
                      <a:pPr algn="ctr"/>
                      <a:r>
                        <a:rPr lang="en-US" sz="1400" b="1">
                          <a:solidFill>
                            <a:schemeClr val="tx1"/>
                          </a:solidFill>
                        </a:rPr>
                        <a:t>MenACWY</a:t>
                      </a:r>
                    </a:p>
                  </a:txBody>
                  <a:tcPr marL="0" marR="0" marT="45672"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1968976"/>
                  </a:ext>
                </a:extLst>
              </a:tr>
            </a:tbl>
          </a:graphicData>
        </a:graphic>
      </p:graphicFrame>
      <p:graphicFrame>
        <p:nvGraphicFramePr>
          <p:cNvPr id="79" name="Table 3">
            <a:extLst>
              <a:ext uri="{FF2B5EF4-FFF2-40B4-BE49-F238E27FC236}">
                <a16:creationId xmlns:a16="http://schemas.microsoft.com/office/drawing/2014/main" id="{51607284-4B73-D427-04C4-973CFB47F908}"/>
              </a:ext>
            </a:extLst>
          </p:cNvPr>
          <p:cNvGraphicFramePr>
            <a:graphicFrameLocks noGrp="1"/>
          </p:cNvGraphicFramePr>
          <p:nvPr/>
        </p:nvGraphicFramePr>
        <p:xfrm>
          <a:off x="3795335" y="2187144"/>
          <a:ext cx="1993133" cy="325419"/>
        </p:xfrm>
        <a:graphic>
          <a:graphicData uri="http://schemas.openxmlformats.org/drawingml/2006/table">
            <a:tbl>
              <a:tblPr firstRow="1" bandRow="1">
                <a:tableStyleId>{5C22544A-7EE6-4342-B048-85BDC9FD1C3A}</a:tableStyleId>
              </a:tblPr>
              <a:tblGrid>
                <a:gridCol w="1993133">
                  <a:extLst>
                    <a:ext uri="{9D8B030D-6E8A-4147-A177-3AD203B41FA5}">
                      <a16:colId xmlns:a16="http://schemas.microsoft.com/office/drawing/2014/main" val="2733787592"/>
                    </a:ext>
                  </a:extLst>
                </a:gridCol>
              </a:tblGrid>
              <a:tr h="325419">
                <a:tc>
                  <a:txBody>
                    <a:bodyPr/>
                    <a:lstStyle/>
                    <a:p>
                      <a:pPr algn="ctr"/>
                      <a:r>
                        <a:rPr lang="en-US" sz="1400" b="1">
                          <a:solidFill>
                            <a:schemeClr val="tx1"/>
                          </a:solidFill>
                        </a:rPr>
                        <a:t>MenB</a:t>
                      </a:r>
                    </a:p>
                  </a:txBody>
                  <a:tcPr marL="0" marR="0" marT="45672"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1968976"/>
                  </a:ext>
                </a:extLst>
              </a:tr>
            </a:tbl>
          </a:graphicData>
        </a:graphic>
      </p:graphicFrame>
      <p:graphicFrame>
        <p:nvGraphicFramePr>
          <p:cNvPr id="80" name="Table 3">
            <a:extLst>
              <a:ext uri="{FF2B5EF4-FFF2-40B4-BE49-F238E27FC236}">
                <a16:creationId xmlns:a16="http://schemas.microsoft.com/office/drawing/2014/main" id="{1B6ECE54-E064-C913-D005-3B167B173C0E}"/>
              </a:ext>
            </a:extLst>
          </p:cNvPr>
          <p:cNvGraphicFramePr>
            <a:graphicFrameLocks noGrp="1"/>
          </p:cNvGraphicFramePr>
          <p:nvPr/>
        </p:nvGraphicFramePr>
        <p:xfrm>
          <a:off x="6246287" y="2187144"/>
          <a:ext cx="1992873" cy="325419"/>
        </p:xfrm>
        <a:graphic>
          <a:graphicData uri="http://schemas.openxmlformats.org/drawingml/2006/table">
            <a:tbl>
              <a:tblPr firstRow="1" bandRow="1">
                <a:tableStyleId>{5C22544A-7EE6-4342-B048-85BDC9FD1C3A}</a:tableStyleId>
              </a:tblPr>
              <a:tblGrid>
                <a:gridCol w="1992873">
                  <a:extLst>
                    <a:ext uri="{9D8B030D-6E8A-4147-A177-3AD203B41FA5}">
                      <a16:colId xmlns:a16="http://schemas.microsoft.com/office/drawing/2014/main" val="2733787592"/>
                    </a:ext>
                  </a:extLst>
                </a:gridCol>
              </a:tblGrid>
              <a:tr h="325419">
                <a:tc>
                  <a:txBody>
                    <a:bodyPr/>
                    <a:lstStyle/>
                    <a:p>
                      <a:pPr algn="ctr"/>
                      <a:r>
                        <a:rPr lang="en-US" sz="1400" b="1">
                          <a:solidFill>
                            <a:schemeClr val="tx1"/>
                          </a:solidFill>
                        </a:rPr>
                        <a:t>MenABCWY</a:t>
                      </a:r>
                    </a:p>
                  </a:txBody>
                  <a:tcPr marL="0" marR="0" marT="45672"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1968976"/>
                  </a:ext>
                </a:extLst>
              </a:tr>
            </a:tbl>
          </a:graphicData>
        </a:graphic>
      </p:graphicFrame>
      <p:sp>
        <p:nvSpPr>
          <p:cNvPr id="81" name="TextBox 80">
            <a:extLst>
              <a:ext uri="{FF2B5EF4-FFF2-40B4-BE49-F238E27FC236}">
                <a16:creationId xmlns:a16="http://schemas.microsoft.com/office/drawing/2014/main" id="{8FEFD77C-C4EA-7DC4-FB74-4A2D97C53943}"/>
              </a:ext>
            </a:extLst>
          </p:cNvPr>
          <p:cNvSpPr txBox="1"/>
          <p:nvPr/>
        </p:nvSpPr>
        <p:spPr bwMode="gray">
          <a:xfrm>
            <a:off x="3652174" y="1654395"/>
            <a:ext cx="4884479" cy="341454"/>
          </a:xfrm>
          <a:prstGeom prst="rect">
            <a:avLst/>
          </a:prstGeom>
        </p:spPr>
        <p:txBody>
          <a:bodyPr wrap="square" lIns="45696" tIns="45696" rIns="45696" bIns="45696" rtlCol="0">
            <a:spAutoFit/>
          </a:bodyPr>
          <a:lstStyle/>
          <a:p>
            <a:pPr algn="ctr">
              <a:lnSpc>
                <a:spcPct val="90000"/>
              </a:lnSpc>
              <a:spcAft>
                <a:spcPts val="400"/>
              </a:spcAft>
              <a:defRPr/>
            </a:pPr>
            <a:r>
              <a:rPr lang="en-US" sz="1798" b="1">
                <a:solidFill>
                  <a:srgbClr val="0000C9"/>
                </a:solidFill>
                <a:latin typeface="Arial" panose="020B0604020202020204"/>
              </a:rPr>
              <a:t>Familiarity with Meningococcal Vaccines</a:t>
            </a:r>
          </a:p>
        </p:txBody>
      </p:sp>
      <p:sp>
        <p:nvSpPr>
          <p:cNvPr id="10" name="Rectangle 9">
            <a:extLst>
              <a:ext uri="{FF2B5EF4-FFF2-40B4-BE49-F238E27FC236}">
                <a16:creationId xmlns:a16="http://schemas.microsoft.com/office/drawing/2014/main" id="{2D53FC75-25F3-C3B5-6E3C-0F03E9D9CB18}"/>
              </a:ext>
            </a:extLst>
          </p:cNvPr>
          <p:cNvSpPr/>
          <p:nvPr/>
        </p:nvSpPr>
        <p:spPr bwMode="gray">
          <a:xfrm>
            <a:off x="6412616" y="2857798"/>
            <a:ext cx="438938" cy="1103453"/>
          </a:xfrm>
          <a:prstGeom prst="rect">
            <a:avLst/>
          </a:prstGeom>
          <a:noFill/>
          <a:ln w="19050" cap="flat" cmpd="sng" algn="ctr">
            <a:solidFill>
              <a:schemeClr val="tx1"/>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8" name="TextBox 17">
            <a:extLst>
              <a:ext uri="{FF2B5EF4-FFF2-40B4-BE49-F238E27FC236}">
                <a16:creationId xmlns:a16="http://schemas.microsoft.com/office/drawing/2014/main" id="{84CBD990-10B0-86B7-04D2-3A4B48E39F56}"/>
              </a:ext>
            </a:extLst>
          </p:cNvPr>
          <p:cNvSpPr txBox="1"/>
          <p:nvPr/>
        </p:nvSpPr>
        <p:spPr bwMode="gray">
          <a:xfrm rot="10800000">
            <a:off x="1789707" y="4989954"/>
            <a:ext cx="124297" cy="193849"/>
          </a:xfrm>
          <a:prstGeom prst="rect">
            <a:avLst/>
          </a:prstGeom>
          <a:noFill/>
        </p:spPr>
        <p:txBody>
          <a:bodyPr wrap="none" lIns="27425" tIns="27425" rIns="27425" bIns="27425">
            <a:spAutoFit/>
          </a:bodyPr>
          <a:lstStyle/>
          <a:p>
            <a:r>
              <a:rPr lang="en-US" altLang="en-US" sz="900">
                <a:solidFill>
                  <a:srgbClr val="FF0000"/>
                </a:solidFill>
                <a:latin typeface="Arial" panose="020B0604020202020204"/>
                <a:cs typeface="Arial" panose="020B0604020202020204" pitchFamily="34" charset="0"/>
                <a:sym typeface="Symbol" pitchFamily="18" charset="2"/>
              </a:rPr>
              <a:t></a:t>
            </a:r>
            <a:endParaRPr lang="en-US" sz="1799">
              <a:solidFill>
                <a:srgbClr val="000000"/>
              </a:solidFill>
              <a:latin typeface="Arial" panose="020B0604020202020204"/>
            </a:endParaRPr>
          </a:p>
        </p:txBody>
      </p:sp>
      <p:grpSp>
        <p:nvGrpSpPr>
          <p:cNvPr id="12" name="Group 11">
            <a:extLst>
              <a:ext uri="{FF2B5EF4-FFF2-40B4-BE49-F238E27FC236}">
                <a16:creationId xmlns:a16="http://schemas.microsoft.com/office/drawing/2014/main" id="{0BA01B54-1ACA-2395-DFB3-C880701D59D1}"/>
              </a:ext>
            </a:extLst>
          </p:cNvPr>
          <p:cNvGrpSpPr/>
          <p:nvPr/>
        </p:nvGrpSpPr>
        <p:grpSpPr>
          <a:xfrm>
            <a:off x="9061026" y="5086880"/>
            <a:ext cx="2227638" cy="276855"/>
            <a:chOff x="8075040" y="4864180"/>
            <a:chExt cx="2228796" cy="276999"/>
          </a:xfrm>
        </p:grpSpPr>
        <p:sp>
          <p:nvSpPr>
            <p:cNvPr id="17" name="Oval 16">
              <a:extLst>
                <a:ext uri="{FF2B5EF4-FFF2-40B4-BE49-F238E27FC236}">
                  <a16:creationId xmlns:a16="http://schemas.microsoft.com/office/drawing/2014/main" id="{D7C47600-F03F-8E6A-3EBC-EED5A80C8C92}"/>
                </a:ext>
              </a:extLst>
            </p:cNvPr>
            <p:cNvSpPr/>
            <p:nvPr/>
          </p:nvSpPr>
          <p:spPr bwMode="gray">
            <a:xfrm>
              <a:off x="8075040" y="4903545"/>
              <a:ext cx="182880" cy="182880"/>
            </a:xfrm>
            <a:prstGeom prst="ellipse">
              <a:avLst/>
            </a:prstGeom>
            <a:solidFill>
              <a:schemeClr val="bg1">
                <a:lumMod val="65000"/>
              </a:schemeClr>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200" b="1">
                <a:solidFill>
                  <a:srgbClr val="0000C9"/>
                </a:solidFill>
                <a:latin typeface="Arial" panose="020B0604020202020204"/>
              </a:endParaRPr>
            </a:p>
          </p:txBody>
        </p:sp>
        <p:sp>
          <p:nvSpPr>
            <p:cNvPr id="19" name="TextBox 18">
              <a:extLst>
                <a:ext uri="{FF2B5EF4-FFF2-40B4-BE49-F238E27FC236}">
                  <a16:creationId xmlns:a16="http://schemas.microsoft.com/office/drawing/2014/main" id="{5B1BAADA-8E55-439B-6E9F-8337D49A475E}"/>
                </a:ext>
              </a:extLst>
            </p:cNvPr>
            <p:cNvSpPr txBox="1"/>
            <p:nvPr/>
          </p:nvSpPr>
          <p:spPr bwMode="gray">
            <a:xfrm>
              <a:off x="8250517" y="4864180"/>
              <a:ext cx="2053319" cy="276999"/>
            </a:xfrm>
            <a:prstGeom prst="rect">
              <a:avLst/>
            </a:prstGeom>
            <a:noFill/>
          </p:spPr>
          <p:txBody>
            <a:bodyPr wrap="none">
              <a:spAutoFit/>
            </a:bodyPr>
            <a:lstStyle/>
            <a:p>
              <a:pPr>
                <a:defRPr/>
              </a:pPr>
              <a:r>
                <a:rPr lang="en-US" sz="1200">
                  <a:solidFill>
                    <a:srgbClr val="000000"/>
                  </a:solidFill>
                  <a:latin typeface="Arial" panose="020B0604020202020204"/>
                </a:rPr>
                <a:t>Never heard of </a:t>
              </a:r>
              <a:r>
                <a:rPr lang="en-US" sz="1200" i="1">
                  <a:solidFill>
                    <a:srgbClr val="000000"/>
                  </a:solidFill>
                  <a:latin typeface="Arial" panose="020B0604020202020204"/>
                </a:rPr>
                <a:t>(Not Aware)</a:t>
              </a:r>
            </a:p>
          </p:txBody>
        </p:sp>
      </p:grpSp>
      <p:grpSp>
        <p:nvGrpSpPr>
          <p:cNvPr id="20" name="Group 19">
            <a:extLst>
              <a:ext uri="{FF2B5EF4-FFF2-40B4-BE49-F238E27FC236}">
                <a16:creationId xmlns:a16="http://schemas.microsoft.com/office/drawing/2014/main" id="{DB7A7D5F-70B8-B1B7-D790-33DCE4F8627C}"/>
              </a:ext>
            </a:extLst>
          </p:cNvPr>
          <p:cNvGrpSpPr/>
          <p:nvPr/>
        </p:nvGrpSpPr>
        <p:grpSpPr>
          <a:xfrm>
            <a:off x="9061030" y="4524065"/>
            <a:ext cx="2569349" cy="276855"/>
            <a:chOff x="8075040" y="4327025"/>
            <a:chExt cx="2570684" cy="276999"/>
          </a:xfrm>
        </p:grpSpPr>
        <p:sp>
          <p:nvSpPr>
            <p:cNvPr id="21" name="Oval 20">
              <a:extLst>
                <a:ext uri="{FF2B5EF4-FFF2-40B4-BE49-F238E27FC236}">
                  <a16:creationId xmlns:a16="http://schemas.microsoft.com/office/drawing/2014/main" id="{3B7F5F09-DFF4-2B20-0469-7EC81B59DACD}"/>
                </a:ext>
              </a:extLst>
            </p:cNvPr>
            <p:cNvSpPr/>
            <p:nvPr/>
          </p:nvSpPr>
          <p:spPr bwMode="gray">
            <a:xfrm>
              <a:off x="8075040" y="4386710"/>
              <a:ext cx="182880" cy="182880"/>
            </a:xfrm>
            <a:prstGeom prst="ellipse">
              <a:avLst/>
            </a:prstGeom>
            <a:solidFill>
              <a:srgbClr val="B5DFD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200" b="1">
                <a:solidFill>
                  <a:srgbClr val="0000C9"/>
                </a:solidFill>
                <a:latin typeface="Arial" panose="020B0604020202020204"/>
              </a:endParaRPr>
            </a:p>
          </p:txBody>
        </p:sp>
        <p:sp>
          <p:nvSpPr>
            <p:cNvPr id="22" name="TextBox 21">
              <a:extLst>
                <a:ext uri="{FF2B5EF4-FFF2-40B4-BE49-F238E27FC236}">
                  <a16:creationId xmlns:a16="http://schemas.microsoft.com/office/drawing/2014/main" id="{B1FF915A-2878-3E01-0E71-9C368A659287}"/>
                </a:ext>
              </a:extLst>
            </p:cNvPr>
            <p:cNvSpPr txBox="1"/>
            <p:nvPr/>
          </p:nvSpPr>
          <p:spPr bwMode="gray">
            <a:xfrm>
              <a:off x="8250517" y="4327025"/>
              <a:ext cx="2395207" cy="276999"/>
            </a:xfrm>
            <a:prstGeom prst="rect">
              <a:avLst/>
            </a:prstGeom>
            <a:noFill/>
          </p:spPr>
          <p:txBody>
            <a:bodyPr wrap="none">
              <a:spAutoFit/>
            </a:bodyPr>
            <a:lstStyle/>
            <a:p>
              <a:pPr>
                <a:defRPr/>
              </a:pPr>
              <a:r>
                <a:rPr lang="en-US" sz="1200">
                  <a:solidFill>
                    <a:srgbClr val="000000"/>
                  </a:solidFill>
                  <a:latin typeface="Arial" panose="020B0604020202020204"/>
                </a:rPr>
                <a:t>Heard of but just know the name</a:t>
              </a:r>
            </a:p>
          </p:txBody>
        </p:sp>
      </p:grpSp>
      <p:grpSp>
        <p:nvGrpSpPr>
          <p:cNvPr id="23" name="Group 22">
            <a:extLst>
              <a:ext uri="{FF2B5EF4-FFF2-40B4-BE49-F238E27FC236}">
                <a16:creationId xmlns:a16="http://schemas.microsoft.com/office/drawing/2014/main" id="{4762DB8F-A667-B880-E9C1-78B9BFBE2DE3}"/>
              </a:ext>
            </a:extLst>
          </p:cNvPr>
          <p:cNvGrpSpPr/>
          <p:nvPr/>
        </p:nvGrpSpPr>
        <p:grpSpPr>
          <a:xfrm>
            <a:off x="9061030" y="3961252"/>
            <a:ext cx="2492445" cy="276855"/>
            <a:chOff x="8075040" y="3849945"/>
            <a:chExt cx="2493740" cy="276999"/>
          </a:xfrm>
        </p:grpSpPr>
        <p:sp>
          <p:nvSpPr>
            <p:cNvPr id="24" name="Oval 23">
              <a:extLst>
                <a:ext uri="{FF2B5EF4-FFF2-40B4-BE49-F238E27FC236}">
                  <a16:creationId xmlns:a16="http://schemas.microsoft.com/office/drawing/2014/main" id="{FC4F923D-D1AE-F2DB-94AF-CDFD56F1D94D}"/>
                </a:ext>
              </a:extLst>
            </p:cNvPr>
            <p:cNvSpPr/>
            <p:nvPr/>
          </p:nvSpPr>
          <p:spPr bwMode="gray">
            <a:xfrm>
              <a:off x="8075040" y="3909630"/>
              <a:ext cx="182880" cy="182880"/>
            </a:xfrm>
            <a:prstGeom prst="ellipse">
              <a:avLst/>
            </a:prstGeom>
            <a:solidFill>
              <a:srgbClr val="85CFC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200" b="1">
                <a:solidFill>
                  <a:srgbClr val="0000C9"/>
                </a:solidFill>
                <a:latin typeface="Arial" panose="020B0604020202020204"/>
              </a:endParaRPr>
            </a:p>
          </p:txBody>
        </p:sp>
        <p:sp>
          <p:nvSpPr>
            <p:cNvPr id="25" name="TextBox 24">
              <a:extLst>
                <a:ext uri="{FF2B5EF4-FFF2-40B4-BE49-F238E27FC236}">
                  <a16:creationId xmlns:a16="http://schemas.microsoft.com/office/drawing/2014/main" id="{38BB7858-18B1-5D21-982F-DF123E2A4DBF}"/>
                </a:ext>
              </a:extLst>
            </p:cNvPr>
            <p:cNvSpPr txBox="1"/>
            <p:nvPr/>
          </p:nvSpPr>
          <p:spPr bwMode="gray">
            <a:xfrm>
              <a:off x="8250517" y="3849945"/>
              <a:ext cx="2318263" cy="276999"/>
            </a:xfrm>
            <a:prstGeom prst="rect">
              <a:avLst/>
            </a:prstGeom>
            <a:noFill/>
          </p:spPr>
          <p:txBody>
            <a:bodyPr wrap="none">
              <a:spAutoFit/>
            </a:bodyPr>
            <a:lstStyle/>
            <a:p>
              <a:pPr>
                <a:defRPr/>
              </a:pPr>
              <a:r>
                <a:rPr lang="en-US" sz="1200">
                  <a:solidFill>
                    <a:srgbClr val="000000"/>
                  </a:solidFill>
                  <a:latin typeface="Arial" panose="020B0604020202020204"/>
                </a:rPr>
                <a:t>Heard of but do not know much</a:t>
              </a:r>
            </a:p>
          </p:txBody>
        </p:sp>
      </p:grpSp>
      <p:grpSp>
        <p:nvGrpSpPr>
          <p:cNvPr id="26" name="Group 25">
            <a:extLst>
              <a:ext uri="{FF2B5EF4-FFF2-40B4-BE49-F238E27FC236}">
                <a16:creationId xmlns:a16="http://schemas.microsoft.com/office/drawing/2014/main" id="{BE0B84F9-B132-A683-5C17-2DF1E371140E}"/>
              </a:ext>
            </a:extLst>
          </p:cNvPr>
          <p:cNvGrpSpPr/>
          <p:nvPr/>
        </p:nvGrpSpPr>
        <p:grpSpPr>
          <a:xfrm>
            <a:off x="9061022" y="3398437"/>
            <a:ext cx="1620863" cy="276855"/>
            <a:chOff x="8075040" y="3362929"/>
            <a:chExt cx="1621707" cy="276999"/>
          </a:xfrm>
        </p:grpSpPr>
        <p:sp>
          <p:nvSpPr>
            <p:cNvPr id="32" name="TextBox 31">
              <a:extLst>
                <a:ext uri="{FF2B5EF4-FFF2-40B4-BE49-F238E27FC236}">
                  <a16:creationId xmlns:a16="http://schemas.microsoft.com/office/drawing/2014/main" id="{D985049B-EACF-3FFF-1D25-9B6A6A0BCB00}"/>
                </a:ext>
              </a:extLst>
            </p:cNvPr>
            <p:cNvSpPr txBox="1"/>
            <p:nvPr/>
          </p:nvSpPr>
          <p:spPr bwMode="gray">
            <a:xfrm>
              <a:off x="8250517" y="3362929"/>
              <a:ext cx="1446230" cy="276999"/>
            </a:xfrm>
            <a:prstGeom prst="rect">
              <a:avLst/>
            </a:prstGeom>
            <a:noFill/>
          </p:spPr>
          <p:txBody>
            <a:bodyPr wrap="none">
              <a:spAutoFit/>
            </a:bodyPr>
            <a:lstStyle/>
            <a:p>
              <a:pPr>
                <a:defRPr/>
              </a:pPr>
              <a:r>
                <a:rPr lang="en-US" sz="1200">
                  <a:solidFill>
                    <a:srgbClr val="000000"/>
                  </a:solidFill>
                  <a:latin typeface="Arial" panose="020B0604020202020204"/>
                </a:rPr>
                <a:t>Somewhat familiar</a:t>
              </a:r>
            </a:p>
          </p:txBody>
        </p:sp>
        <p:sp>
          <p:nvSpPr>
            <p:cNvPr id="33" name="Oval 32">
              <a:extLst>
                <a:ext uri="{FF2B5EF4-FFF2-40B4-BE49-F238E27FC236}">
                  <a16:creationId xmlns:a16="http://schemas.microsoft.com/office/drawing/2014/main" id="{78D18731-9DD5-B472-784A-97C115A5B143}"/>
                </a:ext>
              </a:extLst>
            </p:cNvPr>
            <p:cNvSpPr/>
            <p:nvPr/>
          </p:nvSpPr>
          <p:spPr bwMode="gray">
            <a:xfrm>
              <a:off x="8075040" y="3422614"/>
              <a:ext cx="182880" cy="182880"/>
            </a:xfrm>
            <a:prstGeom prst="ellipse">
              <a:avLst/>
            </a:prstGeom>
            <a:solidFill>
              <a:schemeClr val="accent3"/>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200" b="1">
                <a:solidFill>
                  <a:srgbClr val="0000C9"/>
                </a:solidFill>
                <a:latin typeface="Arial" panose="020B0604020202020204"/>
              </a:endParaRPr>
            </a:p>
          </p:txBody>
        </p:sp>
      </p:grpSp>
      <p:grpSp>
        <p:nvGrpSpPr>
          <p:cNvPr id="34" name="Group 33">
            <a:extLst>
              <a:ext uri="{FF2B5EF4-FFF2-40B4-BE49-F238E27FC236}">
                <a16:creationId xmlns:a16="http://schemas.microsoft.com/office/drawing/2014/main" id="{5CD27FFD-3DDA-3290-E2B6-56801ECFB3C2}"/>
              </a:ext>
            </a:extLst>
          </p:cNvPr>
          <p:cNvGrpSpPr/>
          <p:nvPr/>
        </p:nvGrpSpPr>
        <p:grpSpPr>
          <a:xfrm>
            <a:off x="9061017" y="2835624"/>
            <a:ext cx="1203848" cy="276855"/>
            <a:chOff x="8075040" y="2875911"/>
            <a:chExt cx="1204477" cy="276999"/>
          </a:xfrm>
        </p:grpSpPr>
        <p:sp>
          <p:nvSpPr>
            <p:cNvPr id="35" name="TextBox 34">
              <a:extLst>
                <a:ext uri="{FF2B5EF4-FFF2-40B4-BE49-F238E27FC236}">
                  <a16:creationId xmlns:a16="http://schemas.microsoft.com/office/drawing/2014/main" id="{9D835A2C-AF63-0AEA-27B0-3DE2715431D9}"/>
                </a:ext>
              </a:extLst>
            </p:cNvPr>
            <p:cNvSpPr txBox="1"/>
            <p:nvPr/>
          </p:nvSpPr>
          <p:spPr bwMode="gray">
            <a:xfrm>
              <a:off x="8250517" y="2875911"/>
              <a:ext cx="1029000" cy="276999"/>
            </a:xfrm>
            <a:prstGeom prst="rect">
              <a:avLst/>
            </a:prstGeom>
            <a:noFill/>
          </p:spPr>
          <p:txBody>
            <a:bodyPr wrap="none">
              <a:spAutoFit/>
            </a:bodyPr>
            <a:lstStyle/>
            <a:p>
              <a:pPr>
                <a:defRPr/>
              </a:pPr>
              <a:r>
                <a:rPr lang="en-US" sz="1200">
                  <a:solidFill>
                    <a:srgbClr val="000000"/>
                  </a:solidFill>
                  <a:latin typeface="Arial" panose="020B0604020202020204"/>
                </a:rPr>
                <a:t>Very familiar</a:t>
              </a:r>
            </a:p>
          </p:txBody>
        </p:sp>
        <p:sp>
          <p:nvSpPr>
            <p:cNvPr id="37" name="Oval 36">
              <a:extLst>
                <a:ext uri="{FF2B5EF4-FFF2-40B4-BE49-F238E27FC236}">
                  <a16:creationId xmlns:a16="http://schemas.microsoft.com/office/drawing/2014/main" id="{A9783920-CD23-6D9C-AE0E-1B3F1A9F38A7}"/>
                </a:ext>
              </a:extLst>
            </p:cNvPr>
            <p:cNvSpPr/>
            <p:nvPr/>
          </p:nvSpPr>
          <p:spPr bwMode="gray">
            <a:xfrm>
              <a:off x="8075040" y="2935596"/>
              <a:ext cx="182880" cy="182880"/>
            </a:xfrm>
            <a:prstGeom prst="ellipse">
              <a:avLst/>
            </a:prstGeom>
            <a:solidFill>
              <a:srgbClr val="0A8E8B"/>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200" b="1">
                <a:solidFill>
                  <a:srgbClr val="0000C9"/>
                </a:solidFill>
                <a:latin typeface="Arial" panose="020B0604020202020204"/>
              </a:endParaRPr>
            </a:p>
          </p:txBody>
        </p:sp>
      </p:grpSp>
      <p:sp>
        <p:nvSpPr>
          <p:cNvPr id="38" name="TextBox 37">
            <a:extLst>
              <a:ext uri="{FF2B5EF4-FFF2-40B4-BE49-F238E27FC236}">
                <a16:creationId xmlns:a16="http://schemas.microsoft.com/office/drawing/2014/main" id="{D831917E-8A69-D9F0-F6DB-D598A922BCA8}"/>
              </a:ext>
            </a:extLst>
          </p:cNvPr>
          <p:cNvSpPr txBox="1"/>
          <p:nvPr/>
        </p:nvSpPr>
        <p:spPr bwMode="gray">
          <a:xfrm>
            <a:off x="8216592" y="4282629"/>
            <a:ext cx="686969" cy="304685"/>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lnSpc>
                <a:spcPct val="90000"/>
              </a:lnSpc>
              <a:defRPr/>
            </a:pPr>
            <a:r>
              <a:rPr lang="en-US" sz="900">
                <a:solidFill>
                  <a:srgbClr val="000000">
                    <a:lumMod val="50000"/>
                    <a:lumOff val="50000"/>
                  </a:srgbClr>
                </a:solidFill>
                <a:latin typeface="Arial" panose="020B0604020202020204"/>
              </a:rPr>
              <a:t>78% PCP &gt; </a:t>
            </a:r>
          </a:p>
          <a:p>
            <a:pPr>
              <a:lnSpc>
                <a:spcPct val="90000"/>
              </a:lnSpc>
              <a:defRPr/>
            </a:pPr>
            <a:r>
              <a:rPr lang="en-US" sz="900">
                <a:solidFill>
                  <a:srgbClr val="000000">
                    <a:lumMod val="50000"/>
                    <a:lumOff val="50000"/>
                  </a:srgbClr>
                </a:solidFill>
                <a:latin typeface="Arial" panose="020B0604020202020204"/>
              </a:rPr>
              <a:t>60% PEDs</a:t>
            </a:r>
          </a:p>
        </p:txBody>
      </p:sp>
      <p:sp>
        <p:nvSpPr>
          <p:cNvPr id="40" name="TextBox 39">
            <a:extLst>
              <a:ext uri="{FF2B5EF4-FFF2-40B4-BE49-F238E27FC236}">
                <a16:creationId xmlns:a16="http://schemas.microsoft.com/office/drawing/2014/main" id="{CB6EDB24-D2F2-06D8-A7D1-ECA081331F18}"/>
              </a:ext>
            </a:extLst>
          </p:cNvPr>
          <p:cNvSpPr txBox="1"/>
          <p:nvPr/>
        </p:nvSpPr>
        <p:spPr bwMode="gray">
          <a:xfrm>
            <a:off x="8270731" y="5453209"/>
            <a:ext cx="159617" cy="286157"/>
          </a:xfrm>
          <a:prstGeom prst="rect">
            <a:avLst/>
          </a:prstGeom>
        </p:spPr>
        <p:txBody>
          <a:bodyPr wrap="none" lIns="45708" tIns="45708" rIns="45708" bIns="45708" rtlCol="0">
            <a:spAutoFit/>
          </a:bodyPr>
          <a:lstStyle/>
          <a:p>
            <a:pPr algn="ctr">
              <a:lnSpc>
                <a:spcPct val="90000"/>
              </a:lnSpc>
              <a:spcAft>
                <a:spcPts val="400"/>
              </a:spcAft>
            </a:pPr>
            <a:r>
              <a:rPr lang="en-US" sz="1400" baseline="30000">
                <a:solidFill>
                  <a:srgbClr val="FF0000"/>
                </a:solidFill>
                <a:latin typeface="Arial" panose="020B0604020202020204"/>
              </a:rPr>
              <a:t>†</a:t>
            </a:r>
            <a:endParaRPr lang="en-US" sz="1799" b="1">
              <a:solidFill>
                <a:srgbClr val="FF0000"/>
              </a:solidFill>
              <a:latin typeface="Arial" panose="020B0604020202020204"/>
            </a:endParaRPr>
          </a:p>
        </p:txBody>
      </p:sp>
      <p:sp>
        <p:nvSpPr>
          <p:cNvPr id="43" name="TextBox 42">
            <a:extLst>
              <a:ext uri="{FF2B5EF4-FFF2-40B4-BE49-F238E27FC236}">
                <a16:creationId xmlns:a16="http://schemas.microsoft.com/office/drawing/2014/main" id="{548EF1FC-F59B-2A2A-2AF5-D5B3A81E75B2}"/>
              </a:ext>
            </a:extLst>
          </p:cNvPr>
          <p:cNvSpPr txBox="1"/>
          <p:nvPr/>
        </p:nvSpPr>
        <p:spPr bwMode="gray">
          <a:xfrm>
            <a:off x="1352239" y="3966289"/>
            <a:ext cx="741635" cy="304620"/>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a:lnSpc>
                <a:spcPct val="90000"/>
              </a:lnSpc>
              <a:defRPr/>
            </a:pPr>
            <a:r>
              <a:rPr lang="en-US" sz="900">
                <a:solidFill>
                  <a:srgbClr val="000000">
                    <a:lumMod val="50000"/>
                    <a:lumOff val="50000"/>
                  </a:srgbClr>
                </a:solidFill>
                <a:latin typeface="Arial" panose="020B0604020202020204"/>
              </a:rPr>
              <a:t>76% PED</a:t>
            </a:r>
            <a:r>
              <a:rPr lang="en-US" sz="900">
                <a:solidFill>
                  <a:srgbClr val="FF0000"/>
                </a:solidFill>
                <a:latin typeface="Arial" panose="020B0604020202020204"/>
                <a:sym typeface="Symbol" panose="05050102010706020507" pitchFamily="18" charset="2"/>
              </a:rPr>
              <a:t></a:t>
            </a:r>
            <a:r>
              <a:rPr lang="en-US" sz="900">
                <a:solidFill>
                  <a:srgbClr val="000000">
                    <a:lumMod val="50000"/>
                    <a:lumOff val="50000"/>
                  </a:srgbClr>
                </a:solidFill>
                <a:latin typeface="Arial" panose="020B0604020202020204"/>
              </a:rPr>
              <a:t> &gt; </a:t>
            </a:r>
          </a:p>
          <a:p>
            <a:pPr>
              <a:lnSpc>
                <a:spcPct val="90000"/>
              </a:lnSpc>
              <a:defRPr/>
            </a:pPr>
            <a:r>
              <a:rPr lang="en-US" sz="900">
                <a:solidFill>
                  <a:srgbClr val="000000">
                    <a:lumMod val="50000"/>
                    <a:lumOff val="50000"/>
                  </a:srgbClr>
                </a:solidFill>
                <a:latin typeface="Arial" panose="020B0604020202020204"/>
              </a:rPr>
              <a:t>33% PCP</a:t>
            </a:r>
          </a:p>
        </p:txBody>
      </p:sp>
      <p:sp>
        <p:nvSpPr>
          <p:cNvPr id="44" name="TextBox 43">
            <a:extLst>
              <a:ext uri="{FF2B5EF4-FFF2-40B4-BE49-F238E27FC236}">
                <a16:creationId xmlns:a16="http://schemas.microsoft.com/office/drawing/2014/main" id="{9D8D5C61-C12D-18AB-0051-9FD5CDE79194}"/>
              </a:ext>
            </a:extLst>
          </p:cNvPr>
          <p:cNvSpPr txBox="1"/>
          <p:nvPr/>
        </p:nvSpPr>
        <p:spPr bwMode="gray">
          <a:xfrm>
            <a:off x="5081742" y="3808940"/>
            <a:ext cx="686804" cy="304620"/>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a:lnSpc>
                <a:spcPct val="90000"/>
              </a:lnSpc>
              <a:defRPr/>
            </a:pPr>
            <a:r>
              <a:rPr lang="en-US" sz="900">
                <a:solidFill>
                  <a:srgbClr val="000000">
                    <a:lumMod val="50000"/>
                    <a:lumOff val="50000"/>
                  </a:srgbClr>
                </a:solidFill>
                <a:latin typeface="Arial" panose="020B0604020202020204"/>
              </a:rPr>
              <a:t>64% PED &gt; </a:t>
            </a:r>
          </a:p>
          <a:p>
            <a:pPr>
              <a:lnSpc>
                <a:spcPct val="90000"/>
              </a:lnSpc>
              <a:defRPr/>
            </a:pPr>
            <a:r>
              <a:rPr lang="en-US" sz="900">
                <a:solidFill>
                  <a:srgbClr val="000000">
                    <a:lumMod val="50000"/>
                    <a:lumOff val="50000"/>
                  </a:srgbClr>
                </a:solidFill>
                <a:latin typeface="Arial" panose="020B0604020202020204"/>
              </a:rPr>
              <a:t>45% PCP</a:t>
            </a:r>
          </a:p>
        </p:txBody>
      </p:sp>
      <p:sp>
        <p:nvSpPr>
          <p:cNvPr id="47" name="TextBox 46">
            <a:extLst>
              <a:ext uri="{FF2B5EF4-FFF2-40B4-BE49-F238E27FC236}">
                <a16:creationId xmlns:a16="http://schemas.microsoft.com/office/drawing/2014/main" id="{1F89A841-B2A1-CA59-B1FA-3843B41A2693}"/>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sp>
        <p:nvSpPr>
          <p:cNvPr id="7" name="TextBox 6">
            <a:extLst>
              <a:ext uri="{FF2B5EF4-FFF2-40B4-BE49-F238E27FC236}">
                <a16:creationId xmlns:a16="http://schemas.microsoft.com/office/drawing/2014/main" id="{B830FFDA-306D-2EDC-BFEA-C12D103A97C6}"/>
              </a:ext>
            </a:extLst>
          </p:cNvPr>
          <p:cNvSpPr txBox="1"/>
          <p:nvPr/>
        </p:nvSpPr>
        <p:spPr bwMode="gray">
          <a:xfrm>
            <a:off x="1283737" y="820888"/>
            <a:ext cx="10607358" cy="499180"/>
          </a:xfrm>
          <a:prstGeom prst="rect">
            <a:avLst/>
          </a:prstGeom>
        </p:spPr>
        <p:txBody>
          <a:bodyPr wrap="square" lIns="45708" tIns="45708" rIns="45708" bIns="45708" rtlCol="0">
            <a:noAutofit/>
          </a:bodyPr>
          <a:lstStyle/>
          <a:p>
            <a:pPr marL="171399" indent="-171399">
              <a:buFont typeface="Arial" panose="020B0604020202020204" pitchFamily="34" charset="0"/>
              <a:buChar char="•"/>
              <a:defRPr/>
            </a:pPr>
            <a:r>
              <a:rPr lang="en-US" sz="1400">
                <a:solidFill>
                  <a:srgbClr val="FFFFFF">
                    <a:lumMod val="50000"/>
                  </a:srgbClr>
                </a:solidFill>
              </a:rPr>
              <a:t>Awareness of Penmenvy is significantly higher among PCPs than PEDs, with over 3-in-4 PCPs aware of GSK’s pentavalent</a:t>
            </a:r>
          </a:p>
        </p:txBody>
      </p:sp>
      <p:sp>
        <p:nvSpPr>
          <p:cNvPr id="11" name="TextBox 10">
            <a:extLst>
              <a:ext uri="{FF2B5EF4-FFF2-40B4-BE49-F238E27FC236}">
                <a16:creationId xmlns:a16="http://schemas.microsoft.com/office/drawing/2014/main" id="{135BAD6D-269D-0B25-05C9-3317A4CD066E}"/>
              </a:ext>
            </a:extLst>
          </p:cNvPr>
          <p:cNvSpPr txBox="1"/>
          <p:nvPr/>
        </p:nvSpPr>
        <p:spPr bwMode="gray">
          <a:xfrm>
            <a:off x="7043421" y="4066908"/>
            <a:ext cx="488339" cy="430887"/>
          </a:xfrm>
          <a:prstGeom prst="rect">
            <a:avLst/>
          </a:prstGeom>
          <a:solidFill>
            <a:schemeClr val="bg1"/>
          </a:solidFill>
        </p:spPr>
        <p:txBody>
          <a:bodyPr wrap="square" lIns="0" rIns="0">
            <a:spAutoFit/>
          </a:bodyPr>
          <a:lstStyle/>
          <a:p>
            <a:pPr>
              <a:defRPr/>
            </a:pPr>
            <a:r>
              <a:rPr lang="en-US" sz="1100">
                <a:solidFill>
                  <a:schemeClr val="bg1">
                    <a:lumMod val="50000"/>
                  </a:schemeClr>
                </a:solidFill>
                <a:latin typeface="Arial" panose="020B0604020202020204"/>
              </a:rPr>
              <a:t>77% Aware</a:t>
            </a:r>
          </a:p>
        </p:txBody>
      </p:sp>
      <p:sp>
        <p:nvSpPr>
          <p:cNvPr id="16" name="TextBox 15">
            <a:extLst>
              <a:ext uri="{FF2B5EF4-FFF2-40B4-BE49-F238E27FC236}">
                <a16:creationId xmlns:a16="http://schemas.microsoft.com/office/drawing/2014/main" id="{26A27975-1497-D766-9EF5-7EDA367217AF}"/>
              </a:ext>
            </a:extLst>
          </p:cNvPr>
          <p:cNvSpPr txBox="1"/>
          <p:nvPr/>
        </p:nvSpPr>
        <p:spPr bwMode="gray">
          <a:xfrm>
            <a:off x="7043421" y="3171981"/>
            <a:ext cx="511654" cy="430887"/>
          </a:xfrm>
          <a:prstGeom prst="rect">
            <a:avLst/>
          </a:prstGeom>
          <a:solidFill>
            <a:schemeClr val="bg1"/>
          </a:solidFill>
        </p:spPr>
        <p:txBody>
          <a:bodyPr wrap="square" lIns="0" rIns="0">
            <a:spAutoFit/>
          </a:bodyPr>
          <a:lstStyle/>
          <a:p>
            <a:pPr>
              <a:defRPr/>
            </a:pPr>
            <a:r>
              <a:rPr lang="en-US" sz="1100">
                <a:solidFill>
                  <a:srgbClr val="000000"/>
                </a:solidFill>
                <a:latin typeface="Arial" panose="020B0604020202020204"/>
              </a:rPr>
              <a:t>44% Familiar</a:t>
            </a:r>
          </a:p>
        </p:txBody>
      </p:sp>
      <p:cxnSp>
        <p:nvCxnSpPr>
          <p:cNvPr id="14" name="Straight Connector 13">
            <a:extLst>
              <a:ext uri="{FF2B5EF4-FFF2-40B4-BE49-F238E27FC236}">
                <a16:creationId xmlns:a16="http://schemas.microsoft.com/office/drawing/2014/main" id="{013945B6-B262-980C-2B93-49EC3893347D}"/>
              </a:ext>
            </a:extLst>
          </p:cNvPr>
          <p:cNvCxnSpPr>
            <a:cxnSpLocks/>
          </p:cNvCxnSpPr>
          <p:nvPr/>
        </p:nvCxnSpPr>
        <p:spPr bwMode="gray">
          <a:xfrm>
            <a:off x="6857807" y="3291342"/>
            <a:ext cx="136586" cy="0"/>
          </a:xfrm>
          <a:prstGeom prst="line">
            <a:avLst/>
          </a:prstGeom>
          <a:noFill/>
          <a:ln w="19050" cap="flat" cmpd="sng" algn="ctr">
            <a:solidFill>
              <a:schemeClr val="tx1"/>
            </a:solidFill>
            <a:prstDash val="solid"/>
            <a:miter lim="800000"/>
            <a:headEnd type="none" w="med" len="med"/>
            <a:tailEnd type="none" w="med" len="med"/>
          </a:ln>
          <a:effectLst/>
        </p:spPr>
      </p:cxnSp>
      <p:sp>
        <p:nvSpPr>
          <p:cNvPr id="48" name="Right Brace 47">
            <a:extLst>
              <a:ext uri="{FF2B5EF4-FFF2-40B4-BE49-F238E27FC236}">
                <a16:creationId xmlns:a16="http://schemas.microsoft.com/office/drawing/2014/main" id="{D4D433C0-2F3C-C3C5-0041-AA8D7024E269}"/>
              </a:ext>
            </a:extLst>
          </p:cNvPr>
          <p:cNvSpPr/>
          <p:nvPr/>
        </p:nvSpPr>
        <p:spPr bwMode="gray">
          <a:xfrm>
            <a:off x="8097100" y="2857797"/>
            <a:ext cx="156041" cy="1638004"/>
          </a:xfrm>
          <a:prstGeom prst="rightBrace">
            <a:avLst>
              <a:gd name="adj1" fmla="val 0"/>
              <a:gd name="adj2" fmla="val 66798"/>
            </a:avLst>
          </a:prstGeom>
          <a:noFill/>
          <a:ln w="12700" cap="rnd">
            <a:solidFill>
              <a:schemeClr val="bg1">
                <a:lumMod val="75000"/>
              </a:schemeClr>
            </a:solidFill>
            <a:prstDash val="solid"/>
            <a:round/>
            <a:headEnd/>
            <a:tailEnd/>
          </a:ln>
          <a:effectLst/>
        </p:spPr>
        <p:txBody>
          <a:bodyPr rtlCol="0" anchor="ctr"/>
          <a:lstStyle/>
          <a:p>
            <a:pPr algn="ctr"/>
            <a:endParaRPr lang="en-US"/>
          </a:p>
        </p:txBody>
      </p:sp>
      <p:sp>
        <p:nvSpPr>
          <p:cNvPr id="49" name="Rectangle 48">
            <a:extLst>
              <a:ext uri="{FF2B5EF4-FFF2-40B4-BE49-F238E27FC236}">
                <a16:creationId xmlns:a16="http://schemas.microsoft.com/office/drawing/2014/main" id="{E0F75044-9630-BE8E-6B3F-C5FDCCB54490}"/>
              </a:ext>
            </a:extLst>
          </p:cNvPr>
          <p:cNvSpPr/>
          <p:nvPr/>
        </p:nvSpPr>
        <p:spPr bwMode="gray">
          <a:xfrm>
            <a:off x="7655357" y="2857798"/>
            <a:ext cx="438938" cy="743922"/>
          </a:xfrm>
          <a:prstGeom prst="rect">
            <a:avLst/>
          </a:prstGeom>
          <a:noFill/>
          <a:ln w="19050" cap="flat" cmpd="sng" algn="ctr">
            <a:solidFill>
              <a:schemeClr val="tx1"/>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50" name="TextBox 49">
            <a:extLst>
              <a:ext uri="{FF2B5EF4-FFF2-40B4-BE49-F238E27FC236}">
                <a16:creationId xmlns:a16="http://schemas.microsoft.com/office/drawing/2014/main" id="{430714AB-D4ED-5476-C0D4-6841AFE10149}"/>
              </a:ext>
            </a:extLst>
          </p:cNvPr>
          <p:cNvSpPr txBox="1"/>
          <p:nvPr/>
        </p:nvSpPr>
        <p:spPr bwMode="gray">
          <a:xfrm>
            <a:off x="8286162" y="3840022"/>
            <a:ext cx="488339" cy="430887"/>
          </a:xfrm>
          <a:prstGeom prst="rect">
            <a:avLst/>
          </a:prstGeom>
          <a:solidFill>
            <a:schemeClr val="bg1"/>
          </a:solidFill>
        </p:spPr>
        <p:txBody>
          <a:bodyPr wrap="square" lIns="0" rIns="0">
            <a:spAutoFit/>
          </a:bodyPr>
          <a:lstStyle/>
          <a:p>
            <a:pPr>
              <a:defRPr/>
            </a:pPr>
            <a:r>
              <a:rPr lang="en-US" sz="1100">
                <a:solidFill>
                  <a:schemeClr val="bg1">
                    <a:lumMod val="50000"/>
                  </a:schemeClr>
                </a:solidFill>
                <a:latin typeface="Arial" panose="020B0604020202020204"/>
              </a:rPr>
              <a:t>65% Aware</a:t>
            </a:r>
          </a:p>
        </p:txBody>
      </p:sp>
      <p:sp>
        <p:nvSpPr>
          <p:cNvPr id="51" name="TextBox 50">
            <a:extLst>
              <a:ext uri="{FF2B5EF4-FFF2-40B4-BE49-F238E27FC236}">
                <a16:creationId xmlns:a16="http://schemas.microsoft.com/office/drawing/2014/main" id="{3811D7F5-4A7B-4272-5191-AC80C5A99941}"/>
              </a:ext>
            </a:extLst>
          </p:cNvPr>
          <p:cNvSpPr txBox="1"/>
          <p:nvPr/>
        </p:nvSpPr>
        <p:spPr bwMode="gray">
          <a:xfrm>
            <a:off x="8286162" y="3171980"/>
            <a:ext cx="511654" cy="430887"/>
          </a:xfrm>
          <a:prstGeom prst="rect">
            <a:avLst/>
          </a:prstGeom>
          <a:solidFill>
            <a:schemeClr val="bg1"/>
          </a:solidFill>
        </p:spPr>
        <p:txBody>
          <a:bodyPr wrap="square" lIns="0" rIns="0">
            <a:spAutoFit/>
          </a:bodyPr>
          <a:lstStyle/>
          <a:p>
            <a:pPr>
              <a:defRPr/>
            </a:pPr>
            <a:r>
              <a:rPr lang="en-US" sz="1100">
                <a:solidFill>
                  <a:srgbClr val="000000"/>
                </a:solidFill>
                <a:latin typeface="Arial" panose="020B0604020202020204"/>
              </a:rPr>
              <a:t>30% Familiar</a:t>
            </a:r>
          </a:p>
        </p:txBody>
      </p:sp>
      <p:cxnSp>
        <p:nvCxnSpPr>
          <p:cNvPr id="52" name="Straight Connector 51">
            <a:extLst>
              <a:ext uri="{FF2B5EF4-FFF2-40B4-BE49-F238E27FC236}">
                <a16:creationId xmlns:a16="http://schemas.microsoft.com/office/drawing/2014/main" id="{F9116F50-4DF5-25E8-F2B2-A5C1F1CE0D63}"/>
              </a:ext>
            </a:extLst>
          </p:cNvPr>
          <p:cNvCxnSpPr>
            <a:cxnSpLocks/>
          </p:cNvCxnSpPr>
          <p:nvPr/>
        </p:nvCxnSpPr>
        <p:spPr bwMode="gray">
          <a:xfrm>
            <a:off x="8100548" y="3291341"/>
            <a:ext cx="136586" cy="0"/>
          </a:xfrm>
          <a:prstGeom prst="line">
            <a:avLst/>
          </a:prstGeom>
          <a:noFill/>
          <a:ln w="19050" cap="flat" cmpd="sng" algn="ctr">
            <a:solidFill>
              <a:schemeClr val="tx1"/>
            </a:solidFill>
            <a:prstDash val="solid"/>
            <a:miter lim="800000"/>
            <a:headEnd type="none" w="med" len="med"/>
            <a:tailEnd type="none" w="med" len="med"/>
          </a:ln>
          <a:effectLst/>
        </p:spPr>
      </p:cxnSp>
      <p:sp>
        <p:nvSpPr>
          <p:cNvPr id="13" name="Arrow: Bent 12">
            <a:extLst>
              <a:ext uri="{FF2B5EF4-FFF2-40B4-BE49-F238E27FC236}">
                <a16:creationId xmlns:a16="http://schemas.microsoft.com/office/drawing/2014/main" id="{FF01EDEB-D003-A012-D44D-BF19961A2118}"/>
              </a:ext>
            </a:extLst>
          </p:cNvPr>
          <p:cNvSpPr/>
          <p:nvPr/>
        </p:nvSpPr>
        <p:spPr bwMode="gray">
          <a:xfrm rot="5400000">
            <a:off x="8681294" y="3989563"/>
            <a:ext cx="130445" cy="220231"/>
          </a:xfrm>
          <a:prstGeom prst="bentArrow">
            <a:avLst/>
          </a:prstGeom>
          <a:solidFill>
            <a:schemeClr val="bg1">
              <a:lumMod val="85000"/>
            </a:schemeClr>
          </a:solidFill>
          <a:ln w="28575" cap="flat" cmpd="sng" algn="ctr">
            <a:solidFill>
              <a:schemeClr val="bg1">
                <a:lumMod val="8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Tree>
    <p:extLst>
      <p:ext uri="{BB962C8B-B14F-4D97-AF65-F5344CB8AC3E}">
        <p14:creationId xmlns:p14="http://schemas.microsoft.com/office/powerpoint/2010/main" val="2728087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47597-BEC8-9785-6383-346AD60A09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C29FD6-0C6C-5FD1-B899-4DB72B7C297B}"/>
              </a:ext>
            </a:extLst>
          </p:cNvPr>
          <p:cNvSpPr>
            <a:spLocks noGrp="1"/>
          </p:cNvSpPr>
          <p:nvPr>
            <p:ph type="title"/>
          </p:nvPr>
        </p:nvSpPr>
        <p:spPr>
          <a:xfrm>
            <a:off x="1142123" y="170307"/>
            <a:ext cx="10746982" cy="850392"/>
          </a:xfrm>
        </p:spPr>
        <p:txBody>
          <a:bodyPr/>
          <a:lstStyle/>
          <a:p>
            <a:r>
              <a:rPr lang="en-US" dirty="0"/>
              <a:t>Penbraya stockers more often recommend the pentavalent vaccine vs. two separate shots to eligible patients16-18 years old; majority accepting the pentavalent, most often without question</a:t>
            </a:r>
          </a:p>
        </p:txBody>
      </p:sp>
      <p:sp>
        <p:nvSpPr>
          <p:cNvPr id="10" name="Text Placeholder 2">
            <a:extLst>
              <a:ext uri="{FF2B5EF4-FFF2-40B4-BE49-F238E27FC236}">
                <a16:creationId xmlns:a16="http://schemas.microsoft.com/office/drawing/2014/main" id="{8F8D5ACC-91C6-E04C-3489-8F9BA3475C56}"/>
              </a:ext>
            </a:extLst>
          </p:cNvPr>
          <p:cNvSpPr>
            <a:spLocks noGrp="1"/>
          </p:cNvSpPr>
          <p:nvPr>
            <p:ph type="body" sz="quarter" idx="16"/>
          </p:nvPr>
        </p:nvSpPr>
        <p:spPr>
          <a:xfrm>
            <a:off x="1571625" y="5926007"/>
            <a:ext cx="9109075" cy="880241"/>
          </a:xfrm>
        </p:spPr>
        <p:txBody>
          <a:bodyPr/>
          <a:lstStyle/>
          <a:p>
            <a:pPr marL="228600" indent="-228600"/>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pPr marL="228600" indent="-228600"/>
            <a:r>
              <a:rPr lang="en-US">
                <a:solidFill>
                  <a:srgbClr val="FF0000"/>
                </a:solidFill>
              </a:rPr>
              <a:t>*Caution: small base size</a:t>
            </a:r>
            <a:endParaRPr lang="en-US">
              <a:solidFill>
                <a:schemeClr val="tx1">
                  <a:lumMod val="50000"/>
                  <a:lumOff val="50000"/>
                </a:schemeClr>
              </a:solidFill>
              <a:cs typeface="Arial" panose="020B0604020202020204" pitchFamily="34" charset="0"/>
            </a:endParaRPr>
          </a:p>
          <a:p>
            <a:pPr marL="228600" indent="-228600"/>
            <a:r>
              <a:rPr lang="en-US"/>
              <a:t>C7.	In the past month, for what percent of your patients 16-18 years old who were eligible for both </a:t>
            </a:r>
            <a:r>
              <a:rPr lang="en-US" err="1"/>
              <a:t>MenACWY</a:t>
            </a:r>
            <a:r>
              <a:rPr lang="en-US"/>
              <a:t> and 1st dose of </a:t>
            </a:r>
            <a:r>
              <a:rPr lang="en-US" err="1"/>
              <a:t>MenB</a:t>
            </a:r>
            <a:r>
              <a:rPr lang="en-US"/>
              <a:t> vaccinations at the same visit did you recommend two separate vaccines vs. one </a:t>
            </a:r>
            <a:r>
              <a:rPr lang="en-US" err="1"/>
              <a:t>MenABCWY</a:t>
            </a:r>
            <a:r>
              <a:rPr lang="en-US"/>
              <a:t> pentavalent vaccine? </a:t>
            </a:r>
          </a:p>
          <a:p>
            <a:pPr marL="228600" indent="-228600"/>
            <a:r>
              <a:rPr lang="en-US"/>
              <a:t>C8.	After recommending the </a:t>
            </a:r>
            <a:r>
              <a:rPr lang="en-US" err="1"/>
              <a:t>MenABCWY</a:t>
            </a:r>
            <a:r>
              <a:rPr lang="en-US"/>
              <a:t> pentavalent vaccine to your patients 16-18 years old who were eligible for both </a:t>
            </a:r>
            <a:r>
              <a:rPr lang="en-US" err="1"/>
              <a:t>MenACWY</a:t>
            </a:r>
            <a:r>
              <a:rPr lang="en-US"/>
              <a:t> and </a:t>
            </a:r>
            <a:r>
              <a:rPr lang="en-US" err="1"/>
              <a:t>MenB</a:t>
            </a:r>
            <a:r>
              <a:rPr lang="en-US"/>
              <a:t> vaccinations in the same visit, what percent of the time did the following occur? </a:t>
            </a:r>
          </a:p>
        </p:txBody>
      </p:sp>
      <p:graphicFrame>
        <p:nvGraphicFramePr>
          <p:cNvPr id="20" name="Chart 19">
            <a:extLst>
              <a:ext uri="{FF2B5EF4-FFF2-40B4-BE49-F238E27FC236}">
                <a16:creationId xmlns:a16="http://schemas.microsoft.com/office/drawing/2014/main" id="{5125B9A1-DB21-0FCD-E2C6-8D5CBC5A2333}"/>
              </a:ext>
            </a:extLst>
          </p:cNvPr>
          <p:cNvGraphicFramePr/>
          <p:nvPr>
            <p:extLst>
              <p:ext uri="{D42A27DB-BD31-4B8C-83A1-F6EECF244321}">
                <p14:modId xmlns:p14="http://schemas.microsoft.com/office/powerpoint/2010/main" val="2749786138"/>
              </p:ext>
            </p:extLst>
          </p:nvPr>
        </p:nvGraphicFramePr>
        <p:xfrm>
          <a:off x="1901604" y="3115263"/>
          <a:ext cx="2700087" cy="1971710"/>
        </p:xfrm>
        <a:graphic>
          <a:graphicData uri="http://schemas.openxmlformats.org/drawingml/2006/chart">
            <c:chart xmlns:c="http://schemas.openxmlformats.org/drawingml/2006/chart" xmlns:r="http://schemas.openxmlformats.org/officeDocument/2006/relationships" r:id="rId3"/>
          </a:graphicData>
        </a:graphic>
      </p:graphicFrame>
      <p:sp>
        <p:nvSpPr>
          <p:cNvPr id="31" name="TextBox 30">
            <a:extLst>
              <a:ext uri="{FF2B5EF4-FFF2-40B4-BE49-F238E27FC236}">
                <a16:creationId xmlns:a16="http://schemas.microsoft.com/office/drawing/2014/main" id="{2B84488D-5FBE-114A-3388-7F4F99DBDF14}"/>
              </a:ext>
            </a:extLst>
          </p:cNvPr>
          <p:cNvSpPr txBox="1"/>
          <p:nvPr/>
        </p:nvSpPr>
        <p:spPr bwMode="gray">
          <a:xfrm>
            <a:off x="2989694" y="1653469"/>
            <a:ext cx="6209456" cy="3416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err="1">
                <a:ln>
                  <a:noFill/>
                </a:ln>
                <a:solidFill>
                  <a:srgbClr val="0000C9"/>
                </a:solidFill>
                <a:effectLst/>
                <a:uLnTx/>
                <a:uFillTx/>
                <a:latin typeface="Arial" panose="020B0604020202020204"/>
                <a:ea typeface="+mn-ea"/>
                <a:cs typeface="+mn-cs"/>
              </a:rPr>
              <a:t>MenABCWY</a:t>
            </a: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 Recommendations and Patient Acceptance</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2" name="Rectangle: Rounded Corners 1">
            <a:extLst>
              <a:ext uri="{FF2B5EF4-FFF2-40B4-BE49-F238E27FC236}">
                <a16:creationId xmlns:a16="http://schemas.microsoft.com/office/drawing/2014/main" id="{088C2FB5-A010-34BC-CEC5-2D218723BD7F}"/>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4" name="Group 3">
            <a:extLst>
              <a:ext uri="{FF2B5EF4-FFF2-40B4-BE49-F238E27FC236}">
                <a16:creationId xmlns:a16="http://schemas.microsoft.com/office/drawing/2014/main" id="{107B01EE-C6BC-FE87-D26F-D2738E415980}"/>
              </a:ext>
            </a:extLst>
          </p:cNvPr>
          <p:cNvGrpSpPr/>
          <p:nvPr/>
        </p:nvGrpSpPr>
        <p:grpSpPr>
          <a:xfrm>
            <a:off x="1075030" y="1600795"/>
            <a:ext cx="650009" cy="538982"/>
            <a:chOff x="1686341" y="1600319"/>
            <a:chExt cx="650178" cy="539122"/>
          </a:xfrm>
        </p:grpSpPr>
        <p:cxnSp>
          <p:nvCxnSpPr>
            <p:cNvPr id="6" name="Straight Connector 5">
              <a:extLst>
                <a:ext uri="{FF2B5EF4-FFF2-40B4-BE49-F238E27FC236}">
                  <a16:creationId xmlns:a16="http://schemas.microsoft.com/office/drawing/2014/main" id="{710E9A34-F4EA-84EC-1CD0-9C2BF73536F9}"/>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4" name="TextBox 13">
              <a:extLst>
                <a:ext uri="{FF2B5EF4-FFF2-40B4-BE49-F238E27FC236}">
                  <a16:creationId xmlns:a16="http://schemas.microsoft.com/office/drawing/2014/main" id="{FE789848-85C1-FE56-D998-A3CC8C006220}"/>
                </a:ext>
              </a:extLst>
            </p:cNvPr>
            <p:cNvSpPr txBox="1"/>
            <p:nvPr/>
          </p:nvSpPr>
          <p:spPr bwMode="gray">
            <a:xfrm>
              <a:off x="1686341" y="1600319"/>
              <a:ext cx="650178" cy="539122"/>
            </a:xfrm>
            <a:prstGeom prst="rect">
              <a:avLst/>
            </a:prstGeom>
          </p:spPr>
          <p:txBody>
            <a:bodyPr wrap="none" lIns="45708" tIns="45708" rIns="45708" bIns="45708"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a:t>
              </a:r>
              <a:r>
                <a:rPr lang="en-US" sz="900">
                  <a:solidFill>
                    <a:srgbClr val="FFFFFF">
                      <a:lumMod val="50000"/>
                    </a:srgbClr>
                  </a:solidFill>
                  <a:latin typeface="Arial" panose="020B0604020202020204"/>
                </a:rPr>
                <a:t>31</a:t>
              </a: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graphicFrame>
        <p:nvGraphicFramePr>
          <p:cNvPr id="7" name="Chart 6">
            <a:extLst>
              <a:ext uri="{FF2B5EF4-FFF2-40B4-BE49-F238E27FC236}">
                <a16:creationId xmlns:a16="http://schemas.microsoft.com/office/drawing/2014/main" id="{E7D88536-0119-F7AB-3EBB-708F92F7D0B7}"/>
              </a:ext>
            </a:extLst>
          </p:cNvPr>
          <p:cNvGraphicFramePr/>
          <p:nvPr>
            <p:extLst>
              <p:ext uri="{D42A27DB-BD31-4B8C-83A1-F6EECF244321}">
                <p14:modId xmlns:p14="http://schemas.microsoft.com/office/powerpoint/2010/main" val="452161662"/>
              </p:ext>
            </p:extLst>
          </p:nvPr>
        </p:nvGraphicFramePr>
        <p:xfrm>
          <a:off x="6354066" y="3105491"/>
          <a:ext cx="5535039" cy="2828370"/>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7">
            <a:extLst>
              <a:ext uri="{FF2B5EF4-FFF2-40B4-BE49-F238E27FC236}">
                <a16:creationId xmlns:a16="http://schemas.microsoft.com/office/drawing/2014/main" id="{2BAC490B-2905-8340-B51A-E891736BCBA5}"/>
              </a:ext>
            </a:extLst>
          </p:cNvPr>
          <p:cNvSpPr/>
          <p:nvPr/>
        </p:nvSpPr>
        <p:spPr bwMode="gray">
          <a:xfrm>
            <a:off x="8370607" y="3237509"/>
            <a:ext cx="193040" cy="2387600"/>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9" name="Oval 8">
            <a:extLst>
              <a:ext uri="{FF2B5EF4-FFF2-40B4-BE49-F238E27FC236}">
                <a16:creationId xmlns:a16="http://schemas.microsoft.com/office/drawing/2014/main" id="{C6ECCCFC-8726-FD03-96B6-0B4ACF661DE3}"/>
              </a:ext>
            </a:extLst>
          </p:cNvPr>
          <p:cNvSpPr/>
          <p:nvPr/>
        </p:nvSpPr>
        <p:spPr bwMode="gray">
          <a:xfrm>
            <a:off x="8360178" y="3295084"/>
            <a:ext cx="157229" cy="154680"/>
          </a:xfrm>
          <a:prstGeom prst="ellipse">
            <a:avLst/>
          </a:prstGeom>
          <a:solidFill>
            <a:schemeClr val="accent1"/>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1" name="Oval 10">
            <a:extLst>
              <a:ext uri="{FF2B5EF4-FFF2-40B4-BE49-F238E27FC236}">
                <a16:creationId xmlns:a16="http://schemas.microsoft.com/office/drawing/2014/main" id="{9A681BCE-3649-86D3-FD37-755F206F4663}"/>
              </a:ext>
            </a:extLst>
          </p:cNvPr>
          <p:cNvSpPr/>
          <p:nvPr/>
        </p:nvSpPr>
        <p:spPr bwMode="gray">
          <a:xfrm>
            <a:off x="8359714" y="3987305"/>
            <a:ext cx="154680" cy="154680"/>
          </a:xfrm>
          <a:prstGeom prst="ellipse">
            <a:avLst/>
          </a:prstGeom>
          <a:solidFill>
            <a:schemeClr val="accent2"/>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4" name="Oval 23">
            <a:extLst>
              <a:ext uri="{FF2B5EF4-FFF2-40B4-BE49-F238E27FC236}">
                <a16:creationId xmlns:a16="http://schemas.microsoft.com/office/drawing/2014/main" id="{03661A62-EBCA-F4C7-FA7A-03FF4CD5A0B7}"/>
              </a:ext>
            </a:extLst>
          </p:cNvPr>
          <p:cNvSpPr/>
          <p:nvPr/>
        </p:nvSpPr>
        <p:spPr bwMode="gray">
          <a:xfrm>
            <a:off x="8359714" y="4679526"/>
            <a:ext cx="154680" cy="154680"/>
          </a:xfrm>
          <a:prstGeom prst="ellipse">
            <a:avLst/>
          </a:prstGeom>
          <a:solidFill>
            <a:schemeClr val="accent6">
              <a:lumMod val="60000"/>
              <a:lumOff val="40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5" name="Oval 24">
            <a:extLst>
              <a:ext uri="{FF2B5EF4-FFF2-40B4-BE49-F238E27FC236}">
                <a16:creationId xmlns:a16="http://schemas.microsoft.com/office/drawing/2014/main" id="{296E4F61-8B62-A996-F3C6-8088C1970A9A}"/>
              </a:ext>
            </a:extLst>
          </p:cNvPr>
          <p:cNvSpPr/>
          <p:nvPr/>
        </p:nvSpPr>
        <p:spPr bwMode="gray">
          <a:xfrm>
            <a:off x="8359714" y="5371748"/>
            <a:ext cx="154680" cy="154680"/>
          </a:xfrm>
          <a:prstGeom prst="ellipse">
            <a:avLst/>
          </a:prstGeom>
          <a:solidFill>
            <a:schemeClr val="accent6">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30" name="TextBox 29">
            <a:extLst>
              <a:ext uri="{FF2B5EF4-FFF2-40B4-BE49-F238E27FC236}">
                <a16:creationId xmlns:a16="http://schemas.microsoft.com/office/drawing/2014/main" id="{CB26F1D1-20C9-7C84-1970-76315C969D2A}"/>
              </a:ext>
            </a:extLst>
          </p:cNvPr>
          <p:cNvSpPr txBox="1"/>
          <p:nvPr/>
        </p:nvSpPr>
        <p:spPr bwMode="gray">
          <a:xfrm>
            <a:off x="4109804" y="3914059"/>
            <a:ext cx="1411489" cy="646331"/>
          </a:xfrm>
          <a:prstGeom prst="rect">
            <a:avLst/>
          </a:prstGeom>
          <a:noFill/>
        </p:spPr>
        <p:txBody>
          <a:bodyPr wrap="square">
            <a:spAutoFit/>
          </a:bodyPr>
          <a:lstStyle/>
          <a:p>
            <a:r>
              <a:rPr lang="en-US" sz="1200" b="1" i="0" u="none" strike="noStrike" baseline="0">
                <a:solidFill>
                  <a:srgbClr val="000000"/>
                </a:solidFill>
                <a:latin typeface="+mj-lt"/>
              </a:rPr>
              <a:t>One Vaccine</a:t>
            </a:r>
            <a:r>
              <a:rPr lang="en-US" sz="1200" b="0" i="0" u="none" strike="noStrike" baseline="0">
                <a:solidFill>
                  <a:srgbClr val="000000"/>
                </a:solidFill>
                <a:latin typeface="+mj-lt"/>
              </a:rPr>
              <a:t>:</a:t>
            </a:r>
          </a:p>
          <a:p>
            <a:r>
              <a:rPr lang="en-US" sz="1200" b="0" i="0" u="none" strike="noStrike" baseline="0">
                <a:solidFill>
                  <a:srgbClr val="000000"/>
                </a:solidFill>
                <a:latin typeface="+mj-lt"/>
              </a:rPr>
              <a:t>MenABCWY Pentavalent</a:t>
            </a:r>
            <a:endParaRPr lang="en-US" sz="1200">
              <a:latin typeface="+mj-lt"/>
            </a:endParaRPr>
          </a:p>
        </p:txBody>
      </p:sp>
      <p:sp>
        <p:nvSpPr>
          <p:cNvPr id="32" name="TextBox 31">
            <a:extLst>
              <a:ext uri="{FF2B5EF4-FFF2-40B4-BE49-F238E27FC236}">
                <a16:creationId xmlns:a16="http://schemas.microsoft.com/office/drawing/2014/main" id="{4AFE02F7-EA81-88DE-B3D3-8D9F54CC5CE7}"/>
              </a:ext>
            </a:extLst>
          </p:cNvPr>
          <p:cNvSpPr txBox="1"/>
          <p:nvPr/>
        </p:nvSpPr>
        <p:spPr bwMode="gray">
          <a:xfrm>
            <a:off x="1294528" y="3611420"/>
            <a:ext cx="1355173" cy="646331"/>
          </a:xfrm>
          <a:prstGeom prst="rect">
            <a:avLst/>
          </a:prstGeom>
          <a:noFill/>
        </p:spPr>
        <p:txBody>
          <a:bodyPr wrap="square">
            <a:spAutoFit/>
          </a:bodyPr>
          <a:lstStyle/>
          <a:p>
            <a:r>
              <a:rPr lang="en-US" sz="1200" b="1" i="0" u="none" strike="noStrike" baseline="0">
                <a:solidFill>
                  <a:srgbClr val="000000"/>
                </a:solidFill>
                <a:latin typeface="+mj-lt"/>
              </a:rPr>
              <a:t>Two Vaccines</a:t>
            </a:r>
            <a:r>
              <a:rPr lang="en-US" sz="1200" b="0" i="0" u="none" strike="noStrike" baseline="0">
                <a:solidFill>
                  <a:srgbClr val="000000"/>
                </a:solidFill>
                <a:latin typeface="+mj-lt"/>
              </a:rPr>
              <a:t>:</a:t>
            </a:r>
          </a:p>
          <a:p>
            <a:r>
              <a:rPr lang="en-US" sz="1200">
                <a:solidFill>
                  <a:srgbClr val="000000"/>
                </a:solidFill>
                <a:latin typeface="+mj-lt"/>
              </a:rPr>
              <a:t>MenACWY + MenB</a:t>
            </a:r>
            <a:endParaRPr lang="en-US" sz="1200">
              <a:latin typeface="+mj-lt"/>
            </a:endParaRPr>
          </a:p>
        </p:txBody>
      </p:sp>
      <p:graphicFrame>
        <p:nvGraphicFramePr>
          <p:cNvPr id="33" name="Table 3">
            <a:extLst>
              <a:ext uri="{FF2B5EF4-FFF2-40B4-BE49-F238E27FC236}">
                <a16:creationId xmlns:a16="http://schemas.microsoft.com/office/drawing/2014/main" id="{BAC3B7FD-4280-1851-8DB8-191A27B430A1}"/>
              </a:ext>
            </a:extLst>
          </p:cNvPr>
          <p:cNvGraphicFramePr>
            <a:graphicFrameLocks noGrp="1"/>
          </p:cNvGraphicFramePr>
          <p:nvPr>
            <p:extLst>
              <p:ext uri="{D42A27DB-BD31-4B8C-83A1-F6EECF244321}">
                <p14:modId xmlns:p14="http://schemas.microsoft.com/office/powerpoint/2010/main" val="3297984575"/>
              </p:ext>
            </p:extLst>
          </p:nvPr>
        </p:nvGraphicFramePr>
        <p:xfrm>
          <a:off x="3097162" y="1979990"/>
          <a:ext cx="6007509" cy="259044"/>
        </p:xfrm>
        <a:graphic>
          <a:graphicData uri="http://schemas.openxmlformats.org/drawingml/2006/table">
            <a:tbl>
              <a:tblPr firstRow="1" bandRow="1">
                <a:tableStyleId>{5C22544A-7EE6-4342-B048-85BDC9FD1C3A}</a:tableStyleId>
              </a:tblPr>
              <a:tblGrid>
                <a:gridCol w="6007509">
                  <a:extLst>
                    <a:ext uri="{9D8B030D-6E8A-4147-A177-3AD203B41FA5}">
                      <a16:colId xmlns:a16="http://schemas.microsoft.com/office/drawing/2014/main" val="2733787592"/>
                    </a:ext>
                  </a:extLst>
                </a:gridCol>
              </a:tblGrid>
              <a:tr h="228137">
                <a:tc>
                  <a:txBody>
                    <a:bodyPr/>
                    <a:lstStyle/>
                    <a:p>
                      <a:pPr algn="ctr"/>
                      <a:r>
                        <a:rPr lang="en-US" sz="1400" b="1" dirty="0">
                          <a:solidFill>
                            <a:schemeClr val="tx1"/>
                          </a:solidFill>
                        </a:rPr>
                        <a:t>Current Penbraya Stockers</a:t>
                      </a:r>
                      <a:endParaRPr kumimoji="0" lang="en-US" sz="900" b="0" i="0" u="none" strike="noStrike" kern="1200" cap="none" spc="0" normalizeH="0" baseline="0" dirty="0">
                        <a:ln>
                          <a:noFill/>
                        </a:ln>
                        <a:solidFill>
                          <a:srgbClr val="FFFFFF">
                            <a:lumMod val="50000"/>
                          </a:srgbClr>
                        </a:solidFill>
                        <a:effectLst/>
                        <a:uLnTx/>
                        <a:uFillTx/>
                        <a:latin typeface="Arial" panose="020B0604020202020204"/>
                        <a:ea typeface="+mn-ea"/>
                        <a:cs typeface="+mn-cs"/>
                      </a:endParaRPr>
                    </a:p>
                  </a:txBody>
                  <a:tcPr marL="0" marR="0" marT="45684"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1968976"/>
                  </a:ext>
                </a:extLst>
              </a:tr>
            </a:tbl>
          </a:graphicData>
        </a:graphic>
      </p:graphicFrame>
      <p:sp>
        <p:nvSpPr>
          <p:cNvPr id="39" name="TextBox 38">
            <a:extLst>
              <a:ext uri="{FF2B5EF4-FFF2-40B4-BE49-F238E27FC236}">
                <a16:creationId xmlns:a16="http://schemas.microsoft.com/office/drawing/2014/main" id="{D1FCC353-1FC0-DA28-89FF-EF5929D865A0}"/>
              </a:ext>
            </a:extLst>
          </p:cNvPr>
          <p:cNvSpPr txBox="1"/>
          <p:nvPr/>
        </p:nvSpPr>
        <p:spPr bwMode="gray">
          <a:xfrm>
            <a:off x="996039" y="5552129"/>
            <a:ext cx="5358027" cy="246221"/>
          </a:xfrm>
          <a:prstGeom prst="rect">
            <a:avLst/>
          </a:prstGeom>
          <a:noFill/>
        </p:spPr>
        <p:txBody>
          <a:bodyPr wrap="square">
            <a:spAutoFit/>
          </a:bodyPr>
          <a:lstStyle/>
          <a:p>
            <a:r>
              <a:rPr lang="en-US" sz="1000"/>
              <a:t>*Patients 16-18 yr. old eligible for both MenACWY and 1st dose of MenB Vxs at same visit </a:t>
            </a:r>
          </a:p>
        </p:txBody>
      </p:sp>
      <p:sp>
        <p:nvSpPr>
          <p:cNvPr id="45" name="TextBox 44">
            <a:extLst>
              <a:ext uri="{FF2B5EF4-FFF2-40B4-BE49-F238E27FC236}">
                <a16:creationId xmlns:a16="http://schemas.microsoft.com/office/drawing/2014/main" id="{4BB23608-688A-C17D-413B-2A80D3D3FB31}"/>
              </a:ext>
            </a:extLst>
          </p:cNvPr>
          <p:cNvSpPr txBox="1"/>
          <p:nvPr/>
        </p:nvSpPr>
        <p:spPr bwMode="gray">
          <a:xfrm>
            <a:off x="1541930" y="2577743"/>
            <a:ext cx="3500953" cy="345672"/>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defPPr>
              <a:defRPr lang="en-US"/>
            </a:defPPr>
            <a:lvl1pPr algn="ctr">
              <a:defRPr sz="1400" b="1">
                <a:latin typeface="Arial" panose="020B0604020202020204"/>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t>% Patients* Recommended / past mo.</a:t>
            </a:r>
          </a:p>
        </p:txBody>
      </p:sp>
      <p:sp>
        <p:nvSpPr>
          <p:cNvPr id="47" name="TextBox 46">
            <a:extLst>
              <a:ext uri="{FF2B5EF4-FFF2-40B4-BE49-F238E27FC236}">
                <a16:creationId xmlns:a16="http://schemas.microsoft.com/office/drawing/2014/main" id="{8033EC94-259C-2485-5C84-88D4FD38DE28}"/>
              </a:ext>
            </a:extLst>
          </p:cNvPr>
          <p:cNvSpPr txBox="1"/>
          <p:nvPr/>
        </p:nvSpPr>
        <p:spPr bwMode="gray">
          <a:xfrm>
            <a:off x="6790910" y="2577744"/>
            <a:ext cx="3500953" cy="341632"/>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defPPr>
              <a:defRPr lang="en-US"/>
            </a:defPPr>
            <a:lvl1pPr algn="ctr">
              <a:defRPr sz="1400" b="1">
                <a:latin typeface="Arial" panose="020B0604020202020204"/>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t>Action following MenABCWY Recco</a:t>
            </a:r>
          </a:p>
        </p:txBody>
      </p:sp>
      <p:sp>
        <p:nvSpPr>
          <p:cNvPr id="48" name="Left Brace 47">
            <a:extLst>
              <a:ext uri="{FF2B5EF4-FFF2-40B4-BE49-F238E27FC236}">
                <a16:creationId xmlns:a16="http://schemas.microsoft.com/office/drawing/2014/main" id="{F0B435EA-3B91-C530-548C-AD21726C64E5}"/>
              </a:ext>
            </a:extLst>
          </p:cNvPr>
          <p:cNvSpPr/>
          <p:nvPr/>
        </p:nvSpPr>
        <p:spPr bwMode="gray">
          <a:xfrm>
            <a:off x="7243281" y="3208785"/>
            <a:ext cx="157229" cy="1825178"/>
          </a:xfrm>
          <a:prstGeom prst="leftBrace">
            <a:avLst/>
          </a:prstGeom>
          <a:noFill/>
          <a:ln w="12700" cap="rnd">
            <a:solidFill>
              <a:schemeClr val="bg1">
                <a:lumMod val="75000"/>
              </a:schemeClr>
            </a:solidFill>
            <a:prstDash val="solid"/>
            <a:round/>
            <a:headEnd/>
            <a:tailEnd/>
          </a:ln>
          <a:effectLst/>
        </p:spPr>
        <p:txBody>
          <a:bodyPr rtlCol="0" anchor="ctr"/>
          <a:lstStyle/>
          <a:p>
            <a:pPr algn="ctr"/>
            <a:endParaRPr lang="en-US"/>
          </a:p>
        </p:txBody>
      </p:sp>
      <p:sp>
        <p:nvSpPr>
          <p:cNvPr id="49" name="TextBox 48">
            <a:extLst>
              <a:ext uri="{FF2B5EF4-FFF2-40B4-BE49-F238E27FC236}">
                <a16:creationId xmlns:a16="http://schemas.microsoft.com/office/drawing/2014/main" id="{F37B7DB2-9DC5-49DF-32C6-68E3D418F767}"/>
              </a:ext>
            </a:extLst>
          </p:cNvPr>
          <p:cNvSpPr txBox="1"/>
          <p:nvPr/>
        </p:nvSpPr>
        <p:spPr bwMode="gray">
          <a:xfrm>
            <a:off x="6543340" y="3825909"/>
            <a:ext cx="730328" cy="590931"/>
          </a:xfrm>
          <a:prstGeom prst="rect">
            <a:avLst/>
          </a:prstGeom>
          <a:noFill/>
        </p:spPr>
        <p:txBody>
          <a:bodyPr wrap="none" lIns="45720" tIns="45720" rIns="45720" bIns="45720" rtlCol="0">
            <a:spAutoFit/>
          </a:bodyPr>
          <a:lstStyle/>
          <a:p>
            <a:pPr algn="ctr">
              <a:lnSpc>
                <a:spcPct val="90000"/>
              </a:lnSpc>
              <a:spcBef>
                <a:spcPts val="1000"/>
              </a:spcBef>
            </a:pPr>
            <a:r>
              <a:rPr lang="en-US" sz="1200"/>
              <a:t>77%</a:t>
            </a:r>
            <a:br>
              <a:rPr lang="en-US" sz="1200"/>
            </a:br>
            <a:r>
              <a:rPr lang="en-US" sz="1200"/>
              <a:t>Received</a:t>
            </a:r>
            <a:br>
              <a:rPr lang="en-US" sz="1200"/>
            </a:br>
            <a:r>
              <a:rPr lang="en-US" sz="1200"/>
              <a:t>Vx</a:t>
            </a:r>
          </a:p>
        </p:txBody>
      </p:sp>
      <p:sp>
        <p:nvSpPr>
          <p:cNvPr id="3" name="TextBox 2">
            <a:extLst>
              <a:ext uri="{FF2B5EF4-FFF2-40B4-BE49-F238E27FC236}">
                <a16:creationId xmlns:a16="http://schemas.microsoft.com/office/drawing/2014/main" id="{13144A0A-A3EB-B44D-C574-FCAC8F0DAF5B}"/>
              </a:ext>
            </a:extLst>
          </p:cNvPr>
          <p:cNvSpPr txBox="1"/>
          <p:nvPr/>
        </p:nvSpPr>
        <p:spPr bwMode="gray">
          <a:xfrm>
            <a:off x="884458" y="1310100"/>
            <a:ext cx="1337226"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C9"/>
                </a:solidFill>
                <a:effectLst/>
                <a:uLnTx/>
                <a:uFillTx/>
                <a:latin typeface="Arial" panose="020B0604020202020204"/>
                <a:ea typeface="+mn-ea"/>
                <a:cs typeface="+mn-cs"/>
              </a:rPr>
              <a:t>Current Stockers</a:t>
            </a:r>
          </a:p>
        </p:txBody>
      </p:sp>
      <p:sp>
        <p:nvSpPr>
          <p:cNvPr id="15" name="TextBox 14">
            <a:extLst>
              <a:ext uri="{FF2B5EF4-FFF2-40B4-BE49-F238E27FC236}">
                <a16:creationId xmlns:a16="http://schemas.microsoft.com/office/drawing/2014/main" id="{5C606AF6-676F-D9C6-4AB7-A12F5A894338}"/>
              </a:ext>
            </a:extLst>
          </p:cNvPr>
          <p:cNvSpPr txBox="1"/>
          <p:nvPr/>
        </p:nvSpPr>
        <p:spPr bwMode="gray">
          <a:xfrm>
            <a:off x="7470272" y="2960585"/>
            <a:ext cx="566181" cy="216982"/>
          </a:xfrm>
          <a:prstGeom prst="rect">
            <a:avLst/>
          </a:prstGeom>
          <a:noFill/>
        </p:spPr>
        <p:txBody>
          <a:bodyPr wrap="non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a:t>
            </a:r>
            <a:r>
              <a:rPr lang="en-US" sz="900">
                <a:solidFill>
                  <a:srgbClr val="FFFFFF">
                    <a:lumMod val="50000"/>
                  </a:srgbClr>
                </a:solidFill>
                <a:latin typeface="Arial" panose="020B0604020202020204"/>
              </a:rPr>
              <a:t>29</a:t>
            </a: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a:t>
            </a:r>
            <a:r>
              <a:rPr kumimoji="0" lang="en-US" sz="900" b="0" i="0" u="none" strike="noStrike" kern="1200" cap="none" spc="0" normalizeH="0" baseline="0" noProof="0">
                <a:ln>
                  <a:noFill/>
                </a:ln>
                <a:solidFill>
                  <a:srgbClr val="FF0000"/>
                </a:solidFill>
                <a:effectLst/>
                <a:uLnTx/>
                <a:uFillTx/>
                <a:latin typeface="Arial" panose="020B0604020202020204"/>
                <a:ea typeface="+mn-ea"/>
                <a:cs typeface="+mn-cs"/>
              </a:rPr>
              <a:t>*</a:t>
            </a:r>
            <a:endParaRPr kumimoji="0" lang="en-US" sz="1400" b="0" i="0" u="none" strike="noStrike" kern="1200" cap="none" spc="0" normalizeH="0" baseline="0" noProof="0">
              <a:ln>
                <a:noFill/>
              </a:ln>
              <a:solidFill>
                <a:srgbClr val="FF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7789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C6CBACF8-B5E3-08B3-895E-F1D3157C0EC4}"/>
              </a:ext>
            </a:extLst>
          </p:cNvPr>
          <p:cNvSpPr/>
          <p:nvPr/>
        </p:nvSpPr>
        <p:spPr bwMode="gray">
          <a:xfrm>
            <a:off x="951002" y="1543281"/>
            <a:ext cx="10306278" cy="4438604"/>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 name="Title 1">
            <a:extLst>
              <a:ext uri="{FF2B5EF4-FFF2-40B4-BE49-F238E27FC236}">
                <a16:creationId xmlns:a16="http://schemas.microsoft.com/office/drawing/2014/main" id="{CFB7CE5B-CBBE-C227-1B6D-D0EBFD9BA983}"/>
              </a:ext>
            </a:extLst>
          </p:cNvPr>
          <p:cNvSpPr>
            <a:spLocks noGrp="1"/>
          </p:cNvSpPr>
          <p:nvPr>
            <p:ph type="title"/>
          </p:nvPr>
        </p:nvSpPr>
        <p:spPr>
          <a:xfrm>
            <a:off x="1142123" y="170307"/>
            <a:ext cx="10541878" cy="850392"/>
          </a:xfrm>
        </p:spPr>
        <p:txBody>
          <a:bodyPr/>
          <a:lstStyle/>
          <a:p>
            <a:r>
              <a:rPr lang="en-US" dirty="0"/>
              <a:t>Most Penbraya Stockers are discussing the </a:t>
            </a:r>
            <a:r>
              <a:rPr lang="en-US" dirty="0" err="1"/>
              <a:t>MenABCWY</a:t>
            </a:r>
            <a:r>
              <a:rPr lang="en-US" dirty="0"/>
              <a:t> vaccine, focusing on its </a:t>
            </a:r>
            <a:r>
              <a:rPr lang="en-US" i="1" dirty="0"/>
              <a:t>broad coverage</a:t>
            </a:r>
            <a:r>
              <a:rPr lang="en-US" dirty="0"/>
              <a:t>, </a:t>
            </a:r>
            <a:r>
              <a:rPr lang="en-US" i="1" dirty="0"/>
              <a:t>safety and effectiveness (up this wave), one shot instead of two, </a:t>
            </a:r>
            <a:r>
              <a:rPr lang="en-US" dirty="0"/>
              <a:t>and </a:t>
            </a:r>
            <a:r>
              <a:rPr lang="en-US" i="1" dirty="0"/>
              <a:t>education</a:t>
            </a:r>
          </a:p>
        </p:txBody>
      </p:sp>
      <p:sp>
        <p:nvSpPr>
          <p:cNvPr id="3" name="Text Placeholder 2">
            <a:extLst>
              <a:ext uri="{FF2B5EF4-FFF2-40B4-BE49-F238E27FC236}">
                <a16:creationId xmlns:a16="http://schemas.microsoft.com/office/drawing/2014/main" id="{7C7D7F8D-AFAF-1B1C-0CBE-6730ADC5D348}"/>
              </a:ext>
            </a:extLst>
          </p:cNvPr>
          <p:cNvSpPr>
            <a:spLocks noGrp="1"/>
          </p:cNvSpPr>
          <p:nvPr>
            <p:ph type="body" sz="quarter" idx="16"/>
          </p:nvPr>
        </p:nvSpPr>
        <p:spPr>
          <a:xfrm>
            <a:off x="1571625" y="6113788"/>
            <a:ext cx="9239250" cy="630942"/>
          </a:xfrm>
        </p:spPr>
        <p:txBody>
          <a:bodyPr/>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r>
              <a:rPr lang="en-US">
                <a:solidFill>
                  <a:srgbClr val="FF0000"/>
                </a:solidFill>
              </a:rPr>
              <a:t>*Caution: small base size</a:t>
            </a:r>
            <a:endParaRPr lang="en-US">
              <a:solidFill>
                <a:schemeClr val="tx1">
                  <a:lumMod val="50000"/>
                  <a:lumOff val="50000"/>
                </a:schemeClr>
              </a:solidFill>
              <a:cs typeface="Arial" panose="020B0604020202020204" pitchFamily="34" charset="0"/>
            </a:endParaRPr>
          </a:p>
          <a:p>
            <a:r>
              <a:rPr lang="en-US"/>
              <a:t>C9. Are you proactively discussing the MenABCWY pentavalent vaccine with caregivers and eligible patients 16-18 years of age? </a:t>
            </a:r>
          </a:p>
          <a:p>
            <a:r>
              <a:rPr lang="en-US"/>
              <a:t>C10. What is being discussed about the MenABCWY pentavalent vaccine with caregivers and eligible patients 16-18 years of age? </a:t>
            </a:r>
          </a:p>
        </p:txBody>
      </p:sp>
      <p:sp>
        <p:nvSpPr>
          <p:cNvPr id="17" name="TextBox 16">
            <a:extLst>
              <a:ext uri="{FF2B5EF4-FFF2-40B4-BE49-F238E27FC236}">
                <a16:creationId xmlns:a16="http://schemas.microsoft.com/office/drawing/2014/main" id="{539D7D2C-D4BF-F98E-801D-2DA81B19223D}"/>
              </a:ext>
            </a:extLst>
          </p:cNvPr>
          <p:cNvSpPr txBox="1"/>
          <p:nvPr/>
        </p:nvSpPr>
        <p:spPr bwMode="gray">
          <a:xfrm>
            <a:off x="3113639" y="1653469"/>
            <a:ext cx="5961567" cy="3416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Incidence of MenABCWY Pentavalent Vx Discussions</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aphicFrame>
        <p:nvGraphicFramePr>
          <p:cNvPr id="18" name="Chart 17">
            <a:extLst>
              <a:ext uri="{FF2B5EF4-FFF2-40B4-BE49-F238E27FC236}">
                <a16:creationId xmlns:a16="http://schemas.microsoft.com/office/drawing/2014/main" id="{17CB2EFB-C87C-683D-DE6F-BACE49242DCF}"/>
              </a:ext>
            </a:extLst>
          </p:cNvPr>
          <p:cNvGraphicFramePr/>
          <p:nvPr>
            <p:extLst>
              <p:ext uri="{D42A27DB-BD31-4B8C-83A1-F6EECF244321}">
                <p14:modId xmlns:p14="http://schemas.microsoft.com/office/powerpoint/2010/main" val="2556646674"/>
              </p:ext>
            </p:extLst>
          </p:nvPr>
        </p:nvGraphicFramePr>
        <p:xfrm>
          <a:off x="403657" y="2608820"/>
          <a:ext cx="2762656" cy="3202604"/>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a:extLst>
              <a:ext uri="{FF2B5EF4-FFF2-40B4-BE49-F238E27FC236}">
                <a16:creationId xmlns:a16="http://schemas.microsoft.com/office/drawing/2014/main" id="{C1F36BFF-D60F-30AF-B203-E96EACEDF73E}"/>
              </a:ext>
            </a:extLst>
          </p:cNvPr>
          <p:cNvSpPr txBox="1"/>
          <p:nvPr/>
        </p:nvSpPr>
        <p:spPr bwMode="gray">
          <a:xfrm>
            <a:off x="963971" y="2538717"/>
            <a:ext cx="1801134" cy="535531"/>
          </a:xfrm>
          <a:prstGeom prst="rect">
            <a:avLst/>
          </a:prstGeom>
        </p:spPr>
        <p:txBody>
          <a:bodyPr wrap="none" lIns="45720" tIns="45720" rIns="45720" bIns="45720" rtlCol="0">
            <a:spAutoFit/>
          </a:bodyPr>
          <a:lstStyle/>
          <a:p>
            <a:pPr algn="ctr">
              <a:lnSpc>
                <a:spcPct val="90000"/>
              </a:lnSpc>
              <a:spcAft>
                <a:spcPts val="400"/>
              </a:spcAft>
            </a:pPr>
            <a:r>
              <a:rPr lang="en-US" sz="1600" b="1"/>
              <a:t>Proactively</a:t>
            </a:r>
            <a:br>
              <a:rPr lang="en-US" sz="1600" b="1"/>
            </a:br>
            <a:r>
              <a:rPr lang="en-US" sz="1600" b="1"/>
              <a:t>Discussing Penta</a:t>
            </a:r>
            <a:endParaRPr lang="en-US" sz="1000" i="1">
              <a:highlight>
                <a:srgbClr val="00FF00"/>
              </a:highlight>
            </a:endParaRPr>
          </a:p>
        </p:txBody>
      </p:sp>
      <p:graphicFrame>
        <p:nvGraphicFramePr>
          <p:cNvPr id="23" name="Table 22">
            <a:extLst>
              <a:ext uri="{FF2B5EF4-FFF2-40B4-BE49-F238E27FC236}">
                <a16:creationId xmlns:a16="http://schemas.microsoft.com/office/drawing/2014/main" id="{B10C9815-2797-71DD-EA08-7958599334F4}"/>
              </a:ext>
            </a:extLst>
          </p:cNvPr>
          <p:cNvGraphicFramePr>
            <a:graphicFrameLocks noGrp="1"/>
          </p:cNvGraphicFramePr>
          <p:nvPr>
            <p:extLst>
              <p:ext uri="{D42A27DB-BD31-4B8C-83A1-F6EECF244321}">
                <p14:modId xmlns:p14="http://schemas.microsoft.com/office/powerpoint/2010/main" val="3932023938"/>
              </p:ext>
            </p:extLst>
          </p:nvPr>
        </p:nvGraphicFramePr>
        <p:xfrm>
          <a:off x="3113639" y="3383756"/>
          <a:ext cx="3442804" cy="2033196"/>
        </p:xfrm>
        <a:graphic>
          <a:graphicData uri="http://schemas.openxmlformats.org/drawingml/2006/table">
            <a:tbl>
              <a:tblPr firstRow="1" bandRow="1">
                <a:tableStyleId>{F5AB1C69-6EDB-4FF4-983F-18BD219EF322}</a:tableStyleId>
              </a:tblPr>
              <a:tblGrid>
                <a:gridCol w="2700752">
                  <a:extLst>
                    <a:ext uri="{9D8B030D-6E8A-4147-A177-3AD203B41FA5}">
                      <a16:colId xmlns:a16="http://schemas.microsoft.com/office/drawing/2014/main" val="980891169"/>
                    </a:ext>
                  </a:extLst>
                </a:gridCol>
                <a:gridCol w="742052">
                  <a:extLst>
                    <a:ext uri="{9D8B030D-6E8A-4147-A177-3AD203B41FA5}">
                      <a16:colId xmlns:a16="http://schemas.microsoft.com/office/drawing/2014/main" val="765208812"/>
                    </a:ext>
                  </a:extLst>
                </a:gridCol>
              </a:tblGrid>
              <a:tr h="392349">
                <a:tc>
                  <a:txBody>
                    <a:bodyPr/>
                    <a:lstStyle/>
                    <a:p>
                      <a:pPr algn="l" fontAlgn="t"/>
                      <a:r>
                        <a:rPr lang="en-US" sz="1200" b="0" i="0" u="none" strike="noStrike">
                          <a:solidFill>
                            <a:srgbClr val="000000"/>
                          </a:solidFill>
                          <a:effectLst/>
                          <a:latin typeface="Arial" panose="020B0604020202020204" pitchFamily="34" charset="0"/>
                        </a:rPr>
                        <a:t>Broad coverage (broadest, covers more, all, 5 STs)</a:t>
                      </a:r>
                    </a:p>
                  </a:txBody>
                  <a:tcPr marR="7620" marT="0" marB="0" anchor="ctr">
                    <a:lnL w="12700" cap="flat" cmpd="sng" algn="ctr">
                      <a:solidFill>
                        <a:schemeClr val="accent3">
                          <a:lumMod val="75000"/>
                        </a:schemeClr>
                      </a:solidFill>
                      <a:prstDash val="solid"/>
                      <a:round/>
                      <a:headEnd type="none" w="med" len="med"/>
                      <a:tailEnd type="none" w="med" len="med"/>
                    </a:lnL>
                    <a:lnT w="12700" cap="flat" cmpd="sng" algn="ctr">
                      <a:solidFill>
                        <a:schemeClr val="accent3">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Arial" panose="020B0604020202020204" pitchFamily="34" charset="0"/>
                        </a:rPr>
                        <a:t>41%</a:t>
                      </a:r>
                    </a:p>
                  </a:txBody>
                  <a:tcPr marL="7620" marR="7620" marT="7620" marB="0" anchor="ctr">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5588992"/>
                  </a:ext>
                </a:extLst>
              </a:tr>
              <a:tr h="392349">
                <a:tc>
                  <a:txBody>
                    <a:bodyPr/>
                    <a:lstStyle/>
                    <a:p>
                      <a:pPr algn="l" fontAlgn="t"/>
                      <a:r>
                        <a:rPr lang="en-US" sz="1200" b="0" i="0" u="none" strike="noStrike">
                          <a:solidFill>
                            <a:srgbClr val="000000"/>
                          </a:solidFill>
                          <a:effectLst/>
                          <a:latin typeface="Arial" panose="020B0604020202020204" pitchFamily="34" charset="0"/>
                        </a:rPr>
                        <a:t>Safe and effective</a:t>
                      </a:r>
                    </a:p>
                  </a:txBody>
                  <a:tcPr marR="7620" marT="0" marB="0" anchor="ctr">
                    <a:lnL w="12700" cap="flat" cmpd="sng" algn="ctr">
                      <a:solidFill>
                        <a:schemeClr val="accent3">
                          <a:lumMod val="75000"/>
                        </a:schemeClr>
                      </a:solidFill>
                      <a:prstDash val="solid"/>
                      <a:round/>
                      <a:headEnd type="none" w="med" len="med"/>
                      <a:tailEnd type="none" w="med" len="med"/>
                    </a:lnL>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Arial" panose="020B0604020202020204" pitchFamily="34" charset="0"/>
                        </a:rPr>
                        <a:t>41%</a:t>
                      </a:r>
                    </a:p>
                  </a:txBody>
                  <a:tcPr marL="7620" marR="7620" marT="7620" marB="0" anchor="ctr">
                    <a:lnR w="12700" cap="flat" cmpd="sng" algn="ctr">
                      <a:solidFill>
                        <a:schemeClr val="accent3">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65703445"/>
                  </a:ext>
                </a:extLst>
              </a:tr>
              <a:tr h="392349">
                <a:tc>
                  <a:txBody>
                    <a:bodyPr/>
                    <a:lstStyle/>
                    <a:p>
                      <a:pPr algn="l" fontAlgn="t"/>
                      <a:r>
                        <a:rPr lang="en-US" sz="1200" b="0" i="0" u="none" strike="noStrike">
                          <a:solidFill>
                            <a:srgbClr val="000000"/>
                          </a:solidFill>
                          <a:effectLst/>
                          <a:latin typeface="Arial" panose="020B0604020202020204" pitchFamily="34" charset="0"/>
                        </a:rPr>
                        <a:t>One shot instead of two (fewer shots)</a:t>
                      </a:r>
                    </a:p>
                  </a:txBody>
                  <a:tcPr marR="7620" marT="0" marB="0" anchor="ctr">
                    <a:lnL w="12700" cap="flat" cmpd="sng" algn="ctr">
                      <a:solidFill>
                        <a:schemeClr val="accent3">
                          <a:lumMod val="75000"/>
                        </a:schemeClr>
                      </a:solidFill>
                      <a:prstDash val="solid"/>
                      <a:round/>
                      <a:headEnd type="none" w="med" len="med"/>
                      <a:tailEnd type="none" w="med" len="med"/>
                    </a:lnL>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Arial" panose="020B0604020202020204" pitchFamily="34" charset="0"/>
                        </a:rPr>
                        <a:t>38%</a:t>
                      </a:r>
                    </a:p>
                  </a:txBody>
                  <a:tcPr marL="7620" marR="7620" marT="7620" marB="0" anchor="ctr">
                    <a:lnR w="12700" cap="flat" cmpd="sng" algn="ctr">
                      <a:solidFill>
                        <a:schemeClr val="accent3">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2565028"/>
                  </a:ext>
                </a:extLst>
              </a:tr>
              <a:tr h="463800">
                <a:tc>
                  <a:txBody>
                    <a:bodyPr/>
                    <a:lstStyle/>
                    <a:p>
                      <a:pPr algn="l" fontAlgn="t"/>
                      <a:r>
                        <a:rPr lang="en-US" sz="1200" b="0" i="0" u="none" strike="noStrike">
                          <a:solidFill>
                            <a:srgbClr val="000000"/>
                          </a:solidFill>
                          <a:effectLst/>
                          <a:latin typeface="Arial" panose="020B0604020202020204" pitchFamily="34" charset="0"/>
                        </a:rPr>
                        <a:t>Education (importance of vaccination, seriousness, risk of disease)</a:t>
                      </a:r>
                    </a:p>
                  </a:txBody>
                  <a:tcPr marR="7620" marT="0" marB="0" anchor="ctr">
                    <a:lnL w="12700" cap="flat" cmpd="sng" algn="ctr">
                      <a:solidFill>
                        <a:schemeClr val="accent3">
                          <a:lumMod val="75000"/>
                        </a:schemeClr>
                      </a:solidFill>
                      <a:prstDash val="solid"/>
                      <a:round/>
                      <a:headEnd type="none" w="med" len="med"/>
                      <a:tailEnd type="none" w="med" len="med"/>
                    </a:lnL>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Arial" panose="020B0604020202020204" pitchFamily="34" charset="0"/>
                        </a:rPr>
                        <a:t>34%</a:t>
                      </a:r>
                    </a:p>
                  </a:txBody>
                  <a:tcPr marL="7620" marR="7620" marT="7620" marB="0" anchor="ctr">
                    <a:lnR w="12700" cap="flat" cmpd="sng" algn="ctr">
                      <a:solidFill>
                        <a:schemeClr val="accent3">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0659004"/>
                  </a:ext>
                </a:extLst>
              </a:tr>
              <a:tr h="392349">
                <a:tc>
                  <a:txBody>
                    <a:bodyPr/>
                    <a:lstStyle/>
                    <a:p>
                      <a:pPr algn="l" fontAlgn="t"/>
                      <a:r>
                        <a:rPr lang="en-US" sz="1200" b="0" i="0" u="none" strike="noStrike">
                          <a:solidFill>
                            <a:srgbClr val="000000"/>
                          </a:solidFill>
                          <a:effectLst/>
                          <a:latin typeface="Arial" panose="020B0604020202020204" pitchFamily="34" charset="0"/>
                        </a:rPr>
                        <a:t>Required (school, military)</a:t>
                      </a:r>
                    </a:p>
                  </a:txBody>
                  <a:tcPr marR="7620" marT="0" marB="0" anchor="ctr">
                    <a:lnL w="12700" cap="flat" cmpd="sng" algn="ctr">
                      <a:solidFill>
                        <a:schemeClr val="accent3">
                          <a:lumMod val="75000"/>
                        </a:schemeClr>
                      </a:solidFill>
                      <a:prstDash val="solid"/>
                      <a:round/>
                      <a:headEnd type="none" w="med" len="med"/>
                      <a:tailEnd type="none" w="med" len="med"/>
                    </a:lnL>
                    <a:lnT w="6350" cap="flat" cmpd="sng" algn="ctr">
                      <a:solidFill>
                        <a:schemeClr val="bg1">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Arial" panose="020B0604020202020204" pitchFamily="34" charset="0"/>
                        </a:rPr>
                        <a:t>10%</a:t>
                      </a:r>
                    </a:p>
                  </a:txBody>
                  <a:tcPr marL="7620" marR="7620" marT="7620" marB="0" anchor="ctr">
                    <a:lnR w="12700" cap="flat" cmpd="sng" algn="ctr">
                      <a:solidFill>
                        <a:schemeClr val="accent3">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noFill/>
                  </a:tcPr>
                </a:tc>
                <a:extLst>
                  <a:ext uri="{0D108BD9-81ED-4DB2-BD59-A6C34878D82A}">
                    <a16:rowId xmlns:a16="http://schemas.microsoft.com/office/drawing/2014/main" val="1270601140"/>
                  </a:ext>
                </a:extLst>
              </a:tr>
            </a:tbl>
          </a:graphicData>
        </a:graphic>
      </p:graphicFrame>
      <p:grpSp>
        <p:nvGrpSpPr>
          <p:cNvPr id="28" name="Group 27">
            <a:extLst>
              <a:ext uri="{FF2B5EF4-FFF2-40B4-BE49-F238E27FC236}">
                <a16:creationId xmlns:a16="http://schemas.microsoft.com/office/drawing/2014/main" id="{AAEDB843-7CE3-024D-2EEC-632596537BAF}"/>
              </a:ext>
            </a:extLst>
          </p:cNvPr>
          <p:cNvGrpSpPr/>
          <p:nvPr/>
        </p:nvGrpSpPr>
        <p:grpSpPr>
          <a:xfrm>
            <a:off x="3306321" y="2596170"/>
            <a:ext cx="3218230" cy="537814"/>
            <a:chOff x="4277630" y="2596170"/>
            <a:chExt cx="3218230" cy="537814"/>
          </a:xfrm>
        </p:grpSpPr>
        <p:sp>
          <p:nvSpPr>
            <p:cNvPr id="21" name="TextBox 20">
              <a:extLst>
                <a:ext uri="{FF2B5EF4-FFF2-40B4-BE49-F238E27FC236}">
                  <a16:creationId xmlns:a16="http://schemas.microsoft.com/office/drawing/2014/main" id="{E3EFE6DA-B6B4-791E-E4CF-0AB345568C34}"/>
                </a:ext>
              </a:extLst>
            </p:cNvPr>
            <p:cNvSpPr txBox="1"/>
            <p:nvPr/>
          </p:nvSpPr>
          <p:spPr bwMode="gray">
            <a:xfrm>
              <a:off x="4672843" y="2641541"/>
              <a:ext cx="2823017" cy="492443"/>
            </a:xfrm>
            <a:prstGeom prst="rect">
              <a:avLst/>
            </a:prstGeom>
          </p:spPr>
          <p:txBody>
            <a:bodyPr wrap="none" lIns="45720" tIns="45720" rIns="45720" bIns="45720" rtlCol="0">
              <a:spAutoFit/>
            </a:bodyPr>
            <a:lstStyle/>
            <a:p>
              <a:pPr algn="ctr">
                <a:spcAft>
                  <a:spcPts val="400"/>
                </a:spcAft>
              </a:pPr>
              <a:r>
                <a:rPr lang="en-US" sz="1600" b="1"/>
                <a:t>Topics Discussed (Unaided)</a:t>
              </a:r>
              <a:br>
                <a:rPr lang="en-US" b="1">
                  <a:solidFill>
                    <a:schemeClr val="accent1"/>
                  </a:solidFill>
                </a:rPr>
              </a:br>
              <a:endParaRPr lang="en-US" sz="1000" i="1">
                <a:solidFill>
                  <a:schemeClr val="bg1">
                    <a:lumMod val="50000"/>
                  </a:schemeClr>
                </a:solidFill>
              </a:endParaRPr>
            </a:p>
          </p:txBody>
        </p:sp>
        <p:grpSp>
          <p:nvGrpSpPr>
            <p:cNvPr id="4" name="Group 3">
              <a:extLst>
                <a:ext uri="{FF2B5EF4-FFF2-40B4-BE49-F238E27FC236}">
                  <a16:creationId xmlns:a16="http://schemas.microsoft.com/office/drawing/2014/main" id="{CECDC1F0-6293-F745-6BCA-7E6B26D62303}"/>
                </a:ext>
              </a:extLst>
            </p:cNvPr>
            <p:cNvGrpSpPr/>
            <p:nvPr/>
          </p:nvGrpSpPr>
          <p:grpSpPr>
            <a:xfrm>
              <a:off x="4277630" y="2596170"/>
              <a:ext cx="420624" cy="420624"/>
              <a:chOff x="1119929" y="943834"/>
              <a:chExt cx="846331" cy="784203"/>
            </a:xfrm>
          </p:grpSpPr>
          <p:pic>
            <p:nvPicPr>
              <p:cNvPr id="5" name="Picture 6" descr="143,700+ Mouth Icon Illustrations, Royalty-Free Vector Graphics &amp; Clip Art  - iStock | Open mouth icon, Word of mouth icon, Cover mouth icon">
                <a:extLst>
                  <a:ext uri="{FF2B5EF4-FFF2-40B4-BE49-F238E27FC236}">
                    <a16:creationId xmlns:a16="http://schemas.microsoft.com/office/drawing/2014/main" id="{5A0BA205-38ED-9CAC-F284-0592C385ABEF}"/>
                  </a:ext>
                </a:extLst>
              </p:cNvPr>
              <p:cNvPicPr>
                <a:picLocks noChangeAspect="1" noChangeArrowheads="1"/>
              </p:cNvPicPr>
              <p:nvPr/>
            </p:nvPicPr>
            <p:blipFill>
              <a:blip r:embed="rId4">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AA8F0E22-FC7F-FC3D-53F6-0192E309561C}"/>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grpSp>
      <p:graphicFrame>
        <p:nvGraphicFramePr>
          <p:cNvPr id="10" name="Table 3">
            <a:extLst>
              <a:ext uri="{FF2B5EF4-FFF2-40B4-BE49-F238E27FC236}">
                <a16:creationId xmlns:a16="http://schemas.microsoft.com/office/drawing/2014/main" id="{948893D7-0B4A-56A2-C10B-51FC4F710458}"/>
              </a:ext>
            </a:extLst>
          </p:cNvPr>
          <p:cNvGraphicFramePr>
            <a:graphicFrameLocks noGrp="1"/>
          </p:cNvGraphicFramePr>
          <p:nvPr>
            <p:extLst>
              <p:ext uri="{D42A27DB-BD31-4B8C-83A1-F6EECF244321}">
                <p14:modId xmlns:p14="http://schemas.microsoft.com/office/powerpoint/2010/main" val="3695690820"/>
              </p:ext>
            </p:extLst>
          </p:nvPr>
        </p:nvGraphicFramePr>
        <p:xfrm>
          <a:off x="2989694" y="1979990"/>
          <a:ext cx="6209456" cy="259044"/>
        </p:xfrm>
        <a:graphic>
          <a:graphicData uri="http://schemas.openxmlformats.org/drawingml/2006/table">
            <a:tbl>
              <a:tblPr firstRow="1" bandRow="1">
                <a:tableStyleId>{5C22544A-7EE6-4342-B048-85BDC9FD1C3A}</a:tableStyleId>
              </a:tblPr>
              <a:tblGrid>
                <a:gridCol w="6209456">
                  <a:extLst>
                    <a:ext uri="{9D8B030D-6E8A-4147-A177-3AD203B41FA5}">
                      <a16:colId xmlns:a16="http://schemas.microsoft.com/office/drawing/2014/main" val="2733787592"/>
                    </a:ext>
                  </a:extLst>
                </a:gridCol>
              </a:tblGrid>
              <a:tr h="228137">
                <a:tc>
                  <a:txBody>
                    <a:bodyPr/>
                    <a:lstStyle/>
                    <a:p>
                      <a:pPr algn="ctr"/>
                      <a:r>
                        <a:rPr lang="en-US" sz="1400" b="1" dirty="0">
                          <a:solidFill>
                            <a:schemeClr val="tx1"/>
                          </a:solidFill>
                        </a:rPr>
                        <a:t>Current Penbraya Stockers</a:t>
                      </a:r>
                      <a:endParaRPr kumimoji="0" lang="en-US" sz="900" b="0" i="0" u="none" strike="noStrike" kern="1200" cap="none" spc="0" normalizeH="0" baseline="0" dirty="0">
                        <a:ln>
                          <a:noFill/>
                        </a:ln>
                        <a:solidFill>
                          <a:srgbClr val="FFFFFF">
                            <a:lumMod val="50000"/>
                          </a:srgbClr>
                        </a:solidFill>
                        <a:effectLst/>
                        <a:uLnTx/>
                        <a:uFillTx/>
                        <a:latin typeface="Arial" panose="020B0604020202020204"/>
                        <a:ea typeface="+mn-ea"/>
                        <a:cs typeface="+mn-cs"/>
                      </a:endParaRPr>
                    </a:p>
                  </a:txBody>
                  <a:tcPr marL="0" marR="0" marT="45684"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1968976"/>
                  </a:ext>
                </a:extLst>
              </a:tr>
            </a:tbl>
          </a:graphicData>
        </a:graphic>
      </p:graphicFrame>
      <p:sp>
        <p:nvSpPr>
          <p:cNvPr id="13" name="Rectangle 12">
            <a:extLst>
              <a:ext uri="{FF2B5EF4-FFF2-40B4-BE49-F238E27FC236}">
                <a16:creationId xmlns:a16="http://schemas.microsoft.com/office/drawing/2014/main" id="{C27A1EB2-AA51-F480-D039-70C11E6DBF4D}"/>
              </a:ext>
            </a:extLst>
          </p:cNvPr>
          <p:cNvSpPr/>
          <p:nvPr/>
        </p:nvSpPr>
        <p:spPr>
          <a:xfrm>
            <a:off x="7585516" y="2516251"/>
            <a:ext cx="2979379" cy="3231654"/>
          </a:xfrm>
          <a:prstGeom prst="rect">
            <a:avLst/>
          </a:prstGeom>
        </p:spPr>
        <p:txBody>
          <a:bodyPr wrap="square" lIns="27432" tIns="182880" rIns="27432">
            <a:spAutoFit/>
          </a:bodyPr>
          <a:lstStyle/>
          <a:p>
            <a:pPr algn="ctr"/>
            <a:r>
              <a:rPr lang="en-US" sz="1200" i="1">
                <a:solidFill>
                  <a:schemeClr val="tx1">
                    <a:lumMod val="50000"/>
                    <a:lumOff val="50000"/>
                  </a:schemeClr>
                </a:solidFill>
              </a:rPr>
              <a:t>Coverage against the 5 most </a:t>
            </a:r>
            <a:br>
              <a:rPr lang="en-US" sz="1200" i="1">
                <a:solidFill>
                  <a:schemeClr val="tx1">
                    <a:lumMod val="50000"/>
                    <a:lumOff val="50000"/>
                  </a:schemeClr>
                </a:solidFill>
              </a:rPr>
            </a:br>
            <a:r>
              <a:rPr lang="en-US" sz="1200" i="1">
                <a:solidFill>
                  <a:schemeClr val="tx1">
                    <a:lumMod val="50000"/>
                    <a:lumOff val="50000"/>
                  </a:schemeClr>
                </a:solidFill>
              </a:rPr>
              <a:t>prevalent meningococcal strains; </a:t>
            </a:r>
            <a:br>
              <a:rPr lang="en-US" sz="1200" i="1">
                <a:solidFill>
                  <a:schemeClr val="tx1">
                    <a:lumMod val="50000"/>
                    <a:lumOff val="50000"/>
                  </a:schemeClr>
                </a:solidFill>
              </a:rPr>
            </a:br>
            <a:r>
              <a:rPr lang="en-US" sz="1200" i="1">
                <a:solidFill>
                  <a:schemeClr val="tx1">
                    <a:lumMod val="50000"/>
                    <a:lumOff val="50000"/>
                  </a:schemeClr>
                </a:solidFill>
              </a:rPr>
              <a:t>safety of the vaccine. </a:t>
            </a:r>
          </a:p>
          <a:p>
            <a:pPr algn="ctr"/>
            <a:r>
              <a:rPr lang="en-US" sz="1200" i="1">
                <a:solidFill>
                  <a:schemeClr val="tx1">
                    <a:lumMod val="50000"/>
                    <a:lumOff val="50000"/>
                  </a:schemeClr>
                </a:solidFill>
              </a:rPr>
              <a:t> </a:t>
            </a:r>
            <a:r>
              <a:rPr lang="en-US" sz="1200">
                <a:solidFill>
                  <a:schemeClr val="tx1">
                    <a:lumMod val="50000"/>
                    <a:lumOff val="50000"/>
                  </a:schemeClr>
                </a:solidFill>
              </a:rPr>
              <a:t>– PCP</a:t>
            </a:r>
          </a:p>
          <a:p>
            <a:pPr algn="ctr">
              <a:spcBef>
                <a:spcPts val="600"/>
              </a:spcBef>
            </a:pPr>
            <a:r>
              <a:rPr lang="en-US" sz="1200" i="1">
                <a:solidFill>
                  <a:schemeClr val="tx1">
                    <a:lumMod val="50000"/>
                    <a:lumOff val="50000"/>
                  </a:schemeClr>
                </a:solidFill>
              </a:rPr>
              <a:t>One shot versus two for this appointment and it covers all of the concerning causes for meningitis including Men B.</a:t>
            </a:r>
          </a:p>
          <a:p>
            <a:pPr algn="ctr"/>
            <a:r>
              <a:rPr lang="en-US" sz="1200" i="1">
                <a:solidFill>
                  <a:schemeClr val="tx1">
                    <a:lumMod val="50000"/>
                    <a:lumOff val="50000"/>
                  </a:schemeClr>
                </a:solidFill>
              </a:rPr>
              <a:t>– PED</a:t>
            </a:r>
          </a:p>
          <a:p>
            <a:pPr algn="ctr">
              <a:spcBef>
                <a:spcPts val="600"/>
              </a:spcBef>
            </a:pPr>
            <a:r>
              <a:rPr lang="en-US" sz="1200" i="1">
                <a:solidFill>
                  <a:schemeClr val="tx1">
                    <a:lumMod val="50000"/>
                    <a:lumOff val="50000"/>
                  </a:schemeClr>
                </a:solidFill>
              </a:rPr>
              <a:t>The importance of coverage especially if going into the military or to college.</a:t>
            </a:r>
          </a:p>
          <a:p>
            <a:pPr algn="ctr"/>
            <a:r>
              <a:rPr lang="en-US" sz="1200" i="1">
                <a:solidFill>
                  <a:schemeClr val="tx1">
                    <a:lumMod val="50000"/>
                    <a:lumOff val="50000"/>
                  </a:schemeClr>
                </a:solidFill>
              </a:rPr>
              <a:t>– PED</a:t>
            </a:r>
          </a:p>
          <a:p>
            <a:pPr algn="ctr">
              <a:spcBef>
                <a:spcPts val="600"/>
              </a:spcBef>
            </a:pPr>
            <a:r>
              <a:rPr lang="en-US" sz="1200" i="1">
                <a:solidFill>
                  <a:schemeClr val="tx1">
                    <a:lumMod val="50000"/>
                    <a:lumOff val="50000"/>
                  </a:schemeClr>
                </a:solidFill>
              </a:rPr>
              <a:t>Our schools only require ACWY. </a:t>
            </a:r>
            <a:br>
              <a:rPr lang="en-US" sz="1200" i="1">
                <a:solidFill>
                  <a:schemeClr val="tx1">
                    <a:lumMod val="50000"/>
                    <a:lumOff val="50000"/>
                  </a:schemeClr>
                </a:solidFill>
              </a:rPr>
            </a:br>
            <a:r>
              <a:rPr lang="en-US" sz="1200" i="1">
                <a:solidFill>
                  <a:schemeClr val="tx1">
                    <a:lumMod val="50000"/>
                    <a:lumOff val="50000"/>
                  </a:schemeClr>
                </a:solidFill>
              </a:rPr>
              <a:t>Discuss that B is now the most prevalent cause, so need to get combo.</a:t>
            </a:r>
          </a:p>
          <a:p>
            <a:pPr algn="ctr"/>
            <a:r>
              <a:rPr lang="en-US" sz="1200" i="1">
                <a:solidFill>
                  <a:schemeClr val="tx1">
                    <a:lumMod val="50000"/>
                    <a:lumOff val="50000"/>
                  </a:schemeClr>
                </a:solidFill>
              </a:rPr>
              <a:t>– PED</a:t>
            </a:r>
          </a:p>
        </p:txBody>
      </p:sp>
      <p:cxnSp>
        <p:nvCxnSpPr>
          <p:cNvPr id="15" name="Straight Connector 14">
            <a:extLst>
              <a:ext uri="{FF2B5EF4-FFF2-40B4-BE49-F238E27FC236}">
                <a16:creationId xmlns:a16="http://schemas.microsoft.com/office/drawing/2014/main" id="{664DED24-97E6-930A-3232-22410B540E38}"/>
              </a:ext>
            </a:extLst>
          </p:cNvPr>
          <p:cNvCxnSpPr>
            <a:cxnSpLocks/>
          </p:cNvCxnSpPr>
          <p:nvPr/>
        </p:nvCxnSpPr>
        <p:spPr>
          <a:xfrm>
            <a:off x="7584006" y="5693504"/>
            <a:ext cx="2969184"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0D9A0B-FF6D-C5AA-24CA-EABC914E01E1}"/>
              </a:ext>
            </a:extLst>
          </p:cNvPr>
          <p:cNvCxnSpPr>
            <a:cxnSpLocks/>
          </p:cNvCxnSpPr>
          <p:nvPr/>
        </p:nvCxnSpPr>
        <p:spPr>
          <a:xfrm>
            <a:off x="7584006" y="2658127"/>
            <a:ext cx="2970372"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pic>
        <p:nvPicPr>
          <p:cNvPr id="24" name="Picture 6">
            <a:extLst>
              <a:ext uri="{FF2B5EF4-FFF2-40B4-BE49-F238E27FC236}">
                <a16:creationId xmlns:a16="http://schemas.microsoft.com/office/drawing/2014/main" id="{FAB5D847-53A3-7A07-AC80-DB8D4E18FE53}"/>
              </a:ext>
            </a:extLst>
          </p:cNvPr>
          <p:cNvPicPr>
            <a:picLocks noChangeAspect="1" noChangeArrowheads="1"/>
          </p:cNvPicPr>
          <p:nvPr/>
        </p:nvPicPr>
        <p:blipFill rotWithShape="1">
          <a:blip r:embed="rId5" cstate="print">
            <a:duotone>
              <a:schemeClr val="accent3">
                <a:shade val="45000"/>
                <a:satMod val="135000"/>
              </a:schemeClr>
              <a:prstClr val="white"/>
            </a:duotone>
            <a:extLst>
              <a:ext uri="{28A0092B-C50C-407E-A947-70E740481C1C}">
                <a14:useLocalDpi xmlns:a14="http://schemas.microsoft.com/office/drawing/2010/main" val="0"/>
              </a:ext>
            </a:extLst>
          </a:blip>
          <a:srcRect r="73864" b="73864"/>
          <a:stretch/>
        </p:blipFill>
        <p:spPr bwMode="auto">
          <a:xfrm>
            <a:off x="7132348" y="2365750"/>
            <a:ext cx="714553" cy="50841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a:extLst>
              <a:ext uri="{FF2B5EF4-FFF2-40B4-BE49-F238E27FC236}">
                <a16:creationId xmlns:a16="http://schemas.microsoft.com/office/drawing/2014/main" id="{CBFCDCEC-4B08-BD0C-826E-AAB77DB1124B}"/>
              </a:ext>
            </a:extLst>
          </p:cNvPr>
          <p:cNvPicPr>
            <a:picLocks noChangeAspect="1" noChangeArrowheads="1"/>
          </p:cNvPicPr>
          <p:nvPr/>
        </p:nvPicPr>
        <p:blipFill rotWithShape="1">
          <a:blip r:embed="rId6" cstate="print">
            <a:duotone>
              <a:schemeClr val="accent3">
                <a:shade val="45000"/>
                <a:satMod val="135000"/>
              </a:schemeClr>
              <a:prstClr val="white"/>
            </a:duotone>
            <a:extLst>
              <a:ext uri="{28A0092B-C50C-407E-A947-70E740481C1C}">
                <a14:useLocalDpi xmlns:a14="http://schemas.microsoft.com/office/drawing/2010/main" val="0"/>
              </a:ext>
            </a:extLst>
          </a:blip>
          <a:srcRect l="70875" t="70875" r="3855" b="11211"/>
          <a:stretch/>
        </p:blipFill>
        <p:spPr bwMode="auto">
          <a:xfrm>
            <a:off x="10376668" y="5542718"/>
            <a:ext cx="689301" cy="34847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48EBF10-F920-7EE9-559A-60ACC03D1A2C}"/>
              </a:ext>
            </a:extLst>
          </p:cNvPr>
          <p:cNvSpPr txBox="1"/>
          <p:nvPr/>
        </p:nvSpPr>
        <p:spPr bwMode="gray">
          <a:xfrm>
            <a:off x="884458" y="1310100"/>
            <a:ext cx="1337226"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C9"/>
                </a:solidFill>
                <a:effectLst/>
                <a:uLnTx/>
                <a:uFillTx/>
                <a:latin typeface="Arial" panose="020B0604020202020204"/>
                <a:ea typeface="+mn-ea"/>
                <a:cs typeface="+mn-cs"/>
              </a:rPr>
              <a:t>Current Stockers</a:t>
            </a:r>
          </a:p>
        </p:txBody>
      </p:sp>
      <p:grpSp>
        <p:nvGrpSpPr>
          <p:cNvPr id="26" name="Group 25">
            <a:extLst>
              <a:ext uri="{FF2B5EF4-FFF2-40B4-BE49-F238E27FC236}">
                <a16:creationId xmlns:a16="http://schemas.microsoft.com/office/drawing/2014/main" id="{0C1D63AF-5D83-E1DB-4F12-42B667B5D2E1}"/>
              </a:ext>
            </a:extLst>
          </p:cNvPr>
          <p:cNvGrpSpPr/>
          <p:nvPr/>
        </p:nvGrpSpPr>
        <p:grpSpPr>
          <a:xfrm>
            <a:off x="1075030" y="1601211"/>
            <a:ext cx="650009" cy="539122"/>
            <a:chOff x="1686341" y="1600319"/>
            <a:chExt cx="650178" cy="539122"/>
          </a:xfrm>
        </p:grpSpPr>
        <p:cxnSp>
          <p:nvCxnSpPr>
            <p:cNvPr id="29" name="Straight Connector 28">
              <a:extLst>
                <a:ext uri="{FF2B5EF4-FFF2-40B4-BE49-F238E27FC236}">
                  <a16:creationId xmlns:a16="http://schemas.microsoft.com/office/drawing/2014/main" id="{2D516910-D50C-39A8-8D36-CA5A044A4C1A}"/>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30" name="TextBox 29">
              <a:extLst>
                <a:ext uri="{FF2B5EF4-FFF2-40B4-BE49-F238E27FC236}">
                  <a16:creationId xmlns:a16="http://schemas.microsoft.com/office/drawing/2014/main" id="{C4EF10F8-AA27-6CE4-1AA7-5891CD3123AF}"/>
                </a:ext>
              </a:extLst>
            </p:cNvPr>
            <p:cNvSpPr txBox="1"/>
            <p:nvPr/>
          </p:nvSpPr>
          <p:spPr bwMode="gray">
            <a:xfrm>
              <a:off x="1686341" y="1600319"/>
              <a:ext cx="650178" cy="539122"/>
            </a:xfrm>
            <a:prstGeom prst="rect">
              <a:avLst/>
            </a:prstGeom>
          </p:spPr>
          <p:txBody>
            <a:bodyPr wrap="none" lIns="45708" tIns="45708" rIns="45708" bIns="45708"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(n=31)</a:t>
              </a:r>
              <a:endParaRPr kumimoji="0" lang="en-US" sz="1400" b="0" i="0" u="none" strike="noStrike" kern="1200" cap="none" spc="0" normalizeH="0" baseline="0" noProof="0">
                <a:ln>
                  <a:noFill/>
                </a:ln>
                <a:solidFill>
                  <a:srgbClr val="FF0000"/>
                </a:solidFill>
                <a:effectLst/>
                <a:uLnTx/>
                <a:uFillTx/>
                <a:latin typeface="Arial" panose="020B0604020202020204"/>
                <a:ea typeface="+mn-ea"/>
                <a:cs typeface="+mn-cs"/>
              </a:endParaRPr>
            </a:p>
          </p:txBody>
        </p:sp>
      </p:grpSp>
      <p:sp>
        <p:nvSpPr>
          <p:cNvPr id="47" name="TextBox 46">
            <a:extLst>
              <a:ext uri="{FF2B5EF4-FFF2-40B4-BE49-F238E27FC236}">
                <a16:creationId xmlns:a16="http://schemas.microsoft.com/office/drawing/2014/main" id="{01DFC080-1FAD-DC6C-DBF0-D5706E606164}"/>
              </a:ext>
            </a:extLst>
          </p:cNvPr>
          <p:cNvSpPr txBox="1"/>
          <p:nvPr/>
        </p:nvSpPr>
        <p:spPr bwMode="gray">
          <a:xfrm rot="10800000" flipV="1">
            <a:off x="6292923" y="3866222"/>
            <a:ext cx="253596" cy="230832"/>
          </a:xfrm>
          <a:prstGeom prst="rect">
            <a:avLst/>
          </a:prstGeom>
          <a:noFill/>
        </p:spPr>
        <p:txBody>
          <a:bodyPr wrap="none">
            <a:spAutoFit/>
          </a:bodyPr>
          <a:lstStyle/>
          <a:p>
            <a:r>
              <a:rPr kumimoji="0" lang="en-US" altLang="en-US" sz="900" b="0" i="0" u="none" strike="noStrike" kern="1200" cap="none" spc="0" normalizeH="0" baseline="0" noProof="0">
                <a:ln>
                  <a:noFill/>
                </a:ln>
                <a:solidFill>
                  <a:srgbClr val="FF0000"/>
                </a:solidFill>
                <a:effectLst/>
                <a:uLnTx/>
                <a:uFillTx/>
                <a:latin typeface="Arial" panose="020B0604020202020204"/>
                <a:ea typeface="+mn-ea"/>
                <a:cs typeface="Arial" panose="020B0604020202020204" pitchFamily="34" charset="0"/>
                <a:sym typeface="Symbol" pitchFamily="18" charset="2"/>
              </a:rPr>
              <a:t></a:t>
            </a:r>
            <a:endParaRPr lang="en-US"/>
          </a:p>
        </p:txBody>
      </p:sp>
      <p:sp>
        <p:nvSpPr>
          <p:cNvPr id="27" name="Arrow: Right 26">
            <a:extLst>
              <a:ext uri="{FF2B5EF4-FFF2-40B4-BE49-F238E27FC236}">
                <a16:creationId xmlns:a16="http://schemas.microsoft.com/office/drawing/2014/main" id="{C367B847-F793-8F64-EB40-001B9CAFA6B6}"/>
              </a:ext>
            </a:extLst>
          </p:cNvPr>
          <p:cNvSpPr/>
          <p:nvPr/>
        </p:nvSpPr>
        <p:spPr bwMode="gray">
          <a:xfrm>
            <a:off x="2259909" y="3915756"/>
            <a:ext cx="711891" cy="482624"/>
          </a:xfrm>
          <a:prstGeom prst="rightArrow">
            <a:avLst/>
          </a:prstGeom>
          <a:solidFill>
            <a:schemeClr val="accent3">
              <a:alpha val="15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r>
              <a:rPr lang="en-US" sz="900">
                <a:solidFill>
                  <a:schemeClr val="tx1">
                    <a:lumMod val="50000"/>
                    <a:lumOff val="50000"/>
                  </a:schemeClr>
                </a:solidFill>
                <a:latin typeface="+mj-lt"/>
              </a:rPr>
              <a:t>(n=29)</a:t>
            </a:r>
            <a:r>
              <a:rPr lang="en-US" sz="900">
                <a:solidFill>
                  <a:srgbClr val="FF0000"/>
                </a:solidFill>
                <a:latin typeface="+mj-lt"/>
              </a:rPr>
              <a:t>*</a:t>
            </a:r>
          </a:p>
        </p:txBody>
      </p:sp>
    </p:spTree>
    <p:extLst>
      <p:ext uri="{BB962C8B-B14F-4D97-AF65-F5344CB8AC3E}">
        <p14:creationId xmlns:p14="http://schemas.microsoft.com/office/powerpoint/2010/main" val="391737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B38F0-5AB7-4479-8862-5B3F42BC1FE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C24FC3-9E13-EC00-CF2D-9D6AE54EF5AB}"/>
              </a:ext>
            </a:extLst>
          </p:cNvPr>
          <p:cNvSpPr>
            <a:spLocks noGrp="1"/>
          </p:cNvSpPr>
          <p:nvPr>
            <p:ph type="title"/>
          </p:nvPr>
        </p:nvSpPr>
        <p:spPr>
          <a:xfrm>
            <a:off x="1142122" y="170307"/>
            <a:ext cx="10572357" cy="850392"/>
          </a:xfrm>
        </p:spPr>
        <p:txBody>
          <a:bodyPr/>
          <a:lstStyle/>
          <a:p>
            <a:r>
              <a:rPr lang="en-US"/>
              <a:t>Majority of HCPs are aware of ACIP Meningococcal Vx recommendations, though room to increase, especially the second </a:t>
            </a:r>
            <a:r>
              <a:rPr lang="en-US" i="1" err="1"/>
              <a:t>MenB</a:t>
            </a:r>
            <a:r>
              <a:rPr lang="en-US" i="1"/>
              <a:t> Vx requirement to be from the same pentavalent manufacturer and administered 6-months after the initial Vx</a:t>
            </a:r>
          </a:p>
        </p:txBody>
      </p:sp>
      <p:sp>
        <p:nvSpPr>
          <p:cNvPr id="25" name="TextBox 24">
            <a:extLst>
              <a:ext uri="{FF2B5EF4-FFF2-40B4-BE49-F238E27FC236}">
                <a16:creationId xmlns:a16="http://schemas.microsoft.com/office/drawing/2014/main" id="{743B1D43-13F6-FCB7-A30B-E1F24AAC9CFB}"/>
              </a:ext>
            </a:extLst>
          </p:cNvPr>
          <p:cNvSpPr txBox="1"/>
          <p:nvPr/>
        </p:nvSpPr>
        <p:spPr bwMode="gray">
          <a:xfrm>
            <a:off x="4154073" y="1609330"/>
            <a:ext cx="3900135" cy="757130"/>
          </a:xfrm>
          <a:prstGeom prst="rect">
            <a:avLst/>
          </a:prstGeom>
        </p:spPr>
        <p:txBody>
          <a:bodyPr wrap="square" lIns="45720" tIns="45720" rIns="45720" bIns="45720" rtlCol="0">
            <a:spAutoFit/>
          </a:bodyPr>
          <a:lstStyle/>
          <a:p>
            <a:pPr algn="ctr">
              <a:lnSpc>
                <a:spcPct val="90000"/>
              </a:lnSpc>
              <a:spcAft>
                <a:spcPts val="400"/>
              </a:spcAft>
            </a:pPr>
            <a:r>
              <a:rPr lang="en-US" b="1">
                <a:solidFill>
                  <a:schemeClr val="accent1"/>
                </a:solidFill>
              </a:rPr>
              <a:t>Aware of ACIP Recommendations for Meningococcal Vaccines</a:t>
            </a:r>
            <a:br>
              <a:rPr lang="en-US" b="1">
                <a:solidFill>
                  <a:schemeClr val="accent1"/>
                </a:solidFill>
              </a:rPr>
            </a:br>
            <a:r>
              <a:rPr lang="en-US" sz="1000" i="1">
                <a:solidFill>
                  <a:schemeClr val="bg1">
                    <a:lumMod val="50000"/>
                  </a:schemeClr>
                </a:solidFill>
              </a:rPr>
              <a:t>% HCPs</a:t>
            </a:r>
          </a:p>
        </p:txBody>
      </p:sp>
      <p:grpSp>
        <p:nvGrpSpPr>
          <p:cNvPr id="27" name="Group 26">
            <a:extLst>
              <a:ext uri="{FF2B5EF4-FFF2-40B4-BE49-F238E27FC236}">
                <a16:creationId xmlns:a16="http://schemas.microsoft.com/office/drawing/2014/main" id="{10AED63F-A404-A848-1F19-80E6505257C5}"/>
              </a:ext>
            </a:extLst>
          </p:cNvPr>
          <p:cNvGrpSpPr/>
          <p:nvPr/>
        </p:nvGrpSpPr>
        <p:grpSpPr>
          <a:xfrm>
            <a:off x="642799" y="1600319"/>
            <a:ext cx="650178" cy="539122"/>
            <a:chOff x="1686341" y="1600319"/>
            <a:chExt cx="650178" cy="539122"/>
          </a:xfrm>
        </p:grpSpPr>
        <p:cxnSp>
          <p:nvCxnSpPr>
            <p:cNvPr id="28" name="Straight Connector 27">
              <a:extLst>
                <a:ext uri="{FF2B5EF4-FFF2-40B4-BE49-F238E27FC236}">
                  <a16:creationId xmlns:a16="http://schemas.microsoft.com/office/drawing/2014/main" id="{668733ED-0FCD-1E32-BC1D-AB332442649A}"/>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9" name="TextBox 28">
              <a:extLst>
                <a:ext uri="{FF2B5EF4-FFF2-40B4-BE49-F238E27FC236}">
                  <a16:creationId xmlns:a16="http://schemas.microsoft.com/office/drawing/2014/main" id="{FE2BF753-FE04-50E7-D498-23770735730A}"/>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30" name="TextBox 29">
            <a:extLst>
              <a:ext uri="{FF2B5EF4-FFF2-40B4-BE49-F238E27FC236}">
                <a16:creationId xmlns:a16="http://schemas.microsoft.com/office/drawing/2014/main" id="{CC7FD016-B6DA-4195-AFCD-0AC6B878A546}"/>
              </a:ext>
            </a:extLst>
          </p:cNvPr>
          <p:cNvSpPr txBox="1"/>
          <p:nvPr/>
        </p:nvSpPr>
        <p:spPr bwMode="gray">
          <a:xfrm>
            <a:off x="554826" y="1271840"/>
            <a:ext cx="826124" cy="338554"/>
          </a:xfrm>
          <a:prstGeom prst="rect">
            <a:avLst/>
          </a:prstGeom>
          <a:noFill/>
        </p:spPr>
        <p:txBody>
          <a:bodyPr wrap="none">
            <a:spAutoFit/>
          </a:bodyPr>
          <a:lstStyle/>
          <a:p>
            <a:r>
              <a:rPr lang="en-US" sz="1600"/>
              <a:t>TOTAL</a:t>
            </a:r>
          </a:p>
        </p:txBody>
      </p:sp>
      <p:sp>
        <p:nvSpPr>
          <p:cNvPr id="31" name="Rectangle: Rounded Corners 30">
            <a:extLst>
              <a:ext uri="{FF2B5EF4-FFF2-40B4-BE49-F238E27FC236}">
                <a16:creationId xmlns:a16="http://schemas.microsoft.com/office/drawing/2014/main" id="{2CD93909-75CB-113F-E767-DDDFA2D33AA0}"/>
              </a:ext>
            </a:extLst>
          </p:cNvPr>
          <p:cNvSpPr/>
          <p:nvPr/>
        </p:nvSpPr>
        <p:spPr bwMode="gray">
          <a:xfrm>
            <a:off x="520077" y="1543281"/>
            <a:ext cx="11113921"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aphicFrame>
        <p:nvGraphicFramePr>
          <p:cNvPr id="32" name="Chart 31">
            <a:extLst>
              <a:ext uri="{FF2B5EF4-FFF2-40B4-BE49-F238E27FC236}">
                <a16:creationId xmlns:a16="http://schemas.microsoft.com/office/drawing/2014/main" id="{790D8392-0274-9F11-2B78-B342742E0AA3}"/>
              </a:ext>
            </a:extLst>
          </p:cNvPr>
          <p:cNvGraphicFramePr/>
          <p:nvPr>
            <p:extLst>
              <p:ext uri="{D42A27DB-BD31-4B8C-83A1-F6EECF244321}">
                <p14:modId xmlns:p14="http://schemas.microsoft.com/office/powerpoint/2010/main" val="2956672961"/>
              </p:ext>
            </p:extLst>
          </p:nvPr>
        </p:nvGraphicFramePr>
        <p:xfrm>
          <a:off x="25123" y="2346960"/>
          <a:ext cx="11784622" cy="3352799"/>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 Placeholder 2">
            <a:extLst>
              <a:ext uri="{FF2B5EF4-FFF2-40B4-BE49-F238E27FC236}">
                <a16:creationId xmlns:a16="http://schemas.microsoft.com/office/drawing/2014/main" id="{9F002223-E967-39A7-34B2-305DC60D3F3C}"/>
              </a:ext>
            </a:extLst>
          </p:cNvPr>
          <p:cNvSpPr>
            <a:spLocks noGrp="1"/>
          </p:cNvSpPr>
          <p:nvPr>
            <p:ph type="body" sz="quarter" idx="16"/>
          </p:nvPr>
        </p:nvSpPr>
        <p:spPr>
          <a:xfrm>
            <a:off x="1571624" y="6369246"/>
            <a:ext cx="9152141" cy="454996"/>
          </a:xfrm>
        </p:spPr>
        <p:txBody>
          <a:bodyPr/>
          <a:lstStyle/>
          <a:p>
            <a:pPr marL="284163" indent="-284163" defTabSz="913304">
              <a:buClr>
                <a:srgbClr val="E7E6E6"/>
              </a:buClr>
              <a:buSzPct val="85000"/>
              <a:defRPr/>
            </a:pPr>
            <a:r>
              <a:rPr lang="en-US" altLang="en-US" sz="900">
                <a:solidFill>
                  <a:srgbClr val="FF0000"/>
                </a:solidFill>
                <a:cs typeface="Arial" panose="020B0604020202020204" pitchFamily="34" charset="0"/>
                <a:sym typeface="Symbol" pitchFamily="18" charset="2"/>
              </a:rPr>
              <a:t></a:t>
            </a:r>
            <a:r>
              <a:rPr lang="en-US" altLang="en-US" sz="900">
                <a:cs typeface="Arial" panose="020B0604020202020204" pitchFamily="34" charset="0"/>
                <a:sym typeface="Symbol" pitchFamily="18" charset="2"/>
              </a:rPr>
              <a:t>/</a:t>
            </a:r>
            <a:r>
              <a:rPr lang="en-US" altLang="en-US" sz="900">
                <a:solidFill>
                  <a:srgbClr val="FF0000"/>
                </a:solidFill>
                <a:cs typeface="Arial" panose="020B0604020202020204" pitchFamily="34" charset="0"/>
                <a:sym typeface="Symbol" pitchFamily="18" charset="2"/>
              </a:rPr>
              <a:t></a:t>
            </a:r>
            <a:r>
              <a:rPr lang="en-US" altLang="en-US" sz="900">
                <a:cs typeface="Arial" panose="020B0604020202020204" pitchFamily="34" charset="0"/>
              </a:rPr>
              <a:t> </a:t>
            </a:r>
            <a:r>
              <a:rPr lang="en-US" sz="900">
                <a:cs typeface="Arial" panose="020B0604020202020204" pitchFamily="34" charset="0"/>
              </a:rPr>
              <a:t>= </a:t>
            </a:r>
            <a:r>
              <a:rPr lang="en-US" sz="900">
                <a:solidFill>
                  <a:schemeClr val="tx1">
                    <a:lumMod val="50000"/>
                    <a:lumOff val="50000"/>
                  </a:schemeClr>
                </a:solidFill>
                <a:cs typeface="Arial" panose="020B0604020202020204" pitchFamily="34" charset="0"/>
              </a:rPr>
              <a:t>Significantly higher/lower vs. prior wave</a:t>
            </a:r>
          </a:p>
          <a:p>
            <a:pPr marL="292100" indent="-292100"/>
            <a:r>
              <a:rPr lang="en-US"/>
              <a:t>C11.	To the best of your knowledge, which of the following statements are part of the CDC ACIP’s recommendation(s) for healthy adolescents and young adults for vaccination against Meningococcal disease?</a:t>
            </a:r>
          </a:p>
        </p:txBody>
      </p:sp>
      <p:sp>
        <p:nvSpPr>
          <p:cNvPr id="19" name="TextBox 18">
            <a:extLst>
              <a:ext uri="{FF2B5EF4-FFF2-40B4-BE49-F238E27FC236}">
                <a16:creationId xmlns:a16="http://schemas.microsoft.com/office/drawing/2014/main" id="{80AB3EEC-67BB-6D0C-375B-BE890DEF671E}"/>
              </a:ext>
            </a:extLst>
          </p:cNvPr>
          <p:cNvSpPr txBox="1"/>
          <p:nvPr/>
        </p:nvSpPr>
        <p:spPr bwMode="gray">
          <a:xfrm>
            <a:off x="9913389" y="2916763"/>
            <a:ext cx="661336" cy="1938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r>
              <a:rPr lang="en-US" sz="900">
                <a:solidFill>
                  <a:schemeClr val="tx1">
                    <a:lumMod val="50000"/>
                    <a:lumOff val="50000"/>
                  </a:schemeClr>
                </a:solidFill>
              </a:rPr>
              <a:t>PED &gt; PCP</a:t>
            </a:r>
          </a:p>
        </p:txBody>
      </p:sp>
      <p:sp>
        <p:nvSpPr>
          <p:cNvPr id="20" name="Right Brace 19">
            <a:extLst>
              <a:ext uri="{FF2B5EF4-FFF2-40B4-BE49-F238E27FC236}">
                <a16:creationId xmlns:a16="http://schemas.microsoft.com/office/drawing/2014/main" id="{42124B70-9EB9-250B-0847-C59A66CC31C0}"/>
              </a:ext>
            </a:extLst>
          </p:cNvPr>
          <p:cNvSpPr/>
          <p:nvPr/>
        </p:nvSpPr>
        <p:spPr bwMode="gray">
          <a:xfrm>
            <a:off x="9557518" y="2628901"/>
            <a:ext cx="272377" cy="769620"/>
          </a:xfrm>
          <a:prstGeom prst="rightBrace">
            <a:avLst/>
          </a:prstGeom>
          <a:ln>
            <a:solidFill>
              <a:schemeClr val="bg1">
                <a:lumMod val="65000"/>
              </a:schemeClr>
            </a:solidFill>
            <a:headEnd/>
            <a:tailEn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20B54732-1AD5-2B65-9C44-D547F8825EC2}"/>
              </a:ext>
            </a:extLst>
          </p:cNvPr>
          <p:cNvSpPr txBox="1"/>
          <p:nvPr/>
        </p:nvSpPr>
        <p:spPr bwMode="gray">
          <a:xfrm>
            <a:off x="9913389" y="4780720"/>
            <a:ext cx="661336" cy="1938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r>
              <a:rPr lang="en-US" sz="900">
                <a:solidFill>
                  <a:schemeClr val="tx1">
                    <a:lumMod val="50000"/>
                    <a:lumOff val="50000"/>
                  </a:schemeClr>
                </a:solidFill>
              </a:rPr>
              <a:t>PED &gt; PCP</a:t>
            </a:r>
          </a:p>
        </p:txBody>
      </p:sp>
      <p:sp>
        <p:nvSpPr>
          <p:cNvPr id="6" name="Right Brace 5">
            <a:extLst>
              <a:ext uri="{FF2B5EF4-FFF2-40B4-BE49-F238E27FC236}">
                <a16:creationId xmlns:a16="http://schemas.microsoft.com/office/drawing/2014/main" id="{B877AFE5-790F-C9DB-AB49-837C676F07B3}"/>
              </a:ext>
            </a:extLst>
          </p:cNvPr>
          <p:cNvSpPr/>
          <p:nvPr/>
        </p:nvSpPr>
        <p:spPr bwMode="gray">
          <a:xfrm>
            <a:off x="9557518" y="4237907"/>
            <a:ext cx="272377" cy="1279522"/>
          </a:xfrm>
          <a:prstGeom prst="rightBrace">
            <a:avLst/>
          </a:prstGeom>
          <a:ln>
            <a:solidFill>
              <a:schemeClr val="bg1">
                <a:lumMod val="65000"/>
              </a:schemeClr>
            </a:solidFill>
            <a:headEnd/>
            <a:tailEn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7752F425-BA67-C7DF-4A9E-00F814D575DE}"/>
              </a:ext>
            </a:extLst>
          </p:cNvPr>
          <p:cNvSpPr txBox="1"/>
          <p:nvPr/>
        </p:nvSpPr>
        <p:spPr bwMode="gray">
          <a:xfrm>
            <a:off x="8147430" y="2542964"/>
            <a:ext cx="731867" cy="470898"/>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marL="346075" lvl="0" indent="-346075"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87%</a:t>
            </a:r>
            <a:r>
              <a:rPr lang="en-US" sz="900" baseline="40000">
                <a:solidFill>
                  <a:srgbClr val="000000">
                    <a:lumMod val="50000"/>
                    <a:lumOff val="50000"/>
                  </a:srgbClr>
                </a:solidFill>
              </a:rPr>
              <a:t>3</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346075" marR="0" lvl="0" indent="-346075" defTabSz="914126" rtl="0" eaLnBrk="1" fontAlgn="auto" latinLnBrk="0" hangingPunct="1">
              <a:spcBef>
                <a:spcPts val="0"/>
              </a:spcBef>
              <a:spcAft>
                <a:spcPts val="0"/>
              </a:spcAft>
              <a:buClrTx/>
              <a:buSzTx/>
              <a:buFontTx/>
              <a:buNone/>
              <a:tabLst/>
              <a:defRPr/>
            </a:pPr>
            <a:r>
              <a:rPr lang="en-US" sz="900">
                <a:solidFill>
                  <a:srgbClr val="000000">
                    <a:lumMod val="50000"/>
                    <a:lumOff val="50000"/>
                  </a:srgbClr>
                </a:solidFill>
                <a:latin typeface="Arial" panose="020B0604020202020204"/>
              </a:rPr>
              <a:t>83%	Tier 2 </a:t>
            </a:r>
          </a:p>
          <a:p>
            <a:pPr marL="346075" marR="0" lvl="0" indent="-346075" defTabSz="914126" rtl="0" eaLnBrk="1" fontAlgn="auto" latinLnBrk="0" hangingPunct="1">
              <a:spcBef>
                <a:spcPts val="0"/>
              </a:spcBef>
              <a:spcAft>
                <a:spcPts val="0"/>
              </a:spcAft>
              <a:buClrTx/>
              <a:buSzTx/>
              <a:buFontTx/>
              <a:buNone/>
              <a:tabLst/>
              <a:defRPr/>
            </a:pPr>
            <a:r>
              <a:rPr lang="en-US" sz="900">
                <a:solidFill>
                  <a:srgbClr val="000000">
                    <a:lumMod val="50000"/>
                    <a:lumOff val="50000"/>
                  </a:srgbClr>
                </a:solidFill>
                <a:latin typeface="Arial" panose="020B0604020202020204"/>
              </a:rPr>
              <a:t>69%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A2100F4F-5D03-B27F-2F7C-CBDBB13FF776}"/>
              </a:ext>
            </a:extLst>
          </p:cNvPr>
          <p:cNvSpPr txBox="1"/>
          <p:nvPr/>
        </p:nvSpPr>
        <p:spPr bwMode="gray">
          <a:xfrm>
            <a:off x="8147430" y="3571820"/>
            <a:ext cx="731867" cy="470898"/>
          </a:xfrm>
          <a:prstGeom prst="rect">
            <a:avLst/>
          </a:prstGeom>
          <a:solidFill>
            <a:schemeClr val="bg1"/>
          </a:solidFill>
          <a:ln w="6350">
            <a:solidFill>
              <a:schemeClr val="tx1">
                <a:lumMod val="50000"/>
                <a:lumOff val="50000"/>
              </a:schemeClr>
            </a:solidFill>
            <a:prstDash val="solid"/>
          </a:ln>
        </p:spPr>
        <p:txBody>
          <a:bodyPr wrap="square" lIns="27432" tIns="27432" rIns="27432" bIns="27432" rtlCol="0" anchor="ctr" anchorCtr="0">
            <a:spAutoFit/>
          </a:bodyPr>
          <a:lstStyle/>
          <a:p>
            <a:pPr marL="346075" lvl="0" indent="-346075"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85%</a:t>
            </a:r>
            <a:r>
              <a:rPr lang="en-US" sz="900" baseline="40000">
                <a:solidFill>
                  <a:srgbClr val="000000">
                    <a:lumMod val="50000"/>
                    <a:lumOff val="50000"/>
                  </a:srgbClr>
                </a:solidFill>
              </a:rPr>
              <a:t>3</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346075" lvl="0" indent="-346075" defTabSz="914126">
              <a:defRPr/>
            </a:pPr>
            <a:r>
              <a:rPr lang="en-US" sz="900">
                <a:solidFill>
                  <a:srgbClr val="000000">
                    <a:lumMod val="50000"/>
                    <a:lumOff val="50000"/>
                  </a:srgbClr>
                </a:solidFill>
                <a:latin typeface="Arial" panose="020B0604020202020204"/>
              </a:rPr>
              <a:t>83%</a:t>
            </a:r>
            <a:r>
              <a:rPr lang="en-US" sz="900">
                <a:solidFill>
                  <a:srgbClr val="FF0000"/>
                </a:solidFill>
                <a:sym typeface="Symbol" panose="05050102010706020507" pitchFamily="18" charset="2"/>
              </a:rPr>
              <a:t> </a:t>
            </a:r>
            <a:r>
              <a:rPr lang="en-US" sz="900">
                <a:solidFill>
                  <a:srgbClr val="000000">
                    <a:lumMod val="50000"/>
                    <a:lumOff val="50000"/>
                  </a:srgbClr>
                </a:solidFill>
                <a:latin typeface="Arial" panose="020B0604020202020204"/>
              </a:rPr>
              <a:t>	Tier 2</a:t>
            </a:r>
          </a:p>
          <a:p>
            <a:pPr marL="346075" lvl="0" indent="-346075" defTabSz="914126">
              <a:defRPr/>
            </a:pPr>
            <a:r>
              <a:rPr lang="en-US" sz="900">
                <a:solidFill>
                  <a:srgbClr val="000000">
                    <a:lumMod val="50000"/>
                    <a:lumOff val="50000"/>
                  </a:srgbClr>
                </a:solidFill>
                <a:latin typeface="Arial" panose="020B0604020202020204"/>
              </a:rPr>
              <a:t>66%</a:t>
            </a:r>
            <a:r>
              <a:rPr lang="en-US" sz="900">
                <a:solidFill>
                  <a:srgbClr val="FF0000"/>
                </a:solidFill>
                <a:sym typeface="Symbol" panose="05050102010706020507" pitchFamily="18" charset="2"/>
              </a:rPr>
              <a:t> </a:t>
            </a:r>
            <a:r>
              <a:rPr lang="en-US" sz="9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08C23A00-53A8-2543-E38E-07FE3FD829BB}"/>
              </a:ext>
            </a:extLst>
          </p:cNvPr>
          <p:cNvSpPr/>
          <p:nvPr/>
        </p:nvSpPr>
        <p:spPr bwMode="gray">
          <a:xfrm>
            <a:off x="760514" y="5068579"/>
            <a:ext cx="8713510" cy="631180"/>
          </a:xfrm>
          <a:prstGeom prst="rect">
            <a:avLst/>
          </a:prstGeom>
          <a:noFill/>
          <a:ln w="28575"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Tree>
    <p:extLst>
      <p:ext uri="{BB962C8B-B14F-4D97-AF65-F5344CB8AC3E}">
        <p14:creationId xmlns:p14="http://schemas.microsoft.com/office/powerpoint/2010/main" val="2033605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4515-E2E0-AB26-A5BB-3F6D20792CA9}"/>
            </a:ext>
          </a:extLst>
        </p:cNvPr>
        <p:cNvGrpSpPr/>
        <p:nvPr/>
      </p:nvGrpSpPr>
      <p:grpSpPr>
        <a:xfrm>
          <a:off x="0" y="0"/>
          <a:ext cx="0" cy="0"/>
          <a:chOff x="0" y="0"/>
          <a:chExt cx="0" cy="0"/>
        </a:xfrm>
      </p:grpSpPr>
      <p:graphicFrame>
        <p:nvGraphicFramePr>
          <p:cNvPr id="75" name="Chart 74">
            <a:extLst>
              <a:ext uri="{FF2B5EF4-FFF2-40B4-BE49-F238E27FC236}">
                <a16:creationId xmlns:a16="http://schemas.microsoft.com/office/drawing/2014/main" id="{D5750280-B5D4-60ED-A216-2B8741312817}"/>
              </a:ext>
            </a:extLst>
          </p:cNvPr>
          <p:cNvGraphicFramePr/>
          <p:nvPr/>
        </p:nvGraphicFramePr>
        <p:xfrm>
          <a:off x="3279073" y="2341175"/>
          <a:ext cx="2973225" cy="3765944"/>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Rounded Corners 4">
            <a:extLst>
              <a:ext uri="{FF2B5EF4-FFF2-40B4-BE49-F238E27FC236}">
                <a16:creationId xmlns:a16="http://schemas.microsoft.com/office/drawing/2014/main" id="{4E4489E5-C92F-2B50-AB66-C5C6577EA692}"/>
              </a:ext>
            </a:extLst>
          </p:cNvPr>
          <p:cNvSpPr/>
          <p:nvPr/>
        </p:nvSpPr>
        <p:spPr bwMode="gray">
          <a:xfrm>
            <a:off x="296995" y="1543774"/>
            <a:ext cx="11499998" cy="446724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9" b="1">
              <a:solidFill>
                <a:srgbClr val="0000C9"/>
              </a:solidFill>
              <a:latin typeface="Arial" panose="020B0604020202020204"/>
            </a:endParaRPr>
          </a:p>
        </p:txBody>
      </p:sp>
      <p:sp>
        <p:nvSpPr>
          <p:cNvPr id="30" name="Title 29">
            <a:extLst>
              <a:ext uri="{FF2B5EF4-FFF2-40B4-BE49-F238E27FC236}">
                <a16:creationId xmlns:a16="http://schemas.microsoft.com/office/drawing/2014/main" id="{703D7296-4F8B-6051-515F-06400E306669}"/>
              </a:ext>
            </a:extLst>
          </p:cNvPr>
          <p:cNvSpPr>
            <a:spLocks noGrp="1"/>
          </p:cNvSpPr>
          <p:nvPr>
            <p:ph type="title"/>
          </p:nvPr>
        </p:nvSpPr>
        <p:spPr>
          <a:xfrm>
            <a:off x="1143413" y="171155"/>
            <a:ext cx="11129867" cy="626515"/>
          </a:xfrm>
        </p:spPr>
        <p:txBody>
          <a:bodyPr/>
          <a:lstStyle/>
          <a:p>
            <a:r>
              <a:rPr lang="en-US"/>
              <a:t>Most HCPs agree that all adolescents should be vaccinated against all five key meningococcal serogroups, though fewer PCPs report actively convincing hesitant parents/patients to accept</a:t>
            </a:r>
          </a:p>
        </p:txBody>
      </p:sp>
      <p:sp>
        <p:nvSpPr>
          <p:cNvPr id="27" name="Text Placeholder 26">
            <a:extLst>
              <a:ext uri="{FF2B5EF4-FFF2-40B4-BE49-F238E27FC236}">
                <a16:creationId xmlns:a16="http://schemas.microsoft.com/office/drawing/2014/main" id="{BE8D78CF-0741-507F-CA69-7FD29BF42416}"/>
              </a:ext>
            </a:extLst>
          </p:cNvPr>
          <p:cNvSpPr>
            <a:spLocks noGrp="1"/>
          </p:cNvSpPr>
          <p:nvPr>
            <p:ph type="body" sz="quarter" idx="16"/>
          </p:nvPr>
        </p:nvSpPr>
        <p:spPr>
          <a:xfrm>
            <a:off x="1572803" y="6381136"/>
            <a:ext cx="9236844" cy="330347"/>
          </a:xfrm>
        </p:spPr>
        <p:txBody>
          <a:bodyPr/>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r>
              <a:rPr lang="en-US"/>
              <a:t>S21. Next, to what extent do you agree with each of the following statements? (5-pt scale: 1=Completely disagree, 5=Completely agree)</a:t>
            </a:r>
          </a:p>
        </p:txBody>
      </p:sp>
      <p:grpSp>
        <p:nvGrpSpPr>
          <p:cNvPr id="28" name="Group 27">
            <a:extLst>
              <a:ext uri="{FF2B5EF4-FFF2-40B4-BE49-F238E27FC236}">
                <a16:creationId xmlns:a16="http://schemas.microsoft.com/office/drawing/2014/main" id="{B11DECF4-C9BE-7445-2899-D5DABA7AC2F5}"/>
              </a:ext>
            </a:extLst>
          </p:cNvPr>
          <p:cNvGrpSpPr/>
          <p:nvPr/>
        </p:nvGrpSpPr>
        <p:grpSpPr>
          <a:xfrm>
            <a:off x="391832" y="1600797"/>
            <a:ext cx="925653" cy="806539"/>
            <a:chOff x="1668641" y="1600319"/>
            <a:chExt cx="925894" cy="806749"/>
          </a:xfrm>
        </p:grpSpPr>
        <p:cxnSp>
          <p:nvCxnSpPr>
            <p:cNvPr id="29" name="Straight Connector 28">
              <a:extLst>
                <a:ext uri="{FF2B5EF4-FFF2-40B4-BE49-F238E27FC236}">
                  <a16:creationId xmlns:a16="http://schemas.microsoft.com/office/drawing/2014/main" id="{CB6941D9-3720-D6A1-602C-C4C7189B2E32}"/>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31" name="TextBox 30">
              <a:extLst>
                <a:ext uri="{FF2B5EF4-FFF2-40B4-BE49-F238E27FC236}">
                  <a16:creationId xmlns:a16="http://schemas.microsoft.com/office/drawing/2014/main" id="{0B1F46DF-9176-01D4-6D6B-D73A244C3BBB}"/>
                </a:ext>
              </a:extLst>
            </p:cNvPr>
            <p:cNvSpPr txBox="1"/>
            <p:nvPr/>
          </p:nvSpPr>
          <p:spPr bwMode="gray">
            <a:xfrm>
              <a:off x="1686341" y="1600319"/>
              <a:ext cx="650178" cy="28623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p:txBody>
        </p:sp>
        <p:sp>
          <p:nvSpPr>
            <p:cNvPr id="41" name="TextBox 40">
              <a:extLst>
                <a:ext uri="{FF2B5EF4-FFF2-40B4-BE49-F238E27FC236}">
                  <a16:creationId xmlns:a16="http://schemas.microsoft.com/office/drawing/2014/main" id="{0C3199F1-9147-8A86-C93A-FF8675A3086D}"/>
                </a:ext>
              </a:extLst>
            </p:cNvPr>
            <p:cNvSpPr txBox="1"/>
            <p:nvPr/>
          </p:nvSpPr>
          <p:spPr bwMode="gray">
            <a:xfrm>
              <a:off x="1668641" y="1940787"/>
              <a:ext cx="925894" cy="466281"/>
            </a:xfrm>
            <a:prstGeom prst="rect">
              <a:avLst/>
            </a:prstGeom>
          </p:spPr>
          <p:txBody>
            <a:bodyPr wrap="none" lIns="45708" tIns="45708" rIns="45708" bIns="45708" rtlCol="0">
              <a:spAutoFit/>
            </a:bodyPr>
            <a:lstStyle/>
            <a:p>
              <a:pPr>
                <a:lnSpc>
                  <a:spcPct val="90000"/>
                </a:lnSpc>
                <a:spcBef>
                  <a:spcPts val="1000"/>
                </a:spcBef>
                <a:tabLst>
                  <a:tab pos="457063" algn="l"/>
                </a:tabLst>
                <a:defRPr/>
              </a:pPr>
              <a:r>
                <a:rPr lang="en-US" sz="900">
                  <a:solidFill>
                    <a:srgbClr val="FFFFFF">
                      <a:lumMod val="50000"/>
                    </a:srgbClr>
                  </a:solidFill>
                  <a:latin typeface="Arial" panose="020B0604020202020204"/>
                </a:rPr>
                <a:t>(n=200)	TOTAL</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(n=160)	PED</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(n=40)	PCP</a:t>
              </a:r>
            </a:p>
          </p:txBody>
        </p:sp>
      </p:grpSp>
      <p:sp>
        <p:nvSpPr>
          <p:cNvPr id="36" name="TextBox 35">
            <a:extLst>
              <a:ext uri="{FF2B5EF4-FFF2-40B4-BE49-F238E27FC236}">
                <a16:creationId xmlns:a16="http://schemas.microsoft.com/office/drawing/2014/main" id="{439DE939-2B4D-37FC-42BD-6B59000563C4}"/>
              </a:ext>
            </a:extLst>
          </p:cNvPr>
          <p:cNvSpPr txBox="1"/>
          <p:nvPr/>
        </p:nvSpPr>
        <p:spPr bwMode="gray">
          <a:xfrm>
            <a:off x="321577" y="1291246"/>
            <a:ext cx="825909" cy="338466"/>
          </a:xfrm>
          <a:prstGeom prst="rect">
            <a:avLst/>
          </a:prstGeom>
          <a:noFill/>
        </p:spPr>
        <p:txBody>
          <a:bodyPr wrap="none">
            <a:spAutoFit/>
          </a:bodyPr>
          <a:lstStyle/>
          <a:p>
            <a:r>
              <a:rPr lang="en-US" sz="1600">
                <a:solidFill>
                  <a:srgbClr val="000000"/>
                </a:solidFill>
                <a:latin typeface="Arial" panose="020B0604020202020204"/>
              </a:rPr>
              <a:t>TOTAL</a:t>
            </a:r>
          </a:p>
        </p:txBody>
      </p:sp>
      <p:graphicFrame>
        <p:nvGraphicFramePr>
          <p:cNvPr id="78" name="Table 3">
            <a:extLst>
              <a:ext uri="{FF2B5EF4-FFF2-40B4-BE49-F238E27FC236}">
                <a16:creationId xmlns:a16="http://schemas.microsoft.com/office/drawing/2014/main" id="{B225DB6A-C524-DB2D-6253-461D43A38ABE}"/>
              </a:ext>
            </a:extLst>
          </p:cNvPr>
          <p:cNvGraphicFramePr>
            <a:graphicFrameLocks noGrp="1"/>
          </p:cNvGraphicFramePr>
          <p:nvPr/>
        </p:nvGraphicFramePr>
        <p:xfrm>
          <a:off x="296995" y="2736641"/>
          <a:ext cx="3033224" cy="3206284"/>
        </p:xfrm>
        <a:graphic>
          <a:graphicData uri="http://schemas.openxmlformats.org/drawingml/2006/table">
            <a:tbl>
              <a:tblPr firstRow="1" bandRow="1">
                <a:tableStyleId>{5C22544A-7EE6-4342-B048-85BDC9FD1C3A}</a:tableStyleId>
              </a:tblPr>
              <a:tblGrid>
                <a:gridCol w="3033224">
                  <a:extLst>
                    <a:ext uri="{9D8B030D-6E8A-4147-A177-3AD203B41FA5}">
                      <a16:colId xmlns:a16="http://schemas.microsoft.com/office/drawing/2014/main" val="2733787592"/>
                    </a:ext>
                  </a:extLst>
                </a:gridCol>
              </a:tblGrid>
              <a:tr h="747340">
                <a:tc>
                  <a:txBody>
                    <a:bodyPr/>
                    <a:lstStyle/>
                    <a:p>
                      <a:pPr algn="r"/>
                      <a:r>
                        <a:rPr lang="en-US" sz="1050" b="0">
                          <a:solidFill>
                            <a:schemeClr val="tx1"/>
                          </a:solidFill>
                        </a:rPr>
                        <a:t>If I could, </a:t>
                      </a:r>
                      <a:r>
                        <a:rPr lang="en-US" sz="1100" b="1">
                          <a:solidFill>
                            <a:schemeClr val="tx1"/>
                          </a:solidFill>
                        </a:rPr>
                        <a:t>I would vaccinate all </a:t>
                      </a:r>
                      <a:br>
                        <a:rPr lang="en-US" sz="1100" b="1">
                          <a:solidFill>
                            <a:schemeClr val="tx1"/>
                          </a:solidFill>
                        </a:rPr>
                      </a:br>
                      <a:r>
                        <a:rPr lang="en-US" sz="1050" b="0">
                          <a:solidFill>
                            <a:schemeClr val="tx1"/>
                          </a:solidFill>
                        </a:rPr>
                        <a:t>my adolescent patients against the </a:t>
                      </a:r>
                      <a:br>
                        <a:rPr lang="en-US" sz="1050" b="0">
                          <a:solidFill>
                            <a:schemeClr val="tx1"/>
                          </a:solidFill>
                        </a:rPr>
                      </a:br>
                      <a:r>
                        <a:rPr lang="en-US" sz="1050" b="0">
                          <a:solidFill>
                            <a:schemeClr val="tx1"/>
                          </a:solidFill>
                        </a:rPr>
                        <a:t>five key meningococcal serogroups</a:t>
                      </a:r>
                    </a:p>
                  </a:txBody>
                  <a:tcPr marT="4568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1968976"/>
                  </a:ext>
                </a:extLst>
              </a:tr>
              <a:tr h="81964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50" b="0">
                          <a:solidFill>
                            <a:schemeClr val="tx1"/>
                          </a:solidFill>
                        </a:rPr>
                        <a:t>If a parent/adolescent resists vaccination </a:t>
                      </a:r>
                      <a:br>
                        <a:rPr lang="en-US" sz="1050" b="0">
                          <a:solidFill>
                            <a:schemeClr val="tx1"/>
                          </a:solidFill>
                        </a:rPr>
                      </a:br>
                      <a:r>
                        <a:rPr lang="en-US" sz="1050" b="0">
                          <a:solidFill>
                            <a:schemeClr val="tx1"/>
                          </a:solidFill>
                        </a:rPr>
                        <a:t>against invasive meningococcal disease, </a:t>
                      </a:r>
                      <a:br>
                        <a:rPr lang="en-US" sz="1050" b="0">
                          <a:solidFill>
                            <a:schemeClr val="tx1"/>
                          </a:solidFill>
                        </a:rPr>
                      </a:br>
                      <a:r>
                        <a:rPr lang="en-US" sz="1200" b="1">
                          <a:solidFill>
                            <a:schemeClr val="tx1"/>
                          </a:solidFill>
                        </a:rPr>
                        <a:t>I try hard to convince them </a:t>
                      </a:r>
                      <a:r>
                        <a:rPr lang="en-US" sz="1100" b="1">
                          <a:solidFill>
                            <a:schemeClr val="tx1"/>
                          </a:solidFill>
                        </a:rPr>
                        <a:t>to accept</a:t>
                      </a:r>
                      <a:endParaRPr lang="en-US" sz="1050" b="1">
                        <a:solidFill>
                          <a:schemeClr val="tx1"/>
                        </a:solidFill>
                      </a:endParaRPr>
                    </a:p>
                  </a:txBody>
                  <a:tcPr marT="4568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3673848"/>
                  </a:ext>
                </a:extLst>
              </a:tr>
              <a:tr h="81964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50" b="0">
                          <a:solidFill>
                            <a:schemeClr val="tx1"/>
                          </a:solidFill>
                        </a:rPr>
                        <a:t>With a </a:t>
                      </a:r>
                      <a:r>
                        <a:rPr lang="en-US" sz="1100" b="1">
                          <a:solidFill>
                            <a:schemeClr val="tx1"/>
                          </a:solidFill>
                        </a:rPr>
                        <a:t>decrease in wellness visits </a:t>
                      </a:r>
                      <a:br>
                        <a:rPr lang="en-US" sz="1100" b="1">
                          <a:solidFill>
                            <a:schemeClr val="tx1"/>
                          </a:solidFill>
                        </a:rPr>
                      </a:br>
                      <a:r>
                        <a:rPr lang="en-US" sz="1050" b="0">
                          <a:solidFill>
                            <a:schemeClr val="tx1"/>
                          </a:solidFill>
                        </a:rPr>
                        <a:t>among older adolescent patients, it is </a:t>
                      </a:r>
                      <a:br>
                        <a:rPr lang="en-US" sz="1050" b="0">
                          <a:solidFill>
                            <a:schemeClr val="tx1"/>
                          </a:solidFill>
                        </a:rPr>
                      </a:br>
                      <a:r>
                        <a:rPr lang="en-US" sz="1100" b="1">
                          <a:solidFill>
                            <a:schemeClr val="tx1"/>
                          </a:solidFill>
                        </a:rPr>
                        <a:t>harder to ensure they are fully protected</a:t>
                      </a:r>
                      <a:r>
                        <a:rPr lang="en-US" sz="1050" b="0">
                          <a:solidFill>
                            <a:schemeClr val="tx1"/>
                          </a:solidFill>
                        </a:rPr>
                        <a:t> </a:t>
                      </a:r>
                      <a:br>
                        <a:rPr lang="en-US" sz="1050" b="0">
                          <a:solidFill>
                            <a:schemeClr val="tx1"/>
                          </a:solidFill>
                        </a:rPr>
                      </a:br>
                      <a:r>
                        <a:rPr lang="en-US" sz="1050" b="0">
                          <a:solidFill>
                            <a:schemeClr val="tx1"/>
                          </a:solidFill>
                        </a:rPr>
                        <a:t>against the five key meningococcal serogroups</a:t>
                      </a:r>
                    </a:p>
                  </a:txBody>
                  <a:tcPr marT="4568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3736815"/>
                  </a:ext>
                </a:extLst>
              </a:tr>
              <a:tr h="81964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100" b="1">
                          <a:solidFill>
                            <a:schemeClr val="tx1"/>
                          </a:solidFill>
                        </a:rPr>
                        <a:t>Contracting, rebating, and discounting </a:t>
                      </a:r>
                      <a:br>
                        <a:rPr lang="en-US" sz="1100" b="1">
                          <a:solidFill>
                            <a:schemeClr val="tx1"/>
                          </a:solidFill>
                        </a:rPr>
                      </a:br>
                      <a:r>
                        <a:rPr lang="en-US" sz="1100" b="1">
                          <a:solidFill>
                            <a:schemeClr val="tx1"/>
                          </a:solidFill>
                        </a:rPr>
                        <a:t>are barriers to adoption of a new vaccine </a:t>
                      </a:r>
                      <a:br>
                        <a:rPr lang="en-US" sz="1100" b="1">
                          <a:solidFill>
                            <a:schemeClr val="tx1"/>
                          </a:solidFill>
                        </a:rPr>
                      </a:br>
                      <a:r>
                        <a:rPr lang="en-US" sz="1050" b="0">
                          <a:solidFill>
                            <a:schemeClr val="tx1"/>
                          </a:solidFill>
                        </a:rPr>
                        <a:t>by a different manufacturer from which </a:t>
                      </a:r>
                      <a:br>
                        <a:rPr lang="en-US" sz="1050" b="0">
                          <a:solidFill>
                            <a:schemeClr val="tx1"/>
                          </a:solidFill>
                        </a:rPr>
                      </a:br>
                      <a:r>
                        <a:rPr lang="en-US" sz="1050" b="0">
                          <a:solidFill>
                            <a:schemeClr val="tx1"/>
                          </a:solidFill>
                        </a:rPr>
                        <a:t>my practice currently contracts</a:t>
                      </a:r>
                    </a:p>
                  </a:txBody>
                  <a:tcPr marT="45684" marB="0"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7973130"/>
                  </a:ext>
                </a:extLst>
              </a:tr>
            </a:tbl>
          </a:graphicData>
        </a:graphic>
      </p:graphicFrame>
      <p:sp>
        <p:nvSpPr>
          <p:cNvPr id="81" name="TextBox 80">
            <a:extLst>
              <a:ext uri="{FF2B5EF4-FFF2-40B4-BE49-F238E27FC236}">
                <a16:creationId xmlns:a16="http://schemas.microsoft.com/office/drawing/2014/main" id="{2AD7018E-568F-84E0-134B-93C7A1F69D3F}"/>
              </a:ext>
            </a:extLst>
          </p:cNvPr>
          <p:cNvSpPr txBox="1"/>
          <p:nvPr/>
        </p:nvSpPr>
        <p:spPr bwMode="gray">
          <a:xfrm>
            <a:off x="3651537" y="1653931"/>
            <a:ext cx="4885751" cy="341543"/>
          </a:xfrm>
          <a:prstGeom prst="rect">
            <a:avLst/>
          </a:prstGeom>
        </p:spPr>
        <p:txBody>
          <a:bodyPr wrap="square" lIns="45708" tIns="45708" rIns="45708" bIns="45708" rtlCol="0">
            <a:spAutoFit/>
          </a:bodyPr>
          <a:lstStyle/>
          <a:p>
            <a:pPr algn="ctr">
              <a:lnSpc>
                <a:spcPct val="90000"/>
              </a:lnSpc>
              <a:spcAft>
                <a:spcPts val="400"/>
              </a:spcAft>
            </a:pPr>
            <a:r>
              <a:rPr lang="en-US" sz="1799" b="1">
                <a:solidFill>
                  <a:srgbClr val="0000C9"/>
                </a:solidFill>
                <a:latin typeface="Arial" panose="020B0604020202020204"/>
              </a:rPr>
              <a:t>Attitudes toward Meningococcal Vaccines</a:t>
            </a:r>
          </a:p>
        </p:txBody>
      </p:sp>
      <p:grpSp>
        <p:nvGrpSpPr>
          <p:cNvPr id="42" name="Group 41">
            <a:extLst>
              <a:ext uri="{FF2B5EF4-FFF2-40B4-BE49-F238E27FC236}">
                <a16:creationId xmlns:a16="http://schemas.microsoft.com/office/drawing/2014/main" id="{C88DF1C0-2EDD-B5EA-0649-42602A1AC6C8}"/>
              </a:ext>
            </a:extLst>
          </p:cNvPr>
          <p:cNvGrpSpPr/>
          <p:nvPr/>
        </p:nvGrpSpPr>
        <p:grpSpPr>
          <a:xfrm>
            <a:off x="4908055" y="2064248"/>
            <a:ext cx="2489450" cy="277000"/>
            <a:chOff x="-2314133" y="2348739"/>
            <a:chExt cx="2489450" cy="277000"/>
          </a:xfrm>
        </p:grpSpPr>
        <p:grpSp>
          <p:nvGrpSpPr>
            <p:cNvPr id="90" name="Group 89">
              <a:extLst>
                <a:ext uri="{FF2B5EF4-FFF2-40B4-BE49-F238E27FC236}">
                  <a16:creationId xmlns:a16="http://schemas.microsoft.com/office/drawing/2014/main" id="{0ADD6732-5606-CFB4-5A49-45575CD12758}"/>
                </a:ext>
              </a:extLst>
            </p:cNvPr>
            <p:cNvGrpSpPr/>
            <p:nvPr/>
          </p:nvGrpSpPr>
          <p:grpSpPr>
            <a:xfrm>
              <a:off x="-2314133" y="2348739"/>
              <a:ext cx="547552" cy="276927"/>
              <a:chOff x="8075040" y="3849945"/>
              <a:chExt cx="547695" cy="276999"/>
            </a:xfrm>
          </p:grpSpPr>
          <p:sp>
            <p:nvSpPr>
              <p:cNvPr id="91" name="Oval 90">
                <a:extLst>
                  <a:ext uri="{FF2B5EF4-FFF2-40B4-BE49-F238E27FC236}">
                    <a16:creationId xmlns:a16="http://schemas.microsoft.com/office/drawing/2014/main" id="{B768AA42-6DEC-7B6D-1B59-CE00C9E3EEC3}"/>
                  </a:ext>
                </a:extLst>
              </p:cNvPr>
              <p:cNvSpPr/>
              <p:nvPr/>
            </p:nvSpPr>
            <p:spPr bwMode="gray">
              <a:xfrm>
                <a:off x="8075040" y="3909630"/>
                <a:ext cx="182880" cy="182880"/>
              </a:xfrm>
              <a:prstGeom prst="ellipse">
                <a:avLst/>
              </a:prstGeom>
              <a:solidFill>
                <a:srgbClr val="85CFCD"/>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200" b="1">
                  <a:solidFill>
                    <a:srgbClr val="0000C9"/>
                  </a:solidFill>
                  <a:latin typeface="Arial" panose="020B0604020202020204"/>
                </a:endParaRPr>
              </a:p>
            </p:txBody>
          </p:sp>
          <p:sp>
            <p:nvSpPr>
              <p:cNvPr id="92" name="TextBox 91">
                <a:extLst>
                  <a:ext uri="{FF2B5EF4-FFF2-40B4-BE49-F238E27FC236}">
                    <a16:creationId xmlns:a16="http://schemas.microsoft.com/office/drawing/2014/main" id="{3A3B5512-F660-704D-1AD1-B61662770C3A}"/>
                  </a:ext>
                </a:extLst>
              </p:cNvPr>
              <p:cNvSpPr txBox="1"/>
              <p:nvPr/>
            </p:nvSpPr>
            <p:spPr bwMode="gray">
              <a:xfrm>
                <a:off x="8250517" y="3849945"/>
                <a:ext cx="372218" cy="276999"/>
              </a:xfrm>
              <a:prstGeom prst="rect">
                <a:avLst/>
              </a:prstGeom>
              <a:noFill/>
            </p:spPr>
            <p:txBody>
              <a:bodyPr wrap="none">
                <a:spAutoFit/>
              </a:bodyPr>
              <a:lstStyle/>
              <a:p>
                <a:r>
                  <a:rPr lang="en-US" sz="1200">
                    <a:solidFill>
                      <a:srgbClr val="000000"/>
                    </a:solidFill>
                    <a:latin typeface="Arial" panose="020B0604020202020204"/>
                  </a:rPr>
                  <a:t>(4)</a:t>
                </a:r>
              </a:p>
            </p:txBody>
          </p:sp>
        </p:grpSp>
        <p:grpSp>
          <p:nvGrpSpPr>
            <p:cNvPr id="96" name="Group 95">
              <a:extLst>
                <a:ext uri="{FF2B5EF4-FFF2-40B4-BE49-F238E27FC236}">
                  <a16:creationId xmlns:a16="http://schemas.microsoft.com/office/drawing/2014/main" id="{FE393E4B-66A4-2624-6053-948FFBED9D53}"/>
                </a:ext>
              </a:extLst>
            </p:cNvPr>
            <p:cNvGrpSpPr/>
            <p:nvPr/>
          </p:nvGrpSpPr>
          <p:grpSpPr>
            <a:xfrm>
              <a:off x="-1652312" y="2348740"/>
              <a:ext cx="1827629" cy="276999"/>
              <a:chOff x="8737033" y="3544926"/>
              <a:chExt cx="1828105" cy="277071"/>
            </a:xfrm>
          </p:grpSpPr>
          <p:sp>
            <p:nvSpPr>
              <p:cNvPr id="97" name="TextBox 96">
                <a:extLst>
                  <a:ext uri="{FF2B5EF4-FFF2-40B4-BE49-F238E27FC236}">
                    <a16:creationId xmlns:a16="http://schemas.microsoft.com/office/drawing/2014/main" id="{389EBE12-DA97-9D0D-1F23-8FC8B70FC179}"/>
                  </a:ext>
                </a:extLst>
              </p:cNvPr>
              <p:cNvSpPr txBox="1"/>
              <p:nvPr/>
            </p:nvSpPr>
            <p:spPr bwMode="gray">
              <a:xfrm>
                <a:off x="8912512" y="3544926"/>
                <a:ext cx="1652626" cy="277071"/>
              </a:xfrm>
              <a:prstGeom prst="rect">
                <a:avLst/>
              </a:prstGeom>
              <a:noFill/>
            </p:spPr>
            <p:txBody>
              <a:bodyPr wrap="square">
                <a:spAutoFit/>
              </a:bodyPr>
              <a:lstStyle/>
              <a:p>
                <a:r>
                  <a:rPr lang="en-US" sz="1200">
                    <a:solidFill>
                      <a:srgbClr val="000000"/>
                    </a:solidFill>
                    <a:latin typeface="Arial" panose="020B0604020202020204"/>
                  </a:rPr>
                  <a:t>(5) Completely agree</a:t>
                </a:r>
              </a:p>
            </p:txBody>
          </p:sp>
          <p:sp>
            <p:nvSpPr>
              <p:cNvPr id="98" name="Oval 97">
                <a:extLst>
                  <a:ext uri="{FF2B5EF4-FFF2-40B4-BE49-F238E27FC236}">
                    <a16:creationId xmlns:a16="http://schemas.microsoft.com/office/drawing/2014/main" id="{31F7FD7F-3267-3888-1F59-3A421092CEC7}"/>
                  </a:ext>
                </a:extLst>
              </p:cNvPr>
              <p:cNvSpPr/>
              <p:nvPr/>
            </p:nvSpPr>
            <p:spPr bwMode="gray">
              <a:xfrm>
                <a:off x="8737033" y="3604609"/>
                <a:ext cx="182880" cy="182880"/>
              </a:xfrm>
              <a:prstGeom prst="ellipse">
                <a:avLst/>
              </a:prstGeom>
              <a:solidFill>
                <a:srgbClr val="0A8E8B"/>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200" b="1">
                  <a:solidFill>
                    <a:srgbClr val="0000C9"/>
                  </a:solidFill>
                  <a:latin typeface="Arial" panose="020B0604020202020204"/>
                </a:endParaRPr>
              </a:p>
            </p:txBody>
          </p:sp>
        </p:grpSp>
      </p:grpSp>
      <p:graphicFrame>
        <p:nvGraphicFramePr>
          <p:cNvPr id="10" name="Chart 9">
            <a:extLst>
              <a:ext uri="{FF2B5EF4-FFF2-40B4-BE49-F238E27FC236}">
                <a16:creationId xmlns:a16="http://schemas.microsoft.com/office/drawing/2014/main" id="{F8613B8C-0ABA-FC31-926C-43AC38562027}"/>
              </a:ext>
            </a:extLst>
          </p:cNvPr>
          <p:cNvGraphicFramePr/>
          <p:nvPr/>
        </p:nvGraphicFramePr>
        <p:xfrm>
          <a:off x="6176954" y="2341175"/>
          <a:ext cx="2973225" cy="37659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9EDD9F3D-E759-5125-6960-24F876EFB28B}"/>
              </a:ext>
            </a:extLst>
          </p:cNvPr>
          <p:cNvGraphicFramePr/>
          <p:nvPr/>
        </p:nvGraphicFramePr>
        <p:xfrm>
          <a:off x="9074834" y="2341175"/>
          <a:ext cx="2973225" cy="3765944"/>
        </p:xfrm>
        <a:graphic>
          <a:graphicData uri="http://schemas.openxmlformats.org/drawingml/2006/chart">
            <c:chart xmlns:c="http://schemas.openxmlformats.org/drawingml/2006/chart" xmlns:r="http://schemas.openxmlformats.org/officeDocument/2006/relationships" r:id="rId5"/>
          </a:graphicData>
        </a:graphic>
      </p:graphicFrame>
      <p:grpSp>
        <p:nvGrpSpPr>
          <p:cNvPr id="40" name="Group 39">
            <a:extLst>
              <a:ext uri="{FF2B5EF4-FFF2-40B4-BE49-F238E27FC236}">
                <a16:creationId xmlns:a16="http://schemas.microsoft.com/office/drawing/2014/main" id="{A28368A2-C52F-8DAD-E08F-F11BD473E381}"/>
              </a:ext>
            </a:extLst>
          </p:cNvPr>
          <p:cNvGrpSpPr/>
          <p:nvPr/>
        </p:nvGrpSpPr>
        <p:grpSpPr>
          <a:xfrm>
            <a:off x="6094412" y="2673915"/>
            <a:ext cx="2883140" cy="3206283"/>
            <a:chOff x="6094412" y="2673916"/>
            <a:chExt cx="2883140" cy="2968338"/>
          </a:xfrm>
        </p:grpSpPr>
        <p:cxnSp>
          <p:nvCxnSpPr>
            <p:cNvPr id="4" name="Straight Connector 3">
              <a:extLst>
                <a:ext uri="{FF2B5EF4-FFF2-40B4-BE49-F238E27FC236}">
                  <a16:creationId xmlns:a16="http://schemas.microsoft.com/office/drawing/2014/main" id="{21A26DE8-2ACD-774A-5CF3-580B942FCB35}"/>
                </a:ext>
              </a:extLst>
            </p:cNvPr>
            <p:cNvCxnSpPr>
              <a:cxnSpLocks/>
            </p:cNvCxnSpPr>
            <p:nvPr/>
          </p:nvCxnSpPr>
          <p:spPr bwMode="gray">
            <a:xfrm>
              <a:off x="6094412" y="2673916"/>
              <a:ext cx="0" cy="2968338"/>
            </a:xfrm>
            <a:prstGeom prst="line">
              <a:avLst/>
            </a:prstGeom>
            <a:noFill/>
            <a:ln w="9525" cap="rnd">
              <a:solidFill>
                <a:schemeClr val="bg1">
                  <a:lumMod val="75000"/>
                </a:schemeClr>
              </a:solidFill>
              <a:prstDash val="solid"/>
              <a:round/>
              <a:headEnd/>
              <a:tailEnd/>
            </a:ln>
            <a:effectLst/>
          </p:spPr>
        </p:cxnSp>
        <p:cxnSp>
          <p:nvCxnSpPr>
            <p:cNvPr id="6" name="Straight Connector 5">
              <a:extLst>
                <a:ext uri="{FF2B5EF4-FFF2-40B4-BE49-F238E27FC236}">
                  <a16:creationId xmlns:a16="http://schemas.microsoft.com/office/drawing/2014/main" id="{143329BB-5212-BB25-AB55-1CDD9DAF94C9}"/>
                </a:ext>
              </a:extLst>
            </p:cNvPr>
            <p:cNvCxnSpPr>
              <a:cxnSpLocks/>
            </p:cNvCxnSpPr>
            <p:nvPr/>
          </p:nvCxnSpPr>
          <p:spPr bwMode="gray">
            <a:xfrm>
              <a:off x="8977552" y="2673916"/>
              <a:ext cx="0" cy="2968338"/>
            </a:xfrm>
            <a:prstGeom prst="line">
              <a:avLst/>
            </a:prstGeom>
            <a:noFill/>
            <a:ln w="9525" cap="rnd">
              <a:solidFill>
                <a:schemeClr val="bg1">
                  <a:lumMod val="75000"/>
                </a:schemeClr>
              </a:solidFill>
              <a:prstDash val="solid"/>
              <a:round/>
              <a:headEnd/>
              <a:tailEnd/>
            </a:ln>
            <a:effectLst/>
          </p:spPr>
        </p:cxnSp>
      </p:grpSp>
      <p:graphicFrame>
        <p:nvGraphicFramePr>
          <p:cNvPr id="3" name="Table 2">
            <a:extLst>
              <a:ext uri="{FF2B5EF4-FFF2-40B4-BE49-F238E27FC236}">
                <a16:creationId xmlns:a16="http://schemas.microsoft.com/office/drawing/2014/main" id="{3871D1CB-4E60-5E73-70F7-32834E978F9E}"/>
              </a:ext>
            </a:extLst>
          </p:cNvPr>
          <p:cNvGraphicFramePr>
            <a:graphicFrameLocks noGrp="1"/>
          </p:cNvGraphicFramePr>
          <p:nvPr/>
        </p:nvGraphicFramePr>
        <p:xfrm>
          <a:off x="3073769" y="2509850"/>
          <a:ext cx="8723220" cy="370840"/>
        </p:xfrm>
        <a:graphic>
          <a:graphicData uri="http://schemas.openxmlformats.org/drawingml/2006/table">
            <a:tbl>
              <a:tblPr firstRow="1" bandRow="1">
                <a:tableStyleId>{5C22544A-7EE6-4342-B048-85BDC9FD1C3A}</a:tableStyleId>
              </a:tblPr>
              <a:tblGrid>
                <a:gridCol w="2907740">
                  <a:extLst>
                    <a:ext uri="{9D8B030D-6E8A-4147-A177-3AD203B41FA5}">
                      <a16:colId xmlns:a16="http://schemas.microsoft.com/office/drawing/2014/main" val="1855832237"/>
                    </a:ext>
                  </a:extLst>
                </a:gridCol>
                <a:gridCol w="2907740">
                  <a:extLst>
                    <a:ext uri="{9D8B030D-6E8A-4147-A177-3AD203B41FA5}">
                      <a16:colId xmlns:a16="http://schemas.microsoft.com/office/drawing/2014/main" val="1035005710"/>
                    </a:ext>
                  </a:extLst>
                </a:gridCol>
                <a:gridCol w="2907740">
                  <a:extLst>
                    <a:ext uri="{9D8B030D-6E8A-4147-A177-3AD203B41FA5}">
                      <a16:colId xmlns:a16="http://schemas.microsoft.com/office/drawing/2014/main" val="3708560425"/>
                    </a:ext>
                  </a:extLst>
                </a:gridCol>
              </a:tblGrid>
              <a:tr h="370840">
                <a:tc>
                  <a:txBody>
                    <a:bodyPr/>
                    <a:lstStyle/>
                    <a:p>
                      <a:pPr algn="ctr"/>
                      <a:r>
                        <a:rPr lang="en-US" sz="1600">
                          <a:solidFill>
                            <a:schemeClr val="tx1"/>
                          </a:solidFill>
                        </a:rPr>
                        <a:t>TOTAL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600" b="1">
                          <a:solidFill>
                            <a:schemeClr val="tx1"/>
                          </a:solidFill>
                          <a:latin typeface="+mn-lt"/>
                        </a:rPr>
                        <a:t>PED</a:t>
                      </a:r>
                      <a:r>
                        <a:rPr lang="en-US" sz="1600" baseline="20000">
                          <a:solidFill>
                            <a:srgbClr val="7F7F7F"/>
                          </a:solidFill>
                          <a:latin typeface="+mn-lt"/>
                          <a:cs typeface="Arial"/>
                        </a:rPr>
                        <a:t> </a:t>
                      </a:r>
                      <a:r>
                        <a:rPr kumimoji="0" lang="en-US" sz="1600" b="0" i="0" u="none" strike="noStrike" kern="1200" cap="none" spc="0" normalizeH="0" baseline="25000" noProof="0">
                          <a:ln>
                            <a:noFill/>
                          </a:ln>
                          <a:solidFill>
                            <a:srgbClr val="595959"/>
                          </a:solidFill>
                          <a:effectLst/>
                          <a:uLnTx/>
                          <a:uFillTx/>
                          <a:latin typeface="+mn-lt"/>
                          <a:ea typeface="+mn-ea"/>
                          <a:cs typeface="+mn-cs"/>
                        </a:rPr>
                        <a:t>|</a:t>
                      </a:r>
                      <a:r>
                        <a:rPr kumimoji="0" lang="en-US" sz="16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75000" noProof="0">
                          <a:ln>
                            <a:noFill/>
                          </a:ln>
                          <a:solidFill>
                            <a:srgbClr val="595959"/>
                          </a:solidFill>
                          <a:effectLst/>
                          <a:uLnTx/>
                          <a:uFillTx/>
                          <a:latin typeface="+mn-lt"/>
                          <a:ea typeface="+mn-ea"/>
                          <a:cs typeface="+mn-cs"/>
                        </a:rPr>
                        <a:t>A</a:t>
                      </a:r>
                      <a:endParaRPr lang="en-US" sz="1000" b="0" baseline="75000">
                        <a:solidFill>
                          <a:srgbClr val="595959"/>
                        </a:solidFill>
                        <a:latin typeface="+mn-l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600" b="1">
                          <a:solidFill>
                            <a:schemeClr val="tx1"/>
                          </a:solidFill>
                          <a:latin typeface="+mn-lt"/>
                        </a:rPr>
                        <a:t>PCP</a:t>
                      </a:r>
                      <a:r>
                        <a:rPr lang="en-US" sz="1600" baseline="20000">
                          <a:solidFill>
                            <a:srgbClr val="7F7F7F"/>
                          </a:solidFill>
                          <a:latin typeface="+mn-lt"/>
                          <a:cs typeface="Arial"/>
                        </a:rPr>
                        <a:t> </a:t>
                      </a:r>
                      <a:r>
                        <a:rPr kumimoji="0" lang="en-US" sz="1600" b="0" i="0" u="none" strike="noStrike" kern="1200" cap="none" spc="0" normalizeH="0" baseline="25000" noProof="0">
                          <a:ln>
                            <a:noFill/>
                          </a:ln>
                          <a:solidFill>
                            <a:srgbClr val="595959"/>
                          </a:solidFill>
                          <a:effectLst/>
                          <a:uLnTx/>
                          <a:uFillTx/>
                          <a:latin typeface="+mn-lt"/>
                          <a:ea typeface="+mn-ea"/>
                          <a:cs typeface="+mn-cs"/>
                        </a:rPr>
                        <a:t>|</a:t>
                      </a:r>
                      <a:r>
                        <a:rPr kumimoji="0" lang="en-US" sz="18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50" b="0" i="0" u="none" strike="noStrike" kern="1200" cap="none" spc="0" normalizeH="0" baseline="75000" noProof="0">
                          <a:ln>
                            <a:noFill/>
                          </a:ln>
                          <a:solidFill>
                            <a:srgbClr val="595959"/>
                          </a:solidFill>
                          <a:effectLst/>
                          <a:uLnTx/>
                          <a:uFillTx/>
                          <a:latin typeface="+mn-lt"/>
                          <a:ea typeface="+mn-ea"/>
                          <a:cs typeface="+mn-cs"/>
                        </a:rPr>
                        <a:t>B</a:t>
                      </a:r>
                      <a:endParaRPr lang="en-US" sz="1800" b="0" baseline="75000">
                        <a:solidFill>
                          <a:schemeClr val="accent2">
                            <a:lumMod val="50000"/>
                          </a:schemeClr>
                        </a:solidFill>
                        <a:latin typeface="+mn-l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43881415"/>
                  </a:ext>
                </a:extLst>
              </a:tr>
            </a:tbl>
          </a:graphicData>
        </a:graphic>
      </p:graphicFrame>
      <p:sp>
        <p:nvSpPr>
          <p:cNvPr id="8" name="TextBox 7">
            <a:extLst>
              <a:ext uri="{FF2B5EF4-FFF2-40B4-BE49-F238E27FC236}">
                <a16:creationId xmlns:a16="http://schemas.microsoft.com/office/drawing/2014/main" id="{574085E9-1906-2B66-7334-1C9C2E54AE64}"/>
              </a:ext>
            </a:extLst>
          </p:cNvPr>
          <p:cNvSpPr txBox="1"/>
          <p:nvPr/>
        </p:nvSpPr>
        <p:spPr bwMode="gray">
          <a:xfrm>
            <a:off x="4585174" y="3345899"/>
            <a:ext cx="738280" cy="332399"/>
          </a:xfrm>
          <a:prstGeom prst="rect">
            <a:avLst/>
          </a:prstGeom>
          <a:solidFill>
            <a:schemeClr val="bg1">
              <a:lumMod val="95000"/>
            </a:schemeClr>
          </a:solidFill>
          <a:ln w="12700">
            <a:solidFill>
              <a:schemeClr val="tx1">
                <a:lumMod val="50000"/>
                <a:lumOff val="50000"/>
              </a:schemeClr>
            </a:solidFill>
            <a:prstDash val="solid"/>
          </a:ln>
        </p:spPr>
        <p:txBody>
          <a:bodyPr wrap="none" lIns="27432" tIns="27432" rIns="27432" bIns="27432"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High Public &gt;</a:t>
            </a:r>
            <a:b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b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Others</a:t>
            </a:r>
          </a:p>
        </p:txBody>
      </p:sp>
      <p:sp>
        <p:nvSpPr>
          <p:cNvPr id="12" name="TextBox 11">
            <a:extLst>
              <a:ext uri="{FF2B5EF4-FFF2-40B4-BE49-F238E27FC236}">
                <a16:creationId xmlns:a16="http://schemas.microsoft.com/office/drawing/2014/main" id="{F2041264-DFE2-D4E0-A101-7DBCA93FCD71}"/>
              </a:ext>
            </a:extLst>
          </p:cNvPr>
          <p:cNvSpPr txBox="1"/>
          <p:nvPr/>
        </p:nvSpPr>
        <p:spPr bwMode="gray">
          <a:xfrm>
            <a:off x="5007376" y="4579590"/>
            <a:ext cx="738279" cy="332399"/>
          </a:xfrm>
          <a:prstGeom prst="rect">
            <a:avLst/>
          </a:prstGeom>
          <a:solidFill>
            <a:schemeClr val="bg1">
              <a:lumMod val="95000"/>
            </a:schemeClr>
          </a:solidFill>
          <a:ln w="12700">
            <a:solidFill>
              <a:schemeClr val="tx1">
                <a:lumMod val="50000"/>
                <a:lumOff val="50000"/>
              </a:schemeClr>
            </a:solidFill>
            <a:prstDash val="solid"/>
          </a:ln>
        </p:spPr>
        <p:txBody>
          <a:bodyPr wrap="none" lIns="27432" tIns="27432" rIns="27432" bIns="27432"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High Public &gt;</a:t>
            </a:r>
            <a:b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b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Others</a:t>
            </a:r>
          </a:p>
        </p:txBody>
      </p:sp>
      <p:sp>
        <p:nvSpPr>
          <p:cNvPr id="16" name="Text Placeholder 26">
            <a:extLst>
              <a:ext uri="{FF2B5EF4-FFF2-40B4-BE49-F238E27FC236}">
                <a16:creationId xmlns:a16="http://schemas.microsoft.com/office/drawing/2014/main" id="{CC16281E-128F-A89D-73D1-F74C5C6165DB}"/>
              </a:ext>
            </a:extLst>
          </p:cNvPr>
          <p:cNvSpPr txBox="1">
            <a:spLocks/>
          </p:cNvSpPr>
          <p:nvPr/>
        </p:nvSpPr>
        <p:spPr bwMode="gray">
          <a:xfrm>
            <a:off x="11256824" y="3872046"/>
            <a:ext cx="13970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p>
        </p:txBody>
      </p:sp>
      <p:sp>
        <p:nvSpPr>
          <p:cNvPr id="17" name="Text Placeholder 26">
            <a:extLst>
              <a:ext uri="{FF2B5EF4-FFF2-40B4-BE49-F238E27FC236}">
                <a16:creationId xmlns:a16="http://schemas.microsoft.com/office/drawing/2014/main" id="{AAE2ECB5-4355-7850-BC04-E9B409535844}"/>
              </a:ext>
            </a:extLst>
          </p:cNvPr>
          <p:cNvSpPr txBox="1">
            <a:spLocks/>
          </p:cNvSpPr>
          <p:nvPr/>
        </p:nvSpPr>
        <p:spPr bwMode="gray">
          <a:xfrm>
            <a:off x="10035990" y="5453729"/>
            <a:ext cx="13970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p>
        </p:txBody>
      </p:sp>
      <p:sp>
        <p:nvSpPr>
          <p:cNvPr id="18" name="Text Placeholder 26">
            <a:extLst>
              <a:ext uri="{FF2B5EF4-FFF2-40B4-BE49-F238E27FC236}">
                <a16:creationId xmlns:a16="http://schemas.microsoft.com/office/drawing/2014/main" id="{89906805-D7AD-EDAB-6A59-48B71E9E87A9}"/>
              </a:ext>
            </a:extLst>
          </p:cNvPr>
          <p:cNvSpPr txBox="1">
            <a:spLocks/>
          </p:cNvSpPr>
          <p:nvPr/>
        </p:nvSpPr>
        <p:spPr bwMode="gray">
          <a:xfrm>
            <a:off x="9232720" y="5348522"/>
            <a:ext cx="13970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p>
        </p:txBody>
      </p:sp>
      <p:sp>
        <p:nvSpPr>
          <p:cNvPr id="19" name="Text Placeholder 26">
            <a:extLst>
              <a:ext uri="{FF2B5EF4-FFF2-40B4-BE49-F238E27FC236}">
                <a16:creationId xmlns:a16="http://schemas.microsoft.com/office/drawing/2014/main" id="{DBF2D89C-1A15-49AA-AD82-744D801C955D}"/>
              </a:ext>
            </a:extLst>
          </p:cNvPr>
          <p:cNvSpPr txBox="1">
            <a:spLocks/>
          </p:cNvSpPr>
          <p:nvPr/>
        </p:nvSpPr>
        <p:spPr bwMode="gray">
          <a:xfrm>
            <a:off x="10547474" y="4678226"/>
            <a:ext cx="13970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p>
        </p:txBody>
      </p:sp>
      <p:sp>
        <p:nvSpPr>
          <p:cNvPr id="20" name="Text Placeholder 26">
            <a:extLst>
              <a:ext uri="{FF2B5EF4-FFF2-40B4-BE49-F238E27FC236}">
                <a16:creationId xmlns:a16="http://schemas.microsoft.com/office/drawing/2014/main" id="{8F4099D3-16F3-C746-2150-0A877A4EFFAB}"/>
              </a:ext>
            </a:extLst>
          </p:cNvPr>
          <p:cNvSpPr txBox="1">
            <a:spLocks/>
          </p:cNvSpPr>
          <p:nvPr/>
        </p:nvSpPr>
        <p:spPr bwMode="gray">
          <a:xfrm>
            <a:off x="9597061" y="4678226"/>
            <a:ext cx="13970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p>
        </p:txBody>
      </p:sp>
      <p:sp>
        <p:nvSpPr>
          <p:cNvPr id="14" name="TextBox 13">
            <a:extLst>
              <a:ext uri="{FF2B5EF4-FFF2-40B4-BE49-F238E27FC236}">
                <a16:creationId xmlns:a16="http://schemas.microsoft.com/office/drawing/2014/main" id="{B542C601-6A2F-1E37-B6A2-EEC6D916ED97}"/>
              </a:ext>
            </a:extLst>
          </p:cNvPr>
          <p:cNvSpPr txBox="1"/>
          <p:nvPr/>
        </p:nvSpPr>
        <p:spPr bwMode="gray">
          <a:xfrm>
            <a:off x="5381027" y="3252431"/>
            <a:ext cx="728661" cy="470898"/>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marL="342900" lvl="0" indent="-34290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98%</a:t>
            </a:r>
            <a:r>
              <a:rPr lang="en-US" sz="900" baseline="40000">
                <a:solidFill>
                  <a:srgbClr val="000000">
                    <a:lumMod val="50000"/>
                    <a:lumOff val="50000"/>
                  </a:srgbClr>
                </a:solidFill>
              </a:rPr>
              <a:t>3</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Tier 1 </a:t>
            </a:r>
          </a:p>
          <a:p>
            <a:pPr marL="342900" lvl="0" indent="-342900" defTabSz="914126">
              <a:defRPr/>
            </a:pPr>
            <a:r>
              <a:rPr lang="en-US" sz="900">
                <a:solidFill>
                  <a:srgbClr val="000000">
                    <a:lumMod val="50000"/>
                    <a:lumOff val="50000"/>
                  </a:srgbClr>
                </a:solidFill>
                <a:latin typeface="Arial" panose="020B0604020202020204"/>
              </a:rPr>
              <a:t>95%</a:t>
            </a:r>
            <a:r>
              <a:rPr lang="en-US" sz="900" baseline="40000">
                <a:solidFill>
                  <a:srgbClr val="000000">
                    <a:lumMod val="50000"/>
                    <a:lumOff val="50000"/>
                  </a:srgbClr>
                </a:solidFill>
              </a:rPr>
              <a:t>3</a:t>
            </a:r>
            <a:r>
              <a:rPr lang="en-US" sz="900">
                <a:solidFill>
                  <a:srgbClr val="000000">
                    <a:lumMod val="50000"/>
                    <a:lumOff val="50000"/>
                  </a:srgbClr>
                </a:solidFill>
                <a:latin typeface="Arial" panose="020B0604020202020204"/>
              </a:rPr>
              <a:t>	Tier 2 </a:t>
            </a:r>
          </a:p>
          <a:p>
            <a:pPr marL="342900" lvl="0" indent="-342900" defTabSz="914126">
              <a:defRPr/>
            </a:pPr>
            <a:r>
              <a:rPr lang="en-US" sz="900">
                <a:solidFill>
                  <a:srgbClr val="000000">
                    <a:lumMod val="50000"/>
                    <a:lumOff val="50000"/>
                  </a:srgbClr>
                </a:solidFill>
                <a:latin typeface="Arial" panose="020B0604020202020204"/>
              </a:rPr>
              <a:t>76%</a:t>
            </a:r>
            <a:r>
              <a:rPr lang="en-US" altLang="en-US" sz="900">
                <a:solidFill>
                  <a:srgbClr val="FF0000"/>
                </a:solidFill>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DA598B7E-099A-B628-5EBF-14E13E91A36B}"/>
              </a:ext>
            </a:extLst>
          </p:cNvPr>
          <p:cNvSpPr txBox="1"/>
          <p:nvPr/>
        </p:nvSpPr>
        <p:spPr bwMode="gray">
          <a:xfrm>
            <a:off x="1267728" y="616464"/>
            <a:ext cx="10607358" cy="499180"/>
          </a:xfrm>
          <a:prstGeom prst="rect">
            <a:avLst/>
          </a:prstGeom>
        </p:spPr>
        <p:txBody>
          <a:bodyPr wrap="square" lIns="45708" tIns="45708" rIns="45708" bIns="45708" rtlCol="0">
            <a:noAutofit/>
          </a:bodyPr>
          <a:lstStyle/>
          <a:p>
            <a:pPr marL="171399" indent="-171399">
              <a:buFont typeface="Arial" panose="020B0604020202020204" pitchFamily="34" charset="0"/>
              <a:buChar char="•"/>
              <a:defRPr/>
            </a:pPr>
            <a:endParaRPr lang="en-US" sz="1400">
              <a:solidFill>
                <a:srgbClr val="FFFFFF">
                  <a:lumMod val="50000"/>
                </a:srgbClr>
              </a:solidFill>
              <a:highlight>
                <a:srgbClr val="00FFFF"/>
              </a:highlight>
            </a:endParaRPr>
          </a:p>
          <a:p>
            <a:pPr marL="171399" indent="-171399">
              <a:buFont typeface="Arial" panose="020B0604020202020204" pitchFamily="34" charset="0"/>
              <a:buChar char="•"/>
              <a:defRPr/>
            </a:pPr>
            <a:r>
              <a:rPr lang="en-US" sz="1400">
                <a:solidFill>
                  <a:srgbClr val="FFFFFF">
                    <a:lumMod val="50000"/>
                  </a:srgbClr>
                </a:solidFill>
              </a:rPr>
              <a:t>Fewer PCPs report a decrease in wellness visits and contracting, rebating or discounting barriers to adopting a new Vx</a:t>
            </a:r>
          </a:p>
        </p:txBody>
      </p:sp>
    </p:spTree>
    <p:extLst>
      <p:ext uri="{BB962C8B-B14F-4D97-AF65-F5344CB8AC3E}">
        <p14:creationId xmlns:p14="http://schemas.microsoft.com/office/powerpoint/2010/main" val="282451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C61CD-2543-8ACC-3BF3-E964A47007B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89BB9F1-C809-4759-F757-01A5747F5971}"/>
              </a:ext>
            </a:extLst>
          </p:cNvPr>
          <p:cNvSpPr>
            <a:spLocks noGrp="1"/>
          </p:cNvSpPr>
          <p:nvPr>
            <p:ph type="body" sz="quarter" idx="10"/>
          </p:nvPr>
        </p:nvSpPr>
        <p:spPr>
          <a:xfrm>
            <a:off x="448056" y="4215384"/>
            <a:ext cx="5170424" cy="905256"/>
          </a:xfrm>
        </p:spPr>
        <p:txBody>
          <a:bodyPr wrap="none"/>
          <a:lstStyle/>
          <a:p>
            <a:r>
              <a:rPr lang="en-US"/>
              <a:t>Current Stocking Practices</a:t>
            </a:r>
          </a:p>
        </p:txBody>
      </p:sp>
      <p:sp>
        <p:nvSpPr>
          <p:cNvPr id="3" name="Title 2">
            <a:extLst>
              <a:ext uri="{FF2B5EF4-FFF2-40B4-BE49-F238E27FC236}">
                <a16:creationId xmlns:a16="http://schemas.microsoft.com/office/drawing/2014/main" id="{493086D2-6F22-247D-4455-45850138EBB7}"/>
              </a:ext>
            </a:extLst>
          </p:cNvPr>
          <p:cNvSpPr>
            <a:spLocks noGrp="1"/>
          </p:cNvSpPr>
          <p:nvPr>
            <p:ph type="ctrTitle"/>
          </p:nvPr>
        </p:nvSpPr>
        <p:spPr>
          <a:xfrm>
            <a:off x="448056" y="2560320"/>
            <a:ext cx="4233672" cy="1508760"/>
          </a:xfrm>
        </p:spPr>
        <p:txBody>
          <a:bodyPr/>
          <a:lstStyle/>
          <a:p>
            <a:r>
              <a:rPr lang="en-US"/>
              <a:t>Detailed Findings</a:t>
            </a:r>
          </a:p>
        </p:txBody>
      </p:sp>
    </p:spTree>
    <p:extLst>
      <p:ext uri="{BB962C8B-B14F-4D97-AF65-F5344CB8AC3E}">
        <p14:creationId xmlns:p14="http://schemas.microsoft.com/office/powerpoint/2010/main" val="4073856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47597-BEC8-9785-6383-346AD60A09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C29FD6-0C6C-5FD1-B899-4DB72B7C297B}"/>
              </a:ext>
            </a:extLst>
          </p:cNvPr>
          <p:cNvSpPr>
            <a:spLocks noGrp="1"/>
          </p:cNvSpPr>
          <p:nvPr>
            <p:ph type="title"/>
          </p:nvPr>
        </p:nvSpPr>
        <p:spPr>
          <a:xfrm>
            <a:off x="1147281" y="173702"/>
            <a:ext cx="10400861" cy="849508"/>
          </a:xfrm>
        </p:spPr>
        <p:txBody>
          <a:bodyPr/>
          <a:lstStyle/>
          <a:p>
            <a:r>
              <a:rPr lang="en-US"/>
              <a:t>HCPs report GSK’s Menveo and Bexsero stock are significantly down this wave; conversly, MenQuadfi has seen a significant increase in stocking with Tier 1 driving shifts</a:t>
            </a:r>
            <a:endParaRPr lang="en-US">
              <a:solidFill>
                <a:srgbClr val="FF0000"/>
              </a:solidFill>
            </a:endParaRPr>
          </a:p>
        </p:txBody>
      </p:sp>
      <p:sp>
        <p:nvSpPr>
          <p:cNvPr id="10" name="Text Placeholder 2">
            <a:extLst>
              <a:ext uri="{FF2B5EF4-FFF2-40B4-BE49-F238E27FC236}">
                <a16:creationId xmlns:a16="http://schemas.microsoft.com/office/drawing/2014/main" id="{8F8D5ACC-91C6-E04C-3489-8F9BA3475C56}"/>
              </a:ext>
            </a:extLst>
          </p:cNvPr>
          <p:cNvSpPr>
            <a:spLocks noGrp="1"/>
          </p:cNvSpPr>
          <p:nvPr>
            <p:ph type="body" sz="quarter" idx="16"/>
          </p:nvPr>
        </p:nvSpPr>
        <p:spPr>
          <a:xfrm>
            <a:off x="1576336" y="6411578"/>
            <a:ext cx="9229630" cy="330261"/>
          </a:xfrm>
        </p:spPr>
        <p:txBody>
          <a:bodyPr/>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r>
              <a:rPr lang="en-US"/>
              <a:t>C6_1&gt;0. What percent of your total stock of Meningococcal vaccines does each brand represent? </a:t>
            </a:r>
          </a:p>
        </p:txBody>
      </p:sp>
      <p:sp>
        <p:nvSpPr>
          <p:cNvPr id="19" name="Rectangle: Rounded Corners 18">
            <a:extLst>
              <a:ext uri="{FF2B5EF4-FFF2-40B4-BE49-F238E27FC236}">
                <a16:creationId xmlns:a16="http://schemas.microsoft.com/office/drawing/2014/main" id="{8AADC9D3-72E3-7CA2-E0FF-76FB4ACC3C2E}"/>
              </a:ext>
            </a:extLst>
          </p:cNvPr>
          <p:cNvSpPr/>
          <p:nvPr/>
        </p:nvSpPr>
        <p:spPr bwMode="gray">
          <a:xfrm>
            <a:off x="991070" y="1545815"/>
            <a:ext cx="10295546" cy="4774750"/>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333" tIns="45667" rIns="91333" bIns="45667"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6" b="1">
              <a:solidFill>
                <a:srgbClr val="0000C9"/>
              </a:solidFill>
              <a:latin typeface="Arial" panose="020B0604020202020204"/>
            </a:endParaRPr>
          </a:p>
        </p:txBody>
      </p:sp>
      <p:grpSp>
        <p:nvGrpSpPr>
          <p:cNvPr id="4" name="Group 3">
            <a:extLst>
              <a:ext uri="{FF2B5EF4-FFF2-40B4-BE49-F238E27FC236}">
                <a16:creationId xmlns:a16="http://schemas.microsoft.com/office/drawing/2014/main" id="{BCC6C30F-4000-8AFB-FDAF-34D29D308717}"/>
              </a:ext>
            </a:extLst>
          </p:cNvPr>
          <p:cNvGrpSpPr/>
          <p:nvPr/>
        </p:nvGrpSpPr>
        <p:grpSpPr>
          <a:xfrm>
            <a:off x="1078879" y="1602226"/>
            <a:ext cx="649647" cy="289096"/>
            <a:chOff x="1686269" y="1600319"/>
            <a:chExt cx="650323" cy="289396"/>
          </a:xfrm>
        </p:grpSpPr>
        <p:cxnSp>
          <p:nvCxnSpPr>
            <p:cNvPr id="9" name="Straight Connector 8">
              <a:extLst>
                <a:ext uri="{FF2B5EF4-FFF2-40B4-BE49-F238E27FC236}">
                  <a16:creationId xmlns:a16="http://schemas.microsoft.com/office/drawing/2014/main" id="{401FE14D-4032-FA02-AFAE-2FBE655F298D}"/>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1" name="TextBox 10">
              <a:extLst>
                <a:ext uri="{FF2B5EF4-FFF2-40B4-BE49-F238E27FC236}">
                  <a16:creationId xmlns:a16="http://schemas.microsoft.com/office/drawing/2014/main" id="{7F1E4ECA-248B-9FB4-786B-9DBDA10F7467}"/>
                </a:ext>
              </a:extLst>
            </p:cNvPr>
            <p:cNvSpPr txBox="1"/>
            <p:nvPr/>
          </p:nvSpPr>
          <p:spPr bwMode="gray">
            <a:xfrm>
              <a:off x="1686269" y="1600319"/>
              <a:ext cx="650323" cy="286282"/>
            </a:xfrm>
            <a:prstGeom prst="rect">
              <a:avLst/>
            </a:prstGeom>
          </p:spPr>
          <p:txBody>
            <a:bodyPr wrap="none" lIns="45672" tIns="45672" rIns="45672" bIns="45672" rtlCol="0">
              <a:spAutoFit/>
            </a:bodyPr>
            <a:lstStyle/>
            <a:p>
              <a:pPr algn="ctr">
                <a:lnSpc>
                  <a:spcPct val="90000"/>
                </a:lnSpc>
                <a:spcBef>
                  <a:spcPts val="1000"/>
                </a:spcBef>
                <a:defRPr/>
              </a:pPr>
              <a:r>
                <a:rPr lang="en-US" sz="1400">
                  <a:solidFill>
                    <a:srgbClr val="000000"/>
                  </a:solidFill>
                  <a:latin typeface="Arial" panose="020B0604020202020204"/>
                </a:rPr>
                <a:t>Sep’25</a:t>
              </a:r>
            </a:p>
          </p:txBody>
        </p:sp>
      </p:grpSp>
      <p:sp>
        <p:nvSpPr>
          <p:cNvPr id="12" name="TextBox 11">
            <a:extLst>
              <a:ext uri="{FF2B5EF4-FFF2-40B4-BE49-F238E27FC236}">
                <a16:creationId xmlns:a16="http://schemas.microsoft.com/office/drawing/2014/main" id="{A7A32C8B-BF8C-7096-9224-1510461F8268}"/>
              </a:ext>
            </a:extLst>
          </p:cNvPr>
          <p:cNvSpPr txBox="1"/>
          <p:nvPr/>
        </p:nvSpPr>
        <p:spPr bwMode="gray">
          <a:xfrm>
            <a:off x="991072" y="1311755"/>
            <a:ext cx="825264" cy="338202"/>
          </a:xfrm>
          <a:prstGeom prst="rect">
            <a:avLst/>
          </a:prstGeom>
          <a:noFill/>
        </p:spPr>
        <p:txBody>
          <a:bodyPr wrap="none">
            <a:spAutoFit/>
          </a:bodyPr>
          <a:lstStyle/>
          <a:p>
            <a:pPr>
              <a:defRPr/>
            </a:pPr>
            <a:r>
              <a:rPr lang="en-US" sz="1600">
                <a:solidFill>
                  <a:srgbClr val="000000"/>
                </a:solidFill>
                <a:latin typeface="Arial" panose="020B0604020202020204"/>
              </a:rPr>
              <a:t>TOTAL</a:t>
            </a:r>
          </a:p>
        </p:txBody>
      </p:sp>
      <p:graphicFrame>
        <p:nvGraphicFramePr>
          <p:cNvPr id="6" name="Chart 5">
            <a:extLst>
              <a:ext uri="{FF2B5EF4-FFF2-40B4-BE49-F238E27FC236}">
                <a16:creationId xmlns:a16="http://schemas.microsoft.com/office/drawing/2014/main" id="{92477178-2166-38C4-08BA-E247B717826F}"/>
              </a:ext>
            </a:extLst>
          </p:cNvPr>
          <p:cNvGraphicFramePr/>
          <p:nvPr/>
        </p:nvGraphicFramePr>
        <p:xfrm>
          <a:off x="2122730" y="2014731"/>
          <a:ext cx="7962803" cy="3761662"/>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a:extLst>
              <a:ext uri="{FF2B5EF4-FFF2-40B4-BE49-F238E27FC236}">
                <a16:creationId xmlns:a16="http://schemas.microsoft.com/office/drawing/2014/main" id="{E7DC9CFB-5A2D-81EC-7837-6D07F3189075}"/>
              </a:ext>
            </a:extLst>
          </p:cNvPr>
          <p:cNvSpPr txBox="1"/>
          <p:nvPr/>
        </p:nvSpPr>
        <p:spPr bwMode="gray">
          <a:xfrm>
            <a:off x="3782290" y="1655321"/>
            <a:ext cx="4643708" cy="341086"/>
          </a:xfrm>
          <a:prstGeom prst="rect">
            <a:avLst/>
          </a:prstGeom>
        </p:spPr>
        <p:txBody>
          <a:bodyPr wrap="none" lIns="45672" tIns="45672" rIns="45672" bIns="45672" rtlCol="0">
            <a:spAutoFit/>
          </a:bodyPr>
          <a:lstStyle/>
          <a:p>
            <a:pPr algn="ctr">
              <a:lnSpc>
                <a:spcPct val="90000"/>
              </a:lnSpc>
              <a:spcAft>
                <a:spcPts val="400"/>
              </a:spcAft>
              <a:defRPr/>
            </a:pPr>
            <a:r>
              <a:rPr lang="en-US" sz="1796" b="1">
                <a:solidFill>
                  <a:srgbClr val="0000C9"/>
                </a:solidFill>
                <a:latin typeface="Arial" panose="020B0604020202020204"/>
              </a:rPr>
              <a:t>% HCPs Currently Stocking Each Vaccine</a:t>
            </a:r>
            <a:endParaRPr lang="en-US" sz="1000">
              <a:solidFill>
                <a:srgbClr val="FFFFFF">
                  <a:lumMod val="50000"/>
                </a:srgbClr>
              </a:solidFill>
              <a:highlight>
                <a:srgbClr val="00FF00"/>
              </a:highlight>
              <a:latin typeface="Arial" panose="020B0604020202020204"/>
            </a:endParaRPr>
          </a:p>
        </p:txBody>
      </p:sp>
      <p:sp>
        <p:nvSpPr>
          <p:cNvPr id="2" name="TextBox 1">
            <a:extLst>
              <a:ext uri="{FF2B5EF4-FFF2-40B4-BE49-F238E27FC236}">
                <a16:creationId xmlns:a16="http://schemas.microsoft.com/office/drawing/2014/main" id="{E4F5D7FE-4626-F8AC-8CD0-65672ACB00A8}"/>
              </a:ext>
            </a:extLst>
          </p:cNvPr>
          <p:cNvSpPr txBox="1"/>
          <p:nvPr/>
        </p:nvSpPr>
        <p:spPr bwMode="gray">
          <a:xfrm>
            <a:off x="11532113" y="30070"/>
            <a:ext cx="557059" cy="244618"/>
          </a:xfrm>
          <a:prstGeom prst="rect">
            <a:avLst/>
          </a:prstGeom>
          <a:noFill/>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rPr>
              <a:t>Topline</a:t>
            </a:r>
          </a:p>
        </p:txBody>
      </p:sp>
      <p:graphicFrame>
        <p:nvGraphicFramePr>
          <p:cNvPr id="26" name="Table 25">
            <a:extLst>
              <a:ext uri="{FF2B5EF4-FFF2-40B4-BE49-F238E27FC236}">
                <a16:creationId xmlns:a16="http://schemas.microsoft.com/office/drawing/2014/main" id="{DF75A868-0C3B-3E89-10D9-A29B38C59454}"/>
              </a:ext>
            </a:extLst>
          </p:cNvPr>
          <p:cNvGraphicFramePr>
            <a:graphicFrameLocks noGrp="1"/>
          </p:cNvGraphicFramePr>
          <p:nvPr/>
        </p:nvGraphicFramePr>
        <p:xfrm>
          <a:off x="1700737" y="5500421"/>
          <a:ext cx="8114747" cy="688371"/>
        </p:xfrm>
        <a:graphic>
          <a:graphicData uri="http://schemas.openxmlformats.org/drawingml/2006/table">
            <a:tbl>
              <a:tblPr firstRow="1" bandRow="1">
                <a:tableStyleId>{2D5ABB26-0587-4C30-8999-92F81FD0307C}</a:tableStyleId>
              </a:tblPr>
              <a:tblGrid>
                <a:gridCol w="814797">
                  <a:extLst>
                    <a:ext uri="{9D8B030D-6E8A-4147-A177-3AD203B41FA5}">
                      <a16:colId xmlns:a16="http://schemas.microsoft.com/office/drawing/2014/main" val="521560409"/>
                    </a:ext>
                  </a:extLst>
                </a:gridCol>
                <a:gridCol w="1459990">
                  <a:extLst>
                    <a:ext uri="{9D8B030D-6E8A-4147-A177-3AD203B41FA5}">
                      <a16:colId xmlns:a16="http://schemas.microsoft.com/office/drawing/2014/main" val="410968758"/>
                    </a:ext>
                  </a:extLst>
                </a:gridCol>
                <a:gridCol w="1459990">
                  <a:extLst>
                    <a:ext uri="{9D8B030D-6E8A-4147-A177-3AD203B41FA5}">
                      <a16:colId xmlns:a16="http://schemas.microsoft.com/office/drawing/2014/main" val="4272135445"/>
                    </a:ext>
                  </a:extLst>
                </a:gridCol>
                <a:gridCol w="1459990">
                  <a:extLst>
                    <a:ext uri="{9D8B030D-6E8A-4147-A177-3AD203B41FA5}">
                      <a16:colId xmlns:a16="http://schemas.microsoft.com/office/drawing/2014/main" val="1366881582"/>
                    </a:ext>
                  </a:extLst>
                </a:gridCol>
                <a:gridCol w="1459990">
                  <a:extLst>
                    <a:ext uri="{9D8B030D-6E8A-4147-A177-3AD203B41FA5}">
                      <a16:colId xmlns:a16="http://schemas.microsoft.com/office/drawing/2014/main" val="1395364061"/>
                    </a:ext>
                  </a:extLst>
                </a:gridCol>
                <a:gridCol w="1459990">
                  <a:extLst>
                    <a:ext uri="{9D8B030D-6E8A-4147-A177-3AD203B41FA5}">
                      <a16:colId xmlns:a16="http://schemas.microsoft.com/office/drawing/2014/main" val="3719998845"/>
                    </a:ext>
                  </a:extLst>
                </a:gridCol>
              </a:tblGrid>
              <a:tr h="229457">
                <a:tc>
                  <a:txBody>
                    <a:bodyPr/>
                    <a:lstStyle/>
                    <a:p>
                      <a:pPr algn="ctr"/>
                      <a:r>
                        <a:rPr lang="en-US" sz="1200">
                          <a:solidFill>
                            <a:schemeClr val="tx1">
                              <a:lumMod val="65000"/>
                              <a:lumOff val="35000"/>
                            </a:schemeClr>
                          </a:solidFill>
                        </a:rPr>
                        <a:t>Tier 1</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1">
                          <a:solidFill>
                            <a:schemeClr val="tx1">
                              <a:lumMod val="65000"/>
                              <a:lumOff val="35000"/>
                            </a:schemeClr>
                          </a:solidFill>
                        </a:rPr>
                        <a:t>85%</a:t>
                      </a:r>
                      <a:r>
                        <a:rPr lang="en-US" sz="1200" b="1" baseline="50000">
                          <a:solidFill>
                            <a:schemeClr val="tx1">
                              <a:lumMod val="65000"/>
                              <a:lumOff val="35000"/>
                            </a:schemeClr>
                          </a:solidFill>
                        </a:rPr>
                        <a:t>3</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57%</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1">
                          <a:solidFill>
                            <a:schemeClr val="tx1">
                              <a:lumMod val="65000"/>
                              <a:lumOff val="35000"/>
                            </a:schemeClr>
                          </a:solidFill>
                        </a:rPr>
                        <a:t>63%</a:t>
                      </a:r>
                      <a:r>
                        <a:rPr lang="en-US" sz="1200" b="1" baseline="50000">
                          <a:solidFill>
                            <a:schemeClr val="tx1">
                              <a:lumMod val="65000"/>
                              <a:lumOff val="35000"/>
                            </a:schemeClr>
                          </a:solidFill>
                        </a:rPr>
                        <a:t>2,3</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30%</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18%</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70589396"/>
                  </a:ext>
                </a:extLst>
              </a:tr>
              <a:tr h="2294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lumMod val="65000"/>
                              <a:lumOff val="35000"/>
                            </a:schemeClr>
                          </a:solidFill>
                        </a:rPr>
                        <a:t>Tier 2</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1">
                          <a:solidFill>
                            <a:schemeClr val="tx1">
                              <a:lumMod val="65000"/>
                              <a:lumOff val="35000"/>
                            </a:schemeClr>
                          </a:solidFill>
                        </a:rPr>
                        <a:t>85%</a:t>
                      </a:r>
                      <a:r>
                        <a:rPr lang="en-US" sz="1200" b="1" baseline="50000">
                          <a:solidFill>
                            <a:schemeClr val="tx1">
                              <a:lumMod val="65000"/>
                              <a:lumOff val="35000"/>
                            </a:schemeClr>
                          </a:solidFill>
                        </a:rPr>
                        <a:t>3</a:t>
                      </a:r>
                      <a:endParaRPr lang="en-US" sz="1200" b="1">
                        <a:solidFill>
                          <a:schemeClr val="tx1">
                            <a:lumMod val="65000"/>
                            <a:lumOff val="35000"/>
                          </a:schemeClr>
                        </a:solidFill>
                      </a:endParaRP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1">
                          <a:solidFill>
                            <a:schemeClr val="tx1">
                              <a:lumMod val="65000"/>
                              <a:lumOff val="35000"/>
                            </a:schemeClr>
                          </a:solidFill>
                        </a:rPr>
                        <a:t>93%</a:t>
                      </a:r>
                      <a:r>
                        <a:rPr lang="en-US" sz="1200" b="1" baseline="50000">
                          <a:solidFill>
                            <a:schemeClr val="tx1">
                              <a:lumMod val="65000"/>
                              <a:lumOff val="35000"/>
                            </a:schemeClr>
                          </a:solidFill>
                        </a:rPr>
                        <a:t>1</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20%</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38%</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18%</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180040"/>
                  </a:ext>
                </a:extLst>
              </a:tr>
              <a:tr h="2294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lumMod val="65000"/>
                              <a:lumOff val="35000"/>
                            </a:schemeClr>
                          </a:solidFill>
                        </a:rPr>
                        <a:t>Tier 3</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21%</a:t>
                      </a:r>
                      <a:endParaRPr lang="en-US" sz="1200" b="0" baseline="40000">
                        <a:solidFill>
                          <a:schemeClr val="tx1">
                            <a:lumMod val="65000"/>
                            <a:lumOff val="35000"/>
                          </a:schemeClr>
                        </a:solidFill>
                      </a:endParaRP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1">
                          <a:solidFill>
                            <a:schemeClr val="tx1">
                              <a:lumMod val="65000"/>
                              <a:lumOff val="35000"/>
                            </a:schemeClr>
                          </a:solidFill>
                        </a:rPr>
                        <a:t>76%</a:t>
                      </a:r>
                      <a:r>
                        <a:rPr lang="en-US" sz="1200" b="1" baseline="50000">
                          <a:solidFill>
                            <a:schemeClr val="tx1">
                              <a:lumMod val="65000"/>
                              <a:lumOff val="35000"/>
                            </a:schemeClr>
                          </a:solidFill>
                        </a:rPr>
                        <a:t>1</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41%</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1">
                          <a:solidFill>
                            <a:schemeClr val="tx1">
                              <a:lumMod val="65000"/>
                              <a:lumOff val="35000"/>
                            </a:schemeClr>
                          </a:solidFill>
                        </a:rPr>
                        <a:t>79%</a:t>
                      </a:r>
                      <a:r>
                        <a:rPr lang="en-US" sz="1200" b="1" baseline="50000">
                          <a:solidFill>
                            <a:schemeClr val="tx1">
                              <a:lumMod val="65000"/>
                              <a:lumOff val="35000"/>
                            </a:schemeClr>
                          </a:solidFill>
                        </a:rPr>
                        <a:t>1,2</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1200" b="0">
                          <a:solidFill>
                            <a:schemeClr val="tx1">
                              <a:lumMod val="65000"/>
                              <a:lumOff val="35000"/>
                            </a:schemeClr>
                          </a:solidFill>
                        </a:rPr>
                        <a:t>14%</a:t>
                      </a:r>
                    </a:p>
                  </a:txBody>
                  <a:tcPr marL="91416" marR="45708"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6381966"/>
                  </a:ext>
                </a:extLst>
              </a:tr>
            </a:tbl>
          </a:graphicData>
        </a:graphic>
      </p:graphicFrame>
      <p:sp>
        <p:nvSpPr>
          <p:cNvPr id="3" name="TextBox 2">
            <a:extLst>
              <a:ext uri="{FF2B5EF4-FFF2-40B4-BE49-F238E27FC236}">
                <a16:creationId xmlns:a16="http://schemas.microsoft.com/office/drawing/2014/main" id="{B284251A-110D-7D76-8CA1-DC6C5712DE41}"/>
              </a:ext>
            </a:extLst>
          </p:cNvPr>
          <p:cNvSpPr txBox="1"/>
          <p:nvPr/>
        </p:nvSpPr>
        <p:spPr bwMode="gray">
          <a:xfrm>
            <a:off x="1061761" y="1941563"/>
            <a:ext cx="925412" cy="466039"/>
          </a:xfrm>
          <a:prstGeom prst="rect">
            <a:avLst/>
          </a:prstGeom>
        </p:spPr>
        <p:txBody>
          <a:bodyPr wrap="none" lIns="45696" tIns="45696" rIns="45696" bIns="45696" rtlCol="0">
            <a:spAutoFit/>
          </a:bodyPr>
          <a:lstStyle/>
          <a:p>
            <a:pPr>
              <a:lnSpc>
                <a:spcPct val="90000"/>
              </a:lnSpc>
              <a:spcBef>
                <a:spcPts val="1000"/>
              </a:spcBef>
              <a:tabLst>
                <a:tab pos="456926" algn="l"/>
              </a:tabLst>
              <a:defRPr/>
            </a:pPr>
            <a:r>
              <a:rPr lang="en-US" sz="900">
                <a:solidFill>
                  <a:srgbClr val="FFFFFF">
                    <a:lumMod val="50000"/>
                  </a:srgbClr>
                </a:solidFill>
                <a:latin typeface="Arial" panose="020B0604020202020204"/>
              </a:rPr>
              <a:t>(n=200)	TOTAL</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(n=160)	PED</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(n=40)	PCP</a:t>
            </a:r>
          </a:p>
        </p:txBody>
      </p:sp>
      <p:sp>
        <p:nvSpPr>
          <p:cNvPr id="20" name="TextBox 19">
            <a:extLst>
              <a:ext uri="{FF2B5EF4-FFF2-40B4-BE49-F238E27FC236}">
                <a16:creationId xmlns:a16="http://schemas.microsoft.com/office/drawing/2014/main" id="{FCA9AA76-21EB-1B14-205C-1CCECE9342FF}"/>
              </a:ext>
            </a:extLst>
          </p:cNvPr>
          <p:cNvSpPr txBox="1"/>
          <p:nvPr/>
        </p:nvSpPr>
        <p:spPr bwMode="gray">
          <a:xfrm>
            <a:off x="6425538" y="2122540"/>
            <a:ext cx="316030" cy="256413"/>
          </a:xfrm>
          <a:prstGeom prst="rect">
            <a:avLst/>
          </a:prstGeom>
          <a:noFill/>
        </p:spPr>
        <p:txBody>
          <a:bodyPr wrap="none">
            <a:spAutoFit/>
          </a:bodyPr>
          <a:lstStyle/>
          <a:p>
            <a:pPr algn="ctr">
              <a:defRPr/>
            </a:pPr>
            <a:r>
              <a:rPr lang="en-US" sz="1600" baseline="25000">
                <a:solidFill>
                  <a:srgbClr val="595959"/>
                </a:solidFill>
                <a:latin typeface="Arial" panose="020B0604020202020204"/>
              </a:rPr>
              <a:t>|</a:t>
            </a:r>
            <a:r>
              <a:rPr lang="en-US" sz="1600" baseline="20000">
                <a:solidFill>
                  <a:srgbClr val="000000">
                    <a:lumMod val="65000"/>
                    <a:lumOff val="35000"/>
                  </a:srgbClr>
                </a:solidFill>
                <a:latin typeface="Arial" panose="020B0604020202020204"/>
              </a:rPr>
              <a:t> </a:t>
            </a:r>
            <a:r>
              <a:rPr lang="en-US" sz="1000" baseline="75000">
                <a:solidFill>
                  <a:srgbClr val="595959"/>
                </a:solidFill>
                <a:latin typeface="Arial" panose="020B0604020202020204"/>
              </a:rPr>
              <a:t>A</a:t>
            </a:r>
          </a:p>
        </p:txBody>
      </p:sp>
      <p:sp>
        <p:nvSpPr>
          <p:cNvPr id="22" name="TextBox 21">
            <a:extLst>
              <a:ext uri="{FF2B5EF4-FFF2-40B4-BE49-F238E27FC236}">
                <a16:creationId xmlns:a16="http://schemas.microsoft.com/office/drawing/2014/main" id="{706CDB32-5EFB-BD68-9A6E-B7FEC6601A72}"/>
              </a:ext>
            </a:extLst>
          </p:cNvPr>
          <p:cNvSpPr txBox="1"/>
          <p:nvPr/>
        </p:nvSpPr>
        <p:spPr bwMode="gray">
          <a:xfrm>
            <a:off x="7888197" y="2122540"/>
            <a:ext cx="316030" cy="256413"/>
          </a:xfrm>
          <a:prstGeom prst="rect">
            <a:avLst/>
          </a:prstGeom>
          <a:noFill/>
        </p:spPr>
        <p:txBody>
          <a:bodyPr wrap="none">
            <a:spAutoFit/>
          </a:bodyPr>
          <a:lstStyle/>
          <a:p>
            <a:pPr algn="ctr">
              <a:defRPr/>
            </a:pPr>
            <a:r>
              <a:rPr lang="en-US" sz="1600" baseline="25000">
                <a:solidFill>
                  <a:srgbClr val="595959"/>
                </a:solidFill>
                <a:latin typeface="Arial" panose="020B0604020202020204"/>
              </a:rPr>
              <a:t>|</a:t>
            </a:r>
            <a:r>
              <a:rPr lang="en-US" sz="1600" baseline="20000">
                <a:solidFill>
                  <a:srgbClr val="000000">
                    <a:lumMod val="65000"/>
                    <a:lumOff val="35000"/>
                  </a:srgbClr>
                </a:solidFill>
                <a:latin typeface="Arial" panose="020B0604020202020204"/>
              </a:rPr>
              <a:t> </a:t>
            </a:r>
            <a:r>
              <a:rPr lang="en-US" sz="1000" baseline="75000">
                <a:solidFill>
                  <a:srgbClr val="595959"/>
                </a:solidFill>
                <a:latin typeface="Arial" panose="020B0604020202020204"/>
              </a:rPr>
              <a:t>B</a:t>
            </a:r>
          </a:p>
        </p:txBody>
      </p:sp>
      <p:sp>
        <p:nvSpPr>
          <p:cNvPr id="13" name="Text Placeholder 2">
            <a:extLst>
              <a:ext uri="{FF2B5EF4-FFF2-40B4-BE49-F238E27FC236}">
                <a16:creationId xmlns:a16="http://schemas.microsoft.com/office/drawing/2014/main" id="{B3B6B944-21A2-0643-8FB1-50274B3ADC41}"/>
              </a:ext>
            </a:extLst>
          </p:cNvPr>
          <p:cNvSpPr txBox="1">
            <a:spLocks/>
          </p:cNvSpPr>
          <p:nvPr/>
        </p:nvSpPr>
        <p:spPr bwMode="gray">
          <a:xfrm>
            <a:off x="2772929" y="2669776"/>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16" name="Text Placeholder 2">
            <a:extLst>
              <a:ext uri="{FF2B5EF4-FFF2-40B4-BE49-F238E27FC236}">
                <a16:creationId xmlns:a16="http://schemas.microsoft.com/office/drawing/2014/main" id="{9ECAFACF-5636-565A-6EC4-7CDBF39F64D3}"/>
              </a:ext>
            </a:extLst>
          </p:cNvPr>
          <p:cNvSpPr txBox="1">
            <a:spLocks/>
          </p:cNvSpPr>
          <p:nvPr/>
        </p:nvSpPr>
        <p:spPr bwMode="gray">
          <a:xfrm>
            <a:off x="3339245" y="2710092"/>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17" name="Text Placeholder 2">
            <a:extLst>
              <a:ext uri="{FF2B5EF4-FFF2-40B4-BE49-F238E27FC236}">
                <a16:creationId xmlns:a16="http://schemas.microsoft.com/office/drawing/2014/main" id="{1C5CC9A4-8CC3-9F8F-3734-8358003B2AC8}"/>
              </a:ext>
            </a:extLst>
          </p:cNvPr>
          <p:cNvSpPr txBox="1">
            <a:spLocks/>
          </p:cNvSpPr>
          <p:nvPr/>
        </p:nvSpPr>
        <p:spPr bwMode="gray">
          <a:xfrm>
            <a:off x="3454131" y="5551898"/>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21" name="TextBox 20">
            <a:extLst>
              <a:ext uri="{FF2B5EF4-FFF2-40B4-BE49-F238E27FC236}">
                <a16:creationId xmlns:a16="http://schemas.microsoft.com/office/drawing/2014/main" id="{D7BC23A2-8251-5615-BC86-67B332C598EB}"/>
              </a:ext>
            </a:extLst>
          </p:cNvPr>
          <p:cNvSpPr txBox="1"/>
          <p:nvPr/>
        </p:nvSpPr>
        <p:spPr bwMode="gray">
          <a:xfrm>
            <a:off x="1939836" y="2764017"/>
            <a:ext cx="638879" cy="332385"/>
          </a:xfrm>
          <a:prstGeom prst="rect">
            <a:avLst/>
          </a:prstGeom>
          <a:solidFill>
            <a:schemeClr val="bg1">
              <a:lumMod val="95000"/>
            </a:schemeClr>
          </a:solidFill>
          <a:ln w="12700">
            <a:solidFill>
              <a:schemeClr val="tx1">
                <a:lumMod val="50000"/>
                <a:lumOff val="50000"/>
              </a:schemeClr>
            </a:solidFill>
            <a:prstDash val="solid"/>
          </a:ln>
        </p:spPr>
        <p:txBody>
          <a:bodyPr wrap="square" lIns="27425" tIns="27425" rIns="27425" bIns="27425" rtlCol="0" anchor="ctr" anchorCtr="0">
            <a:spAutoFit/>
          </a:bodyPr>
          <a:lstStyle/>
          <a:p>
            <a:pPr algn="ctr">
              <a:defRPr/>
            </a:pPr>
            <a:r>
              <a:rPr lang="en-US" sz="900">
                <a:solidFill>
                  <a:srgbClr val="000000">
                    <a:lumMod val="50000"/>
                    <a:lumOff val="50000"/>
                  </a:srgbClr>
                </a:solidFill>
                <a:latin typeface="Arial" panose="020B0604020202020204"/>
              </a:rPr>
              <a:t>High Public</a:t>
            </a:r>
            <a:endParaRPr lang="en-US" sz="900">
              <a:solidFill>
                <a:srgbClr val="000000">
                  <a:lumMod val="50000"/>
                  <a:lumOff val="50000"/>
                </a:srgbClr>
              </a:solidFill>
              <a:latin typeface="Arial" panose="020B0604020202020204"/>
              <a:sym typeface="Symbol" panose="05050102010706020507" pitchFamily="18" charset="2"/>
            </a:endParaRPr>
          </a:p>
          <a:p>
            <a:pPr algn="ctr">
              <a:defRPr/>
            </a:pPr>
            <a:r>
              <a:rPr lang="en-US" sz="900">
                <a:solidFill>
                  <a:srgbClr val="000000">
                    <a:lumMod val="50000"/>
                    <a:lumOff val="50000"/>
                  </a:srgbClr>
                </a:solidFill>
                <a:latin typeface="Arial" panose="020B0604020202020204"/>
              </a:rPr>
              <a:t>&gt; Others</a:t>
            </a:r>
          </a:p>
        </p:txBody>
      </p:sp>
      <p:sp>
        <p:nvSpPr>
          <p:cNvPr id="23" name="Text Placeholder 2">
            <a:extLst>
              <a:ext uri="{FF2B5EF4-FFF2-40B4-BE49-F238E27FC236}">
                <a16:creationId xmlns:a16="http://schemas.microsoft.com/office/drawing/2014/main" id="{A5EBFFDC-82F9-91DB-34CA-E8ECF5C36E21}"/>
              </a:ext>
            </a:extLst>
          </p:cNvPr>
          <p:cNvSpPr txBox="1">
            <a:spLocks/>
          </p:cNvSpPr>
          <p:nvPr/>
        </p:nvSpPr>
        <p:spPr bwMode="gray">
          <a:xfrm flipV="1">
            <a:off x="4258662" y="2892009"/>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24" name="Text Placeholder 2">
            <a:extLst>
              <a:ext uri="{FF2B5EF4-FFF2-40B4-BE49-F238E27FC236}">
                <a16:creationId xmlns:a16="http://schemas.microsoft.com/office/drawing/2014/main" id="{98F2AACD-30EB-908F-87B2-0066474B3BF1}"/>
              </a:ext>
            </a:extLst>
          </p:cNvPr>
          <p:cNvSpPr txBox="1">
            <a:spLocks/>
          </p:cNvSpPr>
          <p:nvPr/>
        </p:nvSpPr>
        <p:spPr bwMode="gray">
          <a:xfrm flipV="1">
            <a:off x="4846564" y="2986785"/>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25" name="Text Placeholder 2">
            <a:extLst>
              <a:ext uri="{FF2B5EF4-FFF2-40B4-BE49-F238E27FC236}">
                <a16:creationId xmlns:a16="http://schemas.microsoft.com/office/drawing/2014/main" id="{49D8E179-8EDB-34A3-9BEB-1F5B7AA7C352}"/>
              </a:ext>
            </a:extLst>
          </p:cNvPr>
          <p:cNvSpPr txBox="1">
            <a:spLocks/>
          </p:cNvSpPr>
          <p:nvPr/>
        </p:nvSpPr>
        <p:spPr bwMode="gray">
          <a:xfrm>
            <a:off x="4894903" y="5782855"/>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27" name="Text Placeholder 2">
            <a:extLst>
              <a:ext uri="{FF2B5EF4-FFF2-40B4-BE49-F238E27FC236}">
                <a16:creationId xmlns:a16="http://schemas.microsoft.com/office/drawing/2014/main" id="{1D2C2BA1-5B97-98C6-835F-B0BC5050B4C9}"/>
              </a:ext>
            </a:extLst>
          </p:cNvPr>
          <p:cNvSpPr txBox="1">
            <a:spLocks/>
          </p:cNvSpPr>
          <p:nvPr/>
        </p:nvSpPr>
        <p:spPr bwMode="gray">
          <a:xfrm flipV="1">
            <a:off x="4894903" y="5515135"/>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28" name="Text Placeholder 2">
            <a:extLst>
              <a:ext uri="{FF2B5EF4-FFF2-40B4-BE49-F238E27FC236}">
                <a16:creationId xmlns:a16="http://schemas.microsoft.com/office/drawing/2014/main" id="{85AC2BF9-104B-6C7B-CEB8-4D90527E5278}"/>
              </a:ext>
            </a:extLst>
          </p:cNvPr>
          <p:cNvSpPr txBox="1">
            <a:spLocks/>
          </p:cNvSpPr>
          <p:nvPr/>
        </p:nvSpPr>
        <p:spPr bwMode="gray">
          <a:xfrm flipV="1">
            <a:off x="6320288" y="5734143"/>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29" name="Text Placeholder 2">
            <a:extLst>
              <a:ext uri="{FF2B5EF4-FFF2-40B4-BE49-F238E27FC236}">
                <a16:creationId xmlns:a16="http://schemas.microsoft.com/office/drawing/2014/main" id="{1EA0D1D9-1989-7D76-AD8F-141F4FC008AD}"/>
              </a:ext>
            </a:extLst>
          </p:cNvPr>
          <p:cNvSpPr txBox="1">
            <a:spLocks/>
          </p:cNvSpPr>
          <p:nvPr/>
        </p:nvSpPr>
        <p:spPr bwMode="gray">
          <a:xfrm flipV="1">
            <a:off x="7213434" y="3646078"/>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31" name="Text Placeholder 2">
            <a:extLst>
              <a:ext uri="{FF2B5EF4-FFF2-40B4-BE49-F238E27FC236}">
                <a16:creationId xmlns:a16="http://schemas.microsoft.com/office/drawing/2014/main" id="{52DA3938-25CF-4931-A57C-F3A3C021EBD1}"/>
              </a:ext>
            </a:extLst>
          </p:cNvPr>
          <p:cNvSpPr txBox="1">
            <a:spLocks/>
          </p:cNvSpPr>
          <p:nvPr/>
        </p:nvSpPr>
        <p:spPr bwMode="gray">
          <a:xfrm>
            <a:off x="7779106" y="5772348"/>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32" name="Text Placeholder 2">
            <a:extLst>
              <a:ext uri="{FF2B5EF4-FFF2-40B4-BE49-F238E27FC236}">
                <a16:creationId xmlns:a16="http://schemas.microsoft.com/office/drawing/2014/main" id="{3EA9F6A4-5211-C01A-6419-2D2319869103}"/>
              </a:ext>
            </a:extLst>
          </p:cNvPr>
          <p:cNvSpPr txBox="1">
            <a:spLocks/>
          </p:cNvSpPr>
          <p:nvPr/>
        </p:nvSpPr>
        <p:spPr bwMode="gray">
          <a:xfrm flipV="1">
            <a:off x="7779106" y="5515135"/>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
        <p:nvSpPr>
          <p:cNvPr id="33" name="Text Placeholder 2">
            <a:extLst>
              <a:ext uri="{FF2B5EF4-FFF2-40B4-BE49-F238E27FC236}">
                <a16:creationId xmlns:a16="http://schemas.microsoft.com/office/drawing/2014/main" id="{E9C32F9F-0579-CD5E-68E7-4726777F89A2}"/>
              </a:ext>
            </a:extLst>
          </p:cNvPr>
          <p:cNvSpPr txBox="1">
            <a:spLocks/>
          </p:cNvSpPr>
          <p:nvPr/>
        </p:nvSpPr>
        <p:spPr bwMode="gray">
          <a:xfrm>
            <a:off x="6411265" y="5554141"/>
            <a:ext cx="126266"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FFFF">
                  <a:lumMod val="50000"/>
                </a:srgbClr>
              </a:solidFill>
              <a:latin typeface="Arial" panose="020B0604020202020204"/>
            </a:endParaRPr>
          </a:p>
        </p:txBody>
      </p:sp>
    </p:spTree>
    <p:extLst>
      <p:ext uri="{BB962C8B-B14F-4D97-AF65-F5344CB8AC3E}">
        <p14:creationId xmlns:p14="http://schemas.microsoft.com/office/powerpoint/2010/main" val="259984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3126F-2C81-ACD3-D668-A4C6CDB863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401F01-5D97-D8A7-2CE7-5939A63B7B1E}"/>
              </a:ext>
            </a:extLst>
          </p:cNvPr>
          <p:cNvSpPr>
            <a:spLocks noGrp="1"/>
          </p:cNvSpPr>
          <p:nvPr>
            <p:ph type="title"/>
          </p:nvPr>
        </p:nvSpPr>
        <p:spPr>
          <a:xfrm>
            <a:off x="1145990" y="172853"/>
            <a:ext cx="11113917" cy="558471"/>
          </a:xfrm>
        </p:spPr>
        <p:txBody>
          <a:bodyPr/>
          <a:lstStyle/>
          <a:p>
            <a:r>
              <a:rPr lang="en-US" dirty="0"/>
              <a:t>HCPs anticipate a significant gain in stock of Penbraya within the next three months and a decrease in Bexsero and </a:t>
            </a:r>
            <a:r>
              <a:rPr lang="en-US" dirty="0" err="1"/>
              <a:t>MenQuadfi</a:t>
            </a:r>
            <a:r>
              <a:rPr lang="en-US" dirty="0"/>
              <a:t>; minimal intent to stock </a:t>
            </a:r>
            <a:r>
              <a:rPr lang="en-US" dirty="0" err="1"/>
              <a:t>Penmenvy</a:t>
            </a:r>
            <a:r>
              <a:rPr lang="en-US" dirty="0"/>
              <a:t> in this timeframe</a:t>
            </a:r>
            <a:endParaRPr lang="en-US" i="1" dirty="0"/>
          </a:p>
        </p:txBody>
      </p:sp>
      <p:sp>
        <p:nvSpPr>
          <p:cNvPr id="10" name="Text Placeholder 2">
            <a:extLst>
              <a:ext uri="{FF2B5EF4-FFF2-40B4-BE49-F238E27FC236}">
                <a16:creationId xmlns:a16="http://schemas.microsoft.com/office/drawing/2014/main" id="{E8FC37C0-F20B-614A-2C6E-06E26C84B589}"/>
              </a:ext>
            </a:extLst>
          </p:cNvPr>
          <p:cNvSpPr>
            <a:spLocks noGrp="1"/>
          </p:cNvSpPr>
          <p:nvPr>
            <p:ph type="body" sz="quarter" idx="16"/>
          </p:nvPr>
        </p:nvSpPr>
        <p:spPr>
          <a:xfrm>
            <a:off x="1575159" y="6111758"/>
            <a:ext cx="9232034" cy="630942"/>
          </a:xfrm>
        </p:spPr>
        <p:txBody>
          <a:bodyPr/>
          <a:lstStyle/>
          <a:p>
            <a:r>
              <a:rPr lang="en-US" baseline="30000">
                <a:solidFill>
                  <a:srgbClr val="FF0000"/>
                </a:solidFill>
              </a:rPr>
              <a:t>† </a:t>
            </a:r>
            <a:r>
              <a:rPr lang="en-US">
                <a:solidFill>
                  <a:srgbClr val="FF0000"/>
                </a:solidFill>
              </a:rPr>
              <a:t>Added in Sep‘25 </a:t>
            </a:r>
          </a:p>
          <a:p>
            <a:r>
              <a:rPr lang="en-US">
                <a:solidFill>
                  <a:srgbClr val="FF0000"/>
                </a:solidFill>
                <a:sym typeface="Wingdings 3" panose="05040102010807070707" pitchFamily="18" charset="2"/>
              </a:rPr>
              <a:t></a:t>
            </a:r>
            <a:r>
              <a:rPr lang="en-US">
                <a:sym typeface="Wingdings 3" panose="05040102010807070707" pitchFamily="18" charset="2"/>
              </a:rPr>
              <a:t>/</a:t>
            </a:r>
            <a:r>
              <a:rPr lang="en-US">
                <a:solidFill>
                  <a:srgbClr val="FF0000"/>
                </a:solidFill>
                <a:sym typeface="Wingdings 3" panose="05040102010807070707" pitchFamily="18" charset="2"/>
              </a:rPr>
              <a:t></a:t>
            </a:r>
            <a:r>
              <a:rPr lang="en-US">
                <a:sym typeface="Wingdings 3" panose="05040102010807070707" pitchFamily="18" charset="2"/>
              </a:rPr>
              <a:t> = significantly higher/lower than Current Stock</a:t>
            </a:r>
            <a:endParaRPr lang="en-US"/>
          </a:p>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r>
              <a:rPr lang="en-US"/>
              <a:t>C6_1. What percent of your total stock of Meningococcal vaccines does each brand represent? </a:t>
            </a:r>
          </a:p>
        </p:txBody>
      </p:sp>
      <p:graphicFrame>
        <p:nvGraphicFramePr>
          <p:cNvPr id="20" name="Chart 19">
            <a:extLst>
              <a:ext uri="{FF2B5EF4-FFF2-40B4-BE49-F238E27FC236}">
                <a16:creationId xmlns:a16="http://schemas.microsoft.com/office/drawing/2014/main" id="{C59EC137-28DF-A6E8-6777-5F6C48C212CB}"/>
              </a:ext>
            </a:extLst>
          </p:cNvPr>
          <p:cNvGraphicFramePr/>
          <p:nvPr>
            <p:extLst>
              <p:ext uri="{D42A27DB-BD31-4B8C-83A1-F6EECF244321}">
                <p14:modId xmlns:p14="http://schemas.microsoft.com/office/powerpoint/2010/main" val="470255218"/>
              </p:ext>
            </p:extLst>
          </p:nvPr>
        </p:nvGraphicFramePr>
        <p:xfrm>
          <a:off x="4010016" y="2977235"/>
          <a:ext cx="7251166" cy="27516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82883B59-F933-E8DA-847F-E97E342E0A0A}"/>
              </a:ext>
            </a:extLst>
          </p:cNvPr>
          <p:cNvSpPr txBox="1"/>
          <p:nvPr/>
        </p:nvSpPr>
        <p:spPr bwMode="gray">
          <a:xfrm>
            <a:off x="7921960" y="5004817"/>
            <a:ext cx="1219252"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MenACWY</a:t>
            </a:r>
            <a:endParaRPr lang="en-US" sz="1600">
              <a:solidFill>
                <a:srgbClr val="000000"/>
              </a:solidFill>
              <a:latin typeface="Arial" panose="020B0604020202020204"/>
            </a:endParaRPr>
          </a:p>
        </p:txBody>
      </p:sp>
      <p:sp>
        <p:nvSpPr>
          <p:cNvPr id="7" name="TextBox 6">
            <a:extLst>
              <a:ext uri="{FF2B5EF4-FFF2-40B4-BE49-F238E27FC236}">
                <a16:creationId xmlns:a16="http://schemas.microsoft.com/office/drawing/2014/main" id="{5BF0D446-48DE-0425-5FB5-D3F9A7E53A13}"/>
              </a:ext>
            </a:extLst>
          </p:cNvPr>
          <p:cNvSpPr txBox="1"/>
          <p:nvPr/>
        </p:nvSpPr>
        <p:spPr bwMode="gray">
          <a:xfrm>
            <a:off x="7921962" y="4177134"/>
            <a:ext cx="741932"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MenB</a:t>
            </a:r>
            <a:endParaRPr lang="en-US" sz="1600">
              <a:solidFill>
                <a:srgbClr val="000000"/>
              </a:solidFill>
              <a:latin typeface="Arial" panose="020B0604020202020204"/>
            </a:endParaRPr>
          </a:p>
        </p:txBody>
      </p:sp>
      <p:sp>
        <p:nvSpPr>
          <p:cNvPr id="8" name="TextBox 7">
            <a:extLst>
              <a:ext uri="{FF2B5EF4-FFF2-40B4-BE49-F238E27FC236}">
                <a16:creationId xmlns:a16="http://schemas.microsoft.com/office/drawing/2014/main" id="{176E7ED1-F2A1-DD40-2E62-10A66C9A7D1E}"/>
              </a:ext>
            </a:extLst>
          </p:cNvPr>
          <p:cNvSpPr txBox="1"/>
          <p:nvPr/>
        </p:nvSpPr>
        <p:spPr bwMode="gray">
          <a:xfrm>
            <a:off x="7921960" y="3349451"/>
            <a:ext cx="1366614"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MenABCWY</a:t>
            </a:r>
            <a:endParaRPr lang="en-US" sz="1600">
              <a:solidFill>
                <a:srgbClr val="000000"/>
              </a:solidFill>
              <a:latin typeface="Arial" panose="020B0604020202020204"/>
            </a:endParaRPr>
          </a:p>
        </p:txBody>
      </p:sp>
      <p:grpSp>
        <p:nvGrpSpPr>
          <p:cNvPr id="27" name="Group 26">
            <a:extLst>
              <a:ext uri="{FF2B5EF4-FFF2-40B4-BE49-F238E27FC236}">
                <a16:creationId xmlns:a16="http://schemas.microsoft.com/office/drawing/2014/main" id="{C8747027-DAE7-B83A-97D8-1A2DE2456CF3}"/>
              </a:ext>
            </a:extLst>
          </p:cNvPr>
          <p:cNvGrpSpPr/>
          <p:nvPr/>
        </p:nvGrpSpPr>
        <p:grpSpPr>
          <a:xfrm>
            <a:off x="7776136" y="3980804"/>
            <a:ext cx="140859" cy="730950"/>
            <a:chOff x="6145530" y="3464632"/>
            <a:chExt cx="140970" cy="731520"/>
          </a:xfrm>
        </p:grpSpPr>
        <p:cxnSp>
          <p:nvCxnSpPr>
            <p:cNvPr id="18" name="Straight Connector 17">
              <a:extLst>
                <a:ext uri="{FF2B5EF4-FFF2-40B4-BE49-F238E27FC236}">
                  <a16:creationId xmlns:a16="http://schemas.microsoft.com/office/drawing/2014/main" id="{7327B2B4-9DE4-CCDE-FA47-CD50A2C8AF4C}"/>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8CA015B-5FE9-392B-7786-99EB628B9074}"/>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16" name="TextBox 15">
            <a:extLst>
              <a:ext uri="{FF2B5EF4-FFF2-40B4-BE49-F238E27FC236}">
                <a16:creationId xmlns:a16="http://schemas.microsoft.com/office/drawing/2014/main" id="{9FF429BD-9158-8F31-D44E-75C31AD15D9C}"/>
              </a:ext>
            </a:extLst>
          </p:cNvPr>
          <p:cNvSpPr txBox="1"/>
          <p:nvPr/>
        </p:nvSpPr>
        <p:spPr bwMode="gray">
          <a:xfrm>
            <a:off x="3431243" y="1654856"/>
            <a:ext cx="5345814" cy="725126"/>
          </a:xfrm>
          <a:prstGeom prst="rect">
            <a:avLst/>
          </a:prstGeom>
        </p:spPr>
        <p:txBody>
          <a:bodyPr wrap="none" lIns="45684" tIns="45684" rIns="45684" bIns="45684" rtlCol="0">
            <a:spAutoFit/>
          </a:bodyPr>
          <a:lstStyle/>
          <a:p>
            <a:pPr algn="ctr" defTabSz="914126">
              <a:lnSpc>
                <a:spcPct val="90000"/>
              </a:lnSpc>
              <a:spcAft>
                <a:spcPts val="400"/>
              </a:spcAft>
              <a:defRPr/>
            </a:pPr>
            <a:r>
              <a:rPr lang="en-US" sz="1799" b="1">
                <a:solidFill>
                  <a:srgbClr val="0000C9"/>
                </a:solidFill>
                <a:latin typeface="Arial" panose="020B0604020202020204"/>
              </a:rPr>
              <a:t>Current </a:t>
            </a:r>
            <a:r>
              <a:rPr lang="en-US" sz="1799" b="1" u="sng">
                <a:solidFill>
                  <a:srgbClr val="0000C9"/>
                </a:solidFill>
                <a:latin typeface="Arial" panose="020B0604020202020204"/>
              </a:rPr>
              <a:t>Share</a:t>
            </a:r>
            <a:r>
              <a:rPr lang="en-US" sz="1799" b="1">
                <a:solidFill>
                  <a:srgbClr val="0000C9"/>
                </a:solidFill>
                <a:latin typeface="Arial" panose="020B0604020202020204"/>
              </a:rPr>
              <a:t> of Total </a:t>
            </a:r>
            <a:r>
              <a:rPr lang="en-US" sz="1797" b="1">
                <a:solidFill>
                  <a:srgbClr val="0000C9"/>
                </a:solidFill>
                <a:latin typeface="Arial" panose="020B0604020202020204"/>
              </a:rPr>
              <a:t>Meningococcal Vx </a:t>
            </a:r>
            <a:r>
              <a:rPr lang="en-US" sz="1799" b="1">
                <a:solidFill>
                  <a:srgbClr val="0000C9"/>
                </a:solidFill>
                <a:latin typeface="Arial" panose="020B0604020202020204"/>
              </a:rPr>
              <a:t>Stock </a:t>
            </a:r>
            <a:br>
              <a:rPr lang="en-US" sz="1799" b="1">
                <a:solidFill>
                  <a:srgbClr val="0000C9"/>
                </a:solidFill>
                <a:latin typeface="Arial" panose="020B0604020202020204"/>
              </a:rPr>
            </a:br>
            <a:r>
              <a:rPr lang="en-US" sz="1400">
                <a:solidFill>
                  <a:srgbClr val="0000C9"/>
                </a:solidFill>
                <a:latin typeface="Arial" panose="020B0604020202020204"/>
              </a:rPr>
              <a:t>(Past Month)</a:t>
            </a:r>
            <a:endParaRPr lang="en-US" sz="1797">
              <a:solidFill>
                <a:srgbClr val="0000C9"/>
              </a:solidFill>
              <a:latin typeface="Arial" panose="020B0604020202020204"/>
            </a:endParaRPr>
          </a:p>
          <a:p>
            <a:pPr algn="ctr" defTabSz="914126">
              <a:lnSpc>
                <a:spcPct val="90000"/>
              </a:lnSpc>
              <a:spcAft>
                <a:spcPts val="400"/>
              </a:spcAft>
              <a:defRPr/>
            </a:pPr>
            <a:endParaRPr lang="en-US" sz="1000">
              <a:solidFill>
                <a:srgbClr val="FFFFFF">
                  <a:lumMod val="50000"/>
                </a:srgbClr>
              </a:solidFill>
              <a:latin typeface="Arial" panose="020B0604020202020204"/>
            </a:endParaRPr>
          </a:p>
        </p:txBody>
      </p:sp>
      <p:sp>
        <p:nvSpPr>
          <p:cNvPr id="24" name="TextBox 23">
            <a:extLst>
              <a:ext uri="{FF2B5EF4-FFF2-40B4-BE49-F238E27FC236}">
                <a16:creationId xmlns:a16="http://schemas.microsoft.com/office/drawing/2014/main" id="{409C5ADF-CCB0-9696-A6F6-F89663D859DE}"/>
              </a:ext>
            </a:extLst>
          </p:cNvPr>
          <p:cNvSpPr txBox="1"/>
          <p:nvPr/>
        </p:nvSpPr>
        <p:spPr bwMode="gray">
          <a:xfrm>
            <a:off x="4040322" y="2280741"/>
            <a:ext cx="1506041" cy="445371"/>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rgbClr val="000000"/>
                </a:solidFill>
                <a:latin typeface="Arial" panose="020B0604020202020204"/>
              </a:rPr>
              <a:t>Current Stock</a:t>
            </a:r>
          </a:p>
          <a:p>
            <a:pPr algn="ctr" defTabSz="914126">
              <a:defRPr/>
            </a:pPr>
            <a:r>
              <a:rPr lang="en-US" sz="1100">
                <a:solidFill>
                  <a:srgbClr val="000000"/>
                </a:solidFill>
                <a:latin typeface="Arial" panose="020B0604020202020204"/>
              </a:rPr>
              <a:t>(Past Month)</a:t>
            </a:r>
            <a:endParaRPr lang="en-US" sz="1400">
              <a:solidFill>
                <a:srgbClr val="000000"/>
              </a:solidFill>
              <a:latin typeface="Arial" panose="020B0604020202020204"/>
            </a:endParaRPr>
          </a:p>
        </p:txBody>
      </p:sp>
      <p:grpSp>
        <p:nvGrpSpPr>
          <p:cNvPr id="1026" name="Group 1025">
            <a:extLst>
              <a:ext uri="{FF2B5EF4-FFF2-40B4-BE49-F238E27FC236}">
                <a16:creationId xmlns:a16="http://schemas.microsoft.com/office/drawing/2014/main" id="{39CD5A3C-EFDA-1AFE-2031-F800594D26C1}"/>
              </a:ext>
            </a:extLst>
          </p:cNvPr>
          <p:cNvGrpSpPr/>
          <p:nvPr/>
        </p:nvGrpSpPr>
        <p:grpSpPr>
          <a:xfrm>
            <a:off x="7776136" y="4808487"/>
            <a:ext cx="140859" cy="730950"/>
            <a:chOff x="6145530" y="3464632"/>
            <a:chExt cx="140970" cy="731520"/>
          </a:xfrm>
        </p:grpSpPr>
        <p:cxnSp>
          <p:nvCxnSpPr>
            <p:cNvPr id="1027" name="Straight Connector 1026">
              <a:extLst>
                <a:ext uri="{FF2B5EF4-FFF2-40B4-BE49-F238E27FC236}">
                  <a16:creationId xmlns:a16="http://schemas.microsoft.com/office/drawing/2014/main" id="{7BA32BAF-2024-29BC-5DE1-E982DC1F15B7}"/>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1028" name="Straight Connector 1027">
              <a:extLst>
                <a:ext uri="{FF2B5EF4-FFF2-40B4-BE49-F238E27FC236}">
                  <a16:creationId xmlns:a16="http://schemas.microsoft.com/office/drawing/2014/main" id="{05AD0542-BB69-9FC0-F63D-8CEA907087A4}"/>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19" name="Rectangle: Rounded Corners 18">
            <a:extLst>
              <a:ext uri="{FF2B5EF4-FFF2-40B4-BE49-F238E27FC236}">
                <a16:creationId xmlns:a16="http://schemas.microsoft.com/office/drawing/2014/main" id="{F91F4320-3EBD-80C3-D54B-0BFE3A1600B2}"/>
              </a:ext>
            </a:extLst>
          </p:cNvPr>
          <p:cNvSpPr/>
          <p:nvPr/>
        </p:nvSpPr>
        <p:spPr bwMode="gray">
          <a:xfrm>
            <a:off x="955020" y="1544757"/>
            <a:ext cx="10298228" cy="4244601"/>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357" tIns="45679" rIns="91357" bIns="45679"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7" b="1">
              <a:solidFill>
                <a:srgbClr val="0000C9"/>
              </a:solidFill>
              <a:latin typeface="Arial" panose="020B0604020202020204"/>
            </a:endParaRPr>
          </a:p>
        </p:txBody>
      </p:sp>
      <p:grpSp>
        <p:nvGrpSpPr>
          <p:cNvPr id="4" name="Group 3">
            <a:extLst>
              <a:ext uri="{FF2B5EF4-FFF2-40B4-BE49-F238E27FC236}">
                <a16:creationId xmlns:a16="http://schemas.microsoft.com/office/drawing/2014/main" id="{251F2DA0-9402-F6DA-EEDD-47BF2308185D}"/>
              </a:ext>
            </a:extLst>
          </p:cNvPr>
          <p:cNvGrpSpPr/>
          <p:nvPr/>
        </p:nvGrpSpPr>
        <p:grpSpPr>
          <a:xfrm>
            <a:off x="1077645" y="1601747"/>
            <a:ext cx="649671" cy="538702"/>
            <a:chOff x="1686341" y="1600319"/>
            <a:chExt cx="650178" cy="539122"/>
          </a:xfrm>
        </p:grpSpPr>
        <p:cxnSp>
          <p:nvCxnSpPr>
            <p:cNvPr id="9" name="Straight Connector 8">
              <a:extLst>
                <a:ext uri="{FF2B5EF4-FFF2-40B4-BE49-F238E27FC236}">
                  <a16:creationId xmlns:a16="http://schemas.microsoft.com/office/drawing/2014/main" id="{4286A046-2B82-A9ED-88E2-6DFFFE63D79A}"/>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1" name="TextBox 10">
              <a:extLst>
                <a:ext uri="{FF2B5EF4-FFF2-40B4-BE49-F238E27FC236}">
                  <a16:creationId xmlns:a16="http://schemas.microsoft.com/office/drawing/2014/main" id="{BC670EEC-7C23-8D9A-796A-DE6620CACAC3}"/>
                </a:ext>
              </a:extLst>
            </p:cNvPr>
            <p:cNvSpPr txBox="1"/>
            <p:nvPr/>
          </p:nvSpPr>
          <p:spPr bwMode="gray">
            <a:xfrm>
              <a:off x="1686341" y="1600319"/>
              <a:ext cx="650178" cy="539122"/>
            </a:xfrm>
            <a:prstGeom prst="rect">
              <a:avLst/>
            </a:prstGeom>
          </p:spPr>
          <p:txBody>
            <a:bodyPr wrap="none" lIns="45684" tIns="45684" rIns="45684" bIns="45684" rtlCol="0">
              <a:spAutoFit/>
            </a:bodyPr>
            <a:lstStyle/>
            <a:p>
              <a:pPr algn="ctr" defTabSz="914126">
                <a:lnSpc>
                  <a:spcPct val="90000"/>
                </a:lnSpc>
                <a:spcBef>
                  <a:spcPts val="1000"/>
                </a:spcBef>
                <a:defRPr/>
              </a:pPr>
              <a:r>
                <a:rPr lang="en-US" sz="1400">
                  <a:solidFill>
                    <a:srgbClr val="000000"/>
                  </a:solidFill>
                  <a:latin typeface="Arial" panose="020B0604020202020204"/>
                </a:rPr>
                <a:t>Sep’25</a:t>
              </a:r>
            </a:p>
            <a:p>
              <a:pPr algn="ctr" defTabSz="914126">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26" name="TextBox 25">
            <a:extLst>
              <a:ext uri="{FF2B5EF4-FFF2-40B4-BE49-F238E27FC236}">
                <a16:creationId xmlns:a16="http://schemas.microsoft.com/office/drawing/2014/main" id="{A3D2BA9D-B562-C93B-0A21-9151FB6BD8C3}"/>
              </a:ext>
            </a:extLst>
          </p:cNvPr>
          <p:cNvSpPr txBox="1"/>
          <p:nvPr/>
        </p:nvSpPr>
        <p:spPr bwMode="gray">
          <a:xfrm>
            <a:off x="1284990" y="768430"/>
            <a:ext cx="10604596" cy="499050"/>
          </a:xfrm>
          <a:prstGeom prst="rect">
            <a:avLst/>
          </a:prstGeom>
        </p:spPr>
        <p:txBody>
          <a:bodyPr wrap="square" lIns="45696" tIns="45696" rIns="45696" bIns="45696" rtlCol="0">
            <a:noAutofit/>
          </a:bodyPr>
          <a:lstStyle/>
          <a:p>
            <a:pPr marL="171348" indent="-171348" defTabSz="914126">
              <a:buFont typeface="Arial" panose="020B0604020202020204" pitchFamily="34" charset="0"/>
              <a:buChar char="•"/>
              <a:defRPr/>
            </a:pPr>
            <a:r>
              <a:rPr lang="en-US" sz="1400" dirty="0">
                <a:solidFill>
                  <a:srgbClr val="FFFFFF">
                    <a:lumMod val="50000"/>
                  </a:srgbClr>
                </a:solidFill>
                <a:latin typeface="Arial" panose="020B0604020202020204"/>
              </a:rPr>
              <a:t>PCPs significantly outpace PEDs in current and anticipated stocking of Penbraya </a:t>
            </a:r>
          </a:p>
          <a:p>
            <a:pPr marL="171348" indent="-171348" defTabSz="914126">
              <a:spcBef>
                <a:spcPts val="600"/>
              </a:spcBef>
              <a:buFont typeface="Arial" panose="020B0604020202020204" pitchFamily="34" charset="0"/>
              <a:buChar char="•"/>
              <a:defRPr/>
            </a:pPr>
            <a:endParaRPr lang="en-US" sz="1400" dirty="0">
              <a:solidFill>
                <a:srgbClr val="FFFFFF">
                  <a:lumMod val="50000"/>
                </a:srgbClr>
              </a:solidFill>
              <a:latin typeface="Arial" panose="020B0604020202020204"/>
            </a:endParaRPr>
          </a:p>
        </p:txBody>
      </p:sp>
      <p:sp>
        <p:nvSpPr>
          <p:cNvPr id="3" name="TextBox 2">
            <a:extLst>
              <a:ext uri="{FF2B5EF4-FFF2-40B4-BE49-F238E27FC236}">
                <a16:creationId xmlns:a16="http://schemas.microsoft.com/office/drawing/2014/main" id="{5CE52480-5B1F-1342-C9CE-F4045D51711B}"/>
              </a:ext>
            </a:extLst>
          </p:cNvPr>
          <p:cNvSpPr txBox="1"/>
          <p:nvPr/>
        </p:nvSpPr>
        <p:spPr bwMode="gray">
          <a:xfrm>
            <a:off x="11579312" y="30955"/>
            <a:ext cx="556914" cy="244554"/>
          </a:xfrm>
          <a:prstGeom prst="rect">
            <a:avLst/>
          </a:prstGeom>
        </p:spPr>
        <p:txBody>
          <a:bodyPr wrap="none" lIns="45696" tIns="45696" rIns="45696" bIns="45696"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26">
              <a:lnSpc>
                <a:spcPct val="90000"/>
              </a:lnSpc>
              <a:spcBef>
                <a:spcPts val="1000"/>
              </a:spcBef>
            </a:pPr>
            <a:r>
              <a:rPr lang="en-US" sz="1100" i="1">
                <a:solidFill>
                  <a:srgbClr val="FFFFFF">
                    <a:lumMod val="65000"/>
                  </a:srgbClr>
                </a:solidFill>
                <a:latin typeface="Arial" panose="020B0604020202020204"/>
              </a:rPr>
              <a:t>Topline</a:t>
            </a:r>
          </a:p>
        </p:txBody>
      </p:sp>
      <p:grpSp>
        <p:nvGrpSpPr>
          <p:cNvPr id="25" name="Group 24">
            <a:extLst>
              <a:ext uri="{FF2B5EF4-FFF2-40B4-BE49-F238E27FC236}">
                <a16:creationId xmlns:a16="http://schemas.microsoft.com/office/drawing/2014/main" id="{C28C9855-81E7-F96D-0694-141B5A059720}"/>
              </a:ext>
            </a:extLst>
          </p:cNvPr>
          <p:cNvGrpSpPr/>
          <p:nvPr/>
        </p:nvGrpSpPr>
        <p:grpSpPr>
          <a:xfrm>
            <a:off x="7776136" y="3153121"/>
            <a:ext cx="140859" cy="730950"/>
            <a:chOff x="6145530" y="3464632"/>
            <a:chExt cx="140970" cy="731520"/>
          </a:xfrm>
        </p:grpSpPr>
        <p:cxnSp>
          <p:nvCxnSpPr>
            <p:cNvPr id="28" name="Straight Connector 27">
              <a:extLst>
                <a:ext uri="{FF2B5EF4-FFF2-40B4-BE49-F238E27FC236}">
                  <a16:creationId xmlns:a16="http://schemas.microsoft.com/office/drawing/2014/main" id="{B5FD69EB-7BFC-D79B-5457-211EFC90CE58}"/>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E3A150EB-0A94-E309-4F74-05A73B134A37}"/>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39" name="TextBox 38">
            <a:extLst>
              <a:ext uri="{FF2B5EF4-FFF2-40B4-BE49-F238E27FC236}">
                <a16:creationId xmlns:a16="http://schemas.microsoft.com/office/drawing/2014/main" id="{B7D99B6F-8BC2-3258-CCC2-88A59C3CF13F}"/>
              </a:ext>
            </a:extLst>
          </p:cNvPr>
          <p:cNvSpPr txBox="1"/>
          <p:nvPr/>
        </p:nvSpPr>
        <p:spPr bwMode="gray">
          <a:xfrm>
            <a:off x="7529114" y="3575672"/>
            <a:ext cx="159575" cy="286082"/>
          </a:xfrm>
          <a:prstGeom prst="rect">
            <a:avLst/>
          </a:prstGeom>
        </p:spPr>
        <p:txBody>
          <a:bodyPr wrap="none" lIns="45696" tIns="45696" rIns="45696" bIns="45696" rtlCol="0">
            <a:spAutoFit/>
          </a:bodyPr>
          <a:lstStyle/>
          <a:p>
            <a:pPr algn="ctr" defTabSz="914126">
              <a:lnSpc>
                <a:spcPct val="90000"/>
              </a:lnSpc>
              <a:spcAft>
                <a:spcPts val="400"/>
              </a:spcAft>
            </a:pPr>
            <a:r>
              <a:rPr lang="en-US" sz="1400" baseline="30000">
                <a:solidFill>
                  <a:srgbClr val="FF0000"/>
                </a:solidFill>
                <a:latin typeface="Arial" panose="020B0604020202020204"/>
              </a:rPr>
              <a:t>†</a:t>
            </a:r>
            <a:endParaRPr lang="en-US" sz="1798" b="1">
              <a:solidFill>
                <a:srgbClr val="FF0000"/>
              </a:solidFill>
              <a:latin typeface="Arial" panose="020B0604020202020204"/>
            </a:endParaRPr>
          </a:p>
        </p:txBody>
      </p:sp>
      <p:sp>
        <p:nvSpPr>
          <p:cNvPr id="17" name="TextBox 16">
            <a:extLst>
              <a:ext uri="{FF2B5EF4-FFF2-40B4-BE49-F238E27FC236}">
                <a16:creationId xmlns:a16="http://schemas.microsoft.com/office/drawing/2014/main" id="{A18C0D34-0D9C-1B23-0E17-355FC6057F69}"/>
              </a:ext>
            </a:extLst>
          </p:cNvPr>
          <p:cNvSpPr txBox="1"/>
          <p:nvPr/>
        </p:nvSpPr>
        <p:spPr bwMode="gray">
          <a:xfrm>
            <a:off x="992401" y="1312306"/>
            <a:ext cx="825049" cy="338114"/>
          </a:xfrm>
          <a:prstGeom prst="rect">
            <a:avLst/>
          </a:prstGeom>
          <a:noFill/>
        </p:spPr>
        <p:txBody>
          <a:bodyPr wrap="none">
            <a:spAutoFit/>
          </a:bodyPr>
          <a:lstStyle/>
          <a:p>
            <a:pPr defTabSz="914126">
              <a:defRPr/>
            </a:pPr>
            <a:r>
              <a:rPr lang="en-US" sz="1600">
                <a:solidFill>
                  <a:srgbClr val="000000"/>
                </a:solidFill>
                <a:latin typeface="Arial" panose="020B0604020202020204"/>
              </a:rPr>
              <a:t>TOTAL</a:t>
            </a:r>
          </a:p>
        </p:txBody>
      </p:sp>
      <p:sp>
        <p:nvSpPr>
          <p:cNvPr id="30" name="TextBox 29">
            <a:extLst>
              <a:ext uri="{FF2B5EF4-FFF2-40B4-BE49-F238E27FC236}">
                <a16:creationId xmlns:a16="http://schemas.microsoft.com/office/drawing/2014/main" id="{561AE553-EA12-B246-9BC5-BD3E2BC01181}"/>
              </a:ext>
            </a:extLst>
          </p:cNvPr>
          <p:cNvSpPr txBox="1"/>
          <p:nvPr/>
        </p:nvSpPr>
        <p:spPr bwMode="gray">
          <a:xfrm>
            <a:off x="3734516" y="3098148"/>
            <a:ext cx="651377" cy="332225"/>
          </a:xfrm>
          <a:prstGeom prst="rect">
            <a:avLst/>
          </a:prstGeom>
          <a:solidFill>
            <a:schemeClr val="bg1"/>
          </a:solidFill>
          <a:ln w="12700">
            <a:solidFill>
              <a:srgbClr val="937DAD"/>
            </a:solidFill>
            <a:prstDash val="sysDash"/>
          </a:ln>
        </p:spPr>
        <p:txBody>
          <a:bodyPr wrap="none" lIns="27418" tIns="27418" rIns="27418" bIns="27418" rtlCol="0" anchor="ctr" anchorCtr="0">
            <a:spAutoFit/>
          </a:bodyPr>
          <a:lstStyle/>
          <a:p>
            <a:pPr defTabSz="914126">
              <a:defRPr/>
            </a:pPr>
            <a:r>
              <a:rPr lang="en-US" sz="900">
                <a:solidFill>
                  <a:srgbClr val="000000">
                    <a:lumMod val="50000"/>
                    <a:lumOff val="50000"/>
                  </a:srgbClr>
                </a:solidFill>
                <a:latin typeface="Arial" panose="020B0604020202020204"/>
              </a:rPr>
              <a:t>  3%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&lt;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11% </a:t>
            </a:r>
            <a:r>
              <a:rPr lang="en-US" sz="900">
                <a:solidFill>
                  <a:srgbClr val="000000">
                    <a:lumMod val="50000"/>
                    <a:lumOff val="50000"/>
                  </a:srgbClr>
                </a:solidFill>
                <a:latin typeface="Arial" panose="020B0604020202020204"/>
              </a:rPr>
              <a:t>PCP</a:t>
            </a:r>
          </a:p>
        </p:txBody>
      </p:sp>
      <p:sp>
        <p:nvSpPr>
          <p:cNvPr id="29" name="TextBox 28">
            <a:extLst>
              <a:ext uri="{FF2B5EF4-FFF2-40B4-BE49-F238E27FC236}">
                <a16:creationId xmlns:a16="http://schemas.microsoft.com/office/drawing/2014/main" id="{80CB1018-6DF2-D8B8-B6E4-B04E8BDDC704}"/>
              </a:ext>
            </a:extLst>
          </p:cNvPr>
          <p:cNvSpPr txBox="1"/>
          <p:nvPr/>
        </p:nvSpPr>
        <p:spPr bwMode="gray">
          <a:xfrm>
            <a:off x="3662416" y="4205703"/>
            <a:ext cx="723476" cy="332225"/>
          </a:xfrm>
          <a:prstGeom prst="rect">
            <a:avLst/>
          </a:prstGeom>
          <a:solidFill>
            <a:schemeClr val="bg1"/>
          </a:solidFill>
          <a:ln w="12700">
            <a:solidFill>
              <a:srgbClr val="D80065"/>
            </a:solidFill>
            <a:prstDash val="sysDash"/>
          </a:ln>
        </p:spPr>
        <p:txBody>
          <a:bodyPr wrap="none" lIns="27418" tIns="27418" rIns="27418" bIns="27418" rtlCol="0" anchor="ctr" anchorCtr="0">
            <a:spAutoFit/>
          </a:bodyPr>
          <a:lstStyle/>
          <a:p>
            <a:pPr defTabSz="914126">
              <a:defRPr/>
            </a:pPr>
            <a:r>
              <a:rPr lang="en-US" sz="900">
                <a:solidFill>
                  <a:srgbClr val="000000">
                    <a:lumMod val="50000"/>
                    <a:lumOff val="50000"/>
                  </a:srgbClr>
                </a:solidFill>
                <a:latin typeface="Arial" panose="020B0604020202020204"/>
              </a:rPr>
              <a:t>13%</a:t>
            </a:r>
            <a:r>
              <a:rPr lang="en-US" altLang="en-US" sz="900">
                <a:solidFill>
                  <a:srgbClr val="FF0000"/>
                </a:solidFill>
                <a:latin typeface="Arial" panose="020B0604020202020204"/>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PED</a:t>
            </a:r>
            <a:r>
              <a:rPr lang="en-US" sz="9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&lt;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27%   </a:t>
            </a:r>
            <a:r>
              <a:rPr lang="en-US" sz="900">
                <a:solidFill>
                  <a:srgbClr val="000000">
                    <a:lumMod val="50000"/>
                    <a:lumOff val="50000"/>
                  </a:srgbClr>
                </a:solidFill>
                <a:latin typeface="Arial" panose="020B0604020202020204"/>
              </a:rPr>
              <a:t>PCP</a:t>
            </a:r>
          </a:p>
        </p:txBody>
      </p:sp>
      <p:sp>
        <p:nvSpPr>
          <p:cNvPr id="22" name="TextBox 21">
            <a:extLst>
              <a:ext uri="{FF2B5EF4-FFF2-40B4-BE49-F238E27FC236}">
                <a16:creationId xmlns:a16="http://schemas.microsoft.com/office/drawing/2014/main" id="{3EB8FB9D-2744-15A1-30AF-F30DD25A6943}"/>
              </a:ext>
            </a:extLst>
          </p:cNvPr>
          <p:cNvSpPr txBox="1"/>
          <p:nvPr/>
        </p:nvSpPr>
        <p:spPr bwMode="gray">
          <a:xfrm>
            <a:off x="3665622" y="4931427"/>
            <a:ext cx="720271" cy="332225"/>
          </a:xfrm>
          <a:prstGeom prst="rect">
            <a:avLst/>
          </a:prstGeom>
          <a:solidFill>
            <a:schemeClr val="bg1"/>
          </a:solidFill>
          <a:ln w="12700">
            <a:solidFill>
              <a:srgbClr val="009CED"/>
            </a:solidFill>
            <a:prstDash val="sysDash"/>
          </a:ln>
        </p:spPr>
        <p:txBody>
          <a:bodyPr wrap="none" lIns="27418" tIns="27418" rIns="27418" bIns="27418" rtlCol="0" anchor="ctr" anchorCtr="0">
            <a:spAutoFit/>
          </a:bodyPr>
          <a:lstStyle/>
          <a:p>
            <a:pPr defTabSz="914126">
              <a:defRPr/>
            </a:pPr>
            <a:r>
              <a:rPr lang="en-US" sz="900">
                <a:solidFill>
                  <a:srgbClr val="000000">
                    <a:lumMod val="50000"/>
                    <a:lumOff val="50000"/>
                  </a:srgbClr>
                </a:solidFill>
                <a:latin typeface="Arial" panose="020B0604020202020204"/>
              </a:rPr>
              <a:t>47%</a:t>
            </a:r>
            <a:r>
              <a:rPr lang="en-US" altLang="en-US" sz="900">
                <a:solidFill>
                  <a:srgbClr val="FF0000"/>
                </a:solidFill>
                <a:latin typeface="Arial" panose="020B0604020202020204"/>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&gt;</a:t>
            </a:r>
            <a:br>
              <a:rPr lang="en-US" sz="8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25%   </a:t>
            </a:r>
            <a:r>
              <a:rPr lang="en-US" sz="900">
                <a:solidFill>
                  <a:srgbClr val="000000">
                    <a:lumMod val="50000"/>
                    <a:lumOff val="50000"/>
                  </a:srgbClr>
                </a:solidFill>
                <a:latin typeface="Arial" panose="020B0604020202020204"/>
              </a:rPr>
              <a:t>PCP</a:t>
            </a:r>
          </a:p>
        </p:txBody>
      </p:sp>
      <p:sp>
        <p:nvSpPr>
          <p:cNvPr id="51" name="Text Placeholder 2">
            <a:extLst>
              <a:ext uri="{FF2B5EF4-FFF2-40B4-BE49-F238E27FC236}">
                <a16:creationId xmlns:a16="http://schemas.microsoft.com/office/drawing/2014/main" id="{C17A4B7C-8417-53F6-6D16-D473DC1B8A14}"/>
              </a:ext>
            </a:extLst>
          </p:cNvPr>
          <p:cNvSpPr txBox="1">
            <a:spLocks/>
          </p:cNvSpPr>
          <p:nvPr/>
        </p:nvSpPr>
        <p:spPr bwMode="gray">
          <a:xfrm>
            <a:off x="5044483" y="4304881"/>
            <a:ext cx="413108"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r>
              <a:rPr lang="en-US" altLang="en-US">
                <a:solidFill>
                  <a:srgbClr val="FF0000"/>
                </a:solidFill>
                <a:latin typeface="Arial" panose="020B0604020202020204"/>
                <a:cs typeface="Arial" panose="020B0604020202020204" pitchFamily="34" charset="0"/>
                <a:sym typeface="Symbol" pitchFamily="18" charset="2"/>
              </a:rPr>
              <a:t> </a:t>
            </a:r>
            <a:r>
              <a:rPr lang="en-US" altLang="en-US" baseline="30000">
                <a:solidFill>
                  <a:srgbClr val="000000">
                    <a:lumMod val="75000"/>
                    <a:lumOff val="25000"/>
                  </a:srgbClr>
                </a:solidFill>
                <a:latin typeface="Arial" panose="020B0604020202020204"/>
                <a:cs typeface="Arial" panose="020B0604020202020204" pitchFamily="34" charset="0"/>
                <a:sym typeface="Symbol" pitchFamily="18" charset="2"/>
              </a:rPr>
              <a:t>(23%)</a:t>
            </a:r>
            <a:endParaRPr lang="en-US" baseline="30000">
              <a:solidFill>
                <a:srgbClr val="000000">
                  <a:lumMod val="75000"/>
                  <a:lumOff val="25000"/>
                </a:srgbClr>
              </a:solidFill>
              <a:latin typeface="Arial" panose="020B0604020202020204"/>
            </a:endParaRPr>
          </a:p>
        </p:txBody>
      </p:sp>
      <p:sp>
        <p:nvSpPr>
          <p:cNvPr id="52" name="Text Placeholder 2">
            <a:extLst>
              <a:ext uri="{FF2B5EF4-FFF2-40B4-BE49-F238E27FC236}">
                <a16:creationId xmlns:a16="http://schemas.microsoft.com/office/drawing/2014/main" id="{15B229B9-C4F1-C81C-B85B-DCDC36F2D163}"/>
              </a:ext>
            </a:extLst>
          </p:cNvPr>
          <p:cNvSpPr txBox="1">
            <a:spLocks/>
          </p:cNvSpPr>
          <p:nvPr/>
        </p:nvSpPr>
        <p:spPr bwMode="gray">
          <a:xfrm>
            <a:off x="5044483" y="5022261"/>
            <a:ext cx="413108"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r>
              <a:rPr lang="en-US" altLang="en-US">
                <a:solidFill>
                  <a:srgbClr val="FF0000"/>
                </a:solidFill>
                <a:latin typeface="Arial" panose="020B0604020202020204"/>
                <a:cs typeface="Arial" panose="020B0604020202020204" pitchFamily="34" charset="0"/>
                <a:sym typeface="Symbol" pitchFamily="18" charset="2"/>
              </a:rPr>
              <a:t> </a:t>
            </a:r>
            <a:r>
              <a:rPr lang="en-US" altLang="en-US" baseline="30000">
                <a:solidFill>
                  <a:srgbClr val="000000">
                    <a:lumMod val="75000"/>
                    <a:lumOff val="25000"/>
                  </a:srgbClr>
                </a:solidFill>
                <a:latin typeface="Arial" panose="020B0604020202020204"/>
                <a:cs typeface="Arial" panose="020B0604020202020204" pitchFamily="34" charset="0"/>
                <a:sym typeface="Symbol" pitchFamily="18" charset="2"/>
              </a:rPr>
              <a:t>(35%)</a:t>
            </a:r>
            <a:endParaRPr lang="en-US" baseline="30000">
              <a:solidFill>
                <a:srgbClr val="000000">
                  <a:lumMod val="75000"/>
                  <a:lumOff val="25000"/>
                </a:srgbClr>
              </a:solidFill>
              <a:latin typeface="Arial" panose="020B0604020202020204"/>
            </a:endParaRPr>
          </a:p>
        </p:txBody>
      </p:sp>
      <p:grpSp>
        <p:nvGrpSpPr>
          <p:cNvPr id="12" name="Group 11">
            <a:extLst>
              <a:ext uri="{FF2B5EF4-FFF2-40B4-BE49-F238E27FC236}">
                <a16:creationId xmlns:a16="http://schemas.microsoft.com/office/drawing/2014/main" id="{E50959B7-25C6-3F27-E43A-C5987CA7D3F5}"/>
              </a:ext>
            </a:extLst>
          </p:cNvPr>
          <p:cNvGrpSpPr/>
          <p:nvPr/>
        </p:nvGrpSpPr>
        <p:grpSpPr>
          <a:xfrm>
            <a:off x="6351862" y="3025409"/>
            <a:ext cx="272302" cy="2606333"/>
            <a:chOff x="4747099" y="3005848"/>
            <a:chExt cx="272373" cy="2607012"/>
          </a:xfrm>
        </p:grpSpPr>
        <p:sp>
          <p:nvSpPr>
            <p:cNvPr id="21" name="Rectangle 20">
              <a:extLst>
                <a:ext uri="{FF2B5EF4-FFF2-40B4-BE49-F238E27FC236}">
                  <a16:creationId xmlns:a16="http://schemas.microsoft.com/office/drawing/2014/main" id="{791ED79A-F9B0-4625-5899-D1CF6707496D}"/>
                </a:ext>
              </a:extLst>
            </p:cNvPr>
            <p:cNvSpPr/>
            <p:nvPr/>
          </p:nvSpPr>
          <p:spPr bwMode="gray">
            <a:xfrm>
              <a:off x="4747099" y="3005848"/>
              <a:ext cx="272373" cy="2607012"/>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b="1">
                <a:solidFill>
                  <a:srgbClr val="0000C9"/>
                </a:solidFill>
                <a:latin typeface="Arial" panose="020B0604020202020204"/>
              </a:endParaRPr>
            </a:p>
          </p:txBody>
        </p:sp>
        <p:grpSp>
          <p:nvGrpSpPr>
            <p:cNvPr id="33" name="Group 32">
              <a:extLst>
                <a:ext uri="{FF2B5EF4-FFF2-40B4-BE49-F238E27FC236}">
                  <a16:creationId xmlns:a16="http://schemas.microsoft.com/office/drawing/2014/main" id="{E5CE3808-0B88-D3D1-B262-9AD2CBDE2513}"/>
                </a:ext>
              </a:extLst>
            </p:cNvPr>
            <p:cNvGrpSpPr/>
            <p:nvPr/>
          </p:nvGrpSpPr>
          <p:grpSpPr>
            <a:xfrm>
              <a:off x="4795510" y="3193443"/>
              <a:ext cx="182832" cy="2257472"/>
              <a:chOff x="4887324" y="3225037"/>
              <a:chExt cx="182832" cy="2257472"/>
            </a:xfrm>
          </p:grpSpPr>
          <p:sp>
            <p:nvSpPr>
              <p:cNvPr id="40" name="Oval 39">
                <a:extLst>
                  <a:ext uri="{FF2B5EF4-FFF2-40B4-BE49-F238E27FC236}">
                    <a16:creationId xmlns:a16="http://schemas.microsoft.com/office/drawing/2014/main" id="{6B0CF8C4-65EE-4557-AFC5-BE538574A8D1}"/>
                  </a:ext>
                </a:extLst>
              </p:cNvPr>
              <p:cNvSpPr/>
              <p:nvPr/>
            </p:nvSpPr>
            <p:spPr bwMode="gray">
              <a:xfrm>
                <a:off x="4887324" y="3225037"/>
                <a:ext cx="182832" cy="182832"/>
              </a:xfrm>
              <a:prstGeom prst="ellipse">
                <a:avLst/>
              </a:prstGeom>
              <a:solidFill>
                <a:srgbClr val="937DA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1" name="Oval 40">
                <a:extLst>
                  <a:ext uri="{FF2B5EF4-FFF2-40B4-BE49-F238E27FC236}">
                    <a16:creationId xmlns:a16="http://schemas.microsoft.com/office/drawing/2014/main" id="{B0E42C02-0EE8-7E09-43C6-08C45D56A670}"/>
                  </a:ext>
                </a:extLst>
              </p:cNvPr>
              <p:cNvSpPr/>
              <p:nvPr/>
            </p:nvSpPr>
            <p:spPr bwMode="gray">
              <a:xfrm>
                <a:off x="4887324" y="4054893"/>
                <a:ext cx="182832" cy="182832"/>
              </a:xfrm>
              <a:prstGeom prst="ellipse">
                <a:avLst/>
              </a:prstGeom>
              <a:solidFill>
                <a:srgbClr val="009F54"/>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2" name="Oval 41">
                <a:extLst>
                  <a:ext uri="{FF2B5EF4-FFF2-40B4-BE49-F238E27FC236}">
                    <a16:creationId xmlns:a16="http://schemas.microsoft.com/office/drawing/2014/main" id="{616D8668-838C-F9DF-195D-27168F58CD09}"/>
                  </a:ext>
                </a:extLst>
              </p:cNvPr>
              <p:cNvSpPr/>
              <p:nvPr/>
            </p:nvSpPr>
            <p:spPr bwMode="gray">
              <a:xfrm>
                <a:off x="4887324" y="4469821"/>
                <a:ext cx="182832" cy="182832"/>
              </a:xfrm>
              <a:prstGeom prst="ellipse">
                <a:avLst/>
              </a:prstGeom>
              <a:solidFill>
                <a:srgbClr val="6F002C"/>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3" name="Oval 42">
                <a:extLst>
                  <a:ext uri="{FF2B5EF4-FFF2-40B4-BE49-F238E27FC236}">
                    <a16:creationId xmlns:a16="http://schemas.microsoft.com/office/drawing/2014/main" id="{E046FA43-61C0-D16C-18EF-5D9F2B31A492}"/>
                  </a:ext>
                </a:extLst>
              </p:cNvPr>
              <p:cNvSpPr/>
              <p:nvPr/>
            </p:nvSpPr>
            <p:spPr bwMode="gray">
              <a:xfrm>
                <a:off x="4887324" y="4884749"/>
                <a:ext cx="182832" cy="182832"/>
              </a:xfrm>
              <a:prstGeom prst="ellipse">
                <a:avLst/>
              </a:prstGeom>
              <a:solidFill>
                <a:srgbClr val="D80065"/>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4" name="Oval 43">
                <a:extLst>
                  <a:ext uri="{FF2B5EF4-FFF2-40B4-BE49-F238E27FC236}">
                    <a16:creationId xmlns:a16="http://schemas.microsoft.com/office/drawing/2014/main" id="{6B8342AB-FC93-EBA6-3ECB-B19818D41099}"/>
                  </a:ext>
                </a:extLst>
              </p:cNvPr>
              <p:cNvSpPr/>
              <p:nvPr/>
            </p:nvSpPr>
            <p:spPr bwMode="gray">
              <a:xfrm>
                <a:off x="4887324" y="5299677"/>
                <a:ext cx="182832" cy="182832"/>
              </a:xfrm>
              <a:prstGeom prst="ellipse">
                <a:avLst/>
              </a:prstGeom>
              <a:solidFill>
                <a:srgbClr val="009CE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5" name="Oval 44">
                <a:extLst>
                  <a:ext uri="{FF2B5EF4-FFF2-40B4-BE49-F238E27FC236}">
                    <a16:creationId xmlns:a16="http://schemas.microsoft.com/office/drawing/2014/main" id="{0215D2B4-98C8-18B8-4014-52948EDCA1D5}"/>
                  </a:ext>
                </a:extLst>
              </p:cNvPr>
              <p:cNvSpPr/>
              <p:nvPr/>
            </p:nvSpPr>
            <p:spPr bwMode="gray">
              <a:xfrm>
                <a:off x="4887324" y="3639965"/>
                <a:ext cx="182832" cy="182832"/>
              </a:xfrm>
              <a:prstGeom prst="ellipse">
                <a:avLst/>
              </a:prstGeom>
              <a:solidFill>
                <a:schemeClr val="accent6">
                  <a:lumMod val="60000"/>
                  <a:lumOff val="40000"/>
                </a:schemeClr>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grpSp>
      <p:sp>
        <p:nvSpPr>
          <p:cNvPr id="48" name="TextBox 47">
            <a:extLst>
              <a:ext uri="{FF2B5EF4-FFF2-40B4-BE49-F238E27FC236}">
                <a16:creationId xmlns:a16="http://schemas.microsoft.com/office/drawing/2014/main" id="{FAF9C570-8B79-F03D-4E49-3EB6D65F99FE}"/>
              </a:ext>
            </a:extLst>
          </p:cNvPr>
          <p:cNvSpPr txBox="1"/>
          <p:nvPr/>
        </p:nvSpPr>
        <p:spPr bwMode="gray">
          <a:xfrm>
            <a:off x="3902108" y="2759174"/>
            <a:ext cx="1750631" cy="244618"/>
          </a:xfrm>
          <a:prstGeom prst="rect">
            <a:avLst/>
          </a:prstGeom>
          <a:solidFill>
            <a:schemeClr val="bg1"/>
          </a:solidFill>
        </p:spPr>
        <p:txBody>
          <a:bodyPr wrap="square">
            <a:spAutoFit/>
          </a:bodyPr>
          <a:lstStyle/>
          <a:p>
            <a:pPr algn="ctr" defTabSz="914126">
              <a:lnSpc>
                <a:spcPct val="90000"/>
              </a:lnSpc>
              <a:spcAft>
                <a:spcPts val="400"/>
              </a:spcAft>
              <a:defRPr/>
            </a:pPr>
            <a:r>
              <a:rPr lang="en-US" sz="1050">
                <a:solidFill>
                  <a:srgbClr val="0000C9"/>
                </a:solidFill>
                <a:latin typeface="Arial" panose="020B0604020202020204"/>
              </a:rPr>
              <a:t>(Pre-Penbraya TPP)</a:t>
            </a:r>
            <a:endParaRPr lang="en-US" sz="1050">
              <a:solidFill>
                <a:srgbClr val="FFFFFF">
                  <a:lumMod val="50000"/>
                </a:srgbClr>
              </a:solidFill>
              <a:latin typeface="Arial" panose="020B0604020202020204"/>
            </a:endParaRPr>
          </a:p>
        </p:txBody>
      </p:sp>
    </p:spTree>
    <p:extLst>
      <p:ext uri="{BB962C8B-B14F-4D97-AF65-F5344CB8AC3E}">
        <p14:creationId xmlns:p14="http://schemas.microsoft.com/office/powerpoint/2010/main" val="1317184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9" grpId="0" animBg="1"/>
      <p:bldP spid="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924C5-A652-DFEB-6034-1A86A2EB32F1}"/>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EF05C63-E665-1FEA-3599-FEE455A23213}"/>
              </a:ext>
            </a:extLst>
          </p:cNvPr>
          <p:cNvSpPr>
            <a:spLocks noGrp="1"/>
          </p:cNvSpPr>
          <p:nvPr>
            <p:ph type="body" sz="quarter" idx="10"/>
          </p:nvPr>
        </p:nvSpPr>
        <p:spPr>
          <a:xfrm>
            <a:off x="448056" y="4215384"/>
            <a:ext cx="4233672" cy="905256"/>
          </a:xfrm>
        </p:spPr>
        <p:txBody>
          <a:bodyPr/>
          <a:lstStyle/>
          <a:p>
            <a:r>
              <a:rPr lang="en-US" dirty="0"/>
              <a:t>Perceptions following Penbraya TPP</a:t>
            </a:r>
          </a:p>
        </p:txBody>
      </p:sp>
      <p:sp>
        <p:nvSpPr>
          <p:cNvPr id="3" name="Title 2">
            <a:extLst>
              <a:ext uri="{FF2B5EF4-FFF2-40B4-BE49-F238E27FC236}">
                <a16:creationId xmlns:a16="http://schemas.microsoft.com/office/drawing/2014/main" id="{F122DBEF-0FB3-5046-C1FC-C6F879CEC99D}"/>
              </a:ext>
            </a:extLst>
          </p:cNvPr>
          <p:cNvSpPr>
            <a:spLocks noGrp="1"/>
          </p:cNvSpPr>
          <p:nvPr>
            <p:ph type="ctrTitle"/>
          </p:nvPr>
        </p:nvSpPr>
        <p:spPr>
          <a:xfrm>
            <a:off x="448056" y="2560320"/>
            <a:ext cx="4233672" cy="1508760"/>
          </a:xfrm>
        </p:spPr>
        <p:txBody>
          <a:bodyPr/>
          <a:lstStyle/>
          <a:p>
            <a:r>
              <a:rPr lang="en-US"/>
              <a:t>Detailed Findings</a:t>
            </a:r>
          </a:p>
        </p:txBody>
      </p:sp>
    </p:spTree>
    <p:extLst>
      <p:ext uri="{BB962C8B-B14F-4D97-AF65-F5344CB8AC3E}">
        <p14:creationId xmlns:p14="http://schemas.microsoft.com/office/powerpoint/2010/main" val="98892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EE169A-80C9-3641-2988-4FDB318ED4F7}"/>
              </a:ext>
            </a:extLst>
          </p:cNvPr>
          <p:cNvSpPr>
            <a:spLocks noGrp="1"/>
          </p:cNvSpPr>
          <p:nvPr>
            <p:ph type="title"/>
          </p:nvPr>
        </p:nvSpPr>
        <p:spPr/>
        <p:txBody>
          <a:bodyPr/>
          <a:lstStyle/>
          <a:p>
            <a:r>
              <a:rPr lang="en-US" sz="2800" dirty="0"/>
              <a:t>Penbraya Stimuli</a:t>
            </a:r>
            <a:endParaRPr lang="en-US" dirty="0"/>
          </a:p>
        </p:txBody>
      </p:sp>
      <p:pic>
        <p:nvPicPr>
          <p:cNvPr id="6" name="image3.png" descr="A screenshot of a computer&#10;&#10;AI-generated content may be incorrect.">
            <a:extLst>
              <a:ext uri="{FF2B5EF4-FFF2-40B4-BE49-F238E27FC236}">
                <a16:creationId xmlns:a16="http://schemas.microsoft.com/office/drawing/2014/main" id="{A0953240-D66F-B43A-1C76-E315CF5886F4}"/>
              </a:ext>
            </a:extLst>
          </p:cNvPr>
          <p:cNvPicPr/>
          <p:nvPr/>
        </p:nvPicPr>
        <p:blipFill>
          <a:blip r:embed="rId3"/>
          <a:srcRect/>
          <a:stretch>
            <a:fillRect/>
          </a:stretch>
        </p:blipFill>
        <p:spPr>
          <a:xfrm>
            <a:off x="404494" y="678289"/>
            <a:ext cx="6679211" cy="4090481"/>
          </a:xfrm>
          <a:prstGeom prst="rect">
            <a:avLst/>
          </a:prstGeom>
          <a:ln/>
        </p:spPr>
      </p:pic>
      <p:pic>
        <p:nvPicPr>
          <p:cNvPr id="7" name="image2.png" descr="A screenshot of a medical chart&#10;&#10;Description automatically generated">
            <a:extLst>
              <a:ext uri="{FF2B5EF4-FFF2-40B4-BE49-F238E27FC236}">
                <a16:creationId xmlns:a16="http://schemas.microsoft.com/office/drawing/2014/main" id="{404FBB0C-96F1-42FA-F5F8-10CAC31423F4}"/>
              </a:ext>
            </a:extLst>
          </p:cNvPr>
          <p:cNvPicPr/>
          <p:nvPr/>
        </p:nvPicPr>
        <p:blipFill>
          <a:blip r:embed="rId4"/>
          <a:srcRect/>
          <a:stretch>
            <a:fillRect/>
          </a:stretch>
        </p:blipFill>
        <p:spPr>
          <a:xfrm>
            <a:off x="7168221" y="951250"/>
            <a:ext cx="4638966" cy="2685681"/>
          </a:xfrm>
          <a:prstGeom prst="rect">
            <a:avLst/>
          </a:prstGeom>
          <a:ln/>
        </p:spPr>
      </p:pic>
      <p:sp>
        <p:nvSpPr>
          <p:cNvPr id="10" name="TextBox 9">
            <a:extLst>
              <a:ext uri="{FF2B5EF4-FFF2-40B4-BE49-F238E27FC236}">
                <a16:creationId xmlns:a16="http://schemas.microsoft.com/office/drawing/2014/main" id="{827AEFFA-AFFB-AC4A-3E2C-882E2F4B4450}"/>
              </a:ext>
            </a:extLst>
          </p:cNvPr>
          <p:cNvSpPr txBox="1"/>
          <p:nvPr/>
        </p:nvSpPr>
        <p:spPr bwMode="gray">
          <a:xfrm>
            <a:off x="7110346" y="678289"/>
            <a:ext cx="4491865" cy="307777"/>
          </a:xfrm>
          <a:prstGeom prst="rect">
            <a:avLst/>
          </a:prstGeom>
          <a:solidFill>
            <a:schemeClr val="bg1"/>
          </a:solidFill>
        </p:spPr>
        <p:txBody>
          <a:bodyPr wrap="square">
            <a:spAutoFit/>
          </a:bodyPr>
          <a:lstStyle/>
          <a:p>
            <a:pPr marL="0" marR="0">
              <a:buNone/>
            </a:pPr>
            <a:r>
              <a:rPr lang="en-US" sz="1400" b="1">
                <a:effectLst/>
                <a:latin typeface="Calibri" panose="020F0502020204030204" pitchFamily="34" charset="0"/>
                <a:ea typeface="Calibri" panose="020F0502020204030204" pitchFamily="34" charset="0"/>
              </a:rPr>
              <a:t>ACIP Recommendation</a:t>
            </a:r>
            <a:endParaRPr lang="en-US" sz="1200">
              <a:effectLst/>
              <a:latin typeface="Times New Roman" panose="02020603050405020304" pitchFamily="18" charset="0"/>
              <a:ea typeface="Times New Roman" panose="02020603050405020304" pitchFamily="18" charset="0"/>
            </a:endParaRPr>
          </a:p>
        </p:txBody>
      </p:sp>
      <p:pic>
        <p:nvPicPr>
          <p:cNvPr id="12" name="image4.png" descr="A diagram of a syringe&#10;&#10;Description automatically generated">
            <a:extLst>
              <a:ext uri="{FF2B5EF4-FFF2-40B4-BE49-F238E27FC236}">
                <a16:creationId xmlns:a16="http://schemas.microsoft.com/office/drawing/2014/main" id="{C3B31B58-688E-9C38-E43D-8630B72ECF20}"/>
              </a:ext>
            </a:extLst>
          </p:cNvPr>
          <p:cNvPicPr/>
          <p:nvPr/>
        </p:nvPicPr>
        <p:blipFill>
          <a:blip r:embed="rId5"/>
          <a:srcRect/>
          <a:stretch>
            <a:fillRect/>
          </a:stretch>
        </p:blipFill>
        <p:spPr>
          <a:xfrm>
            <a:off x="7121921" y="4379984"/>
            <a:ext cx="4985881" cy="2090948"/>
          </a:xfrm>
          <a:prstGeom prst="rect">
            <a:avLst/>
          </a:prstGeom>
          <a:ln/>
        </p:spPr>
      </p:pic>
      <p:sp>
        <p:nvSpPr>
          <p:cNvPr id="16" name="TextBox 15">
            <a:extLst>
              <a:ext uri="{FF2B5EF4-FFF2-40B4-BE49-F238E27FC236}">
                <a16:creationId xmlns:a16="http://schemas.microsoft.com/office/drawing/2014/main" id="{F5E8502F-7341-9C3F-269E-9D3A3C2009B6}"/>
              </a:ext>
            </a:extLst>
          </p:cNvPr>
          <p:cNvSpPr txBox="1"/>
          <p:nvPr/>
        </p:nvSpPr>
        <p:spPr bwMode="gray">
          <a:xfrm>
            <a:off x="7110346" y="3879909"/>
            <a:ext cx="5078479" cy="523220"/>
          </a:xfrm>
          <a:prstGeom prst="rect">
            <a:avLst/>
          </a:prstGeom>
          <a:solidFill>
            <a:schemeClr val="bg1"/>
          </a:solidFill>
        </p:spPr>
        <p:txBody>
          <a:bodyPr wrap="square">
            <a:spAutoFit/>
          </a:bodyPr>
          <a:lstStyle/>
          <a:p>
            <a:pPr marR="0">
              <a:buNone/>
            </a:pPr>
            <a:r>
              <a:rPr lang="en-US" sz="1400" b="1">
                <a:effectLst/>
                <a:latin typeface="Calibri" panose="020F0502020204030204" pitchFamily="34" charset="0"/>
                <a:ea typeface="Calibri" panose="020F0502020204030204" pitchFamily="34" charset="0"/>
              </a:rPr>
              <a:t>Pfizer Pentavalent (MenABCWY): Carton Size and Dose Prep. Requirements</a:t>
            </a:r>
            <a:endParaRPr lang="en-US" sz="1200">
              <a:effectLst/>
              <a:latin typeface="Times New Roman" panose="02020603050405020304" pitchFamily="18" charset="0"/>
              <a:ea typeface="Times New Roman" panose="02020603050405020304" pitchFamily="18" charset="0"/>
            </a:endParaRPr>
          </a:p>
        </p:txBody>
      </p:sp>
      <p:sp>
        <p:nvSpPr>
          <p:cNvPr id="21" name="TextBox 20">
            <a:extLst>
              <a:ext uri="{FF2B5EF4-FFF2-40B4-BE49-F238E27FC236}">
                <a16:creationId xmlns:a16="http://schemas.microsoft.com/office/drawing/2014/main" id="{D813915E-1BA1-713A-BE2D-E557E6BC593A}"/>
              </a:ext>
            </a:extLst>
          </p:cNvPr>
          <p:cNvSpPr txBox="1"/>
          <p:nvPr/>
        </p:nvSpPr>
        <p:spPr bwMode="gray">
          <a:xfrm>
            <a:off x="586538" y="4912381"/>
            <a:ext cx="6094070" cy="1384995"/>
          </a:xfrm>
          <a:prstGeom prst="rect">
            <a:avLst/>
          </a:prstGeom>
          <a:solidFill>
            <a:schemeClr val="bg1">
              <a:lumMod val="95000"/>
            </a:schemeClr>
          </a:solidFill>
        </p:spPr>
        <p:txBody>
          <a:bodyPr wrap="square">
            <a:spAutoFit/>
          </a:bodyPr>
          <a:lstStyle/>
          <a:p>
            <a:pPr marL="0" marR="0">
              <a:buNone/>
            </a:pPr>
            <a:r>
              <a:rPr lang="en-US" sz="1400" dirty="0">
                <a:effectLst/>
                <a:latin typeface="Calibri" panose="020F0502020204030204" pitchFamily="34" charset="0"/>
                <a:ea typeface="Calibri" panose="020F0502020204030204" pitchFamily="34" charset="0"/>
              </a:rPr>
              <a:t>When answering the following questions about Penbraya (Pfizer's 5-in-1 Pentavalent vaccine for </a:t>
            </a:r>
            <a:r>
              <a:rPr lang="en-US" sz="1400" dirty="0" err="1">
                <a:effectLst/>
                <a:latin typeface="Calibri" panose="020F0502020204030204" pitchFamily="34" charset="0"/>
                <a:ea typeface="Calibri" panose="020F0502020204030204" pitchFamily="34" charset="0"/>
              </a:rPr>
              <a:t>MenABCWY</a:t>
            </a:r>
            <a:r>
              <a:rPr lang="en-US" sz="1400" dirty="0">
                <a:effectLst/>
                <a:latin typeface="Calibri" panose="020F0502020204030204" pitchFamily="34" charset="0"/>
                <a:ea typeface="Calibri" panose="020F0502020204030204" pitchFamily="34" charset="0"/>
              </a:rPr>
              <a:t>), please consider that: </a:t>
            </a:r>
            <a:endParaRPr lang="en-US" sz="1400" dirty="0">
              <a:effectLst/>
              <a:latin typeface="Times New Roman" panose="02020603050405020304" pitchFamily="18" charset="0"/>
              <a:ea typeface="Times New Roman" panose="02020603050405020304" pitchFamily="18" charset="0"/>
            </a:endParaRPr>
          </a:p>
          <a:p>
            <a:pPr marL="342900" marR="0" lvl="0" indent="-342900">
              <a:buFont typeface="Arial" panose="020B0604020202020204" pitchFamily="34" charset="0"/>
              <a:buChar char="●"/>
            </a:pPr>
            <a:r>
              <a:rPr lang="en-US" sz="1400" dirty="0">
                <a:solidFill>
                  <a:srgbClr val="000000"/>
                </a:solidFill>
                <a:effectLst/>
                <a:latin typeface="Calibri" panose="020F0502020204030204" pitchFamily="34" charset="0"/>
                <a:ea typeface="Calibri" panose="020F0502020204030204" pitchFamily="34" charset="0"/>
                <a:cs typeface="Noto Sans Symbols"/>
              </a:rPr>
              <a:t>Recommendation for Penbraya (Pfizer's 5-in-1 Pentavalent vaccine for </a:t>
            </a:r>
            <a:r>
              <a:rPr lang="en-US" sz="1400" dirty="0" err="1">
                <a:solidFill>
                  <a:srgbClr val="000000"/>
                </a:solidFill>
                <a:effectLst/>
                <a:latin typeface="Calibri" panose="020F0502020204030204" pitchFamily="34" charset="0"/>
                <a:ea typeface="Calibri" panose="020F0502020204030204" pitchFamily="34" charset="0"/>
                <a:cs typeface="Noto Sans Symbols"/>
              </a:rPr>
              <a:t>MenABCWY</a:t>
            </a:r>
            <a:r>
              <a:rPr lang="en-US" sz="1400" dirty="0">
                <a:solidFill>
                  <a:srgbClr val="000000"/>
                </a:solidFill>
                <a:effectLst/>
                <a:latin typeface="Calibri" panose="020F0502020204030204" pitchFamily="34" charset="0"/>
                <a:ea typeface="Calibri" panose="020F0502020204030204" pitchFamily="34" charset="0"/>
                <a:cs typeface="Noto Sans Symbols"/>
              </a:rPr>
              <a:t>) was </a:t>
            </a:r>
            <a:r>
              <a:rPr lang="en-US" sz="1400" u="sng" dirty="0">
                <a:solidFill>
                  <a:srgbClr val="000000"/>
                </a:solidFill>
                <a:effectLst/>
                <a:latin typeface="Calibri" panose="020F0502020204030204" pitchFamily="34" charset="0"/>
                <a:ea typeface="Calibri" panose="020F0502020204030204" pitchFamily="34" charset="0"/>
                <a:cs typeface="Noto Sans Symbols"/>
              </a:rPr>
              <a:t>published in the CDC’s MMWR on April 18, 2024</a:t>
            </a:r>
            <a:r>
              <a:rPr lang="en-US" sz="1400" dirty="0">
                <a:solidFill>
                  <a:srgbClr val="000000"/>
                </a:solidFill>
                <a:effectLst/>
                <a:latin typeface="Calibri" panose="020F0502020204030204" pitchFamily="34" charset="0"/>
                <a:ea typeface="Calibri" panose="020F0502020204030204" pitchFamily="34" charset="0"/>
                <a:cs typeface="Noto Sans Symbols"/>
              </a:rPr>
              <a:t>.</a:t>
            </a:r>
            <a:endParaRPr lang="en-US" sz="1400" dirty="0">
              <a:effectLst/>
              <a:latin typeface="Noto Sans Symbols"/>
              <a:ea typeface="Noto Sans Symbols"/>
              <a:cs typeface="Noto Sans Symbols"/>
            </a:endParaRPr>
          </a:p>
          <a:p>
            <a:pPr marL="342900" marR="0" lvl="0" indent="-342900">
              <a:buFont typeface="Arial" panose="020B0604020202020204" pitchFamily="34" charset="0"/>
              <a:buChar char="●"/>
            </a:pPr>
            <a:r>
              <a:rPr lang="en-US" sz="1400" dirty="0">
                <a:solidFill>
                  <a:srgbClr val="000000"/>
                </a:solidFill>
                <a:effectLst/>
                <a:latin typeface="Calibri" panose="020F0502020204030204" pitchFamily="34" charset="0"/>
                <a:ea typeface="Calibri" panose="020F0502020204030204" pitchFamily="34" charset="0"/>
                <a:cs typeface="Noto Sans Symbols"/>
              </a:rPr>
              <a:t>Penbraya (Pfizer's 5-in-1 Pentavalent vaccine for </a:t>
            </a:r>
            <a:r>
              <a:rPr lang="en-US" sz="1400" dirty="0" err="1">
                <a:solidFill>
                  <a:srgbClr val="000000"/>
                </a:solidFill>
                <a:effectLst/>
                <a:latin typeface="Calibri" panose="020F0502020204030204" pitchFamily="34" charset="0"/>
                <a:ea typeface="Calibri" panose="020F0502020204030204" pitchFamily="34" charset="0"/>
                <a:cs typeface="Noto Sans Symbols"/>
              </a:rPr>
              <a:t>MenABCWY</a:t>
            </a:r>
            <a:r>
              <a:rPr lang="en-US" sz="1400" dirty="0">
                <a:solidFill>
                  <a:srgbClr val="000000"/>
                </a:solidFill>
                <a:effectLst/>
                <a:latin typeface="Calibri" panose="020F0502020204030204" pitchFamily="34" charset="0"/>
                <a:ea typeface="Calibri" panose="020F0502020204030204" pitchFamily="34" charset="0"/>
                <a:cs typeface="Noto Sans Symbols"/>
              </a:rPr>
              <a:t>) was </a:t>
            </a:r>
            <a:r>
              <a:rPr lang="en-US" sz="1400" u="sng" dirty="0">
                <a:solidFill>
                  <a:srgbClr val="000000"/>
                </a:solidFill>
                <a:effectLst/>
                <a:latin typeface="Calibri" panose="020F0502020204030204" pitchFamily="34" charset="0"/>
                <a:ea typeface="Calibri" panose="020F0502020204030204" pitchFamily="34" charset="0"/>
                <a:cs typeface="Noto Sans Symbols"/>
              </a:rPr>
              <a:t>added to the Vaccine for Children (VFC) program in April 2024</a:t>
            </a:r>
            <a:r>
              <a:rPr lang="en-US" sz="1400" dirty="0">
                <a:solidFill>
                  <a:srgbClr val="000000"/>
                </a:solidFill>
                <a:effectLst/>
                <a:latin typeface="Calibri" panose="020F0502020204030204" pitchFamily="34" charset="0"/>
                <a:ea typeface="Calibri" panose="020F0502020204030204" pitchFamily="34" charset="0"/>
                <a:cs typeface="Noto Sans Symbols"/>
              </a:rPr>
              <a:t>.</a:t>
            </a:r>
            <a:endParaRPr lang="en-US" sz="1400" dirty="0">
              <a:effectLst/>
              <a:latin typeface="Noto Sans Symbols"/>
              <a:ea typeface="Noto Sans Symbols"/>
              <a:cs typeface="Noto Sans Symbols"/>
            </a:endParaRPr>
          </a:p>
        </p:txBody>
      </p:sp>
    </p:spTree>
    <p:extLst>
      <p:ext uri="{BB962C8B-B14F-4D97-AF65-F5344CB8AC3E}">
        <p14:creationId xmlns:p14="http://schemas.microsoft.com/office/powerpoint/2010/main" val="3212640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4AE09-1DED-2C9F-1AD5-F4590D84C585}"/>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9F500AA2-9BE4-AEA7-FB72-1742C05F6CD0}"/>
              </a:ext>
            </a:extLst>
          </p:cNvPr>
          <p:cNvSpPr/>
          <p:nvPr/>
        </p:nvSpPr>
        <p:spPr bwMode="gray">
          <a:xfrm>
            <a:off x="634840" y="2175768"/>
            <a:ext cx="3509834" cy="3503651"/>
          </a:xfrm>
          <a:prstGeom prst="rect">
            <a:avLst/>
          </a:prstGeom>
          <a:noFill/>
          <a:ln w="19050" cap="flat" cmpd="sng" algn="ctr">
            <a:solidFill>
              <a:schemeClr val="bg1">
                <a:lumMod val="7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0" name="Rectangle 9">
            <a:extLst>
              <a:ext uri="{FF2B5EF4-FFF2-40B4-BE49-F238E27FC236}">
                <a16:creationId xmlns:a16="http://schemas.microsoft.com/office/drawing/2014/main" id="{83FE3153-D8D1-7928-34D6-583E849F9C5D}"/>
              </a:ext>
            </a:extLst>
          </p:cNvPr>
          <p:cNvSpPr/>
          <p:nvPr/>
        </p:nvSpPr>
        <p:spPr bwMode="gray">
          <a:xfrm>
            <a:off x="4252603" y="2174771"/>
            <a:ext cx="5051017" cy="3503651"/>
          </a:xfrm>
          <a:prstGeom prst="rect">
            <a:avLst/>
          </a:prstGeom>
          <a:solidFill>
            <a:schemeClr val="bg1">
              <a:lumMod val="95000"/>
            </a:schemeClr>
          </a:solidFill>
          <a:ln w="19050" cap="flat" cmpd="sng" algn="ctr">
            <a:solidFill>
              <a:schemeClr val="bg1">
                <a:lumMod val="7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aphicFrame>
        <p:nvGraphicFramePr>
          <p:cNvPr id="68" name="Chart 67">
            <a:extLst>
              <a:ext uri="{FF2B5EF4-FFF2-40B4-BE49-F238E27FC236}">
                <a16:creationId xmlns:a16="http://schemas.microsoft.com/office/drawing/2014/main" id="{45EAB0E2-A701-110A-54F5-A4123BD4BCD3}"/>
              </a:ext>
            </a:extLst>
          </p:cNvPr>
          <p:cNvGraphicFramePr/>
          <p:nvPr/>
        </p:nvGraphicFramePr>
        <p:xfrm>
          <a:off x="2074020" y="2960827"/>
          <a:ext cx="1944952" cy="3076877"/>
        </p:xfrm>
        <a:graphic>
          <a:graphicData uri="http://schemas.openxmlformats.org/drawingml/2006/chart">
            <c:chart xmlns:c="http://schemas.openxmlformats.org/drawingml/2006/chart" xmlns:r="http://schemas.openxmlformats.org/officeDocument/2006/relationships" r:id="rId3"/>
          </a:graphicData>
        </a:graphic>
      </p:graphicFrame>
      <p:sp>
        <p:nvSpPr>
          <p:cNvPr id="24" name="Rectangle: Rounded Corners 23">
            <a:extLst>
              <a:ext uri="{FF2B5EF4-FFF2-40B4-BE49-F238E27FC236}">
                <a16:creationId xmlns:a16="http://schemas.microsoft.com/office/drawing/2014/main" id="{92E9531E-A4D6-1BA8-2221-D5F89D90CF96}"/>
              </a:ext>
            </a:extLst>
          </p:cNvPr>
          <p:cNvSpPr/>
          <p:nvPr/>
        </p:nvSpPr>
        <p:spPr bwMode="gray">
          <a:xfrm>
            <a:off x="333612" y="1649717"/>
            <a:ext cx="11541048" cy="4245707"/>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3" name="TextBox 42">
            <a:extLst>
              <a:ext uri="{FF2B5EF4-FFF2-40B4-BE49-F238E27FC236}">
                <a16:creationId xmlns:a16="http://schemas.microsoft.com/office/drawing/2014/main" id="{F02FA717-7C4A-4AD8-C1E9-9DC4D897D062}"/>
              </a:ext>
            </a:extLst>
          </p:cNvPr>
          <p:cNvSpPr txBox="1"/>
          <p:nvPr/>
        </p:nvSpPr>
        <p:spPr bwMode="gray">
          <a:xfrm>
            <a:off x="811757" y="2217076"/>
            <a:ext cx="2963370" cy="313768"/>
          </a:xfrm>
          <a:prstGeom prst="rect">
            <a:avLst/>
          </a:prstGeom>
        </p:spPr>
        <p:txBody>
          <a:bodyPr wrap="none" lIns="45696" tIns="45696" rIns="45696" bIns="45696" rtlCol="0" anchor="b">
            <a:spAutoFit/>
          </a:bodyPr>
          <a:lstStyle/>
          <a:p>
            <a:pPr algn="ctr" defTabSz="913852">
              <a:lnSpc>
                <a:spcPct val="90000"/>
              </a:lnSpc>
              <a:spcAft>
                <a:spcPts val="400"/>
              </a:spcAft>
              <a:defRPr/>
            </a:pPr>
            <a:r>
              <a:rPr lang="en-US" sz="1600" b="1" u="sng" dirty="0">
                <a:solidFill>
                  <a:srgbClr val="000000"/>
                </a:solidFill>
                <a:latin typeface="Arial" panose="020B0604020202020204"/>
              </a:rPr>
              <a:t>Likelihood to Stock Penbraya</a:t>
            </a:r>
          </a:p>
        </p:txBody>
      </p:sp>
      <p:sp>
        <p:nvSpPr>
          <p:cNvPr id="88" name="TextBox 87">
            <a:extLst>
              <a:ext uri="{FF2B5EF4-FFF2-40B4-BE49-F238E27FC236}">
                <a16:creationId xmlns:a16="http://schemas.microsoft.com/office/drawing/2014/main" id="{8D13C0EF-E764-C37A-4674-C16202A4690F}"/>
              </a:ext>
            </a:extLst>
          </p:cNvPr>
          <p:cNvSpPr txBox="1"/>
          <p:nvPr/>
        </p:nvSpPr>
        <p:spPr bwMode="gray">
          <a:xfrm>
            <a:off x="6032076" y="2217076"/>
            <a:ext cx="1492067" cy="313768"/>
          </a:xfrm>
          <a:prstGeom prst="rect">
            <a:avLst/>
          </a:prstGeom>
          <a:ln>
            <a:noFill/>
          </a:ln>
        </p:spPr>
        <p:txBody>
          <a:bodyPr wrap="none" lIns="45696" tIns="45696" rIns="45696" bIns="45696" rtlCol="0" anchor="b">
            <a:spAutoFit/>
          </a:bodyPr>
          <a:lstStyle/>
          <a:p>
            <a:pPr algn="ctr" defTabSz="913852">
              <a:lnSpc>
                <a:spcPct val="90000"/>
              </a:lnSpc>
              <a:spcAft>
                <a:spcPts val="400"/>
              </a:spcAft>
              <a:defRPr/>
            </a:pPr>
            <a:r>
              <a:rPr lang="en-US" sz="1600" b="1" u="sng">
                <a:solidFill>
                  <a:srgbClr val="000000"/>
                </a:solidFill>
                <a:latin typeface="Arial" panose="020B0604020202020204"/>
              </a:rPr>
              <a:t>Time to Stock </a:t>
            </a:r>
          </a:p>
        </p:txBody>
      </p:sp>
      <p:sp>
        <p:nvSpPr>
          <p:cNvPr id="111" name="TextBox 110">
            <a:extLst>
              <a:ext uri="{FF2B5EF4-FFF2-40B4-BE49-F238E27FC236}">
                <a16:creationId xmlns:a16="http://schemas.microsoft.com/office/drawing/2014/main" id="{7F55654B-59C3-8A98-BF12-CF283C51BDF7}"/>
              </a:ext>
            </a:extLst>
          </p:cNvPr>
          <p:cNvSpPr txBox="1"/>
          <p:nvPr/>
        </p:nvSpPr>
        <p:spPr bwMode="gray">
          <a:xfrm>
            <a:off x="2853087" y="1687897"/>
            <a:ext cx="4232289" cy="369140"/>
          </a:xfrm>
          <a:prstGeom prst="rect">
            <a:avLst/>
          </a:prstGeom>
        </p:spPr>
        <p:txBody>
          <a:bodyPr wrap="none" lIns="45696" tIns="45696" rIns="45696" bIns="45696" rtlCol="0">
            <a:spAutoFit/>
          </a:bodyPr>
          <a:lstStyle/>
          <a:p>
            <a:pPr algn="ctr" defTabSz="913852">
              <a:spcAft>
                <a:spcPts val="400"/>
              </a:spcAft>
              <a:defRPr/>
            </a:pPr>
            <a:r>
              <a:rPr lang="en-US" sz="1798" b="1" i="1" dirty="0">
                <a:solidFill>
                  <a:srgbClr val="0000C9"/>
                </a:solidFill>
                <a:latin typeface="Arial" panose="020B0604020202020204"/>
              </a:rPr>
              <a:t>Non-Stocker</a:t>
            </a:r>
            <a:r>
              <a:rPr lang="en-US" sz="1798" b="1" dirty="0">
                <a:solidFill>
                  <a:srgbClr val="0000C9"/>
                </a:solidFill>
                <a:latin typeface="Arial" panose="020B0604020202020204"/>
              </a:rPr>
              <a:t> Intent to </a:t>
            </a:r>
            <a:r>
              <a:rPr lang="en-US" sz="1798" b="1" u="sng" dirty="0">
                <a:solidFill>
                  <a:srgbClr val="0000C9"/>
                </a:solidFill>
                <a:latin typeface="Arial" panose="020B0604020202020204"/>
              </a:rPr>
              <a:t>Stock</a:t>
            </a:r>
            <a:r>
              <a:rPr lang="en-US" sz="1798" b="1" dirty="0">
                <a:solidFill>
                  <a:srgbClr val="0000C9"/>
                </a:solidFill>
                <a:latin typeface="Arial" panose="020B0604020202020204"/>
              </a:rPr>
              <a:t> Penbraya</a:t>
            </a:r>
            <a:endParaRPr lang="en-US" sz="1000" i="1" dirty="0">
              <a:solidFill>
                <a:srgbClr val="FFFFFF">
                  <a:lumMod val="50000"/>
                </a:srgbClr>
              </a:solidFill>
              <a:latin typeface="Arial" panose="020B0604020202020204"/>
            </a:endParaRPr>
          </a:p>
        </p:txBody>
      </p:sp>
      <p:grpSp>
        <p:nvGrpSpPr>
          <p:cNvPr id="16" name="Group 15">
            <a:extLst>
              <a:ext uri="{FF2B5EF4-FFF2-40B4-BE49-F238E27FC236}">
                <a16:creationId xmlns:a16="http://schemas.microsoft.com/office/drawing/2014/main" id="{C678EAAC-4BCF-8620-D143-549C35A79C78}"/>
              </a:ext>
            </a:extLst>
          </p:cNvPr>
          <p:cNvGrpSpPr>
            <a:grpSpLocks noChangeAspect="1"/>
          </p:cNvGrpSpPr>
          <p:nvPr/>
        </p:nvGrpSpPr>
        <p:grpSpPr>
          <a:xfrm>
            <a:off x="3782774" y="2278942"/>
            <a:ext cx="181993" cy="182784"/>
            <a:chOff x="7490195" y="1633669"/>
            <a:chExt cx="502920" cy="505111"/>
          </a:xfrm>
        </p:grpSpPr>
        <p:sp>
          <p:nvSpPr>
            <p:cNvPr id="17" name="Oval 16">
              <a:extLst>
                <a:ext uri="{FF2B5EF4-FFF2-40B4-BE49-F238E27FC236}">
                  <a16:creationId xmlns:a16="http://schemas.microsoft.com/office/drawing/2014/main" id="{74DABF21-5191-84A8-BD41-D2E44AE13825}"/>
                </a:ext>
              </a:extLst>
            </p:cNvPr>
            <p:cNvSpPr/>
            <p:nvPr/>
          </p:nvSpPr>
          <p:spPr bwMode="gray">
            <a:xfrm>
              <a:off x="7490195" y="1633669"/>
              <a:ext cx="502920" cy="505111"/>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8" name="Star: 5 Points 17">
              <a:extLst>
                <a:ext uri="{FF2B5EF4-FFF2-40B4-BE49-F238E27FC236}">
                  <a16:creationId xmlns:a16="http://schemas.microsoft.com/office/drawing/2014/main" id="{6E345160-ADFE-206B-D659-72390D32D647}"/>
                </a:ext>
              </a:extLst>
            </p:cNvPr>
            <p:cNvSpPr/>
            <p:nvPr/>
          </p:nvSpPr>
          <p:spPr bwMode="gray">
            <a:xfrm>
              <a:off x="7540487" y="1678609"/>
              <a:ext cx="402336" cy="397565"/>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sp>
        <p:nvSpPr>
          <p:cNvPr id="11" name="Title 10">
            <a:extLst>
              <a:ext uri="{FF2B5EF4-FFF2-40B4-BE49-F238E27FC236}">
                <a16:creationId xmlns:a16="http://schemas.microsoft.com/office/drawing/2014/main" id="{8F5C5DFD-24E8-7660-C384-A4C6865C9097}"/>
              </a:ext>
            </a:extLst>
          </p:cNvPr>
          <p:cNvSpPr>
            <a:spLocks noGrp="1"/>
          </p:cNvSpPr>
          <p:nvPr>
            <p:ph type="title"/>
          </p:nvPr>
        </p:nvSpPr>
        <p:spPr>
          <a:xfrm>
            <a:off x="1112230" y="170712"/>
            <a:ext cx="10995096" cy="850678"/>
          </a:xfrm>
        </p:spPr>
        <p:txBody>
          <a:bodyPr/>
          <a:lstStyle/>
          <a:p>
            <a:r>
              <a:rPr lang="en-US" sz="1899" dirty="0"/>
              <a:t>Despite lower intent to stock Penbraya among Non-Stockers this wave (driven by PEDs and Tier 1), </a:t>
            </a:r>
            <a:br>
              <a:rPr lang="en-US" sz="1899" dirty="0"/>
            </a:br>
            <a:r>
              <a:rPr lang="en-US" sz="1899" dirty="0"/>
              <a:t>~2 in 10 plan to stock within six months, while two-thirds of Current Stockers expect to be fully incorporated in that timeframe</a:t>
            </a:r>
          </a:p>
        </p:txBody>
      </p:sp>
      <p:sp>
        <p:nvSpPr>
          <p:cNvPr id="6" name="Text Placeholder 5">
            <a:extLst>
              <a:ext uri="{FF2B5EF4-FFF2-40B4-BE49-F238E27FC236}">
                <a16:creationId xmlns:a16="http://schemas.microsoft.com/office/drawing/2014/main" id="{8865A3D7-DEED-F729-F902-4D3D49199B59}"/>
              </a:ext>
            </a:extLst>
          </p:cNvPr>
          <p:cNvSpPr>
            <a:spLocks noGrp="1"/>
          </p:cNvSpPr>
          <p:nvPr>
            <p:ph type="body" sz="quarter" idx="16"/>
          </p:nvPr>
        </p:nvSpPr>
        <p:spPr>
          <a:xfrm>
            <a:off x="1571625" y="5988476"/>
            <a:ext cx="9239250" cy="755394"/>
          </a:xfrm>
        </p:spPr>
        <p:txBody>
          <a:bodyPr/>
          <a:lstStyle/>
          <a:p>
            <a:r>
              <a:rPr lang="en-US" altLang="en-US" dirty="0">
                <a:sym typeface="Symbol" pitchFamily="18" charset="2"/>
              </a:rPr>
              <a:t>/</a:t>
            </a:r>
            <a:r>
              <a:rPr lang="en-US" altLang="en-US" dirty="0"/>
              <a:t> </a:t>
            </a:r>
            <a:r>
              <a:rPr lang="en-US" dirty="0"/>
              <a:t>= Significantly higher/lower vs. prior wave </a:t>
            </a:r>
          </a:p>
          <a:p>
            <a:r>
              <a:rPr lang="en-US" dirty="0"/>
              <a:t>P1.  How likely are you to stock Penbraya (Pfizer's 5-in-1 Pentavalent vaccine for </a:t>
            </a:r>
            <a:r>
              <a:rPr lang="en-US" dirty="0" err="1"/>
              <a:t>MenABCWY</a:t>
            </a:r>
            <a:r>
              <a:rPr lang="en-US" dirty="0"/>
              <a:t>) in your practice? Please consider your total stock of vaccines and existing contracts. (7-pt scale: 1=Not at all likely, 7=Extremely likely).</a:t>
            </a:r>
          </a:p>
          <a:p>
            <a:r>
              <a:rPr lang="en-US" dirty="0"/>
              <a:t>P2.  How long would it take for you to first recommend / stock Penbraya (Pfizer's 5-in-1 Pentavalent vaccine for </a:t>
            </a:r>
            <a:r>
              <a:rPr lang="en-US" dirty="0" err="1"/>
              <a:t>MenABCWY</a:t>
            </a:r>
            <a:r>
              <a:rPr lang="en-US" dirty="0"/>
              <a:t>) in your practice? </a:t>
            </a:r>
          </a:p>
          <a:p>
            <a:r>
              <a:rPr lang="en-US" dirty="0"/>
              <a:t>P3.  How long would it take for you to fully incorporate Penbraya (Pfizer's 5-in-1 Pentavalent vaccine for </a:t>
            </a:r>
            <a:r>
              <a:rPr lang="en-US" dirty="0" err="1"/>
              <a:t>MenABCWY</a:t>
            </a:r>
            <a:r>
              <a:rPr lang="en-US" dirty="0"/>
              <a:t>) in your practice? </a:t>
            </a:r>
          </a:p>
        </p:txBody>
      </p:sp>
      <p:sp>
        <p:nvSpPr>
          <p:cNvPr id="12" name="Title 4">
            <a:extLst>
              <a:ext uri="{FF2B5EF4-FFF2-40B4-BE49-F238E27FC236}">
                <a16:creationId xmlns:a16="http://schemas.microsoft.com/office/drawing/2014/main" id="{E0D6489D-8D9F-C928-8497-678C7022B123}"/>
              </a:ext>
            </a:extLst>
          </p:cNvPr>
          <p:cNvSpPr txBox="1">
            <a:spLocks/>
          </p:cNvSpPr>
          <p:nvPr/>
        </p:nvSpPr>
        <p:spPr bwMode="gray">
          <a:xfrm>
            <a:off x="449741" y="486167"/>
            <a:ext cx="11541047" cy="849950"/>
          </a:xfrm>
          <a:prstGeom prst="rect">
            <a:avLst/>
          </a:prstGeom>
        </p:spPr>
        <p:txBody>
          <a:bodyPr vert="horz" lIns="0" tIns="45696" rIns="0" bIns="45696" rtlCol="0" anchor="t" anchorCtr="0">
            <a:noAutofit/>
          </a:bodyPr>
          <a:lstStyle>
            <a:lvl1pPr algn="l" defTabSz="914400" rtl="0" eaLnBrk="1" latinLnBrk="0" hangingPunct="1">
              <a:lnSpc>
                <a:spcPct val="85000"/>
              </a:lnSpc>
              <a:spcBef>
                <a:spcPts val="0"/>
              </a:spcBef>
              <a:buNone/>
              <a:defRPr lang="en-US" sz="2700" b="0" kern="1200" dirty="0">
                <a:solidFill>
                  <a:schemeClr val="tx1"/>
                </a:solidFill>
                <a:latin typeface="+mj-lt"/>
                <a:ea typeface="+mj-ea"/>
                <a:cs typeface="+mj-cs"/>
              </a:defRPr>
            </a:lvl1pPr>
          </a:lstStyle>
          <a:p>
            <a:pPr defTabSz="913852">
              <a:defRPr/>
            </a:pPr>
            <a:endParaRPr lang="en-US" sz="1798" b="1">
              <a:solidFill>
                <a:srgbClr val="0000C9"/>
              </a:solidFill>
              <a:latin typeface="Arial" panose="020B0604020202020204"/>
            </a:endParaRPr>
          </a:p>
        </p:txBody>
      </p:sp>
      <p:sp>
        <p:nvSpPr>
          <p:cNvPr id="31" name="Oval 30">
            <a:extLst>
              <a:ext uri="{FF2B5EF4-FFF2-40B4-BE49-F238E27FC236}">
                <a16:creationId xmlns:a16="http://schemas.microsoft.com/office/drawing/2014/main" id="{59C27A93-3BE0-F67C-D1B0-33462C616F7E}"/>
              </a:ext>
            </a:extLst>
          </p:cNvPr>
          <p:cNvSpPr/>
          <p:nvPr/>
        </p:nvSpPr>
        <p:spPr bwMode="gray">
          <a:xfrm>
            <a:off x="6398106" y="3144820"/>
            <a:ext cx="126750" cy="124696"/>
          </a:xfrm>
          <a:prstGeom prst="ellipse">
            <a:avLst/>
          </a:prstGeom>
          <a:solidFill>
            <a:schemeClr val="accent1"/>
          </a:solidFill>
          <a:ln w="1905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3" name="Oval 32">
            <a:extLst>
              <a:ext uri="{FF2B5EF4-FFF2-40B4-BE49-F238E27FC236}">
                <a16:creationId xmlns:a16="http://schemas.microsoft.com/office/drawing/2014/main" id="{23CECC70-F7B0-000F-0C2F-12528068CBBF}"/>
              </a:ext>
            </a:extLst>
          </p:cNvPr>
          <p:cNvSpPr/>
          <p:nvPr/>
        </p:nvSpPr>
        <p:spPr bwMode="gray">
          <a:xfrm>
            <a:off x="6398105" y="3502598"/>
            <a:ext cx="124696" cy="124696"/>
          </a:xfrm>
          <a:prstGeom prst="ellipse">
            <a:avLst/>
          </a:prstGeom>
          <a:solidFill>
            <a:schemeClr val="accent2"/>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4" name="Oval 33">
            <a:extLst>
              <a:ext uri="{FF2B5EF4-FFF2-40B4-BE49-F238E27FC236}">
                <a16:creationId xmlns:a16="http://schemas.microsoft.com/office/drawing/2014/main" id="{90B42415-F9B7-A188-E5E7-599D261EA56D}"/>
              </a:ext>
            </a:extLst>
          </p:cNvPr>
          <p:cNvSpPr/>
          <p:nvPr/>
        </p:nvSpPr>
        <p:spPr bwMode="gray">
          <a:xfrm>
            <a:off x="6398105" y="3860375"/>
            <a:ext cx="124696" cy="124696"/>
          </a:xfrm>
          <a:prstGeom prst="ellipse">
            <a:avLst/>
          </a:prstGeom>
          <a:solidFill>
            <a:schemeClr val="accent3"/>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aphicFrame>
        <p:nvGraphicFramePr>
          <p:cNvPr id="37" name="Table 36">
            <a:extLst>
              <a:ext uri="{FF2B5EF4-FFF2-40B4-BE49-F238E27FC236}">
                <a16:creationId xmlns:a16="http://schemas.microsoft.com/office/drawing/2014/main" id="{A6B923A7-4723-ABD2-62BB-ED26B6E5A5F4}"/>
              </a:ext>
            </a:extLst>
          </p:cNvPr>
          <p:cNvGraphicFramePr>
            <a:graphicFrameLocks noGrp="1"/>
          </p:cNvGraphicFramePr>
          <p:nvPr/>
        </p:nvGraphicFramePr>
        <p:xfrm>
          <a:off x="6577648" y="3030015"/>
          <a:ext cx="1027529" cy="2516794"/>
        </p:xfrm>
        <a:graphic>
          <a:graphicData uri="http://schemas.openxmlformats.org/drawingml/2006/table">
            <a:tbl>
              <a:tblPr>
                <a:tableStyleId>{5C22544A-7EE6-4342-B048-85BDC9FD1C3A}</a:tableStyleId>
              </a:tblPr>
              <a:tblGrid>
                <a:gridCol w="1027529">
                  <a:extLst>
                    <a:ext uri="{9D8B030D-6E8A-4147-A177-3AD203B41FA5}">
                      <a16:colId xmlns:a16="http://schemas.microsoft.com/office/drawing/2014/main" val="1927998642"/>
                    </a:ext>
                  </a:extLst>
                </a:gridCol>
              </a:tblGrid>
              <a:tr h="359542">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&lt; 1 month</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032717"/>
                  </a:ext>
                </a:extLst>
              </a:tr>
              <a:tr h="359542">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1 to &lt; 3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4283452"/>
                  </a:ext>
                </a:extLst>
              </a:tr>
              <a:tr h="359542">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3 to &lt; 6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8720126"/>
                  </a:ext>
                </a:extLst>
              </a:tr>
              <a:tr h="359542">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6 to &lt; 9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92804416"/>
                  </a:ext>
                </a:extLst>
              </a:tr>
              <a:tr h="359542">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9 to &lt; 12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5366642"/>
                  </a:ext>
                </a:extLst>
              </a:tr>
              <a:tr h="359542">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&gt; 12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58045002"/>
                  </a:ext>
                </a:extLst>
              </a:tr>
              <a:tr h="359542">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Unsure</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6928901"/>
                  </a:ext>
                </a:extLst>
              </a:tr>
            </a:tbl>
          </a:graphicData>
        </a:graphic>
      </p:graphicFrame>
      <p:sp>
        <p:nvSpPr>
          <p:cNvPr id="38" name="Oval 37">
            <a:extLst>
              <a:ext uri="{FF2B5EF4-FFF2-40B4-BE49-F238E27FC236}">
                <a16:creationId xmlns:a16="http://schemas.microsoft.com/office/drawing/2014/main" id="{FBCCE718-D43E-E40A-6939-314CC6C9192D}"/>
              </a:ext>
            </a:extLst>
          </p:cNvPr>
          <p:cNvSpPr/>
          <p:nvPr/>
        </p:nvSpPr>
        <p:spPr bwMode="gray">
          <a:xfrm>
            <a:off x="6398106" y="4218153"/>
            <a:ext cx="126750" cy="124696"/>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9" name="Oval 38">
            <a:extLst>
              <a:ext uri="{FF2B5EF4-FFF2-40B4-BE49-F238E27FC236}">
                <a16:creationId xmlns:a16="http://schemas.microsoft.com/office/drawing/2014/main" id="{05C675F0-A75C-1564-E82A-53288C9189CB}"/>
              </a:ext>
            </a:extLst>
          </p:cNvPr>
          <p:cNvSpPr/>
          <p:nvPr/>
        </p:nvSpPr>
        <p:spPr bwMode="gray">
          <a:xfrm>
            <a:off x="6398105" y="4575930"/>
            <a:ext cx="124696" cy="124696"/>
          </a:xfrm>
          <a:prstGeom prst="ellipse">
            <a:avLst/>
          </a:prstGeom>
          <a:solidFill>
            <a:schemeClr val="accent5"/>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0" name="Oval 39">
            <a:extLst>
              <a:ext uri="{FF2B5EF4-FFF2-40B4-BE49-F238E27FC236}">
                <a16:creationId xmlns:a16="http://schemas.microsoft.com/office/drawing/2014/main" id="{14C724AE-0049-496F-5811-9607777E4F93}"/>
              </a:ext>
            </a:extLst>
          </p:cNvPr>
          <p:cNvSpPr/>
          <p:nvPr/>
        </p:nvSpPr>
        <p:spPr bwMode="gray">
          <a:xfrm>
            <a:off x="6398105" y="4933708"/>
            <a:ext cx="124696" cy="124696"/>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1" name="Oval 40">
            <a:extLst>
              <a:ext uri="{FF2B5EF4-FFF2-40B4-BE49-F238E27FC236}">
                <a16:creationId xmlns:a16="http://schemas.microsoft.com/office/drawing/2014/main" id="{13C80BE0-12A6-B785-5007-3EE6F5880355}"/>
              </a:ext>
            </a:extLst>
          </p:cNvPr>
          <p:cNvSpPr/>
          <p:nvPr/>
        </p:nvSpPr>
        <p:spPr bwMode="gray">
          <a:xfrm>
            <a:off x="6398105" y="5291486"/>
            <a:ext cx="124696" cy="124696"/>
          </a:xfrm>
          <a:prstGeom prst="ellipse">
            <a:avLst/>
          </a:prstGeom>
          <a:solidFill>
            <a:schemeClr val="bg1">
              <a:lumMod val="65000"/>
            </a:schemeClr>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nvGrpSpPr>
          <p:cNvPr id="57" name="Group 56">
            <a:extLst>
              <a:ext uri="{FF2B5EF4-FFF2-40B4-BE49-F238E27FC236}">
                <a16:creationId xmlns:a16="http://schemas.microsoft.com/office/drawing/2014/main" id="{C15F42F2-1561-B7C6-DD88-157A949BB53B}"/>
              </a:ext>
            </a:extLst>
          </p:cNvPr>
          <p:cNvGrpSpPr/>
          <p:nvPr/>
        </p:nvGrpSpPr>
        <p:grpSpPr>
          <a:xfrm>
            <a:off x="451284" y="1649524"/>
            <a:ext cx="649840" cy="289246"/>
            <a:chOff x="1686341" y="1600319"/>
            <a:chExt cx="650178" cy="289396"/>
          </a:xfrm>
        </p:grpSpPr>
        <p:cxnSp>
          <p:nvCxnSpPr>
            <p:cNvPr id="58" name="Straight Connector 57">
              <a:extLst>
                <a:ext uri="{FF2B5EF4-FFF2-40B4-BE49-F238E27FC236}">
                  <a16:creationId xmlns:a16="http://schemas.microsoft.com/office/drawing/2014/main" id="{A8739A10-84E0-6663-063C-846B90652AA1}"/>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59" name="TextBox 58">
              <a:extLst>
                <a:ext uri="{FF2B5EF4-FFF2-40B4-BE49-F238E27FC236}">
                  <a16:creationId xmlns:a16="http://schemas.microsoft.com/office/drawing/2014/main" id="{0489FB76-648C-7D07-D38E-DA52FD4612D6}"/>
                </a:ext>
              </a:extLst>
            </p:cNvPr>
            <p:cNvSpPr txBox="1"/>
            <p:nvPr/>
          </p:nvSpPr>
          <p:spPr bwMode="gray">
            <a:xfrm>
              <a:off x="1686341" y="1600319"/>
              <a:ext cx="650178" cy="286232"/>
            </a:xfrm>
            <a:prstGeom prst="rect">
              <a:avLst/>
            </a:prstGeom>
          </p:spPr>
          <p:txBody>
            <a:bodyPr wrap="none" lIns="45696" tIns="45696" rIns="45696" bIns="45696" rtlCol="0">
              <a:spAutoFit/>
            </a:bodyPr>
            <a:lstStyle/>
            <a:p>
              <a:pPr algn="ctr" defTabSz="913852">
                <a:lnSpc>
                  <a:spcPct val="90000"/>
                </a:lnSpc>
                <a:spcBef>
                  <a:spcPts val="1000"/>
                </a:spcBef>
                <a:defRPr/>
              </a:pPr>
              <a:r>
                <a:rPr lang="en-US" sz="1400">
                  <a:solidFill>
                    <a:srgbClr val="000000"/>
                  </a:solidFill>
                  <a:latin typeface="Arial" panose="020B0604020202020204"/>
                </a:rPr>
                <a:t>Sep’25</a:t>
              </a:r>
            </a:p>
          </p:txBody>
        </p:sp>
      </p:grpSp>
      <p:sp>
        <p:nvSpPr>
          <p:cNvPr id="76" name="TextBox 75">
            <a:extLst>
              <a:ext uri="{FF2B5EF4-FFF2-40B4-BE49-F238E27FC236}">
                <a16:creationId xmlns:a16="http://schemas.microsoft.com/office/drawing/2014/main" id="{35832297-998E-EB33-3245-FB7A4EDFABE4}"/>
              </a:ext>
            </a:extLst>
          </p:cNvPr>
          <p:cNvSpPr txBox="1"/>
          <p:nvPr/>
        </p:nvSpPr>
        <p:spPr bwMode="gray">
          <a:xfrm>
            <a:off x="4318572" y="2741345"/>
            <a:ext cx="1960412" cy="286082"/>
          </a:xfrm>
          <a:prstGeom prst="rect">
            <a:avLst/>
          </a:prstGeom>
          <a:ln>
            <a:noFill/>
          </a:ln>
        </p:spPr>
        <p:txBody>
          <a:bodyPr wrap="none" lIns="45696" tIns="45696" rIns="45696" bIns="45696" rtlCol="0">
            <a:spAutoFit/>
          </a:bodyPr>
          <a:lstStyle/>
          <a:p>
            <a:pPr algn="ctr" defTabSz="913852">
              <a:lnSpc>
                <a:spcPct val="90000"/>
              </a:lnSpc>
              <a:spcAft>
                <a:spcPts val="400"/>
              </a:spcAft>
              <a:defRPr/>
            </a:pPr>
            <a:r>
              <a:rPr lang="en-US" sz="1400" b="1">
                <a:solidFill>
                  <a:srgbClr val="000000"/>
                </a:solidFill>
                <a:latin typeface="Arial" panose="020B0604020202020204"/>
              </a:rPr>
              <a:t>1</a:t>
            </a:r>
            <a:r>
              <a:rPr lang="en-US" sz="1400" b="1" baseline="30000">
                <a:solidFill>
                  <a:srgbClr val="000000"/>
                </a:solidFill>
                <a:latin typeface="Arial" panose="020B0604020202020204"/>
              </a:rPr>
              <a:t>st</a:t>
            </a:r>
            <a:r>
              <a:rPr lang="en-US" sz="1400" b="1">
                <a:solidFill>
                  <a:srgbClr val="000000"/>
                </a:solidFill>
                <a:latin typeface="Arial" panose="020B0604020202020204"/>
              </a:rPr>
              <a:t> Recommend/Stock</a:t>
            </a:r>
          </a:p>
        </p:txBody>
      </p:sp>
      <p:sp>
        <p:nvSpPr>
          <p:cNvPr id="77" name="TextBox 76">
            <a:extLst>
              <a:ext uri="{FF2B5EF4-FFF2-40B4-BE49-F238E27FC236}">
                <a16:creationId xmlns:a16="http://schemas.microsoft.com/office/drawing/2014/main" id="{B385F484-FDDB-5896-949A-DE81EC1D4519}"/>
              </a:ext>
            </a:extLst>
          </p:cNvPr>
          <p:cNvSpPr txBox="1"/>
          <p:nvPr/>
        </p:nvSpPr>
        <p:spPr bwMode="gray">
          <a:xfrm>
            <a:off x="7703175" y="2741345"/>
            <a:ext cx="1542247" cy="286082"/>
          </a:xfrm>
          <a:prstGeom prst="rect">
            <a:avLst/>
          </a:prstGeom>
          <a:ln>
            <a:noFill/>
          </a:ln>
        </p:spPr>
        <p:txBody>
          <a:bodyPr wrap="none" lIns="45696" tIns="45696" rIns="45696" bIns="45696" rtlCol="0">
            <a:spAutoFit/>
          </a:bodyPr>
          <a:lstStyle/>
          <a:p>
            <a:pPr algn="ctr" defTabSz="913852">
              <a:lnSpc>
                <a:spcPct val="90000"/>
              </a:lnSpc>
              <a:spcAft>
                <a:spcPts val="400"/>
              </a:spcAft>
              <a:defRPr/>
            </a:pPr>
            <a:r>
              <a:rPr lang="en-US" sz="1400" b="1">
                <a:solidFill>
                  <a:srgbClr val="000000"/>
                </a:solidFill>
                <a:latin typeface="Arial" panose="020B0604020202020204"/>
              </a:rPr>
              <a:t>Fully Incorporate</a:t>
            </a:r>
          </a:p>
        </p:txBody>
      </p:sp>
      <p:grpSp>
        <p:nvGrpSpPr>
          <p:cNvPr id="2" name="Group 1">
            <a:extLst>
              <a:ext uri="{FF2B5EF4-FFF2-40B4-BE49-F238E27FC236}">
                <a16:creationId xmlns:a16="http://schemas.microsoft.com/office/drawing/2014/main" id="{1880C8B6-5DB3-7EEE-4D47-E3CBCB6DC956}"/>
              </a:ext>
            </a:extLst>
          </p:cNvPr>
          <p:cNvGrpSpPr/>
          <p:nvPr/>
        </p:nvGrpSpPr>
        <p:grpSpPr>
          <a:xfrm>
            <a:off x="785351" y="3260520"/>
            <a:ext cx="1748248" cy="2087246"/>
            <a:chOff x="597388" y="2749276"/>
            <a:chExt cx="1749159" cy="2088334"/>
          </a:xfrm>
        </p:grpSpPr>
        <p:grpSp>
          <p:nvGrpSpPr>
            <p:cNvPr id="14" name="Group 13">
              <a:extLst>
                <a:ext uri="{FF2B5EF4-FFF2-40B4-BE49-F238E27FC236}">
                  <a16:creationId xmlns:a16="http://schemas.microsoft.com/office/drawing/2014/main" id="{3E5056B8-4DFF-B8A8-8370-A3ACC474D478}"/>
                </a:ext>
              </a:extLst>
            </p:cNvPr>
            <p:cNvGrpSpPr/>
            <p:nvPr/>
          </p:nvGrpSpPr>
          <p:grpSpPr>
            <a:xfrm>
              <a:off x="597388" y="2749276"/>
              <a:ext cx="1749159" cy="258532"/>
              <a:chOff x="597388" y="3310453"/>
              <a:chExt cx="1749159" cy="258532"/>
            </a:xfrm>
          </p:grpSpPr>
          <p:sp>
            <p:nvSpPr>
              <p:cNvPr id="45" name="TextBox 44">
                <a:extLst>
                  <a:ext uri="{FF2B5EF4-FFF2-40B4-BE49-F238E27FC236}">
                    <a16:creationId xmlns:a16="http://schemas.microsoft.com/office/drawing/2014/main" id="{E426167A-E7AA-6857-AEE6-9C46584E593C}"/>
                  </a:ext>
                </a:extLst>
              </p:cNvPr>
              <p:cNvSpPr txBox="1"/>
              <p:nvPr/>
            </p:nvSpPr>
            <p:spPr bwMode="gray">
              <a:xfrm>
                <a:off x="849983" y="3310453"/>
                <a:ext cx="1496564" cy="258532"/>
              </a:xfrm>
              <a:prstGeom prst="rect">
                <a:avLst/>
              </a:prstGeom>
            </p:spPr>
            <p:txBody>
              <a:bodyPr wrap="none" lIns="45696" tIns="45696" rIns="45696" bIns="45696" rtlCol="0" anchor="ctr" anchorCtr="0">
                <a:spAutoFit/>
              </a:bodyPr>
              <a:lstStyle/>
              <a:p>
                <a:pPr defTabSz="913852">
                  <a:lnSpc>
                    <a:spcPct val="90000"/>
                  </a:lnSpc>
                  <a:defRPr/>
                </a:pPr>
                <a:r>
                  <a:rPr lang="en-US" sz="1200">
                    <a:solidFill>
                      <a:srgbClr val="000000"/>
                    </a:solidFill>
                    <a:latin typeface="Arial" panose="020B0604020202020204"/>
                  </a:rPr>
                  <a:t>High Likelihood (6,7)</a:t>
                </a:r>
              </a:p>
            </p:txBody>
          </p:sp>
          <p:sp>
            <p:nvSpPr>
              <p:cNvPr id="46" name="Oval 45">
                <a:extLst>
                  <a:ext uri="{FF2B5EF4-FFF2-40B4-BE49-F238E27FC236}">
                    <a16:creationId xmlns:a16="http://schemas.microsoft.com/office/drawing/2014/main" id="{E02BF4C8-AB9E-2140-086A-FA3182BAAEF1}"/>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grpSp>
          <p:nvGrpSpPr>
            <p:cNvPr id="19" name="Group 18">
              <a:extLst>
                <a:ext uri="{FF2B5EF4-FFF2-40B4-BE49-F238E27FC236}">
                  <a16:creationId xmlns:a16="http://schemas.microsoft.com/office/drawing/2014/main" id="{708B1EF1-2B03-F151-1EF8-69F2038A9CDF}"/>
                </a:ext>
              </a:extLst>
            </p:cNvPr>
            <p:cNvGrpSpPr/>
            <p:nvPr/>
          </p:nvGrpSpPr>
          <p:grpSpPr>
            <a:xfrm>
              <a:off x="597388" y="3664177"/>
              <a:ext cx="1359629" cy="258532"/>
              <a:chOff x="597388" y="4258065"/>
              <a:chExt cx="1359629" cy="258532"/>
            </a:xfrm>
          </p:grpSpPr>
          <p:sp>
            <p:nvSpPr>
              <p:cNvPr id="28" name="Oval 27">
                <a:extLst>
                  <a:ext uri="{FF2B5EF4-FFF2-40B4-BE49-F238E27FC236}">
                    <a16:creationId xmlns:a16="http://schemas.microsoft.com/office/drawing/2014/main" id="{341E233F-D089-819B-428C-9259B6C508AD}"/>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4" name="TextBox 43">
                <a:extLst>
                  <a:ext uri="{FF2B5EF4-FFF2-40B4-BE49-F238E27FC236}">
                    <a16:creationId xmlns:a16="http://schemas.microsoft.com/office/drawing/2014/main" id="{76A1A87A-7564-6B4E-B162-06F6A9155E7B}"/>
                  </a:ext>
                </a:extLst>
              </p:cNvPr>
              <p:cNvSpPr txBox="1"/>
              <p:nvPr/>
            </p:nvSpPr>
            <p:spPr bwMode="gray">
              <a:xfrm>
                <a:off x="849983" y="4258065"/>
                <a:ext cx="1107034" cy="258532"/>
              </a:xfrm>
              <a:prstGeom prst="rect">
                <a:avLst/>
              </a:prstGeom>
            </p:spPr>
            <p:txBody>
              <a:bodyPr wrap="none" lIns="45696" tIns="45696" rIns="45696" bIns="45696" rtlCol="0" anchor="ctr" anchorCtr="0">
                <a:spAutoFit/>
              </a:bodyPr>
              <a:lstStyle/>
              <a:p>
                <a:pPr defTabSz="913852">
                  <a:lnSpc>
                    <a:spcPct val="90000"/>
                  </a:lnSpc>
                  <a:defRPr/>
                </a:pPr>
                <a:r>
                  <a:rPr lang="en-US" sz="1200">
                    <a:solidFill>
                      <a:srgbClr val="000000"/>
                    </a:solidFill>
                    <a:latin typeface="Arial" panose="020B0604020202020204"/>
                  </a:rPr>
                  <a:t>Moderate (3-5)</a:t>
                </a:r>
              </a:p>
            </p:txBody>
          </p:sp>
        </p:grpSp>
        <p:grpSp>
          <p:nvGrpSpPr>
            <p:cNvPr id="20" name="Group 19">
              <a:extLst>
                <a:ext uri="{FF2B5EF4-FFF2-40B4-BE49-F238E27FC236}">
                  <a16:creationId xmlns:a16="http://schemas.microsoft.com/office/drawing/2014/main" id="{974FEC5B-3795-75FC-BDF0-8B613B926ED2}"/>
                </a:ext>
              </a:extLst>
            </p:cNvPr>
            <p:cNvGrpSpPr/>
            <p:nvPr/>
          </p:nvGrpSpPr>
          <p:grpSpPr>
            <a:xfrm>
              <a:off x="597388" y="4579078"/>
              <a:ext cx="1715496" cy="258532"/>
              <a:chOff x="597388" y="4831997"/>
              <a:chExt cx="1715496" cy="258532"/>
            </a:xfrm>
          </p:grpSpPr>
          <p:sp>
            <p:nvSpPr>
              <p:cNvPr id="21" name="Oval 20">
                <a:extLst>
                  <a:ext uri="{FF2B5EF4-FFF2-40B4-BE49-F238E27FC236}">
                    <a16:creationId xmlns:a16="http://schemas.microsoft.com/office/drawing/2014/main" id="{4DEA62E1-CD00-13F7-183E-029AB49B4509}"/>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27" name="TextBox 26">
                <a:extLst>
                  <a:ext uri="{FF2B5EF4-FFF2-40B4-BE49-F238E27FC236}">
                    <a16:creationId xmlns:a16="http://schemas.microsoft.com/office/drawing/2014/main" id="{9C7D1A4F-ED75-1CAF-3FCE-FABBE9CAE483}"/>
                  </a:ext>
                </a:extLst>
              </p:cNvPr>
              <p:cNvSpPr txBox="1"/>
              <p:nvPr/>
            </p:nvSpPr>
            <p:spPr bwMode="gray">
              <a:xfrm>
                <a:off x="849983" y="4831997"/>
                <a:ext cx="1462901" cy="258532"/>
              </a:xfrm>
              <a:prstGeom prst="rect">
                <a:avLst/>
              </a:prstGeom>
            </p:spPr>
            <p:txBody>
              <a:bodyPr wrap="none" lIns="45696" tIns="45696" rIns="45696" bIns="45696" rtlCol="0" anchor="ctr" anchorCtr="0">
                <a:spAutoFit/>
              </a:bodyPr>
              <a:lstStyle/>
              <a:p>
                <a:pPr defTabSz="913852">
                  <a:lnSpc>
                    <a:spcPct val="90000"/>
                  </a:lnSpc>
                  <a:defRPr/>
                </a:pPr>
                <a:r>
                  <a:rPr lang="en-US" sz="1200">
                    <a:solidFill>
                      <a:srgbClr val="000000"/>
                    </a:solidFill>
                    <a:latin typeface="Arial" panose="020B0604020202020204"/>
                  </a:rPr>
                  <a:t>Low Likelihood (1,2)</a:t>
                </a:r>
              </a:p>
            </p:txBody>
          </p:sp>
        </p:grpSp>
      </p:grpSp>
      <p:sp>
        <p:nvSpPr>
          <p:cNvPr id="49" name="TextBox 48">
            <a:extLst>
              <a:ext uri="{FF2B5EF4-FFF2-40B4-BE49-F238E27FC236}">
                <a16:creationId xmlns:a16="http://schemas.microsoft.com/office/drawing/2014/main" id="{35002E4F-D570-06C9-05CF-C9C2F320FFD4}"/>
              </a:ext>
            </a:extLst>
          </p:cNvPr>
          <p:cNvSpPr txBox="1"/>
          <p:nvPr/>
        </p:nvSpPr>
        <p:spPr bwMode="gray">
          <a:xfrm>
            <a:off x="1228644" y="2514239"/>
            <a:ext cx="2129601" cy="230712"/>
          </a:xfrm>
          <a:prstGeom prst="rect">
            <a:avLst/>
          </a:prstGeom>
          <a:noFill/>
        </p:spPr>
        <p:txBody>
          <a:bodyPr wrap="none">
            <a:spAutoFit/>
          </a:bodyPr>
          <a:lstStyle/>
          <a:p>
            <a:pPr algn="r" defTabSz="913852">
              <a:defRPr/>
            </a:pPr>
            <a:r>
              <a:rPr lang="en-US" sz="900" i="1" dirty="0">
                <a:solidFill>
                  <a:srgbClr val="000000">
                    <a:lumMod val="50000"/>
                    <a:lumOff val="50000"/>
                  </a:srgbClr>
                </a:solidFill>
                <a:latin typeface="Arial" panose="020B0604020202020204"/>
              </a:rPr>
              <a:t>Base: Penbraya non-stockers </a:t>
            </a:r>
            <a:r>
              <a:rPr lang="en-US" sz="900" i="1" dirty="0">
                <a:solidFill>
                  <a:srgbClr val="FFFFFF">
                    <a:lumMod val="50000"/>
                  </a:srgbClr>
                </a:solidFill>
                <a:latin typeface="Arial" panose="020B0604020202020204"/>
              </a:rPr>
              <a:t>(n=166)</a:t>
            </a:r>
          </a:p>
        </p:txBody>
      </p:sp>
      <p:sp>
        <p:nvSpPr>
          <p:cNvPr id="55" name="Isosceles Triangle 54">
            <a:extLst>
              <a:ext uri="{FF2B5EF4-FFF2-40B4-BE49-F238E27FC236}">
                <a16:creationId xmlns:a16="http://schemas.microsoft.com/office/drawing/2014/main" id="{7D0B9124-B0CE-F1CC-E03C-51F9F79AE301}"/>
              </a:ext>
            </a:extLst>
          </p:cNvPr>
          <p:cNvSpPr/>
          <p:nvPr/>
        </p:nvSpPr>
        <p:spPr bwMode="gray">
          <a:xfrm rot="5400000">
            <a:off x="3413331" y="3072461"/>
            <a:ext cx="942308" cy="929193"/>
          </a:xfrm>
          <a:prstGeom prst="triangle">
            <a:avLst/>
          </a:prstGeom>
          <a:solidFill>
            <a:schemeClr val="accent4">
              <a:lumMod val="40000"/>
              <a:lumOff val="60000"/>
            </a:schemeClr>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84" name="TextBox 83">
            <a:extLst>
              <a:ext uri="{FF2B5EF4-FFF2-40B4-BE49-F238E27FC236}">
                <a16:creationId xmlns:a16="http://schemas.microsoft.com/office/drawing/2014/main" id="{40FC0C64-0CEE-400B-AB44-1F6CAFE08267}"/>
              </a:ext>
            </a:extLst>
          </p:cNvPr>
          <p:cNvSpPr txBox="1"/>
          <p:nvPr/>
        </p:nvSpPr>
        <p:spPr bwMode="gray">
          <a:xfrm>
            <a:off x="3365033" y="3219729"/>
            <a:ext cx="1142810" cy="645995"/>
          </a:xfrm>
          <a:prstGeom prst="rect">
            <a:avLst/>
          </a:prstGeom>
          <a:noFill/>
        </p:spPr>
        <p:txBody>
          <a:bodyPr wrap="square">
            <a:spAutoFit/>
          </a:bodyPr>
          <a:lstStyle/>
          <a:p>
            <a:pPr defTabSz="913852">
              <a:defRPr/>
            </a:pPr>
            <a:r>
              <a:rPr lang="en-US" sz="1000" b="1">
                <a:solidFill>
                  <a:srgbClr val="000000"/>
                </a:solidFill>
                <a:latin typeface="Arial" panose="020B0604020202020204"/>
              </a:rPr>
              <a:t>Highly </a:t>
            </a:r>
            <a:br>
              <a:rPr lang="en-US" sz="1000" b="1">
                <a:solidFill>
                  <a:srgbClr val="000000"/>
                </a:solidFill>
                <a:latin typeface="Arial" panose="020B0604020202020204"/>
              </a:rPr>
            </a:br>
            <a:r>
              <a:rPr lang="en-US" sz="1000" b="1">
                <a:solidFill>
                  <a:srgbClr val="000000"/>
                </a:solidFill>
                <a:latin typeface="Arial" panose="020B0604020202020204"/>
              </a:rPr>
              <a:t>Likely to </a:t>
            </a:r>
          </a:p>
          <a:p>
            <a:pPr defTabSz="913852">
              <a:defRPr/>
            </a:pPr>
            <a:r>
              <a:rPr lang="en-US" sz="1000" b="1">
                <a:solidFill>
                  <a:srgbClr val="000000"/>
                </a:solidFill>
                <a:latin typeface="Arial" panose="020B0604020202020204"/>
              </a:rPr>
              <a:t>Stock </a:t>
            </a:r>
          </a:p>
          <a:p>
            <a:pPr defTabSz="913852">
              <a:defRPr/>
            </a:pPr>
            <a:r>
              <a:rPr lang="en-US" sz="600">
                <a:solidFill>
                  <a:srgbClr val="000000"/>
                </a:solidFill>
                <a:latin typeface="Arial" panose="020B0604020202020204"/>
              </a:rPr>
              <a:t>(n=30)</a:t>
            </a:r>
            <a:endParaRPr lang="en-US" sz="500">
              <a:solidFill>
                <a:srgbClr val="000000"/>
              </a:solidFill>
              <a:latin typeface="Arial" panose="020B0604020202020204"/>
            </a:endParaRPr>
          </a:p>
        </p:txBody>
      </p:sp>
      <p:sp>
        <p:nvSpPr>
          <p:cNvPr id="86" name="TextBox 85">
            <a:extLst>
              <a:ext uri="{FF2B5EF4-FFF2-40B4-BE49-F238E27FC236}">
                <a16:creationId xmlns:a16="http://schemas.microsoft.com/office/drawing/2014/main" id="{B4246ED2-38A3-D75F-72C0-CA95318A6BF3}"/>
              </a:ext>
            </a:extLst>
          </p:cNvPr>
          <p:cNvSpPr txBox="1"/>
          <p:nvPr/>
        </p:nvSpPr>
        <p:spPr bwMode="gray">
          <a:xfrm>
            <a:off x="5472984" y="2514239"/>
            <a:ext cx="2610252" cy="230712"/>
          </a:xfrm>
          <a:prstGeom prst="rect">
            <a:avLst/>
          </a:prstGeom>
          <a:noFill/>
        </p:spPr>
        <p:txBody>
          <a:bodyPr wrap="none">
            <a:spAutoFit/>
          </a:bodyPr>
          <a:lstStyle>
            <a:defPPr>
              <a:defRPr lang="en-US"/>
            </a:defPPr>
            <a:lvl1pPr algn="r">
              <a:defRPr sz="1000" i="1">
                <a:solidFill>
                  <a:schemeClr val="tx1">
                    <a:lumMod val="50000"/>
                    <a:lumOff val="50000"/>
                  </a:schemeClr>
                </a:solidFill>
              </a:defRPr>
            </a:lvl1pPr>
          </a:lstStyle>
          <a:p>
            <a:pPr algn="ctr" defTabSz="913852">
              <a:defRPr/>
            </a:pPr>
            <a:r>
              <a:rPr lang="en-US" sz="900">
                <a:solidFill>
                  <a:srgbClr val="000000">
                    <a:lumMod val="50000"/>
                    <a:lumOff val="50000"/>
                  </a:srgbClr>
                </a:solidFill>
                <a:latin typeface="Arial" panose="020B0604020202020204"/>
              </a:rPr>
              <a:t>Base: Non-stockers highly likely to stock (n=30)</a:t>
            </a:r>
          </a:p>
        </p:txBody>
      </p:sp>
      <p:graphicFrame>
        <p:nvGraphicFramePr>
          <p:cNvPr id="87" name="Chart 86">
            <a:extLst>
              <a:ext uri="{FF2B5EF4-FFF2-40B4-BE49-F238E27FC236}">
                <a16:creationId xmlns:a16="http://schemas.microsoft.com/office/drawing/2014/main" id="{21AEABF5-E8FA-2C4B-5EBC-A8BE98DCA272}"/>
              </a:ext>
            </a:extLst>
          </p:cNvPr>
          <p:cNvGraphicFramePr/>
          <p:nvPr/>
        </p:nvGraphicFramePr>
        <p:xfrm>
          <a:off x="4395712" y="2960827"/>
          <a:ext cx="1944952" cy="30768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0" name="Chart 89">
            <a:extLst>
              <a:ext uri="{FF2B5EF4-FFF2-40B4-BE49-F238E27FC236}">
                <a16:creationId xmlns:a16="http://schemas.microsoft.com/office/drawing/2014/main" id="{49F5DA3B-C82C-8F56-C51C-413A8AA8564A}"/>
              </a:ext>
            </a:extLst>
          </p:cNvPr>
          <p:cNvGraphicFramePr/>
          <p:nvPr/>
        </p:nvGraphicFramePr>
        <p:xfrm>
          <a:off x="7511123" y="2960827"/>
          <a:ext cx="1944952" cy="3076877"/>
        </p:xfrm>
        <a:graphic>
          <a:graphicData uri="http://schemas.openxmlformats.org/drawingml/2006/chart">
            <c:chart xmlns:c="http://schemas.openxmlformats.org/drawingml/2006/chart" xmlns:r="http://schemas.openxmlformats.org/officeDocument/2006/relationships" r:id="rId5"/>
          </a:graphicData>
        </a:graphic>
      </p:graphicFrame>
      <p:sp>
        <p:nvSpPr>
          <p:cNvPr id="3" name="Rectangle 2">
            <a:extLst>
              <a:ext uri="{FF2B5EF4-FFF2-40B4-BE49-F238E27FC236}">
                <a16:creationId xmlns:a16="http://schemas.microsoft.com/office/drawing/2014/main" id="{C631CE80-4204-172F-3C52-ED0F4C95734B}"/>
              </a:ext>
            </a:extLst>
          </p:cNvPr>
          <p:cNvSpPr/>
          <p:nvPr/>
        </p:nvSpPr>
        <p:spPr bwMode="gray">
          <a:xfrm>
            <a:off x="4935353" y="3094178"/>
            <a:ext cx="719811" cy="1380428"/>
          </a:xfrm>
          <a:prstGeom prst="rect">
            <a:avLst/>
          </a:prstGeom>
          <a:noFill/>
          <a:ln w="28575" cap="flat" cmpd="sng" algn="ctr">
            <a:solidFill>
              <a:schemeClr val="accent4"/>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5" name="Rectangle 4">
            <a:extLst>
              <a:ext uri="{FF2B5EF4-FFF2-40B4-BE49-F238E27FC236}">
                <a16:creationId xmlns:a16="http://schemas.microsoft.com/office/drawing/2014/main" id="{E89FFE80-C040-B526-1760-0B97500066AD}"/>
              </a:ext>
            </a:extLst>
          </p:cNvPr>
          <p:cNvSpPr/>
          <p:nvPr/>
        </p:nvSpPr>
        <p:spPr bwMode="gray">
          <a:xfrm>
            <a:off x="8121180" y="3091154"/>
            <a:ext cx="719811" cy="1526650"/>
          </a:xfrm>
          <a:prstGeom prst="rect">
            <a:avLst/>
          </a:prstGeom>
          <a:noFill/>
          <a:ln w="28575" cap="flat" cmpd="sng" algn="ctr">
            <a:solidFill>
              <a:schemeClr val="accent4"/>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13" name="TextBox 12">
            <a:extLst>
              <a:ext uri="{FF2B5EF4-FFF2-40B4-BE49-F238E27FC236}">
                <a16:creationId xmlns:a16="http://schemas.microsoft.com/office/drawing/2014/main" id="{974FABC7-7761-CE69-BBEA-F48AF877495A}"/>
              </a:ext>
            </a:extLst>
          </p:cNvPr>
          <p:cNvSpPr txBox="1"/>
          <p:nvPr/>
        </p:nvSpPr>
        <p:spPr bwMode="gray">
          <a:xfrm>
            <a:off x="4491812" y="3664694"/>
            <a:ext cx="398379" cy="258441"/>
          </a:xfrm>
          <a:prstGeom prst="rect">
            <a:avLst/>
          </a:prstGeom>
          <a:solidFill>
            <a:srgbClr val="F2F2F2"/>
          </a:solidFill>
        </p:spPr>
        <p:txBody>
          <a:bodyPr wrap="none" lIns="45696" tIns="45696" rIns="45696" bIns="45696" rtlCol="0">
            <a:spAutoFit/>
          </a:bodyPr>
          <a:lstStyle/>
          <a:p>
            <a:pPr defTabSz="913852">
              <a:lnSpc>
                <a:spcPct val="90000"/>
              </a:lnSpc>
              <a:spcBef>
                <a:spcPts val="1000"/>
              </a:spcBef>
              <a:defRPr/>
            </a:pPr>
            <a:r>
              <a:rPr lang="en-US" sz="1200" b="1">
                <a:solidFill>
                  <a:srgbClr val="67BB6E"/>
                </a:solidFill>
                <a:latin typeface="Arial" panose="020B0604020202020204"/>
              </a:rPr>
              <a:t>56%</a:t>
            </a:r>
          </a:p>
        </p:txBody>
      </p:sp>
      <p:sp>
        <p:nvSpPr>
          <p:cNvPr id="15" name="TextBox 14">
            <a:extLst>
              <a:ext uri="{FF2B5EF4-FFF2-40B4-BE49-F238E27FC236}">
                <a16:creationId xmlns:a16="http://schemas.microsoft.com/office/drawing/2014/main" id="{B05F5895-8517-4204-DBEA-C6017F71B5D6}"/>
              </a:ext>
            </a:extLst>
          </p:cNvPr>
          <p:cNvSpPr txBox="1"/>
          <p:nvPr/>
        </p:nvSpPr>
        <p:spPr bwMode="gray">
          <a:xfrm>
            <a:off x="8877109" y="3724423"/>
            <a:ext cx="398379" cy="258441"/>
          </a:xfrm>
          <a:prstGeom prst="rect">
            <a:avLst/>
          </a:prstGeom>
          <a:solidFill>
            <a:srgbClr val="F2F2F2"/>
          </a:solidFill>
        </p:spPr>
        <p:txBody>
          <a:bodyPr wrap="none" lIns="45696" tIns="45696" rIns="45696" bIns="45696" rtlCol="0">
            <a:spAutoFit/>
          </a:bodyPr>
          <a:lstStyle/>
          <a:p>
            <a:pPr defTabSz="913852">
              <a:lnSpc>
                <a:spcPct val="90000"/>
              </a:lnSpc>
              <a:spcBef>
                <a:spcPts val="1000"/>
              </a:spcBef>
              <a:defRPr/>
            </a:pPr>
            <a:r>
              <a:rPr lang="en-US" sz="1200" b="1">
                <a:solidFill>
                  <a:srgbClr val="67BB6E"/>
                </a:solidFill>
                <a:latin typeface="Arial" panose="020B0604020202020204"/>
              </a:rPr>
              <a:t>62%</a:t>
            </a:r>
          </a:p>
        </p:txBody>
      </p:sp>
      <p:sp>
        <p:nvSpPr>
          <p:cNvPr id="25" name="TextBox 24">
            <a:extLst>
              <a:ext uri="{FF2B5EF4-FFF2-40B4-BE49-F238E27FC236}">
                <a16:creationId xmlns:a16="http://schemas.microsoft.com/office/drawing/2014/main" id="{B5D9CA42-E18C-58B7-EDA8-642B6AB7D2A7}"/>
              </a:ext>
            </a:extLst>
          </p:cNvPr>
          <p:cNvSpPr txBox="1"/>
          <p:nvPr/>
        </p:nvSpPr>
        <p:spPr bwMode="gray">
          <a:xfrm>
            <a:off x="1050381" y="982889"/>
            <a:ext cx="10792181" cy="512409"/>
          </a:xfrm>
          <a:prstGeom prst="rect">
            <a:avLst/>
          </a:prstGeom>
        </p:spPr>
        <p:txBody>
          <a:bodyPr wrap="square" lIns="45696" tIns="45696" rIns="45696" bIns="45696" rtlCol="0">
            <a:noAutofit/>
          </a:bodyPr>
          <a:lstStyle/>
          <a:p>
            <a:pPr marL="171348" indent="-171348" defTabSz="913852">
              <a:buFont typeface="Arial" panose="020B0604020202020204" pitchFamily="34" charset="0"/>
              <a:buChar char="•"/>
              <a:defRPr/>
            </a:pPr>
            <a:r>
              <a:rPr lang="en-US" sz="1400">
                <a:solidFill>
                  <a:srgbClr val="FFFFFF">
                    <a:lumMod val="50000"/>
                  </a:srgbClr>
                </a:solidFill>
                <a:latin typeface="Arial" panose="020B0604020202020204"/>
              </a:rPr>
              <a:t>Lower likelihood to stock is driven by a significant decrease in Tier 1 (19% vs 50% in Sep’24)</a:t>
            </a:r>
            <a:endParaRPr lang="en-US" sz="1400" strike="sngStrike">
              <a:solidFill>
                <a:srgbClr val="FFFFFF">
                  <a:lumMod val="50000"/>
                </a:srgbClr>
              </a:solidFill>
              <a:highlight>
                <a:srgbClr val="FFFF00"/>
              </a:highlight>
              <a:latin typeface="Arial" panose="020B0604020202020204"/>
            </a:endParaRPr>
          </a:p>
        </p:txBody>
      </p:sp>
      <p:grpSp>
        <p:nvGrpSpPr>
          <p:cNvPr id="36" name="Group 35">
            <a:extLst>
              <a:ext uri="{FF2B5EF4-FFF2-40B4-BE49-F238E27FC236}">
                <a16:creationId xmlns:a16="http://schemas.microsoft.com/office/drawing/2014/main" id="{0FDE04DE-034F-2D1F-16E3-FDD7E6D08D66}"/>
              </a:ext>
            </a:extLst>
          </p:cNvPr>
          <p:cNvGrpSpPr>
            <a:grpSpLocks noChangeAspect="1"/>
          </p:cNvGrpSpPr>
          <p:nvPr/>
        </p:nvGrpSpPr>
        <p:grpSpPr>
          <a:xfrm>
            <a:off x="7493094" y="2256287"/>
            <a:ext cx="181993" cy="182784"/>
            <a:chOff x="7490195" y="1633669"/>
            <a:chExt cx="502920" cy="505111"/>
          </a:xfrm>
        </p:grpSpPr>
        <p:sp>
          <p:nvSpPr>
            <p:cNvPr id="42" name="Oval 41">
              <a:extLst>
                <a:ext uri="{FF2B5EF4-FFF2-40B4-BE49-F238E27FC236}">
                  <a16:creationId xmlns:a16="http://schemas.microsoft.com/office/drawing/2014/main" id="{E0DEE5B3-1C35-1D89-B330-22B76168C105}"/>
                </a:ext>
              </a:extLst>
            </p:cNvPr>
            <p:cNvSpPr/>
            <p:nvPr/>
          </p:nvSpPr>
          <p:spPr bwMode="gray">
            <a:xfrm>
              <a:off x="7490195" y="1633669"/>
              <a:ext cx="502920" cy="505111"/>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8" name="Star: 5 Points 47">
              <a:extLst>
                <a:ext uri="{FF2B5EF4-FFF2-40B4-BE49-F238E27FC236}">
                  <a16:creationId xmlns:a16="http://schemas.microsoft.com/office/drawing/2014/main" id="{03EDABB8-0BD2-7EBE-48C2-C92B55ABF2C6}"/>
                </a:ext>
              </a:extLst>
            </p:cNvPr>
            <p:cNvSpPr/>
            <p:nvPr/>
          </p:nvSpPr>
          <p:spPr bwMode="gray">
            <a:xfrm>
              <a:off x="7540487" y="1678609"/>
              <a:ext cx="402336" cy="397565"/>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grpSp>
        <p:nvGrpSpPr>
          <p:cNvPr id="30" name="Group 29">
            <a:extLst>
              <a:ext uri="{FF2B5EF4-FFF2-40B4-BE49-F238E27FC236}">
                <a16:creationId xmlns:a16="http://schemas.microsoft.com/office/drawing/2014/main" id="{BDB41163-2F2A-F92F-4168-3D664DD8AC60}"/>
              </a:ext>
            </a:extLst>
          </p:cNvPr>
          <p:cNvGrpSpPr/>
          <p:nvPr/>
        </p:nvGrpSpPr>
        <p:grpSpPr>
          <a:xfrm>
            <a:off x="9604915" y="1687899"/>
            <a:ext cx="2382848" cy="4349806"/>
            <a:chOff x="9605828" y="1639180"/>
            <a:chExt cx="2383469" cy="4350939"/>
          </a:xfrm>
        </p:grpSpPr>
        <p:sp>
          <p:nvSpPr>
            <p:cNvPr id="71" name="Rectangle 70">
              <a:extLst>
                <a:ext uri="{FF2B5EF4-FFF2-40B4-BE49-F238E27FC236}">
                  <a16:creationId xmlns:a16="http://schemas.microsoft.com/office/drawing/2014/main" id="{5938D84A-F943-D4CE-544B-F0299F68A4B6}"/>
                </a:ext>
              </a:extLst>
            </p:cNvPr>
            <p:cNvSpPr/>
            <p:nvPr/>
          </p:nvSpPr>
          <p:spPr bwMode="gray">
            <a:xfrm>
              <a:off x="9846880" y="2126831"/>
              <a:ext cx="1670808" cy="3514636"/>
            </a:xfrm>
            <a:prstGeom prst="rect">
              <a:avLst/>
            </a:prstGeom>
            <a:solidFill>
              <a:schemeClr val="bg1">
                <a:lumMod val="95000"/>
              </a:schemeClr>
            </a:solidFill>
            <a:ln w="19050" cap="flat" cmpd="sng" algn="ctr">
              <a:solidFill>
                <a:schemeClr val="bg1">
                  <a:lumMod val="75000"/>
                </a:schemeClr>
              </a:solidFill>
              <a:prstDash val="dash"/>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highlight>
                  <a:srgbClr val="0DBDBA"/>
                </a:highlight>
                <a:latin typeface="Arial" panose="020B0604020202020204"/>
              </a:endParaRPr>
            </a:p>
          </p:txBody>
        </p:sp>
        <p:graphicFrame>
          <p:nvGraphicFramePr>
            <p:cNvPr id="73" name="Chart 72">
              <a:extLst>
                <a:ext uri="{FF2B5EF4-FFF2-40B4-BE49-F238E27FC236}">
                  <a16:creationId xmlns:a16="http://schemas.microsoft.com/office/drawing/2014/main" id="{A93A90CA-664A-0CD4-094D-9661C5A524B6}"/>
                </a:ext>
              </a:extLst>
            </p:cNvPr>
            <p:cNvGraphicFramePr/>
            <p:nvPr/>
          </p:nvGraphicFramePr>
          <p:xfrm>
            <a:off x="9695897" y="2912441"/>
            <a:ext cx="1945459" cy="3077678"/>
          </p:xfrm>
          <a:graphic>
            <a:graphicData uri="http://schemas.openxmlformats.org/drawingml/2006/chart">
              <c:chart xmlns:c="http://schemas.openxmlformats.org/drawingml/2006/chart" xmlns:r="http://schemas.openxmlformats.org/officeDocument/2006/relationships" r:id="rId6"/>
            </a:graphicData>
          </a:graphic>
        </p:graphicFrame>
        <p:sp>
          <p:nvSpPr>
            <p:cNvPr id="75" name="TextBox 74">
              <a:extLst>
                <a:ext uri="{FF2B5EF4-FFF2-40B4-BE49-F238E27FC236}">
                  <a16:creationId xmlns:a16="http://schemas.microsoft.com/office/drawing/2014/main" id="{0997DA32-0668-A5F2-9FE3-2D5430248D04}"/>
                </a:ext>
              </a:extLst>
            </p:cNvPr>
            <p:cNvSpPr txBox="1"/>
            <p:nvPr/>
          </p:nvSpPr>
          <p:spPr bwMode="gray">
            <a:xfrm>
              <a:off x="10045524" y="2465737"/>
              <a:ext cx="1236853" cy="230808"/>
            </a:xfrm>
            <a:prstGeom prst="rect">
              <a:avLst/>
            </a:prstGeom>
          </p:spPr>
          <p:txBody>
            <a:bodyPr wrap="none" lIns="45696" tIns="45696" rIns="45696" bIns="45696" rtlCol="0">
              <a:spAutoFit/>
            </a:bodyPr>
            <a:lstStyle/>
            <a:p>
              <a:pPr algn="ctr" defTabSz="913852">
                <a:defRPr/>
              </a:pPr>
              <a:r>
                <a:rPr lang="en-US" sz="900" i="1">
                  <a:solidFill>
                    <a:srgbClr val="FFFFFF">
                      <a:lumMod val="50000"/>
                    </a:srgbClr>
                  </a:solidFill>
                  <a:latin typeface="Arial" panose="020B0604020202020204"/>
                </a:rPr>
                <a:t>Base: Stockers (n=34)</a:t>
              </a:r>
            </a:p>
          </p:txBody>
        </p:sp>
        <p:sp>
          <p:nvSpPr>
            <p:cNvPr id="78" name="TextBox 77">
              <a:extLst>
                <a:ext uri="{FF2B5EF4-FFF2-40B4-BE49-F238E27FC236}">
                  <a16:creationId xmlns:a16="http://schemas.microsoft.com/office/drawing/2014/main" id="{5B0E3297-8209-AFED-029E-E5D72FEC8163}"/>
                </a:ext>
              </a:extLst>
            </p:cNvPr>
            <p:cNvSpPr txBox="1"/>
            <p:nvPr/>
          </p:nvSpPr>
          <p:spPr bwMode="gray">
            <a:xfrm>
              <a:off x="9936628" y="2692900"/>
              <a:ext cx="1542649" cy="286157"/>
            </a:xfrm>
            <a:prstGeom prst="rect">
              <a:avLst/>
            </a:prstGeom>
            <a:ln>
              <a:noFill/>
            </a:ln>
          </p:spPr>
          <p:txBody>
            <a:bodyPr wrap="none" lIns="45696" tIns="45696" rIns="45696" bIns="45696" rtlCol="0">
              <a:spAutoFit/>
            </a:bodyPr>
            <a:lstStyle/>
            <a:p>
              <a:pPr algn="ctr" defTabSz="913852">
                <a:lnSpc>
                  <a:spcPct val="90000"/>
                </a:lnSpc>
                <a:spcAft>
                  <a:spcPts val="400"/>
                </a:spcAft>
                <a:defRPr/>
              </a:pPr>
              <a:r>
                <a:rPr lang="en-US" sz="1400" b="1">
                  <a:solidFill>
                    <a:srgbClr val="000000"/>
                  </a:solidFill>
                  <a:latin typeface="Arial" panose="020B0604020202020204"/>
                </a:rPr>
                <a:t>Fully Incorporate</a:t>
              </a:r>
            </a:p>
          </p:txBody>
        </p:sp>
        <p:cxnSp>
          <p:nvCxnSpPr>
            <p:cNvPr id="29" name="Straight Connector 28">
              <a:extLst>
                <a:ext uri="{FF2B5EF4-FFF2-40B4-BE49-F238E27FC236}">
                  <a16:creationId xmlns:a16="http://schemas.microsoft.com/office/drawing/2014/main" id="{8BB2B595-1D29-6719-D328-38B96F4EC9EA}"/>
                </a:ext>
              </a:extLst>
            </p:cNvPr>
            <p:cNvCxnSpPr/>
            <p:nvPr/>
          </p:nvCxnSpPr>
          <p:spPr bwMode="gray">
            <a:xfrm>
              <a:off x="10891136" y="3222752"/>
              <a:ext cx="213952" cy="0"/>
            </a:xfrm>
            <a:prstGeom prst="line">
              <a:avLst/>
            </a:prstGeom>
            <a:ln w="12700" cap="rnd">
              <a:solidFill>
                <a:schemeClr val="tx1">
                  <a:lumMod val="65000"/>
                  <a:lumOff val="35000"/>
                </a:schemeClr>
              </a:solidFill>
              <a:headEnd/>
              <a:tailEnd/>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FC195FB5-ED29-4888-52B0-14A4B114E94C}"/>
                </a:ext>
              </a:extLst>
            </p:cNvPr>
            <p:cNvSpPr txBox="1"/>
            <p:nvPr/>
          </p:nvSpPr>
          <p:spPr bwMode="gray">
            <a:xfrm>
              <a:off x="11117576" y="3042801"/>
              <a:ext cx="871721" cy="375389"/>
            </a:xfrm>
            <a:prstGeom prst="rect">
              <a:avLst/>
            </a:prstGeom>
            <a:solidFill>
              <a:schemeClr val="bg1"/>
            </a:solidFill>
          </p:spPr>
          <p:txBody>
            <a:bodyPr wrap="square" lIns="45696" tIns="18278" rIns="0" bIns="18278">
              <a:spAutoFit/>
            </a:bodyPr>
            <a:lstStyle/>
            <a:p>
              <a:pPr defTabSz="913852">
                <a:defRPr/>
              </a:pPr>
              <a:r>
                <a:rPr lang="en-US" sz="1100" i="1">
                  <a:solidFill>
                    <a:srgbClr val="000000">
                      <a:lumMod val="65000"/>
                      <a:lumOff val="35000"/>
                    </a:srgbClr>
                  </a:solidFill>
                  <a:latin typeface="Arial" panose="020B0604020202020204"/>
                </a:rPr>
                <a:t>Already fully incorporated</a:t>
              </a:r>
            </a:p>
          </p:txBody>
        </p:sp>
        <p:sp>
          <p:nvSpPr>
            <p:cNvPr id="4" name="TextBox 3">
              <a:extLst>
                <a:ext uri="{FF2B5EF4-FFF2-40B4-BE49-F238E27FC236}">
                  <a16:creationId xmlns:a16="http://schemas.microsoft.com/office/drawing/2014/main" id="{FDF8623D-5E75-B02A-3C81-710F715AB14E}"/>
                </a:ext>
              </a:extLst>
            </p:cNvPr>
            <p:cNvSpPr txBox="1"/>
            <p:nvPr/>
          </p:nvSpPr>
          <p:spPr bwMode="gray">
            <a:xfrm>
              <a:off x="10258942" y="2168496"/>
              <a:ext cx="819370" cy="313850"/>
            </a:xfrm>
            <a:prstGeom prst="rect">
              <a:avLst/>
            </a:prstGeom>
            <a:ln>
              <a:noFill/>
            </a:ln>
          </p:spPr>
          <p:txBody>
            <a:bodyPr wrap="none" lIns="45696" tIns="45696" rIns="45696" bIns="45696" rtlCol="0" anchor="b">
              <a:spAutoFit/>
            </a:bodyPr>
            <a:lstStyle/>
            <a:p>
              <a:pPr algn="ctr" defTabSz="913852">
                <a:lnSpc>
                  <a:spcPct val="90000"/>
                </a:lnSpc>
                <a:spcAft>
                  <a:spcPts val="400"/>
                </a:spcAft>
                <a:defRPr/>
              </a:pPr>
              <a:r>
                <a:rPr lang="en-US" sz="1600" b="1" u="sng">
                  <a:solidFill>
                    <a:srgbClr val="000000"/>
                  </a:solidFill>
                  <a:latin typeface="Arial" panose="020B0604020202020204"/>
                </a:rPr>
                <a:t>Time to</a:t>
              </a:r>
            </a:p>
          </p:txBody>
        </p:sp>
        <p:sp>
          <p:nvSpPr>
            <p:cNvPr id="7" name="TextBox 6">
              <a:extLst>
                <a:ext uri="{FF2B5EF4-FFF2-40B4-BE49-F238E27FC236}">
                  <a16:creationId xmlns:a16="http://schemas.microsoft.com/office/drawing/2014/main" id="{FDC80B32-7BC7-C779-84E5-A9FBB99F2F21}"/>
                </a:ext>
              </a:extLst>
            </p:cNvPr>
            <p:cNvSpPr txBox="1"/>
            <p:nvPr/>
          </p:nvSpPr>
          <p:spPr bwMode="gray">
            <a:xfrm>
              <a:off x="9605828" y="1639180"/>
              <a:ext cx="2169260" cy="369236"/>
            </a:xfrm>
            <a:prstGeom prst="rect">
              <a:avLst/>
            </a:prstGeom>
          </p:spPr>
          <p:txBody>
            <a:bodyPr wrap="none" lIns="45696" tIns="45696" rIns="45696" bIns="45696" rtlCol="0">
              <a:spAutoFit/>
            </a:bodyPr>
            <a:lstStyle/>
            <a:p>
              <a:pPr algn="ctr" defTabSz="913852">
                <a:spcAft>
                  <a:spcPts val="400"/>
                </a:spcAft>
                <a:defRPr/>
              </a:pPr>
              <a:r>
                <a:rPr lang="en-US" sz="1798" b="1" dirty="0">
                  <a:solidFill>
                    <a:srgbClr val="0000C9"/>
                  </a:solidFill>
                  <a:latin typeface="Arial" panose="020B0604020202020204"/>
                </a:rPr>
                <a:t>Penbraya </a:t>
              </a:r>
              <a:r>
                <a:rPr lang="en-US" sz="1798" b="1" i="1" dirty="0">
                  <a:solidFill>
                    <a:srgbClr val="0000C9"/>
                  </a:solidFill>
                  <a:latin typeface="Arial" panose="020B0604020202020204"/>
                </a:rPr>
                <a:t>Stockers</a:t>
              </a:r>
              <a:endParaRPr lang="en-US" sz="1000" i="1" dirty="0">
                <a:solidFill>
                  <a:srgbClr val="FFFFFF">
                    <a:lumMod val="50000"/>
                  </a:srgbClr>
                </a:solidFill>
                <a:latin typeface="Arial" panose="020B0604020202020204"/>
              </a:endParaRPr>
            </a:p>
          </p:txBody>
        </p:sp>
        <p:sp>
          <p:nvSpPr>
            <p:cNvPr id="9" name="Rectangle 8">
              <a:extLst>
                <a:ext uri="{FF2B5EF4-FFF2-40B4-BE49-F238E27FC236}">
                  <a16:creationId xmlns:a16="http://schemas.microsoft.com/office/drawing/2014/main" id="{A5147562-45CA-9410-3BAB-51541B11C8AF}"/>
                </a:ext>
              </a:extLst>
            </p:cNvPr>
            <p:cNvSpPr/>
            <p:nvPr/>
          </p:nvSpPr>
          <p:spPr bwMode="gray">
            <a:xfrm>
              <a:off x="10370602" y="2989746"/>
              <a:ext cx="584122" cy="1622893"/>
            </a:xfrm>
            <a:prstGeom prst="rect">
              <a:avLst/>
            </a:prstGeom>
            <a:noFill/>
            <a:ln w="28575" cap="flat" cmpd="sng" algn="ctr">
              <a:solidFill>
                <a:schemeClr val="tx1"/>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22" name="TextBox 21">
              <a:extLst>
                <a:ext uri="{FF2B5EF4-FFF2-40B4-BE49-F238E27FC236}">
                  <a16:creationId xmlns:a16="http://schemas.microsoft.com/office/drawing/2014/main" id="{30DBE13D-822A-BB54-7A46-FE54A7C3B2F4}"/>
                </a:ext>
              </a:extLst>
            </p:cNvPr>
            <p:cNvSpPr txBox="1"/>
            <p:nvPr/>
          </p:nvSpPr>
          <p:spPr bwMode="gray">
            <a:xfrm>
              <a:off x="9936628" y="3805489"/>
              <a:ext cx="398483" cy="258508"/>
            </a:xfrm>
            <a:prstGeom prst="rect">
              <a:avLst/>
            </a:prstGeom>
          </p:spPr>
          <p:txBody>
            <a:bodyPr wrap="none" lIns="45696" tIns="45696" rIns="45696" bIns="45696" rtlCol="0">
              <a:spAutoFit/>
            </a:bodyPr>
            <a:lstStyle/>
            <a:p>
              <a:pPr defTabSz="913852">
                <a:lnSpc>
                  <a:spcPct val="90000"/>
                </a:lnSpc>
                <a:spcBef>
                  <a:spcPts val="1000"/>
                </a:spcBef>
                <a:defRPr/>
              </a:pPr>
              <a:r>
                <a:rPr lang="en-US" sz="1200" b="1">
                  <a:solidFill>
                    <a:srgbClr val="000000"/>
                  </a:solidFill>
                  <a:latin typeface="Arial" panose="020B0604020202020204"/>
                </a:rPr>
                <a:t>66%</a:t>
              </a:r>
            </a:p>
          </p:txBody>
        </p:sp>
        <p:grpSp>
          <p:nvGrpSpPr>
            <p:cNvPr id="50" name="Group 49">
              <a:extLst>
                <a:ext uri="{FF2B5EF4-FFF2-40B4-BE49-F238E27FC236}">
                  <a16:creationId xmlns:a16="http://schemas.microsoft.com/office/drawing/2014/main" id="{76BC5B92-2EDC-A870-4C6A-7AA644E2DCBF}"/>
                </a:ext>
              </a:extLst>
            </p:cNvPr>
            <p:cNvGrpSpPr>
              <a:grpSpLocks noChangeAspect="1"/>
            </p:cNvGrpSpPr>
            <p:nvPr/>
          </p:nvGrpSpPr>
          <p:grpSpPr>
            <a:xfrm>
              <a:off x="11103024" y="2216867"/>
              <a:ext cx="182040" cy="182832"/>
              <a:chOff x="7490195" y="1633669"/>
              <a:chExt cx="502920" cy="505111"/>
            </a:xfrm>
          </p:grpSpPr>
          <p:sp>
            <p:nvSpPr>
              <p:cNvPr id="51" name="Oval 50">
                <a:extLst>
                  <a:ext uri="{FF2B5EF4-FFF2-40B4-BE49-F238E27FC236}">
                    <a16:creationId xmlns:a16="http://schemas.microsoft.com/office/drawing/2014/main" id="{12303F89-D922-7516-447D-33EB94337423}"/>
                  </a:ext>
                </a:extLst>
              </p:cNvPr>
              <p:cNvSpPr/>
              <p:nvPr/>
            </p:nvSpPr>
            <p:spPr bwMode="gray">
              <a:xfrm>
                <a:off x="7490195" y="1633669"/>
                <a:ext cx="502920" cy="505111"/>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52" name="Star: 5 Points 51">
                <a:extLst>
                  <a:ext uri="{FF2B5EF4-FFF2-40B4-BE49-F238E27FC236}">
                    <a16:creationId xmlns:a16="http://schemas.microsoft.com/office/drawing/2014/main" id="{5F8FDE95-DF86-7BAD-D84B-ACD40DE396AB}"/>
                  </a:ext>
                </a:extLst>
              </p:cNvPr>
              <p:cNvSpPr/>
              <p:nvPr/>
            </p:nvSpPr>
            <p:spPr bwMode="gray">
              <a:xfrm>
                <a:off x="7540487" y="1678609"/>
                <a:ext cx="402336" cy="397565"/>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grpSp>
      <p:sp>
        <p:nvSpPr>
          <p:cNvPr id="8" name="TextBox 7">
            <a:extLst>
              <a:ext uri="{FF2B5EF4-FFF2-40B4-BE49-F238E27FC236}">
                <a16:creationId xmlns:a16="http://schemas.microsoft.com/office/drawing/2014/main" id="{CA431A19-B9E8-2BF9-A806-2CDC7A37859A}"/>
              </a:ext>
            </a:extLst>
          </p:cNvPr>
          <p:cNvSpPr txBox="1"/>
          <p:nvPr/>
        </p:nvSpPr>
        <p:spPr bwMode="gray">
          <a:xfrm>
            <a:off x="404903" y="1445150"/>
            <a:ext cx="1542008" cy="276927"/>
          </a:xfrm>
          <a:prstGeom prst="rect">
            <a:avLst/>
          </a:prstGeom>
          <a:noFill/>
        </p:spPr>
        <p:txBody>
          <a:bodyPr wrap="none">
            <a:spAutoFit/>
          </a:bodyPr>
          <a:lstStyle/>
          <a:p>
            <a:pPr defTabSz="914126">
              <a:defRPr/>
            </a:pPr>
            <a:r>
              <a:rPr lang="en-US" sz="1200" i="1">
                <a:solidFill>
                  <a:srgbClr val="0000C9"/>
                </a:solidFill>
                <a:latin typeface="Arial" panose="020B0604020202020204"/>
              </a:rPr>
              <a:t>By Stocking Groups</a:t>
            </a:r>
          </a:p>
        </p:txBody>
      </p:sp>
      <p:sp>
        <p:nvSpPr>
          <p:cNvPr id="26" name="TextBox 25">
            <a:extLst>
              <a:ext uri="{FF2B5EF4-FFF2-40B4-BE49-F238E27FC236}">
                <a16:creationId xmlns:a16="http://schemas.microsoft.com/office/drawing/2014/main" id="{A97390D8-028F-49B8-CC8C-AA398B90EB39}"/>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26">
              <a:lnSpc>
                <a:spcPct val="90000"/>
              </a:lnSpc>
              <a:spcBef>
                <a:spcPts val="1000"/>
              </a:spcBef>
            </a:pPr>
            <a:r>
              <a:rPr lang="en-US" sz="1100" i="1">
                <a:solidFill>
                  <a:srgbClr val="FFFFFF">
                    <a:lumMod val="65000"/>
                  </a:srgbClr>
                </a:solidFill>
                <a:latin typeface="Arial" panose="020B0604020202020204"/>
              </a:rPr>
              <a:t>Topline</a:t>
            </a:r>
          </a:p>
        </p:txBody>
      </p:sp>
      <p:sp>
        <p:nvSpPr>
          <p:cNvPr id="56" name="Text Placeholder 2">
            <a:extLst>
              <a:ext uri="{FF2B5EF4-FFF2-40B4-BE49-F238E27FC236}">
                <a16:creationId xmlns:a16="http://schemas.microsoft.com/office/drawing/2014/main" id="{0B64A08E-A1B2-E2DD-E8FA-D67CD6A22E14}"/>
              </a:ext>
            </a:extLst>
          </p:cNvPr>
          <p:cNvSpPr txBox="1">
            <a:spLocks/>
          </p:cNvSpPr>
          <p:nvPr/>
        </p:nvSpPr>
        <p:spPr bwMode="gray">
          <a:xfrm>
            <a:off x="3156255" y="4161677"/>
            <a:ext cx="163960"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4126"/>
            <a:r>
              <a:rPr lang="en-US" altLang="en-US">
                <a:solidFill>
                  <a:srgbClr val="FF0000"/>
                </a:solidFill>
                <a:latin typeface="Arial" panose="020B0604020202020204"/>
                <a:cs typeface="Arial" panose="020B0604020202020204" pitchFamily="34" charset="0"/>
                <a:sym typeface="Symbol" pitchFamily="18" charset="2"/>
              </a:rPr>
              <a:t></a:t>
            </a:r>
            <a:endParaRPr lang="en-US">
              <a:solidFill>
                <a:srgbClr val="FF0000"/>
              </a:solidFill>
              <a:latin typeface="Arial" panose="020B0604020202020204"/>
            </a:endParaRPr>
          </a:p>
        </p:txBody>
      </p:sp>
      <p:sp>
        <p:nvSpPr>
          <p:cNvPr id="60" name="TextBox 59">
            <a:extLst>
              <a:ext uri="{FF2B5EF4-FFF2-40B4-BE49-F238E27FC236}">
                <a16:creationId xmlns:a16="http://schemas.microsoft.com/office/drawing/2014/main" id="{4D323824-E423-799B-5AE8-74D6DCBA478E}"/>
              </a:ext>
            </a:extLst>
          </p:cNvPr>
          <p:cNvSpPr txBox="1"/>
          <p:nvPr/>
        </p:nvSpPr>
        <p:spPr bwMode="gray">
          <a:xfrm>
            <a:off x="1102312" y="4428927"/>
            <a:ext cx="624303" cy="193849"/>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defTabSz="914126">
              <a:defRPr/>
            </a:pPr>
            <a:r>
              <a:rPr lang="en-US" sz="900">
                <a:solidFill>
                  <a:srgbClr val="000000">
                    <a:lumMod val="50000"/>
                    <a:lumOff val="50000"/>
                  </a:srgbClr>
                </a:solidFill>
                <a:latin typeface="Arial" panose="020B0604020202020204"/>
              </a:rPr>
              <a:t>PCP 66%</a:t>
            </a:r>
            <a:r>
              <a:rPr lang="en-US" altLang="en-US" sz="900">
                <a:solidFill>
                  <a:srgbClr val="FF0000"/>
                </a:solidFill>
                <a:latin typeface="Arial" panose="020B0604020202020204"/>
                <a:cs typeface="Arial" panose="020B0604020202020204" pitchFamily="34" charset="0"/>
                <a:sym typeface="Symbol" pitchFamily="18" charset="2"/>
              </a:rPr>
              <a:t></a:t>
            </a:r>
            <a:endParaRPr lang="en-US" sz="900">
              <a:solidFill>
                <a:srgbClr val="000000">
                  <a:lumMod val="50000"/>
                  <a:lumOff val="50000"/>
                </a:srgbClr>
              </a:solidFill>
              <a:latin typeface="Arial" panose="020B0604020202020204"/>
            </a:endParaRPr>
          </a:p>
        </p:txBody>
      </p:sp>
      <p:sp>
        <p:nvSpPr>
          <p:cNvPr id="61" name="TextBox 60">
            <a:extLst>
              <a:ext uri="{FF2B5EF4-FFF2-40B4-BE49-F238E27FC236}">
                <a16:creationId xmlns:a16="http://schemas.microsoft.com/office/drawing/2014/main" id="{776F050B-C373-1C66-A3D1-E92F85DFD94F}"/>
              </a:ext>
            </a:extLst>
          </p:cNvPr>
          <p:cNvSpPr txBox="1"/>
          <p:nvPr/>
        </p:nvSpPr>
        <p:spPr bwMode="gray">
          <a:xfrm>
            <a:off x="1102311" y="5329423"/>
            <a:ext cx="714048" cy="332312"/>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defTabSz="914126">
              <a:defRPr/>
            </a:pPr>
            <a:r>
              <a:rPr lang="en-US" sz="900">
                <a:solidFill>
                  <a:srgbClr val="000000">
                    <a:lumMod val="50000"/>
                    <a:lumOff val="50000"/>
                  </a:srgbClr>
                </a:solidFill>
                <a:latin typeface="Arial" panose="020B0604020202020204"/>
              </a:rPr>
              <a:t>28%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&gt;</a:t>
            </a:r>
            <a:br>
              <a:rPr lang="en-US" sz="800">
                <a:solidFill>
                  <a:srgbClr val="000000">
                    <a:lumMod val="50000"/>
                    <a:lumOff val="50000"/>
                  </a:srgbClr>
                </a:solidFill>
                <a:latin typeface="Arial" panose="020B0604020202020204"/>
                <a:sym typeface="Wingdings 3" panose="05040102010807070707" pitchFamily="18" charset="2"/>
              </a:rPr>
            </a:br>
            <a:r>
              <a:rPr lang="en-US" sz="800">
                <a:solidFill>
                  <a:srgbClr val="000000">
                    <a:lumMod val="50000"/>
                    <a:lumOff val="50000"/>
                  </a:srgbClr>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3% </a:t>
            </a:r>
            <a:r>
              <a:rPr lang="en-US" sz="900">
                <a:solidFill>
                  <a:srgbClr val="000000">
                    <a:lumMod val="50000"/>
                    <a:lumOff val="50000"/>
                  </a:srgbClr>
                </a:solidFill>
                <a:latin typeface="Arial" panose="020B0604020202020204"/>
              </a:rPr>
              <a:t>PCP</a:t>
            </a:r>
          </a:p>
        </p:txBody>
      </p:sp>
      <p:sp>
        <p:nvSpPr>
          <p:cNvPr id="69" name="Text Placeholder 2">
            <a:extLst>
              <a:ext uri="{FF2B5EF4-FFF2-40B4-BE49-F238E27FC236}">
                <a16:creationId xmlns:a16="http://schemas.microsoft.com/office/drawing/2014/main" id="{ABA23DB1-5E3C-F646-4486-C150AAC1EC5D}"/>
              </a:ext>
            </a:extLst>
          </p:cNvPr>
          <p:cNvSpPr txBox="1">
            <a:spLocks/>
          </p:cNvSpPr>
          <p:nvPr/>
        </p:nvSpPr>
        <p:spPr bwMode="gray">
          <a:xfrm flipV="1">
            <a:off x="10737726" y="4458277"/>
            <a:ext cx="163960"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4126"/>
            <a:r>
              <a:rPr lang="en-US" altLang="en-US">
                <a:solidFill>
                  <a:srgbClr val="FFFFFF"/>
                </a:solidFill>
                <a:latin typeface="Arial" panose="020B0604020202020204"/>
                <a:cs typeface="Arial" panose="020B0604020202020204" pitchFamily="34" charset="0"/>
                <a:sym typeface="Symbol" pitchFamily="18" charset="2"/>
              </a:rPr>
              <a:t></a:t>
            </a:r>
            <a:endParaRPr lang="en-US">
              <a:solidFill>
                <a:srgbClr val="FFFFFF"/>
              </a:solidFill>
              <a:latin typeface="Arial" panose="020B0604020202020204"/>
            </a:endParaRPr>
          </a:p>
        </p:txBody>
      </p:sp>
      <p:sp>
        <p:nvSpPr>
          <p:cNvPr id="63" name="TextBox 62">
            <a:extLst>
              <a:ext uri="{FF2B5EF4-FFF2-40B4-BE49-F238E27FC236}">
                <a16:creationId xmlns:a16="http://schemas.microsoft.com/office/drawing/2014/main" id="{5A592845-8C93-1E88-C5F2-0EFC6F40D30D}"/>
              </a:ext>
            </a:extLst>
          </p:cNvPr>
          <p:cNvSpPr txBox="1"/>
          <p:nvPr/>
        </p:nvSpPr>
        <p:spPr bwMode="gray">
          <a:xfrm>
            <a:off x="3116309" y="3188858"/>
            <a:ext cx="241936" cy="246157"/>
          </a:xfrm>
          <a:prstGeom prst="rect">
            <a:avLst/>
          </a:prstGeom>
          <a:noFill/>
        </p:spPr>
        <p:txBody>
          <a:bodyPr wrap="square">
            <a:spAutoFit/>
          </a:bodyPr>
          <a:lstStyle/>
          <a:p>
            <a:pPr defTabSz="914126"/>
            <a:r>
              <a:rPr lang="en-US" altLang="en-US" sz="1000">
                <a:solidFill>
                  <a:srgbClr val="FF0000"/>
                </a:solidFill>
                <a:latin typeface="Arial" panose="020B0604020202020204"/>
                <a:cs typeface="Arial" panose="020B0604020202020204" pitchFamily="34" charset="0"/>
                <a:sym typeface="Symbol" pitchFamily="18" charset="2"/>
              </a:rPr>
              <a:t></a:t>
            </a:r>
            <a:endParaRPr lang="en-US" sz="1799">
              <a:solidFill>
                <a:srgbClr val="000000"/>
              </a:solidFill>
              <a:latin typeface="Arial" panose="020B0604020202020204"/>
            </a:endParaRPr>
          </a:p>
        </p:txBody>
      </p:sp>
      <p:sp>
        <p:nvSpPr>
          <p:cNvPr id="32" name="TextBox 31">
            <a:extLst>
              <a:ext uri="{FF2B5EF4-FFF2-40B4-BE49-F238E27FC236}">
                <a16:creationId xmlns:a16="http://schemas.microsoft.com/office/drawing/2014/main" id="{8DC4853F-5419-2A2C-2C7D-09649EF4EAB5}"/>
              </a:ext>
            </a:extLst>
          </p:cNvPr>
          <p:cNvSpPr txBox="1"/>
          <p:nvPr/>
        </p:nvSpPr>
        <p:spPr bwMode="gray">
          <a:xfrm>
            <a:off x="1856705" y="5329422"/>
            <a:ext cx="786164" cy="470775"/>
          </a:xfrm>
          <a:prstGeom prst="rect">
            <a:avLst/>
          </a:prstGeom>
          <a:solidFill>
            <a:schemeClr val="bg1"/>
          </a:solidFill>
          <a:ln w="6350">
            <a:solidFill>
              <a:schemeClr val="tx1">
                <a:lumMod val="50000"/>
                <a:lumOff val="50000"/>
              </a:schemeClr>
            </a:solidFill>
            <a:prstDash val="solid"/>
          </a:ln>
        </p:spPr>
        <p:txBody>
          <a:bodyPr wrap="none" lIns="27425" tIns="27425" rIns="27425" bIns="27425" rtlCol="0" anchor="ctr" anchorCtr="0">
            <a:spAutoFit/>
          </a:bodyPr>
          <a:lstStyle/>
          <a:p>
            <a:pPr marL="399930" indent="-399930" defTabSz="913852">
              <a:defRPr/>
            </a:pPr>
            <a:r>
              <a:rPr lang="en-US" sz="900">
                <a:solidFill>
                  <a:srgbClr val="000000">
                    <a:lumMod val="50000"/>
                    <a:lumOff val="50000"/>
                  </a:srgbClr>
                </a:solidFill>
                <a:latin typeface="Arial" panose="020B0604020202020204"/>
              </a:rPr>
              <a:t>24%</a:t>
            </a:r>
            <a:r>
              <a:rPr lang="en-US" altLang="en-US" sz="900">
                <a:solidFill>
                  <a:srgbClr val="FF0000"/>
                </a:solidFill>
                <a:latin typeface="Arial" panose="020B0604020202020204"/>
                <a:cs typeface="Arial" panose="020B0604020202020204" pitchFamily="34" charset="0"/>
                <a:sym typeface="Symbol" panose="05050102010706020507" pitchFamily="18" charset="2"/>
              </a:rPr>
              <a:t></a:t>
            </a:r>
            <a:r>
              <a:rPr lang="en-US" sz="900" baseline="30000">
                <a:solidFill>
                  <a:srgbClr val="000000">
                    <a:lumMod val="50000"/>
                    <a:lumOff val="50000"/>
                  </a:srgbClr>
                </a:solidFill>
                <a:latin typeface="Arial" panose="020B0604020202020204"/>
              </a:rPr>
              <a:t>	</a:t>
            </a:r>
            <a:r>
              <a:rPr lang="en-US" sz="900">
                <a:solidFill>
                  <a:srgbClr val="000000">
                    <a:lumMod val="50000"/>
                    <a:lumOff val="50000"/>
                  </a:srgbClr>
                </a:solidFill>
                <a:latin typeface="Arial" panose="020B0604020202020204"/>
              </a:rPr>
              <a:t>Tier 1</a:t>
            </a:r>
          </a:p>
          <a:p>
            <a:pPr marL="399930" indent="-399930" defTabSz="913852">
              <a:defRPr/>
            </a:pPr>
            <a:r>
              <a:rPr lang="en-US" sz="900">
                <a:solidFill>
                  <a:srgbClr val="000000">
                    <a:lumMod val="50000"/>
                    <a:lumOff val="50000"/>
                  </a:srgbClr>
                </a:solidFill>
                <a:latin typeface="Arial" panose="020B0604020202020204"/>
              </a:rPr>
              <a:t>24%	Tier 2 </a:t>
            </a:r>
          </a:p>
          <a:p>
            <a:pPr marL="399930" indent="-399930" defTabSz="913852">
              <a:defRPr/>
            </a:pPr>
            <a:r>
              <a:rPr lang="en-US" sz="900">
                <a:solidFill>
                  <a:srgbClr val="000000">
                    <a:lumMod val="50000"/>
                    <a:lumOff val="50000"/>
                  </a:srgbClr>
                </a:solidFill>
                <a:latin typeface="Arial" panose="020B0604020202020204"/>
              </a:rPr>
              <a:t>20%</a:t>
            </a:r>
            <a:r>
              <a:rPr lang="en-US" altLang="en-US" sz="900">
                <a:solidFill>
                  <a:srgbClr val="FF0000"/>
                </a:solidFill>
                <a:latin typeface="Arial" panose="020B0604020202020204"/>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Tier 3</a:t>
            </a:r>
          </a:p>
        </p:txBody>
      </p:sp>
      <p:sp>
        <p:nvSpPr>
          <p:cNvPr id="54" name="TextBox 53">
            <a:extLst>
              <a:ext uri="{FF2B5EF4-FFF2-40B4-BE49-F238E27FC236}">
                <a16:creationId xmlns:a16="http://schemas.microsoft.com/office/drawing/2014/main" id="{3EEE7E4C-44A0-94F5-AD5E-3EB35BC1C2F0}"/>
              </a:ext>
            </a:extLst>
          </p:cNvPr>
          <p:cNvSpPr txBox="1"/>
          <p:nvPr/>
        </p:nvSpPr>
        <p:spPr bwMode="gray">
          <a:xfrm>
            <a:off x="1102311" y="3514599"/>
            <a:ext cx="714048" cy="332312"/>
          </a:xfrm>
          <a:prstGeom prst="rect">
            <a:avLst/>
          </a:prstGeom>
          <a:solidFill>
            <a:schemeClr val="bg1"/>
          </a:solidFill>
          <a:ln w="12700">
            <a:solidFill>
              <a:schemeClr val="tx1">
                <a:lumMod val="50000"/>
                <a:lumOff val="50000"/>
              </a:schemeClr>
            </a:solidFill>
            <a:prstDash val="sysDash"/>
          </a:ln>
        </p:spPr>
        <p:txBody>
          <a:bodyPr wrap="none" lIns="27425" tIns="27425" rIns="27425" bIns="27425" rtlCol="0" anchor="ctr" anchorCtr="0">
            <a:spAutoFit/>
          </a:bodyPr>
          <a:lstStyle/>
          <a:p>
            <a:pPr defTabSz="914126">
              <a:defRPr/>
            </a:pPr>
            <a:r>
              <a:rPr lang="en-US" sz="900">
                <a:solidFill>
                  <a:srgbClr val="000000">
                    <a:lumMod val="50000"/>
                    <a:lumOff val="50000"/>
                  </a:srgbClr>
                </a:solidFill>
                <a:latin typeface="Arial" panose="020B0604020202020204"/>
              </a:rPr>
              <a:t>15% PED</a:t>
            </a:r>
            <a:r>
              <a:rPr lang="en-US" altLang="en-US" sz="800">
                <a:solidFill>
                  <a:srgbClr val="FF0000"/>
                </a:solidFill>
                <a:latin typeface="Arial" panose="020B0604020202020204"/>
                <a:cs typeface="Arial" panose="020B0604020202020204" pitchFamily="34" charset="0"/>
                <a:sym typeface="Symbol" pitchFamily="18" charset="2"/>
              </a:rPr>
              <a:t></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&lt;</a:t>
            </a:r>
            <a:br>
              <a:rPr lang="en-US" sz="8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31% </a:t>
            </a:r>
            <a:r>
              <a:rPr lang="en-US" sz="900">
                <a:solidFill>
                  <a:srgbClr val="000000">
                    <a:lumMod val="50000"/>
                    <a:lumOff val="50000"/>
                  </a:srgbClr>
                </a:solidFill>
                <a:latin typeface="Arial" panose="020B0604020202020204"/>
              </a:rPr>
              <a:t>PCP</a:t>
            </a:r>
          </a:p>
        </p:txBody>
      </p:sp>
      <p:sp>
        <p:nvSpPr>
          <p:cNvPr id="66" name="TextBox 65">
            <a:extLst>
              <a:ext uri="{FF2B5EF4-FFF2-40B4-BE49-F238E27FC236}">
                <a16:creationId xmlns:a16="http://schemas.microsoft.com/office/drawing/2014/main" id="{FE3EAAD5-90CC-8199-36DD-CC82433956C2}"/>
              </a:ext>
            </a:extLst>
          </p:cNvPr>
          <p:cNvSpPr txBox="1"/>
          <p:nvPr/>
        </p:nvSpPr>
        <p:spPr bwMode="gray">
          <a:xfrm>
            <a:off x="1856705" y="3514788"/>
            <a:ext cx="786164" cy="470775"/>
          </a:xfrm>
          <a:prstGeom prst="rect">
            <a:avLst/>
          </a:prstGeom>
          <a:solidFill>
            <a:schemeClr val="bg1"/>
          </a:solidFill>
          <a:ln w="6350">
            <a:solidFill>
              <a:schemeClr val="tx1">
                <a:lumMod val="50000"/>
                <a:lumOff val="50000"/>
              </a:schemeClr>
            </a:solidFill>
            <a:prstDash val="solid"/>
          </a:ln>
        </p:spPr>
        <p:txBody>
          <a:bodyPr wrap="none" lIns="27425" tIns="27425" rIns="27425" bIns="27425" rtlCol="0" anchor="ctr" anchorCtr="0">
            <a:spAutoFit/>
          </a:bodyPr>
          <a:lstStyle/>
          <a:p>
            <a:pPr marL="399930" indent="-399930" defTabSz="913852">
              <a:defRPr/>
            </a:pPr>
            <a:r>
              <a:rPr lang="en-US" sz="900">
                <a:solidFill>
                  <a:srgbClr val="000000">
                    <a:lumMod val="50000"/>
                    <a:lumOff val="50000"/>
                  </a:srgbClr>
                </a:solidFill>
                <a:latin typeface="Arial" panose="020B0604020202020204"/>
              </a:rPr>
              <a:t>19%</a:t>
            </a:r>
            <a:r>
              <a:rPr lang="en-US" altLang="en-US" sz="900">
                <a:solidFill>
                  <a:srgbClr val="FF0000"/>
                </a:solidFill>
                <a:latin typeface="Arial" panose="020B0604020202020204"/>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lang="en-US" sz="900">
                <a:solidFill>
                  <a:srgbClr val="000000">
                    <a:lumMod val="50000"/>
                    <a:lumOff val="50000"/>
                  </a:srgbClr>
                </a:solidFill>
                <a:latin typeface="Arial" panose="020B0604020202020204"/>
              </a:rPr>
              <a:t>Tier 1</a:t>
            </a:r>
          </a:p>
          <a:p>
            <a:pPr marL="399930" indent="-399930" defTabSz="913852">
              <a:defRPr/>
            </a:pPr>
            <a:r>
              <a:rPr lang="en-US" sz="900">
                <a:solidFill>
                  <a:srgbClr val="000000">
                    <a:lumMod val="50000"/>
                    <a:lumOff val="50000"/>
                  </a:srgbClr>
                </a:solidFill>
                <a:latin typeface="Arial" panose="020B0604020202020204"/>
              </a:rPr>
              <a:t>12%	Tier 2 </a:t>
            </a:r>
          </a:p>
          <a:p>
            <a:pPr marL="399930" indent="-399930" defTabSz="913852">
              <a:defRPr/>
            </a:pPr>
            <a:r>
              <a:rPr lang="en-US" sz="900">
                <a:solidFill>
                  <a:srgbClr val="000000">
                    <a:lumMod val="50000"/>
                    <a:lumOff val="50000"/>
                  </a:srgbClr>
                </a:solidFill>
                <a:latin typeface="Arial" panose="020B0604020202020204"/>
              </a:rPr>
              <a:t>20%</a:t>
            </a:r>
            <a:r>
              <a:rPr lang="en-US" altLang="en-US" sz="900">
                <a:solidFill>
                  <a:srgbClr val="FF0000"/>
                </a:solidFill>
                <a:latin typeface="Arial" panose="020B0604020202020204"/>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Tier 3</a:t>
            </a:r>
          </a:p>
        </p:txBody>
      </p:sp>
    </p:spTree>
    <p:extLst>
      <p:ext uri="{BB962C8B-B14F-4D97-AF65-F5344CB8AC3E}">
        <p14:creationId xmlns:p14="http://schemas.microsoft.com/office/powerpoint/2010/main" val="80759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31" grpId="0" animBg="1"/>
      <p:bldP spid="33" grpId="0" animBg="1"/>
      <p:bldP spid="34" grpId="0" animBg="1"/>
      <p:bldP spid="38" grpId="0" animBg="1"/>
      <p:bldP spid="39" grpId="0" animBg="1"/>
      <p:bldP spid="40" grpId="0" animBg="1"/>
      <p:bldP spid="41" grpId="0" animBg="1"/>
      <p:bldP spid="76" grpId="0"/>
      <p:bldP spid="77" grpId="0"/>
      <p:bldP spid="86" grpId="0"/>
      <p:bldGraphic spid="87" grpId="0">
        <p:bldAsOne/>
      </p:bldGraphic>
      <p:bldGraphic spid="90" grpId="0">
        <p:bldAsOne/>
      </p:bldGraphic>
      <p:bldP spid="3" grpId="0" animBg="1"/>
      <p:bldP spid="5" grpId="0" animBg="1"/>
      <p:bldP spid="13" grpId="0" animBg="1"/>
      <p:bldP spid="15" grpId="0" animBg="1"/>
      <p:bldP spid="60" grpId="0" animBg="1"/>
      <p:bldP spid="61" grpId="0" animBg="1"/>
      <p:bldP spid="5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40E94-0423-A4F7-8C4D-C5009112E936}"/>
              </a:ext>
            </a:extLst>
          </p:cNvPr>
          <p:cNvSpPr>
            <a:spLocks noGrp="1"/>
          </p:cNvSpPr>
          <p:nvPr>
            <p:ph type="title"/>
          </p:nvPr>
        </p:nvSpPr>
        <p:spPr/>
        <p:txBody>
          <a:bodyPr/>
          <a:lstStyle/>
          <a:p>
            <a:r>
              <a:rPr lang="en-US" dirty="0"/>
              <a:t>Nearly 3-in-4 PCPs are highly likely to recommend Penbraya for eligible 16–18-year-old patients driven by </a:t>
            </a:r>
            <a:r>
              <a:rPr lang="en-US" i="1" dirty="0"/>
              <a:t>fewer required shots </a:t>
            </a:r>
            <a:r>
              <a:rPr lang="en-US" dirty="0"/>
              <a:t>and </a:t>
            </a:r>
            <a:r>
              <a:rPr lang="en-US" i="1" dirty="0"/>
              <a:t>broad coverage</a:t>
            </a:r>
            <a:r>
              <a:rPr lang="en-US" dirty="0"/>
              <a:t>; HCPs unlikely to recommend Penbraya cite </a:t>
            </a:r>
            <a:r>
              <a:rPr lang="en-US" i="1" dirty="0"/>
              <a:t>stocking barriers </a:t>
            </a:r>
            <a:r>
              <a:rPr lang="en-US" dirty="0"/>
              <a:t>and </a:t>
            </a:r>
            <a:r>
              <a:rPr lang="en-US" i="1" dirty="0"/>
              <a:t>preference to stay with status-quo</a:t>
            </a:r>
          </a:p>
        </p:txBody>
      </p:sp>
      <p:sp>
        <p:nvSpPr>
          <p:cNvPr id="6" name="Rectangle 5">
            <a:extLst>
              <a:ext uri="{FF2B5EF4-FFF2-40B4-BE49-F238E27FC236}">
                <a16:creationId xmlns:a16="http://schemas.microsoft.com/office/drawing/2014/main" id="{DE20318F-9619-E84E-4953-0A46978031DB}"/>
              </a:ext>
            </a:extLst>
          </p:cNvPr>
          <p:cNvSpPr/>
          <p:nvPr/>
        </p:nvSpPr>
        <p:spPr bwMode="gray">
          <a:xfrm>
            <a:off x="410531" y="2206776"/>
            <a:ext cx="4837187" cy="3108150"/>
          </a:xfrm>
          <a:prstGeom prst="rect">
            <a:avLst/>
          </a:prstGeom>
          <a:noFill/>
          <a:ln w="19050" cap="flat" cmpd="sng" algn="ctr">
            <a:solidFill>
              <a:schemeClr val="bg1">
                <a:lumMod val="7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graphicFrame>
        <p:nvGraphicFramePr>
          <p:cNvPr id="8" name="Chart 7">
            <a:extLst>
              <a:ext uri="{FF2B5EF4-FFF2-40B4-BE49-F238E27FC236}">
                <a16:creationId xmlns:a16="http://schemas.microsoft.com/office/drawing/2014/main" id="{847545CB-5C48-2F6E-B580-FFBC70D15317}"/>
              </a:ext>
            </a:extLst>
          </p:cNvPr>
          <p:cNvGraphicFramePr/>
          <p:nvPr>
            <p:extLst>
              <p:ext uri="{D42A27DB-BD31-4B8C-83A1-F6EECF244321}">
                <p14:modId xmlns:p14="http://schemas.microsoft.com/office/powerpoint/2010/main" val="3934847158"/>
              </p:ext>
            </p:extLst>
          </p:nvPr>
        </p:nvGraphicFramePr>
        <p:xfrm>
          <a:off x="1956325" y="2476674"/>
          <a:ext cx="1945459" cy="3077678"/>
        </p:xfrm>
        <a:graphic>
          <a:graphicData uri="http://schemas.openxmlformats.org/drawingml/2006/chart">
            <c:chart xmlns:c="http://schemas.openxmlformats.org/drawingml/2006/chart" xmlns:r="http://schemas.openxmlformats.org/officeDocument/2006/relationships" r:id="rId2"/>
          </a:graphicData>
        </a:graphic>
      </p:graphicFrame>
      <p:grpSp>
        <p:nvGrpSpPr>
          <p:cNvPr id="9" name="Group 8">
            <a:extLst>
              <a:ext uri="{FF2B5EF4-FFF2-40B4-BE49-F238E27FC236}">
                <a16:creationId xmlns:a16="http://schemas.microsoft.com/office/drawing/2014/main" id="{764189B5-A20F-EF7D-A78F-6922F28E181D}"/>
              </a:ext>
            </a:extLst>
          </p:cNvPr>
          <p:cNvGrpSpPr/>
          <p:nvPr/>
        </p:nvGrpSpPr>
        <p:grpSpPr>
          <a:xfrm>
            <a:off x="583487" y="2770553"/>
            <a:ext cx="1985886" cy="2115483"/>
            <a:chOff x="597388" y="2735426"/>
            <a:chExt cx="1986403" cy="2116034"/>
          </a:xfrm>
        </p:grpSpPr>
        <p:grpSp>
          <p:nvGrpSpPr>
            <p:cNvPr id="10" name="Group 9">
              <a:extLst>
                <a:ext uri="{FF2B5EF4-FFF2-40B4-BE49-F238E27FC236}">
                  <a16:creationId xmlns:a16="http://schemas.microsoft.com/office/drawing/2014/main" id="{E620BE41-A31C-EDAB-5398-478281524298}"/>
                </a:ext>
              </a:extLst>
            </p:cNvPr>
            <p:cNvGrpSpPr/>
            <p:nvPr/>
          </p:nvGrpSpPr>
          <p:grpSpPr>
            <a:xfrm>
              <a:off x="597388" y="2735426"/>
              <a:ext cx="1986403" cy="286232"/>
              <a:chOff x="597388" y="3296603"/>
              <a:chExt cx="1986403" cy="286232"/>
            </a:xfrm>
          </p:grpSpPr>
          <p:sp>
            <p:nvSpPr>
              <p:cNvPr id="17" name="TextBox 16">
                <a:extLst>
                  <a:ext uri="{FF2B5EF4-FFF2-40B4-BE49-F238E27FC236}">
                    <a16:creationId xmlns:a16="http://schemas.microsoft.com/office/drawing/2014/main" id="{EA91511F-975F-DF98-460D-F163F88F28DC}"/>
                  </a:ext>
                </a:extLst>
              </p:cNvPr>
              <p:cNvSpPr txBox="1"/>
              <p:nvPr/>
            </p:nvSpPr>
            <p:spPr bwMode="gray">
              <a:xfrm>
                <a:off x="849983" y="3296603"/>
                <a:ext cx="1733808" cy="286232"/>
              </a:xfrm>
              <a:prstGeom prst="rect">
                <a:avLst/>
              </a:prstGeom>
            </p:spPr>
            <p:txBody>
              <a:bodyPr wrap="none" lIns="45708" tIns="45708" rIns="45708" bIns="45708" rtlCol="0" anchor="ctr" anchorCtr="0">
                <a:spAutoFit/>
              </a:bodyPr>
              <a:lstStyle/>
              <a:p>
                <a:pPr>
                  <a:lnSpc>
                    <a:spcPct val="90000"/>
                  </a:lnSpc>
                  <a:defRPr/>
                </a:pPr>
                <a:r>
                  <a:rPr lang="en-US" sz="1400">
                    <a:solidFill>
                      <a:srgbClr val="000000"/>
                    </a:solidFill>
                    <a:latin typeface="Arial" panose="020B0604020202020204"/>
                  </a:rPr>
                  <a:t>High Likelihood (6,7)</a:t>
                </a:r>
              </a:p>
            </p:txBody>
          </p:sp>
          <p:sp>
            <p:nvSpPr>
              <p:cNvPr id="18" name="Oval 17">
                <a:extLst>
                  <a:ext uri="{FF2B5EF4-FFF2-40B4-BE49-F238E27FC236}">
                    <a16:creationId xmlns:a16="http://schemas.microsoft.com/office/drawing/2014/main" id="{70DEF1D9-2EDE-302A-357D-A659CC2C18D8}"/>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400" b="1">
                  <a:solidFill>
                    <a:srgbClr val="0000C9"/>
                  </a:solidFill>
                  <a:latin typeface="Arial" panose="020B0604020202020204"/>
                </a:endParaRPr>
              </a:p>
            </p:txBody>
          </p:sp>
        </p:grpSp>
        <p:grpSp>
          <p:nvGrpSpPr>
            <p:cNvPr id="11" name="Group 10">
              <a:extLst>
                <a:ext uri="{FF2B5EF4-FFF2-40B4-BE49-F238E27FC236}">
                  <a16:creationId xmlns:a16="http://schemas.microsoft.com/office/drawing/2014/main" id="{B477DDDF-CC3F-0906-4C02-9C423F623504}"/>
                </a:ext>
              </a:extLst>
            </p:cNvPr>
            <p:cNvGrpSpPr/>
            <p:nvPr/>
          </p:nvGrpSpPr>
          <p:grpSpPr>
            <a:xfrm>
              <a:off x="597388" y="3650327"/>
              <a:ext cx="1526342" cy="286232"/>
              <a:chOff x="597388" y="4244215"/>
              <a:chExt cx="1526342" cy="286232"/>
            </a:xfrm>
          </p:grpSpPr>
          <p:sp>
            <p:nvSpPr>
              <p:cNvPr id="15" name="Oval 14">
                <a:extLst>
                  <a:ext uri="{FF2B5EF4-FFF2-40B4-BE49-F238E27FC236}">
                    <a16:creationId xmlns:a16="http://schemas.microsoft.com/office/drawing/2014/main" id="{049C057E-ECAF-1920-31AE-C8F9B5AC3D93}"/>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400" b="1">
                  <a:solidFill>
                    <a:srgbClr val="0000C9"/>
                  </a:solidFill>
                  <a:latin typeface="Arial" panose="020B0604020202020204"/>
                </a:endParaRPr>
              </a:p>
            </p:txBody>
          </p:sp>
          <p:sp>
            <p:nvSpPr>
              <p:cNvPr id="16" name="TextBox 15">
                <a:extLst>
                  <a:ext uri="{FF2B5EF4-FFF2-40B4-BE49-F238E27FC236}">
                    <a16:creationId xmlns:a16="http://schemas.microsoft.com/office/drawing/2014/main" id="{F7C568C8-6DEE-90F0-7C25-0713210BF55A}"/>
                  </a:ext>
                </a:extLst>
              </p:cNvPr>
              <p:cNvSpPr txBox="1"/>
              <p:nvPr/>
            </p:nvSpPr>
            <p:spPr bwMode="gray">
              <a:xfrm>
                <a:off x="849983" y="4244215"/>
                <a:ext cx="1273747" cy="286232"/>
              </a:xfrm>
              <a:prstGeom prst="rect">
                <a:avLst/>
              </a:prstGeom>
            </p:spPr>
            <p:txBody>
              <a:bodyPr wrap="none" lIns="45708" tIns="45708" rIns="45708" bIns="45708" rtlCol="0" anchor="ctr" anchorCtr="0">
                <a:spAutoFit/>
              </a:bodyPr>
              <a:lstStyle/>
              <a:p>
                <a:pPr>
                  <a:lnSpc>
                    <a:spcPct val="90000"/>
                  </a:lnSpc>
                  <a:defRPr/>
                </a:pPr>
                <a:r>
                  <a:rPr lang="en-US" sz="1400">
                    <a:solidFill>
                      <a:srgbClr val="000000"/>
                    </a:solidFill>
                    <a:latin typeface="Arial" panose="020B0604020202020204"/>
                  </a:rPr>
                  <a:t>Moderate (3-5)</a:t>
                </a:r>
              </a:p>
            </p:txBody>
          </p:sp>
        </p:grpSp>
        <p:grpSp>
          <p:nvGrpSpPr>
            <p:cNvPr id="12" name="Group 11">
              <a:extLst>
                <a:ext uri="{FF2B5EF4-FFF2-40B4-BE49-F238E27FC236}">
                  <a16:creationId xmlns:a16="http://schemas.microsoft.com/office/drawing/2014/main" id="{5E432256-7A72-7E82-BE30-076A06C6D350}"/>
                </a:ext>
              </a:extLst>
            </p:cNvPr>
            <p:cNvGrpSpPr/>
            <p:nvPr/>
          </p:nvGrpSpPr>
          <p:grpSpPr>
            <a:xfrm>
              <a:off x="597388" y="4565228"/>
              <a:ext cx="1946328" cy="286232"/>
              <a:chOff x="597388" y="4818147"/>
              <a:chExt cx="1946328" cy="286232"/>
            </a:xfrm>
          </p:grpSpPr>
          <p:sp>
            <p:nvSpPr>
              <p:cNvPr id="13" name="Oval 12">
                <a:extLst>
                  <a:ext uri="{FF2B5EF4-FFF2-40B4-BE49-F238E27FC236}">
                    <a16:creationId xmlns:a16="http://schemas.microsoft.com/office/drawing/2014/main" id="{830537F5-984A-4AA7-ABEC-1AB178459C1D}"/>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400" b="1">
                  <a:solidFill>
                    <a:srgbClr val="0000C9"/>
                  </a:solidFill>
                  <a:latin typeface="Arial" panose="020B0604020202020204"/>
                </a:endParaRPr>
              </a:p>
            </p:txBody>
          </p:sp>
          <p:sp>
            <p:nvSpPr>
              <p:cNvPr id="14" name="TextBox 13">
                <a:extLst>
                  <a:ext uri="{FF2B5EF4-FFF2-40B4-BE49-F238E27FC236}">
                    <a16:creationId xmlns:a16="http://schemas.microsoft.com/office/drawing/2014/main" id="{645E1630-6CFE-09F4-A979-B70007FEC45D}"/>
                  </a:ext>
                </a:extLst>
              </p:cNvPr>
              <p:cNvSpPr txBox="1"/>
              <p:nvPr/>
            </p:nvSpPr>
            <p:spPr bwMode="gray">
              <a:xfrm>
                <a:off x="849983" y="4818147"/>
                <a:ext cx="1693733" cy="286232"/>
              </a:xfrm>
              <a:prstGeom prst="rect">
                <a:avLst/>
              </a:prstGeom>
            </p:spPr>
            <p:txBody>
              <a:bodyPr wrap="none" lIns="45708" tIns="45708" rIns="45708" bIns="45708" rtlCol="0" anchor="ctr" anchorCtr="0">
                <a:spAutoFit/>
              </a:bodyPr>
              <a:lstStyle/>
              <a:p>
                <a:pPr>
                  <a:lnSpc>
                    <a:spcPct val="90000"/>
                  </a:lnSpc>
                  <a:defRPr/>
                </a:pPr>
                <a:r>
                  <a:rPr lang="en-US" sz="1400">
                    <a:solidFill>
                      <a:srgbClr val="000000"/>
                    </a:solidFill>
                    <a:latin typeface="Arial" panose="020B0604020202020204"/>
                  </a:rPr>
                  <a:t>Low Likelihood (1,2)</a:t>
                </a:r>
              </a:p>
            </p:txBody>
          </p:sp>
        </p:grpSp>
      </p:grpSp>
      <p:sp>
        <p:nvSpPr>
          <p:cNvPr id="51" name="Text Placeholder 11">
            <a:extLst>
              <a:ext uri="{FF2B5EF4-FFF2-40B4-BE49-F238E27FC236}">
                <a16:creationId xmlns:a16="http://schemas.microsoft.com/office/drawing/2014/main" id="{4E15E2B8-27E4-AE4C-42CF-316AC06D944B}"/>
              </a:ext>
            </a:extLst>
          </p:cNvPr>
          <p:cNvSpPr>
            <a:spLocks noGrp="1"/>
          </p:cNvSpPr>
          <p:nvPr>
            <p:ph type="body" sz="quarter" idx="16"/>
          </p:nvPr>
        </p:nvSpPr>
        <p:spPr>
          <a:xfrm>
            <a:off x="1572803" y="6277502"/>
            <a:ext cx="9975047" cy="605294"/>
          </a:xfrm>
        </p:spPr>
        <p:txBody>
          <a:bodyPr/>
          <a:lstStyle/>
          <a:p>
            <a:pPr marL="228531" indent="-228531"/>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unbranded (Vaccine X) perceptions in the prior wave </a:t>
            </a:r>
          </a:p>
          <a:p>
            <a:pPr marL="233363" indent="-233363"/>
            <a:r>
              <a:rPr lang="en-US" dirty="0"/>
              <a:t>P5.	How likely are you to recommend Penbraya (Pfizer's 5-in-1 Pentavalent vaccine for </a:t>
            </a:r>
            <a:r>
              <a:rPr lang="en-US" dirty="0" err="1"/>
              <a:t>MenABCWY</a:t>
            </a:r>
            <a:r>
              <a:rPr lang="en-US" dirty="0"/>
              <a:t>) for eligible 16-18 year old patients? </a:t>
            </a:r>
            <a:br>
              <a:rPr lang="en-US" dirty="0"/>
            </a:br>
            <a:r>
              <a:rPr lang="en-US" dirty="0"/>
              <a:t>(7-pt scale: 1=Not at all likely, 7=Extremely likely).   </a:t>
            </a:r>
          </a:p>
          <a:p>
            <a:pPr marL="228600" indent="-228600"/>
            <a:r>
              <a:rPr lang="en-US" dirty="0"/>
              <a:t>P6.	Why are you [highly likely / not highly likely] to recommend Penbraya (Pfizer's 5-in-1 Pentavalent vaccine for </a:t>
            </a:r>
            <a:r>
              <a:rPr lang="en-US" dirty="0" err="1"/>
              <a:t>MenABCWY</a:t>
            </a:r>
            <a:r>
              <a:rPr lang="en-US" dirty="0"/>
              <a:t>) for your 16-18 year old patients?</a:t>
            </a:r>
          </a:p>
        </p:txBody>
      </p:sp>
      <p:sp>
        <p:nvSpPr>
          <p:cNvPr id="21" name="Rectangle: Rounded Corners 20">
            <a:extLst>
              <a:ext uri="{FF2B5EF4-FFF2-40B4-BE49-F238E27FC236}">
                <a16:creationId xmlns:a16="http://schemas.microsoft.com/office/drawing/2014/main" id="{D9E9E158-ED9F-06BC-5DE3-0BC5C28453A2}"/>
              </a:ext>
            </a:extLst>
          </p:cNvPr>
          <p:cNvSpPr/>
          <p:nvPr/>
        </p:nvSpPr>
        <p:spPr bwMode="gray">
          <a:xfrm>
            <a:off x="245927" y="1381212"/>
            <a:ext cx="11698207" cy="4727448"/>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799" b="1">
              <a:solidFill>
                <a:schemeClr val="accent1"/>
              </a:solidFill>
              <a:latin typeface="+mj-lt"/>
            </a:endParaRPr>
          </a:p>
        </p:txBody>
      </p:sp>
      <p:sp>
        <p:nvSpPr>
          <p:cNvPr id="65" name="TextBox 64">
            <a:extLst>
              <a:ext uri="{FF2B5EF4-FFF2-40B4-BE49-F238E27FC236}">
                <a16:creationId xmlns:a16="http://schemas.microsoft.com/office/drawing/2014/main" id="{BCFF534A-9F0D-0C2A-6656-FD55B35954BC}"/>
              </a:ext>
            </a:extLst>
          </p:cNvPr>
          <p:cNvSpPr txBox="1"/>
          <p:nvPr/>
        </p:nvSpPr>
        <p:spPr bwMode="gray">
          <a:xfrm>
            <a:off x="280669" y="1148092"/>
            <a:ext cx="825694" cy="338378"/>
          </a:xfrm>
          <a:prstGeom prst="rect">
            <a:avLst/>
          </a:prstGeom>
          <a:noFill/>
        </p:spPr>
        <p:txBody>
          <a:bodyPr wrap="none">
            <a:spAutoFit/>
          </a:bodyPr>
          <a:lstStyle/>
          <a:p>
            <a:r>
              <a:rPr lang="en-US" sz="1600">
                <a:solidFill>
                  <a:srgbClr val="000000"/>
                </a:solidFill>
                <a:latin typeface="Arial" panose="020B0604020202020204"/>
              </a:rPr>
              <a:t>TOTAL</a:t>
            </a:r>
          </a:p>
        </p:txBody>
      </p:sp>
      <p:grpSp>
        <p:nvGrpSpPr>
          <p:cNvPr id="5" name="Group 4">
            <a:extLst>
              <a:ext uri="{FF2B5EF4-FFF2-40B4-BE49-F238E27FC236}">
                <a16:creationId xmlns:a16="http://schemas.microsoft.com/office/drawing/2014/main" id="{12B81318-C7F1-241D-BDF0-0161942DCC5D}"/>
              </a:ext>
            </a:extLst>
          </p:cNvPr>
          <p:cNvGrpSpPr/>
          <p:nvPr/>
        </p:nvGrpSpPr>
        <p:grpSpPr>
          <a:xfrm>
            <a:off x="2840999" y="1971965"/>
            <a:ext cx="182040" cy="182832"/>
            <a:chOff x="2132012" y="1676400"/>
            <a:chExt cx="182087" cy="182880"/>
          </a:xfrm>
        </p:grpSpPr>
        <p:sp>
          <p:nvSpPr>
            <p:cNvPr id="19" name="Oval 18">
              <a:extLst>
                <a:ext uri="{FF2B5EF4-FFF2-40B4-BE49-F238E27FC236}">
                  <a16:creationId xmlns:a16="http://schemas.microsoft.com/office/drawing/2014/main" id="{8A507F40-37DC-BD57-0DF0-36B316684F77}"/>
                </a:ext>
              </a:extLst>
            </p:cNvPr>
            <p:cNvSpPr/>
            <p:nvPr/>
          </p:nvSpPr>
          <p:spPr bwMode="gray">
            <a:xfrm>
              <a:off x="2132012" y="1676400"/>
              <a:ext cx="182087" cy="182880"/>
            </a:xfrm>
            <a:prstGeom prst="ellipse">
              <a:avLst/>
            </a:prstGeom>
            <a:solidFill>
              <a:schemeClr val="bg1"/>
            </a:solidFill>
            <a:ln w="28575" cap="flat" cmpd="sng" algn="ctr">
              <a:solidFill>
                <a:srgbClr val="C9A909"/>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sp>
          <p:nvSpPr>
            <p:cNvPr id="22" name="Star: 5 Points 21">
              <a:extLst>
                <a:ext uri="{FF2B5EF4-FFF2-40B4-BE49-F238E27FC236}">
                  <a16:creationId xmlns:a16="http://schemas.microsoft.com/office/drawing/2014/main" id="{BD2B94FA-217A-CE30-E469-23BE262BF428}"/>
                </a:ext>
              </a:extLst>
            </p:cNvPr>
            <p:cNvSpPr/>
            <p:nvPr/>
          </p:nvSpPr>
          <p:spPr bwMode="gray">
            <a:xfrm>
              <a:off x="2150221" y="1692671"/>
              <a:ext cx="145670" cy="143942"/>
            </a:xfrm>
            <a:prstGeom prst="star5">
              <a:avLst/>
            </a:prstGeom>
            <a:solidFill>
              <a:srgbClr val="C9A909"/>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defRPr/>
              </a:pPr>
              <a:endParaRPr lang="en-US" sz="1799" b="1">
                <a:solidFill>
                  <a:srgbClr val="0000C9"/>
                </a:solidFill>
                <a:latin typeface="Arial" panose="020B0604020202020204"/>
              </a:endParaRPr>
            </a:p>
          </p:txBody>
        </p:sp>
      </p:grpSp>
      <p:grpSp>
        <p:nvGrpSpPr>
          <p:cNvPr id="47" name="Group 46">
            <a:extLst>
              <a:ext uri="{FF2B5EF4-FFF2-40B4-BE49-F238E27FC236}">
                <a16:creationId xmlns:a16="http://schemas.microsoft.com/office/drawing/2014/main" id="{8A295B53-F22A-A2E5-44C8-C2363AB2307F}"/>
              </a:ext>
            </a:extLst>
          </p:cNvPr>
          <p:cNvGrpSpPr/>
          <p:nvPr/>
        </p:nvGrpSpPr>
        <p:grpSpPr>
          <a:xfrm>
            <a:off x="356101" y="1438712"/>
            <a:ext cx="925412" cy="775849"/>
            <a:chOff x="1668641" y="1600319"/>
            <a:chExt cx="925894" cy="776254"/>
          </a:xfrm>
        </p:grpSpPr>
        <p:sp>
          <p:nvSpPr>
            <p:cNvPr id="50" name="TextBox 49">
              <a:extLst>
                <a:ext uri="{FF2B5EF4-FFF2-40B4-BE49-F238E27FC236}">
                  <a16:creationId xmlns:a16="http://schemas.microsoft.com/office/drawing/2014/main" id="{5B805E78-08F9-41A4-1DE2-7DACEA3D2325}"/>
                </a:ext>
              </a:extLst>
            </p:cNvPr>
            <p:cNvSpPr txBox="1"/>
            <p:nvPr/>
          </p:nvSpPr>
          <p:spPr bwMode="gray">
            <a:xfrm>
              <a:off x="1668641" y="1910292"/>
              <a:ext cx="925894" cy="466281"/>
            </a:xfrm>
            <a:prstGeom prst="rect">
              <a:avLst/>
            </a:prstGeom>
          </p:spPr>
          <p:txBody>
            <a:bodyPr wrap="none" lIns="45696" tIns="45696" rIns="45696" bIns="45696" rtlCol="0">
              <a:spAutoFit/>
            </a:bodyPr>
            <a:lstStyle/>
            <a:p>
              <a:pPr>
                <a:lnSpc>
                  <a:spcPct val="90000"/>
                </a:lnSpc>
                <a:spcBef>
                  <a:spcPts val="1000"/>
                </a:spcBef>
                <a:tabLst>
                  <a:tab pos="456926" algn="l"/>
                </a:tabLst>
                <a:defRPr/>
              </a:pPr>
              <a:r>
                <a:rPr lang="en-US" sz="900">
                  <a:solidFill>
                    <a:srgbClr val="FFFFFF">
                      <a:lumMod val="50000"/>
                    </a:srgbClr>
                  </a:solidFill>
                  <a:latin typeface="Arial" panose="020B0604020202020204"/>
                </a:rPr>
                <a:t>(n=200)	TOTAL</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(n=160)	PED</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(n=40)	PCP</a:t>
              </a:r>
            </a:p>
          </p:txBody>
        </p:sp>
        <p:cxnSp>
          <p:nvCxnSpPr>
            <p:cNvPr id="48" name="Straight Connector 47">
              <a:extLst>
                <a:ext uri="{FF2B5EF4-FFF2-40B4-BE49-F238E27FC236}">
                  <a16:creationId xmlns:a16="http://schemas.microsoft.com/office/drawing/2014/main" id="{3BD713BA-76E6-EAE6-429B-78741846C429}"/>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49" name="TextBox 48">
              <a:extLst>
                <a:ext uri="{FF2B5EF4-FFF2-40B4-BE49-F238E27FC236}">
                  <a16:creationId xmlns:a16="http://schemas.microsoft.com/office/drawing/2014/main" id="{C0861FF1-527D-BDC5-7FBC-A951BE0CEB95}"/>
                </a:ext>
              </a:extLst>
            </p:cNvPr>
            <p:cNvSpPr txBox="1"/>
            <p:nvPr/>
          </p:nvSpPr>
          <p:spPr bwMode="gray">
            <a:xfrm>
              <a:off x="1686341" y="1600319"/>
              <a:ext cx="650178" cy="286232"/>
            </a:xfrm>
            <a:prstGeom prst="rect">
              <a:avLst/>
            </a:prstGeom>
          </p:spPr>
          <p:txBody>
            <a:bodyPr wrap="none" lIns="45696" tIns="45696" rIns="45696" bIns="45696" rtlCol="0">
              <a:spAutoFit/>
            </a:bodyPr>
            <a:lstStyle/>
            <a:p>
              <a:pPr algn="ctr">
                <a:lnSpc>
                  <a:spcPct val="90000"/>
                </a:lnSpc>
                <a:spcBef>
                  <a:spcPts val="1000"/>
                </a:spcBef>
                <a:defRPr/>
              </a:pPr>
              <a:r>
                <a:rPr lang="en-US" sz="1400">
                  <a:solidFill>
                    <a:srgbClr val="000000"/>
                  </a:solidFill>
                  <a:latin typeface="Arial" panose="020B0604020202020204"/>
                </a:rPr>
                <a:t>Sep’25</a:t>
              </a:r>
            </a:p>
          </p:txBody>
        </p:sp>
      </p:grpSp>
      <p:sp>
        <p:nvSpPr>
          <p:cNvPr id="36" name="Text Placeholder 2">
            <a:extLst>
              <a:ext uri="{FF2B5EF4-FFF2-40B4-BE49-F238E27FC236}">
                <a16:creationId xmlns:a16="http://schemas.microsoft.com/office/drawing/2014/main" id="{AB89A949-E3E7-BDF6-9677-5FE1B4FE3D99}"/>
              </a:ext>
            </a:extLst>
          </p:cNvPr>
          <p:cNvSpPr txBox="1">
            <a:spLocks/>
          </p:cNvSpPr>
          <p:nvPr/>
        </p:nvSpPr>
        <p:spPr bwMode="gray">
          <a:xfrm flipV="1">
            <a:off x="3073915" y="4031902"/>
            <a:ext cx="122689"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664" indent="-285664"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sp>
        <p:nvSpPr>
          <p:cNvPr id="37" name="Text Placeholder 2">
            <a:extLst>
              <a:ext uri="{FF2B5EF4-FFF2-40B4-BE49-F238E27FC236}">
                <a16:creationId xmlns:a16="http://schemas.microsoft.com/office/drawing/2014/main" id="{528D8E89-AC61-A3D4-2487-C93861319C83}"/>
              </a:ext>
            </a:extLst>
          </p:cNvPr>
          <p:cNvSpPr txBox="1">
            <a:spLocks/>
          </p:cNvSpPr>
          <p:nvPr/>
        </p:nvSpPr>
        <p:spPr bwMode="gray">
          <a:xfrm>
            <a:off x="3063167" y="3006195"/>
            <a:ext cx="122689"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664" indent="-285664"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sp>
        <p:nvSpPr>
          <p:cNvPr id="39" name="Text Placeholder 2">
            <a:extLst>
              <a:ext uri="{FF2B5EF4-FFF2-40B4-BE49-F238E27FC236}">
                <a16:creationId xmlns:a16="http://schemas.microsoft.com/office/drawing/2014/main" id="{672A5F40-BF5E-29D7-8874-72DFC3A5731D}"/>
              </a:ext>
            </a:extLst>
          </p:cNvPr>
          <p:cNvSpPr txBox="1">
            <a:spLocks/>
          </p:cNvSpPr>
          <p:nvPr/>
        </p:nvSpPr>
        <p:spPr bwMode="gray">
          <a:xfrm>
            <a:off x="4095397" y="3062729"/>
            <a:ext cx="122689"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664" indent="-285664"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sp>
        <p:nvSpPr>
          <p:cNvPr id="40" name="Text Placeholder 2">
            <a:extLst>
              <a:ext uri="{FF2B5EF4-FFF2-40B4-BE49-F238E27FC236}">
                <a16:creationId xmlns:a16="http://schemas.microsoft.com/office/drawing/2014/main" id="{B3C4A60B-DE46-1199-8037-B7BA049EDB81}"/>
              </a:ext>
            </a:extLst>
          </p:cNvPr>
          <p:cNvSpPr txBox="1">
            <a:spLocks/>
          </p:cNvSpPr>
          <p:nvPr/>
        </p:nvSpPr>
        <p:spPr bwMode="gray">
          <a:xfrm flipV="1">
            <a:off x="4132864" y="4050632"/>
            <a:ext cx="122689"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664" indent="-285664"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graphicFrame>
        <p:nvGraphicFramePr>
          <p:cNvPr id="4" name="Table 3">
            <a:extLst>
              <a:ext uri="{FF2B5EF4-FFF2-40B4-BE49-F238E27FC236}">
                <a16:creationId xmlns:a16="http://schemas.microsoft.com/office/drawing/2014/main" id="{BE6BE538-E91A-6D48-1CB6-E78879059B77}"/>
              </a:ext>
            </a:extLst>
          </p:cNvPr>
          <p:cNvGraphicFramePr>
            <a:graphicFrameLocks noGrp="1"/>
          </p:cNvGraphicFramePr>
          <p:nvPr>
            <p:extLst>
              <p:ext uri="{D42A27DB-BD31-4B8C-83A1-F6EECF244321}">
                <p14:modId xmlns:p14="http://schemas.microsoft.com/office/powerpoint/2010/main" val="2833302348"/>
              </p:ext>
            </p:extLst>
          </p:nvPr>
        </p:nvGraphicFramePr>
        <p:xfrm>
          <a:off x="3606783" y="2420080"/>
          <a:ext cx="1389054" cy="2618172"/>
        </p:xfrm>
        <a:graphic>
          <a:graphicData uri="http://schemas.openxmlformats.org/drawingml/2006/table">
            <a:tbl>
              <a:tblPr firstRow="1" bandRow="1">
                <a:tableStyleId>{F5AB1C69-6EDB-4FF4-983F-18BD219EF322}</a:tableStyleId>
              </a:tblPr>
              <a:tblGrid>
                <a:gridCol w="694527">
                  <a:extLst>
                    <a:ext uri="{9D8B030D-6E8A-4147-A177-3AD203B41FA5}">
                      <a16:colId xmlns:a16="http://schemas.microsoft.com/office/drawing/2014/main" val="3264863121"/>
                    </a:ext>
                  </a:extLst>
                </a:gridCol>
                <a:gridCol w="694527">
                  <a:extLst>
                    <a:ext uri="{9D8B030D-6E8A-4147-A177-3AD203B41FA5}">
                      <a16:colId xmlns:a16="http://schemas.microsoft.com/office/drawing/2014/main" val="1469452096"/>
                    </a:ext>
                  </a:extLst>
                </a:gridCol>
              </a:tblGrid>
              <a:tr h="274249">
                <a:tc>
                  <a:txBody>
                    <a:bodyPr/>
                    <a:lstStyle/>
                    <a:p>
                      <a:pPr algn="ctr"/>
                      <a:r>
                        <a:rPr lang="en-US" sz="1400" b="1">
                          <a:solidFill>
                            <a:schemeClr val="tx1">
                              <a:lumMod val="50000"/>
                              <a:lumOff val="50000"/>
                            </a:schemeClr>
                          </a:solidFill>
                          <a:latin typeface="+mn-lt"/>
                        </a:rPr>
                        <a:t>PED</a:t>
                      </a:r>
                      <a:r>
                        <a:rPr lang="en-US" sz="1600" baseline="20000">
                          <a:solidFill>
                            <a:schemeClr val="tx1">
                              <a:lumMod val="50000"/>
                              <a:lumOff val="50000"/>
                            </a:schemeClr>
                          </a:solidFill>
                          <a:latin typeface="+mn-lt"/>
                          <a:cs typeface="Arial"/>
                        </a:rPr>
                        <a:t> </a:t>
                      </a:r>
                      <a:r>
                        <a:rPr kumimoji="0" lang="en-US" sz="1600" b="0" i="0" u="none" strike="noStrike" kern="1200" cap="none" spc="0" normalizeH="0" baseline="15000" noProof="0">
                          <a:ln>
                            <a:noFill/>
                          </a:ln>
                          <a:solidFill>
                            <a:schemeClr val="tx1">
                              <a:lumMod val="50000"/>
                              <a:lumOff val="50000"/>
                            </a:schemeClr>
                          </a:solidFill>
                          <a:effectLst/>
                          <a:uLnTx/>
                          <a:uFillTx/>
                          <a:latin typeface="+mn-lt"/>
                          <a:ea typeface="+mn-ea"/>
                          <a:cs typeface="+mn-cs"/>
                        </a:rPr>
                        <a:t>|</a:t>
                      </a:r>
                      <a:r>
                        <a:rPr kumimoji="0" lang="en-US" sz="1600" b="0" i="0" u="none" strike="noStrike" kern="1200" cap="none" spc="0" normalizeH="0" baseline="20000" noProof="0">
                          <a:ln>
                            <a:noFill/>
                          </a:ln>
                          <a:solidFill>
                            <a:schemeClr val="tx1">
                              <a:lumMod val="50000"/>
                              <a:lumOff val="50000"/>
                            </a:schemeClr>
                          </a:solidFill>
                          <a:effectLst/>
                          <a:uLnTx/>
                          <a:uFillTx/>
                          <a:latin typeface="+mn-lt"/>
                          <a:ea typeface="+mn-ea"/>
                          <a:cs typeface="+mn-cs"/>
                        </a:rPr>
                        <a:t> </a:t>
                      </a:r>
                      <a:r>
                        <a:rPr kumimoji="0" lang="en-US" sz="1000" b="0" i="0" u="none" strike="noStrike" kern="1200" cap="none" spc="0" normalizeH="0" baseline="55000" noProof="0">
                          <a:ln>
                            <a:noFill/>
                          </a:ln>
                          <a:solidFill>
                            <a:schemeClr val="tx1">
                              <a:lumMod val="50000"/>
                              <a:lumOff val="50000"/>
                            </a:schemeClr>
                          </a:solidFill>
                          <a:effectLst/>
                          <a:uLnTx/>
                          <a:uFillTx/>
                          <a:latin typeface="+mn-lt"/>
                          <a:ea typeface="+mn-ea"/>
                          <a:cs typeface="+mn-cs"/>
                        </a:rPr>
                        <a:t>A</a:t>
                      </a:r>
                      <a:endParaRPr lang="en-US" sz="1000" b="0" baseline="55000">
                        <a:solidFill>
                          <a:schemeClr val="tx1">
                            <a:lumMod val="50000"/>
                            <a:lumOff val="50000"/>
                          </a:schemeClr>
                        </a:solidFill>
                        <a:latin typeface="+mn-lt"/>
                      </a:endParaRPr>
                    </a:p>
                  </a:txBody>
                  <a:tcPr marL="0" marR="0" marT="0" marB="0">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400" b="1">
                          <a:solidFill>
                            <a:schemeClr val="tx1">
                              <a:lumMod val="50000"/>
                              <a:lumOff val="50000"/>
                            </a:schemeClr>
                          </a:solidFill>
                          <a:latin typeface="+mn-lt"/>
                        </a:rPr>
                        <a:t>PCP</a:t>
                      </a:r>
                      <a:r>
                        <a:rPr lang="en-US" sz="1600" baseline="20000">
                          <a:solidFill>
                            <a:schemeClr val="tx1">
                              <a:lumMod val="50000"/>
                              <a:lumOff val="50000"/>
                            </a:schemeClr>
                          </a:solidFill>
                          <a:latin typeface="+mn-lt"/>
                          <a:cs typeface="Arial"/>
                        </a:rPr>
                        <a:t> </a:t>
                      </a:r>
                      <a:r>
                        <a:rPr kumimoji="0" lang="en-US" sz="1600" b="0" i="0" u="none" strike="noStrike" kern="1200" cap="none" spc="0" normalizeH="0" baseline="15000" noProof="0">
                          <a:ln>
                            <a:noFill/>
                          </a:ln>
                          <a:solidFill>
                            <a:schemeClr val="tx1">
                              <a:lumMod val="50000"/>
                              <a:lumOff val="50000"/>
                            </a:schemeClr>
                          </a:solidFill>
                          <a:effectLst/>
                          <a:uLnTx/>
                          <a:uFillTx/>
                          <a:latin typeface="+mn-lt"/>
                          <a:ea typeface="+mn-ea"/>
                          <a:cs typeface="+mn-cs"/>
                        </a:rPr>
                        <a:t>|</a:t>
                      </a:r>
                      <a:r>
                        <a:rPr kumimoji="0" lang="en-US" sz="1800" b="0" i="0" u="none" strike="noStrike" kern="1200" cap="none" spc="0" normalizeH="0" baseline="20000" noProof="0">
                          <a:ln>
                            <a:noFill/>
                          </a:ln>
                          <a:solidFill>
                            <a:schemeClr val="tx1">
                              <a:lumMod val="50000"/>
                              <a:lumOff val="50000"/>
                            </a:schemeClr>
                          </a:solidFill>
                          <a:effectLst/>
                          <a:uLnTx/>
                          <a:uFillTx/>
                          <a:latin typeface="+mn-lt"/>
                          <a:ea typeface="+mn-ea"/>
                          <a:cs typeface="+mn-cs"/>
                        </a:rPr>
                        <a:t> </a:t>
                      </a:r>
                      <a:r>
                        <a:rPr kumimoji="0" lang="en-US" sz="1000" b="0" i="0" u="none" strike="noStrike" kern="1200" cap="none" spc="0" normalizeH="0" baseline="55000" noProof="0">
                          <a:ln>
                            <a:noFill/>
                          </a:ln>
                          <a:solidFill>
                            <a:schemeClr val="tx1">
                              <a:lumMod val="50000"/>
                              <a:lumOff val="50000"/>
                            </a:schemeClr>
                          </a:solidFill>
                          <a:effectLst/>
                          <a:uLnTx/>
                          <a:uFillTx/>
                          <a:latin typeface="+mn-lt"/>
                          <a:ea typeface="+mn-ea"/>
                          <a:cs typeface="+mn-cs"/>
                        </a:rPr>
                        <a:t>B</a:t>
                      </a:r>
                      <a:endParaRPr lang="en-US" sz="1800" b="0" baseline="55000">
                        <a:solidFill>
                          <a:schemeClr val="tx1">
                            <a:lumMod val="50000"/>
                            <a:lumOff val="50000"/>
                          </a:schemeClr>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85626216"/>
                  </a:ext>
                </a:extLst>
              </a:tr>
              <a:tr h="9130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35%</a:t>
                      </a:r>
                      <a:endParaRPr kumimoji="0" lang="en-US" sz="1200" b="0"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endParaRPr>
                    </a:p>
                  </a:txBody>
                  <a:tcPr marL="91416" marR="91416" marT="27425" marB="27425"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73%</a:t>
                      </a:r>
                      <a:r>
                        <a:rPr kumimoji="0" lang="en-US" sz="1200" b="0"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A</a:t>
                      </a:r>
                      <a:endParaRPr kumimoji="0" lang="en-US" sz="1200" b="0"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endParaRPr>
                    </a:p>
                  </a:txBody>
                  <a:tcPr marL="91416" marR="91416" marT="27425" marB="27425"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00659004"/>
                  </a:ext>
                </a:extLst>
              </a:tr>
              <a:tr h="11228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46%</a:t>
                      </a:r>
                      <a:r>
                        <a:rPr kumimoji="0" lang="en-US" sz="1200" b="0"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rPr>
                        <a:t>B</a:t>
                      </a:r>
                    </a:p>
                  </a:txBody>
                  <a:tcPr marL="91416" marR="91416" marT="27425" marB="27425"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28%</a:t>
                      </a:r>
                    </a:p>
                  </a:txBody>
                  <a:tcPr marL="91416" marR="91416" marT="27425" marB="27425"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49236311"/>
                  </a:ext>
                </a:extLst>
              </a:tr>
              <a:tr h="3080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19%</a:t>
                      </a:r>
                      <a:r>
                        <a:rPr lang="en-US" sz="1200" baseline="50000">
                          <a:solidFill>
                            <a:schemeClr val="tx1">
                              <a:lumMod val="50000"/>
                              <a:lumOff val="50000"/>
                            </a:schemeClr>
                          </a:solidFill>
                          <a:sym typeface="Wingdings 3" panose="05040102010807070707" pitchFamily="18" charset="2"/>
                        </a:rPr>
                        <a:t>B</a:t>
                      </a:r>
                      <a:endPar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endParaRPr>
                    </a:p>
                  </a:txBody>
                  <a:tcPr marL="91416" marR="91416" marT="27425" marB="27425"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0%</a:t>
                      </a:r>
                    </a:p>
                  </a:txBody>
                  <a:tcPr marL="91416" marR="91416" marT="27425" marB="27425"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10966140"/>
                  </a:ext>
                </a:extLst>
              </a:tr>
            </a:tbl>
          </a:graphicData>
        </a:graphic>
      </p:graphicFrame>
      <p:graphicFrame>
        <p:nvGraphicFramePr>
          <p:cNvPr id="54" name="Table 53">
            <a:extLst>
              <a:ext uri="{FF2B5EF4-FFF2-40B4-BE49-F238E27FC236}">
                <a16:creationId xmlns:a16="http://schemas.microsoft.com/office/drawing/2014/main" id="{7C8D7926-9A09-CBAF-56BD-6EBB8DFA5840}"/>
              </a:ext>
            </a:extLst>
          </p:cNvPr>
          <p:cNvGraphicFramePr>
            <a:graphicFrameLocks noGrp="1"/>
          </p:cNvGraphicFramePr>
          <p:nvPr>
            <p:extLst>
              <p:ext uri="{D42A27DB-BD31-4B8C-83A1-F6EECF244321}">
                <p14:modId xmlns:p14="http://schemas.microsoft.com/office/powerpoint/2010/main" val="1452359972"/>
              </p:ext>
            </p:extLst>
          </p:nvPr>
        </p:nvGraphicFramePr>
        <p:xfrm>
          <a:off x="5976570" y="2109198"/>
          <a:ext cx="5834842" cy="1188720"/>
        </p:xfrm>
        <a:graphic>
          <a:graphicData uri="http://schemas.openxmlformats.org/drawingml/2006/table">
            <a:tbl>
              <a:tblPr firstRow="1" bandRow="1">
                <a:tableStyleId>{00A15C55-8517-42AA-B614-E9B94910E393}</a:tableStyleId>
              </a:tblPr>
              <a:tblGrid>
                <a:gridCol w="4923685">
                  <a:extLst>
                    <a:ext uri="{9D8B030D-6E8A-4147-A177-3AD203B41FA5}">
                      <a16:colId xmlns:a16="http://schemas.microsoft.com/office/drawing/2014/main" val="980891169"/>
                    </a:ext>
                  </a:extLst>
                </a:gridCol>
                <a:gridCol w="911157">
                  <a:extLst>
                    <a:ext uri="{9D8B030D-6E8A-4147-A177-3AD203B41FA5}">
                      <a16:colId xmlns:a16="http://schemas.microsoft.com/office/drawing/2014/main" val="765208812"/>
                    </a:ext>
                  </a:extLst>
                </a:gridCol>
              </a:tblGrid>
              <a:tr h="182880">
                <a:tc>
                  <a:txBody>
                    <a:bodyPr/>
                    <a:lstStyle/>
                    <a:p>
                      <a:pPr algn="l"/>
                      <a:r>
                        <a:rPr lang="en-US" sz="1200"/>
                        <a:t>Reasons Highly Likely</a:t>
                      </a:r>
                    </a:p>
                  </a:txBody>
                  <a:tcPr>
                    <a:lnL w="12700" cap="flat" cmpd="sng" algn="ctr">
                      <a:solidFill>
                        <a:schemeClr val="accent4">
                          <a:lumMod val="60000"/>
                          <a:lumOff val="40000"/>
                        </a:schemeClr>
                      </a:solidFill>
                      <a:prstDash val="solid"/>
                      <a:round/>
                      <a:headEnd type="none" w="med" len="med"/>
                      <a:tailEnd type="none" w="med" len="med"/>
                    </a:lnL>
                    <a:lnT w="12700" cap="flat" cmpd="sng" algn="ctr">
                      <a:solidFill>
                        <a:schemeClr val="accent4">
                          <a:lumMod val="60000"/>
                          <a:lumOff val="40000"/>
                        </a:schemeClr>
                      </a:solidFill>
                      <a:prstDash val="solid"/>
                      <a:round/>
                      <a:headEnd type="none" w="med" len="med"/>
                      <a:tailEnd type="none" w="med" len="med"/>
                    </a:lnT>
                  </a:tcPr>
                </a:tc>
                <a:tc>
                  <a:txBody>
                    <a:bodyPr/>
                    <a:lstStyle/>
                    <a:p>
                      <a:pPr algn="ctr"/>
                      <a:endParaRPr lang="en-US" sz="1100"/>
                    </a:p>
                  </a:txBody>
                  <a:tcPr>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tcPr>
                </a:tc>
                <a:extLst>
                  <a:ext uri="{0D108BD9-81ED-4DB2-BD59-A6C34878D82A}">
                    <a16:rowId xmlns:a16="http://schemas.microsoft.com/office/drawing/2014/main" val="2785626216"/>
                  </a:ext>
                </a:extLst>
              </a:tr>
              <a:tr h="182880">
                <a:tc>
                  <a:txBody>
                    <a:bodyPr/>
                    <a:lstStyle/>
                    <a:p>
                      <a:pPr algn="l" fontAlgn="t"/>
                      <a:r>
                        <a:rPr lang="en-US" sz="1100" b="1" i="0" u="none" strike="noStrike">
                          <a:solidFill>
                            <a:srgbClr val="000000"/>
                          </a:solidFill>
                          <a:effectLst/>
                          <a:latin typeface="+mj-lt"/>
                        </a:rPr>
                        <a:t>One Vx / fewer shots (Net)</a:t>
                      </a:r>
                    </a:p>
                  </a:txBody>
                  <a:tcPr marR="7620" marT="0" marB="0" anchor="ctr">
                    <a:lnL w="12700" cap="flat" cmpd="sng" algn="ctr">
                      <a:solidFill>
                        <a:schemeClr val="accent4">
                          <a:lumMod val="60000"/>
                          <a:lumOff val="40000"/>
                        </a:schemeClr>
                      </a:solidFill>
                      <a:prstDash val="solid"/>
                      <a:round/>
                      <a:headEnd type="none" w="med" len="med"/>
                      <a:tailEnd type="none" w="med" len="med"/>
                    </a:lnL>
                    <a:solidFill>
                      <a:srgbClr val="EBF3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1200" cap="none" spc="0" normalizeH="0" baseline="0">
                          <a:ln>
                            <a:noFill/>
                          </a:ln>
                          <a:solidFill>
                            <a:srgbClr val="000000"/>
                          </a:solidFill>
                          <a:effectLst/>
                          <a:uLnTx/>
                          <a:uFillTx/>
                          <a:latin typeface="+mj-lt"/>
                          <a:ea typeface="+mn-ea"/>
                          <a:cs typeface="+mn-cs"/>
                        </a:rPr>
                        <a:t>66%</a:t>
                      </a:r>
                    </a:p>
                  </a:txBody>
                  <a:tcPr marL="7620" marR="7620" marT="0" marB="0">
                    <a:lnR w="12700" cap="flat" cmpd="sng" algn="ctr">
                      <a:solidFill>
                        <a:schemeClr val="accent4">
                          <a:lumMod val="60000"/>
                          <a:lumOff val="40000"/>
                        </a:schemeClr>
                      </a:solidFill>
                      <a:prstDash val="solid"/>
                      <a:round/>
                      <a:headEnd type="none" w="med" len="med"/>
                      <a:tailEnd type="none" w="med" len="med"/>
                    </a:lnR>
                    <a:solidFill>
                      <a:srgbClr val="EBF3EB"/>
                    </a:solidFill>
                  </a:tcPr>
                </a:tc>
                <a:extLst>
                  <a:ext uri="{0D108BD9-81ED-4DB2-BD59-A6C34878D82A}">
                    <a16:rowId xmlns:a16="http://schemas.microsoft.com/office/drawing/2014/main" val="3035588992"/>
                  </a:ext>
                </a:extLst>
              </a:tr>
              <a:tr h="182880">
                <a:tc>
                  <a:txBody>
                    <a:bodyPr/>
                    <a:lstStyle/>
                    <a:p>
                      <a:pPr algn="l" fontAlgn="t"/>
                      <a:r>
                        <a:rPr lang="en-US" sz="1100" b="0" i="0" u="none" strike="noStrike">
                          <a:solidFill>
                            <a:srgbClr val="000000"/>
                          </a:solidFill>
                          <a:effectLst/>
                          <a:latin typeface="+mj-lt"/>
                        </a:rPr>
                        <a:t>One shot instead of two, fewer shots, combination</a:t>
                      </a:r>
                    </a:p>
                  </a:txBody>
                  <a:tcPr marL="228600" marR="7620" marT="0" marB="0" anchor="ctr">
                    <a:lnL w="12700" cap="flat" cmpd="sng" algn="ctr">
                      <a:solidFill>
                        <a:schemeClr val="accent4">
                          <a:lumMod val="60000"/>
                          <a:lumOff val="40000"/>
                        </a:schemeClr>
                      </a:solidFill>
                      <a:prstDash val="solid"/>
                      <a:round/>
                      <a:headEnd type="none" w="med" len="med"/>
                      <a:tailEnd type="none" w="med" len="med"/>
                    </a:lnL>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a:ln>
                            <a:noFill/>
                          </a:ln>
                          <a:solidFill>
                            <a:srgbClr val="000000"/>
                          </a:solidFill>
                          <a:effectLst/>
                          <a:uLnTx/>
                          <a:uFillTx/>
                          <a:latin typeface="+mj-lt"/>
                          <a:ea typeface="+mn-ea"/>
                          <a:cs typeface="+mn-cs"/>
                        </a:rPr>
                        <a:t>56%</a:t>
                      </a:r>
                    </a:p>
                  </a:txBody>
                  <a:tcPr marL="7620" marR="7620" marT="0" marB="0">
                    <a:lnR w="12700" cap="flat" cmpd="sng" algn="ctr">
                      <a:solidFill>
                        <a:schemeClr val="accent4">
                          <a:lumMod val="60000"/>
                          <a:lumOff val="40000"/>
                        </a:schemeClr>
                      </a:solidFill>
                      <a:prstDash val="solid"/>
                      <a:round/>
                      <a:headEnd type="none" w="med" len="med"/>
                      <a:tailEnd type="none" w="med" len="med"/>
                    </a:lnR>
                    <a:noFill/>
                  </a:tcPr>
                </a:tc>
                <a:extLst>
                  <a:ext uri="{0D108BD9-81ED-4DB2-BD59-A6C34878D82A}">
                    <a16:rowId xmlns:a16="http://schemas.microsoft.com/office/drawing/2014/main" val="2488714482"/>
                  </a:ext>
                </a:extLst>
              </a:tr>
              <a:tr h="182880">
                <a:tc>
                  <a:txBody>
                    <a:bodyPr/>
                    <a:lstStyle/>
                    <a:p>
                      <a:pPr algn="l" fontAlgn="t"/>
                      <a:r>
                        <a:rPr lang="fr-FR" sz="1100" b="0" i="0" u="none" strike="noStrike">
                          <a:solidFill>
                            <a:srgbClr val="000000"/>
                          </a:solidFill>
                          <a:effectLst/>
                          <a:latin typeface="+mj-lt"/>
                        </a:rPr>
                        <a:t>Improved compliance / patient satisfaction / acceptance</a:t>
                      </a:r>
                    </a:p>
                  </a:txBody>
                  <a:tcPr marL="228600" marR="7620" marT="0" marB="0" anchor="ctr">
                    <a:lnL w="12700" cap="flat" cmpd="sng" algn="ctr">
                      <a:solidFill>
                        <a:schemeClr val="accent4">
                          <a:lumMod val="60000"/>
                          <a:lumOff val="40000"/>
                        </a:schemeClr>
                      </a:solidFill>
                      <a:prstDash val="solid"/>
                      <a:round/>
                      <a:headEnd type="none" w="med" len="med"/>
                      <a:tailEnd type="none" w="med" len="med"/>
                    </a:lnL>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a:ln>
                            <a:noFill/>
                          </a:ln>
                          <a:solidFill>
                            <a:srgbClr val="000000"/>
                          </a:solidFill>
                          <a:effectLst/>
                          <a:uLnTx/>
                          <a:uFillTx/>
                          <a:latin typeface="+mj-lt"/>
                          <a:ea typeface="+mn-ea"/>
                          <a:cs typeface="+mn-cs"/>
                        </a:rPr>
                        <a:t>22%</a:t>
                      </a:r>
                    </a:p>
                  </a:txBody>
                  <a:tcPr marL="7620" marR="7620" marT="0" marB="0">
                    <a:lnR w="12700" cap="flat" cmpd="sng" algn="ctr">
                      <a:solidFill>
                        <a:schemeClr val="accent4">
                          <a:lumMod val="60000"/>
                          <a:lumOff val="40000"/>
                        </a:schemeClr>
                      </a:solidFill>
                      <a:prstDash val="solid"/>
                      <a:round/>
                      <a:headEnd type="none" w="med" len="med"/>
                      <a:tailEnd type="none" w="med" len="med"/>
                    </a:lnR>
                    <a:noFill/>
                  </a:tcPr>
                </a:tc>
                <a:extLst>
                  <a:ext uri="{0D108BD9-81ED-4DB2-BD59-A6C34878D82A}">
                    <a16:rowId xmlns:a16="http://schemas.microsoft.com/office/drawing/2014/main" val="3206482388"/>
                  </a:ext>
                </a:extLst>
              </a:tr>
              <a:tr h="182880">
                <a:tc>
                  <a:txBody>
                    <a:bodyPr/>
                    <a:lstStyle/>
                    <a:p>
                      <a:pPr algn="l" fontAlgn="t"/>
                      <a:r>
                        <a:rPr lang="en-US" sz="1100" b="1" i="0" u="none" strike="noStrike">
                          <a:solidFill>
                            <a:srgbClr val="000000"/>
                          </a:solidFill>
                          <a:effectLst/>
                          <a:latin typeface="+mj-lt"/>
                        </a:rPr>
                        <a:t>Broad coverage / Covers more / all / 5 STs</a:t>
                      </a:r>
                    </a:p>
                  </a:txBody>
                  <a:tcPr marR="7620" marT="0" marB="0" anchor="ctr">
                    <a:lnL w="12700" cap="flat" cmpd="sng" algn="ctr">
                      <a:solidFill>
                        <a:schemeClr val="accent4">
                          <a:lumMod val="60000"/>
                          <a:lumOff val="40000"/>
                        </a:schemeClr>
                      </a:solidFill>
                      <a:prstDash val="solid"/>
                      <a:round/>
                      <a:headEnd type="none" w="med" len="med"/>
                      <a:tailEnd type="none" w="med" len="med"/>
                    </a:lnL>
                    <a:solidFill>
                      <a:srgbClr val="EBF3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1200" cap="none" spc="0" normalizeH="0" baseline="0">
                          <a:ln>
                            <a:noFill/>
                          </a:ln>
                          <a:solidFill>
                            <a:srgbClr val="000000"/>
                          </a:solidFill>
                          <a:effectLst/>
                          <a:uLnTx/>
                          <a:uFillTx/>
                          <a:latin typeface="+mj-lt"/>
                          <a:ea typeface="+mn-ea"/>
                          <a:cs typeface="+mn-cs"/>
                        </a:rPr>
                        <a:t>27%</a:t>
                      </a:r>
                    </a:p>
                  </a:txBody>
                  <a:tcPr marL="7620" marR="7620" marT="0" marB="0">
                    <a:lnR w="12700" cap="flat" cmpd="sng" algn="ctr">
                      <a:solidFill>
                        <a:schemeClr val="accent4">
                          <a:lumMod val="60000"/>
                          <a:lumOff val="40000"/>
                        </a:schemeClr>
                      </a:solidFill>
                      <a:prstDash val="solid"/>
                      <a:round/>
                      <a:headEnd type="none" w="med" len="med"/>
                      <a:tailEnd type="none" w="med" len="med"/>
                    </a:lnR>
                    <a:solidFill>
                      <a:srgbClr val="EBF3EB"/>
                    </a:solidFill>
                  </a:tcPr>
                </a:tc>
                <a:extLst>
                  <a:ext uri="{0D108BD9-81ED-4DB2-BD59-A6C34878D82A}">
                    <a16:rowId xmlns:a16="http://schemas.microsoft.com/office/drawing/2014/main" val="3295064838"/>
                  </a:ext>
                </a:extLst>
              </a:tr>
              <a:tr h="182880">
                <a:tc>
                  <a:txBody>
                    <a:bodyPr/>
                    <a:lstStyle/>
                    <a:p>
                      <a:pPr algn="l" fontAlgn="t"/>
                      <a:r>
                        <a:rPr lang="en-US" sz="1100" b="1" i="0" u="none" strike="noStrike">
                          <a:solidFill>
                            <a:srgbClr val="000000"/>
                          </a:solidFill>
                          <a:effectLst/>
                          <a:latin typeface="+mj-lt"/>
                        </a:rPr>
                        <a:t>Effective, equally effective</a:t>
                      </a:r>
                    </a:p>
                  </a:txBody>
                  <a:tcPr marR="7620" marT="0" marB="0" anchor="ctr">
                    <a:lnL w="12700" cap="flat" cmpd="sng" algn="ctr">
                      <a:solidFill>
                        <a:schemeClr val="accent4">
                          <a:lumMod val="60000"/>
                          <a:lumOff val="40000"/>
                        </a:schemeClr>
                      </a:solidFill>
                      <a:prstDash val="solid"/>
                      <a:round/>
                      <a:headEnd type="none" w="med" len="med"/>
                      <a:tailEnd type="none" w="med" len="med"/>
                    </a:lnL>
                    <a:lnB w="12700" cap="flat" cmpd="sng" algn="ctr">
                      <a:solidFill>
                        <a:schemeClr val="accent4">
                          <a:lumMod val="60000"/>
                          <a:lumOff val="40000"/>
                        </a:schemeClr>
                      </a:solidFill>
                      <a:prstDash val="solid"/>
                      <a:round/>
                      <a:headEnd type="none" w="med" len="med"/>
                      <a:tailEnd type="none" w="med" len="med"/>
                    </a:lnB>
                    <a:solidFill>
                      <a:srgbClr val="EBF3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1200" cap="none" spc="0" normalizeH="0" baseline="0">
                          <a:ln>
                            <a:noFill/>
                          </a:ln>
                          <a:solidFill>
                            <a:srgbClr val="000000"/>
                          </a:solidFill>
                          <a:effectLst/>
                          <a:uLnTx/>
                          <a:uFillTx/>
                          <a:latin typeface="+mj-lt"/>
                          <a:ea typeface="+mn-ea"/>
                          <a:cs typeface="+mn-cs"/>
                        </a:rPr>
                        <a:t>14%</a:t>
                      </a:r>
                    </a:p>
                  </a:txBody>
                  <a:tcPr marL="7620" marR="7620" marT="0" marB="0">
                    <a:lnR w="12700" cap="flat" cmpd="sng" algn="ctr">
                      <a:solidFill>
                        <a:schemeClr val="accent4">
                          <a:lumMod val="60000"/>
                          <a:lumOff val="40000"/>
                        </a:schemeClr>
                      </a:solidFill>
                      <a:prstDash val="solid"/>
                      <a:round/>
                      <a:headEnd type="none" w="med" len="med"/>
                      <a:tailEnd type="none" w="med" len="med"/>
                    </a:lnR>
                    <a:lnB w="12700" cap="flat" cmpd="sng" algn="ctr">
                      <a:solidFill>
                        <a:schemeClr val="accent4">
                          <a:lumMod val="60000"/>
                          <a:lumOff val="40000"/>
                        </a:schemeClr>
                      </a:solidFill>
                      <a:prstDash val="solid"/>
                      <a:round/>
                      <a:headEnd type="none" w="med" len="med"/>
                      <a:tailEnd type="none" w="med" len="med"/>
                    </a:lnB>
                    <a:solidFill>
                      <a:srgbClr val="EBF3EB"/>
                    </a:solidFill>
                  </a:tcPr>
                </a:tc>
                <a:extLst>
                  <a:ext uri="{0D108BD9-81ED-4DB2-BD59-A6C34878D82A}">
                    <a16:rowId xmlns:a16="http://schemas.microsoft.com/office/drawing/2014/main" val="1300659004"/>
                  </a:ext>
                </a:extLst>
              </a:tr>
            </a:tbl>
          </a:graphicData>
        </a:graphic>
      </p:graphicFrame>
      <p:graphicFrame>
        <p:nvGraphicFramePr>
          <p:cNvPr id="56" name="Table 55">
            <a:extLst>
              <a:ext uri="{FF2B5EF4-FFF2-40B4-BE49-F238E27FC236}">
                <a16:creationId xmlns:a16="http://schemas.microsoft.com/office/drawing/2014/main" id="{2EF590A0-7946-E8E6-8647-DFB621A38ED3}"/>
              </a:ext>
            </a:extLst>
          </p:cNvPr>
          <p:cNvGraphicFramePr>
            <a:graphicFrameLocks noGrp="1"/>
          </p:cNvGraphicFramePr>
          <p:nvPr>
            <p:extLst>
              <p:ext uri="{D42A27DB-BD31-4B8C-83A1-F6EECF244321}">
                <p14:modId xmlns:p14="http://schemas.microsoft.com/office/powerpoint/2010/main" val="1532545844"/>
              </p:ext>
            </p:extLst>
          </p:nvPr>
        </p:nvGraphicFramePr>
        <p:xfrm>
          <a:off x="5976570" y="3352344"/>
          <a:ext cx="5832080" cy="2651760"/>
        </p:xfrm>
        <a:graphic>
          <a:graphicData uri="http://schemas.openxmlformats.org/drawingml/2006/table">
            <a:tbl>
              <a:tblPr firstRow="1" bandRow="1">
                <a:tableStyleId>{073A0DAA-6AF3-43AB-8588-CEC1D06C72B9}</a:tableStyleId>
              </a:tblPr>
              <a:tblGrid>
                <a:gridCol w="4936808">
                  <a:extLst>
                    <a:ext uri="{9D8B030D-6E8A-4147-A177-3AD203B41FA5}">
                      <a16:colId xmlns:a16="http://schemas.microsoft.com/office/drawing/2014/main" val="980891169"/>
                    </a:ext>
                  </a:extLst>
                </a:gridCol>
                <a:gridCol w="895272">
                  <a:extLst>
                    <a:ext uri="{9D8B030D-6E8A-4147-A177-3AD203B41FA5}">
                      <a16:colId xmlns:a16="http://schemas.microsoft.com/office/drawing/2014/main" val="765208812"/>
                    </a:ext>
                  </a:extLst>
                </a:gridCol>
              </a:tblGrid>
              <a:tr h="274320">
                <a:tc>
                  <a:txBody>
                    <a:bodyPr/>
                    <a:lstStyle/>
                    <a:p>
                      <a:pPr algn="l"/>
                      <a:r>
                        <a:rPr lang="en-US" sz="1200"/>
                        <a:t>Reasons Not Highly Likely</a:t>
                      </a:r>
                    </a:p>
                  </a:txBody>
                  <a:tcPr>
                    <a:lnL w="1270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solidFill>
                      <a:schemeClr val="bg1">
                        <a:lumMod val="65000"/>
                      </a:schemeClr>
                    </a:solidFill>
                  </a:tcPr>
                </a:tc>
                <a:tc>
                  <a:txBody>
                    <a:bodyPr/>
                    <a:lstStyle/>
                    <a:p>
                      <a:pPr algn="ctr"/>
                      <a:endParaRPr lang="en-US" sz="1100"/>
                    </a:p>
                  </a:txBody>
                  <a:tcPr>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solidFill>
                      <a:srgbClr val="A6A6A6"/>
                    </a:solidFill>
                  </a:tcPr>
                </a:tc>
                <a:extLst>
                  <a:ext uri="{0D108BD9-81ED-4DB2-BD59-A6C34878D82A}">
                    <a16:rowId xmlns:a16="http://schemas.microsoft.com/office/drawing/2014/main" val="2785626216"/>
                  </a:ext>
                </a:extLst>
              </a:tr>
              <a:tr h="182880">
                <a:tc>
                  <a:txBody>
                    <a:bodyPr/>
                    <a:lstStyle/>
                    <a:p>
                      <a:pPr algn="l" fontAlgn="t"/>
                      <a:r>
                        <a:rPr lang="en-US" sz="1100" b="1" i="0" u="none" strike="noStrike">
                          <a:solidFill>
                            <a:srgbClr val="000000"/>
                          </a:solidFill>
                          <a:effectLst/>
                          <a:latin typeface="Arial" panose="020B0604020202020204" pitchFamily="34" charset="0"/>
                        </a:rPr>
                        <a:t>Stocking barriers (Net)</a:t>
                      </a:r>
                    </a:p>
                  </a:txBody>
                  <a:tcPr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36%</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3035588992"/>
                  </a:ext>
                </a:extLst>
              </a:tr>
              <a:tr h="182880">
                <a:tc>
                  <a:txBody>
                    <a:bodyPr/>
                    <a:lstStyle/>
                    <a:p>
                      <a:pPr algn="l" fontAlgn="t"/>
                      <a:r>
                        <a:rPr lang="en-US" sz="1100" b="1" i="0" u="none" strike="noStrike">
                          <a:solidFill>
                            <a:srgbClr val="000000"/>
                          </a:solidFill>
                          <a:effectLst/>
                          <a:latin typeface="Arial" panose="020B0604020202020204" pitchFamily="34" charset="0"/>
                        </a:rPr>
                        <a:t>Don't want to stock multiple Vxs/not enough benefit (Subnet)</a:t>
                      </a:r>
                    </a:p>
                  </a:txBody>
                  <a:tcPr marL="228600"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22%</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4240887724"/>
                  </a:ext>
                </a:extLst>
              </a:tr>
              <a:tr h="182880">
                <a:tc>
                  <a:txBody>
                    <a:bodyPr/>
                    <a:lstStyle/>
                    <a:p>
                      <a:pPr algn="l" fontAlgn="t"/>
                      <a:r>
                        <a:rPr lang="en-US" sz="1100" b="0" i="0" u="none" strike="noStrike">
                          <a:solidFill>
                            <a:srgbClr val="000000"/>
                          </a:solidFill>
                          <a:effectLst/>
                          <a:latin typeface="Arial" panose="020B0604020202020204" pitchFamily="34" charset="0"/>
                        </a:rPr>
                        <a:t>Do not want to stock multiple Vxs / too much hassle</a:t>
                      </a:r>
                    </a:p>
                  </a:txBody>
                  <a:tcPr marL="457200" marR="7620" marT="0" marB="0" anchor="ctr">
                    <a:lnL w="12700" cap="flat" cmpd="sng" algn="ctr">
                      <a:solidFill>
                        <a:schemeClr val="tx1">
                          <a:lumMod val="50000"/>
                          <a:lumOff val="50000"/>
                        </a:schemeClr>
                      </a:solidFill>
                      <a:prstDash val="solid"/>
                      <a:round/>
                      <a:headEnd type="none" w="med" len="med"/>
                      <a:tailEnd type="none" w="med" len="med"/>
                    </a:lnL>
                    <a:noFill/>
                  </a:tcPr>
                </a:tc>
                <a:tc>
                  <a:txBody>
                    <a:bodyPr/>
                    <a:lstStyle/>
                    <a:p>
                      <a:pPr algn="ctr" fontAlgn="t"/>
                      <a:r>
                        <a:rPr lang="en-US" sz="1100" b="0" i="0" u="none" strike="noStrike">
                          <a:solidFill>
                            <a:srgbClr val="000000"/>
                          </a:solidFill>
                          <a:effectLst/>
                          <a:latin typeface="Arial" panose="020B0604020202020204" pitchFamily="34" charset="0"/>
                        </a:rPr>
                        <a:t>21%</a:t>
                      </a:r>
                    </a:p>
                  </a:txBody>
                  <a:tcPr marL="7620" marR="7620" marT="0" marB="0" anchor="ctr">
                    <a:lnR w="12700" cap="flat" cmpd="sng" algn="ctr">
                      <a:solidFill>
                        <a:schemeClr val="tx1">
                          <a:lumMod val="50000"/>
                          <a:lumOff val="50000"/>
                        </a:schemeClr>
                      </a:solidFill>
                      <a:prstDash val="solid"/>
                      <a:round/>
                      <a:headEnd type="none" w="med" len="med"/>
                      <a:tailEnd type="none" w="med" len="med"/>
                    </a:lnR>
                    <a:noFill/>
                  </a:tcPr>
                </a:tc>
                <a:extLst>
                  <a:ext uri="{0D108BD9-81ED-4DB2-BD59-A6C34878D82A}">
                    <a16:rowId xmlns:a16="http://schemas.microsoft.com/office/drawing/2014/main" val="408501989"/>
                  </a:ext>
                </a:extLst>
              </a:tr>
              <a:tr h="182880">
                <a:tc>
                  <a:txBody>
                    <a:bodyPr/>
                    <a:lstStyle/>
                    <a:p>
                      <a:pPr algn="l" fontAlgn="t"/>
                      <a:r>
                        <a:rPr lang="en-US" sz="1100" b="0" i="0" u="none" strike="noStrike">
                          <a:solidFill>
                            <a:schemeClr val="tx1"/>
                          </a:solidFill>
                          <a:effectLst/>
                          <a:latin typeface="Arial" panose="020B0604020202020204" pitchFamily="34" charset="0"/>
                        </a:rPr>
                        <a:t>One less shot is not a significant enough benefit</a:t>
                      </a:r>
                    </a:p>
                  </a:txBody>
                  <a:tcPr marL="457200" marR="7620" marT="0" marB="0" anchor="ctr">
                    <a:lnL w="12700" cap="flat" cmpd="sng" algn="ctr">
                      <a:solidFill>
                        <a:schemeClr val="tx1">
                          <a:lumMod val="50000"/>
                          <a:lumOff val="50000"/>
                        </a:schemeClr>
                      </a:solidFill>
                      <a:prstDash val="solid"/>
                      <a:round/>
                      <a:headEnd type="none" w="med" len="med"/>
                      <a:tailEnd type="none" w="med" len="med"/>
                    </a:lnL>
                    <a:noFill/>
                  </a:tcPr>
                </a:tc>
                <a:tc>
                  <a:txBody>
                    <a:bodyPr/>
                    <a:lstStyle/>
                    <a:p>
                      <a:pPr algn="ctr" fontAlgn="t"/>
                      <a:r>
                        <a:rPr lang="en-US" sz="1100" b="0" i="0" u="none" strike="noStrike">
                          <a:solidFill>
                            <a:srgbClr val="000000"/>
                          </a:solidFill>
                          <a:effectLst/>
                          <a:latin typeface="Arial" panose="020B0604020202020204" pitchFamily="34" charset="0"/>
                        </a:rPr>
                        <a:t>2%</a:t>
                      </a:r>
                    </a:p>
                  </a:txBody>
                  <a:tcPr marL="7620" marR="7620" marT="0" marB="0" anchor="ctr">
                    <a:lnR w="12700" cap="flat" cmpd="sng" algn="ctr">
                      <a:solidFill>
                        <a:schemeClr val="tx1">
                          <a:lumMod val="50000"/>
                          <a:lumOff val="50000"/>
                        </a:schemeClr>
                      </a:solidFill>
                      <a:prstDash val="solid"/>
                      <a:round/>
                      <a:headEnd type="none" w="med" len="med"/>
                      <a:tailEnd type="none" w="med" len="med"/>
                    </a:lnR>
                    <a:noFill/>
                  </a:tcPr>
                </a:tc>
                <a:extLst>
                  <a:ext uri="{0D108BD9-81ED-4DB2-BD59-A6C34878D82A}">
                    <a16:rowId xmlns:a16="http://schemas.microsoft.com/office/drawing/2014/main" val="4157651308"/>
                  </a:ext>
                </a:extLst>
              </a:tr>
              <a:tr h="182880">
                <a:tc>
                  <a:txBody>
                    <a:bodyPr/>
                    <a:lstStyle/>
                    <a:p>
                      <a:pPr algn="l" fontAlgn="t"/>
                      <a:r>
                        <a:rPr lang="en-US" sz="1100" b="1" i="0" u="none" strike="noStrike">
                          <a:solidFill>
                            <a:srgbClr val="000000"/>
                          </a:solidFill>
                          <a:effectLst/>
                          <a:latin typeface="Arial" panose="020B0604020202020204" pitchFamily="34" charset="0"/>
                        </a:rPr>
                        <a:t>Multiple Vxs increases risk of error / confusing / complicates schedule</a:t>
                      </a:r>
                    </a:p>
                  </a:txBody>
                  <a:tcPr marL="228600"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10%</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3329874621"/>
                  </a:ext>
                </a:extLst>
              </a:tr>
              <a:tr h="182880">
                <a:tc>
                  <a:txBody>
                    <a:bodyPr/>
                    <a:lstStyle/>
                    <a:p>
                      <a:pPr algn="l" fontAlgn="t"/>
                      <a:r>
                        <a:rPr lang="en-US" sz="1100" b="1" i="0" u="none" strike="noStrike">
                          <a:solidFill>
                            <a:srgbClr val="000000"/>
                          </a:solidFill>
                          <a:effectLst/>
                          <a:latin typeface="Arial" panose="020B0604020202020204" pitchFamily="34" charset="0"/>
                        </a:rPr>
                        <a:t>Administrative / storage burden</a:t>
                      </a:r>
                    </a:p>
                  </a:txBody>
                  <a:tcPr marL="228600"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7%</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1608956076"/>
                  </a:ext>
                </a:extLst>
              </a:tr>
              <a:tr h="182880">
                <a:tc>
                  <a:txBody>
                    <a:bodyPr/>
                    <a:lstStyle/>
                    <a:p>
                      <a:pPr algn="l" fontAlgn="t"/>
                      <a:r>
                        <a:rPr lang="en-US" sz="1100" b="1" i="0" u="none" strike="noStrike">
                          <a:solidFill>
                            <a:srgbClr val="000000"/>
                          </a:solidFill>
                          <a:effectLst/>
                          <a:latin typeface="Arial" panose="020B0604020202020204" pitchFamily="34" charset="0"/>
                        </a:rPr>
                        <a:t>Don't want to change practice (Net)</a:t>
                      </a:r>
                    </a:p>
                  </a:txBody>
                  <a:tcPr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29%</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1681551532"/>
                  </a:ext>
                </a:extLst>
              </a:tr>
              <a:tr h="182880">
                <a:tc>
                  <a:txBody>
                    <a:bodyPr/>
                    <a:lstStyle/>
                    <a:p>
                      <a:pPr algn="l" fontAlgn="t"/>
                      <a:r>
                        <a:rPr lang="en-US" sz="1100" b="0" i="0" u="none" strike="noStrike">
                          <a:solidFill>
                            <a:srgbClr val="000000"/>
                          </a:solidFill>
                          <a:effectLst/>
                          <a:latin typeface="Arial" panose="020B0604020202020204" pitchFamily="34" charset="0"/>
                        </a:rPr>
                        <a:t>Use Bexsero / other vaccines / GSK contract / discounts</a:t>
                      </a:r>
                    </a:p>
                  </a:txBody>
                  <a:tcPr marL="228600" marR="7620" marT="0" marB="0" anchor="ctr">
                    <a:lnL w="12700" cap="flat" cmpd="sng" algn="ctr">
                      <a:solidFill>
                        <a:schemeClr val="tx1">
                          <a:lumMod val="50000"/>
                          <a:lumOff val="50000"/>
                        </a:schemeClr>
                      </a:solidFill>
                      <a:prstDash val="solid"/>
                      <a:round/>
                      <a:headEnd type="none" w="med" len="med"/>
                      <a:tailEnd type="none" w="med" len="med"/>
                    </a:lnL>
                    <a:noFill/>
                  </a:tcPr>
                </a:tc>
                <a:tc>
                  <a:txBody>
                    <a:bodyPr/>
                    <a:lstStyle/>
                    <a:p>
                      <a:pPr algn="ctr" fontAlgn="t"/>
                      <a:r>
                        <a:rPr lang="en-US" sz="1100" b="0" i="0" u="none" strike="noStrike">
                          <a:solidFill>
                            <a:srgbClr val="000000"/>
                          </a:solidFill>
                          <a:effectLst/>
                          <a:latin typeface="Arial" panose="020B0604020202020204" pitchFamily="34" charset="0"/>
                        </a:rPr>
                        <a:t>23%</a:t>
                      </a:r>
                    </a:p>
                  </a:txBody>
                  <a:tcPr marL="7620" marR="7620" marT="0" marB="0" anchor="ctr">
                    <a:lnR w="12700" cap="flat" cmpd="sng" algn="ctr">
                      <a:solidFill>
                        <a:schemeClr val="tx1">
                          <a:lumMod val="50000"/>
                          <a:lumOff val="50000"/>
                        </a:schemeClr>
                      </a:solidFill>
                      <a:prstDash val="solid"/>
                      <a:round/>
                      <a:headEnd type="none" w="med" len="med"/>
                      <a:tailEnd type="none" w="med" len="med"/>
                    </a:lnR>
                    <a:noFill/>
                  </a:tcPr>
                </a:tc>
                <a:extLst>
                  <a:ext uri="{0D108BD9-81ED-4DB2-BD59-A6C34878D82A}">
                    <a16:rowId xmlns:a16="http://schemas.microsoft.com/office/drawing/2014/main" val="2095068277"/>
                  </a:ext>
                </a:extLst>
              </a:tr>
              <a:tr h="182880">
                <a:tc>
                  <a:txBody>
                    <a:bodyPr/>
                    <a:lstStyle/>
                    <a:p>
                      <a:pPr algn="l" fontAlgn="t"/>
                      <a:r>
                        <a:rPr lang="en-US" sz="1100" b="0" i="0" u="none" strike="noStrike">
                          <a:solidFill>
                            <a:srgbClr val="000000"/>
                          </a:solidFill>
                          <a:effectLst/>
                          <a:latin typeface="Arial" panose="020B0604020202020204" pitchFamily="34" charset="0"/>
                        </a:rPr>
                        <a:t>Difficult to change / happy with current practices / complicates schedule</a:t>
                      </a:r>
                      <a:endParaRPr lang="en-US" sz="1100" b="0" i="0" u="none" strike="noStrike">
                        <a:solidFill>
                          <a:srgbClr val="FF0000"/>
                        </a:solidFill>
                        <a:effectLst/>
                        <a:latin typeface="Arial" panose="020B0604020202020204" pitchFamily="34" charset="0"/>
                      </a:endParaRPr>
                    </a:p>
                  </a:txBody>
                  <a:tcPr marL="228600" marR="7620" marT="0" marB="0" anchor="ctr">
                    <a:lnL w="12700" cap="flat" cmpd="sng" algn="ctr">
                      <a:solidFill>
                        <a:schemeClr val="tx1">
                          <a:lumMod val="50000"/>
                          <a:lumOff val="50000"/>
                        </a:schemeClr>
                      </a:solidFill>
                      <a:prstDash val="solid"/>
                      <a:round/>
                      <a:headEnd type="none" w="med" len="med"/>
                      <a:tailEnd type="none" w="med" len="med"/>
                    </a:lnL>
                    <a:noFill/>
                  </a:tcPr>
                </a:tc>
                <a:tc>
                  <a:txBody>
                    <a:bodyPr/>
                    <a:lstStyle/>
                    <a:p>
                      <a:pPr algn="ctr" fontAlgn="t"/>
                      <a:r>
                        <a:rPr lang="en-US" sz="1100" b="0" i="0" u="none" strike="noStrike">
                          <a:solidFill>
                            <a:srgbClr val="000000"/>
                          </a:solidFill>
                          <a:effectLst/>
                          <a:latin typeface="Arial" panose="020B0604020202020204" pitchFamily="34" charset="0"/>
                        </a:rPr>
                        <a:t>9%</a:t>
                      </a:r>
                    </a:p>
                  </a:txBody>
                  <a:tcPr marL="7620" marR="7620" marT="0" marB="0" anchor="ctr">
                    <a:lnR w="12700" cap="flat" cmpd="sng" algn="ctr">
                      <a:solidFill>
                        <a:schemeClr val="tx1">
                          <a:lumMod val="50000"/>
                          <a:lumOff val="50000"/>
                        </a:schemeClr>
                      </a:solidFill>
                      <a:prstDash val="solid"/>
                      <a:round/>
                      <a:headEnd type="none" w="med" len="med"/>
                      <a:tailEnd type="none" w="med" len="med"/>
                    </a:lnR>
                    <a:noFill/>
                  </a:tcPr>
                </a:tc>
                <a:extLst>
                  <a:ext uri="{0D108BD9-81ED-4DB2-BD59-A6C34878D82A}">
                    <a16:rowId xmlns:a16="http://schemas.microsoft.com/office/drawing/2014/main" val="2729017257"/>
                  </a:ext>
                </a:extLst>
              </a:tr>
              <a:tr h="182880">
                <a:tc>
                  <a:txBody>
                    <a:bodyPr/>
                    <a:lstStyle/>
                    <a:p>
                      <a:pPr algn="l" fontAlgn="t"/>
                      <a:r>
                        <a:rPr lang="en-US" sz="1100" b="1" i="0" u="none" strike="noStrike">
                          <a:solidFill>
                            <a:srgbClr val="000000"/>
                          </a:solidFill>
                          <a:effectLst/>
                          <a:latin typeface="Arial" panose="020B0604020202020204" pitchFamily="34" charset="0"/>
                        </a:rPr>
                        <a:t>Costs burden, insurance coverage, reimbursement</a:t>
                      </a:r>
                    </a:p>
                  </a:txBody>
                  <a:tcPr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17%</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2167904905"/>
                  </a:ext>
                </a:extLst>
              </a:tr>
              <a:tr h="182880">
                <a:tc>
                  <a:txBody>
                    <a:bodyPr/>
                    <a:lstStyle/>
                    <a:p>
                      <a:pPr algn="l" fontAlgn="t"/>
                      <a:r>
                        <a:rPr lang="en-US" sz="1100" b="1" i="0" u="none" strike="noStrike">
                          <a:solidFill>
                            <a:srgbClr val="000000"/>
                          </a:solidFill>
                          <a:effectLst/>
                          <a:latin typeface="Arial" panose="020B0604020202020204" pitchFamily="34" charset="0"/>
                        </a:rPr>
                        <a:t>Patient preference / hesitation / Not all want / get Men B / optional</a:t>
                      </a:r>
                    </a:p>
                  </a:txBody>
                  <a:tcPr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12%</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2730013901"/>
                  </a:ext>
                </a:extLst>
              </a:tr>
              <a:tr h="182880">
                <a:tc>
                  <a:txBody>
                    <a:bodyPr/>
                    <a:lstStyle/>
                    <a:p>
                      <a:pPr algn="l" fontAlgn="t"/>
                      <a:r>
                        <a:rPr lang="en-US" sz="1100" b="1" i="0" u="none" strike="noStrike">
                          <a:solidFill>
                            <a:srgbClr val="000000"/>
                          </a:solidFill>
                          <a:effectLst/>
                          <a:latin typeface="Arial" panose="020B0604020202020204" pitchFamily="34" charset="0"/>
                        </a:rPr>
                        <a:t>Need more information first / too new</a:t>
                      </a:r>
                    </a:p>
                  </a:txBody>
                  <a:tcPr marR="7620" marT="0" marB="0" anchor="ctr">
                    <a:lnL w="12700" cap="flat" cmpd="sng" algn="ctr">
                      <a:solidFill>
                        <a:schemeClr val="tx1">
                          <a:lumMod val="50000"/>
                          <a:lumOff val="50000"/>
                        </a:schemeClr>
                      </a:solidFill>
                      <a:prstDash val="solid"/>
                      <a:round/>
                      <a:headEnd type="none" w="med" len="med"/>
                      <a:tailEnd type="none" w="med" len="med"/>
                    </a:lnL>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11%</a:t>
                      </a:r>
                    </a:p>
                  </a:txBody>
                  <a:tcPr marL="7620" marR="7620" marT="0" marB="0" anchor="ctr">
                    <a:lnR w="12700" cap="flat" cmpd="sng" algn="ctr">
                      <a:solidFill>
                        <a:schemeClr val="tx1">
                          <a:lumMod val="50000"/>
                          <a:lumOff val="50000"/>
                        </a:schemeClr>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3711204438"/>
                  </a:ext>
                </a:extLst>
              </a:tr>
              <a:tr h="182880">
                <a:tc>
                  <a:txBody>
                    <a:bodyPr/>
                    <a:lstStyle/>
                    <a:p>
                      <a:pPr algn="l" fontAlgn="t"/>
                      <a:r>
                        <a:rPr lang="en-US" sz="1100" b="1" i="0" u="none" strike="noStrike">
                          <a:solidFill>
                            <a:srgbClr val="000000"/>
                          </a:solidFill>
                          <a:effectLst/>
                          <a:latin typeface="Arial" panose="020B0604020202020204" pitchFamily="34" charset="0"/>
                        </a:rPr>
                        <a:t>Dosing (6 mos vs. 1 mos interval)</a:t>
                      </a:r>
                    </a:p>
                  </a:txBody>
                  <a:tcPr marR="7620" marT="0" marB="0" anchor="ctr">
                    <a:lnL w="12700" cap="flat" cmpd="sng" algn="ctr">
                      <a:solidFill>
                        <a:schemeClr val="tx1">
                          <a:lumMod val="50000"/>
                          <a:lumOff val="50000"/>
                        </a:schemeClr>
                      </a:solidFill>
                      <a:prstDash val="solid"/>
                      <a:round/>
                      <a:headEnd type="none" w="med" len="med"/>
                      <a:tailEnd type="none" w="med" len="med"/>
                    </a:lnL>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fontAlgn="t"/>
                      <a:r>
                        <a:rPr lang="en-US" sz="1100" b="1" i="0" u="none" strike="noStrike">
                          <a:solidFill>
                            <a:srgbClr val="000000"/>
                          </a:solidFill>
                          <a:effectLst/>
                          <a:latin typeface="Arial" panose="020B0604020202020204" pitchFamily="34" charset="0"/>
                        </a:rPr>
                        <a:t>8%</a:t>
                      </a:r>
                    </a:p>
                  </a:txBody>
                  <a:tcPr marL="7620" marR="7620" marT="0" marB="0" anchor="ctr">
                    <a:lnR w="12700" cap="flat" cmpd="sng" algn="ctr">
                      <a:solidFill>
                        <a:schemeClr val="tx1">
                          <a:lumMod val="50000"/>
                          <a:lumOff val="50000"/>
                        </a:schemeClr>
                      </a:solidFill>
                      <a:prstDash val="solid"/>
                      <a:round/>
                      <a:headEnd type="none" w="med" len="med"/>
                      <a:tailEnd type="none" w="med" len="med"/>
                    </a:lnR>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02246617"/>
                  </a:ext>
                </a:extLst>
              </a:tr>
            </a:tbl>
          </a:graphicData>
        </a:graphic>
      </p:graphicFrame>
      <p:grpSp>
        <p:nvGrpSpPr>
          <p:cNvPr id="68" name="Group 67">
            <a:extLst>
              <a:ext uri="{FF2B5EF4-FFF2-40B4-BE49-F238E27FC236}">
                <a16:creationId xmlns:a16="http://schemas.microsoft.com/office/drawing/2014/main" id="{A3F8E8E7-459F-A9AB-623A-AC2DEEF5E854}"/>
              </a:ext>
            </a:extLst>
          </p:cNvPr>
          <p:cNvGrpSpPr/>
          <p:nvPr/>
        </p:nvGrpSpPr>
        <p:grpSpPr>
          <a:xfrm>
            <a:off x="5109569" y="3854283"/>
            <a:ext cx="831554" cy="659176"/>
            <a:chOff x="3823608" y="4411198"/>
            <a:chExt cx="831554" cy="659176"/>
          </a:xfrm>
        </p:grpSpPr>
        <p:sp>
          <p:nvSpPr>
            <p:cNvPr id="55" name="Arrow: Right 54">
              <a:extLst>
                <a:ext uri="{FF2B5EF4-FFF2-40B4-BE49-F238E27FC236}">
                  <a16:creationId xmlns:a16="http://schemas.microsoft.com/office/drawing/2014/main" id="{EADBAB7A-83A5-4434-5CB1-D6CC2F53BE6B}"/>
                </a:ext>
              </a:extLst>
            </p:cNvPr>
            <p:cNvSpPr/>
            <p:nvPr/>
          </p:nvSpPr>
          <p:spPr bwMode="gray">
            <a:xfrm>
              <a:off x="3823608" y="4411198"/>
              <a:ext cx="831554" cy="659176"/>
            </a:xfrm>
            <a:prstGeom prst="rightArrow">
              <a:avLst/>
            </a:prstGeom>
            <a:solidFill>
              <a:schemeClr val="bg1">
                <a:lumMod val="65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800"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85FFEAB7-198D-F9CA-5762-1528B5A32C31}"/>
                </a:ext>
              </a:extLst>
            </p:cNvPr>
            <p:cNvSpPr txBox="1"/>
            <p:nvPr/>
          </p:nvSpPr>
          <p:spPr bwMode="gray">
            <a:xfrm>
              <a:off x="4019332" y="4625370"/>
              <a:ext cx="493084" cy="230832"/>
            </a:xfrm>
            <a:prstGeom prst="rect">
              <a:avLst/>
            </a:prstGeom>
          </p:spPr>
          <p:txBody>
            <a:bodyPr wrap="none" lIns="45720" tIns="45720" rIns="45720" b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a:ea typeface="+mn-ea"/>
                  <a:cs typeface="+mn-cs"/>
                </a:rPr>
                <a:t>(n=115)</a:t>
              </a: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67" name="Group 66">
            <a:extLst>
              <a:ext uri="{FF2B5EF4-FFF2-40B4-BE49-F238E27FC236}">
                <a16:creationId xmlns:a16="http://schemas.microsoft.com/office/drawing/2014/main" id="{57FC934B-1F88-E3E9-9305-6D061CE17BC2}"/>
              </a:ext>
            </a:extLst>
          </p:cNvPr>
          <p:cNvGrpSpPr/>
          <p:nvPr/>
        </p:nvGrpSpPr>
        <p:grpSpPr>
          <a:xfrm>
            <a:off x="5109569" y="2792388"/>
            <a:ext cx="831553" cy="659176"/>
            <a:chOff x="3823608" y="3038073"/>
            <a:chExt cx="831553" cy="659176"/>
          </a:xfrm>
        </p:grpSpPr>
        <p:sp>
          <p:nvSpPr>
            <p:cNvPr id="23" name="Arrow: Right 22">
              <a:extLst>
                <a:ext uri="{FF2B5EF4-FFF2-40B4-BE49-F238E27FC236}">
                  <a16:creationId xmlns:a16="http://schemas.microsoft.com/office/drawing/2014/main" id="{7E286D08-F5E4-8DCD-B525-3744E1FFB569}"/>
                </a:ext>
              </a:extLst>
            </p:cNvPr>
            <p:cNvSpPr/>
            <p:nvPr/>
          </p:nvSpPr>
          <p:spPr bwMode="gray">
            <a:xfrm>
              <a:off x="3823608" y="3038073"/>
              <a:ext cx="831553" cy="659176"/>
            </a:xfrm>
            <a:prstGeom prst="rightArrow">
              <a:avLst/>
            </a:prstGeom>
            <a:solidFill>
              <a:schemeClr val="accent4"/>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800"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58" name="TextBox 57">
              <a:extLst>
                <a:ext uri="{FF2B5EF4-FFF2-40B4-BE49-F238E27FC236}">
                  <a16:creationId xmlns:a16="http://schemas.microsoft.com/office/drawing/2014/main" id="{F36284CD-88E6-89F8-F3C3-8EBE27F10A0E}"/>
                </a:ext>
              </a:extLst>
            </p:cNvPr>
            <p:cNvSpPr txBox="1"/>
            <p:nvPr/>
          </p:nvSpPr>
          <p:spPr bwMode="gray">
            <a:xfrm>
              <a:off x="4083452" y="3252245"/>
              <a:ext cx="428964" cy="230832"/>
            </a:xfrm>
            <a:prstGeom prst="rect">
              <a:avLst/>
            </a:prstGeom>
          </p:spPr>
          <p:txBody>
            <a:bodyPr wrap="none" lIns="45720" tIns="45720" rIns="45720" b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a:ea typeface="+mn-ea"/>
                  <a:cs typeface="+mn-cs"/>
                </a:rPr>
                <a:t>(n=85)</a:t>
              </a: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59" name="Group 58">
            <a:extLst>
              <a:ext uri="{FF2B5EF4-FFF2-40B4-BE49-F238E27FC236}">
                <a16:creationId xmlns:a16="http://schemas.microsoft.com/office/drawing/2014/main" id="{B2945E1B-0D43-2E5A-9C87-28C942519344}"/>
              </a:ext>
            </a:extLst>
          </p:cNvPr>
          <p:cNvGrpSpPr/>
          <p:nvPr/>
        </p:nvGrpSpPr>
        <p:grpSpPr>
          <a:xfrm>
            <a:off x="5536926" y="2112044"/>
            <a:ext cx="420624" cy="420624"/>
            <a:chOff x="1119929" y="943834"/>
            <a:chExt cx="846331" cy="784203"/>
          </a:xfrm>
        </p:grpSpPr>
        <p:pic>
          <p:nvPicPr>
            <p:cNvPr id="60" name="Picture 6" descr="143,700+ Mouth Icon Illustrations, Royalty-Free Vector Graphics &amp; Clip Art  - iStock | Open mouth icon, Word of mouth icon, Cover mouth icon">
              <a:extLst>
                <a:ext uri="{FF2B5EF4-FFF2-40B4-BE49-F238E27FC236}">
                  <a16:creationId xmlns:a16="http://schemas.microsoft.com/office/drawing/2014/main" id="{2012C497-888D-74DE-4EC8-B79A0E3EB005}"/>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61" name="Rectangle: Rounded Corners 60">
              <a:extLst>
                <a:ext uri="{FF2B5EF4-FFF2-40B4-BE49-F238E27FC236}">
                  <a16:creationId xmlns:a16="http://schemas.microsoft.com/office/drawing/2014/main" id="{96D0BA61-F56A-5583-5470-385D60FF9749}"/>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800" b="1" i="0" u="none" strike="noStrike" kern="1200" cap="none" spc="0" normalizeH="0" baseline="0" noProof="0">
                <a:ln>
                  <a:noFill/>
                </a:ln>
                <a:solidFill>
                  <a:srgbClr val="0000C9"/>
                </a:solidFill>
                <a:effectLst/>
                <a:uLnTx/>
                <a:uFillTx/>
                <a:latin typeface="Arial" panose="020B0604020202020204"/>
                <a:ea typeface="+mn-ea"/>
                <a:cs typeface="+mn-cs"/>
              </a:endParaRPr>
            </a:p>
          </p:txBody>
        </p:sp>
      </p:grpSp>
      <p:sp>
        <p:nvSpPr>
          <p:cNvPr id="62" name="Right Bracket 61">
            <a:extLst>
              <a:ext uri="{FF2B5EF4-FFF2-40B4-BE49-F238E27FC236}">
                <a16:creationId xmlns:a16="http://schemas.microsoft.com/office/drawing/2014/main" id="{C1199817-23D8-F4AB-BC0E-3364CE2441D0}"/>
              </a:ext>
            </a:extLst>
          </p:cNvPr>
          <p:cNvSpPr/>
          <p:nvPr/>
        </p:nvSpPr>
        <p:spPr bwMode="gray">
          <a:xfrm>
            <a:off x="3322574" y="3626864"/>
            <a:ext cx="169069" cy="1402327"/>
          </a:xfrm>
          <a:prstGeom prst="rightBracket">
            <a:avLst/>
          </a:prstGeom>
          <a:noFill/>
          <a:ln w="12700" cap="rnd">
            <a:solidFill>
              <a:schemeClr val="bg1">
                <a:lumMod val="75000"/>
              </a:schemeClr>
            </a:solidFill>
            <a:prstDash val="solid"/>
            <a:round/>
            <a:headEnd/>
            <a:tailE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3" name="Right Bracket 62">
            <a:extLst>
              <a:ext uri="{FF2B5EF4-FFF2-40B4-BE49-F238E27FC236}">
                <a16:creationId xmlns:a16="http://schemas.microsoft.com/office/drawing/2014/main" id="{36920C51-9C41-221E-AAB5-4A488C01378E}"/>
              </a:ext>
            </a:extLst>
          </p:cNvPr>
          <p:cNvSpPr/>
          <p:nvPr/>
        </p:nvSpPr>
        <p:spPr bwMode="gray">
          <a:xfrm>
            <a:off x="3323981" y="2578212"/>
            <a:ext cx="169069" cy="1015879"/>
          </a:xfrm>
          <a:prstGeom prst="rightBracket">
            <a:avLst/>
          </a:prstGeom>
          <a:noFill/>
          <a:ln w="12700" cap="rnd">
            <a:solidFill>
              <a:schemeClr val="bg1">
                <a:lumMod val="75000"/>
              </a:schemeClr>
            </a:solidFill>
            <a:prstDash val="solid"/>
            <a:round/>
            <a:headEnd/>
            <a:tailE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 name="Text Placeholder 2">
            <a:extLst>
              <a:ext uri="{FF2B5EF4-FFF2-40B4-BE49-F238E27FC236}">
                <a16:creationId xmlns:a16="http://schemas.microsoft.com/office/drawing/2014/main" id="{660D365B-CD8D-1387-0F2A-2898E8617F01}"/>
              </a:ext>
            </a:extLst>
          </p:cNvPr>
          <p:cNvSpPr txBox="1">
            <a:spLocks/>
          </p:cNvSpPr>
          <p:nvPr/>
        </p:nvSpPr>
        <p:spPr bwMode="gray">
          <a:xfrm flipV="1">
            <a:off x="11467070" y="3779208"/>
            <a:ext cx="164003"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sp>
        <p:nvSpPr>
          <p:cNvPr id="66" name="Text Placeholder 2">
            <a:extLst>
              <a:ext uri="{FF2B5EF4-FFF2-40B4-BE49-F238E27FC236}">
                <a16:creationId xmlns:a16="http://schemas.microsoft.com/office/drawing/2014/main" id="{2A31A82A-5C42-7938-6B4D-009B599D5402}"/>
              </a:ext>
            </a:extLst>
          </p:cNvPr>
          <p:cNvSpPr txBox="1">
            <a:spLocks/>
          </p:cNvSpPr>
          <p:nvPr/>
        </p:nvSpPr>
        <p:spPr bwMode="gray">
          <a:xfrm flipV="1">
            <a:off x="11425030" y="4146774"/>
            <a:ext cx="164003"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sp>
        <p:nvSpPr>
          <p:cNvPr id="69" name="TextBox 68">
            <a:extLst>
              <a:ext uri="{FF2B5EF4-FFF2-40B4-BE49-F238E27FC236}">
                <a16:creationId xmlns:a16="http://schemas.microsoft.com/office/drawing/2014/main" id="{961A532B-64D4-8BDE-4E42-77B0663ED13E}"/>
              </a:ext>
            </a:extLst>
          </p:cNvPr>
          <p:cNvSpPr txBox="1"/>
          <p:nvPr/>
        </p:nvSpPr>
        <p:spPr bwMode="gray">
          <a:xfrm>
            <a:off x="4054135" y="1573092"/>
            <a:ext cx="4080556" cy="341455"/>
          </a:xfrm>
          <a:prstGeom prst="rect">
            <a:avLst/>
          </a:prstGeom>
        </p:spPr>
        <p:txBody>
          <a:bodyPr wrap="none" lIns="45696" tIns="45696" rIns="45696" bIns="45696" rtlCol="0">
            <a:spAutoFit/>
          </a:bodyPr>
          <a:lstStyle/>
          <a:p>
            <a:pPr algn="ctr">
              <a:lnSpc>
                <a:spcPct val="90000"/>
              </a:lnSpc>
              <a:spcBef>
                <a:spcPts val="1000"/>
              </a:spcBef>
            </a:pPr>
            <a:r>
              <a:rPr lang="en-US" sz="1799" b="1" dirty="0">
                <a:solidFill>
                  <a:schemeClr val="accent1"/>
                </a:solidFill>
              </a:rPr>
              <a:t>Likelihood to Recommend Penbraya</a:t>
            </a:r>
          </a:p>
        </p:txBody>
      </p:sp>
      <p:sp>
        <p:nvSpPr>
          <p:cNvPr id="70" name="TextBox 69">
            <a:extLst>
              <a:ext uri="{FF2B5EF4-FFF2-40B4-BE49-F238E27FC236}">
                <a16:creationId xmlns:a16="http://schemas.microsoft.com/office/drawing/2014/main" id="{67C902F2-7151-ED6F-9C32-03A0C1CD549C}"/>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sp>
        <p:nvSpPr>
          <p:cNvPr id="3" name="TextBox 2">
            <a:extLst>
              <a:ext uri="{FF2B5EF4-FFF2-40B4-BE49-F238E27FC236}">
                <a16:creationId xmlns:a16="http://schemas.microsoft.com/office/drawing/2014/main" id="{36F6C554-EE12-388B-5BDA-A29D6E85379C}"/>
              </a:ext>
            </a:extLst>
          </p:cNvPr>
          <p:cNvSpPr txBox="1"/>
          <p:nvPr/>
        </p:nvSpPr>
        <p:spPr bwMode="gray">
          <a:xfrm>
            <a:off x="895962" y="3039503"/>
            <a:ext cx="733915" cy="429334"/>
          </a:xfrm>
          <a:prstGeom prst="rect">
            <a:avLst/>
          </a:prstGeom>
          <a:no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47</a:t>
            </a:r>
            <a:r>
              <a:rPr lang="en-US" sz="900">
                <a:solidFill>
                  <a:srgbClr val="000000">
                    <a:lumMod val="50000"/>
                    <a:lumOff val="50000"/>
                  </a:srgbClr>
                </a:solidFill>
                <a:latin typeface="Arial" panose="020B0604020202020204"/>
              </a:rPr>
              <a:t>%</a:t>
            </a:r>
            <a:r>
              <a:rPr lang="en-US" sz="900" baseline="30000">
                <a:solidFill>
                  <a:srgbClr val="000000">
                    <a:lumMod val="50000"/>
                    <a:lumOff val="50000"/>
                  </a:srgbClr>
                </a:solidFill>
                <a:latin typeface="Arial" panose="020B0604020202020204"/>
              </a:rPr>
              <a:t>2</a:t>
            </a:r>
            <a:r>
              <a:rPr lang="en-US" altLang="en-US" sz="9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400050" marR="0" lvl="0" indent="-400050" defTabSz="914126" rtl="0" eaLnBrk="1" fontAlgn="auto" latinLnBrk="0" hangingPunct="1">
              <a:lnSpc>
                <a:spcPct val="90000"/>
              </a:lnSpc>
              <a:spcBef>
                <a:spcPts val="0"/>
              </a:spcBef>
              <a:spcAft>
                <a:spcPts val="0"/>
              </a:spcAft>
              <a:buClrTx/>
              <a:buSzTx/>
              <a:buFontTx/>
              <a:buNone/>
              <a:tabLst/>
              <a:defRPr/>
            </a:pPr>
            <a:r>
              <a:rPr lang="en-US" sz="900">
                <a:solidFill>
                  <a:srgbClr val="000000">
                    <a:lumMod val="50000"/>
                    <a:lumOff val="50000"/>
                  </a:srgbClr>
                </a:solidFill>
                <a:latin typeface="Arial" panose="020B0604020202020204"/>
              </a:rPr>
              <a:t>30%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2</a:t>
            </a:r>
            <a:r>
              <a:rPr lang="en-US" sz="900">
                <a:solidFill>
                  <a:srgbClr val="000000">
                    <a:lumMod val="50000"/>
                    <a:lumOff val="50000"/>
                  </a:srgbClr>
                </a:solidFill>
                <a:latin typeface="Arial" panose="020B0604020202020204"/>
              </a:rPr>
              <a:t> </a:t>
            </a:r>
          </a:p>
          <a:p>
            <a:pPr marL="400050" marR="0" lvl="0" indent="-400050" defTabSz="914126" rtl="0" eaLnBrk="1" fontAlgn="auto" latinLnBrk="0" hangingPunct="1">
              <a:lnSpc>
                <a:spcPct val="90000"/>
              </a:lnSpc>
              <a:spcBef>
                <a:spcPts val="0"/>
              </a:spcBef>
              <a:spcAft>
                <a:spcPts val="0"/>
              </a:spcAft>
              <a:buClrTx/>
              <a:buSzTx/>
              <a:buFontTx/>
              <a:buNone/>
              <a:tabLst/>
              <a:defRPr/>
            </a:pPr>
            <a:r>
              <a:rPr lang="en-US" sz="900">
                <a:solidFill>
                  <a:srgbClr val="000000">
                    <a:lumMod val="50000"/>
                    <a:lumOff val="50000"/>
                  </a:srgbClr>
                </a:solidFill>
                <a:latin typeface="Arial" panose="020B0604020202020204"/>
              </a:rPr>
              <a:t>38%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3</a:t>
            </a:r>
          </a:p>
        </p:txBody>
      </p:sp>
      <p:sp>
        <p:nvSpPr>
          <p:cNvPr id="20" name="TextBox 19">
            <a:extLst>
              <a:ext uri="{FF2B5EF4-FFF2-40B4-BE49-F238E27FC236}">
                <a16:creationId xmlns:a16="http://schemas.microsoft.com/office/drawing/2014/main" id="{A9568A40-5FF5-C99C-B317-8F1BC4BBD87A}"/>
              </a:ext>
            </a:extLst>
          </p:cNvPr>
          <p:cNvSpPr txBox="1"/>
          <p:nvPr/>
        </p:nvSpPr>
        <p:spPr bwMode="gray">
          <a:xfrm>
            <a:off x="1050381" y="982889"/>
            <a:ext cx="10792181" cy="512409"/>
          </a:xfrm>
          <a:prstGeom prst="rect">
            <a:avLst/>
          </a:prstGeom>
        </p:spPr>
        <p:txBody>
          <a:bodyPr wrap="square" lIns="45696" tIns="45696" rIns="45696" bIns="45696" rtlCol="0">
            <a:noAutofit/>
          </a:bodyPr>
          <a:lstStyle/>
          <a:p>
            <a:pPr marL="171348" indent="-171348" defTabSz="913852">
              <a:buFont typeface="Arial" panose="020B0604020202020204" pitchFamily="34" charset="0"/>
              <a:buChar char="•"/>
              <a:defRPr/>
            </a:pPr>
            <a:r>
              <a:rPr lang="en-US" sz="1400" dirty="0">
                <a:solidFill>
                  <a:srgbClr val="FFFFFF">
                    <a:lumMod val="50000"/>
                  </a:srgbClr>
                </a:solidFill>
                <a:latin typeface="Arial" panose="020B0604020202020204"/>
              </a:rPr>
              <a:t>Decrease in PED recommendation likelihood driven by Tier 1 (comprised of more Trumenba stockers that </a:t>
            </a:r>
            <a:r>
              <a:rPr lang="en-US" sz="1400" i="1" dirty="0">
                <a:solidFill>
                  <a:srgbClr val="FFFFFF">
                    <a:lumMod val="50000"/>
                  </a:srgbClr>
                </a:solidFill>
                <a:latin typeface="Arial" panose="020B0604020202020204"/>
              </a:rPr>
              <a:t>do not </a:t>
            </a:r>
            <a:r>
              <a:rPr lang="en-US" sz="1400" dirty="0">
                <a:solidFill>
                  <a:srgbClr val="FFFFFF">
                    <a:lumMod val="50000"/>
                  </a:srgbClr>
                </a:solidFill>
                <a:latin typeface="Arial" panose="020B0604020202020204"/>
              </a:rPr>
              <a:t>stock Penbraya)</a:t>
            </a:r>
            <a:endParaRPr lang="en-US" sz="1400" strike="sngStrike" dirty="0">
              <a:solidFill>
                <a:srgbClr val="FFFFFF">
                  <a:lumMod val="50000"/>
                </a:srgbClr>
              </a:solidFill>
              <a:highlight>
                <a:srgbClr val="FFFF00"/>
              </a:highlight>
              <a:latin typeface="Arial" panose="020B0604020202020204"/>
            </a:endParaRPr>
          </a:p>
        </p:txBody>
      </p:sp>
    </p:spTree>
    <p:extLst>
      <p:ext uri="{BB962C8B-B14F-4D97-AF65-F5344CB8AC3E}">
        <p14:creationId xmlns:p14="http://schemas.microsoft.com/office/powerpoint/2010/main" val="167098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C440D98-22F8-5FAC-E551-0D7F63040CCD}"/>
              </a:ext>
            </a:extLst>
          </p:cNvPr>
          <p:cNvSpPr/>
          <p:nvPr/>
        </p:nvSpPr>
        <p:spPr>
          <a:xfrm>
            <a:off x="6588640" y="1541041"/>
            <a:ext cx="4928911" cy="4339650"/>
          </a:xfrm>
          <a:prstGeom prst="rect">
            <a:avLst/>
          </a:prstGeom>
          <a:noFill/>
        </p:spPr>
        <p:txBody>
          <a:bodyPr wrap="square" tIns="91440" bIns="0" anchor="ctr" anchorCtr="0">
            <a:spAutoFit/>
          </a:bodyPr>
          <a:lstStyle/>
          <a:p>
            <a:pPr algn="ctr"/>
            <a:r>
              <a:rPr lang="en-US" sz="1200" i="1" dirty="0">
                <a:solidFill>
                  <a:schemeClr val="tx1">
                    <a:lumMod val="65000"/>
                    <a:lumOff val="35000"/>
                  </a:schemeClr>
                </a:solidFill>
              </a:rPr>
              <a:t>Would still need to stock individual vaccines. Some patients </a:t>
            </a:r>
            <a:br>
              <a:rPr lang="en-US" sz="1200" i="1" dirty="0">
                <a:solidFill>
                  <a:schemeClr val="tx1">
                    <a:lumMod val="65000"/>
                    <a:lumOff val="35000"/>
                  </a:schemeClr>
                </a:solidFill>
              </a:rPr>
            </a:br>
            <a:r>
              <a:rPr lang="en-US" sz="1200" i="1" dirty="0">
                <a:solidFill>
                  <a:schemeClr val="tx1">
                    <a:lumMod val="65000"/>
                    <a:lumOff val="35000"/>
                  </a:schemeClr>
                </a:solidFill>
              </a:rPr>
              <a:t>may not want combo vaccine. </a:t>
            </a:r>
          </a:p>
          <a:p>
            <a:pPr algn="ctr"/>
            <a:r>
              <a:rPr lang="en-US" sz="1200" dirty="0">
                <a:solidFill>
                  <a:schemeClr val="tx1">
                    <a:lumMod val="65000"/>
                    <a:lumOff val="35000"/>
                  </a:schemeClr>
                </a:solidFill>
              </a:rPr>
              <a:t>– PED</a:t>
            </a:r>
          </a:p>
          <a:p>
            <a:pPr algn="ctr"/>
            <a:r>
              <a:rPr lang="en-US" sz="1200" i="1" dirty="0">
                <a:solidFill>
                  <a:schemeClr val="tx1">
                    <a:lumMod val="65000"/>
                    <a:lumOff val="35000"/>
                  </a:schemeClr>
                </a:solidFill>
              </a:rPr>
              <a:t>- - - - - - -</a:t>
            </a:r>
          </a:p>
          <a:p>
            <a:pPr algn="ctr"/>
            <a:r>
              <a:rPr lang="en-US" sz="1200" i="1" dirty="0">
                <a:solidFill>
                  <a:schemeClr val="tx1">
                    <a:lumMod val="65000"/>
                    <a:lumOff val="35000"/>
                  </a:schemeClr>
                </a:solidFill>
              </a:rPr>
              <a:t>It is not saving us anything in terms of stocking the other vaccines. Instead of buying two different vaccinations, we will now have to stock three different types. It’s not efficient for our practice. </a:t>
            </a:r>
          </a:p>
          <a:p>
            <a:pPr algn="ctr"/>
            <a:r>
              <a:rPr lang="en-US" sz="1200" dirty="0">
                <a:solidFill>
                  <a:schemeClr val="tx1">
                    <a:lumMod val="65000"/>
                    <a:lumOff val="35000"/>
                  </a:schemeClr>
                </a:solidFill>
              </a:rPr>
              <a:t>– PED </a:t>
            </a:r>
          </a:p>
          <a:p>
            <a:pPr algn="ctr"/>
            <a:r>
              <a:rPr lang="en-US" sz="1200" i="1" dirty="0">
                <a:solidFill>
                  <a:schemeClr val="tx1">
                    <a:lumMod val="65000"/>
                    <a:lumOff val="35000"/>
                  </a:schemeClr>
                </a:solidFill>
              </a:rPr>
              <a:t>- - - - - - -</a:t>
            </a:r>
          </a:p>
          <a:p>
            <a:pPr algn="ctr"/>
            <a:r>
              <a:rPr lang="en-US" sz="1200" i="1" dirty="0">
                <a:solidFill>
                  <a:schemeClr val="tx1">
                    <a:lumMod val="65000"/>
                    <a:lumOff val="35000"/>
                  </a:schemeClr>
                </a:solidFill>
              </a:rPr>
              <a:t>Using this vaccine would increase the amount of vaccines we are storing. In addition, it would mean changing to Trumenba, away from Bexsero, which we are comfortably using. </a:t>
            </a:r>
          </a:p>
          <a:p>
            <a:pPr algn="ctr"/>
            <a:r>
              <a:rPr lang="en-US" sz="1200" dirty="0">
                <a:solidFill>
                  <a:schemeClr val="tx1">
                    <a:lumMod val="65000"/>
                    <a:lumOff val="35000"/>
                  </a:schemeClr>
                </a:solidFill>
              </a:rPr>
              <a:t>– PED</a:t>
            </a:r>
          </a:p>
          <a:p>
            <a:pPr algn="ctr"/>
            <a:r>
              <a:rPr lang="en-US" sz="1200" i="1" dirty="0">
                <a:solidFill>
                  <a:schemeClr val="tx1">
                    <a:lumMod val="65000"/>
                    <a:lumOff val="35000"/>
                  </a:schemeClr>
                </a:solidFill>
              </a:rPr>
              <a:t>- - - - - - -</a:t>
            </a:r>
          </a:p>
          <a:p>
            <a:pPr algn="ctr"/>
            <a:r>
              <a:rPr lang="en-US" sz="1200" i="1" dirty="0">
                <a:solidFill>
                  <a:schemeClr val="tx1">
                    <a:lumMod val="65000"/>
                    <a:lumOff val="35000"/>
                  </a:schemeClr>
                </a:solidFill>
              </a:rPr>
              <a:t>It is too complicated for my staff to have to switch between these options. It increases risk for error. Also, just not enough space in our fridge to have a whole other vaccine. </a:t>
            </a:r>
          </a:p>
          <a:p>
            <a:pPr algn="ctr"/>
            <a:r>
              <a:rPr lang="en-US" sz="1200" dirty="0">
                <a:solidFill>
                  <a:schemeClr val="tx1">
                    <a:lumMod val="65000"/>
                    <a:lumOff val="35000"/>
                  </a:schemeClr>
                </a:solidFill>
              </a:rPr>
              <a:t>– PED</a:t>
            </a:r>
          </a:p>
          <a:p>
            <a:pPr algn="ctr"/>
            <a:r>
              <a:rPr lang="en-US" sz="1200" i="1" dirty="0">
                <a:solidFill>
                  <a:schemeClr val="tx1">
                    <a:lumMod val="65000"/>
                    <a:lumOff val="35000"/>
                  </a:schemeClr>
                </a:solidFill>
              </a:rPr>
              <a:t>- - - - - - -</a:t>
            </a:r>
          </a:p>
          <a:p>
            <a:pPr algn="ctr"/>
            <a:r>
              <a:rPr lang="en-US" sz="1200" i="1" dirty="0">
                <a:solidFill>
                  <a:schemeClr val="tx1">
                    <a:lumMod val="65000"/>
                    <a:lumOff val="35000"/>
                  </a:schemeClr>
                </a:solidFill>
              </a:rPr>
              <a:t>The dosing does not make anything easier. We still have to stock MCV4, Men B vaccine (Trumenba), and on top also add in Penbraya. That's just too many vaccines for one less shot.</a:t>
            </a:r>
          </a:p>
          <a:p>
            <a:pPr algn="ctr"/>
            <a:r>
              <a:rPr lang="en-US" sz="1200" dirty="0">
                <a:solidFill>
                  <a:schemeClr val="tx1">
                    <a:lumMod val="65000"/>
                    <a:lumOff val="35000"/>
                  </a:schemeClr>
                </a:solidFill>
              </a:rPr>
              <a:t>– PED</a:t>
            </a:r>
          </a:p>
        </p:txBody>
      </p:sp>
      <p:sp>
        <p:nvSpPr>
          <p:cNvPr id="2" name="Title 1">
            <a:extLst>
              <a:ext uri="{FF2B5EF4-FFF2-40B4-BE49-F238E27FC236}">
                <a16:creationId xmlns:a16="http://schemas.microsoft.com/office/drawing/2014/main" id="{EC14A6E0-0142-82F9-E46F-334683C5D158}"/>
              </a:ext>
            </a:extLst>
          </p:cNvPr>
          <p:cNvSpPr>
            <a:spLocks noGrp="1"/>
          </p:cNvSpPr>
          <p:nvPr>
            <p:ph type="title"/>
          </p:nvPr>
        </p:nvSpPr>
        <p:spPr>
          <a:xfrm>
            <a:off x="1142123" y="170307"/>
            <a:ext cx="7145843" cy="325804"/>
          </a:xfrm>
        </p:spPr>
        <p:txBody>
          <a:bodyPr wrap="none"/>
          <a:lstStyle/>
          <a:p>
            <a:r>
              <a:rPr lang="en-US" b="1" dirty="0">
                <a:solidFill>
                  <a:srgbClr val="0000C9"/>
                </a:solidFill>
                <a:latin typeface="Arial" panose="020B0604020202020204"/>
                <a:ea typeface="+mn-ea"/>
                <a:cs typeface="+mn-cs"/>
              </a:rPr>
              <a:t>Verbatims: Likelihood to Recommend Penbraya</a:t>
            </a:r>
          </a:p>
        </p:txBody>
      </p:sp>
      <p:sp>
        <p:nvSpPr>
          <p:cNvPr id="3" name="Text Placeholder 2">
            <a:extLst>
              <a:ext uri="{FF2B5EF4-FFF2-40B4-BE49-F238E27FC236}">
                <a16:creationId xmlns:a16="http://schemas.microsoft.com/office/drawing/2014/main" id="{347FBD16-DCA5-8449-1CE0-564F40423278}"/>
              </a:ext>
            </a:extLst>
          </p:cNvPr>
          <p:cNvSpPr>
            <a:spLocks noGrp="1"/>
          </p:cNvSpPr>
          <p:nvPr>
            <p:ph type="body" sz="quarter" idx="16"/>
          </p:nvPr>
        </p:nvSpPr>
        <p:spPr>
          <a:xfrm>
            <a:off x="1571625" y="6602467"/>
            <a:ext cx="9239250" cy="180049"/>
          </a:xfrm>
        </p:spPr>
        <p:txBody>
          <a:bodyPr/>
          <a:lstStyle/>
          <a:p>
            <a:r>
              <a:rPr lang="en-US" dirty="0"/>
              <a:t>P6. Why are you [highly likely / not highly likely] to recommend Penbraya (Pfizer's 5-in-1 Pentavalent vaccine for </a:t>
            </a:r>
            <a:r>
              <a:rPr lang="en-US" dirty="0" err="1"/>
              <a:t>MenABCWY</a:t>
            </a:r>
            <a:r>
              <a:rPr lang="en-US" dirty="0"/>
              <a:t>) for your 16-18 year old patients?</a:t>
            </a:r>
          </a:p>
        </p:txBody>
      </p:sp>
      <p:sp>
        <p:nvSpPr>
          <p:cNvPr id="9" name="TextBox 8">
            <a:extLst>
              <a:ext uri="{FF2B5EF4-FFF2-40B4-BE49-F238E27FC236}">
                <a16:creationId xmlns:a16="http://schemas.microsoft.com/office/drawing/2014/main" id="{677581AF-FCE1-6043-1CA1-7FA5AA1724A8}"/>
              </a:ext>
            </a:extLst>
          </p:cNvPr>
          <p:cNvSpPr txBox="1"/>
          <p:nvPr/>
        </p:nvSpPr>
        <p:spPr bwMode="gray">
          <a:xfrm>
            <a:off x="1554781" y="1189629"/>
            <a:ext cx="3005952" cy="369332"/>
          </a:xfrm>
          <a:prstGeom prst="rect">
            <a:avLst/>
          </a:prstGeom>
          <a:noFill/>
        </p:spPr>
        <p:txBody>
          <a:bodyPr wrap="none">
            <a:spAutoFit/>
          </a:bodyPr>
          <a:lstStyle/>
          <a:p>
            <a:pPr algn="ctr"/>
            <a:r>
              <a:rPr lang="en-US" sz="1800" b="1">
                <a:solidFill>
                  <a:schemeClr val="accent4"/>
                </a:solidFill>
              </a:rPr>
              <a:t>Reasons for Highly Likely</a:t>
            </a:r>
          </a:p>
        </p:txBody>
      </p:sp>
      <p:sp>
        <p:nvSpPr>
          <p:cNvPr id="11" name="Rectangle 10">
            <a:extLst>
              <a:ext uri="{FF2B5EF4-FFF2-40B4-BE49-F238E27FC236}">
                <a16:creationId xmlns:a16="http://schemas.microsoft.com/office/drawing/2014/main" id="{7142B439-1150-F486-A522-39BF64B73959}"/>
              </a:ext>
            </a:extLst>
          </p:cNvPr>
          <p:cNvSpPr/>
          <p:nvPr/>
        </p:nvSpPr>
        <p:spPr>
          <a:xfrm>
            <a:off x="954636" y="1541041"/>
            <a:ext cx="4311186" cy="4443973"/>
          </a:xfrm>
          <a:prstGeom prst="rect">
            <a:avLst/>
          </a:prstGeom>
        </p:spPr>
        <p:txBody>
          <a:bodyPr wrap="square" tIns="91440">
            <a:spAutoFit/>
          </a:bodyPr>
          <a:lstStyle/>
          <a:p>
            <a:pPr algn="ctr"/>
            <a:r>
              <a:rPr lang="en-US" sz="1200" i="1">
                <a:solidFill>
                  <a:schemeClr val="tx1">
                    <a:lumMod val="65000"/>
                    <a:lumOff val="35000"/>
                  </a:schemeClr>
                </a:solidFill>
              </a:rPr>
              <a:t>Convenience to give one less shot and also to start </a:t>
            </a:r>
            <a:br>
              <a:rPr lang="en-US" sz="1200" i="1">
                <a:solidFill>
                  <a:schemeClr val="tx1">
                    <a:lumMod val="65000"/>
                    <a:lumOff val="35000"/>
                  </a:schemeClr>
                </a:solidFill>
              </a:rPr>
            </a:br>
            <a:r>
              <a:rPr lang="en-US" sz="1200" i="1">
                <a:solidFill>
                  <a:schemeClr val="tx1">
                    <a:lumMod val="65000"/>
                    <a:lumOff val="35000"/>
                  </a:schemeClr>
                </a:solidFill>
              </a:rPr>
              <a:t>the Men B earlier so that both doses can be given </a:t>
            </a:r>
            <a:br>
              <a:rPr lang="en-US" sz="1200" i="1">
                <a:solidFill>
                  <a:schemeClr val="tx1">
                    <a:lumMod val="65000"/>
                    <a:lumOff val="35000"/>
                  </a:schemeClr>
                </a:solidFill>
              </a:rPr>
            </a:br>
            <a:r>
              <a:rPr lang="en-US" sz="1200" i="1">
                <a:solidFill>
                  <a:schemeClr val="tx1">
                    <a:lumMod val="65000"/>
                    <a:lumOff val="35000"/>
                  </a:schemeClr>
                </a:solidFill>
              </a:rPr>
              <a:t>prior to leaving for college. </a:t>
            </a:r>
          </a:p>
          <a:p>
            <a:pPr algn="ctr"/>
            <a:r>
              <a:rPr lang="en-US" sz="1200">
                <a:solidFill>
                  <a:schemeClr val="tx1">
                    <a:lumMod val="65000"/>
                    <a:lumOff val="35000"/>
                  </a:schemeClr>
                </a:solidFill>
              </a:rPr>
              <a:t>– PED</a:t>
            </a:r>
          </a:p>
          <a:p>
            <a:pPr algn="ctr"/>
            <a:r>
              <a:rPr lang="en-US" sz="1200" i="1">
                <a:solidFill>
                  <a:schemeClr val="tx1">
                    <a:lumMod val="65000"/>
                    <a:lumOff val="35000"/>
                  </a:schemeClr>
                </a:solidFill>
              </a:rPr>
              <a:t>- - - - - - -</a:t>
            </a:r>
          </a:p>
          <a:p>
            <a:pPr algn="ctr"/>
            <a:r>
              <a:rPr lang="en-US" sz="1200" i="1">
                <a:solidFill>
                  <a:schemeClr val="tx1">
                    <a:lumMod val="65000"/>
                    <a:lumOff val="35000"/>
                  </a:schemeClr>
                </a:solidFill>
              </a:rPr>
              <a:t>Simplified vaccine regimen with full protection against meningitis.</a:t>
            </a:r>
          </a:p>
          <a:p>
            <a:pPr algn="ctr"/>
            <a:r>
              <a:rPr lang="en-US" sz="1200">
                <a:solidFill>
                  <a:schemeClr val="tx1">
                    <a:lumMod val="65000"/>
                    <a:lumOff val="35000"/>
                  </a:schemeClr>
                </a:solidFill>
              </a:rPr>
              <a:t>– PCP</a:t>
            </a:r>
          </a:p>
          <a:p>
            <a:pPr algn="ctr">
              <a:lnSpc>
                <a:spcPct val="110000"/>
              </a:lnSpc>
            </a:pPr>
            <a:r>
              <a:rPr lang="en-US" sz="1200" i="1">
                <a:solidFill>
                  <a:schemeClr val="tx1">
                    <a:lumMod val="65000"/>
                    <a:lumOff val="35000"/>
                  </a:schemeClr>
                </a:solidFill>
              </a:rPr>
              <a:t>- - - - - - -</a:t>
            </a:r>
          </a:p>
          <a:p>
            <a:pPr algn="ctr">
              <a:lnSpc>
                <a:spcPct val="110000"/>
              </a:lnSpc>
            </a:pPr>
            <a:r>
              <a:rPr lang="en-US" sz="1200" i="1">
                <a:solidFill>
                  <a:schemeClr val="tx1">
                    <a:lumMod val="65000"/>
                    <a:lumOff val="35000"/>
                  </a:schemeClr>
                </a:solidFill>
              </a:rPr>
              <a:t>One less shot. People like that and would be more willing to proceed with the </a:t>
            </a:r>
            <a:r>
              <a:rPr lang="en-US" sz="1200" i="1" err="1">
                <a:solidFill>
                  <a:schemeClr val="tx1">
                    <a:lumMod val="65000"/>
                    <a:lumOff val="35000"/>
                  </a:schemeClr>
                </a:solidFill>
              </a:rPr>
              <a:t>MenB</a:t>
            </a:r>
            <a:r>
              <a:rPr lang="en-US" sz="1200" i="1">
                <a:solidFill>
                  <a:schemeClr val="tx1">
                    <a:lumMod val="65000"/>
                    <a:lumOff val="35000"/>
                  </a:schemeClr>
                </a:solidFill>
              </a:rPr>
              <a:t> series. </a:t>
            </a:r>
          </a:p>
          <a:p>
            <a:pPr algn="ctr">
              <a:lnSpc>
                <a:spcPct val="110000"/>
              </a:lnSpc>
            </a:pPr>
            <a:r>
              <a:rPr lang="en-US" sz="1200">
                <a:solidFill>
                  <a:schemeClr val="tx1">
                    <a:lumMod val="65000"/>
                    <a:lumOff val="35000"/>
                  </a:schemeClr>
                </a:solidFill>
              </a:rPr>
              <a:t>– PED</a:t>
            </a:r>
            <a:endParaRPr lang="en-US" sz="1200" i="1">
              <a:solidFill>
                <a:schemeClr val="tx1">
                  <a:lumMod val="65000"/>
                  <a:lumOff val="35000"/>
                </a:schemeClr>
              </a:solidFill>
            </a:endParaRPr>
          </a:p>
          <a:p>
            <a:pPr algn="ctr">
              <a:lnSpc>
                <a:spcPct val="110000"/>
              </a:lnSpc>
            </a:pPr>
            <a:r>
              <a:rPr lang="en-US" sz="1200" i="1">
                <a:solidFill>
                  <a:schemeClr val="tx1">
                    <a:lumMod val="65000"/>
                    <a:lumOff val="35000"/>
                  </a:schemeClr>
                </a:solidFill>
              </a:rPr>
              <a:t>- - - - - - -</a:t>
            </a:r>
          </a:p>
          <a:p>
            <a:pPr algn="ctr">
              <a:lnSpc>
                <a:spcPct val="110000"/>
              </a:lnSpc>
            </a:pPr>
            <a:r>
              <a:rPr lang="en-US" sz="1200" i="1">
                <a:solidFill>
                  <a:schemeClr val="tx1">
                    <a:lumMod val="65000"/>
                    <a:lumOff val="35000"/>
                  </a:schemeClr>
                </a:solidFill>
              </a:rPr>
              <a:t>Ease of administration, can protect against all 5 serotypes with just one vaccine vs two. </a:t>
            </a:r>
          </a:p>
          <a:p>
            <a:pPr algn="ctr">
              <a:lnSpc>
                <a:spcPct val="110000"/>
              </a:lnSpc>
            </a:pPr>
            <a:r>
              <a:rPr lang="en-US" sz="1200">
                <a:solidFill>
                  <a:schemeClr val="tx1">
                    <a:lumMod val="65000"/>
                    <a:lumOff val="35000"/>
                  </a:schemeClr>
                </a:solidFill>
              </a:rPr>
              <a:t>– PED</a:t>
            </a:r>
          </a:p>
          <a:p>
            <a:pPr algn="ctr">
              <a:lnSpc>
                <a:spcPct val="110000"/>
              </a:lnSpc>
            </a:pPr>
            <a:r>
              <a:rPr lang="en-US" sz="1200" i="1">
                <a:solidFill>
                  <a:schemeClr val="tx1">
                    <a:lumMod val="65000"/>
                    <a:lumOff val="35000"/>
                  </a:schemeClr>
                </a:solidFill>
              </a:rPr>
              <a:t>- - - - - - -</a:t>
            </a:r>
          </a:p>
          <a:p>
            <a:pPr algn="ctr">
              <a:lnSpc>
                <a:spcPct val="110000"/>
              </a:lnSpc>
            </a:pPr>
            <a:r>
              <a:rPr lang="en-US" sz="1200" i="1">
                <a:solidFill>
                  <a:schemeClr val="tx1">
                    <a:lumMod val="65000"/>
                    <a:lumOff val="35000"/>
                  </a:schemeClr>
                </a:solidFill>
              </a:rPr>
              <a:t>Safe and effective with few side effects.</a:t>
            </a:r>
          </a:p>
          <a:p>
            <a:pPr algn="ctr">
              <a:lnSpc>
                <a:spcPct val="110000"/>
              </a:lnSpc>
            </a:pPr>
            <a:r>
              <a:rPr lang="en-US" sz="1200">
                <a:solidFill>
                  <a:schemeClr val="tx1">
                    <a:lumMod val="65000"/>
                    <a:lumOff val="35000"/>
                  </a:schemeClr>
                </a:solidFill>
              </a:rPr>
              <a:t>– PCP</a:t>
            </a:r>
          </a:p>
          <a:p>
            <a:pPr algn="ctr">
              <a:lnSpc>
                <a:spcPct val="110000"/>
              </a:lnSpc>
            </a:pPr>
            <a:r>
              <a:rPr lang="en-US" sz="1200" i="1">
                <a:solidFill>
                  <a:schemeClr val="tx1">
                    <a:lumMod val="65000"/>
                    <a:lumOff val="35000"/>
                  </a:schemeClr>
                </a:solidFill>
              </a:rPr>
              <a:t>- - - - - - -</a:t>
            </a:r>
          </a:p>
          <a:p>
            <a:pPr algn="ctr">
              <a:lnSpc>
                <a:spcPct val="110000"/>
              </a:lnSpc>
            </a:pPr>
            <a:r>
              <a:rPr lang="en-US" sz="1200">
                <a:solidFill>
                  <a:schemeClr val="tx1">
                    <a:lumMod val="65000"/>
                    <a:lumOff val="35000"/>
                  </a:schemeClr>
                </a:solidFill>
              </a:rPr>
              <a:t>Saves a shot. Encourages getting Men B vaccine. </a:t>
            </a:r>
          </a:p>
          <a:p>
            <a:pPr algn="ctr">
              <a:lnSpc>
                <a:spcPct val="110000"/>
              </a:lnSpc>
            </a:pPr>
            <a:r>
              <a:rPr lang="en-US" sz="1200">
                <a:solidFill>
                  <a:schemeClr val="tx1">
                    <a:lumMod val="65000"/>
                    <a:lumOff val="35000"/>
                  </a:schemeClr>
                </a:solidFill>
              </a:rPr>
              <a:t>– PCP</a:t>
            </a:r>
          </a:p>
        </p:txBody>
      </p:sp>
      <p:cxnSp>
        <p:nvCxnSpPr>
          <p:cNvPr id="13" name="Straight Connector 12">
            <a:extLst>
              <a:ext uri="{FF2B5EF4-FFF2-40B4-BE49-F238E27FC236}">
                <a16:creationId xmlns:a16="http://schemas.microsoft.com/office/drawing/2014/main" id="{E37CA43B-302B-9FD0-7AF0-54F023EA5690}"/>
              </a:ext>
            </a:extLst>
          </p:cNvPr>
          <p:cNvCxnSpPr>
            <a:cxnSpLocks/>
          </p:cNvCxnSpPr>
          <p:nvPr/>
        </p:nvCxnSpPr>
        <p:spPr>
          <a:xfrm>
            <a:off x="878764" y="5933909"/>
            <a:ext cx="438912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3EF8887-1295-8722-0B8E-2B99F43197AC}"/>
              </a:ext>
            </a:extLst>
          </p:cNvPr>
          <p:cNvCxnSpPr>
            <a:cxnSpLocks/>
          </p:cNvCxnSpPr>
          <p:nvPr/>
        </p:nvCxnSpPr>
        <p:spPr>
          <a:xfrm>
            <a:off x="878764" y="1539505"/>
            <a:ext cx="438912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5" name="Picture 6">
            <a:extLst>
              <a:ext uri="{FF2B5EF4-FFF2-40B4-BE49-F238E27FC236}">
                <a16:creationId xmlns:a16="http://schemas.microsoft.com/office/drawing/2014/main" id="{6B51609C-A288-09C3-05EA-A384D065B376}"/>
              </a:ext>
            </a:extLst>
          </p:cNvPr>
          <p:cNvPicPr>
            <a:picLocks noChangeAspect="1" noChangeArrowheads="1"/>
          </p:cNvPicPr>
          <p:nvPr/>
        </p:nvPicPr>
        <p:blipFill rotWithShape="1">
          <a:blip r:embed="rId2" cstate="print">
            <a:duotone>
              <a:schemeClr val="accent4">
                <a:shade val="45000"/>
                <a:satMod val="135000"/>
              </a:schemeClr>
              <a:prstClr val="white"/>
            </a:duotone>
            <a:extLst>
              <a:ext uri="{28A0092B-C50C-407E-A947-70E740481C1C}">
                <a14:useLocalDpi xmlns:a14="http://schemas.microsoft.com/office/drawing/2010/main" val="0"/>
              </a:ext>
            </a:extLst>
          </a:blip>
          <a:srcRect r="73864" b="73864"/>
          <a:stretch/>
        </p:blipFill>
        <p:spPr bwMode="auto">
          <a:xfrm>
            <a:off x="315385" y="1132045"/>
            <a:ext cx="714553" cy="50841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5D201EA0-CCAE-1A19-5400-FD3ED90B5D5B}"/>
              </a:ext>
            </a:extLst>
          </p:cNvPr>
          <p:cNvPicPr>
            <a:picLocks noChangeAspect="1" noChangeArrowheads="1"/>
          </p:cNvPicPr>
          <p:nvPr/>
        </p:nvPicPr>
        <p:blipFill rotWithShape="1">
          <a:blip r:embed="rId3" cstate="print">
            <a:duotone>
              <a:schemeClr val="accent4">
                <a:shade val="45000"/>
                <a:satMod val="135000"/>
              </a:schemeClr>
              <a:prstClr val="white"/>
            </a:duotone>
            <a:extLst>
              <a:ext uri="{28A0092B-C50C-407E-A947-70E740481C1C}">
                <a14:useLocalDpi xmlns:a14="http://schemas.microsoft.com/office/drawing/2010/main" val="0"/>
              </a:ext>
            </a:extLst>
          </a:blip>
          <a:srcRect l="70875" t="70875" r="3855" b="11211"/>
          <a:stretch/>
        </p:blipFill>
        <p:spPr bwMode="auto">
          <a:xfrm>
            <a:off x="5114649" y="5746143"/>
            <a:ext cx="689301" cy="34847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711D101F-73D1-9AF3-8DAC-D8A51A802F06}"/>
              </a:ext>
            </a:extLst>
          </p:cNvPr>
          <p:cNvCxnSpPr>
            <a:cxnSpLocks/>
          </p:cNvCxnSpPr>
          <p:nvPr/>
        </p:nvCxnSpPr>
        <p:spPr>
          <a:xfrm>
            <a:off x="6767095" y="5933909"/>
            <a:ext cx="4572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78932B-6F9C-2083-A36F-D049D613ABF6}"/>
              </a:ext>
            </a:extLst>
          </p:cNvPr>
          <p:cNvCxnSpPr>
            <a:cxnSpLocks/>
          </p:cNvCxnSpPr>
          <p:nvPr/>
        </p:nvCxnSpPr>
        <p:spPr>
          <a:xfrm>
            <a:off x="6767095" y="1539505"/>
            <a:ext cx="4572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1" name="Picture 6">
            <a:extLst>
              <a:ext uri="{FF2B5EF4-FFF2-40B4-BE49-F238E27FC236}">
                <a16:creationId xmlns:a16="http://schemas.microsoft.com/office/drawing/2014/main" id="{219082F7-DC53-BF25-B8B0-FA1C9C83487D}"/>
              </a:ext>
            </a:extLst>
          </p:cNvPr>
          <p:cNvPicPr>
            <a:picLocks noChangeAspect="1" noChangeArrowheads="1"/>
          </p:cNvPicPr>
          <p:nvPr/>
        </p:nvPicPr>
        <p:blipFill rotWithShape="1">
          <a:blip r:embed="rId2" cstate="print">
            <a:lum bright="70000" contrast="-70000"/>
            <a:extLst>
              <a:ext uri="{28A0092B-C50C-407E-A947-70E740481C1C}">
                <a14:useLocalDpi xmlns:a14="http://schemas.microsoft.com/office/drawing/2010/main" val="0"/>
              </a:ext>
            </a:extLst>
          </a:blip>
          <a:srcRect r="73864" b="73864"/>
          <a:stretch/>
        </p:blipFill>
        <p:spPr bwMode="auto">
          <a:xfrm>
            <a:off x="6205963" y="1132045"/>
            <a:ext cx="714553" cy="50841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a:extLst>
              <a:ext uri="{FF2B5EF4-FFF2-40B4-BE49-F238E27FC236}">
                <a16:creationId xmlns:a16="http://schemas.microsoft.com/office/drawing/2014/main" id="{521DB21D-147B-F893-DC90-0EB070275CFA}"/>
              </a:ext>
            </a:extLst>
          </p:cNvPr>
          <p:cNvPicPr>
            <a:picLocks noChangeAspect="1" noChangeArrowheads="1"/>
          </p:cNvPicPr>
          <p:nvPr/>
        </p:nvPicPr>
        <p:blipFill rotWithShape="1">
          <a:blip r:embed="rId3" cstate="print">
            <a:lum bright="70000" contrast="-70000"/>
            <a:extLst>
              <a:ext uri="{28A0092B-C50C-407E-A947-70E740481C1C}">
                <a14:useLocalDpi xmlns:a14="http://schemas.microsoft.com/office/drawing/2010/main" val="0"/>
              </a:ext>
            </a:extLst>
          </a:blip>
          <a:srcRect l="70875" t="70875" r="3855" b="11211"/>
          <a:stretch/>
        </p:blipFill>
        <p:spPr bwMode="auto">
          <a:xfrm>
            <a:off x="11210927" y="5746143"/>
            <a:ext cx="689301" cy="34847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6D46EC91-20B6-6821-8415-8602EC03B1E2}"/>
              </a:ext>
            </a:extLst>
          </p:cNvPr>
          <p:cNvSpPr txBox="1"/>
          <p:nvPr/>
        </p:nvSpPr>
        <p:spPr bwMode="gray">
          <a:xfrm>
            <a:off x="7325700" y="1189629"/>
            <a:ext cx="3454792" cy="369332"/>
          </a:xfrm>
          <a:prstGeom prst="rect">
            <a:avLst/>
          </a:prstGeom>
          <a:noFill/>
        </p:spPr>
        <p:txBody>
          <a:bodyPr wrap="none">
            <a:spAutoFit/>
          </a:bodyPr>
          <a:lstStyle/>
          <a:p>
            <a:pPr algn="ctr"/>
            <a:r>
              <a:rPr lang="en-US" sz="1800" b="1">
                <a:solidFill>
                  <a:schemeClr val="bg1">
                    <a:lumMod val="65000"/>
                  </a:schemeClr>
                </a:solidFill>
              </a:rPr>
              <a:t>Reasons for Not Highly Likely</a:t>
            </a:r>
          </a:p>
        </p:txBody>
      </p:sp>
      <p:cxnSp>
        <p:nvCxnSpPr>
          <p:cNvPr id="29" name="Straight Connector 28">
            <a:extLst>
              <a:ext uri="{FF2B5EF4-FFF2-40B4-BE49-F238E27FC236}">
                <a16:creationId xmlns:a16="http://schemas.microsoft.com/office/drawing/2014/main" id="{6EB55A2D-B8CF-0B48-44F8-01E743438F9C}"/>
              </a:ext>
            </a:extLst>
          </p:cNvPr>
          <p:cNvCxnSpPr>
            <a:cxnSpLocks/>
          </p:cNvCxnSpPr>
          <p:nvPr/>
        </p:nvCxnSpPr>
        <p:spPr bwMode="gray">
          <a:xfrm>
            <a:off x="6004956" y="1316093"/>
            <a:ext cx="0" cy="4863830"/>
          </a:xfrm>
          <a:prstGeom prst="line">
            <a:avLst/>
          </a:prstGeom>
          <a:ln w="12700">
            <a:solidFill>
              <a:schemeClr val="bg1">
                <a:lumMod val="75000"/>
              </a:schemeClr>
            </a:solidFill>
            <a:prstDash val="lgDash"/>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365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47597-BEC8-9785-6383-346AD60A09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C29FD6-0C6C-5FD1-B899-4DB72B7C297B}"/>
              </a:ext>
            </a:extLst>
          </p:cNvPr>
          <p:cNvSpPr>
            <a:spLocks noGrp="1"/>
          </p:cNvSpPr>
          <p:nvPr>
            <p:ph type="title"/>
          </p:nvPr>
        </p:nvSpPr>
        <p:spPr>
          <a:xfrm>
            <a:off x="1142122" y="170307"/>
            <a:ext cx="10755237" cy="850392"/>
          </a:xfrm>
        </p:spPr>
        <p:txBody>
          <a:bodyPr/>
          <a:lstStyle/>
          <a:p>
            <a:r>
              <a:rPr lang="en-US" dirty="0"/>
              <a:t>After reviewing the Penbraya TPP, current Penbraya stockers anticipate a slight uptake in their intent to recommend Penbraya vs. 2 separate vaccines in the next three months</a:t>
            </a:r>
          </a:p>
        </p:txBody>
      </p:sp>
      <p:sp>
        <p:nvSpPr>
          <p:cNvPr id="10" name="Text Placeholder 2">
            <a:extLst>
              <a:ext uri="{FF2B5EF4-FFF2-40B4-BE49-F238E27FC236}">
                <a16:creationId xmlns:a16="http://schemas.microsoft.com/office/drawing/2014/main" id="{8F8D5ACC-91C6-E04C-3489-8F9BA3475C56}"/>
              </a:ext>
            </a:extLst>
          </p:cNvPr>
          <p:cNvSpPr>
            <a:spLocks noGrp="1"/>
          </p:cNvSpPr>
          <p:nvPr>
            <p:ph type="body" sz="quarter" idx="16"/>
          </p:nvPr>
        </p:nvSpPr>
        <p:spPr>
          <a:xfrm>
            <a:off x="1571625" y="5865047"/>
            <a:ext cx="9239250" cy="880241"/>
          </a:xfrm>
        </p:spPr>
        <p:txBody>
          <a:bodyPr/>
          <a:lstStyle/>
          <a:p>
            <a:pPr marL="568325" indent="-568325"/>
            <a:r>
              <a:rPr lang="en-US" dirty="0">
                <a:solidFill>
                  <a:srgbClr val="FF0000"/>
                </a:solidFill>
                <a:sym typeface="Wingdings 3" panose="05040102010807070707" pitchFamily="18" charset="2"/>
              </a:rPr>
              <a:t></a:t>
            </a:r>
            <a:r>
              <a:rPr lang="en-US" dirty="0">
                <a:sym typeface="Wingdings 3" panose="05040102010807070707" pitchFamily="18" charset="2"/>
              </a:rPr>
              <a:t>/</a:t>
            </a:r>
            <a:r>
              <a:rPr lang="en-US" dirty="0">
                <a:solidFill>
                  <a:srgbClr val="FF0000"/>
                </a:solidFill>
                <a:sym typeface="Wingdings 3" panose="05040102010807070707" pitchFamily="18" charset="2"/>
              </a:rPr>
              <a:t></a:t>
            </a:r>
            <a:r>
              <a:rPr lang="en-US" dirty="0">
                <a:sym typeface="Wingdings 3" panose="05040102010807070707" pitchFamily="18" charset="2"/>
              </a:rPr>
              <a:t> = significantly higher/lower than Patient Share, Past Month</a:t>
            </a:r>
          </a:p>
          <a:p>
            <a:pPr marL="228600" indent="-228600"/>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marL="228600" indent="-228600"/>
            <a:r>
              <a:rPr lang="en-US" dirty="0"/>
              <a:t>C7.	In the past month, for what percent of your patients 16-18 years old who were eligible for both </a:t>
            </a:r>
            <a:r>
              <a:rPr lang="en-US" dirty="0" err="1"/>
              <a:t>MenACWY</a:t>
            </a:r>
            <a:r>
              <a:rPr lang="en-US" dirty="0"/>
              <a:t> and 1st dose of </a:t>
            </a:r>
            <a:r>
              <a:rPr lang="en-US" dirty="0" err="1"/>
              <a:t>MenB</a:t>
            </a:r>
            <a:r>
              <a:rPr lang="en-US" dirty="0"/>
              <a:t> vaccinations at the same visit did you recommend two separate vaccines vs. one </a:t>
            </a:r>
            <a:r>
              <a:rPr lang="en-US" dirty="0" err="1"/>
              <a:t>MenABCWY</a:t>
            </a:r>
            <a:r>
              <a:rPr lang="en-US" dirty="0"/>
              <a:t> pentavalent vaccine? </a:t>
            </a:r>
          </a:p>
          <a:p>
            <a:pPr marL="228600" indent="-228600"/>
            <a:r>
              <a:rPr lang="en-US" dirty="0"/>
              <a:t>P7.	In three months from now, for what percent of your patients 16-18 years old who are eligible for both </a:t>
            </a:r>
            <a:r>
              <a:rPr lang="en-US" dirty="0" err="1"/>
              <a:t>MenACWY</a:t>
            </a:r>
            <a:r>
              <a:rPr lang="en-US" dirty="0"/>
              <a:t> and 1st dose of </a:t>
            </a:r>
            <a:r>
              <a:rPr lang="en-US" dirty="0" err="1"/>
              <a:t>MenB</a:t>
            </a:r>
            <a:r>
              <a:rPr lang="en-US" dirty="0"/>
              <a:t> vaccinations at the same visit do you anticipate recommending two separate vaccines vs. Penbraya (Pfizer's 5-in-1 Pentavalent vaccine for </a:t>
            </a:r>
            <a:r>
              <a:rPr lang="en-US" dirty="0" err="1"/>
              <a:t>MenABCWY</a:t>
            </a:r>
            <a:r>
              <a:rPr lang="en-US" dirty="0"/>
              <a:t>)? </a:t>
            </a:r>
          </a:p>
        </p:txBody>
      </p:sp>
      <p:graphicFrame>
        <p:nvGraphicFramePr>
          <p:cNvPr id="20" name="Chart 19">
            <a:extLst>
              <a:ext uri="{FF2B5EF4-FFF2-40B4-BE49-F238E27FC236}">
                <a16:creationId xmlns:a16="http://schemas.microsoft.com/office/drawing/2014/main" id="{5125B9A1-DB21-0FCD-E2C6-8D5CBC5A2333}"/>
              </a:ext>
            </a:extLst>
          </p:cNvPr>
          <p:cNvGraphicFramePr/>
          <p:nvPr>
            <p:extLst>
              <p:ext uri="{D42A27DB-BD31-4B8C-83A1-F6EECF244321}">
                <p14:modId xmlns:p14="http://schemas.microsoft.com/office/powerpoint/2010/main" val="1891309714"/>
              </p:ext>
            </p:extLst>
          </p:nvPr>
        </p:nvGraphicFramePr>
        <p:xfrm>
          <a:off x="2422187" y="2786411"/>
          <a:ext cx="7256834" cy="2784271"/>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CF1BE48A-A11C-4C7A-5CCB-4BA26B91B601}"/>
              </a:ext>
            </a:extLst>
          </p:cNvPr>
          <p:cNvSpPr/>
          <p:nvPr/>
        </p:nvSpPr>
        <p:spPr bwMode="gray">
          <a:xfrm>
            <a:off x="5080000" y="3306107"/>
            <a:ext cx="233680" cy="1615440"/>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3" name="Oval 52">
            <a:extLst>
              <a:ext uri="{FF2B5EF4-FFF2-40B4-BE49-F238E27FC236}">
                <a16:creationId xmlns:a16="http://schemas.microsoft.com/office/drawing/2014/main" id="{0750BB3F-945C-FFA9-3B56-CA279FEDEAFB}"/>
              </a:ext>
            </a:extLst>
          </p:cNvPr>
          <p:cNvSpPr/>
          <p:nvPr/>
        </p:nvSpPr>
        <p:spPr bwMode="gray">
          <a:xfrm>
            <a:off x="5102731" y="4654193"/>
            <a:ext cx="182880" cy="182880"/>
          </a:xfrm>
          <a:prstGeom prst="ellipse">
            <a:avLst/>
          </a:prstGeom>
          <a:solidFill>
            <a:srgbClr val="937DAD"/>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4" name="Oval 53">
            <a:extLst>
              <a:ext uri="{FF2B5EF4-FFF2-40B4-BE49-F238E27FC236}">
                <a16:creationId xmlns:a16="http://schemas.microsoft.com/office/drawing/2014/main" id="{EAC84F0E-755B-36F0-A285-F76F22E99EEF}"/>
              </a:ext>
            </a:extLst>
          </p:cNvPr>
          <p:cNvSpPr/>
          <p:nvPr/>
        </p:nvSpPr>
        <p:spPr bwMode="gray">
          <a:xfrm>
            <a:off x="5102731" y="3356091"/>
            <a:ext cx="182880" cy="182880"/>
          </a:xfrm>
          <a:prstGeom prst="ellipse">
            <a:avLst/>
          </a:prstGeom>
          <a:solidFill>
            <a:schemeClr val="accent4"/>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6" name="TextBox 15">
            <a:extLst>
              <a:ext uri="{FF2B5EF4-FFF2-40B4-BE49-F238E27FC236}">
                <a16:creationId xmlns:a16="http://schemas.microsoft.com/office/drawing/2014/main" id="{E393C10B-0D5F-DD2E-12F5-2E106957E121}"/>
              </a:ext>
            </a:extLst>
          </p:cNvPr>
          <p:cNvSpPr txBox="1"/>
          <p:nvPr/>
        </p:nvSpPr>
        <p:spPr bwMode="gray">
          <a:xfrm>
            <a:off x="2726207" y="2340830"/>
            <a:ext cx="1507218" cy="445719"/>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a:r>
              <a:rPr lang="en-US" sz="1400" b="1">
                <a:solidFill>
                  <a:schemeClr val="tx1"/>
                </a:solidFill>
                <a:latin typeface="Arial" panose="020B0604020202020204"/>
              </a:rPr>
              <a:t>Patient Share</a:t>
            </a:r>
          </a:p>
          <a:p>
            <a:pPr algn="ctr"/>
            <a:r>
              <a:rPr kumimoji="0" lang="en-US" sz="1100" b="0" i="0" u="none" strike="noStrike" kern="1200" cap="none" spc="0" normalizeH="0" baseline="0" noProof="0">
                <a:ln>
                  <a:noFill/>
                </a:ln>
                <a:solidFill>
                  <a:schemeClr val="tx1"/>
                </a:solidFill>
                <a:effectLst/>
                <a:uLnTx/>
                <a:uFillTx/>
                <a:latin typeface="Arial" panose="020B0604020202020204"/>
                <a:ea typeface="+mn-ea"/>
                <a:cs typeface="+mn-cs"/>
              </a:rPr>
              <a:t>(Past Month)</a:t>
            </a:r>
            <a:endParaRPr lang="en-US" sz="1400">
              <a:solidFill>
                <a:schemeClr val="tx1"/>
              </a:solidFill>
              <a:latin typeface="Arial" panose="020B0604020202020204"/>
            </a:endParaRPr>
          </a:p>
        </p:txBody>
      </p:sp>
      <p:sp>
        <p:nvSpPr>
          <p:cNvPr id="17" name="TextBox 16">
            <a:extLst>
              <a:ext uri="{FF2B5EF4-FFF2-40B4-BE49-F238E27FC236}">
                <a16:creationId xmlns:a16="http://schemas.microsoft.com/office/drawing/2014/main" id="{FB53147C-8377-864A-7A1A-D5462BF80400}"/>
              </a:ext>
            </a:extLst>
          </p:cNvPr>
          <p:cNvSpPr txBox="1"/>
          <p:nvPr/>
        </p:nvSpPr>
        <p:spPr bwMode="gray">
          <a:xfrm>
            <a:off x="7918884" y="2341122"/>
            <a:ext cx="1507218" cy="447440"/>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a:r>
              <a:rPr lang="en-US" sz="1400" b="1">
                <a:solidFill>
                  <a:schemeClr val="tx1"/>
                </a:solidFill>
                <a:latin typeface="Arial" panose="020B0604020202020204"/>
              </a:rPr>
              <a:t>Future Share </a:t>
            </a:r>
          </a:p>
          <a:p>
            <a:pPr algn="ctr"/>
            <a:r>
              <a:rPr lang="en-US" sz="1100">
                <a:solidFill>
                  <a:schemeClr val="tx1"/>
                </a:solidFill>
                <a:latin typeface="Arial" panose="020B0604020202020204"/>
              </a:rPr>
              <a:t>(3 Months from Now)</a:t>
            </a:r>
          </a:p>
        </p:txBody>
      </p:sp>
      <p:sp>
        <p:nvSpPr>
          <p:cNvPr id="31" name="TextBox 30">
            <a:extLst>
              <a:ext uri="{FF2B5EF4-FFF2-40B4-BE49-F238E27FC236}">
                <a16:creationId xmlns:a16="http://schemas.microsoft.com/office/drawing/2014/main" id="{2B84488D-5FBE-114A-3388-7F4F99DBDF14}"/>
              </a:ext>
            </a:extLst>
          </p:cNvPr>
          <p:cNvSpPr txBox="1"/>
          <p:nvPr/>
        </p:nvSpPr>
        <p:spPr bwMode="gray">
          <a:xfrm>
            <a:off x="3925877" y="1562029"/>
            <a:ext cx="4337085" cy="780727"/>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i="0" u="none" strike="noStrike" kern="1200" cap="none" spc="0" normalizeH="0" baseline="0" noProof="0">
                <a:ln>
                  <a:noFill/>
                </a:ln>
                <a:solidFill>
                  <a:srgbClr val="0000C9"/>
                </a:solidFill>
                <a:effectLst/>
                <a:uLnTx/>
                <a:uFillTx/>
                <a:latin typeface="Arial" panose="020B0604020202020204"/>
                <a:ea typeface="+mn-ea"/>
                <a:cs typeface="+mn-cs"/>
              </a:rPr>
              <a:t>Recommendation for </a:t>
            </a:r>
            <a:r>
              <a:rPr lang="en-US">
                <a:solidFill>
                  <a:srgbClr val="0000C9"/>
                </a:solidFill>
                <a:latin typeface="Arial" panose="020B0604020202020204"/>
              </a:rPr>
              <a:t>Patients Eligible</a:t>
            </a:r>
            <a:r>
              <a:rPr kumimoji="0" lang="en-US" sz="1800" i="0" u="none" strike="noStrike" kern="1200" cap="none" spc="0" normalizeH="0" baseline="0" noProof="0">
                <a:ln>
                  <a:noFill/>
                </a:ln>
                <a:solidFill>
                  <a:srgbClr val="0000C9"/>
                </a:solidFill>
                <a:effectLst/>
                <a:uLnTx/>
                <a:uFillTx/>
                <a:latin typeface="Arial" panose="020B0604020202020204"/>
                <a:ea typeface="+mn-ea"/>
                <a:cs typeface="+mn-cs"/>
              </a:rPr>
              <a:t> for </a:t>
            </a:r>
            <a:br>
              <a:rPr kumimoji="0" lang="en-US" sz="1800" i="0" u="none" strike="noStrike" kern="1200" cap="none" spc="0" normalizeH="0" baseline="0" noProof="0">
                <a:ln>
                  <a:noFill/>
                </a:ln>
                <a:solidFill>
                  <a:srgbClr val="0000C9"/>
                </a:solidFill>
                <a:effectLst/>
                <a:uLnTx/>
                <a:uFillTx/>
                <a:latin typeface="Arial" panose="020B0604020202020204"/>
                <a:ea typeface="+mn-ea"/>
                <a:cs typeface="+mn-cs"/>
              </a:rPr>
            </a:br>
            <a:r>
              <a:rPr kumimoji="0" lang="en-US" sz="1800" b="1" i="0" u="sng" strike="noStrike" kern="1200" cap="none" spc="0" normalizeH="0" baseline="0" noProof="0">
                <a:ln>
                  <a:noFill/>
                </a:ln>
                <a:solidFill>
                  <a:srgbClr val="0000C9"/>
                </a:solidFill>
                <a:effectLst/>
                <a:uLnTx/>
                <a:uFillTx/>
                <a:latin typeface="Arial" panose="020B0604020202020204"/>
                <a:ea typeface="+mn-ea"/>
                <a:cs typeface="+mn-cs"/>
              </a:rPr>
              <a:t>MenACWY and MenB at the same visit</a:t>
            </a: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Mean % of Patients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2" name="Rectangle: Rounded Corners 1">
            <a:extLst>
              <a:ext uri="{FF2B5EF4-FFF2-40B4-BE49-F238E27FC236}">
                <a16:creationId xmlns:a16="http://schemas.microsoft.com/office/drawing/2014/main" id="{088C2FB5-A010-34BC-CEC5-2D218723BD7F}"/>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9" name="TextBox 8">
            <a:extLst>
              <a:ext uri="{FF2B5EF4-FFF2-40B4-BE49-F238E27FC236}">
                <a16:creationId xmlns:a16="http://schemas.microsoft.com/office/drawing/2014/main" id="{26461CA1-608F-BCAB-B38E-909E57CC15C5}"/>
              </a:ext>
            </a:extLst>
          </p:cNvPr>
          <p:cNvSpPr txBox="1"/>
          <p:nvPr/>
        </p:nvSpPr>
        <p:spPr bwMode="gray">
          <a:xfrm>
            <a:off x="884458" y="1310100"/>
            <a:ext cx="1337226"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C9"/>
                </a:solidFill>
                <a:effectLst/>
                <a:uLnTx/>
                <a:uFillTx/>
                <a:latin typeface="Arial" panose="020B0604020202020204"/>
                <a:ea typeface="+mn-ea"/>
                <a:cs typeface="+mn-cs"/>
              </a:rPr>
              <a:t>Current Stockers</a:t>
            </a:r>
          </a:p>
        </p:txBody>
      </p:sp>
      <p:grpSp>
        <p:nvGrpSpPr>
          <p:cNvPr id="11" name="Group 10">
            <a:extLst>
              <a:ext uri="{FF2B5EF4-FFF2-40B4-BE49-F238E27FC236}">
                <a16:creationId xmlns:a16="http://schemas.microsoft.com/office/drawing/2014/main" id="{DD3C8F11-0328-9661-BF59-C7B84E5A0342}"/>
              </a:ext>
            </a:extLst>
          </p:cNvPr>
          <p:cNvGrpSpPr/>
          <p:nvPr/>
        </p:nvGrpSpPr>
        <p:grpSpPr>
          <a:xfrm>
            <a:off x="1074958" y="1600796"/>
            <a:ext cx="650154" cy="289321"/>
            <a:chOff x="1686269" y="1600319"/>
            <a:chExt cx="650323" cy="289396"/>
          </a:xfrm>
        </p:grpSpPr>
        <p:cxnSp>
          <p:nvCxnSpPr>
            <p:cNvPr id="24" name="Straight Connector 23">
              <a:extLst>
                <a:ext uri="{FF2B5EF4-FFF2-40B4-BE49-F238E27FC236}">
                  <a16:creationId xmlns:a16="http://schemas.microsoft.com/office/drawing/2014/main" id="{D9E79005-8DEB-CD81-9BC4-CDE4EAF1AE44}"/>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5" name="TextBox 24">
              <a:extLst>
                <a:ext uri="{FF2B5EF4-FFF2-40B4-BE49-F238E27FC236}">
                  <a16:creationId xmlns:a16="http://schemas.microsoft.com/office/drawing/2014/main" id="{DCDEB729-48DB-F7CC-9C17-CEBB25729666}"/>
                </a:ext>
              </a:extLst>
            </p:cNvPr>
            <p:cNvSpPr txBox="1"/>
            <p:nvPr/>
          </p:nvSpPr>
          <p:spPr bwMode="gray">
            <a:xfrm>
              <a:off x="1686269" y="1600319"/>
              <a:ext cx="650323" cy="286282"/>
            </a:xfrm>
            <a:prstGeom prst="rect">
              <a:avLst/>
            </a:prstGeom>
          </p:spPr>
          <p:txBody>
            <a:bodyPr wrap="none" lIns="45708" tIns="45708" rIns="45708" bIns="45708"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p:txBody>
        </p:sp>
      </p:grpSp>
      <p:sp>
        <p:nvSpPr>
          <p:cNvPr id="28" name="TextBox 27">
            <a:extLst>
              <a:ext uri="{FF2B5EF4-FFF2-40B4-BE49-F238E27FC236}">
                <a16:creationId xmlns:a16="http://schemas.microsoft.com/office/drawing/2014/main" id="{BA131318-852B-54FB-183A-0D734E734A89}"/>
              </a:ext>
            </a:extLst>
          </p:cNvPr>
          <p:cNvSpPr txBox="1"/>
          <p:nvPr/>
        </p:nvSpPr>
        <p:spPr bwMode="gray">
          <a:xfrm>
            <a:off x="8411845" y="2778625"/>
            <a:ext cx="521297" cy="216982"/>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(n=34)</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22C8A9FD-FE91-CC26-BCC1-2B0ABC32B6DE}"/>
              </a:ext>
            </a:extLst>
          </p:cNvPr>
          <p:cNvSpPr txBox="1"/>
          <p:nvPr/>
        </p:nvSpPr>
        <p:spPr bwMode="gray">
          <a:xfrm>
            <a:off x="3219168" y="2778625"/>
            <a:ext cx="521297" cy="216982"/>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(n=3</a:t>
            </a:r>
            <a:r>
              <a:rPr lang="en-US" sz="900">
                <a:solidFill>
                  <a:srgbClr val="FFFFFF">
                    <a:lumMod val="50000"/>
                  </a:srgbClr>
                </a:solidFill>
                <a:latin typeface="Arial" panose="020B0604020202020204"/>
              </a:rPr>
              <a:t>1</a:t>
            </a: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989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22C2-E8AB-F8EB-38EB-A4870A81142F}"/>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060FF719-E057-6747-8538-9897A49F9B27}"/>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8" name="Group 7">
            <a:extLst>
              <a:ext uri="{FF2B5EF4-FFF2-40B4-BE49-F238E27FC236}">
                <a16:creationId xmlns:a16="http://schemas.microsoft.com/office/drawing/2014/main" id="{B2B5CA22-6907-B09E-316F-72D914EE28D0}"/>
              </a:ext>
            </a:extLst>
          </p:cNvPr>
          <p:cNvGrpSpPr/>
          <p:nvPr/>
        </p:nvGrpSpPr>
        <p:grpSpPr>
          <a:xfrm>
            <a:off x="1073723" y="1600319"/>
            <a:ext cx="650178" cy="539122"/>
            <a:chOff x="1686341" y="1600319"/>
            <a:chExt cx="650178" cy="539122"/>
          </a:xfrm>
        </p:grpSpPr>
        <p:cxnSp>
          <p:nvCxnSpPr>
            <p:cNvPr id="9" name="Straight Connector 8">
              <a:extLst>
                <a:ext uri="{FF2B5EF4-FFF2-40B4-BE49-F238E27FC236}">
                  <a16:creationId xmlns:a16="http://schemas.microsoft.com/office/drawing/2014/main" id="{3396517F-84B7-78F7-02AA-0F0A7554D734}"/>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0" name="TextBox 9">
              <a:extLst>
                <a:ext uri="{FF2B5EF4-FFF2-40B4-BE49-F238E27FC236}">
                  <a16:creationId xmlns:a16="http://schemas.microsoft.com/office/drawing/2014/main" id="{11103C31-F955-E716-8912-8AD9D37D4685}"/>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18" name="TextBox 17">
            <a:extLst>
              <a:ext uri="{FF2B5EF4-FFF2-40B4-BE49-F238E27FC236}">
                <a16:creationId xmlns:a16="http://schemas.microsoft.com/office/drawing/2014/main" id="{E35B1FB7-F7E8-1AED-E9E3-FB2D7F879C79}"/>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sp>
        <p:nvSpPr>
          <p:cNvPr id="5" name="Title 4">
            <a:extLst>
              <a:ext uri="{FF2B5EF4-FFF2-40B4-BE49-F238E27FC236}">
                <a16:creationId xmlns:a16="http://schemas.microsoft.com/office/drawing/2014/main" id="{C2042D6A-A2C2-7AFC-4149-B399F3B8CDEC}"/>
              </a:ext>
            </a:extLst>
          </p:cNvPr>
          <p:cNvSpPr>
            <a:spLocks noGrp="1"/>
          </p:cNvSpPr>
          <p:nvPr>
            <p:ph type="title"/>
          </p:nvPr>
        </p:nvSpPr>
        <p:spPr>
          <a:xfrm>
            <a:off x="1083755" y="170307"/>
            <a:ext cx="10794992" cy="682436"/>
          </a:xfrm>
        </p:spPr>
        <p:txBody>
          <a:bodyPr/>
          <a:lstStyle/>
          <a:p>
            <a:r>
              <a:rPr lang="en-US" dirty="0"/>
              <a:t>After review of the stimuli, half of HCPs continue to report moderate familiarity with </a:t>
            </a:r>
            <a:r>
              <a:rPr lang="en-US" dirty="0" err="1"/>
              <a:t>Penbraya’s</a:t>
            </a:r>
            <a:r>
              <a:rPr lang="en-US" dirty="0"/>
              <a:t> dosing schedule and ~two-thirds find the Trumenba requirement very clear</a:t>
            </a:r>
          </a:p>
        </p:txBody>
      </p:sp>
      <p:sp>
        <p:nvSpPr>
          <p:cNvPr id="13" name="Text Placeholder 12">
            <a:extLst>
              <a:ext uri="{FF2B5EF4-FFF2-40B4-BE49-F238E27FC236}">
                <a16:creationId xmlns:a16="http://schemas.microsoft.com/office/drawing/2014/main" id="{165261CF-2279-6DE2-80FE-7F5B085E6B74}"/>
              </a:ext>
            </a:extLst>
          </p:cNvPr>
          <p:cNvSpPr>
            <a:spLocks noGrp="1"/>
          </p:cNvSpPr>
          <p:nvPr>
            <p:ph type="body" sz="quarter" idx="16"/>
          </p:nvPr>
        </p:nvSpPr>
        <p:spPr>
          <a:xfrm>
            <a:off x="1571625" y="6139994"/>
            <a:ext cx="9239250" cy="605294"/>
          </a:xfrm>
        </p:spPr>
        <p:txBody>
          <a:bodyPr/>
          <a:lstStyle/>
          <a:p>
            <a:pPr marL="233363" lvl="0" indent="-233363">
              <a:defRPr/>
            </a:pP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marL="233363" lvl="0" indent="-233363">
              <a:defRPr/>
            </a:pPr>
            <a:r>
              <a:rPr lang="en-US" dirty="0"/>
              <a:t>P8. 	How familiar are you with the dosing schedule for Penbraya (Pfizer's 5-in-1 Pentavalent vaccine for </a:t>
            </a:r>
            <a:r>
              <a:rPr lang="en-US" dirty="0" err="1"/>
              <a:t>MenABCWY</a:t>
            </a:r>
            <a:r>
              <a:rPr lang="en-US" dirty="0"/>
              <a:t>)? (7-pt scale: 1=Not at all </a:t>
            </a:r>
            <a:r>
              <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familiar</a:t>
            </a:r>
            <a:r>
              <a:rPr lang="en-US" dirty="0"/>
              <a:t>, 7=Extremely </a:t>
            </a:r>
            <a:r>
              <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familiar</a:t>
            </a:r>
            <a:r>
              <a:rPr lang="en-US" dirty="0"/>
              <a:t>)</a:t>
            </a:r>
            <a:endParaRPr kumimoji="0" lang="en-US" sz="900" b="1"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a:p>
            <a:pPr marL="233363" indent="-233363">
              <a:defRPr/>
            </a:pPr>
            <a:r>
              <a:rPr lang="en-US" dirty="0"/>
              <a:t>P9.	How clear is it that when vaccinating against </a:t>
            </a:r>
            <a:r>
              <a:rPr lang="en-US" dirty="0" err="1"/>
              <a:t>MenABCWY</a:t>
            </a:r>
            <a:r>
              <a:rPr lang="en-US" dirty="0"/>
              <a:t> using Penbraya, Trumenba must be used 6 months later following Penbraya to complete the </a:t>
            </a:r>
            <a:r>
              <a:rPr lang="en-US" dirty="0" err="1"/>
              <a:t>MenB</a:t>
            </a:r>
            <a:r>
              <a:rPr lang="en-US" dirty="0"/>
              <a:t> series, as </a:t>
            </a:r>
            <a:r>
              <a:rPr lang="en-US" dirty="0" err="1"/>
              <a:t>MenB</a:t>
            </a:r>
            <a:r>
              <a:rPr lang="en-US" dirty="0"/>
              <a:t> vaccines are not interchangeable by manufacturer? (7-pt scale: 1=Not at all </a:t>
            </a:r>
            <a:r>
              <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clear</a:t>
            </a:r>
            <a:r>
              <a:rPr lang="en-US" dirty="0"/>
              <a:t>, 7=Extremely </a:t>
            </a:r>
            <a:r>
              <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clear</a:t>
            </a:r>
            <a:r>
              <a:rPr lang="en-US" dirty="0"/>
              <a:t>)</a:t>
            </a:r>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graphicFrame>
        <p:nvGraphicFramePr>
          <p:cNvPr id="12" name="Chart 11">
            <a:extLst>
              <a:ext uri="{FF2B5EF4-FFF2-40B4-BE49-F238E27FC236}">
                <a16:creationId xmlns:a16="http://schemas.microsoft.com/office/drawing/2014/main" id="{55A882B2-79EB-D7A3-6DF1-F66F6862EFC1}"/>
              </a:ext>
            </a:extLst>
          </p:cNvPr>
          <p:cNvGraphicFramePr/>
          <p:nvPr>
            <p:extLst>
              <p:ext uri="{D42A27DB-BD31-4B8C-83A1-F6EECF244321}">
                <p14:modId xmlns:p14="http://schemas.microsoft.com/office/powerpoint/2010/main" val="1533737834"/>
              </p:ext>
            </p:extLst>
          </p:nvPr>
        </p:nvGraphicFramePr>
        <p:xfrm>
          <a:off x="2400562" y="2814320"/>
          <a:ext cx="1945966" cy="3078480"/>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a:extLst>
              <a:ext uri="{FF2B5EF4-FFF2-40B4-BE49-F238E27FC236}">
                <a16:creationId xmlns:a16="http://schemas.microsoft.com/office/drawing/2014/main" id="{A13F4F23-2726-BB9F-77CD-17F95B97EBB5}"/>
              </a:ext>
            </a:extLst>
          </p:cNvPr>
          <p:cNvSpPr txBox="1"/>
          <p:nvPr/>
        </p:nvSpPr>
        <p:spPr bwMode="gray">
          <a:xfrm>
            <a:off x="3980528" y="1653469"/>
            <a:ext cx="4247226" cy="480131"/>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t>Penbraya Dosing Schedule</a:t>
            </a:r>
            <a:br>
              <a:rPr kumimoji="0" lang="en-US" sz="1800" b="1" i="0" u="none" strike="noStrike" kern="1200" cap="none" spc="0" normalizeH="0" baseline="0" noProof="0" dirty="0">
                <a:ln>
                  <a:noFill/>
                </a:ln>
                <a:solidFill>
                  <a:schemeClr val="bg1">
                    <a:lumMod val="50000"/>
                  </a:schemeClr>
                </a:solidFill>
                <a:effectLst/>
                <a:uLnTx/>
                <a:uFillTx/>
                <a:latin typeface="Arial" panose="020B0604020202020204"/>
                <a:ea typeface="+mn-ea"/>
                <a:cs typeface="+mn-cs"/>
              </a:rPr>
            </a:br>
            <a:r>
              <a:rPr kumimoji="0" lang="en-US" sz="1000" b="0" i="1" u="none" strike="noStrike" kern="1200" cap="none" spc="0" normalizeH="0" baseline="0" noProof="0" dirty="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graphicFrame>
        <p:nvGraphicFramePr>
          <p:cNvPr id="40" name="Chart 39">
            <a:extLst>
              <a:ext uri="{FF2B5EF4-FFF2-40B4-BE49-F238E27FC236}">
                <a16:creationId xmlns:a16="http://schemas.microsoft.com/office/drawing/2014/main" id="{7F5CDE9F-06A3-D0DC-E064-8C0783BD9737}"/>
              </a:ext>
            </a:extLst>
          </p:cNvPr>
          <p:cNvGraphicFramePr/>
          <p:nvPr>
            <p:extLst>
              <p:ext uri="{D42A27DB-BD31-4B8C-83A1-F6EECF244321}">
                <p14:modId xmlns:p14="http://schemas.microsoft.com/office/powerpoint/2010/main" val="2906577651"/>
              </p:ext>
            </p:extLst>
          </p:nvPr>
        </p:nvGraphicFramePr>
        <p:xfrm>
          <a:off x="7322773" y="2814320"/>
          <a:ext cx="1945966" cy="3078480"/>
        </p:xfrm>
        <a:graphic>
          <a:graphicData uri="http://schemas.openxmlformats.org/drawingml/2006/chart">
            <c:chart xmlns:c="http://schemas.openxmlformats.org/drawingml/2006/chart" xmlns:r="http://schemas.openxmlformats.org/officeDocument/2006/relationships" r:id="rId4"/>
          </a:graphicData>
        </a:graphic>
      </p:graphicFrame>
      <p:grpSp>
        <p:nvGrpSpPr>
          <p:cNvPr id="15" name="Group 14">
            <a:extLst>
              <a:ext uri="{FF2B5EF4-FFF2-40B4-BE49-F238E27FC236}">
                <a16:creationId xmlns:a16="http://schemas.microsoft.com/office/drawing/2014/main" id="{5E73E080-B44F-0107-A75B-AB7F7B46B729}"/>
              </a:ext>
            </a:extLst>
          </p:cNvPr>
          <p:cNvGrpSpPr/>
          <p:nvPr/>
        </p:nvGrpSpPr>
        <p:grpSpPr>
          <a:xfrm>
            <a:off x="3978259" y="3080866"/>
            <a:ext cx="1996021" cy="2116034"/>
            <a:chOff x="597388" y="2735426"/>
            <a:chExt cx="1996021" cy="2116034"/>
          </a:xfrm>
        </p:grpSpPr>
        <p:grpSp>
          <p:nvGrpSpPr>
            <p:cNvPr id="16" name="Group 15">
              <a:extLst>
                <a:ext uri="{FF2B5EF4-FFF2-40B4-BE49-F238E27FC236}">
                  <a16:creationId xmlns:a16="http://schemas.microsoft.com/office/drawing/2014/main" id="{FC8673D5-C16E-BE96-EB12-C22B6F26C061}"/>
                </a:ext>
              </a:extLst>
            </p:cNvPr>
            <p:cNvGrpSpPr/>
            <p:nvPr/>
          </p:nvGrpSpPr>
          <p:grpSpPr>
            <a:xfrm>
              <a:off x="597388" y="2735426"/>
              <a:ext cx="1996021" cy="286232"/>
              <a:chOff x="597388" y="3296603"/>
              <a:chExt cx="1996021" cy="286232"/>
            </a:xfrm>
          </p:grpSpPr>
          <p:sp>
            <p:nvSpPr>
              <p:cNvPr id="24" name="TextBox 23">
                <a:extLst>
                  <a:ext uri="{FF2B5EF4-FFF2-40B4-BE49-F238E27FC236}">
                    <a16:creationId xmlns:a16="http://schemas.microsoft.com/office/drawing/2014/main" id="{17793BFD-0DAE-B23E-0F8E-03C981821386}"/>
                  </a:ext>
                </a:extLst>
              </p:cNvPr>
              <p:cNvSpPr txBox="1"/>
              <p:nvPr/>
            </p:nvSpPr>
            <p:spPr bwMode="gray">
              <a:xfrm>
                <a:off x="849983" y="3296603"/>
                <a:ext cx="1743426" cy="286232"/>
              </a:xfrm>
              <a:prstGeom prst="rect">
                <a:avLst/>
              </a:prstGeom>
            </p:spPr>
            <p:txBody>
              <a:bodyPr wrap="none" lIns="45720" tIns="45720" rIns="45720" bIns="45720" rtlCol="0" anchor="ctr" anchorCtr="0">
                <a:spAutoFit/>
              </a:bodyPr>
              <a:lstStyle/>
              <a:p>
                <a:pPr>
                  <a:lnSpc>
                    <a:spcPct val="90000"/>
                  </a:lnSpc>
                </a:pPr>
                <a:r>
                  <a:rPr lang="en-US" sz="1400"/>
                  <a:t>High Familiarity (6,7)</a:t>
                </a:r>
              </a:p>
            </p:txBody>
          </p:sp>
          <p:sp>
            <p:nvSpPr>
              <p:cNvPr id="25" name="Oval 24">
                <a:extLst>
                  <a:ext uri="{FF2B5EF4-FFF2-40B4-BE49-F238E27FC236}">
                    <a16:creationId xmlns:a16="http://schemas.microsoft.com/office/drawing/2014/main" id="{4ED3DD04-2C3E-ADBE-E1E1-24E7A8F21BA6}"/>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17" name="Group 16">
              <a:extLst>
                <a:ext uri="{FF2B5EF4-FFF2-40B4-BE49-F238E27FC236}">
                  <a16:creationId xmlns:a16="http://schemas.microsoft.com/office/drawing/2014/main" id="{58D65C18-DCE7-5CB7-EF16-F0C85C40724C}"/>
                </a:ext>
              </a:extLst>
            </p:cNvPr>
            <p:cNvGrpSpPr/>
            <p:nvPr/>
          </p:nvGrpSpPr>
          <p:grpSpPr>
            <a:xfrm>
              <a:off x="597388" y="3650327"/>
              <a:ext cx="1526342" cy="286232"/>
              <a:chOff x="597388" y="4244215"/>
              <a:chExt cx="1526342" cy="286232"/>
            </a:xfrm>
          </p:grpSpPr>
          <p:sp>
            <p:nvSpPr>
              <p:cNvPr id="22" name="Oval 21">
                <a:extLst>
                  <a:ext uri="{FF2B5EF4-FFF2-40B4-BE49-F238E27FC236}">
                    <a16:creationId xmlns:a16="http://schemas.microsoft.com/office/drawing/2014/main" id="{FA6BE03D-1153-2ABC-2BC8-61E983AAAB18}"/>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23" name="TextBox 22">
                <a:extLst>
                  <a:ext uri="{FF2B5EF4-FFF2-40B4-BE49-F238E27FC236}">
                    <a16:creationId xmlns:a16="http://schemas.microsoft.com/office/drawing/2014/main" id="{07E42AA2-CDC7-73B0-48B2-AA78E32905DB}"/>
                  </a:ext>
                </a:extLst>
              </p:cNvPr>
              <p:cNvSpPr txBox="1"/>
              <p:nvPr/>
            </p:nvSpPr>
            <p:spPr bwMode="gray">
              <a:xfrm>
                <a:off x="849983" y="4244215"/>
                <a:ext cx="1273747" cy="286232"/>
              </a:xfrm>
              <a:prstGeom prst="rect">
                <a:avLst/>
              </a:prstGeom>
            </p:spPr>
            <p:txBody>
              <a:bodyPr wrap="none" lIns="45720" tIns="45720" rIns="45720" bIns="45720" rtlCol="0" anchor="ctr" anchorCtr="0">
                <a:spAutoFit/>
              </a:bodyPr>
              <a:lstStyle/>
              <a:p>
                <a:pPr>
                  <a:lnSpc>
                    <a:spcPct val="90000"/>
                  </a:lnSpc>
                </a:pPr>
                <a:r>
                  <a:rPr lang="en-US" sz="1400"/>
                  <a:t>Moderate (3-5)</a:t>
                </a:r>
              </a:p>
            </p:txBody>
          </p:sp>
        </p:grpSp>
        <p:grpSp>
          <p:nvGrpSpPr>
            <p:cNvPr id="19" name="Group 18">
              <a:extLst>
                <a:ext uri="{FF2B5EF4-FFF2-40B4-BE49-F238E27FC236}">
                  <a16:creationId xmlns:a16="http://schemas.microsoft.com/office/drawing/2014/main" id="{208F0D23-959D-DC2D-2CD8-19228426C0E9}"/>
                </a:ext>
              </a:extLst>
            </p:cNvPr>
            <p:cNvGrpSpPr/>
            <p:nvPr/>
          </p:nvGrpSpPr>
          <p:grpSpPr>
            <a:xfrm>
              <a:off x="597388" y="4565228"/>
              <a:ext cx="1955946" cy="286232"/>
              <a:chOff x="597388" y="4818147"/>
              <a:chExt cx="1955946" cy="286232"/>
            </a:xfrm>
          </p:grpSpPr>
          <p:sp>
            <p:nvSpPr>
              <p:cNvPr id="20" name="Oval 19">
                <a:extLst>
                  <a:ext uri="{FF2B5EF4-FFF2-40B4-BE49-F238E27FC236}">
                    <a16:creationId xmlns:a16="http://schemas.microsoft.com/office/drawing/2014/main" id="{EF4E647E-5093-B308-C19A-BE688EFC9E1C}"/>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21" name="TextBox 20">
                <a:extLst>
                  <a:ext uri="{FF2B5EF4-FFF2-40B4-BE49-F238E27FC236}">
                    <a16:creationId xmlns:a16="http://schemas.microsoft.com/office/drawing/2014/main" id="{97E078BE-3F7C-698A-CBC7-3EA8B522D97C}"/>
                  </a:ext>
                </a:extLst>
              </p:cNvPr>
              <p:cNvSpPr txBox="1"/>
              <p:nvPr/>
            </p:nvSpPr>
            <p:spPr bwMode="gray">
              <a:xfrm>
                <a:off x="849983" y="4818147"/>
                <a:ext cx="1703351" cy="286232"/>
              </a:xfrm>
              <a:prstGeom prst="rect">
                <a:avLst/>
              </a:prstGeom>
            </p:spPr>
            <p:txBody>
              <a:bodyPr wrap="none" lIns="45720" tIns="45720" rIns="45720" bIns="45720" rtlCol="0" anchor="ctr" anchorCtr="0">
                <a:spAutoFit/>
              </a:bodyPr>
              <a:lstStyle/>
              <a:p>
                <a:pPr>
                  <a:lnSpc>
                    <a:spcPct val="90000"/>
                  </a:lnSpc>
                </a:pPr>
                <a:r>
                  <a:rPr lang="en-US" sz="1400"/>
                  <a:t>Low Familiarity (1,2)</a:t>
                </a:r>
              </a:p>
            </p:txBody>
          </p:sp>
        </p:grpSp>
      </p:grpSp>
      <p:grpSp>
        <p:nvGrpSpPr>
          <p:cNvPr id="29" name="Group 28">
            <a:extLst>
              <a:ext uri="{FF2B5EF4-FFF2-40B4-BE49-F238E27FC236}">
                <a16:creationId xmlns:a16="http://schemas.microsoft.com/office/drawing/2014/main" id="{9EEED446-1D32-DD71-208A-262DE5CCB6D4}"/>
              </a:ext>
            </a:extLst>
          </p:cNvPr>
          <p:cNvGrpSpPr/>
          <p:nvPr/>
        </p:nvGrpSpPr>
        <p:grpSpPr>
          <a:xfrm>
            <a:off x="8900470" y="3080866"/>
            <a:ext cx="1688244" cy="2116034"/>
            <a:chOff x="597388" y="2735426"/>
            <a:chExt cx="1688244" cy="2116034"/>
          </a:xfrm>
        </p:grpSpPr>
        <p:grpSp>
          <p:nvGrpSpPr>
            <p:cNvPr id="31" name="Group 30">
              <a:extLst>
                <a:ext uri="{FF2B5EF4-FFF2-40B4-BE49-F238E27FC236}">
                  <a16:creationId xmlns:a16="http://schemas.microsoft.com/office/drawing/2014/main" id="{FF57C3A0-AD44-4F00-1986-CFB3A59C1B34}"/>
                </a:ext>
              </a:extLst>
            </p:cNvPr>
            <p:cNvGrpSpPr/>
            <p:nvPr/>
          </p:nvGrpSpPr>
          <p:grpSpPr>
            <a:xfrm>
              <a:off x="597388" y="2735426"/>
              <a:ext cx="1688244" cy="286232"/>
              <a:chOff x="597388" y="3296603"/>
              <a:chExt cx="1688244" cy="286232"/>
            </a:xfrm>
          </p:grpSpPr>
          <p:sp>
            <p:nvSpPr>
              <p:cNvPr id="38" name="TextBox 37">
                <a:extLst>
                  <a:ext uri="{FF2B5EF4-FFF2-40B4-BE49-F238E27FC236}">
                    <a16:creationId xmlns:a16="http://schemas.microsoft.com/office/drawing/2014/main" id="{8EEEF4E9-6B16-3BC6-F03C-4D9A599BA62B}"/>
                  </a:ext>
                </a:extLst>
              </p:cNvPr>
              <p:cNvSpPr txBox="1"/>
              <p:nvPr/>
            </p:nvSpPr>
            <p:spPr bwMode="gray">
              <a:xfrm>
                <a:off x="849983" y="3296603"/>
                <a:ext cx="1435649" cy="286232"/>
              </a:xfrm>
              <a:prstGeom prst="rect">
                <a:avLst/>
              </a:prstGeom>
            </p:spPr>
            <p:txBody>
              <a:bodyPr wrap="none" lIns="45720" tIns="45720" rIns="45720" bIns="45720" rtlCol="0" anchor="ctr" anchorCtr="0">
                <a:spAutoFit/>
              </a:bodyPr>
              <a:lstStyle/>
              <a:p>
                <a:pPr>
                  <a:lnSpc>
                    <a:spcPct val="90000"/>
                  </a:lnSpc>
                </a:pPr>
                <a:r>
                  <a:rPr lang="en-US" sz="1400"/>
                  <a:t>High Clarity (6,7)</a:t>
                </a:r>
              </a:p>
            </p:txBody>
          </p:sp>
          <p:sp>
            <p:nvSpPr>
              <p:cNvPr id="39" name="Oval 38">
                <a:extLst>
                  <a:ext uri="{FF2B5EF4-FFF2-40B4-BE49-F238E27FC236}">
                    <a16:creationId xmlns:a16="http://schemas.microsoft.com/office/drawing/2014/main" id="{BDCC2107-63D0-56B1-24ED-4F24654E0F71}"/>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32" name="Group 31">
              <a:extLst>
                <a:ext uri="{FF2B5EF4-FFF2-40B4-BE49-F238E27FC236}">
                  <a16:creationId xmlns:a16="http://schemas.microsoft.com/office/drawing/2014/main" id="{D97C3AF8-5F93-076F-E610-0F99ACAD30FD}"/>
                </a:ext>
              </a:extLst>
            </p:cNvPr>
            <p:cNvGrpSpPr/>
            <p:nvPr/>
          </p:nvGrpSpPr>
          <p:grpSpPr>
            <a:xfrm>
              <a:off x="597388" y="3650327"/>
              <a:ext cx="1526342" cy="286232"/>
              <a:chOff x="597388" y="4244215"/>
              <a:chExt cx="1526342" cy="286232"/>
            </a:xfrm>
          </p:grpSpPr>
          <p:sp>
            <p:nvSpPr>
              <p:cNvPr id="36" name="Oval 35">
                <a:extLst>
                  <a:ext uri="{FF2B5EF4-FFF2-40B4-BE49-F238E27FC236}">
                    <a16:creationId xmlns:a16="http://schemas.microsoft.com/office/drawing/2014/main" id="{FF132EEE-DD14-AA1D-C6DF-83D140DC99F1}"/>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37" name="TextBox 36">
                <a:extLst>
                  <a:ext uri="{FF2B5EF4-FFF2-40B4-BE49-F238E27FC236}">
                    <a16:creationId xmlns:a16="http://schemas.microsoft.com/office/drawing/2014/main" id="{6E3E5D88-FC07-A5FD-C1D3-91CE4E50A9AB}"/>
                  </a:ext>
                </a:extLst>
              </p:cNvPr>
              <p:cNvSpPr txBox="1"/>
              <p:nvPr/>
            </p:nvSpPr>
            <p:spPr bwMode="gray">
              <a:xfrm>
                <a:off x="849983" y="4244215"/>
                <a:ext cx="1273747" cy="286232"/>
              </a:xfrm>
              <a:prstGeom prst="rect">
                <a:avLst/>
              </a:prstGeom>
            </p:spPr>
            <p:txBody>
              <a:bodyPr wrap="none" lIns="45720" tIns="45720" rIns="45720" bIns="45720" rtlCol="0" anchor="ctr" anchorCtr="0">
                <a:spAutoFit/>
              </a:bodyPr>
              <a:lstStyle/>
              <a:p>
                <a:pPr>
                  <a:lnSpc>
                    <a:spcPct val="90000"/>
                  </a:lnSpc>
                </a:pPr>
                <a:r>
                  <a:rPr lang="en-US" sz="1400"/>
                  <a:t>Moderate (3-5)</a:t>
                </a:r>
              </a:p>
            </p:txBody>
          </p:sp>
        </p:grpSp>
        <p:grpSp>
          <p:nvGrpSpPr>
            <p:cNvPr id="33" name="Group 32">
              <a:extLst>
                <a:ext uri="{FF2B5EF4-FFF2-40B4-BE49-F238E27FC236}">
                  <a16:creationId xmlns:a16="http://schemas.microsoft.com/office/drawing/2014/main" id="{099EAF19-B02A-A1D6-87C3-7EC5E8A4A5A7}"/>
                </a:ext>
              </a:extLst>
            </p:cNvPr>
            <p:cNvGrpSpPr/>
            <p:nvPr/>
          </p:nvGrpSpPr>
          <p:grpSpPr>
            <a:xfrm>
              <a:off x="597388" y="4565228"/>
              <a:ext cx="1648170" cy="286232"/>
              <a:chOff x="597388" y="4818147"/>
              <a:chExt cx="1648170" cy="286232"/>
            </a:xfrm>
          </p:grpSpPr>
          <p:sp>
            <p:nvSpPr>
              <p:cNvPr id="34" name="Oval 33">
                <a:extLst>
                  <a:ext uri="{FF2B5EF4-FFF2-40B4-BE49-F238E27FC236}">
                    <a16:creationId xmlns:a16="http://schemas.microsoft.com/office/drawing/2014/main" id="{02FAC2C1-0C33-5F75-5DB3-3CCA9D7F56AF}"/>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35" name="TextBox 34">
                <a:extLst>
                  <a:ext uri="{FF2B5EF4-FFF2-40B4-BE49-F238E27FC236}">
                    <a16:creationId xmlns:a16="http://schemas.microsoft.com/office/drawing/2014/main" id="{5998975F-5E8A-5A3F-5495-F06A24AAF574}"/>
                  </a:ext>
                </a:extLst>
              </p:cNvPr>
              <p:cNvSpPr txBox="1"/>
              <p:nvPr/>
            </p:nvSpPr>
            <p:spPr bwMode="gray">
              <a:xfrm>
                <a:off x="849983" y="4818147"/>
                <a:ext cx="1395575" cy="286232"/>
              </a:xfrm>
              <a:prstGeom prst="rect">
                <a:avLst/>
              </a:prstGeom>
            </p:spPr>
            <p:txBody>
              <a:bodyPr wrap="none" lIns="45720" tIns="45720" rIns="45720" bIns="45720" rtlCol="0" anchor="ctr" anchorCtr="0">
                <a:spAutoFit/>
              </a:bodyPr>
              <a:lstStyle/>
              <a:p>
                <a:pPr>
                  <a:lnSpc>
                    <a:spcPct val="90000"/>
                  </a:lnSpc>
                </a:pPr>
                <a:r>
                  <a:rPr lang="en-US" sz="1400"/>
                  <a:t>Low Clarity (1,2)</a:t>
                </a:r>
              </a:p>
            </p:txBody>
          </p:sp>
        </p:grpSp>
      </p:grpSp>
      <p:sp>
        <p:nvSpPr>
          <p:cNvPr id="44" name="TextBox 43">
            <a:extLst>
              <a:ext uri="{FF2B5EF4-FFF2-40B4-BE49-F238E27FC236}">
                <a16:creationId xmlns:a16="http://schemas.microsoft.com/office/drawing/2014/main" id="{014C7EC6-278C-2E6C-6BA9-39401B86DD77}"/>
              </a:ext>
            </a:extLst>
          </p:cNvPr>
          <p:cNvSpPr txBox="1"/>
          <p:nvPr/>
        </p:nvSpPr>
        <p:spPr bwMode="gray">
          <a:xfrm>
            <a:off x="2643760" y="2308489"/>
            <a:ext cx="1514173" cy="531403"/>
          </a:xfrm>
          <a:prstGeom prst="rect">
            <a:avLst/>
          </a:prstGeom>
        </p:spPr>
        <p:txBody>
          <a:bodyPr wrap="none" lIns="45708" tIns="45708" rIns="45708" bIns="45708" rtlCol="0" anchor="b">
            <a:spAutoFit/>
          </a:bodyPr>
          <a:lstStyle/>
          <a:p>
            <a:pPr marL="0" marR="0" lvl="0" indent="0" algn="ctr" defTabSz="914126" rtl="0" eaLnBrk="1" fontAlgn="auto" latinLnBrk="0" hangingPunct="1">
              <a:lnSpc>
                <a:spcPct val="90000"/>
              </a:lnSpc>
              <a:spcBef>
                <a:spcPts val="0"/>
              </a:spcBef>
              <a:spcAft>
                <a:spcPts val="400"/>
              </a:spcAft>
              <a:buClrTx/>
              <a:buSzTx/>
              <a:buFontTx/>
              <a:buNone/>
              <a:tabLst/>
              <a:defRPr/>
            </a:pPr>
            <a:r>
              <a:rPr kumimoji="0" lang="en-US" sz="1600" b="1" i="0" u="sng" strike="noStrike" kern="1200" cap="none" spc="0" normalizeH="0" baseline="0" noProof="0">
                <a:ln>
                  <a:noFill/>
                </a:ln>
                <a:solidFill>
                  <a:srgbClr val="000000"/>
                </a:solidFill>
                <a:effectLst/>
                <a:uLnTx/>
                <a:uFillTx/>
                <a:latin typeface="Arial" panose="020B0604020202020204"/>
                <a:ea typeface="+mn-ea"/>
                <a:cs typeface="+mn-cs"/>
              </a:rPr>
              <a:t>Familiarity</a:t>
            </a:r>
          </a:p>
          <a:p>
            <a:pPr marL="0" marR="0" lvl="0" indent="0" algn="ctr" defTabSz="914126" rtl="0" eaLnBrk="1" fontAlgn="auto" latinLnBrk="0" hangingPunct="1">
              <a:lnSpc>
                <a:spcPct val="90000"/>
              </a:lnSpc>
              <a:spcBef>
                <a:spcPts val="0"/>
              </a:spcBef>
              <a:spcAft>
                <a:spcPts val="400"/>
              </a:spcAft>
              <a:buClrTx/>
              <a:buSzTx/>
              <a:buFontTx/>
              <a:buNone/>
              <a:tabLst/>
              <a:defRPr/>
            </a:pPr>
            <a:r>
              <a:rPr lang="en-US" sz="1200">
                <a:solidFill>
                  <a:srgbClr val="000000"/>
                </a:solidFill>
                <a:latin typeface="Arial" panose="020B0604020202020204"/>
              </a:rPr>
              <a:t>with dosing schedule</a:t>
            </a:r>
            <a:endParaRPr kumimoji="0" lang="en-US" sz="1200"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5" name="TextBox 44">
            <a:extLst>
              <a:ext uri="{FF2B5EF4-FFF2-40B4-BE49-F238E27FC236}">
                <a16:creationId xmlns:a16="http://schemas.microsoft.com/office/drawing/2014/main" id="{BADA9B1E-51B1-11C8-C83C-893A0CC53BA4}"/>
              </a:ext>
            </a:extLst>
          </p:cNvPr>
          <p:cNvSpPr txBox="1"/>
          <p:nvPr/>
        </p:nvSpPr>
        <p:spPr bwMode="gray">
          <a:xfrm>
            <a:off x="7369332" y="2308489"/>
            <a:ext cx="1850354" cy="531403"/>
          </a:xfrm>
          <a:prstGeom prst="rect">
            <a:avLst/>
          </a:prstGeom>
          <a:ln>
            <a:noFill/>
          </a:ln>
        </p:spPr>
        <p:txBody>
          <a:bodyPr wrap="none" lIns="45708" tIns="45708" rIns="45708" bIns="45708" rtlCol="0" anchor="b">
            <a:spAutoFit/>
          </a:bodyPr>
          <a:lstStyle/>
          <a:p>
            <a:pPr marL="0" marR="0" lvl="0" indent="0" algn="ctr" defTabSz="914126" rtl="0" eaLnBrk="1" fontAlgn="auto" latinLnBrk="0" hangingPunct="1">
              <a:lnSpc>
                <a:spcPct val="90000"/>
              </a:lnSpc>
              <a:spcBef>
                <a:spcPts val="0"/>
              </a:spcBef>
              <a:spcAft>
                <a:spcPts val="400"/>
              </a:spcAft>
              <a:buClrTx/>
              <a:buSzTx/>
              <a:buFontTx/>
              <a:buNone/>
              <a:tabLst/>
              <a:defRPr/>
            </a:pPr>
            <a:r>
              <a:rPr kumimoji="0" lang="en-US" sz="1600" b="1" i="0" u="sng" strike="noStrike" kern="1200" cap="none" spc="0" normalizeH="0" baseline="0" noProof="0" dirty="0">
                <a:ln>
                  <a:noFill/>
                </a:ln>
                <a:solidFill>
                  <a:srgbClr val="000000"/>
                </a:solidFill>
                <a:effectLst/>
                <a:uLnTx/>
                <a:uFillTx/>
                <a:latin typeface="Arial" panose="020B0604020202020204"/>
                <a:ea typeface="+mn-ea"/>
                <a:cs typeface="+mn-cs"/>
              </a:rPr>
              <a:t>Clarity</a:t>
            </a:r>
          </a:p>
          <a:p>
            <a:pPr algn="ctr" defTabSz="914126">
              <a:lnSpc>
                <a:spcPct val="90000"/>
              </a:lnSpc>
              <a:spcAft>
                <a:spcPts val="400"/>
              </a:spcAft>
              <a:defRPr/>
            </a:pPr>
            <a:r>
              <a:rPr lang="en-US" sz="1200" dirty="0">
                <a:solidFill>
                  <a:srgbClr val="000000"/>
                </a:solidFill>
                <a:latin typeface="Arial" panose="020B0604020202020204"/>
              </a:rPr>
              <a:t>of Trumenba requirement</a:t>
            </a:r>
            <a:endParaRPr kumimoji="0" lang="en-US" sz="1200"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14483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C5FD8D8-F953-D656-3554-CA9C5D0910CA}"/>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3" name="Group 2">
            <a:extLst>
              <a:ext uri="{FF2B5EF4-FFF2-40B4-BE49-F238E27FC236}">
                <a16:creationId xmlns:a16="http://schemas.microsoft.com/office/drawing/2014/main" id="{7884D3B8-6216-8854-D794-7A8A898E24D1}"/>
              </a:ext>
            </a:extLst>
          </p:cNvPr>
          <p:cNvGrpSpPr/>
          <p:nvPr/>
        </p:nvGrpSpPr>
        <p:grpSpPr>
          <a:xfrm>
            <a:off x="1073723" y="1600319"/>
            <a:ext cx="650178" cy="539122"/>
            <a:chOff x="1686341" y="1600319"/>
            <a:chExt cx="650178" cy="539122"/>
          </a:xfrm>
        </p:grpSpPr>
        <p:cxnSp>
          <p:nvCxnSpPr>
            <p:cNvPr id="4" name="Straight Connector 3">
              <a:extLst>
                <a:ext uri="{FF2B5EF4-FFF2-40B4-BE49-F238E27FC236}">
                  <a16:creationId xmlns:a16="http://schemas.microsoft.com/office/drawing/2014/main" id="{FF7F12C0-DBBE-3F33-F06A-BF117FC356A5}"/>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6" name="TextBox 5">
              <a:extLst>
                <a:ext uri="{FF2B5EF4-FFF2-40B4-BE49-F238E27FC236}">
                  <a16:creationId xmlns:a16="http://schemas.microsoft.com/office/drawing/2014/main" id="{4FD98D5B-5E97-9122-F2E9-61BF20A9A5C7}"/>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5" name="Title 4">
            <a:extLst>
              <a:ext uri="{FF2B5EF4-FFF2-40B4-BE49-F238E27FC236}">
                <a16:creationId xmlns:a16="http://schemas.microsoft.com/office/drawing/2014/main" id="{5BF2E870-8632-B483-A0D0-33F3DB2E6A41}"/>
              </a:ext>
            </a:extLst>
          </p:cNvPr>
          <p:cNvSpPr>
            <a:spLocks noGrp="1"/>
          </p:cNvSpPr>
          <p:nvPr>
            <p:ph type="title"/>
          </p:nvPr>
        </p:nvSpPr>
        <p:spPr>
          <a:xfrm>
            <a:off x="1142123" y="170307"/>
            <a:ext cx="10411702" cy="850392"/>
          </a:xfrm>
        </p:spPr>
        <p:txBody>
          <a:bodyPr/>
          <a:lstStyle/>
          <a:p>
            <a:r>
              <a:rPr lang="en-US"/>
              <a:t>6-in-10 HCPs continue to prefer Penbraya’s needle-free kit over standard reconstitution, while a third have no preference</a:t>
            </a:r>
          </a:p>
        </p:txBody>
      </p:sp>
      <p:sp>
        <p:nvSpPr>
          <p:cNvPr id="11" name="Text Placeholder 2">
            <a:extLst>
              <a:ext uri="{FF2B5EF4-FFF2-40B4-BE49-F238E27FC236}">
                <a16:creationId xmlns:a16="http://schemas.microsoft.com/office/drawing/2014/main" id="{A259A2E3-400F-F171-D0A7-FC5D0D7F00D1}"/>
              </a:ext>
            </a:extLst>
          </p:cNvPr>
          <p:cNvSpPr>
            <a:spLocks noGrp="1"/>
          </p:cNvSpPr>
          <p:nvPr>
            <p:ph type="body" sz="quarter" idx="16"/>
          </p:nvPr>
        </p:nvSpPr>
        <p:spPr>
          <a:xfrm>
            <a:off x="1571625" y="6474575"/>
            <a:ext cx="9949815" cy="330347"/>
          </a:xfrm>
        </p:spPr>
        <p:txBody>
          <a:bodyPr wrap="square"/>
          <a:lstStyle/>
          <a:p>
            <a:pPr marL="0" indent="0" defTabSz="913304">
              <a:buClr>
                <a:srgbClr val="E7E6E6"/>
              </a:buClr>
              <a:buSzPct val="85000"/>
              <a:defRPr/>
            </a:pPr>
            <a:r>
              <a:rPr lang="en-US" altLang="en-US" sz="900">
                <a:solidFill>
                  <a:srgbClr val="FF0000"/>
                </a:solidFill>
                <a:cs typeface="Arial" panose="020B0604020202020204" pitchFamily="34" charset="0"/>
                <a:sym typeface="Symbol" pitchFamily="18" charset="2"/>
              </a:rPr>
              <a:t></a:t>
            </a:r>
            <a:r>
              <a:rPr lang="en-US" altLang="en-US" sz="900">
                <a:cs typeface="Arial" panose="020B0604020202020204" pitchFamily="34" charset="0"/>
                <a:sym typeface="Symbol" pitchFamily="18" charset="2"/>
              </a:rPr>
              <a:t>/</a:t>
            </a:r>
            <a:r>
              <a:rPr lang="en-US" altLang="en-US" sz="900">
                <a:solidFill>
                  <a:srgbClr val="FF0000"/>
                </a:solidFill>
                <a:cs typeface="Arial" panose="020B0604020202020204" pitchFamily="34" charset="0"/>
                <a:sym typeface="Symbol" pitchFamily="18" charset="2"/>
              </a:rPr>
              <a:t></a:t>
            </a:r>
            <a:r>
              <a:rPr lang="en-US" altLang="en-US" sz="900">
                <a:cs typeface="Arial" panose="020B0604020202020204" pitchFamily="34" charset="0"/>
              </a:rPr>
              <a:t> </a:t>
            </a:r>
            <a:r>
              <a:rPr lang="en-US" sz="900">
                <a:cs typeface="Arial" panose="020B0604020202020204" pitchFamily="34" charset="0"/>
              </a:rPr>
              <a:t>= </a:t>
            </a:r>
            <a:r>
              <a:rPr lang="en-US" sz="900">
                <a:solidFill>
                  <a:schemeClr val="tx1">
                    <a:lumMod val="50000"/>
                    <a:lumOff val="50000"/>
                  </a:schemeClr>
                </a:solidFill>
                <a:cs typeface="Arial" panose="020B0604020202020204" pitchFamily="34" charset="0"/>
              </a:rPr>
              <a:t>Significantly higher/lower vs. prior wave</a:t>
            </a:r>
          </a:p>
          <a:p>
            <a:r>
              <a:rPr lang="en-US"/>
              <a:t>P17. Which of the following best describes your preference for reconstitution? (5-pt scale: 1=Much prefer standard reconstitution, 5=Much prefer all-in-one kit for needle-free reconstitution)</a:t>
            </a:r>
          </a:p>
        </p:txBody>
      </p:sp>
      <p:graphicFrame>
        <p:nvGraphicFramePr>
          <p:cNvPr id="12" name="Chart 11">
            <a:extLst>
              <a:ext uri="{FF2B5EF4-FFF2-40B4-BE49-F238E27FC236}">
                <a16:creationId xmlns:a16="http://schemas.microsoft.com/office/drawing/2014/main" id="{6BB74BA7-5308-080C-3D2C-CFC5A7034E3D}"/>
              </a:ext>
            </a:extLst>
          </p:cNvPr>
          <p:cNvGraphicFramePr/>
          <p:nvPr>
            <p:extLst>
              <p:ext uri="{D42A27DB-BD31-4B8C-83A1-F6EECF244321}">
                <p14:modId xmlns:p14="http://schemas.microsoft.com/office/powerpoint/2010/main" val="1884715655"/>
              </p:ext>
            </p:extLst>
          </p:nvPr>
        </p:nvGraphicFramePr>
        <p:xfrm>
          <a:off x="3868859" y="2617965"/>
          <a:ext cx="2102236" cy="30784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EAD8D3B4-C59B-8B25-2AD5-257330314BE6}"/>
              </a:ext>
            </a:extLst>
          </p:cNvPr>
          <p:cNvSpPr txBox="1"/>
          <p:nvPr/>
        </p:nvSpPr>
        <p:spPr bwMode="gray">
          <a:xfrm>
            <a:off x="3581539" y="1653469"/>
            <a:ext cx="5025748" cy="480131"/>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Vaccine Reconstitution Preference</a:t>
            </a:r>
            <a:br>
              <a:rPr kumimoji="0" lang="en-US" sz="1800" b="1" i="0" u="none" strike="noStrike" kern="1200" cap="none" spc="0" normalizeH="0" baseline="0" noProof="0">
                <a:ln>
                  <a:noFill/>
                </a:ln>
                <a:solidFill>
                  <a:schemeClr val="bg1">
                    <a:lumMod val="50000"/>
                  </a:schemeClr>
                </a:solidFill>
                <a:effectLst/>
                <a:uLnTx/>
                <a:uFillTx/>
                <a:latin typeface="Arial" panose="020B0604020202020204"/>
                <a:ea typeface="+mn-ea"/>
                <a:cs typeface="+mn-cs"/>
              </a:rPr>
            </a:b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nvGrpSpPr>
          <p:cNvPr id="26" name="Group 25">
            <a:extLst>
              <a:ext uri="{FF2B5EF4-FFF2-40B4-BE49-F238E27FC236}">
                <a16:creationId xmlns:a16="http://schemas.microsoft.com/office/drawing/2014/main" id="{7A90CC9C-30DB-6016-D814-A8E799FC7917}"/>
              </a:ext>
            </a:extLst>
          </p:cNvPr>
          <p:cNvGrpSpPr/>
          <p:nvPr/>
        </p:nvGrpSpPr>
        <p:grpSpPr>
          <a:xfrm>
            <a:off x="5965800" y="2908146"/>
            <a:ext cx="3374540" cy="2116034"/>
            <a:chOff x="597388" y="2735426"/>
            <a:chExt cx="3374540" cy="2116034"/>
          </a:xfrm>
        </p:grpSpPr>
        <p:grpSp>
          <p:nvGrpSpPr>
            <p:cNvPr id="27" name="Group 26">
              <a:extLst>
                <a:ext uri="{FF2B5EF4-FFF2-40B4-BE49-F238E27FC236}">
                  <a16:creationId xmlns:a16="http://schemas.microsoft.com/office/drawing/2014/main" id="{CD3ED513-E0E9-21B5-8BAE-BF229EE30368}"/>
                </a:ext>
              </a:extLst>
            </p:cNvPr>
            <p:cNvGrpSpPr/>
            <p:nvPr/>
          </p:nvGrpSpPr>
          <p:grpSpPr>
            <a:xfrm>
              <a:off x="597388" y="2735426"/>
              <a:ext cx="3374540" cy="286232"/>
              <a:chOff x="597388" y="3296603"/>
              <a:chExt cx="3374540" cy="286232"/>
            </a:xfrm>
          </p:grpSpPr>
          <p:sp>
            <p:nvSpPr>
              <p:cNvPr id="41" name="TextBox 40">
                <a:extLst>
                  <a:ext uri="{FF2B5EF4-FFF2-40B4-BE49-F238E27FC236}">
                    <a16:creationId xmlns:a16="http://schemas.microsoft.com/office/drawing/2014/main" id="{96658486-AED8-013D-A06B-60C6DD2AEF4E}"/>
                  </a:ext>
                </a:extLst>
              </p:cNvPr>
              <p:cNvSpPr txBox="1"/>
              <p:nvPr/>
            </p:nvSpPr>
            <p:spPr bwMode="gray">
              <a:xfrm>
                <a:off x="849983" y="3296603"/>
                <a:ext cx="3121945" cy="286232"/>
              </a:xfrm>
              <a:prstGeom prst="rect">
                <a:avLst/>
              </a:prstGeom>
            </p:spPr>
            <p:txBody>
              <a:bodyPr wrap="none" lIns="45720" tIns="45720" rIns="45720" bIns="45720" rtlCol="0" anchor="ctr" anchorCtr="0">
                <a:spAutoFit/>
              </a:bodyPr>
              <a:lstStyle/>
              <a:p>
                <a:pPr>
                  <a:lnSpc>
                    <a:spcPct val="90000"/>
                  </a:lnSpc>
                </a:pPr>
                <a:r>
                  <a:rPr lang="en-US" sz="1400"/>
                  <a:t>Prefer Penbraya’s needle-free kit (4,5)</a:t>
                </a:r>
              </a:p>
            </p:txBody>
          </p:sp>
          <p:sp>
            <p:nvSpPr>
              <p:cNvPr id="42" name="Oval 41">
                <a:extLst>
                  <a:ext uri="{FF2B5EF4-FFF2-40B4-BE49-F238E27FC236}">
                    <a16:creationId xmlns:a16="http://schemas.microsoft.com/office/drawing/2014/main" id="{A2D1673D-8D54-44E3-F03E-4D91BF8AA634}"/>
                  </a:ext>
                </a:extLst>
              </p:cNvPr>
              <p:cNvSpPr/>
              <p:nvPr/>
            </p:nvSpPr>
            <p:spPr bwMode="gray">
              <a:xfrm>
                <a:off x="597388" y="3348279"/>
                <a:ext cx="185894" cy="182880"/>
              </a:xfrm>
              <a:prstGeom prst="ellipse">
                <a:avLst/>
              </a:prstGeom>
              <a:solidFill>
                <a:srgbClr val="937DAD"/>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28" name="Group 27">
              <a:extLst>
                <a:ext uri="{FF2B5EF4-FFF2-40B4-BE49-F238E27FC236}">
                  <a16:creationId xmlns:a16="http://schemas.microsoft.com/office/drawing/2014/main" id="{9C4EFA57-69E8-5AB5-7307-86363BA28FF4}"/>
                </a:ext>
              </a:extLst>
            </p:cNvPr>
            <p:cNvGrpSpPr/>
            <p:nvPr/>
          </p:nvGrpSpPr>
          <p:grpSpPr>
            <a:xfrm>
              <a:off x="597388" y="3650327"/>
              <a:ext cx="1745953" cy="286232"/>
              <a:chOff x="597388" y="4244215"/>
              <a:chExt cx="1745953" cy="286232"/>
            </a:xfrm>
          </p:grpSpPr>
          <p:sp>
            <p:nvSpPr>
              <p:cNvPr id="32" name="Oval 31">
                <a:extLst>
                  <a:ext uri="{FF2B5EF4-FFF2-40B4-BE49-F238E27FC236}">
                    <a16:creationId xmlns:a16="http://schemas.microsoft.com/office/drawing/2014/main" id="{2BDF2E5A-C149-ABBE-381E-773BE59F26E6}"/>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38" name="TextBox 37">
                <a:extLst>
                  <a:ext uri="{FF2B5EF4-FFF2-40B4-BE49-F238E27FC236}">
                    <a16:creationId xmlns:a16="http://schemas.microsoft.com/office/drawing/2014/main" id="{3199AD3C-8A5B-780F-9549-9ED94B0B23A0}"/>
                  </a:ext>
                </a:extLst>
              </p:cNvPr>
              <p:cNvSpPr txBox="1"/>
              <p:nvPr/>
            </p:nvSpPr>
            <p:spPr bwMode="gray">
              <a:xfrm>
                <a:off x="849983" y="4244215"/>
                <a:ext cx="1493358" cy="286232"/>
              </a:xfrm>
              <a:prstGeom prst="rect">
                <a:avLst/>
              </a:prstGeom>
            </p:spPr>
            <p:txBody>
              <a:bodyPr wrap="none" lIns="45720" tIns="45720" rIns="45720" bIns="45720" rtlCol="0" anchor="ctr" anchorCtr="0">
                <a:spAutoFit/>
              </a:bodyPr>
              <a:lstStyle/>
              <a:p>
                <a:pPr>
                  <a:lnSpc>
                    <a:spcPct val="90000"/>
                  </a:lnSpc>
                </a:pPr>
                <a:r>
                  <a:rPr lang="en-US" sz="1400"/>
                  <a:t>No preference (3)</a:t>
                </a:r>
              </a:p>
            </p:txBody>
          </p:sp>
        </p:grpSp>
        <p:grpSp>
          <p:nvGrpSpPr>
            <p:cNvPr id="29" name="Group 28">
              <a:extLst>
                <a:ext uri="{FF2B5EF4-FFF2-40B4-BE49-F238E27FC236}">
                  <a16:creationId xmlns:a16="http://schemas.microsoft.com/office/drawing/2014/main" id="{5A7491BB-36AC-47F4-A267-26DCD2DCC0B7}"/>
                </a:ext>
              </a:extLst>
            </p:cNvPr>
            <p:cNvGrpSpPr/>
            <p:nvPr/>
          </p:nvGrpSpPr>
          <p:grpSpPr>
            <a:xfrm>
              <a:off x="597388" y="4565228"/>
              <a:ext cx="3108505" cy="286232"/>
              <a:chOff x="597388" y="4818147"/>
              <a:chExt cx="3108505" cy="286232"/>
            </a:xfrm>
          </p:grpSpPr>
          <p:sp>
            <p:nvSpPr>
              <p:cNvPr id="30" name="Oval 29">
                <a:extLst>
                  <a:ext uri="{FF2B5EF4-FFF2-40B4-BE49-F238E27FC236}">
                    <a16:creationId xmlns:a16="http://schemas.microsoft.com/office/drawing/2014/main" id="{482B4531-2B3D-BCF6-F6AA-3AE52F9C70FE}"/>
                  </a:ext>
                </a:extLst>
              </p:cNvPr>
              <p:cNvSpPr/>
              <p:nvPr/>
            </p:nvSpPr>
            <p:spPr bwMode="gray">
              <a:xfrm>
                <a:off x="597388" y="4869823"/>
                <a:ext cx="182880" cy="182880"/>
              </a:xfrm>
              <a:prstGeom prst="ellipse">
                <a:avLst/>
              </a:prstGeom>
              <a:solidFill>
                <a:schemeClr val="accent6">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31" name="TextBox 30">
                <a:extLst>
                  <a:ext uri="{FF2B5EF4-FFF2-40B4-BE49-F238E27FC236}">
                    <a16:creationId xmlns:a16="http://schemas.microsoft.com/office/drawing/2014/main" id="{A2C8C776-1BC1-D85E-C74B-40CDA73FC23C}"/>
                  </a:ext>
                </a:extLst>
              </p:cNvPr>
              <p:cNvSpPr txBox="1"/>
              <p:nvPr/>
            </p:nvSpPr>
            <p:spPr bwMode="gray">
              <a:xfrm>
                <a:off x="849983" y="4818147"/>
                <a:ext cx="2855910" cy="286232"/>
              </a:xfrm>
              <a:prstGeom prst="rect">
                <a:avLst/>
              </a:prstGeom>
            </p:spPr>
            <p:txBody>
              <a:bodyPr wrap="none" lIns="45720" tIns="45720" rIns="45720" bIns="45720" rtlCol="0" anchor="ctr" anchorCtr="0">
                <a:spAutoFit/>
              </a:bodyPr>
              <a:lstStyle/>
              <a:p>
                <a:pPr>
                  <a:lnSpc>
                    <a:spcPct val="90000"/>
                  </a:lnSpc>
                </a:pPr>
                <a:r>
                  <a:rPr lang="en-US" sz="1400"/>
                  <a:t>Prefer standard reconstitution (1,2)</a:t>
                </a:r>
              </a:p>
            </p:txBody>
          </p:sp>
        </p:grpSp>
      </p:grpSp>
      <p:sp>
        <p:nvSpPr>
          <p:cNvPr id="13" name="TextBox 12">
            <a:extLst>
              <a:ext uri="{FF2B5EF4-FFF2-40B4-BE49-F238E27FC236}">
                <a16:creationId xmlns:a16="http://schemas.microsoft.com/office/drawing/2014/main" id="{C4144B78-9ED4-CBDB-415B-651B86C7A071}"/>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sp>
        <p:nvSpPr>
          <p:cNvPr id="9" name="TextBox 8">
            <a:extLst>
              <a:ext uri="{FF2B5EF4-FFF2-40B4-BE49-F238E27FC236}">
                <a16:creationId xmlns:a16="http://schemas.microsoft.com/office/drawing/2014/main" id="{DCA73D39-B38E-05FF-0983-8C74ADD075AA}"/>
              </a:ext>
            </a:extLst>
          </p:cNvPr>
          <p:cNvSpPr txBox="1"/>
          <p:nvPr/>
        </p:nvSpPr>
        <p:spPr bwMode="gray">
          <a:xfrm>
            <a:off x="3773960" y="3309262"/>
            <a:ext cx="673423" cy="304699"/>
          </a:xfrm>
          <a:prstGeom prst="rect">
            <a:avLst/>
          </a:prstGeom>
          <a:solidFill>
            <a:schemeClr val="bg1">
              <a:lumMod val="95000"/>
            </a:schemeClr>
          </a:solidFill>
          <a:ln w="12700">
            <a:solidFill>
              <a:schemeClr val="tx1">
                <a:lumMod val="50000"/>
                <a:lumOff val="50000"/>
              </a:schemeClr>
            </a:solidFill>
            <a:prstDash val="solid"/>
          </a:ln>
        </p:spPr>
        <p:txBody>
          <a:bodyPr wrap="square" lIns="27432" tIns="27432" rIns="27432" bIns="27432" rtlCol="0" anchor="ctr"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High Public &gt; Others</a:t>
            </a:r>
          </a:p>
        </p:txBody>
      </p:sp>
    </p:spTree>
    <p:extLst>
      <p:ext uri="{BB962C8B-B14F-4D97-AF65-F5344CB8AC3E}">
        <p14:creationId xmlns:p14="http://schemas.microsoft.com/office/powerpoint/2010/main" val="505337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D59FD-D8C5-02A7-F7B0-2EF46A44FE4D}"/>
            </a:ext>
          </a:extLst>
        </p:cNvPr>
        <p:cNvGrpSpPr/>
        <p:nvPr/>
      </p:nvGrpSpPr>
      <p:grpSpPr>
        <a:xfrm>
          <a:off x="0" y="0"/>
          <a:ext cx="0" cy="0"/>
          <a:chOff x="0" y="0"/>
          <a:chExt cx="0" cy="0"/>
        </a:xfrm>
      </p:grpSpPr>
      <p:graphicFrame>
        <p:nvGraphicFramePr>
          <p:cNvPr id="32" name="think-cell data - do not delete" hidden="1">
            <a:extLst>
              <a:ext uri="{FF2B5EF4-FFF2-40B4-BE49-F238E27FC236}">
                <a16:creationId xmlns:a16="http://schemas.microsoft.com/office/drawing/2014/main" id="{646BB73C-691D-3220-365B-67BC511757F7}"/>
              </a:ext>
            </a:extLst>
          </p:cNvPr>
          <p:cNvGraphicFramePr>
            <a:graphicFrameLocks noChangeAspect="1"/>
          </p:cNvGraphicFramePr>
          <p:nvPr>
            <p:custDataLst>
              <p:tags r:id="rId1"/>
            </p:custDataLst>
            <p:extLst>
              <p:ext uri="{D42A27DB-BD31-4B8C-83A1-F6EECF244321}">
                <p14:modId xmlns:p14="http://schemas.microsoft.com/office/powerpoint/2010/main" val="18587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12" imgH="511" progId="TCLayout.ActiveDocument.1">
                  <p:embed/>
                </p:oleObj>
              </mc:Choice>
              <mc:Fallback>
                <p:oleObj name="think-cell Slide" r:id="rId4" imgW="512" imgH="511" progId="TCLayout.ActiveDocument.1">
                  <p:embed/>
                  <p:pic>
                    <p:nvPicPr>
                      <p:cNvPr id="32" name="think-cell data - do not delete" hidden="1">
                        <a:extLst>
                          <a:ext uri="{FF2B5EF4-FFF2-40B4-BE49-F238E27FC236}">
                            <a16:creationId xmlns:a16="http://schemas.microsoft.com/office/drawing/2014/main" id="{646BB73C-691D-3220-365B-67BC511757F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BDCBE8C-3941-6085-02DC-5311F74E036C}"/>
              </a:ext>
            </a:extLst>
          </p:cNvPr>
          <p:cNvSpPr>
            <a:spLocks noGrp="1"/>
          </p:cNvSpPr>
          <p:nvPr>
            <p:ph type="title"/>
          </p:nvPr>
        </p:nvSpPr>
        <p:spPr>
          <a:xfrm>
            <a:off x="1142123" y="170307"/>
            <a:ext cx="11046702" cy="850392"/>
          </a:xfrm>
        </p:spPr>
        <p:txBody>
          <a:bodyPr vert="horz"/>
          <a:lstStyle/>
          <a:p>
            <a:r>
              <a:rPr lang="en-US" dirty="0"/>
              <a:t>Considering their total stock and existing contracts, and given the recommended dosing schedule with Penbraya, ~a third of Trumenba Non-Stockers are likely to adopt Trumenba to some degree</a:t>
            </a:r>
            <a:endParaRPr lang="en-US" strike="sngStrike" dirty="0"/>
          </a:p>
        </p:txBody>
      </p:sp>
      <p:sp>
        <p:nvSpPr>
          <p:cNvPr id="31" name="Text Placeholder 30">
            <a:extLst>
              <a:ext uri="{FF2B5EF4-FFF2-40B4-BE49-F238E27FC236}">
                <a16:creationId xmlns:a16="http://schemas.microsoft.com/office/drawing/2014/main" id="{29466BEE-318A-57C1-819A-385EDDA1CB48}"/>
              </a:ext>
            </a:extLst>
          </p:cNvPr>
          <p:cNvSpPr>
            <a:spLocks noGrp="1"/>
          </p:cNvSpPr>
          <p:nvPr>
            <p:ph type="body" sz="quarter" idx="16"/>
          </p:nvPr>
        </p:nvSpPr>
        <p:spPr>
          <a:xfrm>
            <a:off x="1571625" y="5770320"/>
            <a:ext cx="8896409" cy="1004890"/>
          </a:xfrm>
        </p:spPr>
        <p:txBody>
          <a:bodyPr/>
          <a:lstStyle/>
          <a:p>
            <a:pPr marL="284163" indent="-284163"/>
            <a:r>
              <a:rPr lang="en-US" dirty="0">
                <a:solidFill>
                  <a:srgbClr val="FF0000"/>
                </a:solidFill>
              </a:rPr>
              <a:t>*Caution: small base size </a:t>
            </a:r>
            <a:endParaRPr lang="en-US" altLang="en-US" dirty="0">
              <a:solidFill>
                <a:srgbClr val="FF0000"/>
              </a:solidFill>
              <a:cs typeface="Arial" panose="020B0604020202020204" pitchFamily="34" charset="0"/>
              <a:sym typeface="Symbol" pitchFamily="18" charset="2"/>
            </a:endParaRPr>
          </a:p>
          <a:p>
            <a:pPr marL="284163" indent="-284163"/>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marL="284163" indent="-284163"/>
            <a:r>
              <a:rPr lang="en-US" dirty="0"/>
              <a:t>(1) P10. </a:t>
            </a:r>
            <a:r>
              <a:rPr lang="en-US" u="sng" dirty="0"/>
              <a:t>(Only ASKED TO Trumenba non-stockers) </a:t>
            </a:r>
            <a:r>
              <a:rPr lang="en-US" dirty="0"/>
              <a:t>Given the recommended dosing schedule with Penbraya, how likely are you to stock Trumenba (Pfizer's Meningococcal Group B Vaccine) in your practice?</a:t>
            </a:r>
            <a:br>
              <a:rPr lang="en-US" dirty="0"/>
            </a:br>
            <a:r>
              <a:rPr lang="en-US" dirty="0">
                <a:solidFill>
                  <a:srgbClr val="FF0000"/>
                </a:solidFill>
              </a:rPr>
              <a:t>Please consider your total stock of vaccines and existing contracts.</a:t>
            </a:r>
            <a:r>
              <a:rPr lang="en-US" dirty="0"/>
              <a:t> (7-pt scale: 1=Not at all </a:t>
            </a:r>
            <a:r>
              <a:rPr kumimoji="0" lang="en-US" sz="90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likely</a:t>
            </a:r>
            <a:r>
              <a:rPr lang="en-US" dirty="0"/>
              <a:t>, 7=Extremely </a:t>
            </a:r>
            <a:r>
              <a:rPr kumimoji="0" lang="en-US" sz="90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likely</a:t>
            </a:r>
            <a:r>
              <a:rPr lang="en-US" dirty="0"/>
              <a:t>) </a:t>
            </a:r>
          </a:p>
          <a:p>
            <a:pPr marL="284163" indent="-284163"/>
            <a:r>
              <a:rPr lang="en-US" dirty="0"/>
              <a:t>(2) P11. Given the recommended dosing schedule with Penbraya, how likely are you to continue stocking Bexsero (GSK's Meningococcal Group B Vaccine) in your practice? </a:t>
            </a:r>
            <a:r>
              <a:rPr lang="en-US" dirty="0">
                <a:solidFill>
                  <a:srgbClr val="FF0000"/>
                </a:solidFill>
              </a:rPr>
              <a:t>Please consider your total stock of vaccines and existing contracts. </a:t>
            </a:r>
            <a:r>
              <a:rPr lang="en-US" dirty="0"/>
              <a:t>(7-pt scale: 1=Not at all </a:t>
            </a:r>
            <a:r>
              <a:rPr lang="en-US" dirty="0">
                <a:solidFill>
                  <a:srgbClr val="FFFFFF">
                    <a:lumMod val="50000"/>
                  </a:srgbClr>
                </a:solidFill>
              </a:rPr>
              <a:t>likely</a:t>
            </a:r>
            <a:r>
              <a:rPr lang="en-US" dirty="0"/>
              <a:t>, 7=Extremely </a:t>
            </a:r>
            <a:r>
              <a:rPr lang="en-US" dirty="0">
                <a:solidFill>
                  <a:srgbClr val="FFFFFF">
                    <a:lumMod val="50000"/>
                  </a:srgbClr>
                </a:solidFill>
              </a:rPr>
              <a:t>likely</a:t>
            </a:r>
            <a:r>
              <a:rPr lang="en-US" dirty="0"/>
              <a:t>)</a:t>
            </a:r>
            <a:endParaRPr lang="en-US" dirty="0">
              <a:solidFill>
                <a:srgbClr val="FFFFFF">
                  <a:lumMod val="50000"/>
                </a:srgbClr>
              </a:solidFill>
            </a:endParaRPr>
          </a:p>
        </p:txBody>
      </p:sp>
      <p:grpSp>
        <p:nvGrpSpPr>
          <p:cNvPr id="30" name="Group 29">
            <a:extLst>
              <a:ext uri="{FF2B5EF4-FFF2-40B4-BE49-F238E27FC236}">
                <a16:creationId xmlns:a16="http://schemas.microsoft.com/office/drawing/2014/main" id="{3D7269A9-01CA-1E2D-F718-DA76A5F84F21}"/>
              </a:ext>
            </a:extLst>
          </p:cNvPr>
          <p:cNvGrpSpPr/>
          <p:nvPr/>
        </p:nvGrpSpPr>
        <p:grpSpPr>
          <a:xfrm>
            <a:off x="344148" y="1152846"/>
            <a:ext cx="650178" cy="289396"/>
            <a:chOff x="1686341" y="1600319"/>
            <a:chExt cx="650178" cy="289396"/>
          </a:xfrm>
        </p:grpSpPr>
        <p:cxnSp>
          <p:nvCxnSpPr>
            <p:cNvPr id="45" name="Straight Connector 44">
              <a:extLst>
                <a:ext uri="{FF2B5EF4-FFF2-40B4-BE49-F238E27FC236}">
                  <a16:creationId xmlns:a16="http://schemas.microsoft.com/office/drawing/2014/main" id="{11D1CD66-D9A5-D5AE-8EA0-DCFF8EE2046D}"/>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48" name="TextBox 47">
              <a:extLst>
                <a:ext uri="{FF2B5EF4-FFF2-40B4-BE49-F238E27FC236}">
                  <a16:creationId xmlns:a16="http://schemas.microsoft.com/office/drawing/2014/main" id="{0940A170-68B6-16FB-A23D-7CF86C041E70}"/>
                </a:ext>
              </a:extLst>
            </p:cNvPr>
            <p:cNvSpPr txBox="1"/>
            <p:nvPr/>
          </p:nvSpPr>
          <p:spPr bwMode="gray">
            <a:xfrm>
              <a:off x="1686341" y="1600319"/>
              <a:ext cx="650178" cy="2862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Sep’25</a:t>
              </a:r>
            </a:p>
          </p:txBody>
        </p:sp>
      </p:grpSp>
      <p:grpSp>
        <p:nvGrpSpPr>
          <p:cNvPr id="10" name="Group 9">
            <a:extLst>
              <a:ext uri="{FF2B5EF4-FFF2-40B4-BE49-F238E27FC236}">
                <a16:creationId xmlns:a16="http://schemas.microsoft.com/office/drawing/2014/main" id="{9A0D1C39-DAF0-4665-926B-723BB327A739}"/>
              </a:ext>
            </a:extLst>
          </p:cNvPr>
          <p:cNvGrpSpPr/>
          <p:nvPr/>
        </p:nvGrpSpPr>
        <p:grpSpPr>
          <a:xfrm>
            <a:off x="156269" y="2696349"/>
            <a:ext cx="1280061" cy="2508358"/>
            <a:chOff x="4838529" y="3069483"/>
            <a:chExt cx="1280061" cy="2508358"/>
          </a:xfrm>
        </p:grpSpPr>
        <p:grpSp>
          <p:nvGrpSpPr>
            <p:cNvPr id="13" name="Group 12">
              <a:extLst>
                <a:ext uri="{FF2B5EF4-FFF2-40B4-BE49-F238E27FC236}">
                  <a16:creationId xmlns:a16="http://schemas.microsoft.com/office/drawing/2014/main" id="{957AE837-8C04-6B2D-D8DB-189572CC2E25}"/>
                </a:ext>
              </a:extLst>
            </p:cNvPr>
            <p:cNvGrpSpPr/>
            <p:nvPr/>
          </p:nvGrpSpPr>
          <p:grpSpPr>
            <a:xfrm>
              <a:off x="5472607" y="3069483"/>
              <a:ext cx="645983" cy="2508358"/>
              <a:chOff x="5613303" y="3069483"/>
              <a:chExt cx="645983" cy="2508358"/>
            </a:xfrm>
          </p:grpSpPr>
          <p:graphicFrame>
            <p:nvGraphicFramePr>
              <p:cNvPr id="17" name="Chart 16">
                <a:extLst>
                  <a:ext uri="{FF2B5EF4-FFF2-40B4-BE49-F238E27FC236}">
                    <a16:creationId xmlns:a16="http://schemas.microsoft.com/office/drawing/2014/main" id="{E1B26066-71A3-52C3-0E5F-AB6DE527B15F}"/>
                  </a:ext>
                </a:extLst>
              </p:cNvPr>
              <p:cNvGraphicFramePr/>
              <p:nvPr>
                <p:extLst>
                  <p:ext uri="{D42A27DB-BD31-4B8C-83A1-F6EECF244321}">
                    <p14:modId xmlns:p14="http://schemas.microsoft.com/office/powerpoint/2010/main" val="3378475525"/>
                  </p:ext>
                </p:extLst>
              </p:nvPr>
            </p:nvGraphicFramePr>
            <p:xfrm>
              <a:off x="5613303" y="3069483"/>
              <a:ext cx="645983" cy="2508358"/>
            </p:xfrm>
            <a:graphic>
              <a:graphicData uri="http://schemas.openxmlformats.org/drawingml/2006/chart">
                <c:chart xmlns:c="http://schemas.openxmlformats.org/drawingml/2006/chart" xmlns:r="http://schemas.openxmlformats.org/officeDocument/2006/relationships" r:id="rId6"/>
              </a:graphicData>
            </a:graphic>
          </p:graphicFrame>
          <p:grpSp>
            <p:nvGrpSpPr>
              <p:cNvPr id="18" name="Group 17">
                <a:extLst>
                  <a:ext uri="{FF2B5EF4-FFF2-40B4-BE49-F238E27FC236}">
                    <a16:creationId xmlns:a16="http://schemas.microsoft.com/office/drawing/2014/main" id="{D71F65BC-78F3-4082-8258-24BA2CF85CAC}"/>
                  </a:ext>
                </a:extLst>
              </p:cNvPr>
              <p:cNvGrpSpPr/>
              <p:nvPr/>
            </p:nvGrpSpPr>
            <p:grpSpPr>
              <a:xfrm>
                <a:off x="5664749" y="3269638"/>
                <a:ext cx="185894" cy="2166125"/>
                <a:chOff x="5664749" y="3269638"/>
                <a:chExt cx="185894" cy="2166125"/>
              </a:xfrm>
            </p:grpSpPr>
            <p:sp>
              <p:nvSpPr>
                <p:cNvPr id="19" name="Oval 18">
                  <a:extLst>
                    <a:ext uri="{FF2B5EF4-FFF2-40B4-BE49-F238E27FC236}">
                      <a16:creationId xmlns:a16="http://schemas.microsoft.com/office/drawing/2014/main" id="{89EA7A29-433D-AA84-0D97-5C19CF195308}"/>
                    </a:ext>
                  </a:extLst>
                </p:cNvPr>
                <p:cNvSpPr/>
                <p:nvPr/>
              </p:nvSpPr>
              <p:spPr bwMode="gray">
                <a:xfrm>
                  <a:off x="5664749" y="3269638"/>
                  <a:ext cx="185894" cy="182880"/>
                </a:xfrm>
                <a:prstGeom prst="ellipse">
                  <a:avLst/>
                </a:prstGeom>
                <a:solidFill>
                  <a:schemeClr val="accent4">
                    <a:lumMod val="75000"/>
                  </a:schemeClr>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000" b="1">
                    <a:solidFill>
                      <a:schemeClr val="tx1">
                        <a:lumMod val="50000"/>
                        <a:lumOff val="50000"/>
                      </a:schemeClr>
                    </a:solidFill>
                    <a:latin typeface="+mj-lt"/>
                  </a:endParaRPr>
                </a:p>
              </p:txBody>
            </p:sp>
            <p:sp>
              <p:nvSpPr>
                <p:cNvPr id="20" name="Oval 19">
                  <a:extLst>
                    <a:ext uri="{FF2B5EF4-FFF2-40B4-BE49-F238E27FC236}">
                      <a16:creationId xmlns:a16="http://schemas.microsoft.com/office/drawing/2014/main" id="{2F2E3CDB-D67A-2619-C1B8-6E97726AD420}"/>
                    </a:ext>
                  </a:extLst>
                </p:cNvPr>
                <p:cNvSpPr/>
                <p:nvPr/>
              </p:nvSpPr>
              <p:spPr bwMode="gray">
                <a:xfrm>
                  <a:off x="5667763" y="4591802"/>
                  <a:ext cx="182880" cy="182880"/>
                </a:xfrm>
                <a:prstGeom prst="ellipse">
                  <a:avLst/>
                </a:prstGeom>
                <a:solidFill>
                  <a:schemeClr val="accent6">
                    <a:lumMod val="40000"/>
                    <a:lumOff val="60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000" b="1">
                    <a:solidFill>
                      <a:schemeClr val="tx1">
                        <a:lumMod val="50000"/>
                        <a:lumOff val="50000"/>
                      </a:schemeClr>
                    </a:solidFill>
                    <a:latin typeface="+mj-lt"/>
                  </a:endParaRPr>
                </a:p>
              </p:txBody>
            </p:sp>
            <p:sp>
              <p:nvSpPr>
                <p:cNvPr id="21" name="Oval 20">
                  <a:extLst>
                    <a:ext uri="{FF2B5EF4-FFF2-40B4-BE49-F238E27FC236}">
                      <a16:creationId xmlns:a16="http://schemas.microsoft.com/office/drawing/2014/main" id="{7DB460C3-1D48-F3A7-D700-64CF046B1EF5}"/>
                    </a:ext>
                  </a:extLst>
                </p:cNvPr>
                <p:cNvSpPr/>
                <p:nvPr/>
              </p:nvSpPr>
              <p:spPr bwMode="gray">
                <a:xfrm>
                  <a:off x="5667763" y="525288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000" b="1">
                    <a:solidFill>
                      <a:schemeClr val="tx1">
                        <a:lumMod val="50000"/>
                        <a:lumOff val="50000"/>
                      </a:schemeClr>
                    </a:solidFill>
                    <a:latin typeface="+mj-lt"/>
                  </a:endParaRPr>
                </a:p>
              </p:txBody>
            </p:sp>
            <p:sp>
              <p:nvSpPr>
                <p:cNvPr id="22" name="Oval 21">
                  <a:extLst>
                    <a:ext uri="{FF2B5EF4-FFF2-40B4-BE49-F238E27FC236}">
                      <a16:creationId xmlns:a16="http://schemas.microsoft.com/office/drawing/2014/main" id="{DB016F9F-BFBB-733D-1145-CC2EBAC41D21}"/>
                    </a:ext>
                  </a:extLst>
                </p:cNvPr>
                <p:cNvSpPr/>
                <p:nvPr/>
              </p:nvSpPr>
              <p:spPr bwMode="gray">
                <a:xfrm>
                  <a:off x="5664749" y="36001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000" b="1">
                    <a:solidFill>
                      <a:schemeClr val="tx1">
                        <a:lumMod val="50000"/>
                        <a:lumOff val="50000"/>
                      </a:schemeClr>
                    </a:solidFill>
                    <a:latin typeface="+mj-lt"/>
                  </a:endParaRPr>
                </a:p>
              </p:txBody>
            </p:sp>
            <p:sp>
              <p:nvSpPr>
                <p:cNvPr id="23" name="Oval 22">
                  <a:extLst>
                    <a:ext uri="{FF2B5EF4-FFF2-40B4-BE49-F238E27FC236}">
                      <a16:creationId xmlns:a16="http://schemas.microsoft.com/office/drawing/2014/main" id="{674752B0-C440-E8C2-EEE2-6A70809B5D8B}"/>
                    </a:ext>
                  </a:extLst>
                </p:cNvPr>
                <p:cNvSpPr/>
                <p:nvPr/>
              </p:nvSpPr>
              <p:spPr bwMode="gray">
                <a:xfrm>
                  <a:off x="5664749" y="3930720"/>
                  <a:ext cx="185894" cy="182880"/>
                </a:xfrm>
                <a:prstGeom prst="ellipse">
                  <a:avLst/>
                </a:prstGeom>
                <a:solidFill>
                  <a:schemeClr val="accent4">
                    <a:lumMod val="60000"/>
                    <a:lumOff val="40000"/>
                  </a:schemeClr>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000" b="1">
                    <a:solidFill>
                      <a:schemeClr val="tx1">
                        <a:lumMod val="50000"/>
                        <a:lumOff val="50000"/>
                      </a:schemeClr>
                    </a:solidFill>
                    <a:latin typeface="+mj-lt"/>
                  </a:endParaRPr>
                </a:p>
              </p:txBody>
            </p:sp>
            <p:sp>
              <p:nvSpPr>
                <p:cNvPr id="27" name="Oval 26">
                  <a:extLst>
                    <a:ext uri="{FF2B5EF4-FFF2-40B4-BE49-F238E27FC236}">
                      <a16:creationId xmlns:a16="http://schemas.microsoft.com/office/drawing/2014/main" id="{7A3577FD-8633-267C-4FDF-FFE1845FB1F2}"/>
                    </a:ext>
                  </a:extLst>
                </p:cNvPr>
                <p:cNvSpPr/>
                <p:nvPr/>
              </p:nvSpPr>
              <p:spPr bwMode="gray">
                <a:xfrm>
                  <a:off x="5667763" y="426126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000" b="1">
                    <a:solidFill>
                      <a:schemeClr val="tx1">
                        <a:lumMod val="50000"/>
                        <a:lumOff val="50000"/>
                      </a:schemeClr>
                    </a:solidFill>
                    <a:latin typeface="+mj-lt"/>
                  </a:endParaRPr>
                </a:p>
              </p:txBody>
            </p:sp>
            <p:sp>
              <p:nvSpPr>
                <p:cNvPr id="39" name="Oval 38">
                  <a:extLst>
                    <a:ext uri="{FF2B5EF4-FFF2-40B4-BE49-F238E27FC236}">
                      <a16:creationId xmlns:a16="http://schemas.microsoft.com/office/drawing/2014/main" id="{39CA8E3F-DAF3-1B01-B9E0-F7A4206124B4}"/>
                    </a:ext>
                  </a:extLst>
                </p:cNvPr>
                <p:cNvSpPr/>
                <p:nvPr/>
              </p:nvSpPr>
              <p:spPr bwMode="gray">
                <a:xfrm>
                  <a:off x="5667763" y="4922343"/>
                  <a:ext cx="182880" cy="182880"/>
                </a:xfrm>
                <a:prstGeom prst="ellipse">
                  <a:avLst/>
                </a:prstGeom>
                <a:solidFill>
                  <a:schemeClr val="accent6">
                    <a:lumMod val="60000"/>
                    <a:lumOff val="40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000" b="1">
                    <a:solidFill>
                      <a:schemeClr val="tx1">
                        <a:lumMod val="50000"/>
                        <a:lumOff val="50000"/>
                      </a:schemeClr>
                    </a:solidFill>
                    <a:latin typeface="+mj-lt"/>
                  </a:endParaRPr>
                </a:p>
              </p:txBody>
            </p:sp>
          </p:grpSp>
        </p:grpSp>
        <p:grpSp>
          <p:nvGrpSpPr>
            <p:cNvPr id="14" name="Group 13">
              <a:extLst>
                <a:ext uri="{FF2B5EF4-FFF2-40B4-BE49-F238E27FC236}">
                  <a16:creationId xmlns:a16="http://schemas.microsoft.com/office/drawing/2014/main" id="{114E1F27-3956-4068-C47C-5A1161921B5B}"/>
                </a:ext>
              </a:extLst>
            </p:cNvPr>
            <p:cNvGrpSpPr/>
            <p:nvPr/>
          </p:nvGrpSpPr>
          <p:grpSpPr>
            <a:xfrm>
              <a:off x="4838529" y="3186603"/>
              <a:ext cx="666208" cy="2342386"/>
              <a:chOff x="-273140" y="2693876"/>
              <a:chExt cx="666208" cy="2342386"/>
            </a:xfrm>
          </p:grpSpPr>
          <p:sp>
            <p:nvSpPr>
              <p:cNvPr id="15" name="TextBox 14">
                <a:extLst>
                  <a:ext uri="{FF2B5EF4-FFF2-40B4-BE49-F238E27FC236}">
                    <a16:creationId xmlns:a16="http://schemas.microsoft.com/office/drawing/2014/main" id="{066A426D-533D-913D-B85F-39CBD58AFE0B}"/>
                  </a:ext>
                </a:extLst>
              </p:cNvPr>
              <p:cNvSpPr txBox="1"/>
              <p:nvPr/>
            </p:nvSpPr>
            <p:spPr bwMode="gray">
              <a:xfrm>
                <a:off x="-273140" y="2693876"/>
                <a:ext cx="666208" cy="369332"/>
              </a:xfrm>
              <a:prstGeom prst="rect">
                <a:avLst/>
              </a:prstGeom>
            </p:spPr>
            <p:txBody>
              <a:bodyPr wrap="none" lIns="45720" tIns="45720" rIns="45720" bIns="45720" rtlCol="0" anchor="ctr" anchorCtr="0">
                <a:spAutoFit/>
              </a:bodyPr>
              <a:lstStyle/>
              <a:p>
                <a:pPr algn="r">
                  <a:lnSpc>
                    <a:spcPct val="90000"/>
                  </a:lnSpc>
                </a:pPr>
                <a:r>
                  <a:rPr lang="en-US" sz="1000" dirty="0">
                    <a:solidFill>
                      <a:schemeClr val="tx1">
                        <a:lumMod val="50000"/>
                        <a:lumOff val="50000"/>
                      </a:schemeClr>
                    </a:solidFill>
                  </a:rPr>
                  <a:t>High </a:t>
                </a:r>
              </a:p>
              <a:p>
                <a:pPr algn="r">
                  <a:lnSpc>
                    <a:spcPct val="90000"/>
                  </a:lnSpc>
                </a:pPr>
                <a:r>
                  <a:rPr lang="en-US" sz="1000" dirty="0">
                    <a:solidFill>
                      <a:schemeClr val="tx1">
                        <a:lumMod val="50000"/>
                        <a:lumOff val="50000"/>
                      </a:schemeClr>
                    </a:solidFill>
                  </a:rPr>
                  <a:t>Likelihood</a:t>
                </a:r>
              </a:p>
            </p:txBody>
          </p:sp>
          <p:sp>
            <p:nvSpPr>
              <p:cNvPr id="16" name="TextBox 15">
                <a:extLst>
                  <a:ext uri="{FF2B5EF4-FFF2-40B4-BE49-F238E27FC236}">
                    <a16:creationId xmlns:a16="http://schemas.microsoft.com/office/drawing/2014/main" id="{D79AE88A-90EA-CCD3-4CDF-5A3D83FAC6D2}"/>
                  </a:ext>
                </a:extLst>
              </p:cNvPr>
              <p:cNvSpPr txBox="1"/>
              <p:nvPr/>
            </p:nvSpPr>
            <p:spPr bwMode="gray">
              <a:xfrm>
                <a:off x="-273140" y="4666930"/>
                <a:ext cx="666208" cy="369332"/>
              </a:xfrm>
              <a:prstGeom prst="rect">
                <a:avLst/>
              </a:prstGeom>
            </p:spPr>
            <p:txBody>
              <a:bodyPr wrap="none" lIns="45720" tIns="45720" rIns="45720" bIns="45720" rtlCol="0" anchor="ctr" anchorCtr="0">
                <a:spAutoFit/>
              </a:bodyPr>
              <a:lstStyle/>
              <a:p>
                <a:pPr algn="r">
                  <a:lnSpc>
                    <a:spcPct val="90000"/>
                  </a:lnSpc>
                </a:pPr>
                <a:r>
                  <a:rPr lang="en-US" sz="1000" dirty="0">
                    <a:solidFill>
                      <a:schemeClr val="tx1">
                        <a:lumMod val="50000"/>
                        <a:lumOff val="50000"/>
                      </a:schemeClr>
                    </a:solidFill>
                  </a:rPr>
                  <a:t>Low </a:t>
                </a:r>
              </a:p>
              <a:p>
                <a:pPr algn="r">
                  <a:lnSpc>
                    <a:spcPct val="90000"/>
                  </a:lnSpc>
                </a:pPr>
                <a:r>
                  <a:rPr lang="en-US" sz="1000" dirty="0">
                    <a:solidFill>
                      <a:schemeClr val="tx1">
                        <a:lumMod val="50000"/>
                        <a:lumOff val="50000"/>
                      </a:schemeClr>
                    </a:solidFill>
                  </a:rPr>
                  <a:t>Likelihood</a:t>
                </a:r>
              </a:p>
            </p:txBody>
          </p:sp>
        </p:grpSp>
      </p:grpSp>
      <p:sp>
        <p:nvSpPr>
          <p:cNvPr id="51" name="TextBox 50">
            <a:extLst>
              <a:ext uri="{FF2B5EF4-FFF2-40B4-BE49-F238E27FC236}">
                <a16:creationId xmlns:a16="http://schemas.microsoft.com/office/drawing/2014/main" id="{1AB4AFC6-9D57-584D-2B69-041621E557B9}"/>
              </a:ext>
            </a:extLst>
          </p:cNvPr>
          <p:cNvSpPr txBox="1"/>
          <p:nvPr/>
        </p:nvSpPr>
        <p:spPr bwMode="gray">
          <a:xfrm>
            <a:off x="5214685" y="1340128"/>
            <a:ext cx="1759456" cy="480131"/>
          </a:xfrm>
          <a:prstGeom prst="rect">
            <a:avLst/>
          </a:prstGeom>
        </p:spPr>
        <p:txBody>
          <a:bodyPr wrap="none" lIns="45720" tIns="45720" rIns="45720" bIns="45720" rtlCol="0">
            <a:spAutoFit/>
          </a:bodyPr>
          <a:lstStyle/>
          <a:p>
            <a:pPr algn="ctr">
              <a:lnSpc>
                <a:spcPct val="90000"/>
              </a:lnSpc>
              <a:spcAft>
                <a:spcPts val="400"/>
              </a:spcAft>
            </a:pPr>
            <a:r>
              <a:rPr lang="en-US" b="1" dirty="0">
                <a:solidFill>
                  <a:schemeClr val="accent1"/>
                </a:solidFill>
              </a:rPr>
              <a:t>Likelihood to…</a:t>
            </a:r>
            <a:br>
              <a:rPr lang="en-US" b="1" i="1" dirty="0">
                <a:solidFill>
                  <a:schemeClr val="accent1"/>
                </a:solidFill>
              </a:rPr>
            </a:br>
            <a:r>
              <a:rPr kumimoji="0" lang="en-US" sz="1000" b="0" i="1"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HCPs</a:t>
            </a:r>
            <a:endParaRPr lang="en-US" sz="1200" dirty="0">
              <a:solidFill>
                <a:schemeClr val="bg1">
                  <a:lumMod val="50000"/>
                </a:schemeClr>
              </a:solidFill>
            </a:endParaRPr>
          </a:p>
        </p:txBody>
      </p:sp>
      <p:grpSp>
        <p:nvGrpSpPr>
          <p:cNvPr id="52" name="Group 51">
            <a:extLst>
              <a:ext uri="{FF2B5EF4-FFF2-40B4-BE49-F238E27FC236}">
                <a16:creationId xmlns:a16="http://schemas.microsoft.com/office/drawing/2014/main" id="{51F24435-9314-47AB-7E8D-35F466516DFB}"/>
              </a:ext>
            </a:extLst>
          </p:cNvPr>
          <p:cNvGrpSpPr/>
          <p:nvPr/>
        </p:nvGrpSpPr>
        <p:grpSpPr>
          <a:xfrm>
            <a:off x="1185805" y="2665874"/>
            <a:ext cx="2309299" cy="3060000"/>
            <a:chOff x="5121429" y="3037526"/>
            <a:chExt cx="2309299" cy="3078480"/>
          </a:xfrm>
        </p:grpSpPr>
        <p:graphicFrame>
          <p:nvGraphicFramePr>
            <p:cNvPr id="56" name="Chart 55">
              <a:extLst>
                <a:ext uri="{FF2B5EF4-FFF2-40B4-BE49-F238E27FC236}">
                  <a16:creationId xmlns:a16="http://schemas.microsoft.com/office/drawing/2014/main" id="{1E259141-1097-0CC1-5AAB-ECE22F4CC4C0}"/>
                </a:ext>
              </a:extLst>
            </p:cNvPr>
            <p:cNvGraphicFramePr/>
            <p:nvPr>
              <p:extLst>
                <p:ext uri="{D42A27DB-BD31-4B8C-83A1-F6EECF244321}">
                  <p14:modId xmlns:p14="http://schemas.microsoft.com/office/powerpoint/2010/main" val="3310434681"/>
                </p:ext>
              </p:extLst>
            </p:nvPr>
          </p:nvGraphicFramePr>
          <p:xfrm>
            <a:off x="5121429" y="3037526"/>
            <a:ext cx="1945966" cy="3078480"/>
          </p:xfrm>
          <a:graphic>
            <a:graphicData uri="http://schemas.openxmlformats.org/drawingml/2006/chart">
              <c:chart xmlns:c="http://schemas.openxmlformats.org/drawingml/2006/chart" xmlns:r="http://schemas.openxmlformats.org/officeDocument/2006/relationships" r:id="rId7"/>
            </a:graphicData>
          </a:graphic>
        </p:graphicFrame>
        <p:sp>
          <p:nvSpPr>
            <p:cNvPr id="57" name="Left Brace 56">
              <a:extLst>
                <a:ext uri="{FF2B5EF4-FFF2-40B4-BE49-F238E27FC236}">
                  <a16:creationId xmlns:a16="http://schemas.microsoft.com/office/drawing/2014/main" id="{25BDDCD2-80F5-932D-BC0C-009F2E0B8A37}"/>
                </a:ext>
              </a:extLst>
            </p:cNvPr>
            <p:cNvSpPr/>
            <p:nvPr/>
          </p:nvSpPr>
          <p:spPr bwMode="gray">
            <a:xfrm rot="10800000">
              <a:off x="6438847" y="3152775"/>
              <a:ext cx="142240" cy="777946"/>
            </a:xfrm>
            <a:prstGeom prst="leftBrace">
              <a:avLst/>
            </a:prstGeom>
            <a:ln>
              <a:solidFill>
                <a:srgbClr val="62B96A"/>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58" name="TextBox 57">
              <a:extLst>
                <a:ext uri="{FF2B5EF4-FFF2-40B4-BE49-F238E27FC236}">
                  <a16:creationId xmlns:a16="http://schemas.microsoft.com/office/drawing/2014/main" id="{4C680485-F505-A305-7CD6-73A3DA2C8845}"/>
                </a:ext>
              </a:extLst>
            </p:cNvPr>
            <p:cNvSpPr txBox="1"/>
            <p:nvPr/>
          </p:nvSpPr>
          <p:spPr bwMode="gray">
            <a:xfrm>
              <a:off x="6694064" y="3398632"/>
              <a:ext cx="451406" cy="286232"/>
            </a:xfrm>
            <a:prstGeom prst="rect">
              <a:avLst/>
            </a:prstGeom>
            <a:no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dirty="0">
                  <a:ln>
                    <a:noFill/>
                  </a:ln>
                  <a:effectLst/>
                  <a:uLnTx/>
                  <a:uFillTx/>
                  <a:latin typeface="Arial" panose="020B0604020202020204"/>
                  <a:ea typeface="+mn-ea"/>
                  <a:cs typeface="+mn-cs"/>
                </a:rPr>
                <a:t>32%</a:t>
              </a:r>
            </a:p>
          </p:txBody>
        </p:sp>
        <p:sp>
          <p:nvSpPr>
            <p:cNvPr id="59" name="Left Brace 58">
              <a:extLst>
                <a:ext uri="{FF2B5EF4-FFF2-40B4-BE49-F238E27FC236}">
                  <a16:creationId xmlns:a16="http://schemas.microsoft.com/office/drawing/2014/main" id="{5DBE5EB5-9C70-01B0-A535-EF28F5995CE9}"/>
                </a:ext>
              </a:extLst>
            </p:cNvPr>
            <p:cNvSpPr/>
            <p:nvPr/>
          </p:nvSpPr>
          <p:spPr bwMode="gray">
            <a:xfrm rot="10800000">
              <a:off x="6447809" y="4336420"/>
              <a:ext cx="142240" cy="1250563"/>
            </a:xfrm>
            <a:prstGeom prst="leftBrace">
              <a:avLst/>
            </a:prstGeom>
            <a:ln>
              <a:solidFill>
                <a:schemeClr val="accent6"/>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60" name="TextBox 59">
              <a:extLst>
                <a:ext uri="{FF2B5EF4-FFF2-40B4-BE49-F238E27FC236}">
                  <a16:creationId xmlns:a16="http://schemas.microsoft.com/office/drawing/2014/main" id="{22CF244A-451D-195E-EE5A-0F8CB8F85C3E}"/>
                </a:ext>
              </a:extLst>
            </p:cNvPr>
            <p:cNvSpPr txBox="1"/>
            <p:nvPr/>
          </p:nvSpPr>
          <p:spPr bwMode="gray">
            <a:xfrm>
              <a:off x="6694064" y="4818585"/>
              <a:ext cx="451406" cy="286232"/>
            </a:xfrm>
            <a:prstGeom prst="rect">
              <a:avLst/>
            </a:prstGeom>
            <a:no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52%</a:t>
              </a:r>
            </a:p>
          </p:txBody>
        </p:sp>
        <p:sp>
          <p:nvSpPr>
            <p:cNvPr id="61" name="Text Placeholder 2">
              <a:extLst>
                <a:ext uri="{FF2B5EF4-FFF2-40B4-BE49-F238E27FC236}">
                  <a16:creationId xmlns:a16="http://schemas.microsoft.com/office/drawing/2014/main" id="{8511472B-DF1C-5C34-06CA-A587D255DB86}"/>
                </a:ext>
              </a:extLst>
            </p:cNvPr>
            <p:cNvSpPr txBox="1">
              <a:spLocks/>
            </p:cNvSpPr>
            <p:nvPr/>
          </p:nvSpPr>
          <p:spPr bwMode="gray">
            <a:xfrm>
              <a:off x="5343698" y="3170597"/>
              <a:ext cx="413216"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dirty="0">
                  <a:solidFill>
                    <a:srgbClr val="FF0000"/>
                  </a:solidFill>
                  <a:cs typeface="Arial" panose="020B0604020202020204" pitchFamily="34" charset="0"/>
                  <a:sym typeface="Symbol" pitchFamily="18" charset="2"/>
                </a:rPr>
                <a:t> </a:t>
              </a:r>
              <a:r>
                <a:rPr lang="en-US" altLang="en-US" baseline="30000" dirty="0">
                  <a:solidFill>
                    <a:schemeClr val="tx1">
                      <a:lumMod val="75000"/>
                      <a:lumOff val="25000"/>
                    </a:schemeClr>
                  </a:solidFill>
                  <a:cs typeface="Arial" panose="020B0604020202020204" pitchFamily="34" charset="0"/>
                  <a:sym typeface="Symbol" pitchFamily="18" charset="2"/>
                </a:rPr>
                <a:t>(18%)</a:t>
              </a:r>
              <a:endParaRPr lang="en-US" baseline="30000" dirty="0">
                <a:solidFill>
                  <a:schemeClr val="tx1">
                    <a:lumMod val="75000"/>
                    <a:lumOff val="25000"/>
                  </a:schemeClr>
                </a:solidFill>
              </a:endParaRPr>
            </a:p>
          </p:txBody>
        </p:sp>
        <p:sp>
          <p:nvSpPr>
            <p:cNvPr id="62" name="Text Placeholder 2">
              <a:extLst>
                <a:ext uri="{FF2B5EF4-FFF2-40B4-BE49-F238E27FC236}">
                  <a16:creationId xmlns:a16="http://schemas.microsoft.com/office/drawing/2014/main" id="{189B6DCB-DE94-CBDA-E093-609295405455}"/>
                </a:ext>
              </a:extLst>
            </p:cNvPr>
            <p:cNvSpPr txBox="1">
              <a:spLocks/>
            </p:cNvSpPr>
            <p:nvPr/>
          </p:nvSpPr>
          <p:spPr bwMode="gray">
            <a:xfrm>
              <a:off x="5332111" y="4871676"/>
              <a:ext cx="413216"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dirty="0">
                  <a:solidFill>
                    <a:srgbClr val="FF0000"/>
                  </a:solidFill>
                  <a:cs typeface="Arial" panose="020B0604020202020204" pitchFamily="34" charset="0"/>
                  <a:sym typeface="Symbol" pitchFamily="18" charset="2"/>
                </a:rPr>
                <a:t> </a:t>
              </a:r>
              <a:r>
                <a:rPr lang="en-US" altLang="en-US" baseline="30000" dirty="0">
                  <a:solidFill>
                    <a:schemeClr val="tx1">
                      <a:lumMod val="75000"/>
                      <a:lumOff val="25000"/>
                    </a:schemeClr>
                  </a:solidFill>
                  <a:cs typeface="Arial" panose="020B0604020202020204" pitchFamily="34" charset="0"/>
                  <a:sym typeface="Symbol" pitchFamily="18" charset="2"/>
                </a:rPr>
                <a:t>(7%)</a:t>
              </a:r>
              <a:endParaRPr lang="en-US" baseline="30000" dirty="0">
                <a:solidFill>
                  <a:schemeClr val="tx1">
                    <a:lumMod val="75000"/>
                    <a:lumOff val="25000"/>
                  </a:schemeClr>
                </a:solidFill>
              </a:endParaRPr>
            </a:p>
          </p:txBody>
        </p:sp>
        <p:sp>
          <p:nvSpPr>
            <p:cNvPr id="63" name="Text Placeholder 2">
              <a:extLst>
                <a:ext uri="{FF2B5EF4-FFF2-40B4-BE49-F238E27FC236}">
                  <a16:creationId xmlns:a16="http://schemas.microsoft.com/office/drawing/2014/main" id="{ABE4D749-015A-BB54-5324-5BA2A1419E9C}"/>
                </a:ext>
              </a:extLst>
            </p:cNvPr>
            <p:cNvSpPr txBox="1">
              <a:spLocks/>
            </p:cNvSpPr>
            <p:nvPr/>
          </p:nvSpPr>
          <p:spPr bwMode="gray">
            <a:xfrm>
              <a:off x="6710124" y="3631848"/>
              <a:ext cx="413216"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dirty="0">
                  <a:solidFill>
                    <a:srgbClr val="FF0000"/>
                  </a:solidFill>
                  <a:cs typeface="Arial" panose="020B0604020202020204" pitchFamily="34" charset="0"/>
                  <a:sym typeface="Symbol" pitchFamily="18" charset="2"/>
                </a:rPr>
                <a:t> </a:t>
              </a:r>
              <a:r>
                <a:rPr lang="en-US" altLang="en-US" baseline="30000" dirty="0">
                  <a:solidFill>
                    <a:schemeClr val="tx1">
                      <a:lumMod val="75000"/>
                      <a:lumOff val="25000"/>
                    </a:schemeClr>
                  </a:solidFill>
                  <a:cs typeface="Arial" panose="020B0604020202020204" pitchFamily="34" charset="0"/>
                  <a:sym typeface="Symbol" pitchFamily="18" charset="2"/>
                </a:rPr>
                <a:t>(48%)</a:t>
              </a:r>
              <a:endParaRPr lang="en-US" baseline="30000" dirty="0">
                <a:solidFill>
                  <a:schemeClr val="tx1">
                    <a:lumMod val="75000"/>
                    <a:lumOff val="25000"/>
                  </a:schemeClr>
                </a:solidFill>
              </a:endParaRPr>
            </a:p>
          </p:txBody>
        </p:sp>
        <p:sp>
          <p:nvSpPr>
            <p:cNvPr id="1024" name="TextBox 1023">
              <a:extLst>
                <a:ext uri="{FF2B5EF4-FFF2-40B4-BE49-F238E27FC236}">
                  <a16:creationId xmlns:a16="http://schemas.microsoft.com/office/drawing/2014/main" id="{BA3D2395-404F-2FE5-83FD-978377551243}"/>
                </a:ext>
              </a:extLst>
            </p:cNvPr>
            <p:cNvSpPr txBox="1"/>
            <p:nvPr/>
          </p:nvSpPr>
          <p:spPr bwMode="gray">
            <a:xfrm>
              <a:off x="6718612" y="3799515"/>
              <a:ext cx="712116" cy="216982"/>
            </a:xfrm>
            <a:prstGeom prst="rect">
              <a:avLst/>
            </a:prstGeom>
            <a:solidFill>
              <a:schemeClr val="bg1"/>
            </a:solidFill>
          </p:spPr>
          <p:txBody>
            <a:bodyPr wrap="squar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dirty="0">
                  <a:ln>
                    <a:noFill/>
                  </a:ln>
                  <a:effectLst/>
                  <a:uLnTx/>
                  <a:uFillTx/>
                  <a:latin typeface="Arial" panose="020B0604020202020204"/>
                  <a:ea typeface="+mn-ea"/>
                  <a:cs typeface="+mn-cs"/>
                </a:rPr>
                <a:t>(n=28)</a:t>
              </a:r>
            </a:p>
          </p:txBody>
        </p:sp>
        <p:sp>
          <p:nvSpPr>
            <p:cNvPr id="1030" name="TextBox 1029">
              <a:extLst>
                <a:ext uri="{FF2B5EF4-FFF2-40B4-BE49-F238E27FC236}">
                  <a16:creationId xmlns:a16="http://schemas.microsoft.com/office/drawing/2014/main" id="{940CAC03-1A5A-7A43-E387-8460733F8D9A}"/>
                </a:ext>
              </a:extLst>
            </p:cNvPr>
            <p:cNvSpPr txBox="1"/>
            <p:nvPr/>
          </p:nvSpPr>
          <p:spPr bwMode="gray">
            <a:xfrm>
              <a:off x="6718612" y="5122535"/>
              <a:ext cx="712116" cy="216982"/>
            </a:xfrm>
            <a:prstGeom prst="rect">
              <a:avLst/>
            </a:prstGeom>
            <a:solidFill>
              <a:schemeClr val="bg1"/>
            </a:solidFill>
          </p:spPr>
          <p:txBody>
            <a:bodyPr wrap="squar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dirty="0">
                  <a:ln>
                    <a:noFill/>
                  </a:ln>
                  <a:effectLst/>
                  <a:uLnTx/>
                  <a:uFillTx/>
                  <a:latin typeface="Arial" panose="020B0604020202020204"/>
                  <a:ea typeface="+mn-ea"/>
                  <a:cs typeface="+mn-cs"/>
                </a:rPr>
                <a:t>(n=</a:t>
              </a:r>
              <a:r>
                <a:rPr lang="en-US" sz="900" dirty="0">
                  <a:latin typeface="Arial" panose="020B0604020202020204"/>
                </a:rPr>
                <a:t>45</a:t>
              </a:r>
              <a:r>
                <a:rPr kumimoji="0" lang="en-US" sz="900" i="0" u="none" strike="noStrike" kern="1200" cap="none" spc="0" normalizeH="0" baseline="0" noProof="0" dirty="0">
                  <a:ln>
                    <a:noFill/>
                  </a:ln>
                  <a:effectLst/>
                  <a:uLnTx/>
                  <a:uFillTx/>
                  <a:latin typeface="Arial" panose="020B0604020202020204"/>
                  <a:ea typeface="+mn-ea"/>
                  <a:cs typeface="+mn-cs"/>
                </a:rPr>
                <a:t>)</a:t>
              </a:r>
            </a:p>
          </p:txBody>
        </p:sp>
      </p:grpSp>
      <p:graphicFrame>
        <p:nvGraphicFramePr>
          <p:cNvPr id="1032" name="Chart 1031">
            <a:extLst>
              <a:ext uri="{FF2B5EF4-FFF2-40B4-BE49-F238E27FC236}">
                <a16:creationId xmlns:a16="http://schemas.microsoft.com/office/drawing/2014/main" id="{D683570C-FA5A-1AE6-CB62-333F8E7087B6}"/>
              </a:ext>
            </a:extLst>
          </p:cNvPr>
          <p:cNvGraphicFramePr/>
          <p:nvPr>
            <p:extLst>
              <p:ext uri="{D42A27DB-BD31-4B8C-83A1-F6EECF244321}">
                <p14:modId xmlns:p14="http://schemas.microsoft.com/office/powerpoint/2010/main" val="677048727"/>
              </p:ext>
            </p:extLst>
          </p:nvPr>
        </p:nvGraphicFramePr>
        <p:xfrm>
          <a:off x="3079228" y="2642942"/>
          <a:ext cx="8606672" cy="3078480"/>
        </p:xfrm>
        <a:graphic>
          <a:graphicData uri="http://schemas.openxmlformats.org/drawingml/2006/chart">
            <c:chart xmlns:c="http://schemas.openxmlformats.org/drawingml/2006/chart" xmlns:r="http://schemas.openxmlformats.org/officeDocument/2006/relationships" r:id="rId8"/>
          </a:graphicData>
        </a:graphic>
      </p:graphicFrame>
      <p:grpSp>
        <p:nvGrpSpPr>
          <p:cNvPr id="1038" name="Group 1037">
            <a:extLst>
              <a:ext uri="{FF2B5EF4-FFF2-40B4-BE49-F238E27FC236}">
                <a16:creationId xmlns:a16="http://schemas.microsoft.com/office/drawing/2014/main" id="{C6C65A26-D23A-8C9B-C124-DF4AE06E3CA6}"/>
              </a:ext>
            </a:extLst>
          </p:cNvPr>
          <p:cNvGrpSpPr/>
          <p:nvPr/>
        </p:nvGrpSpPr>
        <p:grpSpPr>
          <a:xfrm>
            <a:off x="4710529" y="2777740"/>
            <a:ext cx="659910" cy="2419422"/>
            <a:chOff x="4442174" y="3172324"/>
            <a:chExt cx="659910" cy="2419422"/>
          </a:xfrm>
          <a:noFill/>
        </p:grpSpPr>
        <p:sp>
          <p:nvSpPr>
            <p:cNvPr id="1060" name="Left Brace 1059">
              <a:extLst>
                <a:ext uri="{FF2B5EF4-FFF2-40B4-BE49-F238E27FC236}">
                  <a16:creationId xmlns:a16="http://schemas.microsoft.com/office/drawing/2014/main" id="{3B026613-F479-49CC-002A-683E191CB532}"/>
                </a:ext>
              </a:extLst>
            </p:cNvPr>
            <p:cNvSpPr/>
            <p:nvPr/>
          </p:nvSpPr>
          <p:spPr bwMode="gray">
            <a:xfrm flipH="1">
              <a:off x="4442174" y="3172324"/>
              <a:ext cx="142240" cy="1419478"/>
            </a:xfrm>
            <a:prstGeom prst="leftBrace">
              <a:avLst/>
            </a:prstGeom>
            <a:grpFill/>
            <a:ln>
              <a:solidFill>
                <a:srgbClr val="62B96A"/>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61" name="TextBox 1060">
              <a:extLst>
                <a:ext uri="{FF2B5EF4-FFF2-40B4-BE49-F238E27FC236}">
                  <a16:creationId xmlns:a16="http://schemas.microsoft.com/office/drawing/2014/main" id="{842C25C9-9123-6F51-51CD-E474B3A73FD4}"/>
                </a:ext>
              </a:extLst>
            </p:cNvPr>
            <p:cNvSpPr txBox="1"/>
            <p:nvPr/>
          </p:nvSpPr>
          <p:spPr bwMode="gray">
            <a:xfrm>
              <a:off x="4616137" y="3738947"/>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58%</a:t>
              </a:r>
            </a:p>
          </p:txBody>
        </p:sp>
        <p:sp>
          <p:nvSpPr>
            <p:cNvPr id="1062" name="Left Brace 1061">
              <a:extLst>
                <a:ext uri="{FF2B5EF4-FFF2-40B4-BE49-F238E27FC236}">
                  <a16:creationId xmlns:a16="http://schemas.microsoft.com/office/drawing/2014/main" id="{63D07F1C-A969-8147-68E5-89A69288C4C1}"/>
                </a:ext>
              </a:extLst>
            </p:cNvPr>
            <p:cNvSpPr/>
            <p:nvPr/>
          </p:nvSpPr>
          <p:spPr bwMode="gray">
            <a:xfrm flipH="1">
              <a:off x="4442174" y="4898528"/>
              <a:ext cx="142240" cy="693218"/>
            </a:xfrm>
            <a:prstGeom prst="leftBrace">
              <a:avLst/>
            </a:prstGeom>
            <a:grpFill/>
            <a:ln>
              <a:solidFill>
                <a:schemeClr val="accent6"/>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63" name="TextBox 1062">
              <a:extLst>
                <a:ext uri="{FF2B5EF4-FFF2-40B4-BE49-F238E27FC236}">
                  <a16:creationId xmlns:a16="http://schemas.microsoft.com/office/drawing/2014/main" id="{2C2429D8-66D4-5724-A734-22732D4061C7}"/>
                </a:ext>
              </a:extLst>
            </p:cNvPr>
            <p:cNvSpPr txBox="1"/>
            <p:nvPr/>
          </p:nvSpPr>
          <p:spPr bwMode="gray">
            <a:xfrm>
              <a:off x="4616137" y="5102021"/>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29%</a:t>
              </a:r>
            </a:p>
          </p:txBody>
        </p:sp>
        <p:sp>
          <p:nvSpPr>
            <p:cNvPr id="1064" name="TextBox 1063">
              <a:extLst>
                <a:ext uri="{FF2B5EF4-FFF2-40B4-BE49-F238E27FC236}">
                  <a16:creationId xmlns:a16="http://schemas.microsoft.com/office/drawing/2014/main" id="{B03A6886-0F69-953B-1F63-7040F01C6953}"/>
                </a:ext>
              </a:extLst>
            </p:cNvPr>
            <p:cNvSpPr txBox="1"/>
            <p:nvPr/>
          </p:nvSpPr>
          <p:spPr bwMode="gray">
            <a:xfrm>
              <a:off x="4618955" y="5306219"/>
              <a:ext cx="483129" cy="216982"/>
            </a:xfrm>
            <a:prstGeom prst="rect">
              <a:avLst/>
            </a:prstGeom>
            <a:grpFill/>
          </p:spPr>
          <p:txBody>
            <a:bodyPr wrap="squar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effectLst/>
                  <a:uLnTx/>
                  <a:uFillTx/>
                  <a:latin typeface="Arial" panose="020B0604020202020204"/>
                  <a:ea typeface="+mn-ea"/>
                  <a:cs typeface="+mn-cs"/>
                </a:rPr>
                <a:t>(n=</a:t>
              </a:r>
              <a:r>
                <a:rPr lang="en-US" sz="900">
                  <a:latin typeface="Arial" panose="020B0604020202020204"/>
                </a:rPr>
                <a:t>42</a:t>
              </a:r>
              <a:r>
                <a:rPr kumimoji="0" lang="en-US" sz="900" i="0" u="none" strike="noStrike" kern="1200" cap="none" spc="0" normalizeH="0" baseline="0" noProof="0">
                  <a:ln>
                    <a:noFill/>
                  </a:ln>
                  <a:effectLst/>
                  <a:uLnTx/>
                  <a:uFillTx/>
                  <a:latin typeface="Arial" panose="020B0604020202020204"/>
                  <a:ea typeface="+mn-ea"/>
                  <a:cs typeface="+mn-cs"/>
                </a:rPr>
                <a:t>)</a:t>
              </a:r>
            </a:p>
          </p:txBody>
        </p:sp>
        <p:sp>
          <p:nvSpPr>
            <p:cNvPr id="1065" name="TextBox 1064">
              <a:extLst>
                <a:ext uri="{FF2B5EF4-FFF2-40B4-BE49-F238E27FC236}">
                  <a16:creationId xmlns:a16="http://schemas.microsoft.com/office/drawing/2014/main" id="{B20A8D1D-7ABD-5E43-B6E8-ADED3FE71234}"/>
                </a:ext>
              </a:extLst>
            </p:cNvPr>
            <p:cNvSpPr txBox="1"/>
            <p:nvPr/>
          </p:nvSpPr>
          <p:spPr bwMode="gray">
            <a:xfrm>
              <a:off x="4618955" y="3943643"/>
              <a:ext cx="477296" cy="216982"/>
            </a:xfrm>
            <a:prstGeom prst="rect">
              <a:avLst/>
            </a:prstGeom>
            <a:grpFill/>
          </p:spPr>
          <p:txBody>
            <a:bodyPr wrap="squar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effectLst/>
                  <a:uLnTx/>
                  <a:uFillTx/>
                  <a:latin typeface="Arial" panose="020B0604020202020204"/>
                  <a:ea typeface="+mn-ea"/>
                  <a:cs typeface="+mn-cs"/>
                </a:rPr>
                <a:t>(n=86)</a:t>
              </a:r>
            </a:p>
          </p:txBody>
        </p:sp>
      </p:grpSp>
      <p:grpSp>
        <p:nvGrpSpPr>
          <p:cNvPr id="1039" name="Group 1038">
            <a:extLst>
              <a:ext uri="{FF2B5EF4-FFF2-40B4-BE49-F238E27FC236}">
                <a16:creationId xmlns:a16="http://schemas.microsoft.com/office/drawing/2014/main" id="{44CE0BAF-C391-E2BD-4385-C91E2ABBD614}"/>
              </a:ext>
            </a:extLst>
          </p:cNvPr>
          <p:cNvGrpSpPr/>
          <p:nvPr/>
        </p:nvGrpSpPr>
        <p:grpSpPr>
          <a:xfrm>
            <a:off x="6763885" y="2777739"/>
            <a:ext cx="651051" cy="2469693"/>
            <a:chOff x="6495530" y="3172323"/>
            <a:chExt cx="651051" cy="2469693"/>
          </a:xfrm>
          <a:noFill/>
        </p:grpSpPr>
        <p:sp>
          <p:nvSpPr>
            <p:cNvPr id="1054" name="Left Brace 1053">
              <a:extLst>
                <a:ext uri="{FF2B5EF4-FFF2-40B4-BE49-F238E27FC236}">
                  <a16:creationId xmlns:a16="http://schemas.microsoft.com/office/drawing/2014/main" id="{BA9D7E98-BCDA-7CD5-F604-56D2F179CF74}"/>
                </a:ext>
              </a:extLst>
            </p:cNvPr>
            <p:cNvSpPr/>
            <p:nvPr/>
          </p:nvSpPr>
          <p:spPr bwMode="gray">
            <a:xfrm flipH="1">
              <a:off x="6495530" y="3172323"/>
              <a:ext cx="142240" cy="1569101"/>
            </a:xfrm>
            <a:prstGeom prst="leftBrace">
              <a:avLst/>
            </a:prstGeom>
            <a:grpFill/>
            <a:ln>
              <a:solidFill>
                <a:srgbClr val="62B96A"/>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55" name="TextBox 1054">
              <a:extLst>
                <a:ext uri="{FF2B5EF4-FFF2-40B4-BE49-F238E27FC236}">
                  <a16:creationId xmlns:a16="http://schemas.microsoft.com/office/drawing/2014/main" id="{DB9DD0B4-3371-8C57-7CD3-9AF39CA55FEA}"/>
                </a:ext>
              </a:extLst>
            </p:cNvPr>
            <p:cNvSpPr txBox="1"/>
            <p:nvPr/>
          </p:nvSpPr>
          <p:spPr bwMode="gray">
            <a:xfrm>
              <a:off x="6669493" y="3813757"/>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64%</a:t>
              </a:r>
            </a:p>
          </p:txBody>
        </p:sp>
        <p:sp>
          <p:nvSpPr>
            <p:cNvPr id="1056" name="Left Brace 1055">
              <a:extLst>
                <a:ext uri="{FF2B5EF4-FFF2-40B4-BE49-F238E27FC236}">
                  <a16:creationId xmlns:a16="http://schemas.microsoft.com/office/drawing/2014/main" id="{31EA2851-7F06-492E-2B4B-E9E496EDD3A4}"/>
                </a:ext>
              </a:extLst>
            </p:cNvPr>
            <p:cNvSpPr/>
            <p:nvPr/>
          </p:nvSpPr>
          <p:spPr bwMode="gray">
            <a:xfrm flipH="1">
              <a:off x="6495530" y="5143010"/>
              <a:ext cx="142240" cy="448735"/>
            </a:xfrm>
            <a:prstGeom prst="leftBrace">
              <a:avLst/>
            </a:prstGeom>
            <a:grpFill/>
            <a:ln>
              <a:solidFill>
                <a:schemeClr val="accent6"/>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57" name="TextBox 1056">
              <a:extLst>
                <a:ext uri="{FF2B5EF4-FFF2-40B4-BE49-F238E27FC236}">
                  <a16:creationId xmlns:a16="http://schemas.microsoft.com/office/drawing/2014/main" id="{AA9F91E5-DA93-0B1D-8C74-319BF1ED03F2}"/>
                </a:ext>
              </a:extLst>
            </p:cNvPr>
            <p:cNvSpPr txBox="1"/>
            <p:nvPr/>
          </p:nvSpPr>
          <p:spPr bwMode="gray">
            <a:xfrm>
              <a:off x="6669493" y="5220836"/>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19%</a:t>
              </a:r>
            </a:p>
          </p:txBody>
        </p:sp>
        <p:sp>
          <p:nvSpPr>
            <p:cNvPr id="1058" name="TextBox 1057">
              <a:extLst>
                <a:ext uri="{FF2B5EF4-FFF2-40B4-BE49-F238E27FC236}">
                  <a16:creationId xmlns:a16="http://schemas.microsoft.com/office/drawing/2014/main" id="{271FDC7B-A63F-B54B-28D9-61228708CD2F}"/>
                </a:ext>
              </a:extLst>
            </p:cNvPr>
            <p:cNvSpPr txBox="1"/>
            <p:nvPr/>
          </p:nvSpPr>
          <p:spPr bwMode="gray">
            <a:xfrm>
              <a:off x="6672311" y="5425034"/>
              <a:ext cx="474270" cy="216982"/>
            </a:xfrm>
            <a:prstGeom prst="rect">
              <a:avLst/>
            </a:prstGeom>
            <a:grpFill/>
          </p:spPr>
          <p:txBody>
            <a:bodyPr wrap="squar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effectLst/>
                  <a:uLnTx/>
                  <a:uFillTx/>
                  <a:latin typeface="Arial" panose="020B0604020202020204"/>
                  <a:ea typeface="+mn-ea"/>
                  <a:cs typeface="+mn-cs"/>
                </a:rPr>
                <a:t>(n=</a:t>
              </a:r>
              <a:r>
                <a:rPr lang="en-US" sz="900">
                  <a:latin typeface="Arial" panose="020B0604020202020204"/>
                </a:rPr>
                <a:t>17</a:t>
              </a:r>
              <a:r>
                <a:rPr kumimoji="0" lang="en-US" sz="900" i="0" u="none" strike="noStrike" kern="1200" cap="none" spc="0" normalizeH="0" baseline="0" noProof="0">
                  <a:ln>
                    <a:noFill/>
                  </a:ln>
                  <a:effectLst/>
                  <a:uLnTx/>
                  <a:uFillTx/>
                  <a:latin typeface="Arial" panose="020B0604020202020204"/>
                  <a:ea typeface="+mn-ea"/>
                  <a:cs typeface="+mn-cs"/>
                </a:rPr>
                <a:t>)</a:t>
              </a:r>
              <a:r>
                <a:rPr kumimoji="0" lang="en-US" sz="900" i="0" u="none" strike="noStrike" kern="1200" cap="none" spc="0" normalizeH="0" baseline="0" noProof="0">
                  <a:ln>
                    <a:noFill/>
                  </a:ln>
                  <a:solidFill>
                    <a:srgbClr val="FF0000"/>
                  </a:solidFill>
                  <a:effectLst/>
                  <a:uLnTx/>
                  <a:uFillTx/>
                  <a:latin typeface="Arial" panose="020B0604020202020204"/>
                  <a:ea typeface="+mn-ea"/>
                  <a:cs typeface="+mn-cs"/>
                </a:rPr>
                <a:t>*</a:t>
              </a:r>
            </a:p>
          </p:txBody>
        </p:sp>
        <p:sp>
          <p:nvSpPr>
            <p:cNvPr id="1059" name="TextBox 1058">
              <a:extLst>
                <a:ext uri="{FF2B5EF4-FFF2-40B4-BE49-F238E27FC236}">
                  <a16:creationId xmlns:a16="http://schemas.microsoft.com/office/drawing/2014/main" id="{447EC163-5C49-9321-FEF7-D55A14E159AA}"/>
                </a:ext>
              </a:extLst>
            </p:cNvPr>
            <p:cNvSpPr txBox="1"/>
            <p:nvPr/>
          </p:nvSpPr>
          <p:spPr bwMode="gray">
            <a:xfrm>
              <a:off x="6669285" y="4012223"/>
              <a:ext cx="477296" cy="216982"/>
            </a:xfrm>
            <a:prstGeom prst="rect">
              <a:avLst/>
            </a:prstGeom>
            <a:grpFill/>
          </p:spPr>
          <p:txBody>
            <a:bodyPr wrap="squar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effectLst/>
                  <a:uLnTx/>
                  <a:uFillTx/>
                  <a:latin typeface="Arial" panose="020B0604020202020204"/>
                  <a:ea typeface="+mn-ea"/>
                  <a:cs typeface="+mn-cs"/>
                </a:rPr>
                <a:t>(n=56)</a:t>
              </a:r>
            </a:p>
          </p:txBody>
        </p:sp>
      </p:grpSp>
      <p:grpSp>
        <p:nvGrpSpPr>
          <p:cNvPr id="1040" name="Group 1039">
            <a:extLst>
              <a:ext uri="{FF2B5EF4-FFF2-40B4-BE49-F238E27FC236}">
                <a16:creationId xmlns:a16="http://schemas.microsoft.com/office/drawing/2014/main" id="{E3F41D7C-13D2-3395-FE72-825FC80FE848}"/>
              </a:ext>
            </a:extLst>
          </p:cNvPr>
          <p:cNvGrpSpPr/>
          <p:nvPr/>
        </p:nvGrpSpPr>
        <p:grpSpPr>
          <a:xfrm>
            <a:off x="8817241" y="2753925"/>
            <a:ext cx="708189" cy="2443235"/>
            <a:chOff x="8548886" y="3148509"/>
            <a:chExt cx="708189" cy="2443235"/>
          </a:xfrm>
          <a:noFill/>
        </p:grpSpPr>
        <p:sp>
          <p:nvSpPr>
            <p:cNvPr id="1048" name="Left Brace 1047">
              <a:extLst>
                <a:ext uri="{FF2B5EF4-FFF2-40B4-BE49-F238E27FC236}">
                  <a16:creationId xmlns:a16="http://schemas.microsoft.com/office/drawing/2014/main" id="{1D38FC04-E117-9124-833A-031CBD7BCAA6}"/>
                </a:ext>
              </a:extLst>
            </p:cNvPr>
            <p:cNvSpPr/>
            <p:nvPr/>
          </p:nvSpPr>
          <p:spPr bwMode="gray">
            <a:xfrm flipH="1">
              <a:off x="8548886" y="3148509"/>
              <a:ext cx="142240" cy="1252041"/>
            </a:xfrm>
            <a:prstGeom prst="leftBrace">
              <a:avLst/>
            </a:prstGeom>
            <a:grpFill/>
            <a:ln>
              <a:solidFill>
                <a:srgbClr val="62B96A"/>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49" name="TextBox 1048">
              <a:extLst>
                <a:ext uri="{FF2B5EF4-FFF2-40B4-BE49-F238E27FC236}">
                  <a16:creationId xmlns:a16="http://schemas.microsoft.com/office/drawing/2014/main" id="{042ECB88-F5E4-9728-1392-5ECD97DCC61E}"/>
                </a:ext>
              </a:extLst>
            </p:cNvPr>
            <p:cNvSpPr txBox="1"/>
            <p:nvPr/>
          </p:nvSpPr>
          <p:spPr bwMode="gray">
            <a:xfrm>
              <a:off x="8722849" y="3631413"/>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51%</a:t>
              </a:r>
            </a:p>
          </p:txBody>
        </p:sp>
        <p:sp>
          <p:nvSpPr>
            <p:cNvPr id="1050" name="Left Brace 1049">
              <a:extLst>
                <a:ext uri="{FF2B5EF4-FFF2-40B4-BE49-F238E27FC236}">
                  <a16:creationId xmlns:a16="http://schemas.microsoft.com/office/drawing/2014/main" id="{A3096900-ABBE-3A6C-7018-0EA4DE6C6FA5}"/>
                </a:ext>
              </a:extLst>
            </p:cNvPr>
            <p:cNvSpPr/>
            <p:nvPr/>
          </p:nvSpPr>
          <p:spPr bwMode="gray">
            <a:xfrm flipH="1">
              <a:off x="8548886" y="4567987"/>
              <a:ext cx="142240" cy="1023757"/>
            </a:xfrm>
            <a:prstGeom prst="leftBrace">
              <a:avLst/>
            </a:prstGeom>
            <a:grpFill/>
            <a:ln>
              <a:solidFill>
                <a:schemeClr val="accent6"/>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51" name="TextBox 1050">
              <a:extLst>
                <a:ext uri="{FF2B5EF4-FFF2-40B4-BE49-F238E27FC236}">
                  <a16:creationId xmlns:a16="http://schemas.microsoft.com/office/drawing/2014/main" id="{13FAE810-AEA2-DB2E-6FBF-4E34B38B03D7}"/>
                </a:ext>
              </a:extLst>
            </p:cNvPr>
            <p:cNvSpPr txBox="1"/>
            <p:nvPr/>
          </p:nvSpPr>
          <p:spPr bwMode="gray">
            <a:xfrm>
              <a:off x="8722849" y="4934026"/>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42%</a:t>
              </a:r>
            </a:p>
          </p:txBody>
        </p:sp>
        <p:sp>
          <p:nvSpPr>
            <p:cNvPr id="1052" name="TextBox 1051">
              <a:extLst>
                <a:ext uri="{FF2B5EF4-FFF2-40B4-BE49-F238E27FC236}">
                  <a16:creationId xmlns:a16="http://schemas.microsoft.com/office/drawing/2014/main" id="{4C8466A1-51D2-41E3-EF60-2B841B6F63E0}"/>
                </a:ext>
              </a:extLst>
            </p:cNvPr>
            <p:cNvSpPr txBox="1"/>
            <p:nvPr/>
          </p:nvSpPr>
          <p:spPr bwMode="gray">
            <a:xfrm>
              <a:off x="8725667" y="5138224"/>
              <a:ext cx="531408" cy="216982"/>
            </a:xfrm>
            <a:prstGeom prst="rect">
              <a:avLst/>
            </a:prstGeom>
            <a:grpFill/>
          </p:spPr>
          <p:txBody>
            <a:bodyPr wrap="square" lIns="45720" tIns="45720" rIns="45720" bIns="45720" rtlCol="0">
              <a:spAutoFit/>
            </a:bodyPr>
            <a:lstStyle/>
            <a:p>
              <a:pPr>
                <a:lnSpc>
                  <a:spcPct val="90000"/>
                </a:lnSpc>
                <a:spcAft>
                  <a:spcPts val="400"/>
                </a:spcAft>
              </a:pPr>
              <a:r>
                <a:rPr kumimoji="0" lang="en-US" sz="900" i="0" u="none" strike="noStrike" kern="1200" cap="none" spc="0" normalizeH="0" baseline="0" noProof="0">
                  <a:ln>
                    <a:noFill/>
                  </a:ln>
                  <a:effectLst/>
                  <a:uLnTx/>
                  <a:uFillTx/>
                  <a:latin typeface="Arial" panose="020B0604020202020204"/>
                  <a:ea typeface="+mn-ea"/>
                  <a:cs typeface="+mn-cs"/>
                </a:rPr>
                <a:t>(n=</a:t>
              </a:r>
              <a:r>
                <a:rPr lang="en-US" sz="900">
                  <a:latin typeface="Arial" panose="020B0604020202020204"/>
                </a:rPr>
                <a:t>25</a:t>
              </a:r>
              <a:r>
                <a:rPr kumimoji="0" lang="en-US" sz="900" i="0" u="none" strike="noStrike" kern="1200" cap="none" spc="0" normalizeH="0" baseline="0" noProof="0">
                  <a:ln>
                    <a:noFill/>
                  </a:ln>
                  <a:effectLst/>
                  <a:uLnTx/>
                  <a:uFillTx/>
                  <a:latin typeface="Arial" panose="020B0604020202020204"/>
                  <a:ea typeface="+mn-ea"/>
                  <a:cs typeface="+mn-cs"/>
                </a:rPr>
                <a:t>)</a:t>
              </a:r>
              <a:r>
                <a:rPr lang="en-US" sz="900">
                  <a:solidFill>
                    <a:srgbClr val="FF0000"/>
                  </a:solidFill>
                </a:rPr>
                <a:t>*</a:t>
              </a:r>
              <a:endParaRPr kumimoji="0" lang="en-US" sz="900" i="0" u="none" strike="noStrike" kern="1200" cap="none" spc="0" normalizeH="0" baseline="0" noProof="0">
                <a:ln>
                  <a:noFill/>
                </a:ln>
                <a:effectLst/>
                <a:uLnTx/>
                <a:uFillTx/>
                <a:latin typeface="Arial" panose="020B0604020202020204"/>
                <a:ea typeface="+mn-ea"/>
                <a:cs typeface="+mn-cs"/>
              </a:endParaRPr>
            </a:p>
          </p:txBody>
        </p:sp>
        <p:sp>
          <p:nvSpPr>
            <p:cNvPr id="1053" name="TextBox 1052">
              <a:extLst>
                <a:ext uri="{FF2B5EF4-FFF2-40B4-BE49-F238E27FC236}">
                  <a16:creationId xmlns:a16="http://schemas.microsoft.com/office/drawing/2014/main" id="{4EACEAF6-1E1B-DF3A-5BD2-F95D1AD1F419}"/>
                </a:ext>
              </a:extLst>
            </p:cNvPr>
            <p:cNvSpPr txBox="1"/>
            <p:nvPr/>
          </p:nvSpPr>
          <p:spPr bwMode="gray">
            <a:xfrm>
              <a:off x="8696959" y="3838571"/>
              <a:ext cx="477296" cy="216982"/>
            </a:xfrm>
            <a:prstGeom prst="rect">
              <a:avLst/>
            </a:prstGeom>
            <a:grpFill/>
          </p:spPr>
          <p:txBody>
            <a:bodyPr wrap="squar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effectLst/>
                  <a:uLnTx/>
                  <a:uFillTx/>
                  <a:latin typeface="Arial" panose="020B0604020202020204"/>
                  <a:ea typeface="+mn-ea"/>
                  <a:cs typeface="+mn-cs"/>
                </a:rPr>
                <a:t>(n=30)</a:t>
              </a:r>
            </a:p>
          </p:txBody>
        </p:sp>
      </p:grpSp>
      <p:grpSp>
        <p:nvGrpSpPr>
          <p:cNvPr id="1041" name="Group 1040">
            <a:extLst>
              <a:ext uri="{FF2B5EF4-FFF2-40B4-BE49-F238E27FC236}">
                <a16:creationId xmlns:a16="http://schemas.microsoft.com/office/drawing/2014/main" id="{0F29CABD-3245-43AB-2BF0-7D4496B81E35}"/>
              </a:ext>
            </a:extLst>
          </p:cNvPr>
          <p:cNvGrpSpPr/>
          <p:nvPr/>
        </p:nvGrpSpPr>
        <p:grpSpPr>
          <a:xfrm>
            <a:off x="10870598" y="2758688"/>
            <a:ext cx="654077" cy="2438472"/>
            <a:chOff x="10602243" y="3153272"/>
            <a:chExt cx="654077" cy="2438472"/>
          </a:xfrm>
          <a:noFill/>
        </p:grpSpPr>
        <p:sp>
          <p:nvSpPr>
            <p:cNvPr id="1042" name="Left Brace 1041">
              <a:extLst>
                <a:ext uri="{FF2B5EF4-FFF2-40B4-BE49-F238E27FC236}">
                  <a16:creationId xmlns:a16="http://schemas.microsoft.com/office/drawing/2014/main" id="{5D72CDCF-DC2A-5A45-BEA3-9FC1F98D6768}"/>
                </a:ext>
              </a:extLst>
            </p:cNvPr>
            <p:cNvSpPr/>
            <p:nvPr/>
          </p:nvSpPr>
          <p:spPr bwMode="gray">
            <a:xfrm flipH="1">
              <a:off x="10602243" y="3153272"/>
              <a:ext cx="142240" cy="1107989"/>
            </a:xfrm>
            <a:prstGeom prst="leftBrace">
              <a:avLst/>
            </a:prstGeom>
            <a:grpFill/>
            <a:ln>
              <a:solidFill>
                <a:srgbClr val="62B96A"/>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43" name="TextBox 1042">
              <a:extLst>
                <a:ext uri="{FF2B5EF4-FFF2-40B4-BE49-F238E27FC236}">
                  <a16:creationId xmlns:a16="http://schemas.microsoft.com/office/drawing/2014/main" id="{8C3A4C44-E552-49C4-6BA3-E75DBAA183B1}"/>
                </a:ext>
              </a:extLst>
            </p:cNvPr>
            <p:cNvSpPr txBox="1"/>
            <p:nvPr/>
          </p:nvSpPr>
          <p:spPr bwMode="gray">
            <a:xfrm>
              <a:off x="10776206" y="3564150"/>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46%</a:t>
              </a:r>
            </a:p>
          </p:txBody>
        </p:sp>
        <p:sp>
          <p:nvSpPr>
            <p:cNvPr id="1044" name="Left Brace 1043">
              <a:extLst>
                <a:ext uri="{FF2B5EF4-FFF2-40B4-BE49-F238E27FC236}">
                  <a16:creationId xmlns:a16="http://schemas.microsoft.com/office/drawing/2014/main" id="{03E078F3-38B5-476E-DEDC-0EEB13C36DD7}"/>
                </a:ext>
              </a:extLst>
            </p:cNvPr>
            <p:cNvSpPr/>
            <p:nvPr/>
          </p:nvSpPr>
          <p:spPr bwMode="gray">
            <a:xfrm flipH="1">
              <a:off x="10602243" y="4469468"/>
              <a:ext cx="142240" cy="1122276"/>
            </a:xfrm>
            <a:prstGeom prst="leftBrace">
              <a:avLst/>
            </a:prstGeom>
            <a:grpFill/>
            <a:ln>
              <a:solidFill>
                <a:schemeClr val="accent6"/>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45" name="TextBox 1044">
              <a:extLst>
                <a:ext uri="{FF2B5EF4-FFF2-40B4-BE49-F238E27FC236}">
                  <a16:creationId xmlns:a16="http://schemas.microsoft.com/office/drawing/2014/main" id="{8DD6DD63-0CB5-F577-8149-5720207E7CFB}"/>
                </a:ext>
              </a:extLst>
            </p:cNvPr>
            <p:cNvSpPr txBox="1"/>
            <p:nvPr/>
          </p:nvSpPr>
          <p:spPr bwMode="gray">
            <a:xfrm>
              <a:off x="10776206" y="4890239"/>
              <a:ext cx="451406" cy="286232"/>
            </a:xfrm>
            <a:prstGeom prst="rect">
              <a:avLst/>
            </a:prstGeom>
            <a:grp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46%</a:t>
              </a:r>
            </a:p>
          </p:txBody>
        </p:sp>
        <p:sp>
          <p:nvSpPr>
            <p:cNvPr id="1046" name="TextBox 1045">
              <a:extLst>
                <a:ext uri="{FF2B5EF4-FFF2-40B4-BE49-F238E27FC236}">
                  <a16:creationId xmlns:a16="http://schemas.microsoft.com/office/drawing/2014/main" id="{3AF35955-0EA8-357E-A274-C96C1270E705}"/>
                </a:ext>
              </a:extLst>
            </p:cNvPr>
            <p:cNvSpPr txBox="1"/>
            <p:nvPr/>
          </p:nvSpPr>
          <p:spPr bwMode="gray">
            <a:xfrm>
              <a:off x="10779023" y="5094438"/>
              <a:ext cx="477297" cy="216982"/>
            </a:xfrm>
            <a:prstGeom prst="rect">
              <a:avLst/>
            </a:prstGeom>
            <a:grpFill/>
          </p:spPr>
          <p:txBody>
            <a:bodyPr wrap="square" lIns="45720" tIns="45720" rIns="45720" bIns="45720" rtlCol="0">
              <a:spAutoFit/>
            </a:bodyPr>
            <a:lstStyle/>
            <a:p>
              <a:pPr>
                <a:lnSpc>
                  <a:spcPct val="90000"/>
                </a:lnSpc>
                <a:spcAft>
                  <a:spcPts val="400"/>
                </a:spcAft>
              </a:pPr>
              <a:r>
                <a:rPr kumimoji="0" lang="en-US" sz="900" i="0" u="none" strike="noStrike" kern="1200" cap="none" spc="0" normalizeH="0" baseline="0" noProof="0">
                  <a:ln>
                    <a:noFill/>
                  </a:ln>
                  <a:effectLst/>
                  <a:uLnTx/>
                  <a:uFillTx/>
                  <a:latin typeface="Arial" panose="020B0604020202020204"/>
                  <a:ea typeface="+mn-ea"/>
                  <a:cs typeface="+mn-cs"/>
                </a:rPr>
                <a:t>(n=</a:t>
              </a:r>
              <a:r>
                <a:rPr lang="en-US" sz="900">
                  <a:latin typeface="Arial" panose="020B0604020202020204"/>
                </a:rPr>
                <a:t>11</a:t>
              </a:r>
              <a:r>
                <a:rPr kumimoji="0" lang="en-US" sz="900" i="0" u="none" strike="noStrike" kern="1200" cap="none" spc="0" normalizeH="0" baseline="0" noProof="0">
                  <a:ln>
                    <a:noFill/>
                  </a:ln>
                  <a:effectLst/>
                  <a:uLnTx/>
                  <a:uFillTx/>
                  <a:latin typeface="Arial" panose="020B0604020202020204"/>
                  <a:ea typeface="+mn-ea"/>
                  <a:cs typeface="+mn-cs"/>
                </a:rPr>
                <a:t>)</a:t>
              </a:r>
              <a:r>
                <a:rPr lang="en-US" sz="900">
                  <a:solidFill>
                    <a:srgbClr val="FF0000"/>
                  </a:solidFill>
                </a:rPr>
                <a:t>*</a:t>
              </a:r>
              <a:endParaRPr kumimoji="0" lang="en-US" sz="900" i="0" u="none" strike="noStrike" kern="1200" cap="none" spc="0" normalizeH="0" baseline="0" noProof="0">
                <a:ln>
                  <a:noFill/>
                </a:ln>
                <a:effectLst/>
                <a:uLnTx/>
                <a:uFillTx/>
                <a:latin typeface="Arial" panose="020B0604020202020204"/>
                <a:ea typeface="+mn-ea"/>
                <a:cs typeface="+mn-cs"/>
              </a:endParaRPr>
            </a:p>
          </p:txBody>
        </p:sp>
        <p:sp>
          <p:nvSpPr>
            <p:cNvPr id="1047" name="TextBox 1046">
              <a:extLst>
                <a:ext uri="{FF2B5EF4-FFF2-40B4-BE49-F238E27FC236}">
                  <a16:creationId xmlns:a16="http://schemas.microsoft.com/office/drawing/2014/main" id="{9EB61616-88B5-C527-D9E2-F7CABE2C4579}"/>
                </a:ext>
              </a:extLst>
            </p:cNvPr>
            <p:cNvSpPr txBox="1"/>
            <p:nvPr/>
          </p:nvSpPr>
          <p:spPr bwMode="gray">
            <a:xfrm>
              <a:off x="10750316" y="3773572"/>
              <a:ext cx="477296" cy="216982"/>
            </a:xfrm>
            <a:prstGeom prst="rect">
              <a:avLst/>
            </a:prstGeom>
            <a:grpFill/>
          </p:spPr>
          <p:txBody>
            <a:bodyPr wrap="square" lIns="45720" tIns="45720" rIns="45720" bIns="45720" rtlCol="0">
              <a:spAutoFit/>
            </a:bodyPr>
            <a:lstStyle/>
            <a:p>
              <a:pPr>
                <a:lnSpc>
                  <a:spcPct val="90000"/>
                </a:lnSpc>
                <a:spcAft>
                  <a:spcPts val="400"/>
                </a:spcAft>
              </a:pPr>
              <a:r>
                <a:rPr kumimoji="0" lang="en-US" sz="900" i="0" u="none" strike="noStrike" kern="1200" cap="none" spc="0" normalizeH="0" baseline="0" noProof="0">
                  <a:ln>
                    <a:noFill/>
                  </a:ln>
                  <a:effectLst/>
                  <a:uLnTx/>
                  <a:uFillTx/>
                  <a:latin typeface="Arial" panose="020B0604020202020204"/>
                  <a:ea typeface="+mn-ea"/>
                  <a:cs typeface="+mn-cs"/>
                </a:rPr>
                <a:t>(n=11)</a:t>
              </a:r>
              <a:r>
                <a:rPr lang="en-US" sz="900">
                  <a:solidFill>
                    <a:srgbClr val="FF0000"/>
                  </a:solidFill>
                </a:rPr>
                <a:t>*</a:t>
              </a:r>
              <a:endParaRPr kumimoji="0" lang="en-US" sz="900" i="0" u="none" strike="noStrike" kern="1200" cap="none" spc="0" normalizeH="0" baseline="0" noProof="0">
                <a:ln>
                  <a:noFill/>
                </a:ln>
                <a:effectLst/>
                <a:uLnTx/>
                <a:uFillTx/>
                <a:latin typeface="Arial" panose="020B0604020202020204"/>
                <a:ea typeface="+mn-ea"/>
                <a:cs typeface="+mn-cs"/>
              </a:endParaRPr>
            </a:p>
          </p:txBody>
        </p:sp>
      </p:grpSp>
      <p:sp>
        <p:nvSpPr>
          <p:cNvPr id="1067" name="TextBox 1066">
            <a:extLst>
              <a:ext uri="{FF2B5EF4-FFF2-40B4-BE49-F238E27FC236}">
                <a16:creationId xmlns:a16="http://schemas.microsoft.com/office/drawing/2014/main" id="{CBC6B1F8-1D18-F515-4301-1D19F7BC2100}"/>
              </a:ext>
            </a:extLst>
          </p:cNvPr>
          <p:cNvSpPr txBox="1"/>
          <p:nvPr/>
        </p:nvSpPr>
        <p:spPr bwMode="gray">
          <a:xfrm>
            <a:off x="10339649" y="1602096"/>
            <a:ext cx="1542410"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00C9"/>
                </a:solidFill>
                <a:effectLst/>
                <a:uLnTx/>
                <a:uFillTx/>
                <a:latin typeface="Arial" panose="020B0604020202020204"/>
                <a:ea typeface="+mn-ea"/>
                <a:cs typeface="+mn-cs"/>
              </a:rPr>
              <a:t>By Stocking Groups</a:t>
            </a:r>
          </a:p>
        </p:txBody>
      </p:sp>
      <p:graphicFrame>
        <p:nvGraphicFramePr>
          <p:cNvPr id="9" name="Table 8">
            <a:extLst>
              <a:ext uri="{FF2B5EF4-FFF2-40B4-BE49-F238E27FC236}">
                <a16:creationId xmlns:a16="http://schemas.microsoft.com/office/drawing/2014/main" id="{641C2A83-E57D-EEB7-7847-E4D21ACFA72A}"/>
              </a:ext>
            </a:extLst>
          </p:cNvPr>
          <p:cNvGraphicFramePr>
            <a:graphicFrameLocks noGrp="1"/>
          </p:cNvGraphicFramePr>
          <p:nvPr>
            <p:extLst>
              <p:ext uri="{D42A27DB-BD31-4B8C-83A1-F6EECF244321}">
                <p14:modId xmlns:p14="http://schemas.microsoft.com/office/powerpoint/2010/main" val="2330537190"/>
              </p:ext>
            </p:extLst>
          </p:nvPr>
        </p:nvGraphicFramePr>
        <p:xfrm>
          <a:off x="1358029" y="1839693"/>
          <a:ext cx="10524030" cy="3515340"/>
        </p:xfrm>
        <a:graphic>
          <a:graphicData uri="http://schemas.openxmlformats.org/drawingml/2006/table">
            <a:tbl>
              <a:tblPr firstRow="1" bandRow="1">
                <a:tableStyleId>{5940675A-B579-460E-94D1-54222C63F5DA}</a:tableStyleId>
              </a:tblPr>
              <a:tblGrid>
                <a:gridCol w="2104806">
                  <a:extLst>
                    <a:ext uri="{9D8B030D-6E8A-4147-A177-3AD203B41FA5}">
                      <a16:colId xmlns:a16="http://schemas.microsoft.com/office/drawing/2014/main" val="88382077"/>
                    </a:ext>
                  </a:extLst>
                </a:gridCol>
                <a:gridCol w="2104806">
                  <a:extLst>
                    <a:ext uri="{9D8B030D-6E8A-4147-A177-3AD203B41FA5}">
                      <a16:colId xmlns:a16="http://schemas.microsoft.com/office/drawing/2014/main" val="1368809881"/>
                    </a:ext>
                  </a:extLst>
                </a:gridCol>
                <a:gridCol w="2104806">
                  <a:extLst>
                    <a:ext uri="{9D8B030D-6E8A-4147-A177-3AD203B41FA5}">
                      <a16:colId xmlns:a16="http://schemas.microsoft.com/office/drawing/2014/main" val="198720600"/>
                    </a:ext>
                  </a:extLst>
                </a:gridCol>
                <a:gridCol w="2104806">
                  <a:extLst>
                    <a:ext uri="{9D8B030D-6E8A-4147-A177-3AD203B41FA5}">
                      <a16:colId xmlns:a16="http://schemas.microsoft.com/office/drawing/2014/main" val="2700780626"/>
                    </a:ext>
                  </a:extLst>
                </a:gridCol>
                <a:gridCol w="2104806">
                  <a:extLst>
                    <a:ext uri="{9D8B030D-6E8A-4147-A177-3AD203B41FA5}">
                      <a16:colId xmlns:a16="http://schemas.microsoft.com/office/drawing/2014/main" val="2885099842"/>
                    </a:ext>
                  </a:extLst>
                </a:gridCol>
              </a:tblGrid>
              <a:tr h="156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accent1"/>
                          </a:solidFill>
                        </a:rPr>
                        <a:t>Stock Trumenba</a:t>
                      </a:r>
                      <a:r>
                        <a:rPr lang="en-US" sz="1600" b="1" baseline="30000" dirty="0">
                          <a:solidFill>
                            <a:schemeClr val="accent1"/>
                          </a:solidFill>
                        </a:rPr>
                        <a:t>1</a:t>
                      </a:r>
                      <a:endParaRPr lang="en-US" sz="1600" i="1" baseline="30000" dirty="0">
                        <a:solidFill>
                          <a:schemeClr val="bg1">
                            <a:lumMod val="50000"/>
                          </a:schemeClr>
                        </a:solidFill>
                      </a:endParaRPr>
                    </a:p>
                  </a:txBody>
                  <a:tcPr>
                    <a:lnL w="12700" cmpd="sng">
                      <a:noFill/>
                    </a:lnL>
                    <a:lnR w="12700" cap="flat" cmpd="sng" algn="ctr">
                      <a:solidFill>
                        <a:schemeClr val="bg1">
                          <a:lumMod val="65000"/>
                        </a:schemeClr>
                      </a:solidFill>
                      <a:prstDash val="sysDashDot"/>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ctr"/>
                      <a:r>
                        <a:rPr lang="en-US" sz="1600" b="1" dirty="0">
                          <a:solidFill>
                            <a:schemeClr val="accent1"/>
                          </a:solidFill>
                        </a:rPr>
                        <a:t>Continue Stocking Bexsero</a:t>
                      </a:r>
                      <a:r>
                        <a:rPr lang="en-US" sz="1600" b="1" baseline="30000" dirty="0">
                          <a:solidFill>
                            <a:schemeClr val="accent1"/>
                          </a:solidFill>
                        </a:rPr>
                        <a:t>2</a:t>
                      </a:r>
                      <a:endParaRPr lang="en-US" sz="1600" baseline="30000" dirty="0"/>
                    </a:p>
                  </a:txBody>
                  <a:tcPr>
                    <a:lnL w="12700" cap="flat" cmpd="sng" algn="ctr">
                      <a:solidFill>
                        <a:schemeClr val="bg1">
                          <a:lumMod val="65000"/>
                        </a:schemeClr>
                      </a:solidFill>
                      <a:prstDash val="sysDash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en-US" sz="1200" dirty="0"/>
                    </a:p>
                  </a:txBody>
                  <a:tcPr/>
                </a:tc>
                <a:tc hMerge="1">
                  <a:txBody>
                    <a:bodyPr/>
                    <a:lstStyle/>
                    <a:p>
                      <a:pPr algn="ctr"/>
                      <a:endParaRPr lang="en-US" sz="1200" dirty="0"/>
                    </a:p>
                  </a:txBody>
                  <a:tcPr/>
                </a:tc>
                <a:tc hMerge="1">
                  <a:txBody>
                    <a:bodyPr/>
                    <a:lstStyle/>
                    <a:p>
                      <a:pPr algn="ctr"/>
                      <a:endParaRPr lang="en-US" sz="1200" dirty="0"/>
                    </a:p>
                  </a:txBody>
                  <a:tcPr/>
                </a:tc>
                <a:extLst>
                  <a:ext uri="{0D108BD9-81ED-4DB2-BD59-A6C34878D82A}">
                    <a16:rowId xmlns:a16="http://schemas.microsoft.com/office/drawing/2014/main" val="342334954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50" b="1" i="1" dirty="0">
                          <a:solidFill>
                            <a:schemeClr val="accent1"/>
                          </a:solidFill>
                        </a:rPr>
                        <a:t>Trumenba non-stockers</a:t>
                      </a:r>
                      <a:endParaRPr lang="en-US" sz="950" b="1" dirty="0"/>
                    </a:p>
                  </a:txBody>
                  <a:tcPr>
                    <a:lnL w="12700" cmpd="sng">
                      <a:noFill/>
                    </a:lnL>
                    <a:lnR w="12700" cap="flat" cmpd="sng" algn="ctr">
                      <a:solidFill>
                        <a:schemeClr val="bg1">
                          <a:lumMod val="65000"/>
                        </a:schemeClr>
                      </a:solidFill>
                      <a:prstDash val="sysDashDot"/>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50" b="1" i="1" kern="1200" dirty="0">
                          <a:solidFill>
                            <a:schemeClr val="accent1"/>
                          </a:solidFill>
                          <a:latin typeface="+mn-lt"/>
                          <a:ea typeface="+mn-ea"/>
                          <a:cs typeface="+mn-cs"/>
                        </a:rPr>
                        <a:t>Total Bexsero stockers </a:t>
                      </a:r>
                      <a:endParaRPr lang="en-US" sz="950" b="1" dirty="0"/>
                    </a:p>
                  </a:txBody>
                  <a:tcPr>
                    <a:lnL w="12700" cap="flat" cmpd="sng" algn="ctr">
                      <a:solidFill>
                        <a:schemeClr val="bg1">
                          <a:lumMod val="65000"/>
                        </a:schemeClr>
                      </a:solidFill>
                      <a:prstDash val="sysDashDot"/>
                      <a:round/>
                      <a:headEnd type="none" w="med" len="med"/>
                      <a:tailEnd type="none" w="med" len="med"/>
                    </a:lnL>
                    <a:lnR w="12700" cap="flat" cmpd="sng" algn="ctr">
                      <a:solidFill>
                        <a:schemeClr val="bg1">
                          <a:lumMod val="85000"/>
                        </a:schemeClr>
                      </a:solidFill>
                      <a:prstDash val="sysDashDot"/>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50" b="1" i="1" kern="1200" dirty="0">
                          <a:solidFill>
                            <a:schemeClr val="accent1">
                              <a:lumMod val="40000"/>
                              <a:lumOff val="60000"/>
                            </a:schemeClr>
                          </a:solidFill>
                          <a:latin typeface="+mn-lt"/>
                          <a:ea typeface="+mn-ea"/>
                          <a:cs typeface="+mn-cs"/>
                        </a:rPr>
                        <a:t>Bexsero Only stockers</a:t>
                      </a:r>
                    </a:p>
                  </a:txBody>
                  <a:tcPr>
                    <a:lnL w="12700" cap="flat" cmpd="sng" algn="ctr">
                      <a:solidFill>
                        <a:schemeClr val="bg1">
                          <a:lumMod val="85000"/>
                        </a:schemeClr>
                      </a:solidFill>
                      <a:prstDash val="sysDash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50" b="1" i="1" kern="1200" dirty="0">
                          <a:solidFill>
                            <a:schemeClr val="accent1">
                              <a:lumMod val="40000"/>
                              <a:lumOff val="60000"/>
                            </a:schemeClr>
                          </a:solidFill>
                          <a:latin typeface="+mn-lt"/>
                          <a:ea typeface="+mn-ea"/>
                          <a:cs typeface="+mn-cs"/>
                        </a:rPr>
                        <a:t>Bexsero &amp; Trumenba stockers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50" b="1" i="1" kern="1200" dirty="0">
                          <a:solidFill>
                            <a:schemeClr val="accent1">
                              <a:lumMod val="40000"/>
                              <a:lumOff val="60000"/>
                            </a:schemeClr>
                          </a:solidFill>
                          <a:latin typeface="+mn-lt"/>
                          <a:ea typeface="+mn-ea"/>
                          <a:cs typeface="+mn-cs"/>
                        </a:rPr>
                        <a:t>Bexsero &amp; Penbraya stockers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35045945"/>
                  </a:ext>
                </a:extLst>
              </a:tr>
              <a:tr h="0">
                <a:tc>
                  <a:txBody>
                    <a:bodyPr/>
                    <a:lstStyle/>
                    <a:p>
                      <a:pPr algn="ctr"/>
                      <a:r>
                        <a:rPr lang="en-US" sz="1000" dirty="0">
                          <a:solidFill>
                            <a:schemeClr val="tx1">
                              <a:lumMod val="65000"/>
                              <a:lumOff val="35000"/>
                            </a:schemeClr>
                          </a:solidFill>
                        </a:rPr>
                        <a:t>n=87</a:t>
                      </a:r>
                    </a:p>
                  </a:txBody>
                  <a:tcPr>
                    <a:lnL w="12700" cmpd="sng">
                      <a:noFill/>
                    </a:lnL>
                    <a:lnR w="12700" cap="flat" cmpd="sng" algn="ctr">
                      <a:solidFill>
                        <a:schemeClr val="bg1">
                          <a:lumMod val="65000"/>
                        </a:schemeClr>
                      </a:solidFill>
                      <a:prstDash val="sysDashDot"/>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000" dirty="0">
                          <a:solidFill>
                            <a:schemeClr val="tx1">
                              <a:lumMod val="65000"/>
                              <a:lumOff val="35000"/>
                            </a:schemeClr>
                          </a:solidFill>
                        </a:rPr>
                        <a:t>n=146</a:t>
                      </a:r>
                    </a:p>
                  </a:txBody>
                  <a:tcPr>
                    <a:lnL w="12700" cap="flat" cmpd="sng" algn="ctr">
                      <a:solidFill>
                        <a:schemeClr val="bg1">
                          <a:lumMod val="65000"/>
                        </a:schemeClr>
                      </a:solidFill>
                      <a:prstDash val="sysDashDot"/>
                      <a:round/>
                      <a:headEnd type="none" w="med" len="med"/>
                      <a:tailEnd type="none" w="med" len="med"/>
                    </a:lnL>
                    <a:lnR w="12700" cap="flat" cmpd="sng" algn="ctr">
                      <a:solidFill>
                        <a:schemeClr val="bg1">
                          <a:lumMod val="85000"/>
                        </a:schemeClr>
                      </a:solidFill>
                      <a:prstDash val="sysDashDot"/>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000" dirty="0">
                          <a:solidFill>
                            <a:schemeClr val="tx1">
                              <a:lumMod val="65000"/>
                              <a:lumOff val="35000"/>
                            </a:schemeClr>
                          </a:solidFill>
                        </a:rPr>
                        <a:t>n=87</a:t>
                      </a:r>
                    </a:p>
                  </a:txBody>
                  <a:tcPr>
                    <a:lnL w="12700" cap="flat" cmpd="sng" algn="ctr">
                      <a:solidFill>
                        <a:schemeClr val="bg1">
                          <a:lumMod val="85000"/>
                        </a:schemeClr>
                      </a:solidFill>
                      <a:prstDash val="sysDash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dirty="0">
                          <a:solidFill>
                            <a:schemeClr val="tx1">
                              <a:lumMod val="65000"/>
                              <a:lumOff val="35000"/>
                            </a:schemeClr>
                          </a:solidFill>
                        </a:rPr>
                        <a:t>n=59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dirty="0">
                          <a:solidFill>
                            <a:schemeClr val="tx1">
                              <a:lumMod val="65000"/>
                              <a:lumOff val="35000"/>
                            </a:schemeClr>
                          </a:solidFill>
                        </a:rPr>
                        <a:t>n=24</a:t>
                      </a:r>
                      <a:r>
                        <a:rPr lang="en-US" sz="1000" dirty="0">
                          <a:solidFill>
                            <a:srgbClr val="FF0000"/>
                          </a:solidFill>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72468470"/>
                  </a:ext>
                </a:extLst>
              </a:tr>
              <a:tr h="2700000">
                <a:tc>
                  <a:txBody>
                    <a:bodyPr/>
                    <a:lstStyle/>
                    <a:p>
                      <a:endParaRPr lang="en-US" dirty="0"/>
                    </a:p>
                  </a:txBody>
                  <a:tcPr>
                    <a:lnL w="12700" cmpd="sng">
                      <a:noFill/>
                    </a:lnL>
                    <a:lnR w="12700" cap="flat" cmpd="sng" algn="ctr">
                      <a:solidFill>
                        <a:schemeClr val="bg1">
                          <a:lumMod val="65000"/>
                        </a:schemeClr>
                      </a:solidFill>
                      <a:prstDash val="sysDashDot"/>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lumMod val="65000"/>
                        </a:schemeClr>
                      </a:solidFill>
                      <a:prstDash val="sysDashDot"/>
                      <a:round/>
                      <a:headEnd type="none" w="med" len="med"/>
                      <a:tailEnd type="none" w="med" len="med"/>
                    </a:lnL>
                    <a:lnR w="12700" cap="flat" cmpd="sng" algn="ctr">
                      <a:solidFill>
                        <a:schemeClr val="bg1">
                          <a:lumMod val="85000"/>
                        </a:schemeClr>
                      </a:solidFill>
                      <a:prstDash val="sysDashDot"/>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lumMod val="85000"/>
                        </a:schemeClr>
                      </a:solidFill>
                      <a:prstDash val="sysDash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269278"/>
                  </a:ext>
                </a:extLst>
              </a:tr>
            </a:tbl>
          </a:graphicData>
        </a:graphic>
      </p:graphicFrame>
      <p:sp>
        <p:nvSpPr>
          <p:cNvPr id="1033" name="TextBox 1032">
            <a:extLst>
              <a:ext uri="{FF2B5EF4-FFF2-40B4-BE49-F238E27FC236}">
                <a16:creationId xmlns:a16="http://schemas.microsoft.com/office/drawing/2014/main" id="{58F25146-B206-5C3D-76EC-5C0B32DCB924}"/>
              </a:ext>
            </a:extLst>
          </p:cNvPr>
          <p:cNvSpPr txBox="1"/>
          <p:nvPr/>
        </p:nvSpPr>
        <p:spPr bwMode="gray">
          <a:xfrm>
            <a:off x="2722516" y="5078934"/>
            <a:ext cx="1368000" cy="3323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Penbraya</a:t>
            </a:r>
            <a:r>
              <a:rPr kumimoji="0" lang="en-US" sz="900" b="0" i="0" u="none" strike="noStrike" kern="1200" cap="none" spc="0" normalizeH="0" noProof="0" dirty="0">
                <a:ln>
                  <a:noFill/>
                </a:ln>
                <a:solidFill>
                  <a:srgbClr val="000000">
                    <a:lumMod val="50000"/>
                    <a:lumOff val="50000"/>
                  </a:srgbClr>
                </a:solidFill>
                <a:effectLst/>
                <a:uLnTx/>
                <a:uFillTx/>
                <a:latin typeface="Arial" panose="020B0604020202020204"/>
                <a:ea typeface="+mn-ea"/>
                <a:cs typeface="+mn-cs"/>
              </a:rPr>
              <a:t> Advantage </a:t>
            </a:r>
            <a:r>
              <a:rPr kumimoji="0" lang="en-US" sz="900" b="0" i="0" u="none" strike="noStrike" kern="1200" cap="none" spc="0" normalizeH="0" baseline="0" noProof="0" dirty="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&gt;</a:t>
            </a:r>
            <a:br>
              <a:rPr kumimoji="0" lang="en-US" sz="900" b="0" i="0" u="none" strike="noStrike" kern="1200" cap="none" spc="0" normalizeH="0" baseline="0" noProof="0" dirty="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dirty="0" err="1">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Penmenvy</a:t>
            </a:r>
            <a:r>
              <a:rPr kumimoji="0" lang="en-US" sz="900" b="0" i="0" u="none" strike="noStrike" kern="1200" cap="none" spc="0" normalizeH="0" baseline="0" noProof="0" dirty="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/No Preference</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069" name="Speech Bubble: Rectangle with Corners Rounded 1068">
            <a:extLst>
              <a:ext uri="{FF2B5EF4-FFF2-40B4-BE49-F238E27FC236}">
                <a16:creationId xmlns:a16="http://schemas.microsoft.com/office/drawing/2014/main" id="{568A0630-DB9B-6541-28CB-68DA27157DA0}"/>
              </a:ext>
            </a:extLst>
          </p:cNvPr>
          <p:cNvSpPr/>
          <p:nvPr/>
        </p:nvSpPr>
        <p:spPr bwMode="gray">
          <a:xfrm>
            <a:off x="4426083" y="5411333"/>
            <a:ext cx="6770451" cy="556042"/>
          </a:xfrm>
          <a:prstGeom prst="wedgeRoundRectCallout">
            <a:avLst>
              <a:gd name="adj1" fmla="val -41523"/>
              <a:gd name="adj2" fmla="val -101948"/>
              <a:gd name="adj3" fmla="val 16667"/>
            </a:avLst>
          </a:prstGeom>
          <a:solidFill>
            <a:schemeClr val="bg1">
              <a:lumMod val="95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r>
              <a:rPr lang="en-US" sz="1400" dirty="0">
                <a:solidFill>
                  <a:schemeClr val="accent1"/>
                </a:solidFill>
                <a:latin typeface="+mj-lt"/>
              </a:rPr>
              <a:t>~30% of HCPs stocking Bexsero indicate low likelihood of continuing, largely driven by those who also stock Trumenba and/or Penbraya</a:t>
            </a:r>
          </a:p>
        </p:txBody>
      </p:sp>
      <p:sp>
        <p:nvSpPr>
          <p:cNvPr id="1070" name="TextBox 1069">
            <a:extLst>
              <a:ext uri="{FF2B5EF4-FFF2-40B4-BE49-F238E27FC236}">
                <a16:creationId xmlns:a16="http://schemas.microsoft.com/office/drawing/2014/main" id="{F0B78DE0-3826-01CF-5FE9-0BBCCC15F4D0}"/>
              </a:ext>
            </a:extLst>
          </p:cNvPr>
          <p:cNvSpPr txBox="1"/>
          <p:nvPr/>
        </p:nvSpPr>
        <p:spPr bwMode="gray">
          <a:xfrm>
            <a:off x="9883302" y="1032820"/>
            <a:ext cx="2145183" cy="286232"/>
          </a:xfrm>
          <a:prstGeom prst="rect">
            <a:avLst/>
          </a:prstGeom>
          <a:solidFill>
            <a:srgbClr val="00B0F0"/>
          </a:solidFill>
        </p:spPr>
        <p:txBody>
          <a:bodyPr wrap="square" lIns="45720" tIns="45720" rIns="45720" bIns="45720" rtlCol="0">
            <a:spAutoFit/>
          </a:bodyPr>
          <a:lstStyle/>
          <a:p>
            <a:pPr marR="0" algn="ctr" defTabSz="914400" rtl="0" eaLnBrk="1" fontAlgn="auto" latinLnBrk="0" hangingPunct="1">
              <a:lnSpc>
                <a:spcPct val="90000"/>
              </a:lnSpc>
              <a:spcBef>
                <a:spcPts val="0"/>
              </a:spcBef>
              <a:spcAft>
                <a:spcPts val="400"/>
              </a:spcAft>
              <a:buClrTx/>
              <a:buSzTx/>
              <a:tabLst/>
            </a:pPr>
            <a:r>
              <a:rPr lang="en-US" sz="1400" b="1" dirty="0">
                <a:solidFill>
                  <a:schemeClr val="bg1"/>
                </a:solidFill>
                <a:latin typeface="Arial" panose="020B0604020202020204"/>
              </a:rPr>
              <a:t>UPDATED/NEW SLIDE</a:t>
            </a:r>
          </a:p>
        </p:txBody>
      </p:sp>
    </p:spTree>
    <p:extLst>
      <p:ext uri="{BB962C8B-B14F-4D97-AF65-F5344CB8AC3E}">
        <p14:creationId xmlns:p14="http://schemas.microsoft.com/office/powerpoint/2010/main" val="263722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0BAA92-327D-D2BE-596B-20C652BCCA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81A134F-A342-182D-FED8-CCC57C45B080}"/>
              </a:ext>
            </a:extLst>
          </p:cNvPr>
          <p:cNvSpPr>
            <a:spLocks noGrp="1"/>
          </p:cNvSpPr>
          <p:nvPr>
            <p:ph type="title"/>
          </p:nvPr>
        </p:nvSpPr>
        <p:spPr>
          <a:xfrm>
            <a:off x="1142123" y="170307"/>
            <a:ext cx="11046702" cy="850392"/>
          </a:xfrm>
        </p:spPr>
        <p:txBody>
          <a:bodyPr/>
          <a:lstStyle/>
          <a:p>
            <a:r>
              <a:rPr lang="en-US" dirty="0"/>
              <a:t>Bexsero stockers </a:t>
            </a:r>
            <a:r>
              <a:rPr lang="en-US"/>
              <a:t>who have</a:t>
            </a:r>
            <a:r>
              <a:rPr lang="en-US" dirty="0"/>
              <a:t> </a:t>
            </a:r>
            <a:r>
              <a:rPr lang="en-US"/>
              <a:t>a </a:t>
            </a:r>
            <a:r>
              <a:rPr lang="en-US" dirty="0"/>
              <a:t>low likelihood to continue stocking </a:t>
            </a:r>
            <a:r>
              <a:rPr lang="en-US"/>
              <a:t>have: greater </a:t>
            </a:r>
            <a:r>
              <a:rPr lang="en-US" dirty="0"/>
              <a:t>familiarity and preference for Trumenba </a:t>
            </a:r>
            <a:r>
              <a:rPr lang="en-US"/>
              <a:t>&amp;</a:t>
            </a:r>
            <a:r>
              <a:rPr lang="en-US" dirty="0"/>
              <a:t> Penbraya</a:t>
            </a:r>
            <a:r>
              <a:rPr lang="en-US"/>
              <a:t>, a </a:t>
            </a:r>
            <a:r>
              <a:rPr lang="en-US" dirty="0"/>
              <a:t>greater focus on pentavalent use, more concern and knowledge about </a:t>
            </a:r>
            <a:r>
              <a:rPr lang="en-US" dirty="0" err="1"/>
              <a:t>MenB</a:t>
            </a:r>
            <a:r>
              <a:rPr lang="en-US"/>
              <a:t>, and</a:t>
            </a:r>
            <a:r>
              <a:rPr lang="en-US" dirty="0"/>
              <a:t> less awareness of Bexsero’s updated dosing alignment </a:t>
            </a:r>
            <a:endParaRPr lang="en-US" strike="sngStrike" dirty="0"/>
          </a:p>
        </p:txBody>
      </p:sp>
      <p:sp>
        <p:nvSpPr>
          <p:cNvPr id="31" name="Text Placeholder 30">
            <a:extLst>
              <a:ext uri="{FF2B5EF4-FFF2-40B4-BE49-F238E27FC236}">
                <a16:creationId xmlns:a16="http://schemas.microsoft.com/office/drawing/2014/main" id="{808B4101-CF2C-5880-8666-B00E2BDD8686}"/>
              </a:ext>
            </a:extLst>
          </p:cNvPr>
          <p:cNvSpPr>
            <a:spLocks noGrp="1"/>
          </p:cNvSpPr>
          <p:nvPr>
            <p:ph type="body" sz="quarter" idx="16"/>
          </p:nvPr>
        </p:nvSpPr>
        <p:spPr>
          <a:xfrm>
            <a:off x="1571625" y="6320214"/>
            <a:ext cx="8896409" cy="454996"/>
          </a:xfrm>
        </p:spPr>
        <p:txBody>
          <a:bodyPr/>
          <a:lstStyle/>
          <a:p>
            <a:pPr marL="284163" indent="-284163"/>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marL="284163" indent="-284163"/>
            <a:r>
              <a:rPr lang="en-US" dirty="0"/>
              <a:t>P11.	Given the recommended dosing schedule with Penbraya, how likely are you to continue stocking Bexsero (GSK's Meningococcal Group B Vaccine) in your practice? </a:t>
            </a:r>
            <a:r>
              <a:rPr lang="en-US" dirty="0">
                <a:solidFill>
                  <a:srgbClr val="FF0000"/>
                </a:solidFill>
              </a:rPr>
              <a:t>Please consider your total stock of vaccines and existing contracts. </a:t>
            </a:r>
            <a:r>
              <a:rPr lang="en-US" dirty="0"/>
              <a:t>(7-pt scale: 1=Not at all </a:t>
            </a:r>
            <a:r>
              <a:rPr kumimoji="0" lang="en-US" sz="90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likely</a:t>
            </a:r>
            <a:r>
              <a:rPr lang="en-US" dirty="0"/>
              <a:t>, 7=Extremely </a:t>
            </a:r>
            <a:r>
              <a:rPr kumimoji="0" lang="en-US" sz="90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likely</a:t>
            </a:r>
            <a:r>
              <a:rPr lang="en-US" dirty="0"/>
              <a:t>)</a:t>
            </a:r>
            <a:endParaRPr kumimoji="0" lang="en-US" sz="90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grpSp>
        <p:nvGrpSpPr>
          <p:cNvPr id="21" name="Group 20">
            <a:extLst>
              <a:ext uri="{FF2B5EF4-FFF2-40B4-BE49-F238E27FC236}">
                <a16:creationId xmlns:a16="http://schemas.microsoft.com/office/drawing/2014/main" id="{C7249F77-04CA-E431-D2FC-245CACED5EF3}"/>
              </a:ext>
            </a:extLst>
          </p:cNvPr>
          <p:cNvGrpSpPr/>
          <p:nvPr/>
        </p:nvGrpSpPr>
        <p:grpSpPr>
          <a:xfrm>
            <a:off x="3531927" y="2589839"/>
            <a:ext cx="2104338" cy="448876"/>
            <a:chOff x="6750569" y="5112319"/>
            <a:chExt cx="2454531" cy="523576"/>
          </a:xfrm>
        </p:grpSpPr>
        <p:pic>
          <p:nvPicPr>
            <p:cNvPr id="1032" name="Picture 8" descr="Novartis Bexsero® Vaccine Approved By FDA For The, 44% OFF">
              <a:extLst>
                <a:ext uri="{FF2B5EF4-FFF2-40B4-BE49-F238E27FC236}">
                  <a16:creationId xmlns:a16="http://schemas.microsoft.com/office/drawing/2014/main" id="{8F12DB0D-3AC0-E8F4-089B-0DC39C0BF2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4498"/>
            <a:stretch/>
          </p:blipFill>
          <p:spPr bwMode="auto">
            <a:xfrm>
              <a:off x="7318396" y="5112319"/>
              <a:ext cx="1886704" cy="5235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Novartis Bexsero® Vaccine Approved By FDA For The, 44% OFF">
              <a:extLst>
                <a:ext uri="{FF2B5EF4-FFF2-40B4-BE49-F238E27FC236}">
                  <a16:creationId xmlns:a16="http://schemas.microsoft.com/office/drawing/2014/main" id="{00DFE865-98A1-422A-31B9-F28300AC66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864" t="-7115" r="39312" b="51640"/>
            <a:stretch/>
          </p:blipFill>
          <p:spPr bwMode="auto">
            <a:xfrm>
              <a:off x="6750569" y="5112442"/>
              <a:ext cx="449471" cy="523330"/>
            </a:xfrm>
            <a:prstGeom prst="rect">
              <a:avLst/>
            </a:prstGeom>
            <a:noFill/>
            <a:extLst>
              <a:ext uri="{909E8E84-426E-40DD-AFC4-6F175D3DCCD1}">
                <a14:hiddenFill xmlns:a14="http://schemas.microsoft.com/office/drawing/2010/main">
                  <a:solidFill>
                    <a:srgbClr val="FFFFFF"/>
                  </a:solidFill>
                </a14:hiddenFill>
              </a:ext>
            </a:extLst>
          </p:spPr>
        </p:pic>
      </p:grpSp>
      <p:sp>
        <p:nvSpPr>
          <p:cNvPr id="47" name="TextBox 46">
            <a:extLst>
              <a:ext uri="{FF2B5EF4-FFF2-40B4-BE49-F238E27FC236}">
                <a16:creationId xmlns:a16="http://schemas.microsoft.com/office/drawing/2014/main" id="{195E0473-8525-23DD-E699-3CE2DE27FFC8}"/>
              </a:ext>
            </a:extLst>
          </p:cNvPr>
          <p:cNvSpPr txBox="1"/>
          <p:nvPr/>
        </p:nvSpPr>
        <p:spPr bwMode="gray">
          <a:xfrm>
            <a:off x="2697763" y="1648240"/>
            <a:ext cx="7337906" cy="674031"/>
          </a:xfrm>
          <a:prstGeom prst="rect">
            <a:avLst/>
          </a:prstGeom>
        </p:spPr>
        <p:txBody>
          <a:bodyPr wrap="none" lIns="45720" tIns="45720" rIns="45720" bIns="45720" rtlCol="0">
            <a:spAutoFit/>
          </a:bodyPr>
          <a:lstStyle/>
          <a:p>
            <a:pPr algn="ctr">
              <a:lnSpc>
                <a:spcPct val="90000"/>
              </a:lnSpc>
              <a:spcAft>
                <a:spcPts val="400"/>
              </a:spcAft>
            </a:pPr>
            <a:r>
              <a:rPr lang="en-US" b="1" dirty="0">
                <a:solidFill>
                  <a:schemeClr val="accent1"/>
                </a:solidFill>
              </a:rPr>
              <a:t>Profile of HCPs with Low Likelihood to Continue Stocking Bexsero</a:t>
            </a:r>
            <a:br>
              <a:rPr lang="en-US" b="1" dirty="0">
                <a:solidFill>
                  <a:schemeClr val="accent1"/>
                </a:solidFill>
              </a:rPr>
            </a:br>
            <a:r>
              <a:rPr kumimoji="0" lang="en-US" sz="1400" b="0" i="1" u="none" strike="noStrike" kern="1200" cap="none" spc="0" normalizeH="0" baseline="0" noProof="0" dirty="0">
                <a:ln>
                  <a:noFill/>
                </a:ln>
                <a:solidFill>
                  <a:srgbClr val="0000C9"/>
                </a:solidFill>
                <a:effectLst/>
                <a:uLnTx/>
                <a:uFillTx/>
                <a:latin typeface="Arial" panose="020B0604020202020204"/>
                <a:ea typeface="+mn-ea"/>
                <a:cs typeface="+mn-cs"/>
              </a:rPr>
              <a:t>(among Bexsero stockers, n=146)</a:t>
            </a:r>
            <a:br>
              <a:rPr lang="en-US" b="1" i="1" dirty="0">
                <a:solidFill>
                  <a:schemeClr val="accent1"/>
                </a:solidFill>
              </a:rPr>
            </a:br>
            <a:r>
              <a:rPr kumimoji="0" lang="en-US" sz="1000" b="0" i="1"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HCPs</a:t>
            </a:r>
            <a:endParaRPr lang="en-US" sz="1200" dirty="0">
              <a:solidFill>
                <a:schemeClr val="bg1">
                  <a:lumMod val="50000"/>
                </a:schemeClr>
              </a:solidFill>
            </a:endParaRPr>
          </a:p>
        </p:txBody>
      </p:sp>
      <p:sp>
        <p:nvSpPr>
          <p:cNvPr id="13" name="Rectangle: Rounded Corners 12">
            <a:extLst>
              <a:ext uri="{FF2B5EF4-FFF2-40B4-BE49-F238E27FC236}">
                <a16:creationId xmlns:a16="http://schemas.microsoft.com/office/drawing/2014/main" id="{8B718E8C-32E8-EEF0-29A2-279799F2AD7C}"/>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30" name="Group 29">
            <a:extLst>
              <a:ext uri="{FF2B5EF4-FFF2-40B4-BE49-F238E27FC236}">
                <a16:creationId xmlns:a16="http://schemas.microsoft.com/office/drawing/2014/main" id="{607A777C-A9BA-F22B-C7F5-13465B508836}"/>
              </a:ext>
            </a:extLst>
          </p:cNvPr>
          <p:cNvGrpSpPr/>
          <p:nvPr/>
        </p:nvGrpSpPr>
        <p:grpSpPr>
          <a:xfrm>
            <a:off x="1073723" y="1600319"/>
            <a:ext cx="650178" cy="289396"/>
            <a:chOff x="1686341" y="1600319"/>
            <a:chExt cx="650178" cy="289396"/>
          </a:xfrm>
        </p:grpSpPr>
        <p:cxnSp>
          <p:nvCxnSpPr>
            <p:cNvPr id="45" name="Straight Connector 44">
              <a:extLst>
                <a:ext uri="{FF2B5EF4-FFF2-40B4-BE49-F238E27FC236}">
                  <a16:creationId xmlns:a16="http://schemas.microsoft.com/office/drawing/2014/main" id="{F67567A9-53CE-BEC5-4390-F28E1CBEFEC8}"/>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48" name="TextBox 47">
              <a:extLst>
                <a:ext uri="{FF2B5EF4-FFF2-40B4-BE49-F238E27FC236}">
                  <a16:creationId xmlns:a16="http://schemas.microsoft.com/office/drawing/2014/main" id="{6B0EC29A-F2AB-C6DA-897F-A302A61BC6B9}"/>
                </a:ext>
              </a:extLst>
            </p:cNvPr>
            <p:cNvSpPr txBox="1"/>
            <p:nvPr/>
          </p:nvSpPr>
          <p:spPr bwMode="gray">
            <a:xfrm>
              <a:off x="1686341" y="1600319"/>
              <a:ext cx="650178" cy="2862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p:txBody>
        </p:sp>
      </p:grpSp>
      <p:grpSp>
        <p:nvGrpSpPr>
          <p:cNvPr id="51" name="Group 50">
            <a:extLst>
              <a:ext uri="{FF2B5EF4-FFF2-40B4-BE49-F238E27FC236}">
                <a16:creationId xmlns:a16="http://schemas.microsoft.com/office/drawing/2014/main" id="{C9746898-79C3-5C8D-9714-EC18C5C4BABD}"/>
              </a:ext>
            </a:extLst>
          </p:cNvPr>
          <p:cNvGrpSpPr/>
          <p:nvPr/>
        </p:nvGrpSpPr>
        <p:grpSpPr>
          <a:xfrm>
            <a:off x="1069507" y="3069483"/>
            <a:ext cx="1806072" cy="2508358"/>
            <a:chOff x="5472607" y="3069483"/>
            <a:chExt cx="1806072" cy="2508358"/>
          </a:xfrm>
        </p:grpSpPr>
        <p:grpSp>
          <p:nvGrpSpPr>
            <p:cNvPr id="19" name="Group 18">
              <a:extLst>
                <a:ext uri="{FF2B5EF4-FFF2-40B4-BE49-F238E27FC236}">
                  <a16:creationId xmlns:a16="http://schemas.microsoft.com/office/drawing/2014/main" id="{6FC4DCF1-9242-85F8-DC11-68AFF374BAB7}"/>
                </a:ext>
              </a:extLst>
            </p:cNvPr>
            <p:cNvGrpSpPr/>
            <p:nvPr/>
          </p:nvGrpSpPr>
          <p:grpSpPr>
            <a:xfrm>
              <a:off x="5472607" y="3069483"/>
              <a:ext cx="645983" cy="2508358"/>
              <a:chOff x="5613303" y="3069483"/>
              <a:chExt cx="645983" cy="2508358"/>
            </a:xfrm>
          </p:grpSpPr>
          <p:graphicFrame>
            <p:nvGraphicFramePr>
              <p:cNvPr id="9" name="Chart 8">
                <a:extLst>
                  <a:ext uri="{FF2B5EF4-FFF2-40B4-BE49-F238E27FC236}">
                    <a16:creationId xmlns:a16="http://schemas.microsoft.com/office/drawing/2014/main" id="{70FB876F-5B95-3B16-1D1F-38615B02A7E7}"/>
                  </a:ext>
                </a:extLst>
              </p:cNvPr>
              <p:cNvGraphicFramePr/>
              <p:nvPr/>
            </p:nvGraphicFramePr>
            <p:xfrm>
              <a:off x="5613303" y="3069483"/>
              <a:ext cx="645983" cy="2508358"/>
            </p:xfrm>
            <a:graphic>
              <a:graphicData uri="http://schemas.openxmlformats.org/drawingml/2006/chart">
                <c:chart xmlns:c="http://schemas.openxmlformats.org/drawingml/2006/chart" xmlns:r="http://schemas.openxmlformats.org/officeDocument/2006/relationships" r:id="rId4"/>
              </a:graphicData>
            </a:graphic>
          </p:graphicFrame>
          <p:grpSp>
            <p:nvGrpSpPr>
              <p:cNvPr id="18" name="Group 17">
                <a:extLst>
                  <a:ext uri="{FF2B5EF4-FFF2-40B4-BE49-F238E27FC236}">
                    <a16:creationId xmlns:a16="http://schemas.microsoft.com/office/drawing/2014/main" id="{E617CC9E-6579-7DC3-F4B5-7F966D2EACA1}"/>
                  </a:ext>
                </a:extLst>
              </p:cNvPr>
              <p:cNvGrpSpPr/>
              <p:nvPr/>
            </p:nvGrpSpPr>
            <p:grpSpPr>
              <a:xfrm>
                <a:off x="5664749" y="3269638"/>
                <a:ext cx="185894" cy="2166125"/>
                <a:chOff x="5664749" y="3269638"/>
                <a:chExt cx="185894" cy="2166125"/>
              </a:xfrm>
            </p:grpSpPr>
            <p:sp>
              <p:nvSpPr>
                <p:cNvPr id="44" name="Oval 43">
                  <a:extLst>
                    <a:ext uri="{FF2B5EF4-FFF2-40B4-BE49-F238E27FC236}">
                      <a16:creationId xmlns:a16="http://schemas.microsoft.com/office/drawing/2014/main" id="{8773F3EB-A229-E8E3-F0C6-1272B6D86D77}"/>
                    </a:ext>
                  </a:extLst>
                </p:cNvPr>
                <p:cNvSpPr/>
                <p:nvPr/>
              </p:nvSpPr>
              <p:spPr bwMode="gray">
                <a:xfrm>
                  <a:off x="5664749" y="3269638"/>
                  <a:ext cx="185894" cy="182880"/>
                </a:xfrm>
                <a:prstGeom prst="ellipse">
                  <a:avLst/>
                </a:prstGeom>
                <a:solidFill>
                  <a:schemeClr val="accent4">
                    <a:lumMod val="75000"/>
                  </a:schemeClr>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41" name="Oval 40">
                  <a:extLst>
                    <a:ext uri="{FF2B5EF4-FFF2-40B4-BE49-F238E27FC236}">
                      <a16:creationId xmlns:a16="http://schemas.microsoft.com/office/drawing/2014/main" id="{405300D5-2352-DD60-AF58-3D68A1312E6A}"/>
                    </a:ext>
                  </a:extLst>
                </p:cNvPr>
                <p:cNvSpPr/>
                <p:nvPr/>
              </p:nvSpPr>
              <p:spPr bwMode="gray">
                <a:xfrm>
                  <a:off x="5667763" y="4591802"/>
                  <a:ext cx="182880" cy="182880"/>
                </a:xfrm>
                <a:prstGeom prst="ellipse">
                  <a:avLst/>
                </a:prstGeom>
                <a:solidFill>
                  <a:schemeClr val="accent6">
                    <a:lumMod val="40000"/>
                    <a:lumOff val="60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39" name="Oval 38">
                  <a:extLst>
                    <a:ext uri="{FF2B5EF4-FFF2-40B4-BE49-F238E27FC236}">
                      <a16:creationId xmlns:a16="http://schemas.microsoft.com/office/drawing/2014/main" id="{1CE0AE97-585A-CACE-B159-FE349D1E1CA2}"/>
                    </a:ext>
                  </a:extLst>
                </p:cNvPr>
                <p:cNvSpPr/>
                <p:nvPr/>
              </p:nvSpPr>
              <p:spPr bwMode="gray">
                <a:xfrm>
                  <a:off x="5667763" y="525288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0" name="Oval 9">
                  <a:extLst>
                    <a:ext uri="{FF2B5EF4-FFF2-40B4-BE49-F238E27FC236}">
                      <a16:creationId xmlns:a16="http://schemas.microsoft.com/office/drawing/2014/main" id="{22BB9DB6-7A63-58BD-93EB-D6BD03AD6246}"/>
                    </a:ext>
                  </a:extLst>
                </p:cNvPr>
                <p:cNvSpPr/>
                <p:nvPr/>
              </p:nvSpPr>
              <p:spPr bwMode="gray">
                <a:xfrm>
                  <a:off x="5664749" y="36001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4" name="Oval 13">
                  <a:extLst>
                    <a:ext uri="{FF2B5EF4-FFF2-40B4-BE49-F238E27FC236}">
                      <a16:creationId xmlns:a16="http://schemas.microsoft.com/office/drawing/2014/main" id="{872ED592-240D-1D66-83BC-574388672890}"/>
                    </a:ext>
                  </a:extLst>
                </p:cNvPr>
                <p:cNvSpPr/>
                <p:nvPr/>
              </p:nvSpPr>
              <p:spPr bwMode="gray">
                <a:xfrm>
                  <a:off x="5664749" y="3930720"/>
                  <a:ext cx="185894" cy="182880"/>
                </a:xfrm>
                <a:prstGeom prst="ellipse">
                  <a:avLst/>
                </a:prstGeom>
                <a:solidFill>
                  <a:schemeClr val="accent4">
                    <a:lumMod val="60000"/>
                    <a:lumOff val="40000"/>
                  </a:schemeClr>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6" name="Oval 15">
                  <a:extLst>
                    <a:ext uri="{FF2B5EF4-FFF2-40B4-BE49-F238E27FC236}">
                      <a16:creationId xmlns:a16="http://schemas.microsoft.com/office/drawing/2014/main" id="{57A8F8CE-EAB4-EB1A-7B75-8A160DE27971}"/>
                    </a:ext>
                  </a:extLst>
                </p:cNvPr>
                <p:cNvSpPr/>
                <p:nvPr/>
              </p:nvSpPr>
              <p:spPr bwMode="gray">
                <a:xfrm>
                  <a:off x="5667763" y="426126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7" name="Oval 16">
                  <a:extLst>
                    <a:ext uri="{FF2B5EF4-FFF2-40B4-BE49-F238E27FC236}">
                      <a16:creationId xmlns:a16="http://schemas.microsoft.com/office/drawing/2014/main" id="{D2C22F31-37FA-D44F-2ED3-E13727354DDA}"/>
                    </a:ext>
                  </a:extLst>
                </p:cNvPr>
                <p:cNvSpPr/>
                <p:nvPr/>
              </p:nvSpPr>
              <p:spPr bwMode="gray">
                <a:xfrm>
                  <a:off x="5667763" y="4922343"/>
                  <a:ext cx="182880" cy="182880"/>
                </a:xfrm>
                <a:prstGeom prst="ellipse">
                  <a:avLst/>
                </a:prstGeom>
                <a:solidFill>
                  <a:schemeClr val="accent6">
                    <a:lumMod val="60000"/>
                    <a:lumOff val="40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grpSp>
          <p:nvGrpSpPr>
            <p:cNvPr id="22" name="Group 21">
              <a:extLst>
                <a:ext uri="{FF2B5EF4-FFF2-40B4-BE49-F238E27FC236}">
                  <a16:creationId xmlns:a16="http://schemas.microsoft.com/office/drawing/2014/main" id="{214CCDC5-743C-D14C-6E0B-EBFC0754245E}"/>
                </a:ext>
              </a:extLst>
            </p:cNvPr>
            <p:cNvGrpSpPr/>
            <p:nvPr/>
          </p:nvGrpSpPr>
          <p:grpSpPr>
            <a:xfrm>
              <a:off x="5961652" y="3228153"/>
              <a:ext cx="1317027" cy="2259286"/>
              <a:chOff x="849983" y="2735426"/>
              <a:chExt cx="1317027" cy="2259286"/>
            </a:xfrm>
          </p:grpSpPr>
          <p:sp>
            <p:nvSpPr>
              <p:cNvPr id="32" name="TextBox 31">
                <a:extLst>
                  <a:ext uri="{FF2B5EF4-FFF2-40B4-BE49-F238E27FC236}">
                    <a16:creationId xmlns:a16="http://schemas.microsoft.com/office/drawing/2014/main" id="{44FC8D2A-48EE-1EC3-7973-4A434DB33C7D}"/>
                  </a:ext>
                </a:extLst>
              </p:cNvPr>
              <p:cNvSpPr txBox="1"/>
              <p:nvPr/>
            </p:nvSpPr>
            <p:spPr bwMode="gray">
              <a:xfrm>
                <a:off x="849983" y="2735426"/>
                <a:ext cx="1317027" cy="286232"/>
              </a:xfrm>
              <a:prstGeom prst="rect">
                <a:avLst/>
              </a:prstGeom>
            </p:spPr>
            <p:txBody>
              <a:bodyPr wrap="none" lIns="45720" tIns="45720" rIns="45720" bIns="45720" rtlCol="0" anchor="ctr" anchorCtr="0">
                <a:spAutoFit/>
              </a:bodyPr>
              <a:lstStyle/>
              <a:p>
                <a:pPr>
                  <a:lnSpc>
                    <a:spcPct val="90000"/>
                  </a:lnSpc>
                </a:pPr>
                <a:r>
                  <a:rPr lang="en-US" sz="1400"/>
                  <a:t>High Likelihood</a:t>
                </a:r>
              </a:p>
            </p:txBody>
          </p:sp>
          <p:sp>
            <p:nvSpPr>
              <p:cNvPr id="27" name="TextBox 26">
                <a:extLst>
                  <a:ext uri="{FF2B5EF4-FFF2-40B4-BE49-F238E27FC236}">
                    <a16:creationId xmlns:a16="http://schemas.microsoft.com/office/drawing/2014/main" id="{0D140979-2382-8270-0ED0-2211E026EEA6}"/>
                  </a:ext>
                </a:extLst>
              </p:cNvPr>
              <p:cNvSpPr txBox="1"/>
              <p:nvPr/>
            </p:nvSpPr>
            <p:spPr bwMode="gray">
              <a:xfrm>
                <a:off x="849983" y="4708480"/>
                <a:ext cx="1276953" cy="286232"/>
              </a:xfrm>
              <a:prstGeom prst="rect">
                <a:avLst/>
              </a:prstGeom>
            </p:spPr>
            <p:txBody>
              <a:bodyPr wrap="none" lIns="45720" tIns="45720" rIns="45720" bIns="45720" rtlCol="0" anchor="ctr" anchorCtr="0">
                <a:spAutoFit/>
              </a:bodyPr>
              <a:lstStyle/>
              <a:p>
                <a:pPr>
                  <a:lnSpc>
                    <a:spcPct val="90000"/>
                  </a:lnSpc>
                </a:pPr>
                <a:r>
                  <a:rPr lang="en-US" sz="1400"/>
                  <a:t>Low Likelihood</a:t>
                </a:r>
              </a:p>
            </p:txBody>
          </p:sp>
        </p:grpSp>
      </p:grpSp>
      <p:graphicFrame>
        <p:nvGraphicFramePr>
          <p:cNvPr id="52" name="Chart 51">
            <a:extLst>
              <a:ext uri="{FF2B5EF4-FFF2-40B4-BE49-F238E27FC236}">
                <a16:creationId xmlns:a16="http://schemas.microsoft.com/office/drawing/2014/main" id="{7A6D4829-E3AC-6FEA-C9DF-05A77B16A000}"/>
              </a:ext>
            </a:extLst>
          </p:cNvPr>
          <p:cNvGraphicFramePr/>
          <p:nvPr/>
        </p:nvGraphicFramePr>
        <p:xfrm>
          <a:off x="3611114" y="3037526"/>
          <a:ext cx="1945966" cy="3078480"/>
        </p:xfrm>
        <a:graphic>
          <a:graphicData uri="http://schemas.openxmlformats.org/drawingml/2006/chart">
            <c:chart xmlns:c="http://schemas.openxmlformats.org/drawingml/2006/chart" xmlns:r="http://schemas.openxmlformats.org/officeDocument/2006/relationships" r:id="rId5"/>
          </a:graphicData>
        </a:graphic>
      </p:graphicFrame>
      <p:sp>
        <p:nvSpPr>
          <p:cNvPr id="61" name="Left Brace 60">
            <a:extLst>
              <a:ext uri="{FF2B5EF4-FFF2-40B4-BE49-F238E27FC236}">
                <a16:creationId xmlns:a16="http://schemas.microsoft.com/office/drawing/2014/main" id="{683D1B73-B4CF-6367-8A76-FD9E401FCD20}"/>
              </a:ext>
            </a:extLst>
          </p:cNvPr>
          <p:cNvSpPr/>
          <p:nvPr/>
        </p:nvSpPr>
        <p:spPr bwMode="gray">
          <a:xfrm flipH="1">
            <a:off x="4982017" y="3172324"/>
            <a:ext cx="142240" cy="1419478"/>
          </a:xfrm>
          <a:prstGeom prst="leftBrace">
            <a:avLst/>
          </a:prstGeom>
          <a:ln>
            <a:solidFill>
              <a:srgbClr val="62B96A"/>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62" name="TextBox 61">
            <a:extLst>
              <a:ext uri="{FF2B5EF4-FFF2-40B4-BE49-F238E27FC236}">
                <a16:creationId xmlns:a16="http://schemas.microsoft.com/office/drawing/2014/main" id="{7BAB14F4-608D-5F31-2EBA-8E26B278F777}"/>
              </a:ext>
            </a:extLst>
          </p:cNvPr>
          <p:cNvSpPr txBox="1"/>
          <p:nvPr/>
        </p:nvSpPr>
        <p:spPr bwMode="gray">
          <a:xfrm>
            <a:off x="5138055" y="3738947"/>
            <a:ext cx="451406" cy="286232"/>
          </a:xfrm>
          <a:prstGeom prst="rect">
            <a:avLst/>
          </a:prstGeom>
          <a:no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58%</a:t>
            </a:r>
          </a:p>
        </p:txBody>
      </p:sp>
      <p:sp>
        <p:nvSpPr>
          <p:cNvPr id="63" name="Left Brace 62">
            <a:extLst>
              <a:ext uri="{FF2B5EF4-FFF2-40B4-BE49-F238E27FC236}">
                <a16:creationId xmlns:a16="http://schemas.microsoft.com/office/drawing/2014/main" id="{317CB890-5968-354B-8713-BF25607F2316}"/>
              </a:ext>
            </a:extLst>
          </p:cNvPr>
          <p:cNvSpPr/>
          <p:nvPr/>
        </p:nvSpPr>
        <p:spPr bwMode="gray">
          <a:xfrm flipH="1">
            <a:off x="4982017" y="4898528"/>
            <a:ext cx="142240" cy="693218"/>
          </a:xfrm>
          <a:prstGeom prst="leftBrace">
            <a:avLst/>
          </a:prstGeom>
          <a:ln>
            <a:solidFill>
              <a:schemeClr val="accent6"/>
            </a:solidFill>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24" name="TextBox 1023">
            <a:extLst>
              <a:ext uri="{FF2B5EF4-FFF2-40B4-BE49-F238E27FC236}">
                <a16:creationId xmlns:a16="http://schemas.microsoft.com/office/drawing/2014/main" id="{9021C278-A212-40AD-B795-0560B11D611F}"/>
              </a:ext>
            </a:extLst>
          </p:cNvPr>
          <p:cNvSpPr txBox="1"/>
          <p:nvPr/>
        </p:nvSpPr>
        <p:spPr bwMode="gray">
          <a:xfrm>
            <a:off x="5138055" y="5102021"/>
            <a:ext cx="451406" cy="286232"/>
          </a:xfrm>
          <a:prstGeom prst="rect">
            <a:avLst/>
          </a:prstGeom>
          <a:no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29%</a:t>
            </a:r>
          </a:p>
        </p:txBody>
      </p:sp>
      <p:sp>
        <p:nvSpPr>
          <p:cNvPr id="25" name="Arrow: Right 24">
            <a:extLst>
              <a:ext uri="{FF2B5EF4-FFF2-40B4-BE49-F238E27FC236}">
                <a16:creationId xmlns:a16="http://schemas.microsoft.com/office/drawing/2014/main" id="{7E972C79-897D-3FA1-D9E1-D282575AA5E6}"/>
              </a:ext>
            </a:extLst>
          </p:cNvPr>
          <p:cNvSpPr/>
          <p:nvPr/>
        </p:nvSpPr>
        <p:spPr bwMode="gray">
          <a:xfrm>
            <a:off x="5648215" y="5028445"/>
            <a:ext cx="743228" cy="448876"/>
          </a:xfrm>
          <a:prstGeom prst="rightArrow">
            <a:avLst/>
          </a:prstGeom>
          <a:gradFill flip="none" rotWithShape="1">
            <a:gsLst>
              <a:gs pos="0">
                <a:srgbClr val="D95776">
                  <a:tint val="66000"/>
                  <a:satMod val="160000"/>
                </a:srgbClr>
              </a:gs>
              <a:gs pos="50000">
                <a:srgbClr val="D95776">
                  <a:tint val="44500"/>
                  <a:satMod val="160000"/>
                </a:srgbClr>
              </a:gs>
              <a:gs pos="100000">
                <a:srgbClr val="D95776">
                  <a:tint val="23500"/>
                  <a:satMod val="160000"/>
                </a:srgbClr>
              </a:gs>
            </a:gsLst>
            <a:lin ang="0" scaled="1"/>
            <a:tileRect/>
          </a:gra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dirty="0">
              <a:solidFill>
                <a:schemeClr val="accent1"/>
              </a:solidFill>
              <a:latin typeface="+mj-lt"/>
            </a:endParaRPr>
          </a:p>
        </p:txBody>
      </p:sp>
      <p:sp>
        <p:nvSpPr>
          <p:cNvPr id="26" name="Rectangle: Rounded Corners 25">
            <a:extLst>
              <a:ext uri="{FF2B5EF4-FFF2-40B4-BE49-F238E27FC236}">
                <a16:creationId xmlns:a16="http://schemas.microsoft.com/office/drawing/2014/main" id="{3C23497A-2092-127B-BFAE-166E674ADB74}"/>
              </a:ext>
            </a:extLst>
          </p:cNvPr>
          <p:cNvSpPr/>
          <p:nvPr/>
        </p:nvSpPr>
        <p:spPr bwMode="gray">
          <a:xfrm>
            <a:off x="6430637" y="2694562"/>
            <a:ext cx="5602252" cy="3421444"/>
          </a:xfrm>
          <a:prstGeom prst="roundRect">
            <a:avLst>
              <a:gd name="adj" fmla="val 2971"/>
            </a:avLst>
          </a:prstGeom>
          <a:solidFill>
            <a:schemeClr val="bg1"/>
          </a:solidFill>
          <a:ln w="19050" cap="flat" cmpd="sng" algn="ctr">
            <a:solidFill>
              <a:srgbClr val="E89AAD"/>
            </a:solidFill>
            <a:prstDash val="solid"/>
            <a:miter lim="800000"/>
            <a:headEnd type="none" w="med" len="med"/>
            <a:tailEnd type="none" w="med" len="med"/>
          </a:ln>
          <a:effectLst>
            <a:outerShdw blurRad="50800" dist="38100" dir="2700000" algn="tl" rotWithShape="0">
              <a:prstClr val="black">
                <a:alpha val="40000"/>
              </a:prstClr>
            </a:outerShdw>
          </a:effectLst>
        </p:spPr>
        <p:txBody>
          <a:bodyPr vert="horz" wrap="none" lIns="45720" tIns="45715" rIns="45720"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200" dirty="0">
              <a:solidFill>
                <a:schemeClr val="tx1">
                  <a:lumMod val="75000"/>
                  <a:lumOff val="25000"/>
                </a:schemeClr>
              </a:solidFill>
              <a:latin typeface="+mj-lt"/>
            </a:endParaRPr>
          </a:p>
        </p:txBody>
      </p:sp>
      <p:sp>
        <p:nvSpPr>
          <p:cNvPr id="28" name="TextBox 27">
            <a:extLst>
              <a:ext uri="{FF2B5EF4-FFF2-40B4-BE49-F238E27FC236}">
                <a16:creationId xmlns:a16="http://schemas.microsoft.com/office/drawing/2014/main" id="{9317ED8C-E567-9900-C37B-6CCA786016FF}"/>
              </a:ext>
            </a:extLst>
          </p:cNvPr>
          <p:cNvSpPr txBox="1"/>
          <p:nvPr/>
        </p:nvSpPr>
        <p:spPr bwMode="gray">
          <a:xfrm>
            <a:off x="6661806" y="3301485"/>
            <a:ext cx="5033161" cy="2637132"/>
          </a:xfrm>
          <a:prstGeom prst="rect">
            <a:avLst/>
          </a:prstGeom>
          <a:noFill/>
        </p:spPr>
        <p:txBody>
          <a:bodyPr wrap="square" lIns="45720" tIns="45720" rIns="45720" bIns="45720" rtlCol="0">
            <a:spAutoFit/>
          </a:bodyPr>
          <a:lstStyle/>
          <a:p>
            <a:pPr marL="285750" indent="-285750">
              <a:lnSpc>
                <a:spcPct val="90000"/>
              </a:lnSpc>
              <a:spcAft>
                <a:spcPts val="400"/>
              </a:spcAft>
              <a:buFont typeface="Arial" panose="020B0604020202020204" pitchFamily="34" charset="0"/>
              <a:buChar char="•"/>
            </a:pPr>
            <a:r>
              <a:rPr lang="en-US" sz="1100" dirty="0"/>
              <a:t>More patients who will receive a pentavalent</a:t>
            </a:r>
          </a:p>
          <a:p>
            <a:pPr marL="285750" indent="-285750">
              <a:lnSpc>
                <a:spcPct val="90000"/>
              </a:lnSpc>
              <a:spcAft>
                <a:spcPts val="400"/>
              </a:spcAft>
              <a:buFont typeface="Arial" panose="020B0604020202020204" pitchFamily="34" charset="0"/>
              <a:buChar char="•"/>
            </a:pPr>
            <a:r>
              <a:rPr lang="en-US" sz="1100" dirty="0"/>
              <a:t>More Medicaid patients</a:t>
            </a:r>
          </a:p>
          <a:p>
            <a:pPr marL="285750" indent="-285750">
              <a:lnSpc>
                <a:spcPct val="90000"/>
              </a:lnSpc>
              <a:spcAft>
                <a:spcPts val="400"/>
              </a:spcAft>
              <a:buFont typeface="Arial" panose="020B0604020202020204" pitchFamily="34" charset="0"/>
              <a:buChar char="•"/>
            </a:pPr>
            <a:r>
              <a:rPr lang="en-US" sz="1100" dirty="0"/>
              <a:t>Stronger agreement w/ importance of vaccinating all pts. against all strains</a:t>
            </a:r>
          </a:p>
          <a:p>
            <a:pPr marL="285750" indent="-285750">
              <a:lnSpc>
                <a:spcPct val="90000"/>
              </a:lnSpc>
              <a:spcAft>
                <a:spcPts val="400"/>
              </a:spcAft>
              <a:buFont typeface="Arial" panose="020B0604020202020204" pitchFamily="34" charset="0"/>
              <a:buChar char="•"/>
            </a:pPr>
            <a:r>
              <a:rPr lang="en-US" sz="1100" dirty="0"/>
              <a:t>More knowledge on both </a:t>
            </a:r>
            <a:r>
              <a:rPr lang="en-US" sz="1100" dirty="0" err="1"/>
              <a:t>MenACWY</a:t>
            </a:r>
            <a:r>
              <a:rPr lang="en-US" sz="1100" dirty="0"/>
              <a:t> and </a:t>
            </a:r>
            <a:r>
              <a:rPr lang="en-US" sz="1100" dirty="0" err="1"/>
              <a:t>MenB</a:t>
            </a:r>
            <a:endParaRPr lang="en-US" sz="1100" dirty="0"/>
          </a:p>
          <a:p>
            <a:pPr marL="285750" indent="-285750">
              <a:lnSpc>
                <a:spcPct val="90000"/>
              </a:lnSpc>
              <a:spcAft>
                <a:spcPts val="400"/>
              </a:spcAft>
              <a:buFont typeface="Arial" panose="020B0604020202020204" pitchFamily="34" charset="0"/>
              <a:buChar char="•"/>
            </a:pPr>
            <a:r>
              <a:rPr lang="en-US" sz="1100" dirty="0"/>
              <a:t>More concern about </a:t>
            </a:r>
            <a:r>
              <a:rPr lang="en-US" sz="1100" dirty="0" err="1"/>
              <a:t>MenB</a:t>
            </a:r>
            <a:endParaRPr lang="en-US" sz="1100" dirty="0"/>
          </a:p>
          <a:p>
            <a:pPr marL="285750" indent="-285750">
              <a:lnSpc>
                <a:spcPct val="90000"/>
              </a:lnSpc>
              <a:spcAft>
                <a:spcPts val="400"/>
              </a:spcAft>
              <a:buFont typeface="Arial" panose="020B0604020202020204" pitchFamily="34" charset="0"/>
              <a:buChar char="•"/>
            </a:pPr>
            <a:r>
              <a:rPr lang="en-US" sz="1100" dirty="0"/>
              <a:t>More of a Top Priority to discuss both </a:t>
            </a:r>
            <a:r>
              <a:rPr lang="en-US" sz="1100" dirty="0" err="1"/>
              <a:t>MenACWY</a:t>
            </a:r>
            <a:r>
              <a:rPr lang="en-US" sz="1100" dirty="0"/>
              <a:t> and </a:t>
            </a:r>
            <a:r>
              <a:rPr lang="en-US" sz="1100" dirty="0" err="1"/>
              <a:t>MenB</a:t>
            </a:r>
            <a:endParaRPr lang="en-US" sz="1100" dirty="0"/>
          </a:p>
          <a:p>
            <a:pPr marL="285750" indent="-285750">
              <a:lnSpc>
                <a:spcPct val="90000"/>
              </a:lnSpc>
              <a:spcAft>
                <a:spcPts val="400"/>
              </a:spcAft>
              <a:buFont typeface="Arial" panose="020B0604020202020204" pitchFamily="34" charset="0"/>
              <a:buChar char="•"/>
            </a:pPr>
            <a:r>
              <a:rPr lang="en-US" sz="1100" dirty="0"/>
              <a:t>Higher familiarity with Trumenba and have more Trumenba stock currently </a:t>
            </a:r>
            <a:endParaRPr lang="en-US" sz="1100" dirty="0">
              <a:highlight>
                <a:srgbClr val="FFFF00"/>
              </a:highlight>
            </a:endParaRPr>
          </a:p>
          <a:p>
            <a:pPr marL="285750" indent="-285750">
              <a:lnSpc>
                <a:spcPct val="90000"/>
              </a:lnSpc>
              <a:spcAft>
                <a:spcPts val="400"/>
              </a:spcAft>
              <a:buFont typeface="Arial" panose="020B0604020202020204" pitchFamily="34" charset="0"/>
              <a:buChar char="•"/>
            </a:pPr>
            <a:r>
              <a:rPr lang="en-US" sz="1100" dirty="0"/>
              <a:t>Recommended a pentavalent more often in that past month</a:t>
            </a:r>
          </a:p>
          <a:p>
            <a:pPr marL="285750" indent="-285750">
              <a:lnSpc>
                <a:spcPct val="90000"/>
              </a:lnSpc>
              <a:spcAft>
                <a:spcPts val="400"/>
              </a:spcAft>
              <a:buFont typeface="Arial" panose="020B0604020202020204" pitchFamily="34" charset="0"/>
              <a:buChar char="•"/>
            </a:pPr>
            <a:r>
              <a:rPr lang="en-US" sz="1100" dirty="0"/>
              <a:t>Stronger likelihood to stock Penbraya </a:t>
            </a:r>
          </a:p>
          <a:p>
            <a:pPr marL="285750" indent="-285750">
              <a:lnSpc>
                <a:spcPct val="90000"/>
              </a:lnSpc>
              <a:spcAft>
                <a:spcPts val="400"/>
              </a:spcAft>
              <a:buFont typeface="Arial" panose="020B0604020202020204" pitchFamily="34" charset="0"/>
              <a:buChar char="•"/>
            </a:pPr>
            <a:r>
              <a:rPr lang="en-US" sz="1100" dirty="0"/>
              <a:t>More familiarity with </a:t>
            </a:r>
            <a:r>
              <a:rPr lang="en-US" sz="1100" dirty="0" err="1"/>
              <a:t>Penbraya’s</a:t>
            </a:r>
            <a:r>
              <a:rPr lang="en-US" sz="1100" dirty="0"/>
              <a:t> dosing schedule</a:t>
            </a:r>
          </a:p>
          <a:p>
            <a:pPr marL="285750" indent="-285750">
              <a:lnSpc>
                <a:spcPct val="90000"/>
              </a:lnSpc>
              <a:spcAft>
                <a:spcPts val="400"/>
              </a:spcAft>
              <a:buFont typeface="Arial" panose="020B0604020202020204" pitchFamily="34" charset="0"/>
              <a:buChar char="•"/>
            </a:pPr>
            <a:r>
              <a:rPr lang="en-US" sz="1100" dirty="0"/>
              <a:t>Less awareness Bexsero now has the same dosing schedule as Trumenba</a:t>
            </a:r>
          </a:p>
          <a:p>
            <a:pPr marL="285750" indent="-285750">
              <a:lnSpc>
                <a:spcPct val="90000"/>
              </a:lnSpc>
              <a:spcAft>
                <a:spcPts val="400"/>
              </a:spcAft>
              <a:buFont typeface="Arial" panose="020B0604020202020204" pitchFamily="34" charset="0"/>
              <a:buChar char="•"/>
            </a:pPr>
            <a:r>
              <a:rPr lang="en-US" sz="1100" dirty="0"/>
              <a:t>Stronger likelihood to believe Trumenba has a clinical advantage over Bexsero</a:t>
            </a:r>
          </a:p>
        </p:txBody>
      </p:sp>
      <p:sp>
        <p:nvSpPr>
          <p:cNvPr id="29" name="TextBox 28">
            <a:extLst>
              <a:ext uri="{FF2B5EF4-FFF2-40B4-BE49-F238E27FC236}">
                <a16:creationId xmlns:a16="http://schemas.microsoft.com/office/drawing/2014/main" id="{C21B6773-7E9E-8942-A159-E3E3F713E270}"/>
              </a:ext>
            </a:extLst>
          </p:cNvPr>
          <p:cNvSpPr txBox="1"/>
          <p:nvPr/>
        </p:nvSpPr>
        <p:spPr bwMode="gray">
          <a:xfrm>
            <a:off x="6477440" y="2796097"/>
            <a:ext cx="5489814" cy="446276"/>
          </a:xfrm>
          <a:prstGeom prst="rect">
            <a:avLst/>
          </a:prstGeom>
          <a:noFill/>
          <a:ln>
            <a:noFill/>
          </a:ln>
        </p:spPr>
        <p:txBody>
          <a:bodyPr wrap="square" rtlCol="0">
            <a:spAutoFit/>
          </a:bodyPr>
          <a:lstStyle/>
          <a:p>
            <a:r>
              <a:rPr lang="en-US" sz="1400" b="1" i="0" u="none" strike="noStrike" kern="1200" dirty="0">
                <a:effectLst/>
                <a:latin typeface="+mj-lt"/>
                <a:ea typeface="+mn-ea"/>
                <a:cs typeface="+mn-cs"/>
              </a:rPr>
              <a:t>HCPs w/ Low Likelihood to Continue Stocking Bexsero have…</a:t>
            </a:r>
          </a:p>
          <a:p>
            <a:r>
              <a:rPr lang="en-US" sz="900" b="1" i="0" u="none" strike="noStrike" kern="1200" dirty="0">
                <a:effectLst/>
                <a:latin typeface="+mj-lt"/>
                <a:ea typeface="+mn-ea"/>
                <a:cs typeface="+mn-cs"/>
              </a:rPr>
              <a:t>(Compared to HCPs Likely to Continue Stocking)</a:t>
            </a:r>
          </a:p>
        </p:txBody>
      </p:sp>
      <p:sp>
        <p:nvSpPr>
          <p:cNvPr id="3" name="TextBox 2">
            <a:extLst>
              <a:ext uri="{FF2B5EF4-FFF2-40B4-BE49-F238E27FC236}">
                <a16:creationId xmlns:a16="http://schemas.microsoft.com/office/drawing/2014/main" id="{917E60B3-B260-3442-4AF1-DB23E8150776}"/>
              </a:ext>
            </a:extLst>
          </p:cNvPr>
          <p:cNvSpPr txBox="1"/>
          <p:nvPr/>
        </p:nvSpPr>
        <p:spPr bwMode="gray">
          <a:xfrm>
            <a:off x="9883302" y="1032820"/>
            <a:ext cx="2145183" cy="286232"/>
          </a:xfrm>
          <a:prstGeom prst="rect">
            <a:avLst/>
          </a:prstGeom>
          <a:solidFill>
            <a:srgbClr val="00B0F0"/>
          </a:solidFill>
        </p:spPr>
        <p:txBody>
          <a:bodyPr wrap="square" lIns="45720" tIns="45720" rIns="45720" bIns="45720" rtlCol="0">
            <a:spAutoFit/>
          </a:bodyPr>
          <a:lstStyle/>
          <a:p>
            <a:pPr marR="0" algn="ctr" defTabSz="914400" rtl="0" eaLnBrk="1" fontAlgn="auto" latinLnBrk="0" hangingPunct="1">
              <a:lnSpc>
                <a:spcPct val="90000"/>
              </a:lnSpc>
              <a:spcBef>
                <a:spcPts val="0"/>
              </a:spcBef>
              <a:spcAft>
                <a:spcPts val="400"/>
              </a:spcAft>
              <a:buClrTx/>
              <a:buSzTx/>
              <a:tabLst/>
            </a:pPr>
            <a:r>
              <a:rPr lang="en-US" sz="1400" b="1" dirty="0">
                <a:solidFill>
                  <a:schemeClr val="bg1"/>
                </a:solidFill>
                <a:latin typeface="Arial" panose="020B0604020202020204"/>
              </a:rPr>
              <a:t>UPDATED/NEW SLIDE</a:t>
            </a:r>
          </a:p>
        </p:txBody>
      </p:sp>
    </p:spTree>
    <p:extLst>
      <p:ext uri="{BB962C8B-B14F-4D97-AF65-F5344CB8AC3E}">
        <p14:creationId xmlns:p14="http://schemas.microsoft.com/office/powerpoint/2010/main" val="123694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D270-B4E7-BC8B-CFB3-CC22A96142F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75A461B-6AE8-0B45-3BD1-58E8E871C5BA}"/>
              </a:ext>
            </a:extLst>
          </p:cNvPr>
          <p:cNvSpPr>
            <a:spLocks noGrp="1"/>
          </p:cNvSpPr>
          <p:nvPr>
            <p:ph type="body" sz="quarter" idx="16"/>
          </p:nvPr>
        </p:nvSpPr>
        <p:spPr>
          <a:xfrm>
            <a:off x="1571625" y="5854930"/>
            <a:ext cx="9262279" cy="1004890"/>
          </a:xfrm>
        </p:spPr>
        <p:txBody>
          <a:bodyPr/>
          <a:lstStyle/>
          <a:p>
            <a:pPr marL="285750" indent="-285750"/>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marL="690563" indent="-690563"/>
            <a:r>
              <a:rPr lang="en-US" dirty="0"/>
              <a:t>P12. 	Are you aware that Bexsero now has the same two-dose schedule as Trumenba (0 and 6 months) in their prescribing information? The label for Bexsero no longer includes a 2 dose schedule of 0 and 1+ months.</a:t>
            </a:r>
          </a:p>
          <a:p>
            <a:pPr marL="690563" indent="-690563"/>
            <a:r>
              <a:rPr lang="en-US" dirty="0"/>
              <a:t>P13.	Considering that Bexsero now has the same two-dose schedule as Trumenba (0 and 6 months) in their prescribing information, now how likely are you to reconsider your current </a:t>
            </a:r>
            <a:r>
              <a:rPr lang="en-US" dirty="0" err="1"/>
              <a:t>MenB</a:t>
            </a:r>
            <a:r>
              <a:rPr lang="en-US" dirty="0"/>
              <a:t> vaccine given this additional information? (1=Not at all likely, 7=Extremely likely). </a:t>
            </a:r>
            <a:r>
              <a:rPr lang="en-US" u="sng" dirty="0">
                <a:solidFill>
                  <a:srgbClr val="FF0000"/>
                </a:solidFill>
              </a:rPr>
              <a:t>Please consider your total stock of vaccines and existing contracts</a:t>
            </a:r>
            <a:r>
              <a:rPr lang="en-US" dirty="0">
                <a:solidFill>
                  <a:srgbClr val="FF0000"/>
                </a:solidFill>
              </a:rPr>
              <a:t>.</a:t>
            </a:r>
          </a:p>
          <a:p>
            <a:pPr marL="690563" indent="-690563"/>
            <a:r>
              <a:rPr lang="en-US" dirty="0">
                <a:solidFill>
                  <a:srgbClr val="FF0000"/>
                </a:solidFill>
              </a:rPr>
              <a:t>(New) </a:t>
            </a:r>
            <a:r>
              <a:rPr lang="en-US" dirty="0"/>
              <a:t>P13a. 	Why does the recent label change to a two-dose schedule for Bexsero (0 and 6 months) not strongly impact your decision-making?</a:t>
            </a:r>
          </a:p>
        </p:txBody>
      </p:sp>
      <p:sp>
        <p:nvSpPr>
          <p:cNvPr id="17" name="TextBox 16">
            <a:extLst>
              <a:ext uri="{FF2B5EF4-FFF2-40B4-BE49-F238E27FC236}">
                <a16:creationId xmlns:a16="http://schemas.microsoft.com/office/drawing/2014/main" id="{DE0E7D59-036B-F005-0CA1-EC8BCFE7A4A0}"/>
              </a:ext>
            </a:extLst>
          </p:cNvPr>
          <p:cNvSpPr txBox="1"/>
          <p:nvPr/>
        </p:nvSpPr>
        <p:spPr bwMode="gray">
          <a:xfrm>
            <a:off x="1037727" y="1725251"/>
            <a:ext cx="2627873" cy="978729"/>
          </a:xfrm>
          <a:prstGeom prst="rect">
            <a:avLst/>
          </a:prstGeom>
        </p:spPr>
        <p:txBody>
          <a:bodyPr wrap="square" lIns="45720" tIns="45720" rIns="45720" bIns="45720" rtlCol="0">
            <a:spAutoFit/>
          </a:bodyPr>
          <a:lstStyle/>
          <a:p>
            <a:pPr algn="ctr">
              <a:lnSpc>
                <a:spcPct val="90000"/>
              </a:lnSpc>
              <a:spcAft>
                <a:spcPts val="400"/>
              </a:spcAft>
            </a:pPr>
            <a:r>
              <a:rPr lang="en-US" b="1" dirty="0">
                <a:solidFill>
                  <a:schemeClr val="accent1"/>
                </a:solidFill>
              </a:rPr>
              <a:t>Aware Bexsero has Same 0-6 month Dosing as Trumenba</a:t>
            </a:r>
            <a:br>
              <a:rPr lang="en-US" b="1" dirty="0">
                <a:solidFill>
                  <a:schemeClr val="accent1"/>
                </a:solidFill>
              </a:rPr>
            </a:br>
            <a:r>
              <a:rPr lang="en-US" sz="1000" i="1" dirty="0">
                <a:solidFill>
                  <a:schemeClr val="bg1">
                    <a:lumMod val="50000"/>
                  </a:schemeClr>
                </a:solidFill>
              </a:rPr>
              <a:t>% HCPs</a:t>
            </a:r>
          </a:p>
        </p:txBody>
      </p:sp>
      <p:sp>
        <p:nvSpPr>
          <p:cNvPr id="18" name="TextBox 17">
            <a:extLst>
              <a:ext uri="{FF2B5EF4-FFF2-40B4-BE49-F238E27FC236}">
                <a16:creationId xmlns:a16="http://schemas.microsoft.com/office/drawing/2014/main" id="{FED744E6-215C-F130-DE9B-434BC6FFB9BB}"/>
              </a:ext>
            </a:extLst>
          </p:cNvPr>
          <p:cNvSpPr txBox="1"/>
          <p:nvPr/>
        </p:nvSpPr>
        <p:spPr bwMode="gray">
          <a:xfrm>
            <a:off x="3665603" y="1688317"/>
            <a:ext cx="3772553" cy="1015663"/>
          </a:xfrm>
          <a:prstGeom prst="rect">
            <a:avLst/>
          </a:prstGeom>
        </p:spPr>
        <p:txBody>
          <a:bodyPr wrap="square" lIns="45720" tIns="45720" rIns="45720" bIns="45720" rtlCol="0">
            <a:spAutoFit/>
          </a:bodyPr>
          <a:lstStyle/>
          <a:p>
            <a:pPr marL="0" marR="0" lvl="0" indent="0" algn="ctr" defTabSz="914400" rtl="0" eaLnBrk="1" fontAlgn="auto" latinLnBrk="0" hangingPunct="1">
              <a:spcBef>
                <a:spcPts val="0"/>
              </a:spcBef>
              <a:spcAft>
                <a:spcPts val="400"/>
              </a:spcAft>
              <a:buClrTx/>
              <a:buSzTx/>
              <a:buFontTx/>
              <a:buNone/>
              <a:tabLst/>
              <a:defRPr/>
            </a:pPr>
            <a: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t>Likelihood to Reconsider </a:t>
            </a:r>
            <a:b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t>Current </a:t>
            </a:r>
            <a:r>
              <a:rPr kumimoji="0" lang="en-US" sz="1800" b="1" i="0" u="none" strike="noStrike" kern="1200" cap="none" spc="0" normalizeH="0" baseline="0" noProof="0" dirty="0" err="1">
                <a:ln>
                  <a:noFill/>
                </a:ln>
                <a:solidFill>
                  <a:srgbClr val="0000C9"/>
                </a:solidFill>
                <a:effectLst/>
                <a:uLnTx/>
                <a:uFillTx/>
                <a:latin typeface="Arial" panose="020B0604020202020204"/>
                <a:ea typeface="+mn-ea"/>
                <a:cs typeface="+mn-cs"/>
              </a:rPr>
              <a:t>MenB</a:t>
            </a:r>
            <a: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t> Vaccine</a:t>
            </a:r>
            <a:b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400" b="0" i="1" u="none" strike="noStrike" kern="1200" cap="none" spc="0" normalizeH="0" baseline="0" noProof="0" dirty="0">
                <a:ln>
                  <a:noFill/>
                </a:ln>
                <a:solidFill>
                  <a:srgbClr val="0000C9"/>
                </a:solidFill>
                <a:effectLst/>
                <a:uLnTx/>
                <a:uFillTx/>
                <a:latin typeface="Arial" panose="020B0604020202020204"/>
                <a:ea typeface="+mn-ea"/>
                <a:cs typeface="+mn-cs"/>
              </a:rPr>
              <a:t>(among Trumenba non-stockers)</a:t>
            </a:r>
            <a:br>
              <a:rPr kumimoji="0" lang="en-US" sz="1800" b="1" i="1"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000" b="0" i="1"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HCPs </a:t>
            </a:r>
            <a:r>
              <a:rPr kumimoji="0" lang="en-US" sz="1000" b="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(n=89)</a:t>
            </a:r>
          </a:p>
        </p:txBody>
      </p:sp>
      <p:graphicFrame>
        <p:nvGraphicFramePr>
          <p:cNvPr id="19" name="Chart 18">
            <a:extLst>
              <a:ext uri="{FF2B5EF4-FFF2-40B4-BE49-F238E27FC236}">
                <a16:creationId xmlns:a16="http://schemas.microsoft.com/office/drawing/2014/main" id="{10E85FC3-AB08-8610-466D-CD233BDD6282}"/>
              </a:ext>
            </a:extLst>
          </p:cNvPr>
          <p:cNvGraphicFramePr/>
          <p:nvPr/>
        </p:nvGraphicFramePr>
        <p:xfrm>
          <a:off x="1028339" y="2668699"/>
          <a:ext cx="2704290" cy="32026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Chart 26">
            <a:extLst>
              <a:ext uri="{FF2B5EF4-FFF2-40B4-BE49-F238E27FC236}">
                <a16:creationId xmlns:a16="http://schemas.microsoft.com/office/drawing/2014/main" id="{B7F78694-D935-F876-0920-E7DDFA33AA41}"/>
              </a:ext>
            </a:extLst>
          </p:cNvPr>
          <p:cNvGraphicFramePr/>
          <p:nvPr>
            <p:extLst>
              <p:ext uri="{D42A27DB-BD31-4B8C-83A1-F6EECF244321}">
                <p14:modId xmlns:p14="http://schemas.microsoft.com/office/powerpoint/2010/main" val="857927261"/>
              </p:ext>
            </p:extLst>
          </p:nvPr>
        </p:nvGraphicFramePr>
        <p:xfrm>
          <a:off x="4073038" y="2984348"/>
          <a:ext cx="1945966" cy="3078480"/>
        </p:xfrm>
        <a:graphic>
          <a:graphicData uri="http://schemas.openxmlformats.org/drawingml/2006/chart">
            <c:chart xmlns:c="http://schemas.openxmlformats.org/drawingml/2006/chart" xmlns:r="http://schemas.openxmlformats.org/officeDocument/2006/relationships" r:id="rId4"/>
          </a:graphicData>
        </a:graphic>
      </p:graphicFrame>
      <p:cxnSp>
        <p:nvCxnSpPr>
          <p:cNvPr id="38" name="Straight Connector 37">
            <a:extLst>
              <a:ext uri="{FF2B5EF4-FFF2-40B4-BE49-F238E27FC236}">
                <a16:creationId xmlns:a16="http://schemas.microsoft.com/office/drawing/2014/main" id="{63FC438E-A2D6-3328-2D52-267BCD075D18}"/>
              </a:ext>
            </a:extLst>
          </p:cNvPr>
          <p:cNvCxnSpPr>
            <a:cxnSpLocks/>
          </p:cNvCxnSpPr>
          <p:nvPr/>
        </p:nvCxnSpPr>
        <p:spPr bwMode="gray">
          <a:xfrm>
            <a:off x="3665602" y="2833651"/>
            <a:ext cx="0" cy="2878457"/>
          </a:xfrm>
          <a:prstGeom prst="line">
            <a:avLst/>
          </a:prstGeom>
          <a:noFill/>
          <a:ln w="9525" cap="rnd">
            <a:solidFill>
              <a:schemeClr val="bg1">
                <a:lumMod val="75000"/>
              </a:schemeClr>
            </a:solidFill>
            <a:prstDash val="solid"/>
            <a:round/>
            <a:headEnd/>
            <a:tailEnd/>
          </a:ln>
          <a:effectLst/>
        </p:spPr>
      </p:cxnSp>
      <p:grpSp>
        <p:nvGrpSpPr>
          <p:cNvPr id="6" name="Group 5">
            <a:extLst>
              <a:ext uri="{FF2B5EF4-FFF2-40B4-BE49-F238E27FC236}">
                <a16:creationId xmlns:a16="http://schemas.microsoft.com/office/drawing/2014/main" id="{B7750023-E345-1A2A-9026-D2A6BF7F9292}"/>
              </a:ext>
            </a:extLst>
          </p:cNvPr>
          <p:cNvGrpSpPr/>
          <p:nvPr/>
        </p:nvGrpSpPr>
        <p:grpSpPr>
          <a:xfrm>
            <a:off x="5565805" y="3272310"/>
            <a:ext cx="1367644" cy="2088334"/>
            <a:chOff x="597388" y="2749276"/>
            <a:chExt cx="1367644" cy="2088334"/>
          </a:xfrm>
        </p:grpSpPr>
        <p:grpSp>
          <p:nvGrpSpPr>
            <p:cNvPr id="7" name="Group 6">
              <a:extLst>
                <a:ext uri="{FF2B5EF4-FFF2-40B4-BE49-F238E27FC236}">
                  <a16:creationId xmlns:a16="http://schemas.microsoft.com/office/drawing/2014/main" id="{7CDED621-F85E-F04D-35BE-A78F7F2968C1}"/>
                </a:ext>
              </a:extLst>
            </p:cNvPr>
            <p:cNvGrpSpPr/>
            <p:nvPr/>
          </p:nvGrpSpPr>
          <p:grpSpPr>
            <a:xfrm>
              <a:off x="597388" y="2749276"/>
              <a:ext cx="1223374" cy="258532"/>
              <a:chOff x="597388" y="3310453"/>
              <a:chExt cx="1223374" cy="258532"/>
            </a:xfrm>
          </p:grpSpPr>
          <p:sp>
            <p:nvSpPr>
              <p:cNvPr id="14" name="TextBox 13">
                <a:extLst>
                  <a:ext uri="{FF2B5EF4-FFF2-40B4-BE49-F238E27FC236}">
                    <a16:creationId xmlns:a16="http://schemas.microsoft.com/office/drawing/2014/main" id="{345041CA-B969-6185-3420-BA7E72F7F13C}"/>
                  </a:ext>
                </a:extLst>
              </p:cNvPr>
              <p:cNvSpPr txBox="1"/>
              <p:nvPr/>
            </p:nvSpPr>
            <p:spPr bwMode="gray">
              <a:xfrm>
                <a:off x="849983" y="3310453"/>
                <a:ext cx="970779" cy="258532"/>
              </a:xfrm>
              <a:prstGeom prst="rect">
                <a:avLst/>
              </a:prstGeom>
            </p:spPr>
            <p:txBody>
              <a:bodyPr wrap="none" lIns="45720" tIns="45720" rIns="45720" bIns="45720" rtlCol="0" anchor="ctr" anchorCtr="0">
                <a:spAutoFit/>
              </a:bodyPr>
              <a:lstStyle/>
              <a:p>
                <a:pPr>
                  <a:lnSpc>
                    <a:spcPct val="90000"/>
                  </a:lnSpc>
                </a:pPr>
                <a:r>
                  <a:rPr lang="en-US" sz="1200"/>
                  <a:t>Likely (5,6,7)</a:t>
                </a:r>
              </a:p>
            </p:txBody>
          </p:sp>
          <p:sp>
            <p:nvSpPr>
              <p:cNvPr id="15" name="Oval 14">
                <a:extLst>
                  <a:ext uri="{FF2B5EF4-FFF2-40B4-BE49-F238E27FC236}">
                    <a16:creationId xmlns:a16="http://schemas.microsoft.com/office/drawing/2014/main" id="{E1B75C72-FE5E-639C-72B5-03DF2C23012B}"/>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8" name="Group 7">
              <a:extLst>
                <a:ext uri="{FF2B5EF4-FFF2-40B4-BE49-F238E27FC236}">
                  <a16:creationId xmlns:a16="http://schemas.microsoft.com/office/drawing/2014/main" id="{5579336C-789B-D011-2915-B20DC7E27188}"/>
                </a:ext>
              </a:extLst>
            </p:cNvPr>
            <p:cNvGrpSpPr/>
            <p:nvPr/>
          </p:nvGrpSpPr>
          <p:grpSpPr>
            <a:xfrm>
              <a:off x="597388" y="3664177"/>
              <a:ext cx="1223374" cy="258532"/>
              <a:chOff x="597388" y="4258065"/>
              <a:chExt cx="1223374" cy="258532"/>
            </a:xfrm>
          </p:grpSpPr>
          <p:sp>
            <p:nvSpPr>
              <p:cNvPr id="12" name="Oval 11">
                <a:extLst>
                  <a:ext uri="{FF2B5EF4-FFF2-40B4-BE49-F238E27FC236}">
                    <a16:creationId xmlns:a16="http://schemas.microsoft.com/office/drawing/2014/main" id="{F5DEDFF3-DDE0-EE40-3FC1-347CC9A5E507}"/>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3" name="TextBox 12">
                <a:extLst>
                  <a:ext uri="{FF2B5EF4-FFF2-40B4-BE49-F238E27FC236}">
                    <a16:creationId xmlns:a16="http://schemas.microsoft.com/office/drawing/2014/main" id="{7E891309-2DBC-31DB-CF4C-06AD426D6516}"/>
                  </a:ext>
                </a:extLst>
              </p:cNvPr>
              <p:cNvSpPr txBox="1"/>
              <p:nvPr/>
            </p:nvSpPr>
            <p:spPr bwMode="gray">
              <a:xfrm>
                <a:off x="849983" y="4258065"/>
                <a:ext cx="970779" cy="258532"/>
              </a:xfrm>
              <a:prstGeom prst="rect">
                <a:avLst/>
              </a:prstGeom>
            </p:spPr>
            <p:txBody>
              <a:bodyPr wrap="none" lIns="45720" tIns="45720" rIns="45720" bIns="45720" rtlCol="0" anchor="ctr" anchorCtr="0">
                <a:spAutoFit/>
              </a:bodyPr>
              <a:lstStyle/>
              <a:p>
                <a:pPr>
                  <a:lnSpc>
                    <a:spcPct val="90000"/>
                  </a:lnSpc>
                </a:pPr>
                <a:r>
                  <a:rPr lang="en-US" sz="1200"/>
                  <a:t>Moderate (4)</a:t>
                </a:r>
              </a:p>
            </p:txBody>
          </p:sp>
        </p:grpSp>
        <p:grpSp>
          <p:nvGrpSpPr>
            <p:cNvPr id="9" name="Group 8">
              <a:extLst>
                <a:ext uri="{FF2B5EF4-FFF2-40B4-BE49-F238E27FC236}">
                  <a16:creationId xmlns:a16="http://schemas.microsoft.com/office/drawing/2014/main" id="{F6E344CF-5156-E143-5210-C901F4050C78}"/>
                </a:ext>
              </a:extLst>
            </p:cNvPr>
            <p:cNvGrpSpPr/>
            <p:nvPr/>
          </p:nvGrpSpPr>
          <p:grpSpPr>
            <a:xfrm>
              <a:off x="597388" y="4579078"/>
              <a:ext cx="1367644" cy="258532"/>
              <a:chOff x="597388" y="4831997"/>
              <a:chExt cx="1367644" cy="258532"/>
            </a:xfrm>
          </p:grpSpPr>
          <p:sp>
            <p:nvSpPr>
              <p:cNvPr id="10" name="Oval 9">
                <a:extLst>
                  <a:ext uri="{FF2B5EF4-FFF2-40B4-BE49-F238E27FC236}">
                    <a16:creationId xmlns:a16="http://schemas.microsoft.com/office/drawing/2014/main" id="{CEF97CCF-E983-98F7-C75A-76A9A25F7EEE}"/>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1" name="TextBox 10">
                <a:extLst>
                  <a:ext uri="{FF2B5EF4-FFF2-40B4-BE49-F238E27FC236}">
                    <a16:creationId xmlns:a16="http://schemas.microsoft.com/office/drawing/2014/main" id="{63A3EFF9-F6B9-7EA3-29E3-4D6EA2519107}"/>
                  </a:ext>
                </a:extLst>
              </p:cNvPr>
              <p:cNvSpPr txBox="1"/>
              <p:nvPr/>
            </p:nvSpPr>
            <p:spPr bwMode="gray">
              <a:xfrm>
                <a:off x="849983" y="4831997"/>
                <a:ext cx="1115049" cy="258532"/>
              </a:xfrm>
              <a:prstGeom prst="rect">
                <a:avLst/>
              </a:prstGeom>
            </p:spPr>
            <p:txBody>
              <a:bodyPr wrap="none" lIns="45720" tIns="45720" rIns="45720" bIns="45720" rtlCol="0" anchor="ctr" anchorCtr="0">
                <a:spAutoFit/>
              </a:bodyPr>
              <a:lstStyle/>
              <a:p>
                <a:pPr>
                  <a:lnSpc>
                    <a:spcPct val="90000"/>
                  </a:lnSpc>
                </a:pPr>
                <a:r>
                  <a:rPr lang="en-US" sz="1200"/>
                  <a:t>Unlikely (1,2,3)</a:t>
                </a:r>
              </a:p>
            </p:txBody>
          </p:sp>
        </p:grpSp>
      </p:grpSp>
      <p:sp>
        <p:nvSpPr>
          <p:cNvPr id="16" name="Rectangle: Rounded Corners 15">
            <a:extLst>
              <a:ext uri="{FF2B5EF4-FFF2-40B4-BE49-F238E27FC236}">
                <a16:creationId xmlns:a16="http://schemas.microsoft.com/office/drawing/2014/main" id="{2C92304F-BE41-CB0C-C926-69C95E7FE609}"/>
              </a:ext>
            </a:extLst>
          </p:cNvPr>
          <p:cNvSpPr/>
          <p:nvPr/>
        </p:nvSpPr>
        <p:spPr bwMode="gray">
          <a:xfrm>
            <a:off x="255439" y="1543281"/>
            <a:ext cx="11643197"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23" name="Group 22">
            <a:extLst>
              <a:ext uri="{FF2B5EF4-FFF2-40B4-BE49-F238E27FC236}">
                <a16:creationId xmlns:a16="http://schemas.microsoft.com/office/drawing/2014/main" id="{4C51055C-80EA-467E-60BB-5F9EA6D36994}"/>
              </a:ext>
            </a:extLst>
          </p:cNvPr>
          <p:cNvGrpSpPr/>
          <p:nvPr/>
        </p:nvGrpSpPr>
        <p:grpSpPr>
          <a:xfrm>
            <a:off x="378161" y="1600319"/>
            <a:ext cx="650178" cy="539122"/>
            <a:chOff x="1686341" y="1600319"/>
            <a:chExt cx="650178" cy="539122"/>
          </a:xfrm>
        </p:grpSpPr>
        <p:cxnSp>
          <p:nvCxnSpPr>
            <p:cNvPr id="24" name="Straight Connector 23">
              <a:extLst>
                <a:ext uri="{FF2B5EF4-FFF2-40B4-BE49-F238E27FC236}">
                  <a16:creationId xmlns:a16="http://schemas.microsoft.com/office/drawing/2014/main" id="{B145326D-C54F-A12B-B757-561BB617B424}"/>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5" name="TextBox 24">
              <a:extLst>
                <a:ext uri="{FF2B5EF4-FFF2-40B4-BE49-F238E27FC236}">
                  <a16:creationId xmlns:a16="http://schemas.microsoft.com/office/drawing/2014/main" id="{BF874532-0155-1728-A5C4-6F90B6FFED87}"/>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26" name="TextBox 25">
            <a:extLst>
              <a:ext uri="{FF2B5EF4-FFF2-40B4-BE49-F238E27FC236}">
                <a16:creationId xmlns:a16="http://schemas.microsoft.com/office/drawing/2014/main" id="{D3BEBDEA-F134-D849-65CE-0B488F627FAB}"/>
              </a:ext>
            </a:extLst>
          </p:cNvPr>
          <p:cNvSpPr txBox="1"/>
          <p:nvPr/>
        </p:nvSpPr>
        <p:spPr bwMode="gray">
          <a:xfrm>
            <a:off x="290188" y="1309548"/>
            <a:ext cx="826124" cy="338554"/>
          </a:xfrm>
          <a:prstGeom prst="rect">
            <a:avLst/>
          </a:prstGeom>
          <a:noFill/>
        </p:spPr>
        <p:txBody>
          <a:bodyPr wrap="none">
            <a:spAutoFit/>
          </a:bodyPr>
          <a:lstStyle/>
          <a:p>
            <a:r>
              <a:rPr lang="en-US" sz="1600"/>
              <a:t>TOTAL</a:t>
            </a:r>
          </a:p>
        </p:txBody>
      </p:sp>
      <p:grpSp>
        <p:nvGrpSpPr>
          <p:cNvPr id="28" name="Group 27">
            <a:extLst>
              <a:ext uri="{FF2B5EF4-FFF2-40B4-BE49-F238E27FC236}">
                <a16:creationId xmlns:a16="http://schemas.microsoft.com/office/drawing/2014/main" id="{2001AF88-5853-BC21-49DB-00F7E7D68D93}"/>
              </a:ext>
            </a:extLst>
          </p:cNvPr>
          <p:cNvGrpSpPr/>
          <p:nvPr/>
        </p:nvGrpSpPr>
        <p:grpSpPr>
          <a:xfrm>
            <a:off x="1299494" y="2823434"/>
            <a:ext cx="2104338" cy="448876"/>
            <a:chOff x="6750569" y="5112319"/>
            <a:chExt cx="2454531" cy="523576"/>
          </a:xfrm>
        </p:grpSpPr>
        <p:pic>
          <p:nvPicPr>
            <p:cNvPr id="29" name="Picture 8" descr="Novartis Bexsero® Vaccine Approved By FDA For The, 44% OFF">
              <a:extLst>
                <a:ext uri="{FF2B5EF4-FFF2-40B4-BE49-F238E27FC236}">
                  <a16:creationId xmlns:a16="http://schemas.microsoft.com/office/drawing/2014/main" id="{EB6A2A11-DEE0-B4FD-CC73-786A8C6D84A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4498"/>
            <a:stretch/>
          </p:blipFill>
          <p:spPr bwMode="auto">
            <a:xfrm>
              <a:off x="7318396" y="5112319"/>
              <a:ext cx="1886704" cy="52357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Novartis Bexsero® Vaccine Approved By FDA For The, 44% OFF">
              <a:extLst>
                <a:ext uri="{FF2B5EF4-FFF2-40B4-BE49-F238E27FC236}">
                  <a16:creationId xmlns:a16="http://schemas.microsoft.com/office/drawing/2014/main" id="{31E85850-C8E7-532C-509E-7D1D9C9CD8B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6864" t="-7115" r="39312" b="51640"/>
            <a:stretch/>
          </p:blipFill>
          <p:spPr bwMode="auto">
            <a:xfrm>
              <a:off x="6750569" y="5112442"/>
              <a:ext cx="449471" cy="52333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a:extLst>
              <a:ext uri="{FF2B5EF4-FFF2-40B4-BE49-F238E27FC236}">
                <a16:creationId xmlns:a16="http://schemas.microsoft.com/office/drawing/2014/main" id="{4CF7A7AE-C959-38B0-0144-862B0582DCD1}"/>
              </a:ext>
            </a:extLst>
          </p:cNvPr>
          <p:cNvSpPr txBox="1"/>
          <p:nvPr/>
        </p:nvSpPr>
        <p:spPr bwMode="gray">
          <a:xfrm>
            <a:off x="7462615" y="1637021"/>
            <a:ext cx="4426189" cy="1046440"/>
          </a:xfrm>
          <a:prstGeom prst="rect">
            <a:avLst/>
          </a:prstGeom>
        </p:spPr>
        <p:txBody>
          <a:bodyPr wrap="square" lIns="45720" tIns="45720" rIns="45720" bIns="45720" rtlCol="0">
            <a:spAutoFit/>
          </a:bodyPr>
          <a:lstStyle/>
          <a:p>
            <a:pPr marL="0" marR="0" lvl="0" indent="0" algn="ctr" defTabSz="914400" rtl="0" eaLnBrk="1" fontAlgn="auto" latinLnBrk="0" hangingPunct="1">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Reasons Unlikely to Reconsider </a:t>
            </a:r>
            <a:b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b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MenB Vaccine</a:t>
            </a:r>
            <a:b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br>
            <a:r>
              <a:rPr kumimoji="0" lang="en-US" sz="1600" i="0" u="none" strike="noStrike" kern="1200" cap="none" spc="0" normalizeH="0" baseline="0" noProof="0">
                <a:ln>
                  <a:noFill/>
                </a:ln>
                <a:solidFill>
                  <a:srgbClr val="0000C9"/>
                </a:solidFill>
                <a:effectLst/>
                <a:uLnTx/>
                <a:uFillTx/>
                <a:latin typeface="Arial" panose="020B0604020202020204"/>
                <a:ea typeface="+mn-ea"/>
                <a:cs typeface="+mn-cs"/>
              </a:rPr>
              <a:t>[AIDED]</a:t>
            </a:r>
            <a:br>
              <a:rPr lang="en-US" b="1" strike="sngStrike">
                <a:solidFill>
                  <a:schemeClr val="accent6">
                    <a:lumMod val="75000"/>
                  </a:schemeClr>
                </a:solidFill>
                <a:latin typeface="Arial" panose="020B0604020202020204"/>
              </a:rPr>
            </a:br>
            <a:r>
              <a:rPr kumimoji="0" lang="en-US" sz="100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 HCPs </a:t>
            </a:r>
            <a:r>
              <a:rPr kumimoji="0" lang="en-US" sz="1000" b="0" u="none" strike="noStrike" kern="1200" cap="none" spc="0" normalizeH="0" baseline="0" noProof="0">
                <a:ln>
                  <a:noFill/>
                </a:ln>
                <a:solidFill>
                  <a:srgbClr val="FFFFFF">
                    <a:lumMod val="50000"/>
                  </a:srgbClr>
                </a:solidFill>
                <a:effectLst/>
                <a:uLnTx/>
                <a:uFillTx/>
                <a:latin typeface="Arial" panose="020B0604020202020204"/>
                <a:ea typeface="+mn-ea"/>
                <a:cs typeface="+mn-cs"/>
              </a:rPr>
              <a:t>(n=</a:t>
            </a:r>
            <a:r>
              <a:rPr kumimoji="0" lang="en-US" sz="1000" b="0" u="none" strike="noStrike" kern="1200" cap="none" spc="0" normalizeH="0" baseline="0" noProof="0">
                <a:ln>
                  <a:noFill/>
                </a:ln>
                <a:solidFill>
                  <a:srgbClr val="7F7F7F"/>
                </a:solidFill>
                <a:effectLst/>
                <a:uLnTx/>
                <a:uFillTx/>
                <a:latin typeface="Arial" panose="020B0604020202020204"/>
                <a:ea typeface="+mn-ea"/>
                <a:cs typeface="+mn-cs"/>
              </a:rPr>
              <a:t>33</a:t>
            </a:r>
            <a:r>
              <a:rPr kumimoji="0" lang="en-US" sz="1000" b="0" u="none" strike="noStrike" kern="1200" cap="none" spc="0" normalizeH="0" baseline="0" noProof="0">
                <a:ln>
                  <a:noFill/>
                </a:ln>
                <a:solidFill>
                  <a:srgbClr val="FFFFFF">
                    <a:lumMod val="50000"/>
                  </a:srgbClr>
                </a:solidFill>
                <a:effectLst/>
                <a:uLnTx/>
                <a:uFillTx/>
                <a:latin typeface="Arial" panose="020B0604020202020204"/>
                <a:ea typeface="+mn-ea"/>
                <a:cs typeface="+mn-cs"/>
              </a:rPr>
              <a:t>)</a:t>
            </a:r>
          </a:p>
        </p:txBody>
      </p:sp>
      <p:graphicFrame>
        <p:nvGraphicFramePr>
          <p:cNvPr id="34" name="Chart 33">
            <a:extLst>
              <a:ext uri="{FF2B5EF4-FFF2-40B4-BE49-F238E27FC236}">
                <a16:creationId xmlns:a16="http://schemas.microsoft.com/office/drawing/2014/main" id="{D4BD23E0-C704-CEE3-D42A-B4F8A7049102}"/>
              </a:ext>
            </a:extLst>
          </p:cNvPr>
          <p:cNvGraphicFramePr/>
          <p:nvPr>
            <p:extLst>
              <p:ext uri="{D42A27DB-BD31-4B8C-83A1-F6EECF244321}">
                <p14:modId xmlns:p14="http://schemas.microsoft.com/office/powerpoint/2010/main" val="2546829205"/>
              </p:ext>
            </p:extLst>
          </p:nvPr>
        </p:nvGraphicFramePr>
        <p:xfrm>
          <a:off x="7010400" y="2548637"/>
          <a:ext cx="4888235" cy="3352799"/>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a:extLst>
              <a:ext uri="{FF2B5EF4-FFF2-40B4-BE49-F238E27FC236}">
                <a16:creationId xmlns:a16="http://schemas.microsoft.com/office/drawing/2014/main" id="{70EA2AF7-9F9C-8F8C-5526-D1C272D7594B}"/>
              </a:ext>
            </a:extLst>
          </p:cNvPr>
          <p:cNvSpPr txBox="1"/>
          <p:nvPr/>
        </p:nvSpPr>
        <p:spPr bwMode="gray">
          <a:xfrm>
            <a:off x="2759259" y="3704802"/>
            <a:ext cx="733914" cy="3323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79%</a:t>
            </a:r>
            <a:r>
              <a:rPr lang="en-US" altLang="en-US" sz="900">
                <a:solidFill>
                  <a:srgbClr val="FF0000"/>
                </a:solidFill>
                <a:cs typeface="Arial" panose="020B0604020202020204" pitchFamily="34" charset="0"/>
                <a:sym typeface="Symbol" pitchFamily="18" charset="2"/>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&gt;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53%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39" name="Text Placeholder 2">
            <a:extLst>
              <a:ext uri="{FF2B5EF4-FFF2-40B4-BE49-F238E27FC236}">
                <a16:creationId xmlns:a16="http://schemas.microsoft.com/office/drawing/2014/main" id="{EA3944AB-9E6B-CA2A-F776-9052BBC61172}"/>
              </a:ext>
            </a:extLst>
          </p:cNvPr>
          <p:cNvSpPr txBox="1">
            <a:spLocks/>
          </p:cNvSpPr>
          <p:nvPr/>
        </p:nvSpPr>
        <p:spPr bwMode="gray">
          <a:xfrm>
            <a:off x="2493814" y="3386153"/>
            <a:ext cx="413216"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a:solidFill>
                  <a:srgbClr val="FF0000"/>
                </a:solidFill>
                <a:cs typeface="Arial" panose="020B0604020202020204" pitchFamily="34" charset="0"/>
                <a:sym typeface="Symbol" pitchFamily="18" charset="2"/>
              </a:rPr>
              <a:t> </a:t>
            </a:r>
            <a:r>
              <a:rPr lang="en-US" altLang="en-US" baseline="30000">
                <a:solidFill>
                  <a:schemeClr val="tx1">
                    <a:lumMod val="75000"/>
                    <a:lumOff val="25000"/>
                  </a:schemeClr>
                </a:solidFill>
                <a:cs typeface="Arial" panose="020B0604020202020204" pitchFamily="34" charset="0"/>
                <a:sym typeface="Symbol" pitchFamily="18" charset="2"/>
              </a:rPr>
              <a:t>(59%)</a:t>
            </a:r>
            <a:endParaRPr lang="en-US" baseline="30000">
              <a:solidFill>
                <a:schemeClr val="tx1">
                  <a:lumMod val="75000"/>
                  <a:lumOff val="25000"/>
                </a:schemeClr>
              </a:solidFill>
            </a:endParaRPr>
          </a:p>
        </p:txBody>
      </p:sp>
      <p:sp>
        <p:nvSpPr>
          <p:cNvPr id="41" name="TextBox 40">
            <a:extLst>
              <a:ext uri="{FF2B5EF4-FFF2-40B4-BE49-F238E27FC236}">
                <a16:creationId xmlns:a16="http://schemas.microsoft.com/office/drawing/2014/main" id="{989C4E31-76A7-1FF0-12C1-A0B08FE0135E}"/>
              </a:ext>
            </a:extLst>
          </p:cNvPr>
          <p:cNvSpPr txBox="1"/>
          <p:nvPr/>
        </p:nvSpPr>
        <p:spPr bwMode="gray">
          <a:xfrm>
            <a:off x="2752387" y="4088899"/>
            <a:ext cx="733915" cy="470884"/>
          </a:xfrm>
          <a:prstGeom prst="rect">
            <a:avLst/>
          </a:prstGeom>
          <a:solidFill>
            <a:schemeClr val="bg1"/>
          </a:solid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67%</a:t>
            </a:r>
            <a:r>
              <a:rPr lang="en-US" altLang="en-US" sz="900">
                <a:solidFill>
                  <a:srgbClr val="FF0000"/>
                </a:solidFill>
                <a:cs typeface="Arial" panose="020B0604020202020204" pitchFamily="34" charset="0"/>
                <a:sym typeface="Symbol" pitchFamily="18" charset="2"/>
              </a:rPr>
              <a:t></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defRPr/>
            </a:pPr>
            <a:r>
              <a:rPr lang="en-US" sz="900">
                <a:solidFill>
                  <a:srgbClr val="000000">
                    <a:lumMod val="50000"/>
                    <a:lumOff val="50000"/>
                  </a:srgbClr>
                </a:solidFill>
                <a:latin typeface="Arial" panose="020B0604020202020204"/>
              </a:rPr>
              <a:t>93%</a:t>
            </a:r>
            <a:r>
              <a:rPr lang="en-US" sz="900" baseline="30000">
                <a:solidFill>
                  <a:srgbClr val="000000">
                    <a:lumMod val="50000"/>
                    <a:lumOff val="50000"/>
                  </a:srgbClr>
                </a:solidFill>
              </a:rPr>
              <a:t>1</a:t>
            </a:r>
            <a:r>
              <a:rPr lang="en-US" altLang="en-US" sz="900">
                <a:solidFill>
                  <a:srgbClr val="FF0000"/>
                </a:solidFill>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Tier 2 </a:t>
            </a:r>
          </a:p>
          <a:p>
            <a:pPr marL="400050" lvl="0" indent="-400050" defTabSz="914126">
              <a:defRPr/>
            </a:pPr>
            <a:r>
              <a:rPr lang="en-US" sz="900">
                <a:solidFill>
                  <a:srgbClr val="000000">
                    <a:lumMod val="50000"/>
                    <a:lumOff val="50000"/>
                  </a:srgbClr>
                </a:solidFill>
                <a:latin typeface="Arial" panose="020B0604020202020204"/>
              </a:rPr>
              <a:t>79%</a:t>
            </a:r>
            <a:r>
              <a:rPr lang="en-US" altLang="en-US" sz="900">
                <a:solidFill>
                  <a:srgbClr val="FF0000"/>
                </a:solidFill>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1" name="Left Brace 20">
            <a:extLst>
              <a:ext uri="{FF2B5EF4-FFF2-40B4-BE49-F238E27FC236}">
                <a16:creationId xmlns:a16="http://schemas.microsoft.com/office/drawing/2014/main" id="{E9599311-F6BE-A5AA-951D-286EE6569CCA}"/>
              </a:ext>
            </a:extLst>
          </p:cNvPr>
          <p:cNvSpPr/>
          <p:nvPr/>
        </p:nvSpPr>
        <p:spPr bwMode="gray">
          <a:xfrm>
            <a:off x="7177083" y="3004842"/>
            <a:ext cx="388294" cy="2572998"/>
          </a:xfrm>
          <a:prstGeom prst="leftBrace">
            <a:avLst>
              <a:gd name="adj1" fmla="val 8333"/>
              <a:gd name="adj2" fmla="val 85716"/>
            </a:avLst>
          </a:prstGeom>
          <a:noFill/>
          <a:ln w="12700" cap="rnd">
            <a:solidFill>
              <a:schemeClr val="accent6"/>
            </a:solidFill>
            <a:prstDash val="solid"/>
            <a:round/>
            <a:headEnd/>
            <a:tailEnd/>
          </a:ln>
          <a:effectLst/>
        </p:spPr>
        <p:txBody>
          <a:bodyPr rtlCol="0" anchor="ctr"/>
          <a:lstStyle/>
          <a:p>
            <a:pPr algn="ctr"/>
            <a:endParaRPr lang="en-US"/>
          </a:p>
        </p:txBody>
      </p:sp>
      <p:sp>
        <p:nvSpPr>
          <p:cNvPr id="22" name="Title 1">
            <a:extLst>
              <a:ext uri="{FF2B5EF4-FFF2-40B4-BE49-F238E27FC236}">
                <a16:creationId xmlns:a16="http://schemas.microsoft.com/office/drawing/2014/main" id="{245388F7-9CBE-558C-CEE6-BABC9276764F}"/>
              </a:ext>
            </a:extLst>
          </p:cNvPr>
          <p:cNvSpPr>
            <a:spLocks noGrp="1"/>
          </p:cNvSpPr>
          <p:nvPr>
            <p:ph type="title"/>
          </p:nvPr>
        </p:nvSpPr>
        <p:spPr>
          <a:xfrm>
            <a:off x="1142123" y="170307"/>
            <a:ext cx="10746681" cy="850392"/>
          </a:xfrm>
        </p:spPr>
        <p:txBody>
          <a:bodyPr/>
          <a:lstStyle/>
          <a:p>
            <a:r>
              <a:rPr lang="en-US" dirty="0"/>
              <a:t>Awareness that Bexsero has the same two-dose schedule as Trumenba (0 and 6 months) is up significantly from Sep’24, with two-thirds of Trumenba Non-Stockers likely to reconsider their </a:t>
            </a:r>
            <a:r>
              <a:rPr lang="en-US" dirty="0" err="1"/>
              <a:t>MenB</a:t>
            </a:r>
            <a:r>
              <a:rPr lang="en-US" dirty="0"/>
              <a:t> Vx to some degree; those unlikely to reconsider cite </a:t>
            </a:r>
            <a:r>
              <a:rPr lang="en-US" i="1" dirty="0"/>
              <a:t>no compelling reason to switch, disruption to practice,</a:t>
            </a:r>
            <a:r>
              <a:rPr lang="en-US" dirty="0"/>
              <a:t> and </a:t>
            </a:r>
            <a:r>
              <a:rPr lang="en-US" i="1" dirty="0"/>
              <a:t>manufacturer discounts</a:t>
            </a:r>
          </a:p>
        </p:txBody>
      </p:sp>
      <p:sp>
        <p:nvSpPr>
          <p:cNvPr id="35" name="Left Brace 34">
            <a:extLst>
              <a:ext uri="{FF2B5EF4-FFF2-40B4-BE49-F238E27FC236}">
                <a16:creationId xmlns:a16="http://schemas.microsoft.com/office/drawing/2014/main" id="{E708E9F9-2A6D-58FF-55EF-D21635D76A39}"/>
              </a:ext>
            </a:extLst>
          </p:cNvPr>
          <p:cNvSpPr/>
          <p:nvPr/>
        </p:nvSpPr>
        <p:spPr bwMode="gray">
          <a:xfrm>
            <a:off x="4529294" y="3093274"/>
            <a:ext cx="142240" cy="1549212"/>
          </a:xfrm>
          <a:prstGeom prst="leftBrace">
            <a:avLst/>
          </a:prstGeom>
          <a:ln>
            <a:headEnd/>
            <a:tailEn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8E2A85DE-2862-A585-BA69-F79E63A0D549}"/>
              </a:ext>
            </a:extLst>
          </p:cNvPr>
          <p:cNvSpPr txBox="1"/>
          <p:nvPr/>
        </p:nvSpPr>
        <p:spPr bwMode="gray">
          <a:xfrm>
            <a:off x="4067334" y="3762155"/>
            <a:ext cx="451406" cy="286232"/>
          </a:xfrm>
          <a:prstGeom prst="rect">
            <a:avLst/>
          </a:prstGeom>
          <a:noFill/>
        </p:spPr>
        <p:txBody>
          <a:bodyPr wrap="none" lIns="45720" tIns="45720" rIns="45720" bIns="4572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1400" i="0" u="none" strike="noStrike" kern="1200" cap="none" spc="0" normalizeH="0" baseline="0" noProof="0">
                <a:ln>
                  <a:noFill/>
                </a:ln>
                <a:effectLst/>
                <a:uLnTx/>
                <a:uFillTx/>
                <a:latin typeface="Arial" panose="020B0604020202020204"/>
                <a:ea typeface="+mn-ea"/>
                <a:cs typeface="+mn-cs"/>
              </a:rPr>
              <a:t>63%</a:t>
            </a:r>
          </a:p>
        </p:txBody>
      </p:sp>
    </p:spTree>
    <p:extLst>
      <p:ext uri="{BB962C8B-B14F-4D97-AF65-F5344CB8AC3E}">
        <p14:creationId xmlns:p14="http://schemas.microsoft.com/office/powerpoint/2010/main" val="2791378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EA88-3BF4-C753-4B67-7F9752B7EA8C}"/>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A7D070F3-04E6-9020-233C-015FBF31837F}"/>
              </a:ext>
            </a:extLst>
          </p:cNvPr>
          <p:cNvPicPr>
            <a:picLocks noChangeAspect="1"/>
          </p:cNvPicPr>
          <p:nvPr/>
        </p:nvPicPr>
        <p:blipFill rotWithShape="1">
          <a:blip r:embed="rId3"/>
          <a:srcRect b="49265"/>
          <a:stretch/>
        </p:blipFill>
        <p:spPr>
          <a:xfrm>
            <a:off x="3966724" y="2488557"/>
            <a:ext cx="4255377" cy="2089498"/>
          </a:xfrm>
          <a:prstGeom prst="rect">
            <a:avLst/>
          </a:prstGeom>
        </p:spPr>
      </p:pic>
      <p:graphicFrame>
        <p:nvGraphicFramePr>
          <p:cNvPr id="6" name="Chart 5">
            <a:extLst>
              <a:ext uri="{FF2B5EF4-FFF2-40B4-BE49-F238E27FC236}">
                <a16:creationId xmlns:a16="http://schemas.microsoft.com/office/drawing/2014/main" id="{9072B7BF-275F-815C-9E58-7F4BB29D6614}"/>
              </a:ext>
            </a:extLst>
          </p:cNvPr>
          <p:cNvGraphicFramePr/>
          <p:nvPr>
            <p:extLst>
              <p:ext uri="{D42A27DB-BD31-4B8C-83A1-F6EECF244321}">
                <p14:modId xmlns:p14="http://schemas.microsoft.com/office/powerpoint/2010/main" val="3140338586"/>
              </p:ext>
            </p:extLst>
          </p:nvPr>
        </p:nvGraphicFramePr>
        <p:xfrm>
          <a:off x="3124719" y="2436363"/>
          <a:ext cx="6254830" cy="4665668"/>
        </p:xfrm>
        <a:graphic>
          <a:graphicData uri="http://schemas.openxmlformats.org/drawingml/2006/chart">
            <c:chart xmlns:c="http://schemas.openxmlformats.org/drawingml/2006/chart" xmlns:r="http://schemas.openxmlformats.org/officeDocument/2006/relationships" r:id="rId4"/>
          </a:graphicData>
        </a:graphic>
      </p:graphicFrame>
      <p:sp>
        <p:nvSpPr>
          <p:cNvPr id="12" name="Rectangle: Rounded Corners 11">
            <a:extLst>
              <a:ext uri="{FF2B5EF4-FFF2-40B4-BE49-F238E27FC236}">
                <a16:creationId xmlns:a16="http://schemas.microsoft.com/office/drawing/2014/main" id="{C5F887CE-3B08-4899-F5EC-22DF1A601C98}"/>
              </a:ext>
            </a:extLst>
          </p:cNvPr>
          <p:cNvSpPr/>
          <p:nvPr/>
        </p:nvSpPr>
        <p:spPr bwMode="gray">
          <a:xfrm>
            <a:off x="931545" y="1540107"/>
            <a:ext cx="10325735" cy="4413221"/>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14" name="Group 13">
            <a:extLst>
              <a:ext uri="{FF2B5EF4-FFF2-40B4-BE49-F238E27FC236}">
                <a16:creationId xmlns:a16="http://schemas.microsoft.com/office/drawing/2014/main" id="{9CC0D533-E4E0-7116-C56A-5A6E7DC2DDC3}"/>
              </a:ext>
            </a:extLst>
          </p:cNvPr>
          <p:cNvGrpSpPr/>
          <p:nvPr/>
        </p:nvGrpSpPr>
        <p:grpSpPr>
          <a:xfrm>
            <a:off x="1078262" y="1600319"/>
            <a:ext cx="650178" cy="539122"/>
            <a:chOff x="1686341" y="1600319"/>
            <a:chExt cx="650178" cy="539122"/>
          </a:xfrm>
        </p:grpSpPr>
        <p:cxnSp>
          <p:nvCxnSpPr>
            <p:cNvPr id="15" name="Straight Connector 14">
              <a:extLst>
                <a:ext uri="{FF2B5EF4-FFF2-40B4-BE49-F238E27FC236}">
                  <a16:creationId xmlns:a16="http://schemas.microsoft.com/office/drawing/2014/main" id="{7D381228-266B-8BB7-01FD-8D4E8E2E45D6}"/>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6" name="TextBox 15">
              <a:extLst>
                <a:ext uri="{FF2B5EF4-FFF2-40B4-BE49-F238E27FC236}">
                  <a16:creationId xmlns:a16="http://schemas.microsoft.com/office/drawing/2014/main" id="{02256628-F4DA-9327-39AA-71C05D208D24}"/>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17" name="TextBox 16">
            <a:extLst>
              <a:ext uri="{FF2B5EF4-FFF2-40B4-BE49-F238E27FC236}">
                <a16:creationId xmlns:a16="http://schemas.microsoft.com/office/drawing/2014/main" id="{3D91D70A-CFB7-87B4-496E-D80976AB3019}"/>
              </a:ext>
            </a:extLst>
          </p:cNvPr>
          <p:cNvSpPr txBox="1"/>
          <p:nvPr/>
        </p:nvSpPr>
        <p:spPr bwMode="gray">
          <a:xfrm>
            <a:off x="990289" y="1299820"/>
            <a:ext cx="826124" cy="338554"/>
          </a:xfrm>
          <a:prstGeom prst="rect">
            <a:avLst/>
          </a:prstGeom>
          <a:noFill/>
        </p:spPr>
        <p:txBody>
          <a:bodyPr wrap="none">
            <a:spAutoFit/>
          </a:bodyPr>
          <a:lstStyle/>
          <a:p>
            <a:r>
              <a:rPr lang="en-US" sz="1600"/>
              <a:t>TOTAL</a:t>
            </a:r>
          </a:p>
        </p:txBody>
      </p:sp>
      <p:sp>
        <p:nvSpPr>
          <p:cNvPr id="3" name="Title 2">
            <a:extLst>
              <a:ext uri="{FF2B5EF4-FFF2-40B4-BE49-F238E27FC236}">
                <a16:creationId xmlns:a16="http://schemas.microsoft.com/office/drawing/2014/main" id="{3156C964-EFAA-B575-667E-13FB4D62B6D0}"/>
              </a:ext>
            </a:extLst>
          </p:cNvPr>
          <p:cNvSpPr>
            <a:spLocks noGrp="1"/>
          </p:cNvSpPr>
          <p:nvPr>
            <p:ph type="title"/>
          </p:nvPr>
        </p:nvSpPr>
        <p:spPr>
          <a:xfrm>
            <a:off x="1142123" y="170307"/>
            <a:ext cx="10629330" cy="850392"/>
          </a:xfrm>
        </p:spPr>
        <p:txBody>
          <a:bodyPr/>
          <a:lstStyle/>
          <a:p>
            <a:r>
              <a:rPr lang="en-US" dirty="0"/>
              <a:t>Two-thirds of HCPs perceive Bexsero and Trumenba are </a:t>
            </a:r>
            <a:r>
              <a:rPr lang="en-US" i="1" dirty="0"/>
              <a:t>clinically interchangeable </a:t>
            </a:r>
            <a:r>
              <a:rPr lang="en-US" dirty="0"/>
              <a:t>while a quarter believe Trumenba has </a:t>
            </a:r>
            <a:r>
              <a:rPr lang="en-US" i="1" dirty="0"/>
              <a:t>some level of clinical advantage </a:t>
            </a:r>
            <a:r>
              <a:rPr lang="en-US" dirty="0"/>
              <a:t>over Bexsero – steered by Penbraya and Trumenba stockers</a:t>
            </a:r>
            <a:endParaRPr lang="en-US" i="1" dirty="0"/>
          </a:p>
        </p:txBody>
      </p:sp>
      <p:sp>
        <p:nvSpPr>
          <p:cNvPr id="11" name="Text Placeholder 2">
            <a:extLst>
              <a:ext uri="{FF2B5EF4-FFF2-40B4-BE49-F238E27FC236}">
                <a16:creationId xmlns:a16="http://schemas.microsoft.com/office/drawing/2014/main" id="{122CF8F0-2705-6610-DAAA-86BC04040CC1}"/>
              </a:ext>
            </a:extLst>
          </p:cNvPr>
          <p:cNvSpPr>
            <a:spLocks noGrp="1"/>
          </p:cNvSpPr>
          <p:nvPr>
            <p:ph type="body" sz="quarter" idx="16"/>
          </p:nvPr>
        </p:nvSpPr>
        <p:spPr>
          <a:xfrm>
            <a:off x="1571627" y="6565239"/>
            <a:ext cx="8123092" cy="180049"/>
          </a:xfrm>
        </p:spPr>
        <p:txBody>
          <a:bodyPr wrap="square">
            <a:spAutoFit/>
          </a:bodyPr>
          <a:lstStyle/>
          <a:p>
            <a:pPr marL="685800" indent="-685800"/>
            <a:r>
              <a:rPr lang="en-US">
                <a:solidFill>
                  <a:srgbClr val="FF0000"/>
                </a:solidFill>
              </a:rPr>
              <a:t>(New) </a:t>
            </a:r>
            <a:r>
              <a:rPr lang="en-US"/>
              <a:t>P13b.	In your opinion, which meningococcal B vaccine is more clinically advantageous?</a:t>
            </a:r>
          </a:p>
        </p:txBody>
      </p:sp>
      <p:sp>
        <p:nvSpPr>
          <p:cNvPr id="8" name="TextBox 7">
            <a:extLst>
              <a:ext uri="{FF2B5EF4-FFF2-40B4-BE49-F238E27FC236}">
                <a16:creationId xmlns:a16="http://schemas.microsoft.com/office/drawing/2014/main" id="{FCB251FE-A8AE-5B36-5D1C-00DFF4CCFA0E}"/>
              </a:ext>
            </a:extLst>
          </p:cNvPr>
          <p:cNvSpPr txBox="1"/>
          <p:nvPr/>
        </p:nvSpPr>
        <p:spPr bwMode="gray">
          <a:xfrm>
            <a:off x="3949373" y="1653469"/>
            <a:ext cx="4290085" cy="480131"/>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Vaccine More Clinically Advantageous</a:t>
            </a:r>
            <a:br>
              <a:rPr kumimoji="0" lang="en-US" sz="1800" b="1" i="0" u="none" strike="noStrike" kern="1200" cap="none" spc="0" normalizeH="0" baseline="0" noProof="0">
                <a:ln>
                  <a:noFill/>
                </a:ln>
                <a:solidFill>
                  <a:schemeClr val="bg1">
                    <a:lumMod val="50000"/>
                  </a:schemeClr>
                </a:solidFill>
                <a:effectLst/>
                <a:uLnTx/>
                <a:uFillTx/>
                <a:latin typeface="Arial" panose="020B0604020202020204"/>
                <a:ea typeface="+mn-ea"/>
                <a:cs typeface="+mn-cs"/>
              </a:rPr>
            </a:b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62" name="Oval 61">
            <a:extLst>
              <a:ext uri="{FF2B5EF4-FFF2-40B4-BE49-F238E27FC236}">
                <a16:creationId xmlns:a16="http://schemas.microsoft.com/office/drawing/2014/main" id="{F3D94C97-408A-8C28-EDBE-40884F500C05}"/>
              </a:ext>
            </a:extLst>
          </p:cNvPr>
          <p:cNvSpPr/>
          <p:nvPr/>
        </p:nvSpPr>
        <p:spPr>
          <a:xfrm>
            <a:off x="5891212" y="4185846"/>
            <a:ext cx="406400" cy="406400"/>
          </a:xfrm>
          <a:prstGeom prst="ellipse">
            <a:avLst/>
          </a:prstGeom>
          <a:solidFill>
            <a:schemeClr val="tx1">
              <a:lumMod val="50000"/>
            </a:schemeClr>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a:latin typeface="+mj-lt"/>
              </a:rPr>
              <a:t>3.2</a:t>
            </a:r>
          </a:p>
        </p:txBody>
      </p:sp>
      <p:sp>
        <p:nvSpPr>
          <p:cNvPr id="18" name="TextBox 17">
            <a:extLst>
              <a:ext uri="{FF2B5EF4-FFF2-40B4-BE49-F238E27FC236}">
                <a16:creationId xmlns:a16="http://schemas.microsoft.com/office/drawing/2014/main" id="{C35672B3-2BF1-0B24-6C3E-44D4B78FEFA8}"/>
              </a:ext>
            </a:extLst>
          </p:cNvPr>
          <p:cNvSpPr txBox="1"/>
          <p:nvPr/>
        </p:nvSpPr>
        <p:spPr bwMode="gray">
          <a:xfrm>
            <a:off x="7607783" y="3914179"/>
            <a:ext cx="553998" cy="341632"/>
          </a:xfrm>
          <a:prstGeom prst="rect">
            <a:avLst/>
          </a:prstGeom>
          <a:solidFill>
            <a:schemeClr val="bg1"/>
          </a:solidFill>
          <a:ln w="12700">
            <a:solidFill>
              <a:srgbClr val="937DAD"/>
            </a:solidFill>
            <a:prstDash val="dash"/>
          </a:ln>
        </p:spPr>
        <p:txBody>
          <a:bodyPr wrap="none" lIns="45720" tIns="45720" rIns="45720" bIns="45720" rtlCol="0">
            <a:spAutoFit/>
          </a:bodyPr>
          <a:lstStyle/>
          <a:p>
            <a:pPr algn="l">
              <a:lnSpc>
                <a:spcPct val="90000"/>
              </a:lnSpc>
              <a:spcBef>
                <a:spcPts val="1000"/>
              </a:spcBef>
            </a:pPr>
            <a:r>
              <a:rPr lang="en-US" b="1">
                <a:solidFill>
                  <a:srgbClr val="009F54"/>
                </a:solidFill>
              </a:rPr>
              <a:t>24%</a:t>
            </a:r>
          </a:p>
        </p:txBody>
      </p:sp>
      <p:sp>
        <p:nvSpPr>
          <p:cNvPr id="21" name="TextBox 20">
            <a:extLst>
              <a:ext uri="{FF2B5EF4-FFF2-40B4-BE49-F238E27FC236}">
                <a16:creationId xmlns:a16="http://schemas.microsoft.com/office/drawing/2014/main" id="{8FAA72EB-C408-66AD-F808-6758EBE15A00}"/>
              </a:ext>
            </a:extLst>
          </p:cNvPr>
          <p:cNvSpPr txBox="1"/>
          <p:nvPr/>
        </p:nvSpPr>
        <p:spPr bwMode="gray">
          <a:xfrm>
            <a:off x="3878239" y="4129717"/>
            <a:ext cx="553998" cy="341632"/>
          </a:xfrm>
          <a:prstGeom prst="rect">
            <a:avLst/>
          </a:prstGeom>
          <a:solidFill>
            <a:schemeClr val="bg1"/>
          </a:solidFill>
          <a:ln w="12700">
            <a:solidFill>
              <a:srgbClr val="6F002C"/>
            </a:solidFill>
            <a:prstDash val="dash"/>
          </a:ln>
        </p:spPr>
        <p:txBody>
          <a:bodyPr wrap="none" lIns="45720" tIns="45720" rIns="45720" bIns="45720" rtlCol="0">
            <a:spAutoFit/>
          </a:bodyPr>
          <a:lstStyle/>
          <a:p>
            <a:pPr algn="l">
              <a:lnSpc>
                <a:spcPct val="90000"/>
              </a:lnSpc>
              <a:spcBef>
                <a:spcPts val="1000"/>
              </a:spcBef>
            </a:pPr>
            <a:r>
              <a:rPr lang="en-US" b="1">
                <a:solidFill>
                  <a:srgbClr val="6F002C"/>
                </a:solidFill>
              </a:rPr>
              <a:t>10%</a:t>
            </a:r>
          </a:p>
        </p:txBody>
      </p:sp>
      <p:pic>
        <p:nvPicPr>
          <p:cNvPr id="4" name="Picture 3">
            <a:extLst>
              <a:ext uri="{FF2B5EF4-FFF2-40B4-BE49-F238E27FC236}">
                <a16:creationId xmlns:a16="http://schemas.microsoft.com/office/drawing/2014/main" id="{ED9BD38E-9D83-078F-6BE8-E33AFB3F3291}"/>
              </a:ext>
            </a:extLst>
          </p:cNvPr>
          <p:cNvPicPr>
            <a:picLocks noChangeAspect="1"/>
          </p:cNvPicPr>
          <p:nvPr/>
        </p:nvPicPr>
        <p:blipFill>
          <a:blip r:embed="rId5"/>
          <a:stretch>
            <a:fillRect/>
          </a:stretch>
        </p:blipFill>
        <p:spPr>
          <a:xfrm rot="19613688">
            <a:off x="5580322" y="2699423"/>
            <a:ext cx="1261652" cy="1432311"/>
          </a:xfrm>
          <a:prstGeom prst="rect">
            <a:avLst/>
          </a:prstGeom>
        </p:spPr>
      </p:pic>
      <p:grpSp>
        <p:nvGrpSpPr>
          <p:cNvPr id="38" name="Group 37">
            <a:extLst>
              <a:ext uri="{FF2B5EF4-FFF2-40B4-BE49-F238E27FC236}">
                <a16:creationId xmlns:a16="http://schemas.microsoft.com/office/drawing/2014/main" id="{6015AB59-797B-7188-8C1E-882F42557A00}"/>
              </a:ext>
            </a:extLst>
          </p:cNvPr>
          <p:cNvGrpSpPr/>
          <p:nvPr/>
        </p:nvGrpSpPr>
        <p:grpSpPr>
          <a:xfrm>
            <a:off x="3178492" y="4582160"/>
            <a:ext cx="5831840" cy="1046320"/>
            <a:chOff x="3017520" y="4582160"/>
            <a:chExt cx="5831840" cy="1046320"/>
          </a:xfrm>
        </p:grpSpPr>
        <p:sp>
          <p:nvSpPr>
            <p:cNvPr id="39" name="Rectangle 38">
              <a:extLst>
                <a:ext uri="{FF2B5EF4-FFF2-40B4-BE49-F238E27FC236}">
                  <a16:creationId xmlns:a16="http://schemas.microsoft.com/office/drawing/2014/main" id="{0BDFCC1D-CE56-17F9-9550-BF1814475733}"/>
                </a:ext>
              </a:extLst>
            </p:cNvPr>
            <p:cNvSpPr/>
            <p:nvPr/>
          </p:nvSpPr>
          <p:spPr>
            <a:xfrm>
              <a:off x="3017520" y="4582160"/>
              <a:ext cx="5831840" cy="1046320"/>
            </a:xfrm>
            <a:prstGeom prst="rect">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endParaRPr lang="en-US" sz="1400">
                <a:solidFill>
                  <a:schemeClr val="tx1"/>
                </a:solidFill>
              </a:endParaRPr>
            </a:p>
          </p:txBody>
        </p:sp>
        <p:grpSp>
          <p:nvGrpSpPr>
            <p:cNvPr id="41" name="Group 40">
              <a:extLst>
                <a:ext uri="{FF2B5EF4-FFF2-40B4-BE49-F238E27FC236}">
                  <a16:creationId xmlns:a16="http://schemas.microsoft.com/office/drawing/2014/main" id="{BD1E5E69-ACF6-F061-BC2D-8EDC71DFCC72}"/>
                </a:ext>
              </a:extLst>
            </p:cNvPr>
            <p:cNvGrpSpPr/>
            <p:nvPr/>
          </p:nvGrpSpPr>
          <p:grpSpPr>
            <a:xfrm>
              <a:off x="3068321" y="4711468"/>
              <a:ext cx="1280160" cy="898287"/>
              <a:chOff x="3068321" y="4711468"/>
              <a:chExt cx="1280160" cy="898287"/>
            </a:xfrm>
          </p:grpSpPr>
          <p:sp>
            <p:nvSpPr>
              <p:cNvPr id="72" name="Oval 71">
                <a:extLst>
                  <a:ext uri="{FF2B5EF4-FFF2-40B4-BE49-F238E27FC236}">
                    <a16:creationId xmlns:a16="http://schemas.microsoft.com/office/drawing/2014/main" id="{74DF5176-DDDE-AE3A-EEB6-253210DB111D}"/>
                  </a:ext>
                </a:extLst>
              </p:cNvPr>
              <p:cNvSpPr/>
              <p:nvPr/>
            </p:nvSpPr>
            <p:spPr>
              <a:xfrm>
                <a:off x="3616961" y="4711468"/>
                <a:ext cx="182880" cy="182880"/>
              </a:xfrm>
              <a:prstGeom prst="ellipse">
                <a:avLst/>
              </a:prstGeom>
              <a:solidFill>
                <a:srgbClr val="6F002C"/>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73" name="TextBox 72">
                <a:extLst>
                  <a:ext uri="{FF2B5EF4-FFF2-40B4-BE49-F238E27FC236}">
                    <a16:creationId xmlns:a16="http://schemas.microsoft.com/office/drawing/2014/main" id="{A0CFC362-89B8-1646-110C-8B78D30B9125}"/>
                  </a:ext>
                </a:extLst>
              </p:cNvPr>
              <p:cNvSpPr txBox="1"/>
              <p:nvPr/>
            </p:nvSpPr>
            <p:spPr>
              <a:xfrm>
                <a:off x="3068321" y="4901869"/>
                <a:ext cx="1280160" cy="707886"/>
              </a:xfrm>
              <a:prstGeom prst="rect">
                <a:avLst/>
              </a:prstGeom>
              <a:noFill/>
              <a:ln>
                <a:noFill/>
                <a:prstDash val="dash"/>
              </a:ln>
            </p:spPr>
            <p:txBody>
              <a:bodyPr wrap="square">
                <a:spAutoFit/>
              </a:bodyPr>
              <a:lstStyle/>
              <a:p>
                <a:pPr algn="ctr"/>
                <a:r>
                  <a:rPr lang="en-US" sz="1200">
                    <a:latin typeface="+mj-lt"/>
                  </a:rPr>
                  <a:t>Major clinical advantage for</a:t>
                </a:r>
              </a:p>
              <a:p>
                <a:pPr algn="ctr"/>
                <a:r>
                  <a:rPr lang="en-US" sz="1600">
                    <a:latin typeface="+mj-lt"/>
                  </a:rPr>
                  <a:t> </a:t>
                </a:r>
                <a:r>
                  <a:rPr lang="en-US" sz="1600" b="1">
                    <a:solidFill>
                      <a:srgbClr val="6F002C"/>
                    </a:solidFill>
                    <a:latin typeface="+mj-lt"/>
                  </a:rPr>
                  <a:t>Bexsero</a:t>
                </a:r>
              </a:p>
            </p:txBody>
          </p:sp>
        </p:grpSp>
        <p:grpSp>
          <p:nvGrpSpPr>
            <p:cNvPr id="42" name="Group 41">
              <a:extLst>
                <a:ext uri="{FF2B5EF4-FFF2-40B4-BE49-F238E27FC236}">
                  <a16:creationId xmlns:a16="http://schemas.microsoft.com/office/drawing/2014/main" id="{478C4870-A798-72C8-6F3B-4B32B5E93676}"/>
                </a:ext>
              </a:extLst>
            </p:cNvPr>
            <p:cNvGrpSpPr/>
            <p:nvPr/>
          </p:nvGrpSpPr>
          <p:grpSpPr>
            <a:xfrm>
              <a:off x="5302003" y="4711468"/>
              <a:ext cx="1280160" cy="652066"/>
              <a:chOff x="5302003" y="4711468"/>
              <a:chExt cx="1280160" cy="652066"/>
            </a:xfrm>
          </p:grpSpPr>
          <p:sp>
            <p:nvSpPr>
              <p:cNvPr id="64" name="Oval 63">
                <a:extLst>
                  <a:ext uri="{FF2B5EF4-FFF2-40B4-BE49-F238E27FC236}">
                    <a16:creationId xmlns:a16="http://schemas.microsoft.com/office/drawing/2014/main" id="{800FEFA0-9C21-4626-A94C-B664E7DF4E29}"/>
                  </a:ext>
                </a:extLst>
              </p:cNvPr>
              <p:cNvSpPr/>
              <p:nvPr/>
            </p:nvSpPr>
            <p:spPr>
              <a:xfrm>
                <a:off x="5850643" y="4711468"/>
                <a:ext cx="182880" cy="182880"/>
              </a:xfrm>
              <a:prstGeom prst="ellipse">
                <a:avLst/>
              </a:prstGeom>
              <a:solidFill>
                <a:schemeClr val="bg1">
                  <a:lumMod val="6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71" name="TextBox 70">
                <a:extLst>
                  <a:ext uri="{FF2B5EF4-FFF2-40B4-BE49-F238E27FC236}">
                    <a16:creationId xmlns:a16="http://schemas.microsoft.com/office/drawing/2014/main" id="{EE4EFAD8-3E61-A2FE-8ACE-019F2F6F068F}"/>
                  </a:ext>
                </a:extLst>
              </p:cNvPr>
              <p:cNvSpPr txBox="1"/>
              <p:nvPr/>
            </p:nvSpPr>
            <p:spPr>
              <a:xfrm>
                <a:off x="5302003" y="4901869"/>
                <a:ext cx="1280160" cy="461665"/>
              </a:xfrm>
              <a:prstGeom prst="rect">
                <a:avLst/>
              </a:prstGeom>
              <a:noFill/>
              <a:ln>
                <a:noFill/>
                <a:prstDash val="dash"/>
              </a:ln>
            </p:spPr>
            <p:txBody>
              <a:bodyPr wrap="square">
                <a:spAutoFit/>
              </a:bodyPr>
              <a:lstStyle/>
              <a:p>
                <a:pPr algn="ctr"/>
                <a:r>
                  <a:rPr lang="en-US" sz="1200">
                    <a:latin typeface="+mj-lt"/>
                  </a:rPr>
                  <a:t>Clinically interchangeable</a:t>
                </a:r>
              </a:p>
            </p:txBody>
          </p:sp>
        </p:grpSp>
        <p:grpSp>
          <p:nvGrpSpPr>
            <p:cNvPr id="43" name="Group 42">
              <a:extLst>
                <a:ext uri="{FF2B5EF4-FFF2-40B4-BE49-F238E27FC236}">
                  <a16:creationId xmlns:a16="http://schemas.microsoft.com/office/drawing/2014/main" id="{B4F4E05B-15DE-7033-01C4-F989D5460ECE}"/>
                </a:ext>
              </a:extLst>
            </p:cNvPr>
            <p:cNvGrpSpPr/>
            <p:nvPr/>
          </p:nvGrpSpPr>
          <p:grpSpPr>
            <a:xfrm>
              <a:off x="4185162" y="4711468"/>
              <a:ext cx="1280160" cy="898287"/>
              <a:chOff x="4185162" y="4711468"/>
              <a:chExt cx="1280160" cy="898287"/>
            </a:xfrm>
          </p:grpSpPr>
          <p:sp>
            <p:nvSpPr>
              <p:cNvPr id="51" name="Oval 50">
                <a:extLst>
                  <a:ext uri="{FF2B5EF4-FFF2-40B4-BE49-F238E27FC236}">
                    <a16:creationId xmlns:a16="http://schemas.microsoft.com/office/drawing/2014/main" id="{4A52713A-EC03-592E-33E5-EE159D25AC71}"/>
                  </a:ext>
                </a:extLst>
              </p:cNvPr>
              <p:cNvSpPr/>
              <p:nvPr/>
            </p:nvSpPr>
            <p:spPr>
              <a:xfrm>
                <a:off x="4733802" y="4711468"/>
                <a:ext cx="182880" cy="182880"/>
              </a:xfrm>
              <a:prstGeom prst="ellipse">
                <a:avLst/>
              </a:prstGeom>
              <a:solidFill>
                <a:schemeClr val="accent6">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63" name="TextBox 62">
                <a:extLst>
                  <a:ext uri="{FF2B5EF4-FFF2-40B4-BE49-F238E27FC236}">
                    <a16:creationId xmlns:a16="http://schemas.microsoft.com/office/drawing/2014/main" id="{F1265168-5694-71AE-BE88-FE0329581905}"/>
                  </a:ext>
                </a:extLst>
              </p:cNvPr>
              <p:cNvSpPr txBox="1"/>
              <p:nvPr/>
            </p:nvSpPr>
            <p:spPr>
              <a:xfrm>
                <a:off x="4185162" y="4901869"/>
                <a:ext cx="1280160" cy="707886"/>
              </a:xfrm>
              <a:prstGeom prst="rect">
                <a:avLst/>
              </a:prstGeom>
              <a:noFill/>
              <a:ln>
                <a:noFill/>
                <a:prstDash val="dash"/>
              </a:ln>
            </p:spPr>
            <p:txBody>
              <a:bodyPr wrap="square">
                <a:spAutoFit/>
              </a:bodyPr>
              <a:lstStyle/>
              <a:p>
                <a:pPr algn="ctr"/>
                <a:r>
                  <a:rPr lang="en-US" sz="1200">
                    <a:latin typeface="+mj-lt"/>
                  </a:rPr>
                  <a:t>Slight clinical advantage for</a:t>
                </a:r>
              </a:p>
              <a:p>
                <a:pPr algn="ctr"/>
                <a:r>
                  <a:rPr lang="en-US" sz="1600">
                    <a:latin typeface="+mj-lt"/>
                  </a:rPr>
                  <a:t> </a:t>
                </a:r>
                <a:r>
                  <a:rPr lang="en-US" sz="1600" b="1">
                    <a:solidFill>
                      <a:srgbClr val="6F002C"/>
                    </a:solidFill>
                  </a:rPr>
                  <a:t>Bexsero</a:t>
                </a:r>
                <a:endParaRPr lang="en-US" sz="1600" b="1">
                  <a:solidFill>
                    <a:srgbClr val="6F002C"/>
                  </a:solidFill>
                  <a:latin typeface="+mj-lt"/>
                </a:endParaRPr>
              </a:p>
            </p:txBody>
          </p:sp>
        </p:grpSp>
        <p:grpSp>
          <p:nvGrpSpPr>
            <p:cNvPr id="45" name="Group 44">
              <a:extLst>
                <a:ext uri="{FF2B5EF4-FFF2-40B4-BE49-F238E27FC236}">
                  <a16:creationId xmlns:a16="http://schemas.microsoft.com/office/drawing/2014/main" id="{2DC95A43-DE8F-AE70-3B75-4F5A2525A3C2}"/>
                </a:ext>
              </a:extLst>
            </p:cNvPr>
            <p:cNvGrpSpPr/>
            <p:nvPr/>
          </p:nvGrpSpPr>
          <p:grpSpPr>
            <a:xfrm>
              <a:off x="7535685" y="4711468"/>
              <a:ext cx="1280160" cy="898287"/>
              <a:chOff x="7535685" y="4711468"/>
              <a:chExt cx="1280160" cy="898287"/>
            </a:xfrm>
          </p:grpSpPr>
          <p:sp>
            <p:nvSpPr>
              <p:cNvPr id="49" name="Oval 48">
                <a:extLst>
                  <a:ext uri="{FF2B5EF4-FFF2-40B4-BE49-F238E27FC236}">
                    <a16:creationId xmlns:a16="http://schemas.microsoft.com/office/drawing/2014/main" id="{7D5654EF-BD1D-AE89-F48E-703F11B32E89}"/>
                  </a:ext>
                </a:extLst>
              </p:cNvPr>
              <p:cNvSpPr/>
              <p:nvPr/>
            </p:nvSpPr>
            <p:spPr>
              <a:xfrm>
                <a:off x="8084325" y="4711468"/>
                <a:ext cx="182880" cy="182880"/>
              </a:xfrm>
              <a:prstGeom prst="ellipse">
                <a:avLst/>
              </a:prstGeom>
              <a:solidFill>
                <a:srgbClr val="009F5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0" name="TextBox 49">
                <a:extLst>
                  <a:ext uri="{FF2B5EF4-FFF2-40B4-BE49-F238E27FC236}">
                    <a16:creationId xmlns:a16="http://schemas.microsoft.com/office/drawing/2014/main" id="{495AFD0A-5B01-4A46-B5D7-92CE58AEF300}"/>
                  </a:ext>
                </a:extLst>
              </p:cNvPr>
              <p:cNvSpPr txBox="1"/>
              <p:nvPr/>
            </p:nvSpPr>
            <p:spPr>
              <a:xfrm>
                <a:off x="7535685" y="4901869"/>
                <a:ext cx="1280160" cy="707886"/>
              </a:xfrm>
              <a:prstGeom prst="rect">
                <a:avLst/>
              </a:prstGeom>
              <a:noFill/>
              <a:ln>
                <a:noFill/>
                <a:prstDash val="dash"/>
              </a:ln>
            </p:spPr>
            <p:txBody>
              <a:bodyPr wrap="square">
                <a:spAutoFit/>
              </a:bodyPr>
              <a:lstStyle/>
              <a:p>
                <a:pPr algn="ctr"/>
                <a:r>
                  <a:rPr lang="en-US" sz="1200" dirty="0">
                    <a:latin typeface="+mj-lt"/>
                  </a:rPr>
                  <a:t>Major clinical advantage for</a:t>
                </a:r>
              </a:p>
              <a:p>
                <a:pPr algn="ctr"/>
                <a:r>
                  <a:rPr lang="en-US" sz="1600" b="1" dirty="0">
                    <a:solidFill>
                      <a:srgbClr val="937DAD"/>
                    </a:solidFill>
                    <a:latin typeface="+mj-lt"/>
                  </a:rPr>
                  <a:t>Trumenba</a:t>
                </a:r>
                <a:endParaRPr lang="en-US" sz="1200" b="1" dirty="0">
                  <a:solidFill>
                    <a:srgbClr val="937DAD"/>
                  </a:solidFill>
                  <a:latin typeface="+mj-lt"/>
                </a:endParaRPr>
              </a:p>
            </p:txBody>
          </p:sp>
        </p:grpSp>
        <p:grpSp>
          <p:nvGrpSpPr>
            <p:cNvPr id="46" name="Group 45">
              <a:extLst>
                <a:ext uri="{FF2B5EF4-FFF2-40B4-BE49-F238E27FC236}">
                  <a16:creationId xmlns:a16="http://schemas.microsoft.com/office/drawing/2014/main" id="{D4B0EE65-8527-69C5-B03F-6B9C59C481DA}"/>
                </a:ext>
              </a:extLst>
            </p:cNvPr>
            <p:cNvGrpSpPr/>
            <p:nvPr/>
          </p:nvGrpSpPr>
          <p:grpSpPr>
            <a:xfrm>
              <a:off x="6418844" y="4711468"/>
              <a:ext cx="1280160" cy="898287"/>
              <a:chOff x="6418844" y="4711468"/>
              <a:chExt cx="1280160" cy="898287"/>
            </a:xfrm>
          </p:grpSpPr>
          <p:sp>
            <p:nvSpPr>
              <p:cNvPr id="47" name="Oval 46">
                <a:extLst>
                  <a:ext uri="{FF2B5EF4-FFF2-40B4-BE49-F238E27FC236}">
                    <a16:creationId xmlns:a16="http://schemas.microsoft.com/office/drawing/2014/main" id="{6EAA8AF8-A82A-DD21-52C4-AF6093057153}"/>
                  </a:ext>
                </a:extLst>
              </p:cNvPr>
              <p:cNvSpPr/>
              <p:nvPr/>
            </p:nvSpPr>
            <p:spPr>
              <a:xfrm>
                <a:off x="6967484" y="4711468"/>
                <a:ext cx="182880" cy="182880"/>
              </a:xfrm>
              <a:prstGeom prst="ellipse">
                <a:avLst/>
              </a:prstGeom>
              <a:solidFill>
                <a:srgbClr val="00D0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48" name="TextBox 47">
                <a:extLst>
                  <a:ext uri="{FF2B5EF4-FFF2-40B4-BE49-F238E27FC236}">
                    <a16:creationId xmlns:a16="http://schemas.microsoft.com/office/drawing/2014/main" id="{344F2609-15EF-91B0-342B-C86FB6C4AD1F}"/>
                  </a:ext>
                </a:extLst>
              </p:cNvPr>
              <p:cNvSpPr txBox="1"/>
              <p:nvPr/>
            </p:nvSpPr>
            <p:spPr>
              <a:xfrm>
                <a:off x="6418844" y="4901869"/>
                <a:ext cx="1280160" cy="707886"/>
              </a:xfrm>
              <a:prstGeom prst="rect">
                <a:avLst/>
              </a:prstGeom>
              <a:noFill/>
              <a:ln>
                <a:noFill/>
                <a:prstDash val="dash"/>
              </a:ln>
            </p:spPr>
            <p:txBody>
              <a:bodyPr wrap="square">
                <a:spAutoFit/>
              </a:bodyPr>
              <a:lstStyle/>
              <a:p>
                <a:pPr algn="ctr"/>
                <a:r>
                  <a:rPr lang="en-US" sz="1200" dirty="0">
                    <a:latin typeface="+mj-lt"/>
                  </a:rPr>
                  <a:t>Slight clinical advantage for</a:t>
                </a:r>
              </a:p>
              <a:p>
                <a:pPr algn="ctr"/>
                <a:r>
                  <a:rPr lang="en-US" sz="1600" b="1" dirty="0">
                    <a:solidFill>
                      <a:srgbClr val="937DAD"/>
                    </a:solidFill>
                    <a:latin typeface="+mj-lt"/>
                  </a:rPr>
                  <a:t>Trumenba</a:t>
                </a:r>
                <a:endParaRPr lang="en-US" sz="1200" b="1" dirty="0">
                  <a:solidFill>
                    <a:srgbClr val="937DAD"/>
                  </a:solidFill>
                  <a:latin typeface="+mj-lt"/>
                </a:endParaRPr>
              </a:p>
            </p:txBody>
          </p:sp>
        </p:grpSp>
      </p:grpSp>
      <p:sp>
        <p:nvSpPr>
          <p:cNvPr id="5" name="TextBox 4">
            <a:extLst>
              <a:ext uri="{FF2B5EF4-FFF2-40B4-BE49-F238E27FC236}">
                <a16:creationId xmlns:a16="http://schemas.microsoft.com/office/drawing/2014/main" id="{DB332B1C-47FD-A072-41A0-E999A0CE6A62}"/>
              </a:ext>
            </a:extLst>
          </p:cNvPr>
          <p:cNvSpPr txBox="1"/>
          <p:nvPr/>
        </p:nvSpPr>
        <p:spPr bwMode="gray">
          <a:xfrm>
            <a:off x="9173969" y="3824986"/>
            <a:ext cx="1664555" cy="452432"/>
          </a:xfrm>
          <a:prstGeom prst="rect">
            <a:avLst/>
          </a:prstGeom>
          <a:solidFill>
            <a:schemeClr val="bg1"/>
          </a:solidFill>
          <a:ln w="12700">
            <a:solidFill>
              <a:srgbClr val="00B050"/>
            </a:solidFill>
            <a:prstDash val="sysDash"/>
          </a:ln>
        </p:spPr>
        <p:txBody>
          <a:bodyPr wrap="square" lIns="27432" tIns="18288" rIns="27432" bIns="18288" rtlCol="0" anchor="ctr" anchorCtr="0">
            <a:spAutoFit/>
          </a:bodyPr>
          <a:lstStyle/>
          <a:p>
            <a:pPr lvl="0">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Penbraya Advantage </a:t>
            </a:r>
            <a:r>
              <a:rPr kumimoji="0" lang="en-US" sz="900" b="0" i="0" u="none" strike="noStrike" kern="1200" cap="none" spc="0" normalizeH="0" baseline="0" noProof="0" dirty="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&lt; </a:t>
            </a:r>
            <a:r>
              <a:rPr kumimoji="0" lang="en-US" sz="900" b="0" i="0" u="none" strike="noStrike" kern="1200" cap="none" spc="0" normalizeH="0" baseline="0" noProof="0" dirty="0" err="1">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Penmenvy</a:t>
            </a:r>
            <a:r>
              <a:rPr kumimoji="0" lang="en-US" sz="900" b="0" i="0" u="none" strike="noStrike" kern="1200" cap="none" spc="0" normalizeH="0" baseline="0" noProof="0" dirty="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 Advantage,</a:t>
            </a:r>
            <a:r>
              <a:rPr kumimoji="0" lang="en-US" sz="900" b="0" i="0" u="none" strike="noStrike" kern="1200" cap="none" spc="0" normalizeH="0" noProof="0" dirty="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 No Preference</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B2B26972-3DAE-01CF-4DA8-E67824FF87B2}"/>
              </a:ext>
            </a:extLst>
          </p:cNvPr>
          <p:cNvSpPr txBox="1"/>
          <p:nvPr/>
        </p:nvSpPr>
        <p:spPr bwMode="gray">
          <a:xfrm>
            <a:off x="2870279" y="3992972"/>
            <a:ext cx="733915" cy="429334"/>
          </a:xfrm>
          <a:prstGeom prst="rect">
            <a:avLst/>
          </a:prstGeom>
          <a:noFill/>
          <a:ln w="6350">
            <a:solidFill>
              <a:schemeClr val="accent6">
                <a:lumMod val="75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9%</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13%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7%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10A683CE-8CDE-2CE4-AA33-A9474ED60C2A}"/>
              </a:ext>
            </a:extLst>
          </p:cNvPr>
          <p:cNvSpPr txBox="1"/>
          <p:nvPr/>
        </p:nvSpPr>
        <p:spPr bwMode="gray">
          <a:xfrm>
            <a:off x="8308049" y="3840436"/>
            <a:ext cx="733915" cy="429334"/>
          </a:xfrm>
          <a:prstGeom prst="rect">
            <a:avLst/>
          </a:prstGeom>
          <a:noFill/>
          <a:ln w="6350">
            <a:solidFill>
              <a:srgbClr val="00B050"/>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28%</a:t>
            </a:r>
            <a:r>
              <a:rPr lang="en-US" sz="900" baseline="40000" dirty="0">
                <a:solidFill>
                  <a:srgbClr val="000000">
                    <a:lumMod val="50000"/>
                    <a:lumOff val="50000"/>
                  </a:srgbClr>
                </a:solidFill>
              </a:rPr>
              <a:t>1,2</a:t>
            </a:r>
            <a:r>
              <a:rPr lang="en-US" altLang="en-US" sz="900" dirty="0">
                <a:solidFill>
                  <a:srgbClr val="FF0000"/>
                </a:solidFill>
                <a:cs typeface="Arial" panose="020B0604020202020204" pitchFamily="34" charset="0"/>
                <a:sym typeface="Symbol" pitchFamily="18" charset="2"/>
              </a:rPr>
              <a:t> </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15%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14%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9877D5E1-DC89-BBA3-3D27-F21A56673D21}"/>
              </a:ext>
            </a:extLst>
          </p:cNvPr>
          <p:cNvSpPr txBox="1"/>
          <p:nvPr/>
        </p:nvSpPr>
        <p:spPr bwMode="gray">
          <a:xfrm>
            <a:off x="6975528" y="2209236"/>
            <a:ext cx="733915" cy="429334"/>
          </a:xfrm>
          <a:prstGeom prst="rect">
            <a:avLst/>
          </a:prstGeom>
          <a:noFill/>
          <a:ln w="6350">
            <a:solidFill>
              <a:schemeClr val="bg1">
                <a:lumMod val="65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lang="en-US" sz="900" dirty="0">
                <a:solidFill>
                  <a:srgbClr val="000000">
                    <a:lumMod val="50000"/>
                    <a:lumOff val="50000"/>
                  </a:srgbClr>
                </a:solidFill>
                <a:latin typeface="Arial" panose="020B0604020202020204"/>
              </a:rPr>
              <a:t>63</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73%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79%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7E54807C-24EB-3395-3B78-8DAB04F365EF}"/>
              </a:ext>
            </a:extLst>
          </p:cNvPr>
          <p:cNvSpPr txBox="1"/>
          <p:nvPr/>
        </p:nvSpPr>
        <p:spPr bwMode="gray">
          <a:xfrm>
            <a:off x="9883302" y="1032820"/>
            <a:ext cx="2145183" cy="286232"/>
          </a:xfrm>
          <a:prstGeom prst="rect">
            <a:avLst/>
          </a:prstGeom>
          <a:solidFill>
            <a:srgbClr val="00B0F0"/>
          </a:solidFill>
        </p:spPr>
        <p:txBody>
          <a:bodyPr wrap="square" lIns="45720" tIns="45720" rIns="45720" bIns="45720" rtlCol="0">
            <a:spAutoFit/>
          </a:bodyPr>
          <a:lstStyle/>
          <a:p>
            <a:pPr marR="0" algn="ctr" defTabSz="914400" rtl="0" eaLnBrk="1" fontAlgn="auto" latinLnBrk="0" hangingPunct="1">
              <a:lnSpc>
                <a:spcPct val="90000"/>
              </a:lnSpc>
              <a:spcBef>
                <a:spcPts val="0"/>
              </a:spcBef>
              <a:spcAft>
                <a:spcPts val="400"/>
              </a:spcAft>
              <a:buClrTx/>
              <a:buSzTx/>
              <a:tabLst/>
            </a:pPr>
            <a:r>
              <a:rPr lang="en-US" sz="1400" b="1" dirty="0">
                <a:solidFill>
                  <a:schemeClr val="bg1"/>
                </a:solidFill>
                <a:latin typeface="Arial" panose="020B0604020202020204"/>
              </a:rPr>
              <a:t>UPDATED/NEW SLIDE</a:t>
            </a:r>
          </a:p>
        </p:txBody>
      </p:sp>
    </p:spTree>
    <p:extLst>
      <p:ext uri="{BB962C8B-B14F-4D97-AF65-F5344CB8AC3E}">
        <p14:creationId xmlns:p14="http://schemas.microsoft.com/office/powerpoint/2010/main" val="47767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9965B0EB-E1E5-F410-B258-C53D551FBA4A}"/>
              </a:ext>
            </a:extLst>
          </p:cNvPr>
          <p:cNvSpPr txBox="1"/>
          <p:nvPr/>
        </p:nvSpPr>
        <p:spPr bwMode="gray">
          <a:xfrm>
            <a:off x="1209608" y="1670536"/>
            <a:ext cx="3609324" cy="895630"/>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t>Likelihood to Use </a:t>
            </a:r>
            <a:b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t>Penbraya + Trumenba vs. </a:t>
            </a:r>
            <a:b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t>Separate </a:t>
            </a:r>
            <a:r>
              <a:rPr kumimoji="0" lang="en-US" sz="1600" b="1" i="0" u="none" strike="noStrike" kern="1200" cap="none" spc="0" normalizeH="0" baseline="0" noProof="0" dirty="0" err="1">
                <a:ln>
                  <a:noFill/>
                </a:ln>
                <a:solidFill>
                  <a:srgbClr val="0000C9"/>
                </a:solidFill>
                <a:effectLst/>
                <a:uLnTx/>
                <a:uFillTx/>
                <a:latin typeface="Arial" panose="020B0604020202020204"/>
                <a:ea typeface="+mn-ea"/>
                <a:cs typeface="+mn-cs"/>
              </a:rPr>
              <a:t>MenACWY</a:t>
            </a:r>
            <a: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t> and </a:t>
            </a:r>
            <a:r>
              <a:rPr kumimoji="0" lang="en-US" sz="1600" b="1" i="0" u="none" strike="noStrike" kern="1200" cap="none" spc="0" normalizeH="0" baseline="0" noProof="0" dirty="0" err="1">
                <a:ln>
                  <a:noFill/>
                </a:ln>
                <a:solidFill>
                  <a:srgbClr val="0000C9"/>
                </a:solidFill>
                <a:effectLst/>
                <a:uLnTx/>
                <a:uFillTx/>
                <a:latin typeface="Arial" panose="020B0604020202020204"/>
                <a:ea typeface="+mn-ea"/>
                <a:cs typeface="+mn-cs"/>
              </a:rPr>
              <a:t>MenB</a:t>
            </a:r>
            <a: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t> Vxs</a:t>
            </a:r>
            <a:br>
              <a:rPr kumimoji="0" lang="en-US" sz="1600" b="1" i="0" u="none" strike="noStrike" kern="1200" cap="none" spc="0" normalizeH="0" baseline="0" noProof="0" dirty="0">
                <a:ln>
                  <a:noFill/>
                </a:ln>
                <a:solidFill>
                  <a:schemeClr val="bg1">
                    <a:lumMod val="50000"/>
                  </a:schemeClr>
                </a:solidFill>
                <a:effectLst/>
                <a:uLnTx/>
                <a:uFillTx/>
                <a:latin typeface="Arial" panose="020B0604020202020204"/>
                <a:ea typeface="+mn-ea"/>
                <a:cs typeface="+mn-cs"/>
              </a:rPr>
            </a:br>
            <a:r>
              <a:rPr kumimoji="0" lang="en-US" sz="900" b="0" i="1" u="none" strike="noStrike" kern="1200" cap="none" spc="0" normalizeH="0" baseline="0" noProof="0" dirty="0">
                <a:ln>
                  <a:noFill/>
                </a:ln>
                <a:solidFill>
                  <a:schemeClr val="bg1">
                    <a:lumMod val="50000"/>
                  </a:schemeClr>
                </a:solidFill>
                <a:effectLst/>
                <a:uLnTx/>
                <a:uFillTx/>
                <a:latin typeface="Arial" panose="020B0604020202020204"/>
                <a:ea typeface="+mn-ea"/>
                <a:cs typeface="+mn-cs"/>
              </a:rPr>
              <a:t>% HCPs</a:t>
            </a:r>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82AD60B8-8D66-B2AE-FA6A-C29565E87412}"/>
              </a:ext>
            </a:extLst>
          </p:cNvPr>
          <p:cNvSpPr>
            <a:spLocks noGrp="1"/>
          </p:cNvSpPr>
          <p:nvPr>
            <p:ph type="title"/>
          </p:nvPr>
        </p:nvSpPr>
        <p:spPr>
          <a:xfrm>
            <a:off x="1142123" y="170307"/>
            <a:ext cx="10607358" cy="850392"/>
          </a:xfrm>
        </p:spPr>
        <p:txBody>
          <a:bodyPr/>
          <a:lstStyle/>
          <a:p>
            <a:r>
              <a:rPr lang="en-US" dirty="0"/>
              <a:t>~One-third of HCPs are highly likely to revisit their overall approach to meningococcal disease protection, and consider Penbraya + Trumenba vs. separate </a:t>
            </a:r>
            <a:r>
              <a:rPr lang="en-US" dirty="0" err="1"/>
              <a:t>MenACWY</a:t>
            </a:r>
            <a:r>
              <a:rPr lang="en-US" dirty="0"/>
              <a:t> and </a:t>
            </a:r>
            <a:r>
              <a:rPr lang="en-US" dirty="0" err="1"/>
              <a:t>MenB</a:t>
            </a:r>
            <a:r>
              <a:rPr lang="en-US" dirty="0"/>
              <a:t> vaccines – with cost being the top driving factor</a:t>
            </a:r>
          </a:p>
        </p:txBody>
      </p:sp>
      <p:sp>
        <p:nvSpPr>
          <p:cNvPr id="3" name="Text Placeholder 2">
            <a:extLst>
              <a:ext uri="{FF2B5EF4-FFF2-40B4-BE49-F238E27FC236}">
                <a16:creationId xmlns:a16="http://schemas.microsoft.com/office/drawing/2014/main" id="{719CA985-5176-A8AB-FF17-B2E8CA71C265}"/>
              </a:ext>
            </a:extLst>
          </p:cNvPr>
          <p:cNvSpPr>
            <a:spLocks noGrp="1"/>
          </p:cNvSpPr>
          <p:nvPr>
            <p:ph type="body" sz="quarter" idx="16"/>
          </p:nvPr>
        </p:nvSpPr>
        <p:spPr>
          <a:xfrm>
            <a:off x="1571625" y="6273895"/>
            <a:ext cx="8388804" cy="605294"/>
          </a:xfrm>
        </p:spPr>
        <p:txBody>
          <a:bodyPr/>
          <a:lstStyle/>
          <a:p>
            <a:pPr marL="285750" indent="-285750"/>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marL="690563" indent="-690563">
              <a:tabLst>
                <a:tab pos="342900" algn="l"/>
              </a:tabLst>
            </a:pPr>
            <a:r>
              <a:rPr lang="en-US" dirty="0"/>
              <a:t>P14.               How likely are you to revisit your overall approach to meningococcal disease protection, i.e., consider Penbraya + Trumenba vs. separate </a:t>
            </a:r>
            <a:r>
              <a:rPr lang="en-US" dirty="0" err="1"/>
              <a:t>MenACWY</a:t>
            </a:r>
            <a:r>
              <a:rPr lang="en-US" dirty="0"/>
              <a:t> and </a:t>
            </a:r>
            <a:r>
              <a:rPr lang="en-US" dirty="0" err="1"/>
              <a:t>MenB</a:t>
            </a:r>
            <a:r>
              <a:rPr lang="en-US" dirty="0"/>
              <a:t> vaccines? (7-pt scale: 1=Not at all likely, 7=Extremely likely)</a:t>
            </a:r>
          </a:p>
          <a:p>
            <a:pPr marL="685800" indent="-685800"/>
            <a:r>
              <a:rPr lang="en-US" dirty="0">
                <a:solidFill>
                  <a:srgbClr val="FF0000"/>
                </a:solidFill>
              </a:rPr>
              <a:t>(New) </a:t>
            </a:r>
            <a:r>
              <a:rPr lang="en-US" dirty="0"/>
              <a:t>P14a.  What information or data would encourage you to revisit your overall approach to meningococcal disease protection and stocking decisions?</a:t>
            </a:r>
          </a:p>
        </p:txBody>
      </p:sp>
      <p:sp>
        <p:nvSpPr>
          <p:cNvPr id="4" name="Rectangle: Rounded Corners 3">
            <a:extLst>
              <a:ext uri="{FF2B5EF4-FFF2-40B4-BE49-F238E27FC236}">
                <a16:creationId xmlns:a16="http://schemas.microsoft.com/office/drawing/2014/main" id="{AAE8FE04-8FBC-F767-3123-A19445416C99}"/>
              </a:ext>
            </a:extLst>
          </p:cNvPr>
          <p:cNvSpPr/>
          <p:nvPr/>
        </p:nvSpPr>
        <p:spPr bwMode="gray">
          <a:xfrm>
            <a:off x="217560" y="1543281"/>
            <a:ext cx="11769755" cy="4418395"/>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18" name="Group 17">
            <a:extLst>
              <a:ext uri="{FF2B5EF4-FFF2-40B4-BE49-F238E27FC236}">
                <a16:creationId xmlns:a16="http://schemas.microsoft.com/office/drawing/2014/main" id="{536BA94C-5F6D-638A-E247-21BEC194BE88}"/>
              </a:ext>
            </a:extLst>
          </p:cNvPr>
          <p:cNvGrpSpPr/>
          <p:nvPr/>
        </p:nvGrpSpPr>
        <p:grpSpPr>
          <a:xfrm>
            <a:off x="340282" y="1600319"/>
            <a:ext cx="650178" cy="539122"/>
            <a:chOff x="1686341" y="1600319"/>
            <a:chExt cx="650178" cy="539122"/>
          </a:xfrm>
        </p:grpSpPr>
        <p:cxnSp>
          <p:nvCxnSpPr>
            <p:cNvPr id="19" name="Straight Connector 18">
              <a:extLst>
                <a:ext uri="{FF2B5EF4-FFF2-40B4-BE49-F238E27FC236}">
                  <a16:creationId xmlns:a16="http://schemas.microsoft.com/office/drawing/2014/main" id="{3252C225-BFDF-5F11-56B6-A36970DE3A7D}"/>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0" name="TextBox 19">
              <a:extLst>
                <a:ext uri="{FF2B5EF4-FFF2-40B4-BE49-F238E27FC236}">
                  <a16:creationId xmlns:a16="http://schemas.microsoft.com/office/drawing/2014/main" id="{AA070EC0-6941-8AA7-D9AB-1E3EE08DBABB}"/>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23" name="TextBox 22">
            <a:extLst>
              <a:ext uri="{FF2B5EF4-FFF2-40B4-BE49-F238E27FC236}">
                <a16:creationId xmlns:a16="http://schemas.microsoft.com/office/drawing/2014/main" id="{39757CFA-9758-C9D6-BF18-FF881E568635}"/>
              </a:ext>
            </a:extLst>
          </p:cNvPr>
          <p:cNvSpPr txBox="1"/>
          <p:nvPr/>
        </p:nvSpPr>
        <p:spPr bwMode="gray">
          <a:xfrm>
            <a:off x="252309" y="1309548"/>
            <a:ext cx="826124" cy="338554"/>
          </a:xfrm>
          <a:prstGeom prst="rect">
            <a:avLst/>
          </a:prstGeom>
          <a:noFill/>
        </p:spPr>
        <p:txBody>
          <a:bodyPr wrap="none">
            <a:spAutoFit/>
          </a:bodyPr>
          <a:lstStyle/>
          <a:p>
            <a:r>
              <a:rPr lang="en-US" sz="1600"/>
              <a:t>TOTAL</a:t>
            </a:r>
          </a:p>
        </p:txBody>
      </p:sp>
      <p:sp>
        <p:nvSpPr>
          <p:cNvPr id="5" name="TextBox 4">
            <a:extLst>
              <a:ext uri="{FF2B5EF4-FFF2-40B4-BE49-F238E27FC236}">
                <a16:creationId xmlns:a16="http://schemas.microsoft.com/office/drawing/2014/main" id="{A07CB88C-F1D0-77B2-6289-E38728295A96}"/>
              </a:ext>
            </a:extLst>
          </p:cNvPr>
          <p:cNvSpPr txBox="1"/>
          <p:nvPr/>
        </p:nvSpPr>
        <p:spPr bwMode="gray">
          <a:xfrm>
            <a:off x="6182984" y="1670536"/>
            <a:ext cx="5370841" cy="660181"/>
          </a:xfrm>
          <a:prstGeom prst="rect">
            <a:avLst/>
          </a:prstGeom>
        </p:spPr>
        <p:txBody>
          <a:bodyPr wrap="square" lIns="45720" tIns="45720" rIns="45720" bIns="45720" rtlCol="0">
            <a:spAutoFit/>
          </a:bodyPr>
          <a:lstStyle/>
          <a:p>
            <a:pPr algn="ctr">
              <a:lnSpc>
                <a:spcPct val="90000"/>
              </a:lnSpc>
              <a:spcAft>
                <a:spcPts val="400"/>
              </a:spcAft>
            </a:pPr>
            <a:r>
              <a:rPr lang="en-US" sz="1600" b="1">
                <a:solidFill>
                  <a:schemeClr val="accent1"/>
                </a:solidFill>
              </a:rPr>
              <a:t>Info Needed to Encourage Revisiting Approach </a:t>
            </a:r>
            <a:br>
              <a:rPr lang="en-US" sz="1600" b="1">
                <a:solidFill>
                  <a:schemeClr val="accent1"/>
                </a:solidFill>
              </a:rPr>
            </a:br>
            <a:r>
              <a:rPr lang="en-US" sz="1600" b="1">
                <a:solidFill>
                  <a:schemeClr val="accent1"/>
                </a:solidFill>
              </a:rPr>
              <a:t>to Meningococcal Protection &amp; Stocking</a:t>
            </a:r>
            <a:br>
              <a:rPr lang="en-US" sz="1600" b="1">
                <a:solidFill>
                  <a:schemeClr val="accent1"/>
                </a:solidFill>
              </a:rPr>
            </a:br>
            <a:r>
              <a:rPr lang="en-US" sz="900" i="1">
                <a:solidFill>
                  <a:schemeClr val="bg1">
                    <a:lumMod val="50000"/>
                  </a:schemeClr>
                </a:solidFill>
              </a:rPr>
              <a:t>% HCPs</a:t>
            </a:r>
          </a:p>
        </p:txBody>
      </p:sp>
      <p:graphicFrame>
        <p:nvGraphicFramePr>
          <p:cNvPr id="32" name="Chart 31">
            <a:extLst>
              <a:ext uri="{FF2B5EF4-FFF2-40B4-BE49-F238E27FC236}">
                <a16:creationId xmlns:a16="http://schemas.microsoft.com/office/drawing/2014/main" id="{A593C32F-7F2A-7206-5525-348891392A06}"/>
              </a:ext>
            </a:extLst>
          </p:cNvPr>
          <p:cNvGraphicFramePr/>
          <p:nvPr>
            <p:extLst>
              <p:ext uri="{D42A27DB-BD31-4B8C-83A1-F6EECF244321}">
                <p14:modId xmlns:p14="http://schemas.microsoft.com/office/powerpoint/2010/main" val="3303715576"/>
              </p:ext>
            </p:extLst>
          </p:nvPr>
        </p:nvGraphicFramePr>
        <p:xfrm>
          <a:off x="9767734" y="2754911"/>
          <a:ext cx="2560320" cy="327001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1171C84E-EB55-25F5-A125-61DF0437CB3C}"/>
              </a:ext>
            </a:extLst>
          </p:cNvPr>
          <p:cNvGraphicFramePr/>
          <p:nvPr>
            <p:extLst>
              <p:ext uri="{D42A27DB-BD31-4B8C-83A1-F6EECF244321}">
                <p14:modId xmlns:p14="http://schemas.microsoft.com/office/powerpoint/2010/main" val="2179752512"/>
              </p:ext>
            </p:extLst>
          </p:nvPr>
        </p:nvGraphicFramePr>
        <p:xfrm>
          <a:off x="1239958" y="3034163"/>
          <a:ext cx="1945966" cy="3078480"/>
        </p:xfrm>
        <a:graphic>
          <a:graphicData uri="http://schemas.openxmlformats.org/drawingml/2006/chart">
            <c:chart xmlns:c="http://schemas.openxmlformats.org/drawingml/2006/chart" xmlns:r="http://schemas.openxmlformats.org/officeDocument/2006/relationships" r:id="rId4"/>
          </a:graphicData>
        </a:graphic>
      </p:graphicFrame>
      <p:grpSp>
        <p:nvGrpSpPr>
          <p:cNvPr id="12" name="Group 11">
            <a:extLst>
              <a:ext uri="{FF2B5EF4-FFF2-40B4-BE49-F238E27FC236}">
                <a16:creationId xmlns:a16="http://schemas.microsoft.com/office/drawing/2014/main" id="{ECF8C71D-6E80-84AB-298C-2D357ADAF1B1}"/>
              </a:ext>
            </a:extLst>
          </p:cNvPr>
          <p:cNvGrpSpPr/>
          <p:nvPr/>
        </p:nvGrpSpPr>
        <p:grpSpPr>
          <a:xfrm>
            <a:off x="2755957" y="3300709"/>
            <a:ext cx="1996021" cy="2116034"/>
            <a:chOff x="597388" y="2735426"/>
            <a:chExt cx="1996021" cy="2116034"/>
          </a:xfrm>
        </p:grpSpPr>
        <p:grpSp>
          <p:nvGrpSpPr>
            <p:cNvPr id="22" name="Group 21">
              <a:extLst>
                <a:ext uri="{FF2B5EF4-FFF2-40B4-BE49-F238E27FC236}">
                  <a16:creationId xmlns:a16="http://schemas.microsoft.com/office/drawing/2014/main" id="{EF5BD4A7-3580-5B3F-B41D-9461F90130F3}"/>
                </a:ext>
              </a:extLst>
            </p:cNvPr>
            <p:cNvGrpSpPr/>
            <p:nvPr/>
          </p:nvGrpSpPr>
          <p:grpSpPr>
            <a:xfrm>
              <a:off x="597388" y="2735426"/>
              <a:ext cx="1996021" cy="286232"/>
              <a:chOff x="597388" y="3296603"/>
              <a:chExt cx="1996021" cy="286232"/>
            </a:xfrm>
          </p:grpSpPr>
          <p:sp>
            <p:nvSpPr>
              <p:cNvPr id="30" name="TextBox 29">
                <a:extLst>
                  <a:ext uri="{FF2B5EF4-FFF2-40B4-BE49-F238E27FC236}">
                    <a16:creationId xmlns:a16="http://schemas.microsoft.com/office/drawing/2014/main" id="{819AF913-FD16-4F8A-0854-83D65F46F1DB}"/>
                  </a:ext>
                </a:extLst>
              </p:cNvPr>
              <p:cNvSpPr txBox="1"/>
              <p:nvPr/>
            </p:nvSpPr>
            <p:spPr bwMode="gray">
              <a:xfrm>
                <a:off x="849983" y="3296603"/>
                <a:ext cx="1743426" cy="286232"/>
              </a:xfrm>
              <a:prstGeom prst="rect">
                <a:avLst/>
              </a:prstGeom>
            </p:spPr>
            <p:txBody>
              <a:bodyPr wrap="none" lIns="45720" tIns="45720" rIns="45720" bIns="45720" rtlCol="0" anchor="ctr" anchorCtr="0">
                <a:spAutoFit/>
              </a:bodyPr>
              <a:lstStyle/>
              <a:p>
                <a:pPr>
                  <a:lnSpc>
                    <a:spcPct val="90000"/>
                  </a:lnSpc>
                </a:pPr>
                <a:r>
                  <a:rPr lang="en-US" sz="1400"/>
                  <a:t>High Likelihood (6,7)</a:t>
                </a:r>
              </a:p>
            </p:txBody>
          </p:sp>
          <p:sp>
            <p:nvSpPr>
              <p:cNvPr id="31" name="Oval 30">
                <a:extLst>
                  <a:ext uri="{FF2B5EF4-FFF2-40B4-BE49-F238E27FC236}">
                    <a16:creationId xmlns:a16="http://schemas.microsoft.com/office/drawing/2014/main" id="{91FCCCCB-1209-756F-4FFE-1FE3303A589B}"/>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24" name="Group 23">
              <a:extLst>
                <a:ext uri="{FF2B5EF4-FFF2-40B4-BE49-F238E27FC236}">
                  <a16:creationId xmlns:a16="http://schemas.microsoft.com/office/drawing/2014/main" id="{D5D11943-E9CF-8A96-3165-B73A37E74EF3}"/>
                </a:ext>
              </a:extLst>
            </p:cNvPr>
            <p:cNvGrpSpPr/>
            <p:nvPr/>
          </p:nvGrpSpPr>
          <p:grpSpPr>
            <a:xfrm>
              <a:off x="597388" y="3650327"/>
              <a:ext cx="1526342" cy="286232"/>
              <a:chOff x="597388" y="4244215"/>
              <a:chExt cx="1526342" cy="286232"/>
            </a:xfrm>
          </p:grpSpPr>
          <p:sp>
            <p:nvSpPr>
              <p:cNvPr id="28" name="Oval 27">
                <a:extLst>
                  <a:ext uri="{FF2B5EF4-FFF2-40B4-BE49-F238E27FC236}">
                    <a16:creationId xmlns:a16="http://schemas.microsoft.com/office/drawing/2014/main" id="{4193ADA8-335F-C94E-B7EB-0480C9CFFABD}"/>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29" name="TextBox 28">
                <a:extLst>
                  <a:ext uri="{FF2B5EF4-FFF2-40B4-BE49-F238E27FC236}">
                    <a16:creationId xmlns:a16="http://schemas.microsoft.com/office/drawing/2014/main" id="{C3DC0F6C-24FB-248E-0CCC-D0A7E31A6CF5}"/>
                  </a:ext>
                </a:extLst>
              </p:cNvPr>
              <p:cNvSpPr txBox="1"/>
              <p:nvPr/>
            </p:nvSpPr>
            <p:spPr bwMode="gray">
              <a:xfrm>
                <a:off x="849983" y="4244215"/>
                <a:ext cx="1273747" cy="286232"/>
              </a:xfrm>
              <a:prstGeom prst="rect">
                <a:avLst/>
              </a:prstGeom>
            </p:spPr>
            <p:txBody>
              <a:bodyPr wrap="none" lIns="45720" tIns="45720" rIns="45720" bIns="45720" rtlCol="0" anchor="ctr" anchorCtr="0">
                <a:spAutoFit/>
              </a:bodyPr>
              <a:lstStyle/>
              <a:p>
                <a:pPr>
                  <a:lnSpc>
                    <a:spcPct val="90000"/>
                  </a:lnSpc>
                </a:pPr>
                <a:r>
                  <a:rPr lang="en-US" sz="1400"/>
                  <a:t>Moderate (3-5)</a:t>
                </a:r>
              </a:p>
            </p:txBody>
          </p:sp>
        </p:grpSp>
        <p:grpSp>
          <p:nvGrpSpPr>
            <p:cNvPr id="25" name="Group 24">
              <a:extLst>
                <a:ext uri="{FF2B5EF4-FFF2-40B4-BE49-F238E27FC236}">
                  <a16:creationId xmlns:a16="http://schemas.microsoft.com/office/drawing/2014/main" id="{F7994C26-7F03-5AD2-F410-7AF942EC7DAD}"/>
                </a:ext>
              </a:extLst>
            </p:cNvPr>
            <p:cNvGrpSpPr/>
            <p:nvPr/>
          </p:nvGrpSpPr>
          <p:grpSpPr>
            <a:xfrm>
              <a:off x="597388" y="4565228"/>
              <a:ext cx="1955946" cy="286232"/>
              <a:chOff x="597388" y="4818147"/>
              <a:chExt cx="1955946" cy="286232"/>
            </a:xfrm>
          </p:grpSpPr>
          <p:sp>
            <p:nvSpPr>
              <p:cNvPr id="26" name="Oval 25">
                <a:extLst>
                  <a:ext uri="{FF2B5EF4-FFF2-40B4-BE49-F238E27FC236}">
                    <a16:creationId xmlns:a16="http://schemas.microsoft.com/office/drawing/2014/main" id="{71DA20A8-DAAC-BA8E-EC28-1916567399D3}"/>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27" name="TextBox 26">
                <a:extLst>
                  <a:ext uri="{FF2B5EF4-FFF2-40B4-BE49-F238E27FC236}">
                    <a16:creationId xmlns:a16="http://schemas.microsoft.com/office/drawing/2014/main" id="{A1E172ED-BBE3-1B67-37E7-A4B01622A385}"/>
                  </a:ext>
                </a:extLst>
              </p:cNvPr>
              <p:cNvSpPr txBox="1"/>
              <p:nvPr/>
            </p:nvSpPr>
            <p:spPr bwMode="gray">
              <a:xfrm>
                <a:off x="849983" y="4818147"/>
                <a:ext cx="1703351" cy="286232"/>
              </a:xfrm>
              <a:prstGeom prst="rect">
                <a:avLst/>
              </a:prstGeom>
            </p:spPr>
            <p:txBody>
              <a:bodyPr wrap="none" lIns="45720" tIns="45720" rIns="45720" bIns="45720" rtlCol="0" anchor="ctr" anchorCtr="0">
                <a:spAutoFit/>
              </a:bodyPr>
              <a:lstStyle/>
              <a:p>
                <a:pPr>
                  <a:lnSpc>
                    <a:spcPct val="90000"/>
                  </a:lnSpc>
                </a:pPr>
                <a:r>
                  <a:rPr lang="en-US" sz="1400"/>
                  <a:t>Low Likelihood (1,2)</a:t>
                </a:r>
              </a:p>
            </p:txBody>
          </p:sp>
        </p:grpSp>
      </p:grpSp>
      <p:sp>
        <p:nvSpPr>
          <p:cNvPr id="7" name="TextBox 6">
            <a:extLst>
              <a:ext uri="{FF2B5EF4-FFF2-40B4-BE49-F238E27FC236}">
                <a16:creationId xmlns:a16="http://schemas.microsoft.com/office/drawing/2014/main" id="{12701F7B-4068-B213-4C10-DA315B607F05}"/>
              </a:ext>
            </a:extLst>
          </p:cNvPr>
          <p:cNvSpPr txBox="1"/>
          <p:nvPr/>
        </p:nvSpPr>
        <p:spPr bwMode="gray">
          <a:xfrm>
            <a:off x="1191490" y="5182187"/>
            <a:ext cx="651717" cy="3046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23% 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&gt;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  8%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graphicFrame>
        <p:nvGraphicFramePr>
          <p:cNvPr id="9" name="Table 8">
            <a:extLst>
              <a:ext uri="{FF2B5EF4-FFF2-40B4-BE49-F238E27FC236}">
                <a16:creationId xmlns:a16="http://schemas.microsoft.com/office/drawing/2014/main" id="{684554C6-9056-B6C2-819A-1D3626FB4A82}"/>
              </a:ext>
            </a:extLst>
          </p:cNvPr>
          <p:cNvGraphicFramePr>
            <a:graphicFrameLocks noGrp="1"/>
          </p:cNvGraphicFramePr>
          <p:nvPr>
            <p:extLst>
              <p:ext uri="{D42A27DB-BD31-4B8C-83A1-F6EECF244321}">
                <p14:modId xmlns:p14="http://schemas.microsoft.com/office/powerpoint/2010/main" val="3491109100"/>
              </p:ext>
            </p:extLst>
          </p:nvPr>
        </p:nvGraphicFramePr>
        <p:xfrm>
          <a:off x="5508993" y="2816797"/>
          <a:ext cx="4208160" cy="3078480"/>
        </p:xfrm>
        <a:graphic>
          <a:graphicData uri="http://schemas.openxmlformats.org/drawingml/2006/table">
            <a:tbl>
              <a:tblPr>
                <a:tableStyleId>{5C22544A-7EE6-4342-B048-85BDC9FD1C3A}</a:tableStyleId>
              </a:tblPr>
              <a:tblGrid>
                <a:gridCol w="4208160">
                  <a:extLst>
                    <a:ext uri="{9D8B030D-6E8A-4147-A177-3AD203B41FA5}">
                      <a16:colId xmlns:a16="http://schemas.microsoft.com/office/drawing/2014/main" val="1740426724"/>
                    </a:ext>
                  </a:extLst>
                </a:gridCol>
              </a:tblGrid>
              <a:tr h="307848">
                <a:tc>
                  <a:txBody>
                    <a:bodyPr/>
                    <a:lstStyle/>
                    <a:p>
                      <a:pPr algn="r" fontAlgn="b">
                        <a:buNone/>
                      </a:pPr>
                      <a:r>
                        <a:rPr lang="en-US" sz="1200" b="1" u="none" strike="noStrike">
                          <a:effectLst/>
                        </a:rPr>
                        <a:t>Cost (Net)</a:t>
                      </a:r>
                      <a:endParaRPr lang="en-US" sz="1050" b="1" i="0" u="none" strike="noStrike">
                        <a:solidFill>
                          <a:srgbClr val="000000"/>
                        </a:solidFill>
                        <a:effectLst/>
                        <a:latin typeface="Aptos Narrow" panose="020B0004020202020204" pitchFamily="34" charset="0"/>
                      </a:endParaRPr>
                    </a:p>
                  </a:txBody>
                  <a:tcPr marL="762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5661251"/>
                  </a:ext>
                </a:extLst>
              </a:tr>
              <a:tr h="307848">
                <a:tc>
                  <a:txBody>
                    <a:bodyPr/>
                    <a:lstStyle/>
                    <a:p>
                      <a:pPr algn="r" fontAlgn="t">
                        <a:buNone/>
                      </a:pPr>
                      <a:r>
                        <a:rPr lang="en-US" sz="1000" i="1" u="none" strike="noStrike">
                          <a:solidFill>
                            <a:schemeClr val="bg1">
                              <a:lumMod val="50000"/>
                            </a:schemeClr>
                          </a:solidFill>
                          <a:effectLst/>
                        </a:rPr>
                        <a:t>Lower cost / Discounts / Address financial concerns</a:t>
                      </a:r>
                      <a:endParaRPr lang="en-US" sz="1000" b="0" i="1" u="none" strike="noStrike">
                        <a:solidFill>
                          <a:schemeClr val="bg1">
                            <a:lumMod val="50000"/>
                          </a:schemeClr>
                        </a:solidFill>
                        <a:effectLst/>
                        <a:latin typeface="Arial" panose="020B0604020202020204" pitchFamily="34" charset="0"/>
                      </a:endParaRPr>
                    </a:p>
                  </a:txBody>
                  <a:tcPr marL="20574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2215002"/>
                  </a:ext>
                </a:extLst>
              </a:tr>
              <a:tr h="307848">
                <a:tc>
                  <a:txBody>
                    <a:bodyPr/>
                    <a:lstStyle/>
                    <a:p>
                      <a:pPr algn="r" fontAlgn="t">
                        <a:buNone/>
                      </a:pPr>
                      <a:r>
                        <a:rPr lang="en-US" sz="1000" i="1" u="none" strike="noStrike">
                          <a:solidFill>
                            <a:schemeClr val="bg1">
                              <a:lumMod val="50000"/>
                            </a:schemeClr>
                          </a:solidFill>
                          <a:effectLst/>
                        </a:rPr>
                        <a:t>Insurance coverage/reimbursement</a:t>
                      </a:r>
                      <a:endParaRPr lang="en-US" sz="1000" b="0" i="1" u="none" strike="noStrike">
                        <a:solidFill>
                          <a:schemeClr val="bg1">
                            <a:lumMod val="50000"/>
                          </a:schemeClr>
                        </a:solidFill>
                        <a:effectLst/>
                        <a:latin typeface="Arial" panose="020B0604020202020204" pitchFamily="34" charset="0"/>
                      </a:endParaRPr>
                    </a:p>
                  </a:txBody>
                  <a:tcPr marL="20574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79482073"/>
                  </a:ext>
                </a:extLst>
              </a:tr>
              <a:tr h="307848">
                <a:tc>
                  <a:txBody>
                    <a:bodyPr/>
                    <a:lstStyle/>
                    <a:p>
                      <a:pPr algn="r" fontAlgn="t">
                        <a:buNone/>
                      </a:pPr>
                      <a:r>
                        <a:rPr lang="en-US" sz="1000" i="1" u="none" strike="noStrike">
                          <a:solidFill>
                            <a:schemeClr val="bg1">
                              <a:lumMod val="50000"/>
                            </a:schemeClr>
                          </a:solidFill>
                          <a:effectLst/>
                        </a:rPr>
                        <a:t>Contract discussions/changes</a:t>
                      </a:r>
                      <a:endParaRPr lang="en-US" sz="1000" b="0" i="1" u="none" strike="noStrike">
                        <a:solidFill>
                          <a:schemeClr val="bg1">
                            <a:lumMod val="50000"/>
                          </a:schemeClr>
                        </a:solidFill>
                        <a:effectLst/>
                        <a:latin typeface="Arial" panose="020B0604020202020204" pitchFamily="34" charset="0"/>
                      </a:endParaRPr>
                    </a:p>
                  </a:txBody>
                  <a:tcPr marL="20574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85099386"/>
                  </a:ext>
                </a:extLst>
              </a:tr>
              <a:tr h="307848">
                <a:tc>
                  <a:txBody>
                    <a:bodyPr/>
                    <a:lstStyle/>
                    <a:p>
                      <a:pPr algn="r" fontAlgn="t">
                        <a:buNone/>
                      </a:pPr>
                      <a:r>
                        <a:rPr lang="en-US" sz="1200" u="none" strike="noStrike">
                          <a:effectLst/>
                        </a:rPr>
                        <a:t>Efficacy / Comparison / Advantages vs. other products</a:t>
                      </a:r>
                      <a:endParaRPr lang="en-US" sz="1200" b="0" i="0" u="none" strike="noStrike">
                        <a:solidFill>
                          <a:srgbClr val="000000"/>
                        </a:solidFill>
                        <a:effectLst/>
                        <a:latin typeface="Arial" panose="020B0604020202020204" pitchFamily="34" charset="0"/>
                      </a:endParaRPr>
                    </a:p>
                  </a:txBody>
                  <a:tcPr marL="762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30804325"/>
                  </a:ext>
                </a:extLst>
              </a:tr>
              <a:tr h="307848">
                <a:tc>
                  <a:txBody>
                    <a:bodyPr/>
                    <a:lstStyle/>
                    <a:p>
                      <a:pPr algn="r" rtl="0" fontAlgn="t">
                        <a:buNone/>
                      </a:pPr>
                      <a:r>
                        <a:rPr lang="en-US" sz="1200" u="none" strike="noStrike" kern="1200">
                          <a:solidFill>
                            <a:schemeClr val="dk1"/>
                          </a:solidFill>
                          <a:effectLst/>
                          <a:latin typeface="+mn-lt"/>
                          <a:ea typeface="+mn-ea"/>
                          <a:cs typeface="+mn-cs"/>
                        </a:rPr>
                        <a:t>Long-term clinical trial data</a:t>
                      </a:r>
                    </a:p>
                  </a:txBody>
                  <a:tcPr marL="762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46460963"/>
                  </a:ext>
                </a:extLst>
              </a:tr>
              <a:tr h="307848">
                <a:tc>
                  <a:txBody>
                    <a:bodyPr/>
                    <a:lstStyle/>
                    <a:p>
                      <a:pPr algn="r" rtl="0" fontAlgn="t">
                        <a:buNone/>
                      </a:pPr>
                      <a:r>
                        <a:rPr lang="en-US" sz="1200" u="none" strike="noStrike" kern="1200">
                          <a:solidFill>
                            <a:schemeClr val="dk1"/>
                          </a:solidFill>
                          <a:effectLst/>
                          <a:latin typeface="+mn-lt"/>
                          <a:ea typeface="+mn-ea"/>
                          <a:cs typeface="+mn-cs"/>
                        </a:rPr>
                        <a:t>Information about safety, side effects</a:t>
                      </a:r>
                    </a:p>
                  </a:txBody>
                  <a:tcPr marL="762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670379"/>
                  </a:ext>
                </a:extLst>
              </a:tr>
              <a:tr h="307848">
                <a:tc>
                  <a:txBody>
                    <a:bodyPr/>
                    <a:lstStyle/>
                    <a:p>
                      <a:pPr algn="r" rtl="0" fontAlgn="t">
                        <a:buNone/>
                      </a:pPr>
                      <a:r>
                        <a:rPr lang="en-US" sz="1200" u="none" strike="noStrike" kern="1200">
                          <a:solidFill>
                            <a:schemeClr val="dk1"/>
                          </a:solidFill>
                          <a:effectLst/>
                          <a:latin typeface="+mn-lt"/>
                          <a:ea typeface="+mn-ea"/>
                          <a:cs typeface="+mn-cs"/>
                        </a:rPr>
                        <a:t>Depends on ACIP and AAP recommendations</a:t>
                      </a:r>
                    </a:p>
                  </a:txBody>
                  <a:tcPr marL="762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39424758"/>
                  </a:ext>
                </a:extLst>
              </a:tr>
              <a:tr h="307848">
                <a:tc>
                  <a:txBody>
                    <a:bodyPr/>
                    <a:lstStyle/>
                    <a:p>
                      <a:pPr algn="r" rtl="0" fontAlgn="t">
                        <a:buNone/>
                      </a:pPr>
                      <a:r>
                        <a:rPr lang="en-US" sz="1200" u="none" strike="noStrike" kern="1200">
                          <a:solidFill>
                            <a:schemeClr val="dk1"/>
                          </a:solidFill>
                          <a:effectLst/>
                          <a:latin typeface="+mn-lt"/>
                          <a:ea typeface="+mn-ea"/>
                          <a:cs typeface="+mn-cs"/>
                        </a:rPr>
                        <a:t>Not my decision</a:t>
                      </a:r>
                      <a:endParaRPr lang="en-US" sz="1200" u="none" strike="sngStrike" kern="1200">
                        <a:solidFill>
                          <a:schemeClr val="accent6">
                            <a:lumMod val="75000"/>
                          </a:schemeClr>
                        </a:solidFill>
                        <a:effectLst/>
                        <a:latin typeface="+mn-lt"/>
                        <a:ea typeface="+mn-ea"/>
                        <a:cs typeface="+mn-cs"/>
                      </a:endParaRPr>
                    </a:p>
                  </a:txBody>
                  <a:tcPr marL="762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7922816"/>
                  </a:ext>
                </a:extLst>
              </a:tr>
              <a:tr h="307848">
                <a:tc>
                  <a:txBody>
                    <a:bodyPr/>
                    <a:lstStyle/>
                    <a:p>
                      <a:pPr algn="r" rtl="0" fontAlgn="t">
                        <a:buNone/>
                      </a:pPr>
                      <a:r>
                        <a:rPr lang="en-US" sz="1200" u="none" strike="noStrike" kern="1200">
                          <a:solidFill>
                            <a:schemeClr val="dk1"/>
                          </a:solidFill>
                          <a:effectLst/>
                          <a:latin typeface="+mn-lt"/>
                          <a:ea typeface="+mn-ea"/>
                          <a:cs typeface="+mn-cs"/>
                        </a:rPr>
                        <a:t>None / Not looking to switch</a:t>
                      </a:r>
                    </a:p>
                  </a:txBody>
                  <a:tcPr marL="7620" marR="76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26907737"/>
                  </a:ext>
                </a:extLst>
              </a:tr>
            </a:tbl>
          </a:graphicData>
        </a:graphic>
      </p:graphicFrame>
      <p:sp>
        <p:nvSpPr>
          <p:cNvPr id="14" name="TextBox 13">
            <a:extLst>
              <a:ext uri="{FF2B5EF4-FFF2-40B4-BE49-F238E27FC236}">
                <a16:creationId xmlns:a16="http://schemas.microsoft.com/office/drawing/2014/main" id="{2C3AE7A5-9288-445A-5D6C-0E9294EF94BA}"/>
              </a:ext>
            </a:extLst>
          </p:cNvPr>
          <p:cNvSpPr txBox="1"/>
          <p:nvPr/>
        </p:nvSpPr>
        <p:spPr bwMode="gray">
          <a:xfrm>
            <a:off x="11141258" y="2806164"/>
            <a:ext cx="703070" cy="313932"/>
          </a:xfrm>
          <a:prstGeom prst="rect">
            <a:avLst/>
          </a:prstGeom>
          <a:solidFill>
            <a:schemeClr val="bg1"/>
          </a:solidFill>
          <a:ln w="12700">
            <a:solidFill>
              <a:schemeClr val="tx1">
                <a:lumMod val="50000"/>
                <a:lumOff val="50000"/>
              </a:schemeClr>
            </a:solidFill>
            <a:prstDash val="sysDash"/>
          </a:ln>
        </p:spPr>
        <p:txBody>
          <a:bodyPr wrap="square" lIns="27432" tIns="18288" rIns="27432" bIns="18288" rtlCol="0" anchor="ctr" anchorCtr="0">
            <a:spAutoFit/>
          </a:bodyPr>
          <a:lstStyle/>
          <a:p>
            <a:pPr lvl="0">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41% 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&gt; 20%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16" name="TextBox 15">
            <a:extLst>
              <a:ext uri="{FF2B5EF4-FFF2-40B4-BE49-F238E27FC236}">
                <a16:creationId xmlns:a16="http://schemas.microsoft.com/office/drawing/2014/main" id="{EA9C8041-9EE9-B4AE-35DC-E777D2E49E2F}"/>
              </a:ext>
            </a:extLst>
          </p:cNvPr>
          <p:cNvSpPr txBox="1"/>
          <p:nvPr/>
        </p:nvSpPr>
        <p:spPr bwMode="gray">
          <a:xfrm>
            <a:off x="10272861" y="5028749"/>
            <a:ext cx="795138" cy="175433"/>
          </a:xfrm>
          <a:prstGeom prst="rect">
            <a:avLst/>
          </a:prstGeom>
          <a:solidFill>
            <a:schemeClr val="bg1"/>
          </a:solidFill>
          <a:ln w="6350">
            <a:solidFill>
              <a:schemeClr val="tx1">
                <a:lumMod val="50000"/>
                <a:lumOff val="50000"/>
              </a:schemeClr>
            </a:solidFill>
            <a:prstDash val="solid"/>
          </a:ln>
        </p:spPr>
        <p:txBody>
          <a:bodyPr wrap="square" lIns="27432" tIns="18288" rIns="0" bIns="18288" rtlCol="0" anchor="ctr" anchorCtr="0">
            <a:spAutoFit/>
          </a:bodyPr>
          <a:lstStyle/>
          <a:p>
            <a:pPr marL="457200" lvl="0" indent="-45720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 Tier 3</a:t>
            </a:r>
          </a:p>
        </p:txBody>
      </p:sp>
      <p:sp>
        <p:nvSpPr>
          <p:cNvPr id="33" name="TextBox 32">
            <a:extLst>
              <a:ext uri="{FF2B5EF4-FFF2-40B4-BE49-F238E27FC236}">
                <a16:creationId xmlns:a16="http://schemas.microsoft.com/office/drawing/2014/main" id="{74568EB8-883F-7AC1-F3C6-BA4568AD3263}"/>
              </a:ext>
            </a:extLst>
          </p:cNvPr>
          <p:cNvSpPr txBox="1"/>
          <p:nvPr/>
        </p:nvSpPr>
        <p:spPr bwMode="gray">
          <a:xfrm>
            <a:off x="1221947" y="3466224"/>
            <a:ext cx="621260" cy="18004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32%</a:t>
            </a:r>
            <a:r>
              <a:rPr lang="en-US" altLang="en-US" sz="900">
                <a:solidFill>
                  <a:srgbClr val="FF0000"/>
                </a:solidFill>
                <a:cs typeface="Arial" panose="020B0604020202020204" pitchFamily="34" charset="0"/>
                <a:sym typeface="Symbol" pitchFamily="18" charset="2"/>
              </a:rPr>
              <a:t></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37" name="Text Placeholder 2">
            <a:extLst>
              <a:ext uri="{FF2B5EF4-FFF2-40B4-BE49-F238E27FC236}">
                <a16:creationId xmlns:a16="http://schemas.microsoft.com/office/drawing/2014/main" id="{F1F90577-4369-9018-CEE8-DCCC3D4601C7}"/>
              </a:ext>
            </a:extLst>
          </p:cNvPr>
          <p:cNvSpPr txBox="1">
            <a:spLocks/>
          </p:cNvSpPr>
          <p:nvPr/>
        </p:nvSpPr>
        <p:spPr bwMode="gray">
          <a:xfrm>
            <a:off x="2073773" y="3478081"/>
            <a:ext cx="413216" cy="288797"/>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altLang="en-US">
                <a:solidFill>
                  <a:schemeClr val="bg1"/>
                </a:solidFill>
                <a:cs typeface="Arial" panose="020B0604020202020204" pitchFamily="34" charset="0"/>
                <a:sym typeface="Symbol" pitchFamily="18" charset="2"/>
              </a:rPr>
              <a:t></a:t>
            </a:r>
          </a:p>
          <a:p>
            <a:pPr algn="r"/>
            <a:r>
              <a:rPr lang="en-US" altLang="en-US" baseline="30000">
                <a:solidFill>
                  <a:schemeClr val="bg1"/>
                </a:solidFill>
                <a:cs typeface="Arial" panose="020B0604020202020204" pitchFamily="34" charset="0"/>
                <a:sym typeface="Symbol" pitchFamily="18" charset="2"/>
              </a:rPr>
              <a:t>(47%)</a:t>
            </a:r>
            <a:endParaRPr lang="en-US" baseline="30000">
              <a:solidFill>
                <a:schemeClr val="bg1"/>
              </a:solidFill>
            </a:endParaRPr>
          </a:p>
        </p:txBody>
      </p:sp>
      <p:sp>
        <p:nvSpPr>
          <p:cNvPr id="6" name="TextBox 5">
            <a:extLst>
              <a:ext uri="{FF2B5EF4-FFF2-40B4-BE49-F238E27FC236}">
                <a16:creationId xmlns:a16="http://schemas.microsoft.com/office/drawing/2014/main" id="{C7C4EA4B-C3BB-AE28-E0B3-3C82630556E1}"/>
              </a:ext>
            </a:extLst>
          </p:cNvPr>
          <p:cNvSpPr txBox="1"/>
          <p:nvPr/>
        </p:nvSpPr>
        <p:spPr bwMode="gray">
          <a:xfrm>
            <a:off x="1283737" y="767737"/>
            <a:ext cx="10607358" cy="499180"/>
          </a:xfrm>
          <a:prstGeom prst="rect">
            <a:avLst/>
          </a:prstGeom>
        </p:spPr>
        <p:txBody>
          <a:bodyPr wrap="square" lIns="45708" tIns="45708" rIns="45708" bIns="45708" rtlCol="0">
            <a:noAutofit/>
          </a:bodyPr>
          <a:lstStyle/>
          <a:p>
            <a:pPr marL="171399" marR="0" lvl="0" indent="-171399"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a:p>
            <a:pPr marL="171399" marR="0" lvl="0" indent="-171399"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Decline in likelihood to use Penbraya vs. separate </a:t>
            </a:r>
            <a:r>
              <a:rPr kumimoji="0" lang="en-US" sz="1400" b="0" i="0" u="none" strike="noStrike" kern="1200" cap="none" spc="0" normalizeH="0" baseline="0" noProof="0" dirty="0" err="1">
                <a:ln>
                  <a:noFill/>
                </a:ln>
                <a:solidFill>
                  <a:srgbClr val="FFFFFF">
                    <a:lumMod val="50000"/>
                  </a:srgbClr>
                </a:solidFill>
                <a:effectLst/>
                <a:uLnTx/>
                <a:uFillTx/>
                <a:latin typeface="Arial" panose="020B0604020202020204"/>
                <a:ea typeface="+mn-ea"/>
                <a:cs typeface="+mn-cs"/>
              </a:rPr>
              <a:t>MenACWY</a:t>
            </a:r>
            <a:r>
              <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and </a:t>
            </a:r>
            <a:r>
              <a:rPr kumimoji="0" lang="en-US" sz="1400" b="0" i="0" u="none" strike="noStrike" kern="1200" cap="none" spc="0" normalizeH="0" baseline="0" noProof="0" dirty="0" err="1">
                <a:ln>
                  <a:noFill/>
                </a:ln>
                <a:solidFill>
                  <a:srgbClr val="FFFFFF">
                    <a:lumMod val="50000"/>
                  </a:srgbClr>
                </a:solidFill>
                <a:effectLst/>
                <a:uLnTx/>
                <a:uFillTx/>
                <a:latin typeface="Arial" panose="020B0604020202020204"/>
                <a:ea typeface="+mn-ea"/>
                <a:cs typeface="+mn-cs"/>
              </a:rPr>
              <a:t>MenB</a:t>
            </a:r>
            <a:r>
              <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Vx’s driven by Tier 1 (data not shown) </a:t>
            </a:r>
          </a:p>
          <a:p>
            <a:pPr marL="171399" marR="0" lvl="0" indent="-171399"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grpSp>
        <p:nvGrpSpPr>
          <p:cNvPr id="10" name="Group 9">
            <a:extLst>
              <a:ext uri="{FF2B5EF4-FFF2-40B4-BE49-F238E27FC236}">
                <a16:creationId xmlns:a16="http://schemas.microsoft.com/office/drawing/2014/main" id="{94A95DA9-B72E-30C0-9D36-23937D6D8A47}"/>
              </a:ext>
            </a:extLst>
          </p:cNvPr>
          <p:cNvGrpSpPr/>
          <p:nvPr/>
        </p:nvGrpSpPr>
        <p:grpSpPr>
          <a:xfrm>
            <a:off x="6141947" y="1744472"/>
            <a:ext cx="420624" cy="420624"/>
            <a:chOff x="1119929" y="943834"/>
            <a:chExt cx="846331" cy="784203"/>
          </a:xfrm>
        </p:grpSpPr>
        <p:pic>
          <p:nvPicPr>
            <p:cNvPr id="13" name="Picture 6" descr="143,700+ Mouth Icon Illustrations, Royalty-Free Vector Graphics &amp; Clip Art  - iStock | Open mouth icon, Word of mouth icon, Cover mouth icon">
              <a:extLst>
                <a:ext uri="{FF2B5EF4-FFF2-40B4-BE49-F238E27FC236}">
                  <a16:creationId xmlns:a16="http://schemas.microsoft.com/office/drawing/2014/main" id="{74105FB7-2A3D-1E47-2DB9-57AF5FC5661D}"/>
                </a:ext>
              </a:extLst>
            </p:cNvPr>
            <p:cNvPicPr>
              <a:picLocks noChangeAspect="1" noChangeArrowheads="1"/>
            </p:cNvPicPr>
            <p:nvPr/>
          </p:nvPicPr>
          <p:blipFill>
            <a:blip r:embed="rId5">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60570444-4D71-8BB0-6EB7-5DFDA6267859}"/>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sp>
        <p:nvSpPr>
          <p:cNvPr id="40" name="TextBox 39">
            <a:extLst>
              <a:ext uri="{FF2B5EF4-FFF2-40B4-BE49-F238E27FC236}">
                <a16:creationId xmlns:a16="http://schemas.microsoft.com/office/drawing/2014/main" id="{B1380ED1-9159-EE29-342F-D0AF0E1AF9C6}"/>
              </a:ext>
            </a:extLst>
          </p:cNvPr>
          <p:cNvSpPr txBox="1"/>
          <p:nvPr/>
        </p:nvSpPr>
        <p:spPr bwMode="gray">
          <a:xfrm>
            <a:off x="10491822" y="4346811"/>
            <a:ext cx="703070" cy="313932"/>
          </a:xfrm>
          <a:prstGeom prst="rect">
            <a:avLst/>
          </a:prstGeom>
          <a:solidFill>
            <a:schemeClr val="bg1"/>
          </a:solidFill>
          <a:ln w="12700">
            <a:solidFill>
              <a:schemeClr val="tx1">
                <a:lumMod val="50000"/>
                <a:lumOff val="50000"/>
              </a:schemeClr>
            </a:solidFill>
            <a:prstDash val="sysDash"/>
          </a:ln>
        </p:spPr>
        <p:txBody>
          <a:bodyPr wrap="square" lIns="27432" tIns="18288" rIns="27432" bIns="18288" rtlCol="0" anchor="ctr" anchorCtr="0">
            <a:spAutoFit/>
          </a:bodyPr>
          <a:lstStyle/>
          <a:p>
            <a:pPr lvl="0">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8% 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&lt; 25%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47" name="TextBox 46">
            <a:extLst>
              <a:ext uri="{FF2B5EF4-FFF2-40B4-BE49-F238E27FC236}">
                <a16:creationId xmlns:a16="http://schemas.microsoft.com/office/drawing/2014/main" id="{E6D733B8-5382-9453-99DD-0F80706DA431}"/>
              </a:ext>
            </a:extLst>
          </p:cNvPr>
          <p:cNvSpPr txBox="1"/>
          <p:nvPr/>
        </p:nvSpPr>
        <p:spPr bwMode="gray">
          <a:xfrm>
            <a:off x="7869839" y="2489469"/>
            <a:ext cx="1859706" cy="230832"/>
          </a:xfrm>
          <a:prstGeom prst="rect">
            <a:avLst/>
          </a:prstGeom>
        </p:spPr>
        <p:txBody>
          <a:bodyPr wrap="square" lIns="45720" tIns="45720" rIns="45720" bIns="45720" rtlCol="0">
            <a:spAutoFit/>
          </a:bodyPr>
          <a:lstStyle/>
          <a:p>
            <a:pPr algn="ctr">
              <a:lnSpc>
                <a:spcPct val="90000"/>
              </a:lnSpc>
              <a:spcAft>
                <a:spcPts val="400"/>
              </a:spcAft>
            </a:pPr>
            <a:r>
              <a:rPr lang="en-US" sz="1000">
                <a:solidFill>
                  <a:schemeClr val="bg1">
                    <a:lumMod val="50000"/>
                  </a:schemeClr>
                </a:solidFill>
              </a:rPr>
              <a:t>[Top Responses]</a:t>
            </a:r>
          </a:p>
        </p:txBody>
      </p:sp>
    </p:spTree>
    <p:extLst>
      <p:ext uri="{BB962C8B-B14F-4D97-AF65-F5344CB8AC3E}">
        <p14:creationId xmlns:p14="http://schemas.microsoft.com/office/powerpoint/2010/main" val="424097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33" grpId="0" animBg="1"/>
      <p:bldP spid="4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445B7-91DA-8C79-4687-AB1FD352E54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095F4CD-7435-B1D4-2DB8-13BFE6A6D7E4}"/>
              </a:ext>
            </a:extLst>
          </p:cNvPr>
          <p:cNvSpPr/>
          <p:nvPr/>
        </p:nvSpPr>
        <p:spPr>
          <a:xfrm>
            <a:off x="1115099" y="1138075"/>
            <a:ext cx="10438725" cy="5093702"/>
          </a:xfrm>
          <a:prstGeom prst="rect">
            <a:avLst/>
          </a:prstGeom>
        </p:spPr>
        <p:txBody>
          <a:bodyPr wrap="square" tIns="91440">
            <a:spAutoFit/>
          </a:bodyPr>
          <a:lstStyle/>
          <a:p>
            <a:pPr algn="ctr">
              <a:spcBef>
                <a:spcPts val="1200"/>
              </a:spcBef>
            </a:pPr>
            <a: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t>Cost and vaccine contracts. That is what is holding us up from implementation currently. </a:t>
            </a:r>
            <a:b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br>
            <a:r>
              <a:rPr lang="en-US" sz="1400" dirty="0">
                <a:solidFill>
                  <a:srgbClr val="000000">
                    <a:lumMod val="65000"/>
                    <a:lumOff val="35000"/>
                  </a:srgbClr>
                </a:solidFill>
              </a:rPr>
              <a:t>– PED</a:t>
            </a:r>
            <a:endPar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a:p>
            <a:pPr marL="0" marR="0" lvl="0" indent="0" algn="ctr" defTabSz="914400" rtl="0" eaLnBrk="1" fontAlgn="auto" latinLnBrk="0" hangingPunct="1">
              <a:spcBef>
                <a:spcPts val="600"/>
              </a:spcBef>
              <a:buClrTx/>
              <a:buSzTx/>
              <a:buFontTx/>
              <a:buNone/>
              <a:tabLst/>
              <a:defRPr/>
            </a:pPr>
            <a: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Data showing more patients completed the entire dosing if they use Penbraya </a:t>
            </a:r>
            <a:b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br>
            <a: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versus separate vaccines.</a:t>
            </a:r>
          </a:p>
          <a:p>
            <a:pPr marL="0" marR="0" lvl="0" indent="0" algn="ctr" defTabSz="914400" rtl="0" eaLnBrk="1" fontAlgn="auto" latinLnBrk="0" hangingPunct="1">
              <a:spcBef>
                <a:spcPts val="600"/>
              </a:spcBef>
              <a:buClrTx/>
              <a:buSzTx/>
              <a:buFontTx/>
              <a:buNone/>
              <a:tabLst/>
              <a:defRPr/>
            </a:pPr>
            <a: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 </a:t>
            </a:r>
            <a:r>
              <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 PCP</a:t>
            </a:r>
            <a:endParaRPr lang="en-US" sz="1400" i="1" dirty="0">
              <a:solidFill>
                <a:srgbClr val="000000">
                  <a:lumMod val="65000"/>
                  <a:lumOff val="35000"/>
                </a:srgbClr>
              </a:solidFill>
              <a:latin typeface="Arial" panose="020B0604020202020204"/>
            </a:endParaRPr>
          </a:p>
          <a:p>
            <a:pPr marL="0" marR="0" lvl="0" indent="0" algn="ctr" defTabSz="914400" rtl="0" eaLnBrk="1" fontAlgn="auto" latinLnBrk="0" hangingPunct="1">
              <a:spcBef>
                <a:spcPts val="600"/>
              </a:spcBef>
              <a:buClrTx/>
              <a:buSzTx/>
              <a:buFontTx/>
              <a:buNone/>
              <a:tabLst/>
              <a:defRPr/>
            </a:pPr>
            <a:r>
              <a:rPr lang="en-US" sz="1400" i="1" dirty="0">
                <a:solidFill>
                  <a:srgbClr val="000000">
                    <a:lumMod val="65000"/>
                    <a:lumOff val="35000"/>
                  </a:srgbClr>
                </a:solidFill>
                <a:latin typeface="Arial" panose="020B0604020202020204"/>
              </a:rPr>
              <a:t>Stronger </a:t>
            </a:r>
            <a: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data on efficacy and safety and better support from CDC and ACIP on indications.</a:t>
            </a:r>
          </a:p>
          <a:p>
            <a:pPr marL="0" marR="0" lvl="0" indent="0" algn="ctr" defTabSz="914400" rtl="0" eaLnBrk="1" fontAlgn="auto" latinLnBrk="0" hangingPunct="1">
              <a:spcBef>
                <a:spcPts val="600"/>
              </a:spcBef>
              <a:buClrTx/>
              <a:buSzTx/>
              <a:buFontTx/>
              <a:buNone/>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 PED</a:t>
            </a:r>
            <a:endParaRPr lang="en-US" sz="1400" i="1" dirty="0">
              <a:solidFill>
                <a:srgbClr val="000000">
                  <a:lumMod val="65000"/>
                  <a:lumOff val="35000"/>
                </a:srgbClr>
              </a:solidFill>
              <a:latin typeface="Arial" panose="020B0604020202020204"/>
            </a:endParaRPr>
          </a:p>
          <a:p>
            <a:pPr marL="0" marR="0" lvl="0" indent="0" algn="ctr" defTabSz="914400" rtl="0" eaLnBrk="1" fontAlgn="auto" latinLnBrk="0" hangingPunct="1">
              <a:spcBef>
                <a:spcPts val="1200"/>
              </a:spcBef>
              <a:buClrTx/>
              <a:buSzTx/>
              <a:buFontTx/>
              <a:buNone/>
              <a:tabLst/>
              <a:defRPr/>
            </a:pPr>
            <a: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More simplified schedule would help.</a:t>
            </a:r>
            <a:br>
              <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 PED</a:t>
            </a:r>
            <a:endPar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a:p>
            <a:pPr marL="0" marR="0" lvl="0" indent="0" algn="ctr" defTabSz="914400" rtl="0" eaLnBrk="1" fontAlgn="auto" latinLnBrk="0" hangingPunct="1">
              <a:spcBef>
                <a:spcPts val="1200"/>
              </a:spcBef>
              <a:buClrTx/>
              <a:buSzTx/>
              <a:buFontTx/>
              <a:buNone/>
              <a:tabLst/>
              <a:defRPr/>
            </a:pPr>
            <a: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t>Cost comparison for meningococcal vaccines. </a:t>
            </a:r>
            <a:b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 PED</a:t>
            </a:r>
            <a:endParaRPr kumimoji="0" lang="en-US" sz="1400" b="0" i="1"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a:p>
            <a:pPr marL="0" marR="0" lvl="0" indent="0" algn="ctr" defTabSz="914400" rtl="0" eaLnBrk="1" fontAlgn="auto" latinLnBrk="0" hangingPunct="1">
              <a:spcBef>
                <a:spcPts val="1200"/>
              </a:spcBef>
              <a:buClrTx/>
              <a:buSzTx/>
              <a:buFontTx/>
              <a:buNone/>
              <a:tabLst/>
              <a:defRPr/>
            </a:pPr>
            <a: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t>It's simple, I will look at ACIP and AAP recommendations and then I have to </a:t>
            </a:r>
            <a:b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br>
            <a: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t>look at my contracts for immunizations. </a:t>
            </a:r>
            <a:b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 PED</a:t>
            </a:r>
          </a:p>
          <a:p>
            <a:pPr marL="0" marR="0" lvl="0" indent="0" algn="ctr" defTabSz="914400" rtl="0" eaLnBrk="1" fontAlgn="auto" latinLnBrk="0" hangingPunct="1">
              <a:spcBef>
                <a:spcPts val="600"/>
              </a:spcBef>
              <a:buClrTx/>
              <a:buSzTx/>
              <a:buFontTx/>
              <a:buNone/>
              <a:tabLst/>
              <a:defRPr/>
            </a:pPr>
            <a: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t>Stocking costs of Bexsero/Menveo v Penbraya/Trumenba.</a:t>
            </a:r>
            <a:endParaRPr lang="en-US" sz="1400" i="1" dirty="0">
              <a:solidFill>
                <a:schemeClr val="accent1"/>
              </a:solidFill>
              <a:latin typeface="Arial" panose="020B0604020202020204"/>
            </a:endParaRPr>
          </a:p>
          <a:p>
            <a:pPr marL="0" marR="0" lvl="0" indent="0" algn="ctr" defTabSz="914400" rtl="0" eaLnBrk="1" fontAlgn="auto" latinLnBrk="0" hangingPunct="1">
              <a:spcBef>
                <a:spcPts val="600"/>
              </a:spcBef>
              <a:buClrTx/>
              <a:buSzTx/>
              <a:buFontTx/>
              <a:buNone/>
              <a:tabLst/>
              <a:defRPr/>
            </a:pPr>
            <a:r>
              <a:rPr lang="en-US" sz="1400" dirty="0">
                <a:solidFill>
                  <a:srgbClr val="000000">
                    <a:lumMod val="65000"/>
                    <a:lumOff val="35000"/>
                  </a:srgbClr>
                </a:solidFill>
              </a:rPr>
              <a:t>– PED</a:t>
            </a:r>
            <a:endPar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a:p>
            <a:pPr marL="0" marR="0" lvl="0" indent="0" algn="ctr" defTabSz="914400" rtl="0" eaLnBrk="1" fontAlgn="auto" latinLnBrk="0" hangingPunct="1">
              <a:spcBef>
                <a:spcPts val="1200"/>
              </a:spcBef>
              <a:buClrTx/>
              <a:buSzTx/>
              <a:buFontTx/>
              <a:buNone/>
              <a:tabLst/>
              <a:defRPr/>
            </a:pPr>
            <a:r>
              <a:rPr kumimoji="0" lang="en-US" sz="1400" b="0" i="1" u="none" strike="noStrike" kern="1200" cap="none" spc="0" normalizeH="0" baseline="0" noProof="0" dirty="0">
                <a:ln>
                  <a:noFill/>
                </a:ln>
                <a:solidFill>
                  <a:schemeClr val="accent1"/>
                </a:solidFill>
                <a:effectLst/>
                <a:uLnTx/>
                <a:uFillTx/>
                <a:latin typeface="Arial" panose="020B0604020202020204"/>
                <a:ea typeface="+mn-ea"/>
                <a:cs typeface="+mn-cs"/>
              </a:rPr>
              <a:t>Improved reimbursement for using combination vaccine. </a:t>
            </a:r>
            <a:br>
              <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 PED</a:t>
            </a:r>
          </a:p>
        </p:txBody>
      </p:sp>
      <p:sp>
        <p:nvSpPr>
          <p:cNvPr id="2" name="Title 1">
            <a:extLst>
              <a:ext uri="{FF2B5EF4-FFF2-40B4-BE49-F238E27FC236}">
                <a16:creationId xmlns:a16="http://schemas.microsoft.com/office/drawing/2014/main" id="{D87FA8F2-74FE-ADA2-10D6-4687A16EC2AD}"/>
              </a:ext>
            </a:extLst>
          </p:cNvPr>
          <p:cNvSpPr>
            <a:spLocks noGrp="1"/>
          </p:cNvSpPr>
          <p:nvPr>
            <p:ph type="title"/>
          </p:nvPr>
        </p:nvSpPr>
        <p:spPr>
          <a:xfrm>
            <a:off x="1142123" y="170307"/>
            <a:ext cx="7145843" cy="325804"/>
          </a:xfrm>
        </p:spPr>
        <p:txBody>
          <a:bodyPr wrap="none"/>
          <a:lstStyle/>
          <a:p>
            <a:r>
              <a:rPr lang="en-US" b="1">
                <a:solidFill>
                  <a:srgbClr val="0000C9"/>
                </a:solidFill>
                <a:latin typeface="Arial" panose="020B0604020202020204"/>
                <a:ea typeface="+mn-ea"/>
                <a:cs typeface="+mn-cs"/>
              </a:rPr>
              <a:t>Verbatims: Information / Data which would Encourage Revisiting Overall Approach </a:t>
            </a:r>
            <a:br>
              <a:rPr lang="en-US" b="1">
                <a:solidFill>
                  <a:srgbClr val="0000C9"/>
                </a:solidFill>
                <a:latin typeface="Arial" panose="020B0604020202020204"/>
                <a:ea typeface="+mn-ea"/>
                <a:cs typeface="+mn-cs"/>
              </a:rPr>
            </a:br>
            <a:r>
              <a:rPr lang="en-US" b="1">
                <a:solidFill>
                  <a:srgbClr val="0000C9"/>
                </a:solidFill>
                <a:latin typeface="Arial" panose="020B0604020202020204"/>
                <a:ea typeface="+mn-ea"/>
                <a:cs typeface="+mn-cs"/>
              </a:rPr>
              <a:t>to Meningococcal Disease Protection and Stocking Decisions</a:t>
            </a:r>
          </a:p>
        </p:txBody>
      </p:sp>
      <p:sp>
        <p:nvSpPr>
          <p:cNvPr id="3" name="Text Placeholder 2">
            <a:extLst>
              <a:ext uri="{FF2B5EF4-FFF2-40B4-BE49-F238E27FC236}">
                <a16:creationId xmlns:a16="http://schemas.microsoft.com/office/drawing/2014/main" id="{03940EC3-B30B-8193-6EC0-8112E9ECF5B3}"/>
              </a:ext>
            </a:extLst>
          </p:cNvPr>
          <p:cNvSpPr>
            <a:spLocks noGrp="1"/>
          </p:cNvSpPr>
          <p:nvPr>
            <p:ph type="body" sz="quarter" idx="16"/>
          </p:nvPr>
        </p:nvSpPr>
        <p:spPr>
          <a:xfrm>
            <a:off x="1571625" y="6602467"/>
            <a:ext cx="9239250" cy="180049"/>
          </a:xfrm>
        </p:spPr>
        <p:txBody>
          <a:bodyPr/>
          <a:lstStyle/>
          <a:p>
            <a:r>
              <a:rPr lang="en-US">
                <a:solidFill>
                  <a:srgbClr val="FF0000"/>
                </a:solidFill>
              </a:rPr>
              <a:t>(New) </a:t>
            </a:r>
            <a:r>
              <a:rPr lang="en-US"/>
              <a:t>P14a.  What information or data would encourage you to revisit your overall approach to meningococcal disease protection and stocking decisions?</a:t>
            </a:r>
          </a:p>
        </p:txBody>
      </p:sp>
      <p:cxnSp>
        <p:nvCxnSpPr>
          <p:cNvPr id="19" name="Straight Connector 18">
            <a:extLst>
              <a:ext uri="{FF2B5EF4-FFF2-40B4-BE49-F238E27FC236}">
                <a16:creationId xmlns:a16="http://schemas.microsoft.com/office/drawing/2014/main" id="{FF58813F-DF2C-DF04-90B2-23F4BC269044}"/>
              </a:ext>
            </a:extLst>
          </p:cNvPr>
          <p:cNvCxnSpPr>
            <a:cxnSpLocks/>
          </p:cNvCxnSpPr>
          <p:nvPr/>
        </p:nvCxnSpPr>
        <p:spPr>
          <a:xfrm>
            <a:off x="3098800" y="6243076"/>
            <a:ext cx="727786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8" name="Picture 6">
            <a:extLst>
              <a:ext uri="{FF2B5EF4-FFF2-40B4-BE49-F238E27FC236}">
                <a16:creationId xmlns:a16="http://schemas.microsoft.com/office/drawing/2014/main" id="{87CA43B7-FEF1-8FA8-15F5-936C742FD035}"/>
              </a:ext>
            </a:extLst>
          </p:cNvPr>
          <p:cNvPicPr>
            <a:picLocks noChangeAspect="1" noChangeArrowheads="1"/>
          </p:cNvPicPr>
          <p:nvPr/>
        </p:nvPicPr>
        <p:blipFill rotWithShape="1">
          <a:blip r:embed="rId2" cstate="print">
            <a:duotone>
              <a:schemeClr val="accent3">
                <a:shade val="45000"/>
                <a:satMod val="135000"/>
              </a:schemeClr>
              <a:prstClr val="white"/>
            </a:duotone>
            <a:extLst>
              <a:ext uri="{28A0092B-C50C-407E-A947-70E740481C1C}">
                <a14:useLocalDpi xmlns:a14="http://schemas.microsoft.com/office/drawing/2010/main" val="0"/>
              </a:ext>
            </a:extLst>
          </a:blip>
          <a:srcRect r="73864" b="73864"/>
          <a:stretch/>
        </p:blipFill>
        <p:spPr bwMode="auto">
          <a:xfrm>
            <a:off x="2306348" y="786368"/>
            <a:ext cx="714553" cy="50841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E1131A20-791C-9BD6-A8F3-45AF082F935C}"/>
              </a:ext>
            </a:extLst>
          </p:cNvPr>
          <p:cNvPicPr>
            <a:picLocks noChangeAspect="1" noChangeArrowheads="1"/>
          </p:cNvPicPr>
          <p:nvPr/>
        </p:nvPicPr>
        <p:blipFill rotWithShape="1">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l="70875" t="70875" r="3855" b="11211"/>
          <a:stretch/>
        </p:blipFill>
        <p:spPr bwMode="auto">
          <a:xfrm>
            <a:off x="10384425" y="6037475"/>
            <a:ext cx="689301" cy="34847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a:extLst>
              <a:ext uri="{FF2B5EF4-FFF2-40B4-BE49-F238E27FC236}">
                <a16:creationId xmlns:a16="http://schemas.microsoft.com/office/drawing/2014/main" id="{E278B45A-5EB2-BF7F-2FAA-1B3870C8A259}"/>
              </a:ext>
            </a:extLst>
          </p:cNvPr>
          <p:cNvCxnSpPr>
            <a:cxnSpLocks/>
          </p:cNvCxnSpPr>
          <p:nvPr/>
        </p:nvCxnSpPr>
        <p:spPr>
          <a:xfrm>
            <a:off x="3020901" y="1095740"/>
            <a:ext cx="727786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FA8CD19-928E-7F10-0908-36355C6F6A23}"/>
              </a:ext>
            </a:extLst>
          </p:cNvPr>
          <p:cNvSpPr txBox="1"/>
          <p:nvPr/>
        </p:nvSpPr>
        <p:spPr bwMode="gray">
          <a:xfrm>
            <a:off x="524104" y="1533714"/>
            <a:ext cx="1377847" cy="175433"/>
          </a:xfrm>
          <a:prstGeom prst="rect">
            <a:avLst/>
          </a:prstGeom>
          <a:noFill/>
          <a:ln w="6350">
            <a:solidFill>
              <a:schemeClr val="tx1">
                <a:lumMod val="50000"/>
                <a:lumOff val="50000"/>
              </a:schemeClr>
            </a:solidFill>
            <a:prstDash val="solid"/>
          </a:ln>
        </p:spPr>
        <p:txBody>
          <a:bodyPr wrap="square" lIns="27432" tIns="18288" rIns="0" bIns="18288" rtlCol="0" anchor="ctr" anchorCtr="0">
            <a:spAutoFit/>
          </a:bodyPr>
          <a:lstStyle/>
          <a:p>
            <a:pPr marL="457200" lvl="0" indent="-457200" algn="ctr" defTabSz="914126">
              <a:defRPr/>
            </a:pPr>
            <a:r>
              <a:rPr kumimoji="0" lang="en-US" sz="900" b="0" i="1" u="none" strike="noStrike" kern="1200" cap="none" spc="0" normalizeH="0" baseline="0" noProof="0" dirty="0">
                <a:ln>
                  <a:noFill/>
                </a:ln>
                <a:solidFill>
                  <a:schemeClr val="accent1"/>
                </a:solidFill>
                <a:effectLst/>
                <a:uLnTx/>
                <a:uFillTx/>
                <a:latin typeface="Arial" panose="020B0604020202020204"/>
                <a:ea typeface="+mn-ea"/>
                <a:cs typeface="+mn-cs"/>
              </a:rPr>
              <a:t>Cost</a:t>
            </a:r>
            <a:r>
              <a:rPr lang="en-US" sz="900" i="1" dirty="0">
                <a:solidFill>
                  <a:schemeClr val="accent1"/>
                </a:solidFill>
                <a:latin typeface="Arial" panose="020B0604020202020204"/>
              </a:rPr>
              <a:t>-related</a:t>
            </a:r>
            <a:r>
              <a:rPr kumimoji="0" lang="en-US" sz="900" b="0" i="1" u="none" strike="noStrike" kern="1200" cap="none" spc="0" normalizeH="0" baseline="0" noProof="0" dirty="0">
                <a:ln>
                  <a:noFill/>
                </a:ln>
                <a:solidFill>
                  <a:schemeClr val="accent1"/>
                </a:solidFill>
                <a:effectLst/>
                <a:uLnTx/>
                <a:uFillTx/>
                <a:latin typeface="Arial" panose="020B0604020202020204"/>
                <a:ea typeface="+mn-ea"/>
                <a:cs typeface="+mn-cs"/>
              </a:rPr>
              <a:t> Verbatims</a:t>
            </a:r>
          </a:p>
        </p:txBody>
      </p:sp>
    </p:spTree>
    <p:extLst>
      <p:ext uri="{BB962C8B-B14F-4D97-AF65-F5344CB8AC3E}">
        <p14:creationId xmlns:p14="http://schemas.microsoft.com/office/powerpoint/2010/main" val="4263683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BF2E870-8632-B483-A0D0-33F3DB2E6A41}"/>
              </a:ext>
            </a:extLst>
          </p:cNvPr>
          <p:cNvSpPr>
            <a:spLocks noGrp="1"/>
          </p:cNvSpPr>
          <p:nvPr>
            <p:ph type="title"/>
          </p:nvPr>
        </p:nvSpPr>
        <p:spPr>
          <a:xfrm>
            <a:off x="1142122" y="170307"/>
            <a:ext cx="10306279" cy="850392"/>
          </a:xfrm>
        </p:spPr>
        <p:txBody>
          <a:bodyPr/>
          <a:lstStyle/>
          <a:p>
            <a:r>
              <a:rPr lang="en-US" dirty="0"/>
              <a:t>Overall, half of HCPs continue to believe the Trumenba requirement has no impact on the complexity of their current meningococcal vaccine protocols, however, Penbraya Stockers tend to find it easier in comparison</a:t>
            </a:r>
          </a:p>
        </p:txBody>
      </p:sp>
      <p:sp>
        <p:nvSpPr>
          <p:cNvPr id="11" name="Text Placeholder 2">
            <a:extLst>
              <a:ext uri="{FF2B5EF4-FFF2-40B4-BE49-F238E27FC236}">
                <a16:creationId xmlns:a16="http://schemas.microsoft.com/office/drawing/2014/main" id="{A259A2E3-400F-F171-D0A7-FC5D0D7F00D1}"/>
              </a:ext>
            </a:extLst>
          </p:cNvPr>
          <p:cNvSpPr>
            <a:spLocks noGrp="1"/>
          </p:cNvSpPr>
          <p:nvPr>
            <p:ph type="body" sz="quarter" idx="16"/>
          </p:nvPr>
        </p:nvSpPr>
        <p:spPr>
          <a:xfrm>
            <a:off x="1571625" y="6165642"/>
            <a:ext cx="8629015" cy="579646"/>
          </a:xfrm>
        </p:spPr>
        <p:txBody>
          <a:bodyPr/>
          <a:lstStyle/>
          <a:p>
            <a:pPr marL="284163" indent="-284163"/>
            <a:r>
              <a:rPr lang="en-US" altLang="en-US" sz="900" dirty="0">
                <a:solidFill>
                  <a:srgbClr val="FF0000"/>
                </a:solidFill>
                <a:cs typeface="Arial" panose="020B0604020202020204" pitchFamily="34" charset="0"/>
                <a:sym typeface="Symbol" pitchFamily="18" charset="2"/>
              </a:rPr>
              <a:t></a:t>
            </a:r>
            <a:r>
              <a:rPr lang="en-US" altLang="en-US" sz="900" dirty="0">
                <a:cs typeface="Arial" panose="020B0604020202020204" pitchFamily="34" charset="0"/>
                <a:sym typeface="Symbol" pitchFamily="18" charset="2"/>
              </a:rPr>
              <a:t>/</a:t>
            </a:r>
            <a:r>
              <a:rPr lang="en-US" altLang="en-US" sz="900" dirty="0">
                <a:solidFill>
                  <a:srgbClr val="FF0000"/>
                </a:solidFill>
                <a:cs typeface="Arial" panose="020B0604020202020204" pitchFamily="34" charset="0"/>
                <a:sym typeface="Symbol" pitchFamily="18" charset="2"/>
              </a:rPr>
              <a:t></a:t>
            </a:r>
            <a:r>
              <a:rPr lang="en-US" altLang="en-US" sz="900" dirty="0">
                <a:cs typeface="Arial" panose="020B0604020202020204" pitchFamily="34" charset="0"/>
              </a:rPr>
              <a:t> </a:t>
            </a:r>
            <a:r>
              <a:rPr lang="en-US" sz="900" dirty="0">
                <a:cs typeface="Arial" panose="020B0604020202020204" pitchFamily="34" charset="0"/>
              </a:rPr>
              <a:t>= </a:t>
            </a:r>
            <a:r>
              <a:rPr lang="en-US" sz="900" dirty="0">
                <a:solidFill>
                  <a:schemeClr val="tx1">
                    <a:lumMod val="50000"/>
                    <a:lumOff val="50000"/>
                  </a:schemeClr>
                </a:solidFill>
                <a:cs typeface="Arial" panose="020B0604020202020204" pitchFamily="34" charset="0"/>
              </a:rPr>
              <a:t>Significantly higher/lower vs. prior wave</a:t>
            </a:r>
          </a:p>
          <a:p>
            <a:pPr marL="284163" indent="-284163"/>
            <a:r>
              <a:rPr lang="en-US" dirty="0"/>
              <a:t>P18.	Please again consider the ACIP recommendation for Penbraya (Pfizer's 5-in-1 Pentavalent vaccine for </a:t>
            </a:r>
            <a:r>
              <a:rPr lang="en-US" dirty="0" err="1"/>
              <a:t>MenABCWY</a:t>
            </a:r>
            <a:r>
              <a:rPr lang="en-US" dirty="0"/>
              <a:t>): Compared to your practice's current meningococcal vaccination protocols, would you say the ACIP recommendation requiring Penbraya (Pfizer's 5-in-1 Pentavalent vaccine for </a:t>
            </a:r>
            <a:r>
              <a:rPr lang="en-US" dirty="0" err="1"/>
              <a:t>MenABCWY</a:t>
            </a:r>
            <a:r>
              <a:rPr lang="en-US" dirty="0"/>
              <a:t>), be followed by the same manufacturer (in this case) a TRUMENBA dose, 6 months later is? </a:t>
            </a:r>
            <a:r>
              <a:rPr lang="en-US" dirty="0">
                <a:solidFill>
                  <a:srgbClr val="FF0000"/>
                </a:solidFill>
              </a:rPr>
              <a:t>[Penbraya TPP and ACIP Recommendation shown to HCPs]</a:t>
            </a:r>
          </a:p>
        </p:txBody>
      </p:sp>
      <p:sp>
        <p:nvSpPr>
          <p:cNvPr id="14" name="TextBox 13">
            <a:extLst>
              <a:ext uri="{FF2B5EF4-FFF2-40B4-BE49-F238E27FC236}">
                <a16:creationId xmlns:a16="http://schemas.microsoft.com/office/drawing/2014/main" id="{90E99DD3-2D85-2144-EC7B-38B0C2953AE8}"/>
              </a:ext>
            </a:extLst>
          </p:cNvPr>
          <p:cNvSpPr txBox="1"/>
          <p:nvPr/>
        </p:nvSpPr>
        <p:spPr bwMode="gray">
          <a:xfrm>
            <a:off x="3925844" y="1653469"/>
            <a:ext cx="4337148" cy="531428"/>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lang="en-US" b="1" dirty="0">
                <a:solidFill>
                  <a:srgbClr val="0000C9"/>
                </a:solidFill>
                <a:latin typeface="Arial" panose="020B0604020202020204"/>
              </a:rPr>
              <a:t>Perceptions of Trumenba Requirement</a:t>
            </a: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dirty="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
        <p:nvSpPr>
          <p:cNvPr id="4" name="Rectangle: Rounded Corners 3">
            <a:extLst>
              <a:ext uri="{FF2B5EF4-FFF2-40B4-BE49-F238E27FC236}">
                <a16:creationId xmlns:a16="http://schemas.microsoft.com/office/drawing/2014/main" id="{316406EE-FC8B-1C94-ECFC-10E1039C8802}"/>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aphicFrame>
        <p:nvGraphicFramePr>
          <p:cNvPr id="3" name="Chart 2">
            <a:extLst>
              <a:ext uri="{FF2B5EF4-FFF2-40B4-BE49-F238E27FC236}">
                <a16:creationId xmlns:a16="http://schemas.microsoft.com/office/drawing/2014/main" id="{88469CCD-1F53-B2F5-D6ED-2154B48139E5}"/>
              </a:ext>
            </a:extLst>
          </p:cNvPr>
          <p:cNvGraphicFramePr/>
          <p:nvPr>
            <p:extLst>
              <p:ext uri="{D42A27DB-BD31-4B8C-83A1-F6EECF244321}">
                <p14:modId xmlns:p14="http://schemas.microsoft.com/office/powerpoint/2010/main" val="1206790091"/>
              </p:ext>
            </p:extLst>
          </p:nvPr>
        </p:nvGraphicFramePr>
        <p:xfrm>
          <a:off x="1649278" y="2999359"/>
          <a:ext cx="5765940" cy="3078480"/>
        </p:xfrm>
        <a:graphic>
          <a:graphicData uri="http://schemas.openxmlformats.org/drawingml/2006/chart">
            <c:chart xmlns:c="http://schemas.openxmlformats.org/drawingml/2006/chart" xmlns:r="http://schemas.openxmlformats.org/officeDocument/2006/relationships" r:id="rId3"/>
          </a:graphicData>
        </a:graphic>
      </p:graphicFrame>
      <p:grpSp>
        <p:nvGrpSpPr>
          <p:cNvPr id="10" name="Group 9">
            <a:extLst>
              <a:ext uri="{FF2B5EF4-FFF2-40B4-BE49-F238E27FC236}">
                <a16:creationId xmlns:a16="http://schemas.microsoft.com/office/drawing/2014/main" id="{88C83D0C-F368-7ED9-CBA7-CD6C282B02AA}"/>
              </a:ext>
            </a:extLst>
          </p:cNvPr>
          <p:cNvGrpSpPr/>
          <p:nvPr/>
        </p:nvGrpSpPr>
        <p:grpSpPr>
          <a:xfrm>
            <a:off x="7486712" y="3239296"/>
            <a:ext cx="3715750" cy="2317125"/>
            <a:chOff x="597388" y="2708817"/>
            <a:chExt cx="3715750" cy="2317125"/>
          </a:xfrm>
        </p:grpSpPr>
        <p:grpSp>
          <p:nvGrpSpPr>
            <p:cNvPr id="12" name="Group 11">
              <a:extLst>
                <a:ext uri="{FF2B5EF4-FFF2-40B4-BE49-F238E27FC236}">
                  <a16:creationId xmlns:a16="http://schemas.microsoft.com/office/drawing/2014/main" id="{A7219A7E-380F-692B-AFB4-5242C635AB81}"/>
                </a:ext>
              </a:extLst>
            </p:cNvPr>
            <p:cNvGrpSpPr/>
            <p:nvPr/>
          </p:nvGrpSpPr>
          <p:grpSpPr>
            <a:xfrm>
              <a:off x="597388" y="2708817"/>
              <a:ext cx="3336372" cy="480131"/>
              <a:chOff x="597388" y="3269994"/>
              <a:chExt cx="3336372" cy="480131"/>
            </a:xfrm>
          </p:grpSpPr>
          <p:sp>
            <p:nvSpPr>
              <p:cNvPr id="21" name="TextBox 20">
                <a:extLst>
                  <a:ext uri="{FF2B5EF4-FFF2-40B4-BE49-F238E27FC236}">
                    <a16:creationId xmlns:a16="http://schemas.microsoft.com/office/drawing/2014/main" id="{B80EE300-214B-D429-3FF8-A89E3F574D5D}"/>
                  </a:ext>
                </a:extLst>
              </p:cNvPr>
              <p:cNvSpPr txBox="1"/>
              <p:nvPr/>
            </p:nvSpPr>
            <p:spPr bwMode="gray">
              <a:xfrm>
                <a:off x="849984" y="3269994"/>
                <a:ext cx="3083776" cy="480131"/>
              </a:xfrm>
              <a:prstGeom prst="rect">
                <a:avLst/>
              </a:prstGeom>
            </p:spPr>
            <p:txBody>
              <a:bodyPr wrap="square" lIns="45720" tIns="45720" rIns="45720" bIns="45720" rtlCol="0" anchor="ctr" anchorCtr="0">
                <a:spAutoFit/>
              </a:bodyPr>
              <a:lstStyle/>
              <a:p>
                <a:pPr>
                  <a:lnSpc>
                    <a:spcPct val="90000"/>
                  </a:lnSpc>
                </a:pPr>
                <a:r>
                  <a:rPr lang="en-US" sz="1400" b="1"/>
                  <a:t>Easier</a:t>
                </a:r>
                <a:r>
                  <a:rPr lang="en-US" sz="1400"/>
                  <a:t> than current meningococcal vaccination protocols </a:t>
                </a:r>
              </a:p>
            </p:txBody>
          </p:sp>
          <p:sp>
            <p:nvSpPr>
              <p:cNvPr id="22" name="Oval 21">
                <a:extLst>
                  <a:ext uri="{FF2B5EF4-FFF2-40B4-BE49-F238E27FC236}">
                    <a16:creationId xmlns:a16="http://schemas.microsoft.com/office/drawing/2014/main" id="{4A179E73-7A81-1F75-6192-30BE118AD124}"/>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13" name="Group 12">
              <a:extLst>
                <a:ext uri="{FF2B5EF4-FFF2-40B4-BE49-F238E27FC236}">
                  <a16:creationId xmlns:a16="http://schemas.microsoft.com/office/drawing/2014/main" id="{71265D43-9A86-C70F-8921-8DCFFC84C314}"/>
                </a:ext>
              </a:extLst>
            </p:cNvPr>
            <p:cNvGrpSpPr/>
            <p:nvPr/>
          </p:nvGrpSpPr>
          <p:grpSpPr>
            <a:xfrm>
              <a:off x="597388" y="3650327"/>
              <a:ext cx="3100491" cy="286232"/>
              <a:chOff x="597388" y="4244215"/>
              <a:chExt cx="3100491" cy="286232"/>
            </a:xfrm>
          </p:grpSpPr>
          <p:sp>
            <p:nvSpPr>
              <p:cNvPr id="19" name="Oval 18">
                <a:extLst>
                  <a:ext uri="{FF2B5EF4-FFF2-40B4-BE49-F238E27FC236}">
                    <a16:creationId xmlns:a16="http://schemas.microsoft.com/office/drawing/2014/main" id="{404917CA-0349-6A34-BFE5-E53220D0C740}"/>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20" name="TextBox 19">
                <a:extLst>
                  <a:ext uri="{FF2B5EF4-FFF2-40B4-BE49-F238E27FC236}">
                    <a16:creationId xmlns:a16="http://schemas.microsoft.com/office/drawing/2014/main" id="{7C54F648-9350-09B8-FE8E-3FAEC48099B7}"/>
                  </a:ext>
                </a:extLst>
              </p:cNvPr>
              <p:cNvSpPr txBox="1"/>
              <p:nvPr/>
            </p:nvSpPr>
            <p:spPr bwMode="gray">
              <a:xfrm>
                <a:off x="849983" y="4244215"/>
                <a:ext cx="2847896" cy="286232"/>
              </a:xfrm>
              <a:prstGeom prst="rect">
                <a:avLst/>
              </a:prstGeom>
            </p:spPr>
            <p:txBody>
              <a:bodyPr wrap="none" lIns="45720" tIns="45720" rIns="45720" bIns="45720" rtlCol="0" anchor="ctr" anchorCtr="0">
                <a:spAutoFit/>
              </a:bodyPr>
              <a:lstStyle/>
              <a:p>
                <a:pPr>
                  <a:lnSpc>
                    <a:spcPct val="90000"/>
                  </a:lnSpc>
                  <a:spcAft>
                    <a:spcPts val="400"/>
                  </a:spcAft>
                </a:pPr>
                <a:r>
                  <a:rPr lang="en-US" sz="1400" b="1"/>
                  <a:t>Neither easier nor more difficult </a:t>
                </a:r>
                <a:endParaRPr lang="en-US" sz="1100" i="1"/>
              </a:p>
            </p:txBody>
          </p:sp>
        </p:grpSp>
        <p:grpSp>
          <p:nvGrpSpPr>
            <p:cNvPr id="15" name="Group 14">
              <a:extLst>
                <a:ext uri="{FF2B5EF4-FFF2-40B4-BE49-F238E27FC236}">
                  <a16:creationId xmlns:a16="http://schemas.microsoft.com/office/drawing/2014/main" id="{92C58FC1-14F5-338B-CCFE-4E6766446EBB}"/>
                </a:ext>
              </a:extLst>
            </p:cNvPr>
            <p:cNvGrpSpPr/>
            <p:nvPr/>
          </p:nvGrpSpPr>
          <p:grpSpPr>
            <a:xfrm>
              <a:off x="597388" y="4545811"/>
              <a:ext cx="3715750" cy="480131"/>
              <a:chOff x="597388" y="4798730"/>
              <a:chExt cx="3715750" cy="480131"/>
            </a:xfrm>
          </p:grpSpPr>
          <p:sp>
            <p:nvSpPr>
              <p:cNvPr id="17" name="Oval 16">
                <a:extLst>
                  <a:ext uri="{FF2B5EF4-FFF2-40B4-BE49-F238E27FC236}">
                    <a16:creationId xmlns:a16="http://schemas.microsoft.com/office/drawing/2014/main" id="{230FAA12-EAEA-FC8A-BCE7-07BE8B6F355A}"/>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8" name="TextBox 17">
                <a:extLst>
                  <a:ext uri="{FF2B5EF4-FFF2-40B4-BE49-F238E27FC236}">
                    <a16:creationId xmlns:a16="http://schemas.microsoft.com/office/drawing/2014/main" id="{24CC0274-5A65-C1A2-3D54-A7F1DCBBE91B}"/>
                  </a:ext>
                </a:extLst>
              </p:cNvPr>
              <p:cNvSpPr txBox="1"/>
              <p:nvPr/>
            </p:nvSpPr>
            <p:spPr bwMode="gray">
              <a:xfrm>
                <a:off x="849984" y="4798730"/>
                <a:ext cx="3463154" cy="480131"/>
              </a:xfrm>
              <a:prstGeom prst="rect">
                <a:avLst/>
              </a:prstGeom>
            </p:spPr>
            <p:txBody>
              <a:bodyPr wrap="square" lIns="45720" tIns="45720" rIns="45720" bIns="45720" rtlCol="0" anchor="ctr" anchorCtr="0">
                <a:spAutoFit/>
              </a:bodyPr>
              <a:lstStyle/>
              <a:p>
                <a:pPr>
                  <a:lnSpc>
                    <a:spcPct val="90000"/>
                  </a:lnSpc>
                  <a:spcAft>
                    <a:spcPts val="400"/>
                  </a:spcAft>
                </a:pPr>
                <a:r>
                  <a:rPr lang="en-US" sz="1400" b="1"/>
                  <a:t>More </a:t>
                </a:r>
                <a:r>
                  <a:rPr lang="en-US" sz="1400"/>
                  <a:t>difficult than current meningococcal vaccination protocols </a:t>
                </a:r>
                <a:endParaRPr lang="en-US" sz="1100" i="1"/>
              </a:p>
            </p:txBody>
          </p:sp>
        </p:grpSp>
      </p:grpSp>
      <p:sp>
        <p:nvSpPr>
          <p:cNvPr id="6" name="TextBox 5">
            <a:extLst>
              <a:ext uri="{FF2B5EF4-FFF2-40B4-BE49-F238E27FC236}">
                <a16:creationId xmlns:a16="http://schemas.microsoft.com/office/drawing/2014/main" id="{78D855DA-67D9-E547-3798-956BF5BA51A3}"/>
              </a:ext>
            </a:extLst>
          </p:cNvPr>
          <p:cNvSpPr txBox="1"/>
          <p:nvPr/>
        </p:nvSpPr>
        <p:spPr bwMode="gray">
          <a:xfrm>
            <a:off x="3940655" y="2383769"/>
            <a:ext cx="1167923" cy="584751"/>
          </a:xfrm>
          <a:prstGeom prst="rect">
            <a:avLst/>
          </a:prstGeom>
        </p:spPr>
        <p:txBody>
          <a:bodyPr wrap="none" lIns="45708" tIns="45708" rIns="45708" bIns="45708" rtlCol="0">
            <a:spAutoFit/>
          </a:bodyPr>
          <a:lstStyle/>
          <a:p>
            <a:pPr lvl="0" algn="ctr" defTabSz="914126">
              <a:spcAft>
                <a:spcPts val="400"/>
              </a:spcAft>
              <a:defRPr/>
            </a:pPr>
            <a:r>
              <a:rPr kumimoji="0" lang="en-US" sz="1600" b="1" u="none" strike="noStrike" kern="1200" cap="none" spc="0" normalizeH="0" baseline="0" noProof="0" dirty="0">
                <a:ln>
                  <a:noFill/>
                </a:ln>
                <a:solidFill>
                  <a:srgbClr val="0000C9"/>
                </a:solidFill>
                <a:effectLst/>
                <a:uLnTx/>
                <a:uFillTx/>
                <a:latin typeface="Arial" panose="020B0604020202020204"/>
                <a:ea typeface="+mn-ea"/>
                <a:cs typeface="+mn-cs"/>
              </a:rPr>
              <a:t>Penbraya</a:t>
            </a:r>
            <a:br>
              <a:rPr kumimoji="0" lang="en-US" sz="1600" b="1"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600" b="1" i="1" u="none" strike="noStrike" kern="1200" cap="none" spc="0" normalizeH="0" baseline="0" noProof="0" dirty="0">
                <a:ln>
                  <a:noFill/>
                </a:ln>
                <a:solidFill>
                  <a:srgbClr val="0000C9"/>
                </a:solidFill>
                <a:effectLst/>
                <a:uLnTx/>
                <a:uFillTx/>
                <a:latin typeface="Arial" panose="020B0604020202020204"/>
                <a:ea typeface="+mn-ea"/>
                <a:cs typeface="+mn-cs"/>
              </a:rPr>
              <a:t>Stockers </a:t>
            </a:r>
            <a:r>
              <a:rPr lang="en-US" sz="1600" baseline="15000" dirty="0">
                <a:solidFill>
                  <a:srgbClr val="595959"/>
                </a:solidFill>
              </a:rPr>
              <a:t>|</a:t>
            </a:r>
            <a:r>
              <a:rPr lang="en-US" sz="1100" baseline="20000" dirty="0">
                <a:solidFill>
                  <a:srgbClr val="000000">
                    <a:lumMod val="65000"/>
                    <a:lumOff val="35000"/>
                  </a:srgbClr>
                </a:solidFill>
              </a:rPr>
              <a:t> </a:t>
            </a:r>
            <a:r>
              <a:rPr lang="en-US" sz="1100" baseline="35000" dirty="0">
                <a:solidFill>
                  <a:srgbClr val="595959"/>
                </a:solidFill>
              </a:rPr>
              <a:t>S</a:t>
            </a:r>
            <a:endParaRPr kumimoji="0" lang="en-US" sz="900" b="0" i="1"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23EB6631-2D17-F7FE-209B-3EAB011C840D}"/>
              </a:ext>
            </a:extLst>
          </p:cNvPr>
          <p:cNvSpPr txBox="1"/>
          <p:nvPr/>
        </p:nvSpPr>
        <p:spPr bwMode="gray">
          <a:xfrm>
            <a:off x="5527919" y="2383769"/>
            <a:ext cx="1595926" cy="584751"/>
          </a:xfrm>
          <a:prstGeom prst="rect">
            <a:avLst/>
          </a:prstGeom>
        </p:spPr>
        <p:txBody>
          <a:bodyPr wrap="none" lIns="45708" tIns="45708" rIns="45708" bIns="45708" rtlCol="0">
            <a:spAutoFit/>
          </a:bodyPr>
          <a:lstStyle/>
          <a:p>
            <a:pPr lvl="0" algn="ctr" defTabSz="914126">
              <a:spcAft>
                <a:spcPts val="400"/>
              </a:spcAft>
              <a:defRPr/>
            </a:pPr>
            <a: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t>Penbraya</a:t>
            </a:r>
            <a:br>
              <a:rPr kumimoji="0" lang="en-US" sz="1600" b="1" i="0"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600" b="1" i="1" u="none" strike="noStrike" kern="1200" cap="none" spc="0" normalizeH="0" baseline="0" noProof="0" dirty="0">
                <a:ln>
                  <a:noFill/>
                </a:ln>
                <a:solidFill>
                  <a:srgbClr val="0000C9"/>
                </a:solidFill>
                <a:effectLst/>
                <a:uLnTx/>
                <a:uFillTx/>
                <a:latin typeface="Arial" panose="020B0604020202020204"/>
                <a:ea typeface="+mn-ea"/>
                <a:cs typeface="+mn-cs"/>
              </a:rPr>
              <a:t>Non-Stockers </a:t>
            </a:r>
            <a:r>
              <a:rPr lang="en-US" sz="1600" baseline="15000" dirty="0">
                <a:solidFill>
                  <a:srgbClr val="595959"/>
                </a:solidFill>
              </a:rPr>
              <a:t>|</a:t>
            </a:r>
            <a:r>
              <a:rPr lang="en-US" sz="1100" baseline="20000" dirty="0">
                <a:solidFill>
                  <a:srgbClr val="000000">
                    <a:lumMod val="65000"/>
                    <a:lumOff val="35000"/>
                  </a:srgbClr>
                </a:solidFill>
              </a:rPr>
              <a:t> </a:t>
            </a:r>
            <a:r>
              <a:rPr lang="en-US" sz="1100" baseline="35000" dirty="0">
                <a:solidFill>
                  <a:srgbClr val="595959"/>
                </a:solidFill>
              </a:rPr>
              <a:t>N</a:t>
            </a:r>
            <a:endParaRPr kumimoji="0" lang="en-US" sz="900" b="0" i="1"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888566B-35B5-CAF9-3A97-5442D90B2C62}"/>
              </a:ext>
            </a:extLst>
          </p:cNvPr>
          <p:cNvSpPr txBox="1"/>
          <p:nvPr/>
        </p:nvSpPr>
        <p:spPr bwMode="gray">
          <a:xfrm>
            <a:off x="2334924" y="2599341"/>
            <a:ext cx="840463" cy="369179"/>
          </a:xfrm>
          <a:prstGeom prst="rect">
            <a:avLst/>
          </a:prstGeom>
        </p:spPr>
        <p:txBody>
          <a:bodyPr wrap="none" lIns="45708" tIns="45708" rIns="45708" bIns="45708" rtlCol="0">
            <a:spAutoFit/>
          </a:bodyPr>
          <a:lstStyle/>
          <a:p>
            <a:pPr marL="0" marR="0" lvl="0" indent="0" algn="ctr" defTabSz="914126" rtl="0" eaLnBrk="1" fontAlgn="auto" latinLnBrk="0" hangingPunct="1">
              <a:lnSpc>
                <a:spcPct val="100000"/>
              </a:lnSpc>
              <a:spcBef>
                <a:spcPts val="0"/>
              </a:spcBef>
              <a:spcAft>
                <a:spcPts val="400"/>
              </a:spcAft>
              <a:buClrTx/>
              <a:buSzTx/>
              <a:buFontTx/>
              <a:buNone/>
              <a:tabLst/>
              <a:defRPr/>
            </a:pPr>
            <a:r>
              <a:rPr kumimoji="0" lang="en-US" sz="1799" b="1" u="none" strike="noStrike" kern="1200" cap="none" spc="0" normalizeH="0" baseline="0" noProof="0">
                <a:ln>
                  <a:noFill/>
                </a:ln>
                <a:solidFill>
                  <a:srgbClr val="0000C9"/>
                </a:solidFill>
                <a:effectLst/>
                <a:uLnTx/>
                <a:uFillTx/>
                <a:latin typeface="Arial" panose="020B0604020202020204"/>
                <a:ea typeface="+mn-ea"/>
                <a:cs typeface="+mn-cs"/>
              </a:rPr>
              <a:t>TOTAL</a:t>
            </a:r>
            <a:endParaRPr kumimoji="0" lang="en-US" sz="1000" b="0" i="1"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cxnSp>
        <p:nvCxnSpPr>
          <p:cNvPr id="28" name="Straight Connector 27">
            <a:extLst>
              <a:ext uri="{FF2B5EF4-FFF2-40B4-BE49-F238E27FC236}">
                <a16:creationId xmlns:a16="http://schemas.microsoft.com/office/drawing/2014/main" id="{B91A81FC-D1EA-4CB8-06FD-ABC73DE30E67}"/>
              </a:ext>
            </a:extLst>
          </p:cNvPr>
          <p:cNvCxnSpPr>
            <a:cxnSpLocks/>
          </p:cNvCxnSpPr>
          <p:nvPr/>
        </p:nvCxnSpPr>
        <p:spPr bwMode="gray">
          <a:xfrm>
            <a:off x="3658817" y="2407433"/>
            <a:ext cx="0" cy="3281735"/>
          </a:xfrm>
          <a:prstGeom prst="line">
            <a:avLst/>
          </a:prstGeom>
          <a:noFill/>
          <a:ln w="9525" cap="rnd">
            <a:solidFill>
              <a:schemeClr val="bg1">
                <a:lumMod val="75000"/>
              </a:schemeClr>
            </a:solidFill>
            <a:prstDash val="solid"/>
            <a:round/>
            <a:headEnd/>
            <a:tailEnd/>
          </a:ln>
          <a:effectLst/>
        </p:spPr>
      </p:cxnSp>
      <p:grpSp>
        <p:nvGrpSpPr>
          <p:cNvPr id="8" name="Group 7">
            <a:extLst>
              <a:ext uri="{FF2B5EF4-FFF2-40B4-BE49-F238E27FC236}">
                <a16:creationId xmlns:a16="http://schemas.microsoft.com/office/drawing/2014/main" id="{54D829D8-65C4-8CC6-3711-DF9C72C207D7}"/>
              </a:ext>
            </a:extLst>
          </p:cNvPr>
          <p:cNvGrpSpPr/>
          <p:nvPr/>
        </p:nvGrpSpPr>
        <p:grpSpPr>
          <a:xfrm>
            <a:off x="1056006" y="1600797"/>
            <a:ext cx="1252883" cy="806636"/>
            <a:chOff x="1668641" y="1600319"/>
            <a:chExt cx="1253209" cy="806846"/>
          </a:xfrm>
        </p:grpSpPr>
        <p:cxnSp>
          <p:nvCxnSpPr>
            <p:cNvPr id="29" name="Straight Connector 28">
              <a:extLst>
                <a:ext uri="{FF2B5EF4-FFF2-40B4-BE49-F238E27FC236}">
                  <a16:creationId xmlns:a16="http://schemas.microsoft.com/office/drawing/2014/main" id="{2BBBD890-FB5C-C98D-695C-92BCD2932664}"/>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30" name="TextBox 29">
              <a:extLst>
                <a:ext uri="{FF2B5EF4-FFF2-40B4-BE49-F238E27FC236}">
                  <a16:creationId xmlns:a16="http://schemas.microsoft.com/office/drawing/2014/main" id="{69FCA9A7-5D56-DA6E-3A88-C22494DCE63F}"/>
                </a:ext>
              </a:extLst>
            </p:cNvPr>
            <p:cNvSpPr txBox="1"/>
            <p:nvPr/>
          </p:nvSpPr>
          <p:spPr bwMode="gray">
            <a:xfrm>
              <a:off x="1686341" y="1600319"/>
              <a:ext cx="650178" cy="28623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p:txBody>
        </p:sp>
        <p:sp>
          <p:nvSpPr>
            <p:cNvPr id="31" name="TextBox 30">
              <a:extLst>
                <a:ext uri="{FF2B5EF4-FFF2-40B4-BE49-F238E27FC236}">
                  <a16:creationId xmlns:a16="http://schemas.microsoft.com/office/drawing/2014/main" id="{7B643199-07C9-98A4-394A-A32C29D90111}"/>
                </a:ext>
              </a:extLst>
            </p:cNvPr>
            <p:cNvSpPr txBox="1"/>
            <p:nvPr/>
          </p:nvSpPr>
          <p:spPr bwMode="gray">
            <a:xfrm>
              <a:off x="1668641" y="1940787"/>
              <a:ext cx="1253209" cy="466378"/>
            </a:xfrm>
            <a:prstGeom prst="rect">
              <a:avLst/>
            </a:prstGeom>
          </p:spPr>
          <p:txBody>
            <a:bodyPr wrap="none" lIns="45708" tIns="45708" rIns="45708" bIns="45708" rtlCol="0">
              <a:spAutoFit/>
            </a:bodyPr>
            <a:lstStyle/>
            <a:p>
              <a:pPr>
                <a:lnSpc>
                  <a:spcPct val="90000"/>
                </a:lnSpc>
                <a:spcBef>
                  <a:spcPts val="1000"/>
                </a:spcBef>
                <a:tabLst>
                  <a:tab pos="457063" algn="l"/>
                </a:tabLst>
                <a:defRPr/>
              </a:pPr>
              <a:r>
                <a:rPr lang="en-US" sz="900">
                  <a:solidFill>
                    <a:srgbClr val="FFFFFF">
                      <a:lumMod val="50000"/>
                    </a:srgbClr>
                  </a:solidFill>
                  <a:latin typeface="Arial" panose="020B0604020202020204"/>
                </a:rPr>
                <a:t>(n=200)	TOTAL</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(n=34)	Stockers</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(n=164)	Non-Stockers</a:t>
              </a:r>
            </a:p>
          </p:txBody>
        </p:sp>
      </p:grpSp>
      <p:sp>
        <p:nvSpPr>
          <p:cNvPr id="23" name="TextBox 22">
            <a:extLst>
              <a:ext uri="{FF2B5EF4-FFF2-40B4-BE49-F238E27FC236}">
                <a16:creationId xmlns:a16="http://schemas.microsoft.com/office/drawing/2014/main" id="{C357C31C-C003-BB2E-69DC-8C53C4E02BCE}"/>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sp>
        <p:nvSpPr>
          <p:cNvPr id="2" name="TextBox 1">
            <a:extLst>
              <a:ext uri="{FF2B5EF4-FFF2-40B4-BE49-F238E27FC236}">
                <a16:creationId xmlns:a16="http://schemas.microsoft.com/office/drawing/2014/main" id="{5E4C44BA-C5AB-F463-28EA-9120F1285821}"/>
              </a:ext>
            </a:extLst>
          </p:cNvPr>
          <p:cNvSpPr txBox="1"/>
          <p:nvPr/>
        </p:nvSpPr>
        <p:spPr bwMode="gray">
          <a:xfrm>
            <a:off x="1723710" y="5164063"/>
            <a:ext cx="673423" cy="3323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23% 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&gt;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  5%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Tree>
    <p:extLst>
      <p:ext uri="{BB962C8B-B14F-4D97-AF65-F5344CB8AC3E}">
        <p14:creationId xmlns:p14="http://schemas.microsoft.com/office/powerpoint/2010/main" val="3475719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62A32-A394-5F56-B4F3-9B4A40DF14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0B4F8F-8F31-8088-2B24-8D01424D603F}"/>
              </a:ext>
            </a:extLst>
          </p:cNvPr>
          <p:cNvSpPr/>
          <p:nvPr/>
        </p:nvSpPr>
        <p:spPr bwMode="gray">
          <a:xfrm>
            <a:off x="9208502" y="2382919"/>
            <a:ext cx="2297756" cy="4166605"/>
          </a:xfrm>
          <a:prstGeom prst="rect">
            <a:avLst/>
          </a:prstGeom>
          <a:solidFill>
            <a:schemeClr val="bg1">
              <a:lumMod val="95000"/>
            </a:schemeClr>
          </a:solidFill>
          <a:ln w="12700" cap="flat" cmpd="sng" algn="ctr">
            <a:solidFill>
              <a:schemeClr val="bg1">
                <a:lumMod val="65000"/>
              </a:schemeClr>
            </a:solidFill>
            <a:prstDash val="dash"/>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 name="Title 4">
            <a:extLst>
              <a:ext uri="{FF2B5EF4-FFF2-40B4-BE49-F238E27FC236}">
                <a16:creationId xmlns:a16="http://schemas.microsoft.com/office/drawing/2014/main" id="{88F2DD75-9096-8ABE-38DC-B688AC5D7F85}"/>
              </a:ext>
            </a:extLst>
          </p:cNvPr>
          <p:cNvSpPr>
            <a:spLocks noGrp="1"/>
          </p:cNvSpPr>
          <p:nvPr>
            <p:ph type="title"/>
          </p:nvPr>
        </p:nvSpPr>
        <p:spPr>
          <a:xfrm>
            <a:off x="1145990" y="172853"/>
            <a:ext cx="11113917" cy="558471"/>
          </a:xfrm>
        </p:spPr>
        <p:txBody>
          <a:bodyPr/>
          <a:lstStyle/>
          <a:p>
            <a:r>
              <a:rPr lang="en-US" dirty="0"/>
              <a:t>HCPs anticipate a significant gain in stock of Penbraya within the next three months and a decrease in Bexsero and </a:t>
            </a:r>
            <a:r>
              <a:rPr lang="en-US" dirty="0" err="1"/>
              <a:t>MenQuadfi</a:t>
            </a:r>
            <a:r>
              <a:rPr lang="en-US" dirty="0"/>
              <a:t>; minimal intent to stock </a:t>
            </a:r>
            <a:r>
              <a:rPr lang="en-US" dirty="0" err="1"/>
              <a:t>Penmenvy</a:t>
            </a:r>
            <a:r>
              <a:rPr lang="en-US" dirty="0"/>
              <a:t> in this timeframe</a:t>
            </a:r>
            <a:endParaRPr lang="en-US" i="1" dirty="0"/>
          </a:p>
        </p:txBody>
      </p:sp>
      <p:sp>
        <p:nvSpPr>
          <p:cNvPr id="10" name="Text Placeholder 2">
            <a:extLst>
              <a:ext uri="{FF2B5EF4-FFF2-40B4-BE49-F238E27FC236}">
                <a16:creationId xmlns:a16="http://schemas.microsoft.com/office/drawing/2014/main" id="{3580A445-07C1-D76A-2AF5-6D487D88FD43}"/>
              </a:ext>
            </a:extLst>
          </p:cNvPr>
          <p:cNvSpPr>
            <a:spLocks noGrp="1"/>
          </p:cNvSpPr>
          <p:nvPr>
            <p:ph type="body" sz="quarter" idx="16"/>
          </p:nvPr>
        </p:nvSpPr>
        <p:spPr>
          <a:xfrm>
            <a:off x="1575159" y="5953978"/>
            <a:ext cx="7931176" cy="905653"/>
          </a:xfrm>
        </p:spPr>
        <p:txBody>
          <a:bodyPr/>
          <a:lstStyle/>
          <a:p>
            <a:r>
              <a:rPr lang="en-US" dirty="0">
                <a:solidFill>
                  <a:srgbClr val="FF0000"/>
                </a:solidFill>
                <a:sym typeface="Wingdings 3" panose="05040102010807070707" pitchFamily="18" charset="2"/>
              </a:rPr>
              <a:t></a:t>
            </a:r>
            <a:r>
              <a:rPr lang="en-US" dirty="0">
                <a:sym typeface="Wingdings 3" panose="05040102010807070707" pitchFamily="18" charset="2"/>
              </a:rPr>
              <a:t>/</a:t>
            </a:r>
            <a:r>
              <a:rPr lang="en-US" dirty="0">
                <a:solidFill>
                  <a:srgbClr val="FF0000"/>
                </a:solidFill>
                <a:sym typeface="Wingdings 3" panose="05040102010807070707" pitchFamily="18" charset="2"/>
              </a:rPr>
              <a:t></a:t>
            </a:r>
            <a:r>
              <a:rPr lang="en-US" dirty="0">
                <a:sym typeface="Wingdings 3" panose="05040102010807070707" pitchFamily="18" charset="2"/>
              </a:rPr>
              <a:t> = significantly higher/lower than Current Stock</a:t>
            </a:r>
            <a:endParaRPr lang="en-US" dirty="0"/>
          </a:p>
          <a:p>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r>
              <a:rPr lang="en-US" dirty="0"/>
              <a:t>C6_1. What percent of your total stock of Meningococcal vaccines does each brand represent? </a:t>
            </a:r>
          </a:p>
          <a:p>
            <a:r>
              <a:rPr lang="en-US" dirty="0"/>
              <a:t>P4. In three months from now, what percent of your total stock of Meningococcal vaccines do you anticipate each brand will represent? </a:t>
            </a:r>
          </a:p>
          <a:p>
            <a:r>
              <a:rPr lang="en-US" dirty="0"/>
              <a:t>P15.  In three months from now, what percent of your total stock of Meningococcal vaccines do you anticipate each brand will represent, given Penbraya and Trumenba dosing schedule and that Bexsero now has the same dosing schedule as Trumenba? </a:t>
            </a:r>
          </a:p>
        </p:txBody>
      </p:sp>
      <p:graphicFrame>
        <p:nvGraphicFramePr>
          <p:cNvPr id="20" name="Chart 19">
            <a:extLst>
              <a:ext uri="{FF2B5EF4-FFF2-40B4-BE49-F238E27FC236}">
                <a16:creationId xmlns:a16="http://schemas.microsoft.com/office/drawing/2014/main" id="{A7A3466A-A36D-EEDC-51E3-B9BEB8D4B657}"/>
              </a:ext>
            </a:extLst>
          </p:cNvPr>
          <p:cNvGraphicFramePr/>
          <p:nvPr/>
        </p:nvGraphicFramePr>
        <p:xfrm>
          <a:off x="1389006" y="2998496"/>
          <a:ext cx="7251166" cy="27516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0ED7E66A-391E-47B4-8B27-158734266D36}"/>
              </a:ext>
            </a:extLst>
          </p:cNvPr>
          <p:cNvSpPr txBox="1"/>
          <p:nvPr/>
        </p:nvSpPr>
        <p:spPr bwMode="gray">
          <a:xfrm>
            <a:off x="5300950" y="5026078"/>
            <a:ext cx="1219252"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MenACWY</a:t>
            </a:r>
            <a:endParaRPr lang="en-US" sz="1600">
              <a:solidFill>
                <a:srgbClr val="000000"/>
              </a:solidFill>
              <a:latin typeface="Arial" panose="020B0604020202020204"/>
            </a:endParaRPr>
          </a:p>
        </p:txBody>
      </p:sp>
      <p:sp>
        <p:nvSpPr>
          <p:cNvPr id="7" name="TextBox 6">
            <a:extLst>
              <a:ext uri="{FF2B5EF4-FFF2-40B4-BE49-F238E27FC236}">
                <a16:creationId xmlns:a16="http://schemas.microsoft.com/office/drawing/2014/main" id="{875F0FCC-3290-2426-CCAD-47F9A0B7F4D3}"/>
              </a:ext>
            </a:extLst>
          </p:cNvPr>
          <p:cNvSpPr txBox="1"/>
          <p:nvPr/>
        </p:nvSpPr>
        <p:spPr bwMode="gray">
          <a:xfrm>
            <a:off x="5300952" y="4198395"/>
            <a:ext cx="741932"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MenB</a:t>
            </a:r>
            <a:endParaRPr lang="en-US" sz="1600">
              <a:solidFill>
                <a:srgbClr val="000000"/>
              </a:solidFill>
              <a:latin typeface="Arial" panose="020B0604020202020204"/>
            </a:endParaRPr>
          </a:p>
        </p:txBody>
      </p:sp>
      <p:sp>
        <p:nvSpPr>
          <p:cNvPr id="8" name="TextBox 7">
            <a:extLst>
              <a:ext uri="{FF2B5EF4-FFF2-40B4-BE49-F238E27FC236}">
                <a16:creationId xmlns:a16="http://schemas.microsoft.com/office/drawing/2014/main" id="{F6754711-BBD6-7492-76B0-7AF4C1341448}"/>
              </a:ext>
            </a:extLst>
          </p:cNvPr>
          <p:cNvSpPr txBox="1"/>
          <p:nvPr/>
        </p:nvSpPr>
        <p:spPr bwMode="gray">
          <a:xfrm>
            <a:off x="5300950" y="3370711"/>
            <a:ext cx="1366614"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MenABCWY</a:t>
            </a:r>
            <a:endParaRPr lang="en-US" sz="1600">
              <a:solidFill>
                <a:srgbClr val="000000"/>
              </a:solidFill>
              <a:latin typeface="Arial" panose="020B0604020202020204"/>
            </a:endParaRPr>
          </a:p>
        </p:txBody>
      </p:sp>
      <p:grpSp>
        <p:nvGrpSpPr>
          <p:cNvPr id="27" name="Group 26">
            <a:extLst>
              <a:ext uri="{FF2B5EF4-FFF2-40B4-BE49-F238E27FC236}">
                <a16:creationId xmlns:a16="http://schemas.microsoft.com/office/drawing/2014/main" id="{6661156E-9B80-4C38-AD63-710ECFB1CBA3}"/>
              </a:ext>
            </a:extLst>
          </p:cNvPr>
          <p:cNvGrpSpPr/>
          <p:nvPr/>
        </p:nvGrpSpPr>
        <p:grpSpPr>
          <a:xfrm>
            <a:off x="5155126" y="4002065"/>
            <a:ext cx="140859" cy="730950"/>
            <a:chOff x="6145530" y="3464632"/>
            <a:chExt cx="140970" cy="731520"/>
          </a:xfrm>
        </p:grpSpPr>
        <p:cxnSp>
          <p:nvCxnSpPr>
            <p:cNvPr id="18" name="Straight Connector 17">
              <a:extLst>
                <a:ext uri="{FF2B5EF4-FFF2-40B4-BE49-F238E27FC236}">
                  <a16:creationId xmlns:a16="http://schemas.microsoft.com/office/drawing/2014/main" id="{BAB4F663-F16E-C693-530E-322D71697D42}"/>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EE025709-8683-EF23-CB31-4B838C26A216}"/>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24" name="TextBox 23">
            <a:extLst>
              <a:ext uri="{FF2B5EF4-FFF2-40B4-BE49-F238E27FC236}">
                <a16:creationId xmlns:a16="http://schemas.microsoft.com/office/drawing/2014/main" id="{66973A45-9D9F-7B07-38C2-9EFA9124DF19}"/>
              </a:ext>
            </a:extLst>
          </p:cNvPr>
          <p:cNvSpPr txBox="1"/>
          <p:nvPr/>
        </p:nvSpPr>
        <p:spPr bwMode="gray">
          <a:xfrm>
            <a:off x="1419312" y="2437357"/>
            <a:ext cx="1506041" cy="445371"/>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rgbClr val="000000"/>
                </a:solidFill>
                <a:latin typeface="Arial" panose="020B0604020202020204"/>
              </a:rPr>
              <a:t>Current Stock</a:t>
            </a:r>
          </a:p>
          <a:p>
            <a:pPr algn="ctr" defTabSz="914126">
              <a:defRPr/>
            </a:pPr>
            <a:r>
              <a:rPr lang="en-US" sz="1100">
                <a:solidFill>
                  <a:srgbClr val="000000"/>
                </a:solidFill>
                <a:latin typeface="Arial" panose="020B0604020202020204"/>
              </a:rPr>
              <a:t>(Past Month)</a:t>
            </a:r>
            <a:endParaRPr lang="en-US" sz="1400">
              <a:solidFill>
                <a:srgbClr val="000000"/>
              </a:solidFill>
              <a:latin typeface="Arial" panose="020B0604020202020204"/>
            </a:endParaRPr>
          </a:p>
        </p:txBody>
      </p:sp>
      <p:sp>
        <p:nvSpPr>
          <p:cNvPr id="37" name="TextBox 36">
            <a:extLst>
              <a:ext uri="{FF2B5EF4-FFF2-40B4-BE49-F238E27FC236}">
                <a16:creationId xmlns:a16="http://schemas.microsoft.com/office/drawing/2014/main" id="{12881148-2DD3-D35B-BA7F-D1592DDF5BB7}"/>
              </a:ext>
            </a:extLst>
          </p:cNvPr>
          <p:cNvSpPr txBox="1"/>
          <p:nvPr/>
        </p:nvSpPr>
        <p:spPr bwMode="gray">
          <a:xfrm>
            <a:off x="7165041" y="2437647"/>
            <a:ext cx="1506041" cy="447091"/>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rgbClr val="000000"/>
                </a:solidFill>
                <a:latin typeface="Arial" panose="020B0604020202020204"/>
              </a:rPr>
              <a:t>Future Stock*</a:t>
            </a:r>
          </a:p>
          <a:p>
            <a:pPr algn="ctr" defTabSz="914126">
              <a:defRPr/>
            </a:pPr>
            <a:r>
              <a:rPr lang="en-US" sz="1100">
                <a:solidFill>
                  <a:srgbClr val="000000"/>
                </a:solidFill>
                <a:latin typeface="Arial" panose="020B0604020202020204"/>
              </a:rPr>
              <a:t>(3 Months from Now)</a:t>
            </a:r>
          </a:p>
        </p:txBody>
      </p:sp>
      <p:grpSp>
        <p:nvGrpSpPr>
          <p:cNvPr id="1026" name="Group 1025">
            <a:extLst>
              <a:ext uri="{FF2B5EF4-FFF2-40B4-BE49-F238E27FC236}">
                <a16:creationId xmlns:a16="http://schemas.microsoft.com/office/drawing/2014/main" id="{F0847BBF-E77E-BC1E-388C-2E74FC7D59D3}"/>
              </a:ext>
            </a:extLst>
          </p:cNvPr>
          <p:cNvGrpSpPr/>
          <p:nvPr/>
        </p:nvGrpSpPr>
        <p:grpSpPr>
          <a:xfrm>
            <a:off x="5155126" y="4829748"/>
            <a:ext cx="140859" cy="730950"/>
            <a:chOff x="6145530" y="3464632"/>
            <a:chExt cx="140970" cy="731520"/>
          </a:xfrm>
        </p:grpSpPr>
        <p:cxnSp>
          <p:nvCxnSpPr>
            <p:cNvPr id="1027" name="Straight Connector 1026">
              <a:extLst>
                <a:ext uri="{FF2B5EF4-FFF2-40B4-BE49-F238E27FC236}">
                  <a16:creationId xmlns:a16="http://schemas.microsoft.com/office/drawing/2014/main" id="{8A35EF85-FCB2-FD7D-F81D-4C19482A5564}"/>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1028" name="Straight Connector 1027">
              <a:extLst>
                <a:ext uri="{FF2B5EF4-FFF2-40B4-BE49-F238E27FC236}">
                  <a16:creationId xmlns:a16="http://schemas.microsoft.com/office/drawing/2014/main" id="{F79DAC01-21F7-6C71-F6A1-B4BD40D77902}"/>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19" name="Rectangle: Rounded Corners 18">
            <a:extLst>
              <a:ext uri="{FF2B5EF4-FFF2-40B4-BE49-F238E27FC236}">
                <a16:creationId xmlns:a16="http://schemas.microsoft.com/office/drawing/2014/main" id="{3DAC005B-6731-D507-BBD8-2BD608A9669A}"/>
              </a:ext>
            </a:extLst>
          </p:cNvPr>
          <p:cNvSpPr/>
          <p:nvPr/>
        </p:nvSpPr>
        <p:spPr bwMode="gray">
          <a:xfrm>
            <a:off x="955020" y="1292489"/>
            <a:ext cx="10298228" cy="459254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357" tIns="45679" rIns="91357" bIns="45679"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7" b="1">
              <a:solidFill>
                <a:srgbClr val="0000C9"/>
              </a:solidFill>
              <a:latin typeface="Arial" panose="020B0604020202020204"/>
            </a:endParaRPr>
          </a:p>
        </p:txBody>
      </p:sp>
      <p:grpSp>
        <p:nvGrpSpPr>
          <p:cNvPr id="4" name="Group 3">
            <a:extLst>
              <a:ext uri="{FF2B5EF4-FFF2-40B4-BE49-F238E27FC236}">
                <a16:creationId xmlns:a16="http://schemas.microsoft.com/office/drawing/2014/main" id="{F5F4AB25-0C22-BC62-6036-EF451629F579}"/>
              </a:ext>
            </a:extLst>
          </p:cNvPr>
          <p:cNvGrpSpPr/>
          <p:nvPr/>
        </p:nvGrpSpPr>
        <p:grpSpPr>
          <a:xfrm>
            <a:off x="1077645" y="1304110"/>
            <a:ext cx="649671" cy="538702"/>
            <a:chOff x="1686341" y="1600319"/>
            <a:chExt cx="650178" cy="539122"/>
          </a:xfrm>
        </p:grpSpPr>
        <p:cxnSp>
          <p:nvCxnSpPr>
            <p:cNvPr id="9" name="Straight Connector 8">
              <a:extLst>
                <a:ext uri="{FF2B5EF4-FFF2-40B4-BE49-F238E27FC236}">
                  <a16:creationId xmlns:a16="http://schemas.microsoft.com/office/drawing/2014/main" id="{99D949FA-E719-000F-82ED-1BDD9CEE2376}"/>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1" name="TextBox 10">
              <a:extLst>
                <a:ext uri="{FF2B5EF4-FFF2-40B4-BE49-F238E27FC236}">
                  <a16:creationId xmlns:a16="http://schemas.microsoft.com/office/drawing/2014/main" id="{D942F8C5-43D0-A437-2663-A50A3754F1BE}"/>
                </a:ext>
              </a:extLst>
            </p:cNvPr>
            <p:cNvSpPr txBox="1"/>
            <p:nvPr/>
          </p:nvSpPr>
          <p:spPr bwMode="gray">
            <a:xfrm>
              <a:off x="1686341" y="1600319"/>
              <a:ext cx="650178" cy="539122"/>
            </a:xfrm>
            <a:prstGeom prst="rect">
              <a:avLst/>
            </a:prstGeom>
          </p:spPr>
          <p:txBody>
            <a:bodyPr wrap="none" lIns="45684" tIns="45684" rIns="45684" bIns="45684" rtlCol="0">
              <a:spAutoFit/>
            </a:bodyPr>
            <a:lstStyle/>
            <a:p>
              <a:pPr algn="ctr" defTabSz="914126">
                <a:lnSpc>
                  <a:spcPct val="90000"/>
                </a:lnSpc>
                <a:spcBef>
                  <a:spcPts val="1000"/>
                </a:spcBef>
                <a:defRPr/>
              </a:pPr>
              <a:r>
                <a:rPr lang="en-US" sz="1400">
                  <a:solidFill>
                    <a:srgbClr val="000000"/>
                  </a:solidFill>
                  <a:latin typeface="Arial" panose="020B0604020202020204"/>
                </a:rPr>
                <a:t>Sep’25</a:t>
              </a:r>
            </a:p>
            <a:p>
              <a:pPr algn="ctr" defTabSz="914126">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14" name="Text Placeholder 2">
            <a:extLst>
              <a:ext uri="{FF2B5EF4-FFF2-40B4-BE49-F238E27FC236}">
                <a16:creationId xmlns:a16="http://schemas.microsoft.com/office/drawing/2014/main" id="{55484D0A-D8B6-25FB-5DE2-3507364ABD87}"/>
              </a:ext>
            </a:extLst>
          </p:cNvPr>
          <p:cNvSpPr txBox="1">
            <a:spLocks/>
          </p:cNvSpPr>
          <p:nvPr/>
        </p:nvSpPr>
        <p:spPr bwMode="gray">
          <a:xfrm flipV="1">
            <a:off x="8042424" y="3285523"/>
            <a:ext cx="196474" cy="179908"/>
          </a:xfrm>
          <a:prstGeom prst="rect">
            <a:avLst/>
          </a:prstGeom>
        </p:spPr>
        <p:txBody>
          <a:bodyPr vert="horz" wrap="square" lIns="45684" tIns="27411" rIns="45684" bIns="27411"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defRPr/>
            </a:pPr>
            <a:r>
              <a:rPr lang="en-US">
                <a:solidFill>
                  <a:srgbClr val="FFFFFF"/>
                </a:solidFill>
                <a:latin typeface="Arial" panose="020B0604020202020204"/>
                <a:sym typeface="Wingdings 3" panose="05040102010807070707" pitchFamily="18" charset="2"/>
              </a:rPr>
              <a:t></a:t>
            </a:r>
            <a:endParaRPr lang="en-US">
              <a:solidFill>
                <a:srgbClr val="FFFFFF"/>
              </a:solidFill>
              <a:latin typeface="Arial" panose="020B0604020202020204"/>
            </a:endParaRPr>
          </a:p>
        </p:txBody>
      </p:sp>
      <p:sp>
        <p:nvSpPr>
          <p:cNvPr id="15" name="Text Placeholder 2">
            <a:extLst>
              <a:ext uri="{FF2B5EF4-FFF2-40B4-BE49-F238E27FC236}">
                <a16:creationId xmlns:a16="http://schemas.microsoft.com/office/drawing/2014/main" id="{1DC86E0E-2CE7-3861-A22C-195EE50EA9E6}"/>
              </a:ext>
            </a:extLst>
          </p:cNvPr>
          <p:cNvSpPr txBox="1">
            <a:spLocks/>
          </p:cNvSpPr>
          <p:nvPr/>
        </p:nvSpPr>
        <p:spPr bwMode="gray">
          <a:xfrm flipV="1">
            <a:off x="8012582" y="5096312"/>
            <a:ext cx="196474" cy="179908"/>
          </a:xfrm>
          <a:prstGeom prst="rect">
            <a:avLst/>
          </a:prstGeom>
        </p:spPr>
        <p:txBody>
          <a:bodyPr vert="horz" wrap="square" lIns="45684" tIns="27411" rIns="45684" bIns="27411"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defRPr/>
            </a:pPr>
            <a:r>
              <a:rPr lang="en-US">
                <a:solidFill>
                  <a:srgbClr val="FFFFFF"/>
                </a:solidFill>
                <a:latin typeface="Arial" panose="020B0604020202020204"/>
                <a:sym typeface="Wingdings 3" panose="05040102010807070707" pitchFamily="18" charset="2"/>
              </a:rPr>
              <a:t></a:t>
            </a:r>
            <a:endParaRPr lang="en-US">
              <a:solidFill>
                <a:srgbClr val="FFFFFF"/>
              </a:solidFill>
              <a:latin typeface="Arial" panose="020B0604020202020204"/>
            </a:endParaRPr>
          </a:p>
        </p:txBody>
      </p:sp>
      <p:sp>
        <p:nvSpPr>
          <p:cNvPr id="26" name="TextBox 25">
            <a:extLst>
              <a:ext uri="{FF2B5EF4-FFF2-40B4-BE49-F238E27FC236}">
                <a16:creationId xmlns:a16="http://schemas.microsoft.com/office/drawing/2014/main" id="{C8D4851A-E4A1-7656-81B1-8B35AB855279}"/>
              </a:ext>
            </a:extLst>
          </p:cNvPr>
          <p:cNvSpPr txBox="1"/>
          <p:nvPr/>
        </p:nvSpPr>
        <p:spPr bwMode="gray">
          <a:xfrm>
            <a:off x="1284990" y="725909"/>
            <a:ext cx="10604596" cy="499050"/>
          </a:xfrm>
          <a:prstGeom prst="rect">
            <a:avLst/>
          </a:prstGeom>
        </p:spPr>
        <p:txBody>
          <a:bodyPr wrap="square" lIns="45696" tIns="45696" rIns="45696" bIns="45696" rtlCol="0">
            <a:noAutofit/>
          </a:bodyPr>
          <a:lstStyle/>
          <a:p>
            <a:pPr marL="171348" indent="-171348" defTabSz="914126">
              <a:buFont typeface="Arial" panose="020B0604020202020204" pitchFamily="34" charset="0"/>
              <a:buChar char="•"/>
              <a:defRPr/>
            </a:pPr>
            <a:r>
              <a:rPr lang="en-US" sz="1400">
                <a:solidFill>
                  <a:srgbClr val="FFFFFF">
                    <a:lumMod val="50000"/>
                  </a:srgbClr>
                </a:solidFill>
                <a:latin typeface="Arial" panose="020B0604020202020204"/>
              </a:rPr>
              <a:t>Consideration of future stock remains unchanged after review of *dosing schedules </a:t>
            </a:r>
          </a:p>
        </p:txBody>
      </p:sp>
      <p:sp>
        <p:nvSpPr>
          <p:cNvPr id="3" name="TextBox 2">
            <a:extLst>
              <a:ext uri="{FF2B5EF4-FFF2-40B4-BE49-F238E27FC236}">
                <a16:creationId xmlns:a16="http://schemas.microsoft.com/office/drawing/2014/main" id="{C7675FE0-026B-8A7A-FC88-D5C6FF4E4366}"/>
              </a:ext>
            </a:extLst>
          </p:cNvPr>
          <p:cNvSpPr txBox="1"/>
          <p:nvPr/>
        </p:nvSpPr>
        <p:spPr bwMode="gray">
          <a:xfrm>
            <a:off x="11579312" y="30955"/>
            <a:ext cx="556914" cy="244554"/>
          </a:xfrm>
          <a:prstGeom prst="rect">
            <a:avLst/>
          </a:prstGeom>
        </p:spPr>
        <p:txBody>
          <a:bodyPr wrap="none" lIns="45696" tIns="45696" rIns="45696" bIns="45696"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26">
              <a:lnSpc>
                <a:spcPct val="90000"/>
              </a:lnSpc>
              <a:spcBef>
                <a:spcPts val="1000"/>
              </a:spcBef>
            </a:pPr>
            <a:r>
              <a:rPr lang="en-US" sz="1100" i="1">
                <a:solidFill>
                  <a:srgbClr val="FFFFFF">
                    <a:lumMod val="65000"/>
                  </a:srgbClr>
                </a:solidFill>
                <a:latin typeface="Arial" panose="020B0604020202020204"/>
              </a:rPr>
              <a:t>Topline</a:t>
            </a:r>
          </a:p>
        </p:txBody>
      </p:sp>
      <p:grpSp>
        <p:nvGrpSpPr>
          <p:cNvPr id="25" name="Group 24">
            <a:extLst>
              <a:ext uri="{FF2B5EF4-FFF2-40B4-BE49-F238E27FC236}">
                <a16:creationId xmlns:a16="http://schemas.microsoft.com/office/drawing/2014/main" id="{8B1F2F0C-706B-F9B1-C3AD-3B31E0E3EBDB}"/>
              </a:ext>
            </a:extLst>
          </p:cNvPr>
          <p:cNvGrpSpPr/>
          <p:nvPr/>
        </p:nvGrpSpPr>
        <p:grpSpPr>
          <a:xfrm>
            <a:off x="5155126" y="3174381"/>
            <a:ext cx="140859" cy="730950"/>
            <a:chOff x="6145530" y="3464632"/>
            <a:chExt cx="140970" cy="731520"/>
          </a:xfrm>
        </p:grpSpPr>
        <p:cxnSp>
          <p:nvCxnSpPr>
            <p:cNvPr id="28" name="Straight Connector 27">
              <a:extLst>
                <a:ext uri="{FF2B5EF4-FFF2-40B4-BE49-F238E27FC236}">
                  <a16:creationId xmlns:a16="http://schemas.microsoft.com/office/drawing/2014/main" id="{E3E14D2F-DFF3-3F76-D815-3CB5225FB545}"/>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7949D5D3-874B-9F3C-0A73-C9E04DC0B6FD}"/>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39" name="TextBox 38">
            <a:extLst>
              <a:ext uri="{FF2B5EF4-FFF2-40B4-BE49-F238E27FC236}">
                <a16:creationId xmlns:a16="http://schemas.microsoft.com/office/drawing/2014/main" id="{CE73EF14-F65C-2ACF-6AAE-107E9F8DDC1B}"/>
              </a:ext>
            </a:extLst>
          </p:cNvPr>
          <p:cNvSpPr txBox="1"/>
          <p:nvPr/>
        </p:nvSpPr>
        <p:spPr bwMode="gray">
          <a:xfrm>
            <a:off x="4908104" y="3596932"/>
            <a:ext cx="159575" cy="286082"/>
          </a:xfrm>
          <a:prstGeom prst="rect">
            <a:avLst/>
          </a:prstGeom>
        </p:spPr>
        <p:txBody>
          <a:bodyPr wrap="none" lIns="45696" tIns="45696" rIns="45696" bIns="45696" rtlCol="0">
            <a:spAutoFit/>
          </a:bodyPr>
          <a:lstStyle/>
          <a:p>
            <a:pPr algn="ctr" defTabSz="914126">
              <a:lnSpc>
                <a:spcPct val="90000"/>
              </a:lnSpc>
              <a:spcAft>
                <a:spcPts val="400"/>
              </a:spcAft>
            </a:pPr>
            <a:r>
              <a:rPr lang="en-US" sz="1400" baseline="30000">
                <a:solidFill>
                  <a:srgbClr val="FF0000"/>
                </a:solidFill>
                <a:latin typeface="Arial" panose="020B0604020202020204"/>
              </a:rPr>
              <a:t>†</a:t>
            </a:r>
            <a:endParaRPr lang="en-US" sz="1798" b="1">
              <a:solidFill>
                <a:srgbClr val="FF0000"/>
              </a:solidFill>
              <a:latin typeface="Arial" panose="020B0604020202020204"/>
            </a:endParaRPr>
          </a:p>
        </p:txBody>
      </p:sp>
      <p:sp>
        <p:nvSpPr>
          <p:cNvPr id="36" name="Text Placeholder 2">
            <a:extLst>
              <a:ext uri="{FF2B5EF4-FFF2-40B4-BE49-F238E27FC236}">
                <a16:creationId xmlns:a16="http://schemas.microsoft.com/office/drawing/2014/main" id="{FC372938-A0CA-BCD5-6560-5888619E6A5D}"/>
              </a:ext>
            </a:extLst>
          </p:cNvPr>
          <p:cNvSpPr txBox="1">
            <a:spLocks/>
          </p:cNvSpPr>
          <p:nvPr/>
        </p:nvSpPr>
        <p:spPr bwMode="gray">
          <a:xfrm flipV="1">
            <a:off x="8032028" y="4132871"/>
            <a:ext cx="196474" cy="179908"/>
          </a:xfrm>
          <a:prstGeom prst="rect">
            <a:avLst/>
          </a:prstGeom>
        </p:spPr>
        <p:txBody>
          <a:bodyPr vert="horz" wrap="square" lIns="45684" tIns="27411" rIns="45684" bIns="27411"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defRPr/>
            </a:pPr>
            <a:r>
              <a:rPr lang="en-US">
                <a:solidFill>
                  <a:srgbClr val="FFFFFF"/>
                </a:solidFill>
                <a:latin typeface="Arial" panose="020B0604020202020204"/>
                <a:sym typeface="Wingdings 3" panose="05040102010807070707" pitchFamily="18" charset="2"/>
              </a:rPr>
              <a:t></a:t>
            </a:r>
            <a:endParaRPr lang="en-US">
              <a:solidFill>
                <a:srgbClr val="FFFFFF"/>
              </a:solidFill>
              <a:latin typeface="Arial" panose="020B0604020202020204"/>
            </a:endParaRPr>
          </a:p>
        </p:txBody>
      </p:sp>
      <p:sp>
        <p:nvSpPr>
          <p:cNvPr id="17" name="TextBox 16">
            <a:extLst>
              <a:ext uri="{FF2B5EF4-FFF2-40B4-BE49-F238E27FC236}">
                <a16:creationId xmlns:a16="http://schemas.microsoft.com/office/drawing/2014/main" id="{23905152-869C-D8BD-D0C3-CBF8A6CD8C9F}"/>
              </a:ext>
            </a:extLst>
          </p:cNvPr>
          <p:cNvSpPr txBox="1"/>
          <p:nvPr/>
        </p:nvSpPr>
        <p:spPr bwMode="gray">
          <a:xfrm>
            <a:off x="992401" y="1014670"/>
            <a:ext cx="825049" cy="338114"/>
          </a:xfrm>
          <a:prstGeom prst="rect">
            <a:avLst/>
          </a:prstGeom>
          <a:noFill/>
        </p:spPr>
        <p:txBody>
          <a:bodyPr wrap="none">
            <a:spAutoFit/>
          </a:bodyPr>
          <a:lstStyle/>
          <a:p>
            <a:pPr defTabSz="914126">
              <a:defRPr/>
            </a:pPr>
            <a:r>
              <a:rPr lang="en-US" sz="1600">
                <a:solidFill>
                  <a:srgbClr val="000000"/>
                </a:solidFill>
                <a:latin typeface="Arial" panose="020B0604020202020204"/>
              </a:rPr>
              <a:t>TOTAL</a:t>
            </a:r>
          </a:p>
        </p:txBody>
      </p:sp>
      <p:sp>
        <p:nvSpPr>
          <p:cNvPr id="30" name="TextBox 29">
            <a:extLst>
              <a:ext uri="{FF2B5EF4-FFF2-40B4-BE49-F238E27FC236}">
                <a16:creationId xmlns:a16="http://schemas.microsoft.com/office/drawing/2014/main" id="{2E1BF191-6320-71E0-D01F-F9CABDA276A8}"/>
              </a:ext>
            </a:extLst>
          </p:cNvPr>
          <p:cNvSpPr txBox="1"/>
          <p:nvPr/>
        </p:nvSpPr>
        <p:spPr bwMode="gray">
          <a:xfrm>
            <a:off x="1113506" y="3119409"/>
            <a:ext cx="651377" cy="332225"/>
          </a:xfrm>
          <a:prstGeom prst="rect">
            <a:avLst/>
          </a:prstGeom>
          <a:solidFill>
            <a:schemeClr val="bg1"/>
          </a:solidFill>
          <a:ln w="12700">
            <a:solidFill>
              <a:srgbClr val="937DAD"/>
            </a:solidFill>
            <a:prstDash val="sysDash"/>
          </a:ln>
        </p:spPr>
        <p:txBody>
          <a:bodyPr wrap="none" lIns="27418" tIns="27418" rIns="27418" bIns="27418" rtlCol="0" anchor="ctr" anchorCtr="0">
            <a:spAutoFit/>
          </a:bodyPr>
          <a:lstStyle/>
          <a:p>
            <a:pPr defTabSz="914126">
              <a:defRPr/>
            </a:pPr>
            <a:r>
              <a:rPr lang="en-US" sz="900">
                <a:solidFill>
                  <a:srgbClr val="000000">
                    <a:lumMod val="50000"/>
                    <a:lumOff val="50000"/>
                  </a:srgbClr>
                </a:solidFill>
                <a:latin typeface="Arial" panose="020B0604020202020204"/>
              </a:rPr>
              <a:t>  3%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&lt;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11% </a:t>
            </a:r>
            <a:r>
              <a:rPr lang="en-US" sz="900">
                <a:solidFill>
                  <a:srgbClr val="000000">
                    <a:lumMod val="50000"/>
                    <a:lumOff val="50000"/>
                  </a:srgbClr>
                </a:solidFill>
                <a:latin typeface="Arial" panose="020B0604020202020204"/>
              </a:rPr>
              <a:t>PCP</a:t>
            </a:r>
          </a:p>
        </p:txBody>
      </p:sp>
      <p:sp>
        <p:nvSpPr>
          <p:cNvPr id="29" name="TextBox 28">
            <a:extLst>
              <a:ext uri="{FF2B5EF4-FFF2-40B4-BE49-F238E27FC236}">
                <a16:creationId xmlns:a16="http://schemas.microsoft.com/office/drawing/2014/main" id="{9E898C4B-3047-4582-0BE3-7F1A6A307E60}"/>
              </a:ext>
            </a:extLst>
          </p:cNvPr>
          <p:cNvSpPr txBox="1"/>
          <p:nvPr/>
        </p:nvSpPr>
        <p:spPr bwMode="gray">
          <a:xfrm>
            <a:off x="1041406" y="4226963"/>
            <a:ext cx="723476" cy="332225"/>
          </a:xfrm>
          <a:prstGeom prst="rect">
            <a:avLst/>
          </a:prstGeom>
          <a:solidFill>
            <a:schemeClr val="bg1"/>
          </a:solidFill>
          <a:ln w="12700">
            <a:solidFill>
              <a:srgbClr val="D80065"/>
            </a:solidFill>
            <a:prstDash val="sysDash"/>
          </a:ln>
        </p:spPr>
        <p:txBody>
          <a:bodyPr wrap="none" lIns="27418" tIns="27418" rIns="27418" bIns="27418" rtlCol="0" anchor="ctr" anchorCtr="0">
            <a:spAutoFit/>
          </a:bodyPr>
          <a:lstStyle/>
          <a:p>
            <a:pPr defTabSz="914126">
              <a:defRPr/>
            </a:pPr>
            <a:r>
              <a:rPr lang="en-US" sz="900">
                <a:solidFill>
                  <a:srgbClr val="000000">
                    <a:lumMod val="50000"/>
                    <a:lumOff val="50000"/>
                  </a:srgbClr>
                </a:solidFill>
                <a:latin typeface="Arial" panose="020B0604020202020204"/>
              </a:rPr>
              <a:t>13%</a:t>
            </a:r>
            <a:r>
              <a:rPr lang="en-US" altLang="en-US" sz="900">
                <a:solidFill>
                  <a:srgbClr val="FF0000"/>
                </a:solidFill>
                <a:latin typeface="Arial" panose="020B0604020202020204"/>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PED</a:t>
            </a:r>
            <a:r>
              <a:rPr lang="en-US" sz="9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&lt;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27%   </a:t>
            </a:r>
            <a:r>
              <a:rPr lang="en-US" sz="900">
                <a:solidFill>
                  <a:srgbClr val="000000">
                    <a:lumMod val="50000"/>
                    <a:lumOff val="50000"/>
                  </a:srgbClr>
                </a:solidFill>
                <a:latin typeface="Arial" panose="020B0604020202020204"/>
              </a:rPr>
              <a:t>PCP</a:t>
            </a:r>
          </a:p>
        </p:txBody>
      </p:sp>
      <p:sp>
        <p:nvSpPr>
          <p:cNvPr id="22" name="TextBox 21">
            <a:extLst>
              <a:ext uri="{FF2B5EF4-FFF2-40B4-BE49-F238E27FC236}">
                <a16:creationId xmlns:a16="http://schemas.microsoft.com/office/drawing/2014/main" id="{7C8BD7AF-FC70-71E6-7D9A-B97A4C270C63}"/>
              </a:ext>
            </a:extLst>
          </p:cNvPr>
          <p:cNvSpPr txBox="1"/>
          <p:nvPr/>
        </p:nvSpPr>
        <p:spPr bwMode="gray">
          <a:xfrm>
            <a:off x="1044612" y="4952687"/>
            <a:ext cx="720271" cy="332225"/>
          </a:xfrm>
          <a:prstGeom prst="rect">
            <a:avLst/>
          </a:prstGeom>
          <a:solidFill>
            <a:schemeClr val="bg1"/>
          </a:solidFill>
          <a:ln w="12700">
            <a:solidFill>
              <a:srgbClr val="009CED"/>
            </a:solidFill>
            <a:prstDash val="sysDash"/>
          </a:ln>
        </p:spPr>
        <p:txBody>
          <a:bodyPr wrap="none" lIns="27418" tIns="27418" rIns="27418" bIns="27418" rtlCol="0" anchor="ctr" anchorCtr="0">
            <a:spAutoFit/>
          </a:bodyPr>
          <a:lstStyle/>
          <a:p>
            <a:pPr defTabSz="914126">
              <a:defRPr/>
            </a:pPr>
            <a:r>
              <a:rPr lang="en-US" sz="900">
                <a:solidFill>
                  <a:srgbClr val="000000">
                    <a:lumMod val="50000"/>
                    <a:lumOff val="50000"/>
                  </a:srgbClr>
                </a:solidFill>
                <a:latin typeface="Arial" panose="020B0604020202020204"/>
              </a:rPr>
              <a:t>47%</a:t>
            </a:r>
            <a:r>
              <a:rPr lang="en-US" altLang="en-US" sz="900">
                <a:solidFill>
                  <a:srgbClr val="FF0000"/>
                </a:solidFill>
                <a:latin typeface="Arial" panose="020B0604020202020204"/>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&gt;</a:t>
            </a:r>
            <a:br>
              <a:rPr lang="en-US" sz="8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25%   </a:t>
            </a:r>
            <a:r>
              <a:rPr lang="en-US" sz="900">
                <a:solidFill>
                  <a:srgbClr val="000000">
                    <a:lumMod val="50000"/>
                    <a:lumOff val="50000"/>
                  </a:srgbClr>
                </a:solidFill>
                <a:latin typeface="Arial" panose="020B0604020202020204"/>
              </a:rPr>
              <a:t>PCP</a:t>
            </a:r>
          </a:p>
        </p:txBody>
      </p:sp>
      <p:sp>
        <p:nvSpPr>
          <p:cNvPr id="31" name="TextBox 30">
            <a:extLst>
              <a:ext uri="{FF2B5EF4-FFF2-40B4-BE49-F238E27FC236}">
                <a16:creationId xmlns:a16="http://schemas.microsoft.com/office/drawing/2014/main" id="{908784F2-8005-285C-7990-EAE210C2EA50}"/>
              </a:ext>
            </a:extLst>
          </p:cNvPr>
          <p:cNvSpPr txBox="1"/>
          <p:nvPr/>
        </p:nvSpPr>
        <p:spPr bwMode="gray">
          <a:xfrm>
            <a:off x="8298976" y="3239271"/>
            <a:ext cx="715465" cy="304541"/>
          </a:xfrm>
          <a:prstGeom prst="rect">
            <a:avLst/>
          </a:prstGeom>
          <a:solidFill>
            <a:schemeClr val="bg1"/>
          </a:solidFill>
          <a:ln w="12700">
            <a:solidFill>
              <a:srgbClr val="937DAD"/>
            </a:solidFill>
            <a:prstDash val="sysDash"/>
          </a:ln>
        </p:spPr>
        <p:txBody>
          <a:bodyPr wrap="none" lIns="27418" tIns="27418" rIns="27418" bIns="27418" rtlCol="0" anchor="ctr" anchorCtr="0">
            <a:spAutoFit/>
          </a:bodyPr>
          <a:lstStyle/>
          <a:p>
            <a:pPr defTabSz="914126">
              <a:lnSpc>
                <a:spcPct val="90000"/>
              </a:lnSpc>
              <a:defRPr/>
            </a:pPr>
            <a:r>
              <a:rPr lang="en-US" sz="900">
                <a:solidFill>
                  <a:srgbClr val="000000">
                    <a:lumMod val="50000"/>
                    <a:lumOff val="50000"/>
                  </a:srgbClr>
                </a:solidFill>
                <a:latin typeface="Arial" panose="020B0604020202020204"/>
              </a:rPr>
              <a:t>14%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&lt;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31%   </a:t>
            </a:r>
            <a:r>
              <a:rPr lang="en-US" sz="900">
                <a:solidFill>
                  <a:srgbClr val="000000">
                    <a:lumMod val="50000"/>
                    <a:lumOff val="50000"/>
                  </a:srgbClr>
                </a:solidFill>
                <a:latin typeface="Arial" panose="020B0604020202020204"/>
              </a:rPr>
              <a:t>PCP</a:t>
            </a:r>
          </a:p>
        </p:txBody>
      </p:sp>
      <p:sp>
        <p:nvSpPr>
          <p:cNvPr id="32" name="TextBox 31">
            <a:extLst>
              <a:ext uri="{FF2B5EF4-FFF2-40B4-BE49-F238E27FC236}">
                <a16:creationId xmlns:a16="http://schemas.microsoft.com/office/drawing/2014/main" id="{28025BFD-0428-79E5-4AE8-7E3E8CFC0BEC}"/>
              </a:ext>
            </a:extLst>
          </p:cNvPr>
          <p:cNvSpPr txBox="1"/>
          <p:nvPr/>
        </p:nvSpPr>
        <p:spPr bwMode="gray">
          <a:xfrm>
            <a:off x="8298976" y="5035045"/>
            <a:ext cx="819606" cy="304541"/>
          </a:xfrm>
          <a:prstGeom prst="rect">
            <a:avLst/>
          </a:prstGeom>
          <a:solidFill>
            <a:schemeClr val="bg1"/>
          </a:solidFill>
          <a:ln w="12700">
            <a:solidFill>
              <a:srgbClr val="009CED"/>
            </a:solidFill>
            <a:prstDash val="sysDash"/>
          </a:ln>
        </p:spPr>
        <p:txBody>
          <a:bodyPr wrap="none" lIns="27418" tIns="27418" rIns="27418" bIns="27418" rtlCol="0" anchor="ctr" anchorCtr="0">
            <a:spAutoFit/>
          </a:bodyPr>
          <a:lstStyle/>
          <a:p>
            <a:pPr defTabSz="914126">
              <a:lnSpc>
                <a:spcPct val="90000"/>
              </a:lnSpc>
              <a:defRPr/>
            </a:pPr>
            <a:r>
              <a:rPr lang="en-US" sz="900">
                <a:solidFill>
                  <a:srgbClr val="000000">
                    <a:lumMod val="50000"/>
                    <a:lumOff val="50000"/>
                  </a:srgbClr>
                </a:solidFill>
                <a:latin typeface="Arial" panose="020B0604020202020204"/>
              </a:rPr>
              <a:t>41%   PED</a:t>
            </a:r>
            <a:r>
              <a:rPr lang="en-US" sz="800">
                <a:solidFill>
                  <a:srgbClr val="FF0000"/>
                </a:solidFill>
                <a:latin typeface="Arial" panose="020B0604020202020204"/>
                <a:sym typeface="Wingdings 3" panose="05040102010807070707" pitchFamily="18" charset="2"/>
              </a:rPr>
              <a:t></a:t>
            </a:r>
            <a:r>
              <a:rPr lang="en-US" sz="9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&gt;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22%   </a:t>
            </a:r>
            <a:r>
              <a:rPr lang="en-US" sz="900">
                <a:solidFill>
                  <a:srgbClr val="000000">
                    <a:lumMod val="50000"/>
                    <a:lumOff val="50000"/>
                  </a:srgbClr>
                </a:solidFill>
                <a:latin typeface="Arial" panose="020B0604020202020204"/>
              </a:rPr>
              <a:t>PCP</a:t>
            </a:r>
          </a:p>
        </p:txBody>
      </p:sp>
      <p:sp>
        <p:nvSpPr>
          <p:cNvPr id="38" name="TextBox 37">
            <a:extLst>
              <a:ext uri="{FF2B5EF4-FFF2-40B4-BE49-F238E27FC236}">
                <a16:creationId xmlns:a16="http://schemas.microsoft.com/office/drawing/2014/main" id="{92692A10-D52A-D53F-E829-7156BBC4A617}"/>
              </a:ext>
            </a:extLst>
          </p:cNvPr>
          <p:cNvSpPr txBox="1"/>
          <p:nvPr/>
        </p:nvSpPr>
        <p:spPr bwMode="gray">
          <a:xfrm>
            <a:off x="8298976" y="4152960"/>
            <a:ext cx="393429" cy="179955"/>
          </a:xfrm>
          <a:prstGeom prst="rect">
            <a:avLst/>
          </a:prstGeom>
          <a:solidFill>
            <a:schemeClr val="bg1"/>
          </a:solidFill>
          <a:ln w="12700">
            <a:solidFill>
              <a:srgbClr val="6F002C"/>
            </a:solidFill>
            <a:prstDash val="sysDash"/>
          </a:ln>
        </p:spPr>
        <p:txBody>
          <a:bodyPr wrap="none" lIns="27418" tIns="27418" rIns="27418" bIns="27418" rtlCol="0" anchor="ctr" anchorCtr="0">
            <a:spAutoFit/>
          </a:bodyPr>
          <a:lstStyle/>
          <a:p>
            <a:pPr defTabSz="914126">
              <a:lnSpc>
                <a:spcPct val="90000"/>
              </a:lnSpc>
              <a:defRPr/>
            </a:pPr>
            <a:r>
              <a:rPr lang="en-US" sz="900">
                <a:solidFill>
                  <a:srgbClr val="000000">
                    <a:lumMod val="50000"/>
                    <a:lumOff val="50000"/>
                  </a:srgbClr>
                </a:solidFill>
                <a:latin typeface="Arial" panose="020B0604020202020204"/>
              </a:rPr>
              <a:t>PCP</a:t>
            </a:r>
            <a:r>
              <a:rPr lang="en-US" sz="800">
                <a:solidFill>
                  <a:srgbClr val="FF0000"/>
                </a:solidFill>
                <a:latin typeface="Arial" panose="020B0604020202020204"/>
                <a:sym typeface="Wingdings 3" panose="05040102010807070707" pitchFamily="18" charset="2"/>
              </a:rPr>
              <a:t></a:t>
            </a:r>
            <a:endParaRPr lang="en-US" sz="900">
              <a:solidFill>
                <a:srgbClr val="000000">
                  <a:lumMod val="50000"/>
                  <a:lumOff val="50000"/>
                </a:srgbClr>
              </a:solidFill>
              <a:latin typeface="Arial" panose="020B0604020202020204"/>
            </a:endParaRPr>
          </a:p>
        </p:txBody>
      </p:sp>
      <p:sp>
        <p:nvSpPr>
          <p:cNvPr id="51" name="Text Placeholder 2">
            <a:extLst>
              <a:ext uri="{FF2B5EF4-FFF2-40B4-BE49-F238E27FC236}">
                <a16:creationId xmlns:a16="http://schemas.microsoft.com/office/drawing/2014/main" id="{FFB94CE6-ABB3-7E7C-9AE9-BD63144227A4}"/>
              </a:ext>
            </a:extLst>
          </p:cNvPr>
          <p:cNvSpPr txBox="1">
            <a:spLocks/>
          </p:cNvSpPr>
          <p:nvPr/>
        </p:nvSpPr>
        <p:spPr bwMode="gray">
          <a:xfrm>
            <a:off x="2423472" y="4326142"/>
            <a:ext cx="413108"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r>
              <a:rPr lang="en-US" altLang="en-US">
                <a:solidFill>
                  <a:srgbClr val="FF0000"/>
                </a:solidFill>
                <a:latin typeface="Arial" panose="020B0604020202020204"/>
                <a:cs typeface="Arial" panose="020B0604020202020204" pitchFamily="34" charset="0"/>
                <a:sym typeface="Symbol" pitchFamily="18" charset="2"/>
              </a:rPr>
              <a:t> </a:t>
            </a:r>
            <a:r>
              <a:rPr lang="en-US" altLang="en-US" baseline="30000">
                <a:solidFill>
                  <a:srgbClr val="000000">
                    <a:lumMod val="75000"/>
                    <a:lumOff val="25000"/>
                  </a:srgbClr>
                </a:solidFill>
                <a:latin typeface="Arial" panose="020B0604020202020204"/>
                <a:cs typeface="Arial" panose="020B0604020202020204" pitchFamily="34" charset="0"/>
                <a:sym typeface="Symbol" pitchFamily="18" charset="2"/>
              </a:rPr>
              <a:t>(23%)</a:t>
            </a:r>
            <a:endParaRPr lang="en-US" baseline="30000">
              <a:solidFill>
                <a:srgbClr val="000000">
                  <a:lumMod val="75000"/>
                  <a:lumOff val="25000"/>
                </a:srgbClr>
              </a:solidFill>
              <a:latin typeface="Arial" panose="020B0604020202020204"/>
            </a:endParaRPr>
          </a:p>
        </p:txBody>
      </p:sp>
      <p:sp>
        <p:nvSpPr>
          <p:cNvPr id="52" name="Text Placeholder 2">
            <a:extLst>
              <a:ext uri="{FF2B5EF4-FFF2-40B4-BE49-F238E27FC236}">
                <a16:creationId xmlns:a16="http://schemas.microsoft.com/office/drawing/2014/main" id="{6A99C028-0EC2-D174-914E-3654B1B228D7}"/>
              </a:ext>
            </a:extLst>
          </p:cNvPr>
          <p:cNvSpPr txBox="1">
            <a:spLocks/>
          </p:cNvSpPr>
          <p:nvPr/>
        </p:nvSpPr>
        <p:spPr bwMode="gray">
          <a:xfrm>
            <a:off x="2423472" y="5043521"/>
            <a:ext cx="413108"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r>
              <a:rPr lang="en-US" altLang="en-US">
                <a:solidFill>
                  <a:srgbClr val="FF0000"/>
                </a:solidFill>
                <a:latin typeface="Arial" panose="020B0604020202020204"/>
                <a:cs typeface="Arial" panose="020B0604020202020204" pitchFamily="34" charset="0"/>
                <a:sym typeface="Symbol" pitchFamily="18" charset="2"/>
              </a:rPr>
              <a:t> </a:t>
            </a:r>
            <a:r>
              <a:rPr lang="en-US" altLang="en-US" baseline="30000">
                <a:solidFill>
                  <a:srgbClr val="000000">
                    <a:lumMod val="75000"/>
                    <a:lumOff val="25000"/>
                  </a:srgbClr>
                </a:solidFill>
                <a:latin typeface="Arial" panose="020B0604020202020204"/>
                <a:cs typeface="Arial" panose="020B0604020202020204" pitchFamily="34" charset="0"/>
                <a:sym typeface="Symbol" pitchFamily="18" charset="2"/>
              </a:rPr>
              <a:t>(35%)</a:t>
            </a:r>
            <a:endParaRPr lang="en-US" baseline="30000">
              <a:solidFill>
                <a:srgbClr val="000000">
                  <a:lumMod val="75000"/>
                  <a:lumOff val="25000"/>
                </a:srgbClr>
              </a:solidFill>
              <a:latin typeface="Arial" panose="020B0604020202020204"/>
            </a:endParaRPr>
          </a:p>
        </p:txBody>
      </p:sp>
      <p:grpSp>
        <p:nvGrpSpPr>
          <p:cNvPr id="12" name="Group 11">
            <a:extLst>
              <a:ext uri="{FF2B5EF4-FFF2-40B4-BE49-F238E27FC236}">
                <a16:creationId xmlns:a16="http://schemas.microsoft.com/office/drawing/2014/main" id="{16AFEE66-9DC4-069A-67C1-7DDF8D5BF4FF}"/>
              </a:ext>
            </a:extLst>
          </p:cNvPr>
          <p:cNvGrpSpPr/>
          <p:nvPr/>
        </p:nvGrpSpPr>
        <p:grpSpPr>
          <a:xfrm>
            <a:off x="3730852" y="3046670"/>
            <a:ext cx="272302" cy="2606333"/>
            <a:chOff x="4747099" y="3005848"/>
            <a:chExt cx="272373" cy="2607012"/>
          </a:xfrm>
        </p:grpSpPr>
        <p:sp>
          <p:nvSpPr>
            <p:cNvPr id="21" name="Rectangle 20">
              <a:extLst>
                <a:ext uri="{FF2B5EF4-FFF2-40B4-BE49-F238E27FC236}">
                  <a16:creationId xmlns:a16="http://schemas.microsoft.com/office/drawing/2014/main" id="{D8020DB0-5787-B95A-0A6C-FDC24C43212A}"/>
                </a:ext>
              </a:extLst>
            </p:cNvPr>
            <p:cNvSpPr/>
            <p:nvPr/>
          </p:nvSpPr>
          <p:spPr bwMode="gray">
            <a:xfrm>
              <a:off x="4747099" y="3005848"/>
              <a:ext cx="272373" cy="2607012"/>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b="1">
                <a:solidFill>
                  <a:srgbClr val="0000C9"/>
                </a:solidFill>
                <a:latin typeface="Arial" panose="020B0604020202020204"/>
              </a:endParaRPr>
            </a:p>
          </p:txBody>
        </p:sp>
        <p:grpSp>
          <p:nvGrpSpPr>
            <p:cNvPr id="33" name="Group 32">
              <a:extLst>
                <a:ext uri="{FF2B5EF4-FFF2-40B4-BE49-F238E27FC236}">
                  <a16:creationId xmlns:a16="http://schemas.microsoft.com/office/drawing/2014/main" id="{66B4D8B7-8618-BE92-A8C5-2DAABDFAB5AD}"/>
                </a:ext>
              </a:extLst>
            </p:cNvPr>
            <p:cNvGrpSpPr/>
            <p:nvPr/>
          </p:nvGrpSpPr>
          <p:grpSpPr>
            <a:xfrm>
              <a:off x="4795510" y="3193443"/>
              <a:ext cx="182832" cy="2257472"/>
              <a:chOff x="4887324" y="3225037"/>
              <a:chExt cx="182832" cy="2257472"/>
            </a:xfrm>
          </p:grpSpPr>
          <p:sp>
            <p:nvSpPr>
              <p:cNvPr id="40" name="Oval 39">
                <a:extLst>
                  <a:ext uri="{FF2B5EF4-FFF2-40B4-BE49-F238E27FC236}">
                    <a16:creationId xmlns:a16="http://schemas.microsoft.com/office/drawing/2014/main" id="{A25489BC-6062-B28C-6086-8C1E6E818030}"/>
                  </a:ext>
                </a:extLst>
              </p:cNvPr>
              <p:cNvSpPr/>
              <p:nvPr/>
            </p:nvSpPr>
            <p:spPr bwMode="gray">
              <a:xfrm>
                <a:off x="4887324" y="3225037"/>
                <a:ext cx="182832" cy="182832"/>
              </a:xfrm>
              <a:prstGeom prst="ellipse">
                <a:avLst/>
              </a:prstGeom>
              <a:solidFill>
                <a:srgbClr val="937DA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1" name="Oval 40">
                <a:extLst>
                  <a:ext uri="{FF2B5EF4-FFF2-40B4-BE49-F238E27FC236}">
                    <a16:creationId xmlns:a16="http://schemas.microsoft.com/office/drawing/2014/main" id="{A6B36F3A-2BAF-6067-398A-9369E09AADA3}"/>
                  </a:ext>
                </a:extLst>
              </p:cNvPr>
              <p:cNvSpPr/>
              <p:nvPr/>
            </p:nvSpPr>
            <p:spPr bwMode="gray">
              <a:xfrm>
                <a:off x="4887324" y="4054893"/>
                <a:ext cx="182832" cy="182832"/>
              </a:xfrm>
              <a:prstGeom prst="ellipse">
                <a:avLst/>
              </a:prstGeom>
              <a:solidFill>
                <a:srgbClr val="009F54"/>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2" name="Oval 41">
                <a:extLst>
                  <a:ext uri="{FF2B5EF4-FFF2-40B4-BE49-F238E27FC236}">
                    <a16:creationId xmlns:a16="http://schemas.microsoft.com/office/drawing/2014/main" id="{AD98F719-31A2-2871-FAE8-016B2B40F3B8}"/>
                  </a:ext>
                </a:extLst>
              </p:cNvPr>
              <p:cNvSpPr/>
              <p:nvPr/>
            </p:nvSpPr>
            <p:spPr bwMode="gray">
              <a:xfrm>
                <a:off x="4887324" y="4469821"/>
                <a:ext cx="182832" cy="182832"/>
              </a:xfrm>
              <a:prstGeom prst="ellipse">
                <a:avLst/>
              </a:prstGeom>
              <a:solidFill>
                <a:srgbClr val="6F002C"/>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3" name="Oval 42">
                <a:extLst>
                  <a:ext uri="{FF2B5EF4-FFF2-40B4-BE49-F238E27FC236}">
                    <a16:creationId xmlns:a16="http://schemas.microsoft.com/office/drawing/2014/main" id="{A5903FDB-C97D-926B-7331-E2247BFB8D2B}"/>
                  </a:ext>
                </a:extLst>
              </p:cNvPr>
              <p:cNvSpPr/>
              <p:nvPr/>
            </p:nvSpPr>
            <p:spPr bwMode="gray">
              <a:xfrm>
                <a:off x="4887324" y="4884749"/>
                <a:ext cx="182832" cy="182832"/>
              </a:xfrm>
              <a:prstGeom prst="ellipse">
                <a:avLst/>
              </a:prstGeom>
              <a:solidFill>
                <a:srgbClr val="D80065"/>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4" name="Oval 43">
                <a:extLst>
                  <a:ext uri="{FF2B5EF4-FFF2-40B4-BE49-F238E27FC236}">
                    <a16:creationId xmlns:a16="http://schemas.microsoft.com/office/drawing/2014/main" id="{AE8FF716-FB18-CE10-ABB2-F45273E8ACFA}"/>
                  </a:ext>
                </a:extLst>
              </p:cNvPr>
              <p:cNvSpPr/>
              <p:nvPr/>
            </p:nvSpPr>
            <p:spPr bwMode="gray">
              <a:xfrm>
                <a:off x="4887324" y="5299677"/>
                <a:ext cx="182832" cy="182832"/>
              </a:xfrm>
              <a:prstGeom prst="ellipse">
                <a:avLst/>
              </a:prstGeom>
              <a:solidFill>
                <a:srgbClr val="009CE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45" name="Oval 44">
                <a:extLst>
                  <a:ext uri="{FF2B5EF4-FFF2-40B4-BE49-F238E27FC236}">
                    <a16:creationId xmlns:a16="http://schemas.microsoft.com/office/drawing/2014/main" id="{572493AD-F2CA-3BDC-73DF-7660DC4260D1}"/>
                  </a:ext>
                </a:extLst>
              </p:cNvPr>
              <p:cNvSpPr/>
              <p:nvPr/>
            </p:nvSpPr>
            <p:spPr bwMode="gray">
              <a:xfrm>
                <a:off x="4887324" y="3639965"/>
                <a:ext cx="182832" cy="182832"/>
              </a:xfrm>
              <a:prstGeom prst="ellipse">
                <a:avLst/>
              </a:prstGeom>
              <a:solidFill>
                <a:schemeClr val="accent6">
                  <a:lumMod val="60000"/>
                  <a:lumOff val="40000"/>
                </a:schemeClr>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grpSp>
      <p:graphicFrame>
        <p:nvGraphicFramePr>
          <p:cNvPr id="46" name="Chart 45">
            <a:extLst>
              <a:ext uri="{FF2B5EF4-FFF2-40B4-BE49-F238E27FC236}">
                <a16:creationId xmlns:a16="http://schemas.microsoft.com/office/drawing/2014/main" id="{4ABEE71F-5F7A-FAA9-C9D2-96462DC8CE06}"/>
              </a:ext>
            </a:extLst>
          </p:cNvPr>
          <p:cNvGraphicFramePr/>
          <p:nvPr/>
        </p:nvGraphicFramePr>
        <p:xfrm>
          <a:off x="9391123" y="3010361"/>
          <a:ext cx="1493839" cy="2753074"/>
        </p:xfrm>
        <a:graphic>
          <a:graphicData uri="http://schemas.openxmlformats.org/drawingml/2006/chart">
            <c:chart xmlns:c="http://schemas.openxmlformats.org/drawingml/2006/chart" xmlns:r="http://schemas.openxmlformats.org/officeDocument/2006/relationships" r:id="rId4"/>
          </a:graphicData>
        </a:graphic>
      </p:graphicFrame>
      <p:sp>
        <p:nvSpPr>
          <p:cNvPr id="47" name="TextBox 46">
            <a:extLst>
              <a:ext uri="{FF2B5EF4-FFF2-40B4-BE49-F238E27FC236}">
                <a16:creationId xmlns:a16="http://schemas.microsoft.com/office/drawing/2014/main" id="{DF002E40-C5CA-9CB3-96AC-AADC2DE3EF2C}"/>
              </a:ext>
            </a:extLst>
          </p:cNvPr>
          <p:cNvSpPr txBox="1"/>
          <p:nvPr/>
        </p:nvSpPr>
        <p:spPr bwMode="gray">
          <a:xfrm>
            <a:off x="9401383" y="2437078"/>
            <a:ext cx="1506825" cy="447323"/>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chemeClr val="tx1"/>
                </a:solidFill>
                <a:latin typeface="Arial" panose="020B0604020202020204"/>
              </a:rPr>
              <a:t>Following TPP + Dosing Info*</a:t>
            </a:r>
            <a:endParaRPr lang="en-US" sz="1100">
              <a:solidFill>
                <a:schemeClr val="tx1"/>
              </a:solidFill>
              <a:latin typeface="Arial" panose="020B0604020202020204"/>
            </a:endParaRPr>
          </a:p>
        </p:txBody>
      </p:sp>
      <p:sp>
        <p:nvSpPr>
          <p:cNvPr id="48" name="TextBox 47">
            <a:extLst>
              <a:ext uri="{FF2B5EF4-FFF2-40B4-BE49-F238E27FC236}">
                <a16:creationId xmlns:a16="http://schemas.microsoft.com/office/drawing/2014/main" id="{3D39D7D2-132D-AD34-AC5A-B13D307B5C64}"/>
              </a:ext>
            </a:extLst>
          </p:cNvPr>
          <p:cNvSpPr txBox="1"/>
          <p:nvPr/>
        </p:nvSpPr>
        <p:spPr bwMode="gray">
          <a:xfrm>
            <a:off x="9209596" y="5698134"/>
            <a:ext cx="2454527" cy="8615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defTabSz="914126"/>
            <a:r>
              <a:rPr lang="en-US" sz="1400" b="1" i="1" dirty="0">
                <a:solidFill>
                  <a:srgbClr val="0000C9"/>
                </a:solidFill>
                <a:highlight>
                  <a:srgbClr val="F2F2F2"/>
                </a:highlight>
                <a:latin typeface="Arial" panose="020B0604020202020204"/>
              </a:rPr>
              <a:t>*</a:t>
            </a:r>
            <a:r>
              <a:rPr lang="en-US" sz="1200" i="1" dirty="0">
                <a:solidFill>
                  <a:srgbClr val="0000C9"/>
                </a:solidFill>
                <a:highlight>
                  <a:srgbClr val="F2F2F2"/>
                </a:highlight>
                <a:latin typeface="Arial" panose="020B0604020202020204"/>
              </a:rPr>
              <a:t>Considering Penbraya and Trumenba dosing schedule and that Bexsero now has the same dosing schedule as Trumenba </a:t>
            </a:r>
          </a:p>
        </p:txBody>
      </p:sp>
      <p:sp>
        <p:nvSpPr>
          <p:cNvPr id="55" name="TextBox 54">
            <a:extLst>
              <a:ext uri="{FF2B5EF4-FFF2-40B4-BE49-F238E27FC236}">
                <a16:creationId xmlns:a16="http://schemas.microsoft.com/office/drawing/2014/main" id="{42716ECF-5C98-0446-7B99-95B7509BF32A}"/>
              </a:ext>
            </a:extLst>
          </p:cNvPr>
          <p:cNvSpPr txBox="1"/>
          <p:nvPr/>
        </p:nvSpPr>
        <p:spPr bwMode="gray">
          <a:xfrm>
            <a:off x="10492351" y="5100969"/>
            <a:ext cx="730395" cy="304620"/>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defTabSz="914126">
              <a:lnSpc>
                <a:spcPct val="90000"/>
              </a:lnSpc>
              <a:defRPr/>
            </a:pPr>
            <a:r>
              <a:rPr lang="en-US" sz="900">
                <a:solidFill>
                  <a:srgbClr val="000000">
                    <a:lumMod val="50000"/>
                    <a:lumOff val="50000"/>
                  </a:srgbClr>
                </a:solidFill>
                <a:latin typeface="Arial" panose="020B0604020202020204"/>
              </a:rPr>
              <a:t>39%</a:t>
            </a:r>
            <a:r>
              <a:rPr lang="en-US" altLang="en-US" sz="900">
                <a:solidFill>
                  <a:srgbClr val="FF0000"/>
                </a:solidFill>
                <a:latin typeface="Arial" panose="020B0604020202020204"/>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&gt;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18%   </a:t>
            </a:r>
            <a:r>
              <a:rPr lang="en-US" sz="900">
                <a:solidFill>
                  <a:srgbClr val="000000">
                    <a:lumMod val="50000"/>
                    <a:lumOff val="50000"/>
                  </a:srgbClr>
                </a:solidFill>
                <a:latin typeface="Arial" panose="020B0604020202020204"/>
              </a:rPr>
              <a:t>PCP</a:t>
            </a:r>
          </a:p>
        </p:txBody>
      </p:sp>
      <p:sp>
        <p:nvSpPr>
          <p:cNvPr id="56" name="TextBox 55">
            <a:extLst>
              <a:ext uri="{FF2B5EF4-FFF2-40B4-BE49-F238E27FC236}">
                <a16:creationId xmlns:a16="http://schemas.microsoft.com/office/drawing/2014/main" id="{08FFF674-3ADD-5ED6-3B5A-CEC730181CB3}"/>
              </a:ext>
            </a:extLst>
          </p:cNvPr>
          <p:cNvSpPr txBox="1"/>
          <p:nvPr/>
        </p:nvSpPr>
        <p:spPr bwMode="gray">
          <a:xfrm>
            <a:off x="10492351" y="4132086"/>
            <a:ext cx="730395" cy="304620"/>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defTabSz="914126">
              <a:lnSpc>
                <a:spcPct val="90000"/>
              </a:lnSpc>
              <a:defRPr/>
            </a:pPr>
            <a:r>
              <a:rPr lang="en-US" sz="900">
                <a:solidFill>
                  <a:srgbClr val="000000">
                    <a:lumMod val="50000"/>
                    <a:lumOff val="50000"/>
                  </a:srgbClr>
                </a:solidFill>
                <a:latin typeface="Arial" panose="020B0604020202020204"/>
              </a:rPr>
              <a:t>19%   PED</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&gt;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  9%</a:t>
            </a:r>
            <a:r>
              <a:rPr lang="en-US" altLang="en-US" sz="900">
                <a:solidFill>
                  <a:srgbClr val="FF0000"/>
                </a:solidFill>
                <a:latin typeface="Arial" panose="020B0604020202020204"/>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rPr>
              <a:t>PCP</a:t>
            </a:r>
          </a:p>
        </p:txBody>
      </p:sp>
      <p:sp>
        <p:nvSpPr>
          <p:cNvPr id="57" name="TextBox 56">
            <a:extLst>
              <a:ext uri="{FF2B5EF4-FFF2-40B4-BE49-F238E27FC236}">
                <a16:creationId xmlns:a16="http://schemas.microsoft.com/office/drawing/2014/main" id="{21736629-3989-CD64-1A62-F00593EA20BF}"/>
              </a:ext>
            </a:extLst>
          </p:cNvPr>
          <p:cNvSpPr txBox="1"/>
          <p:nvPr/>
        </p:nvSpPr>
        <p:spPr bwMode="gray">
          <a:xfrm>
            <a:off x="10492351" y="3274558"/>
            <a:ext cx="730395" cy="304620"/>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defTabSz="914126">
              <a:lnSpc>
                <a:spcPct val="90000"/>
              </a:lnSpc>
              <a:defRPr/>
            </a:pPr>
            <a:r>
              <a:rPr lang="en-US" sz="900">
                <a:solidFill>
                  <a:srgbClr val="000000">
                    <a:lumMod val="50000"/>
                    <a:lumOff val="50000"/>
                  </a:srgbClr>
                </a:solidFill>
                <a:latin typeface="Arial" panose="020B0604020202020204"/>
              </a:rPr>
              <a:t>14% PED</a:t>
            </a:r>
            <a:r>
              <a:rPr lang="en-US" sz="900">
                <a:solidFill>
                  <a:srgbClr val="FF0000"/>
                </a:solidFill>
                <a:latin typeface="Arial" panose="020B0604020202020204"/>
                <a:sym typeface="Symbol" panose="05050102010706020507" pitchFamily="18" charset="2"/>
              </a:rPr>
              <a:t></a:t>
            </a:r>
            <a:r>
              <a:rPr lang="en-US" sz="800">
                <a:solidFill>
                  <a:srgbClr val="FF0000"/>
                </a:solidFill>
                <a:latin typeface="Arial" panose="020B0604020202020204"/>
                <a:sym typeface="Wingdings 3" panose="05040102010807070707" pitchFamily="18" charset="2"/>
              </a:rPr>
              <a:t> </a:t>
            </a:r>
            <a:r>
              <a:rPr lang="en-US" sz="900">
                <a:solidFill>
                  <a:srgbClr val="000000">
                    <a:lumMod val="50000"/>
                    <a:lumOff val="50000"/>
                  </a:srgbClr>
                </a:solidFill>
                <a:latin typeface="Arial" panose="020B0604020202020204"/>
                <a:sym typeface="Wingdings 3" panose="05040102010807070707" pitchFamily="18" charset="2"/>
              </a:rPr>
              <a:t>&lt;</a:t>
            </a:r>
            <a:br>
              <a:rPr lang="en-US" sz="900">
                <a:solidFill>
                  <a:srgbClr val="000000">
                    <a:lumMod val="50000"/>
                    <a:lumOff val="50000"/>
                  </a:srgbClr>
                </a:solidFill>
                <a:latin typeface="Arial" panose="020B0604020202020204"/>
                <a:sym typeface="Wingdings 3" panose="05040102010807070707" pitchFamily="18" charset="2"/>
              </a:rPr>
            </a:br>
            <a:r>
              <a:rPr lang="en-US" sz="900">
                <a:solidFill>
                  <a:srgbClr val="000000">
                    <a:lumMod val="50000"/>
                    <a:lumOff val="50000"/>
                  </a:srgbClr>
                </a:solidFill>
                <a:latin typeface="Arial" panose="020B0604020202020204"/>
                <a:sym typeface="Wingdings 3" panose="05040102010807070707" pitchFamily="18" charset="2"/>
              </a:rPr>
              <a:t>35% </a:t>
            </a:r>
            <a:r>
              <a:rPr lang="en-US" sz="900">
                <a:solidFill>
                  <a:srgbClr val="000000">
                    <a:lumMod val="50000"/>
                    <a:lumOff val="50000"/>
                  </a:srgbClr>
                </a:solidFill>
                <a:latin typeface="Arial" panose="020B0604020202020204"/>
              </a:rPr>
              <a:t>PCP</a:t>
            </a:r>
          </a:p>
        </p:txBody>
      </p:sp>
      <p:sp>
        <p:nvSpPr>
          <p:cNvPr id="1031" name="TextBox 1030">
            <a:extLst>
              <a:ext uri="{FF2B5EF4-FFF2-40B4-BE49-F238E27FC236}">
                <a16:creationId xmlns:a16="http://schemas.microsoft.com/office/drawing/2014/main" id="{885F98FA-BD8B-22F2-F7E6-733768C0DECB}"/>
              </a:ext>
            </a:extLst>
          </p:cNvPr>
          <p:cNvSpPr txBox="1"/>
          <p:nvPr/>
        </p:nvSpPr>
        <p:spPr bwMode="gray">
          <a:xfrm>
            <a:off x="1233449" y="2065591"/>
            <a:ext cx="2015363" cy="341495"/>
          </a:xfrm>
          <a:prstGeom prst="rect">
            <a:avLst/>
          </a:prstGeom>
        </p:spPr>
        <p:txBody>
          <a:bodyPr wrap="none" lIns="45684" tIns="45684" rIns="45684" bIns="45684" rtlCol="0">
            <a:spAutoFit/>
          </a:bodyPr>
          <a:lstStyle/>
          <a:p>
            <a:pPr algn="ctr" defTabSz="914126">
              <a:lnSpc>
                <a:spcPct val="90000"/>
              </a:lnSpc>
              <a:spcAft>
                <a:spcPts val="400"/>
              </a:spcAft>
              <a:defRPr/>
            </a:pPr>
            <a:r>
              <a:rPr lang="en-US" sz="1799" b="1">
                <a:solidFill>
                  <a:srgbClr val="0000C9"/>
                </a:solidFill>
                <a:latin typeface="Arial" panose="020B0604020202020204"/>
              </a:rPr>
              <a:t>Prior to any TPPs</a:t>
            </a:r>
            <a:endParaRPr lang="en-US" sz="1000">
              <a:solidFill>
                <a:srgbClr val="FFFFFF">
                  <a:lumMod val="50000"/>
                </a:srgbClr>
              </a:solidFill>
              <a:latin typeface="Arial" panose="020B0604020202020204"/>
            </a:endParaRPr>
          </a:p>
        </p:txBody>
      </p:sp>
      <p:sp>
        <p:nvSpPr>
          <p:cNvPr id="1032" name="TextBox 1031">
            <a:extLst>
              <a:ext uri="{FF2B5EF4-FFF2-40B4-BE49-F238E27FC236}">
                <a16:creationId xmlns:a16="http://schemas.microsoft.com/office/drawing/2014/main" id="{0D07D04E-CE0F-6523-A938-17A744BDD270}"/>
              </a:ext>
            </a:extLst>
          </p:cNvPr>
          <p:cNvSpPr txBox="1"/>
          <p:nvPr/>
        </p:nvSpPr>
        <p:spPr bwMode="gray">
          <a:xfrm>
            <a:off x="7107586" y="1974151"/>
            <a:ext cx="4230906" cy="341431"/>
          </a:xfrm>
          <a:prstGeom prst="rect">
            <a:avLst/>
          </a:prstGeom>
        </p:spPr>
        <p:txBody>
          <a:bodyPr wrap="square" lIns="45684" tIns="45684" rIns="45684" bIns="45684" rtlCol="0">
            <a:spAutoFit/>
          </a:bodyPr>
          <a:lstStyle/>
          <a:p>
            <a:pPr algn="ctr" defTabSz="914126">
              <a:lnSpc>
                <a:spcPct val="90000"/>
              </a:lnSpc>
              <a:spcAft>
                <a:spcPts val="400"/>
              </a:spcAft>
              <a:defRPr/>
            </a:pPr>
            <a:r>
              <a:rPr lang="en-US" sz="1799" b="1" dirty="0">
                <a:solidFill>
                  <a:srgbClr val="0000C9"/>
                </a:solidFill>
                <a:latin typeface="Arial" panose="020B0604020202020204"/>
              </a:rPr>
              <a:t>Following Penbraya TPP</a:t>
            </a:r>
            <a:endParaRPr lang="en-US" sz="1000" dirty="0">
              <a:solidFill>
                <a:srgbClr val="FFFFFF">
                  <a:lumMod val="50000"/>
                </a:srgbClr>
              </a:solidFill>
              <a:latin typeface="Arial" panose="020B0604020202020204"/>
            </a:endParaRPr>
          </a:p>
        </p:txBody>
      </p:sp>
      <p:sp>
        <p:nvSpPr>
          <p:cNvPr id="16" name="TextBox 15">
            <a:extLst>
              <a:ext uri="{FF2B5EF4-FFF2-40B4-BE49-F238E27FC236}">
                <a16:creationId xmlns:a16="http://schemas.microsoft.com/office/drawing/2014/main" id="{0AF1BB47-E154-E7F3-CCCE-92CF656A0F1A}"/>
              </a:ext>
            </a:extLst>
          </p:cNvPr>
          <p:cNvSpPr txBox="1"/>
          <p:nvPr/>
        </p:nvSpPr>
        <p:spPr bwMode="gray">
          <a:xfrm>
            <a:off x="3170042" y="1367167"/>
            <a:ext cx="5848747" cy="531241"/>
          </a:xfrm>
          <a:prstGeom prst="rect">
            <a:avLst/>
          </a:prstGeom>
        </p:spPr>
        <p:txBody>
          <a:bodyPr wrap="none" lIns="45684" tIns="45684" rIns="45684" bIns="45684" rtlCol="0">
            <a:spAutoFit/>
          </a:bodyPr>
          <a:lstStyle/>
          <a:p>
            <a:pPr algn="ctr" defTabSz="914126">
              <a:lnSpc>
                <a:spcPct val="90000"/>
              </a:lnSpc>
              <a:spcAft>
                <a:spcPts val="400"/>
              </a:spcAft>
              <a:defRPr/>
            </a:pPr>
            <a:r>
              <a:rPr lang="en-US" sz="1799" b="1">
                <a:solidFill>
                  <a:srgbClr val="0000C9"/>
                </a:solidFill>
                <a:latin typeface="Arial" panose="020B0604020202020204"/>
              </a:rPr>
              <a:t>Current vs. Future Share of </a:t>
            </a:r>
            <a:r>
              <a:rPr lang="en-US" sz="1797" b="1">
                <a:solidFill>
                  <a:srgbClr val="0000C9"/>
                </a:solidFill>
                <a:latin typeface="Arial" panose="020B0604020202020204"/>
              </a:rPr>
              <a:t>Meningococcal Vx Stock</a:t>
            </a:r>
          </a:p>
          <a:p>
            <a:pPr algn="ctr" defTabSz="914126">
              <a:lnSpc>
                <a:spcPct val="90000"/>
              </a:lnSpc>
              <a:spcAft>
                <a:spcPts val="400"/>
              </a:spcAft>
              <a:defRPr/>
            </a:pPr>
            <a:endParaRPr lang="en-US" sz="1000">
              <a:solidFill>
                <a:srgbClr val="FFFFFF">
                  <a:lumMod val="50000"/>
                </a:srgbClr>
              </a:solidFill>
              <a:latin typeface="Arial" panose="020B0604020202020204"/>
            </a:endParaRPr>
          </a:p>
        </p:txBody>
      </p:sp>
      <p:sp>
        <p:nvSpPr>
          <p:cNvPr id="1036" name="TextBox 1035">
            <a:extLst>
              <a:ext uri="{FF2B5EF4-FFF2-40B4-BE49-F238E27FC236}">
                <a16:creationId xmlns:a16="http://schemas.microsoft.com/office/drawing/2014/main" id="{8A4A92C4-7E12-06C5-B541-F4A4836D6D83}"/>
              </a:ext>
            </a:extLst>
          </p:cNvPr>
          <p:cNvSpPr txBox="1"/>
          <p:nvPr/>
        </p:nvSpPr>
        <p:spPr bwMode="gray">
          <a:xfrm>
            <a:off x="4600991" y="6054387"/>
            <a:ext cx="3064037" cy="216925"/>
          </a:xfrm>
          <a:prstGeom prst="rect">
            <a:avLst/>
          </a:prstGeom>
          <a:noFill/>
        </p:spPr>
        <p:txBody>
          <a:bodyPr wrap="square">
            <a:spAutoFit/>
          </a:bodyPr>
          <a:lstStyle/>
          <a:p>
            <a:pPr defTabSz="914126">
              <a:lnSpc>
                <a:spcPct val="90000"/>
              </a:lnSpc>
              <a:spcBef>
                <a:spcPts val="200"/>
              </a:spcBef>
              <a:buSzPct val="100000"/>
              <a:defRPr/>
            </a:pPr>
            <a:r>
              <a:rPr lang="en-US" sz="900" baseline="30000">
                <a:solidFill>
                  <a:srgbClr val="FF0000"/>
                </a:solidFill>
                <a:latin typeface="Arial" panose="020B0604020202020204"/>
              </a:rPr>
              <a:t>† </a:t>
            </a:r>
            <a:r>
              <a:rPr lang="en-US" sz="900">
                <a:solidFill>
                  <a:srgbClr val="FF0000"/>
                </a:solidFill>
                <a:latin typeface="Arial" panose="020B0604020202020204"/>
              </a:rPr>
              <a:t>Added in Sep‘25 </a:t>
            </a:r>
          </a:p>
        </p:txBody>
      </p:sp>
    </p:spTree>
    <p:extLst>
      <p:ext uri="{BB962C8B-B14F-4D97-AF65-F5344CB8AC3E}">
        <p14:creationId xmlns:p14="http://schemas.microsoft.com/office/powerpoint/2010/main" val="2468969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9" grpId="0" animBg="1"/>
      <p:bldP spid="22" grpId="0" animBg="1"/>
      <p:bldP spid="31" grpId="0" animBg="1"/>
      <p:bldP spid="32" grpId="0" animBg="1"/>
      <p:bldP spid="38" grpId="0" animBg="1"/>
      <p:bldP spid="55" grpId="0" animBg="1"/>
      <p:bldP spid="56" grpId="0" animBg="1"/>
      <p:bldP spid="5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47597-BEC8-9785-6383-346AD60A0970}"/>
            </a:ext>
          </a:extLst>
        </p:cNvPr>
        <p:cNvGrpSpPr/>
        <p:nvPr/>
      </p:nvGrpSpPr>
      <p:grpSpPr>
        <a:xfrm>
          <a:off x="0" y="0"/>
          <a:ext cx="0" cy="0"/>
          <a:chOff x="0" y="0"/>
          <a:chExt cx="0" cy="0"/>
        </a:xfrm>
      </p:grpSpPr>
      <p:graphicFrame>
        <p:nvGraphicFramePr>
          <p:cNvPr id="59" name="Chart 58">
            <a:extLst>
              <a:ext uri="{FF2B5EF4-FFF2-40B4-BE49-F238E27FC236}">
                <a16:creationId xmlns:a16="http://schemas.microsoft.com/office/drawing/2014/main" id="{9A8C5236-62CF-5EDA-7E3D-2AF1CD0B3B26}"/>
              </a:ext>
            </a:extLst>
          </p:cNvPr>
          <p:cNvGraphicFramePr/>
          <p:nvPr/>
        </p:nvGraphicFramePr>
        <p:xfrm>
          <a:off x="4646209" y="3005939"/>
          <a:ext cx="1454162" cy="2592867"/>
        </p:xfrm>
        <a:graphic>
          <a:graphicData uri="http://schemas.openxmlformats.org/drawingml/2006/chart">
            <c:chart xmlns:c="http://schemas.openxmlformats.org/drawingml/2006/chart" xmlns:r="http://schemas.openxmlformats.org/officeDocument/2006/relationships" r:id="rId3"/>
          </a:graphicData>
        </a:graphic>
      </p:graphicFrame>
      <p:sp>
        <p:nvSpPr>
          <p:cNvPr id="5" name="Title 4">
            <a:extLst>
              <a:ext uri="{FF2B5EF4-FFF2-40B4-BE49-F238E27FC236}">
                <a16:creationId xmlns:a16="http://schemas.microsoft.com/office/drawing/2014/main" id="{7BC29FD6-0C6C-5FD1-B899-4DB72B7C297B}"/>
              </a:ext>
            </a:extLst>
          </p:cNvPr>
          <p:cNvSpPr>
            <a:spLocks noGrp="1"/>
          </p:cNvSpPr>
          <p:nvPr>
            <p:ph type="title"/>
          </p:nvPr>
        </p:nvSpPr>
        <p:spPr>
          <a:xfrm>
            <a:off x="1143412" y="171155"/>
            <a:ext cx="11119708" cy="844305"/>
          </a:xfrm>
        </p:spPr>
        <p:txBody>
          <a:bodyPr/>
          <a:lstStyle/>
          <a:p>
            <a:r>
              <a:rPr lang="en-US" dirty="0"/>
              <a:t>Significant growth in future share of Penbraya stock expected in all 3 Tiers – resulting in declining shares of </a:t>
            </a:r>
            <a:r>
              <a:rPr lang="en-US" dirty="0" err="1"/>
              <a:t>MenQuadfi</a:t>
            </a:r>
            <a:r>
              <a:rPr lang="en-US" dirty="0"/>
              <a:t> in Tier 1 and Bexsero in Tiers 2 and 3</a:t>
            </a:r>
            <a:endParaRPr lang="en-US" i="1" dirty="0"/>
          </a:p>
        </p:txBody>
      </p:sp>
      <p:sp>
        <p:nvSpPr>
          <p:cNvPr id="10" name="Text Placeholder 2">
            <a:extLst>
              <a:ext uri="{FF2B5EF4-FFF2-40B4-BE49-F238E27FC236}">
                <a16:creationId xmlns:a16="http://schemas.microsoft.com/office/drawing/2014/main" id="{8F8D5ACC-91C6-E04C-3489-8F9BA3475C56}"/>
              </a:ext>
            </a:extLst>
          </p:cNvPr>
          <p:cNvSpPr>
            <a:spLocks noGrp="1"/>
          </p:cNvSpPr>
          <p:nvPr>
            <p:ph type="body" sz="quarter" idx="16"/>
          </p:nvPr>
        </p:nvSpPr>
        <p:spPr>
          <a:xfrm>
            <a:off x="1572803" y="5870038"/>
            <a:ext cx="9236844" cy="931537"/>
          </a:xfrm>
        </p:spPr>
        <p:txBody>
          <a:bodyPr/>
          <a:lstStyle/>
          <a:p>
            <a:r>
              <a:rPr lang="en-US" baseline="30000" dirty="0">
                <a:solidFill>
                  <a:srgbClr val="FF0000"/>
                </a:solidFill>
              </a:rPr>
              <a:t>† </a:t>
            </a:r>
            <a:r>
              <a:rPr lang="en-US" dirty="0">
                <a:solidFill>
                  <a:srgbClr val="FF0000"/>
                </a:solidFill>
              </a:rPr>
              <a:t>Added in Sep‘25 </a:t>
            </a:r>
          </a:p>
          <a:p>
            <a:r>
              <a:rPr lang="en-US" dirty="0">
                <a:solidFill>
                  <a:srgbClr val="FF0000"/>
                </a:solidFill>
              </a:rPr>
              <a:t>*Caution: small base size </a:t>
            </a:r>
          </a:p>
          <a:p>
            <a:r>
              <a:rPr lang="en-US" dirty="0">
                <a:solidFill>
                  <a:srgbClr val="FF0000"/>
                </a:solidFill>
                <a:sym typeface="Wingdings 3" panose="05040102010807070707" pitchFamily="18" charset="2"/>
              </a:rPr>
              <a:t></a:t>
            </a:r>
            <a:r>
              <a:rPr lang="en-US" dirty="0">
                <a:sym typeface="Wingdings 3" panose="05040102010807070707" pitchFamily="18" charset="2"/>
              </a:rPr>
              <a:t>/</a:t>
            </a:r>
            <a:r>
              <a:rPr lang="en-US" dirty="0">
                <a:solidFill>
                  <a:srgbClr val="FF0000"/>
                </a:solidFill>
                <a:sym typeface="Wingdings 3" panose="05040102010807070707" pitchFamily="18" charset="2"/>
              </a:rPr>
              <a:t></a:t>
            </a:r>
            <a:r>
              <a:rPr lang="en-US" dirty="0">
                <a:sym typeface="Wingdings 3" panose="05040102010807070707" pitchFamily="18" charset="2"/>
              </a:rPr>
              <a:t> = significantly higher/lower than Current Stock</a:t>
            </a:r>
            <a:endParaRPr lang="en-US" dirty="0"/>
          </a:p>
          <a:p>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endParaRPr lang="en-US" dirty="0">
              <a:solidFill>
                <a:srgbClr val="FF0000"/>
              </a:solidFill>
            </a:endParaRPr>
          </a:p>
          <a:p>
            <a:r>
              <a:rPr lang="en-US" dirty="0"/>
              <a:t>C6_1. What percent of your total stock of Meningococcal vaccines does each brand represent? </a:t>
            </a:r>
          </a:p>
          <a:p>
            <a:r>
              <a:rPr lang="en-US" dirty="0"/>
              <a:t>P4. In three months from now, what percent of your total stock of Meningococcal vaccines do you anticipate each brand will represent? </a:t>
            </a:r>
          </a:p>
        </p:txBody>
      </p:sp>
      <p:graphicFrame>
        <p:nvGraphicFramePr>
          <p:cNvPr id="20" name="Chart 19">
            <a:extLst>
              <a:ext uri="{FF2B5EF4-FFF2-40B4-BE49-F238E27FC236}">
                <a16:creationId xmlns:a16="http://schemas.microsoft.com/office/drawing/2014/main" id="{5125B9A1-DB21-0FCD-E2C6-8D5CBC5A2333}"/>
              </a:ext>
            </a:extLst>
          </p:cNvPr>
          <p:cNvGraphicFramePr/>
          <p:nvPr/>
        </p:nvGraphicFramePr>
        <p:xfrm>
          <a:off x="915471" y="2945192"/>
          <a:ext cx="10340463" cy="2753074"/>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0C9887AC-5502-BD9E-401F-BAEA63294581}"/>
              </a:ext>
            </a:extLst>
          </p:cNvPr>
          <p:cNvSpPr txBox="1"/>
          <p:nvPr/>
        </p:nvSpPr>
        <p:spPr bwMode="gray">
          <a:xfrm>
            <a:off x="2492938" y="1359291"/>
            <a:ext cx="7222402" cy="341480"/>
          </a:xfrm>
          <a:prstGeom prst="rect">
            <a:avLst/>
          </a:prstGeom>
        </p:spPr>
        <p:txBody>
          <a:bodyPr wrap="none" lIns="45708" tIns="45708" rIns="45708" bIns="45708" rtlCol="0">
            <a:spAutoFit/>
          </a:bodyPr>
          <a:lstStyle/>
          <a:p>
            <a:pPr algn="ctr" defTabSz="914126">
              <a:lnSpc>
                <a:spcPct val="90000"/>
              </a:lnSpc>
              <a:spcAft>
                <a:spcPts val="400"/>
              </a:spcAft>
              <a:defRPr/>
            </a:pPr>
            <a:r>
              <a:rPr lang="en-US" sz="1799" b="1">
                <a:solidFill>
                  <a:srgbClr val="0000C9"/>
                </a:solidFill>
              </a:rPr>
              <a:t>Current and Anticipated </a:t>
            </a:r>
            <a:r>
              <a:rPr lang="en-US" sz="1799" b="1" u="sng">
                <a:solidFill>
                  <a:srgbClr val="0000C9"/>
                </a:solidFill>
              </a:rPr>
              <a:t>Share</a:t>
            </a:r>
            <a:r>
              <a:rPr lang="en-US" sz="1799" b="1">
                <a:solidFill>
                  <a:srgbClr val="0000C9"/>
                </a:solidFill>
              </a:rPr>
              <a:t> of Total </a:t>
            </a:r>
            <a:r>
              <a:rPr lang="en-US" sz="1797" b="1">
                <a:solidFill>
                  <a:srgbClr val="0000C9"/>
                </a:solidFill>
              </a:rPr>
              <a:t>Meningococcal Vx </a:t>
            </a:r>
            <a:r>
              <a:rPr lang="en-US" sz="1799" b="1">
                <a:solidFill>
                  <a:srgbClr val="0000C9"/>
                </a:solidFill>
              </a:rPr>
              <a:t>Stock *</a:t>
            </a:r>
            <a:endParaRPr lang="en-US" sz="1797" b="1">
              <a:solidFill>
                <a:srgbClr val="0000C9"/>
              </a:solidFill>
            </a:endParaRPr>
          </a:p>
        </p:txBody>
      </p:sp>
      <p:sp>
        <p:nvSpPr>
          <p:cNvPr id="24" name="TextBox 23">
            <a:extLst>
              <a:ext uri="{FF2B5EF4-FFF2-40B4-BE49-F238E27FC236}">
                <a16:creationId xmlns:a16="http://schemas.microsoft.com/office/drawing/2014/main" id="{4D964212-2479-DA4C-9823-F171C75C836F}"/>
              </a:ext>
            </a:extLst>
          </p:cNvPr>
          <p:cNvSpPr txBox="1"/>
          <p:nvPr/>
        </p:nvSpPr>
        <p:spPr bwMode="gray">
          <a:xfrm>
            <a:off x="2092863" y="2085793"/>
            <a:ext cx="1506825" cy="445603"/>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Current Stock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(Past Month)</a:t>
            </a: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7" name="TextBox 36">
            <a:extLst>
              <a:ext uri="{FF2B5EF4-FFF2-40B4-BE49-F238E27FC236}">
                <a16:creationId xmlns:a16="http://schemas.microsoft.com/office/drawing/2014/main" id="{13C62347-32EA-19B7-2893-77D7A0EDC503}"/>
              </a:ext>
            </a:extLst>
          </p:cNvPr>
          <p:cNvSpPr txBox="1"/>
          <p:nvPr/>
        </p:nvSpPr>
        <p:spPr bwMode="gray">
          <a:xfrm>
            <a:off x="8657347" y="2086084"/>
            <a:ext cx="1506825" cy="447323"/>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Future Stock*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(3 Months from Now)</a:t>
            </a:r>
          </a:p>
        </p:txBody>
      </p:sp>
      <p:sp>
        <p:nvSpPr>
          <p:cNvPr id="19" name="Rectangle: Rounded Corners 18">
            <a:extLst>
              <a:ext uri="{FF2B5EF4-FFF2-40B4-BE49-F238E27FC236}">
                <a16:creationId xmlns:a16="http://schemas.microsoft.com/office/drawing/2014/main" id="{8AADC9D3-72E3-7CA2-E0FF-76FB4ACC3C2E}"/>
              </a:ext>
            </a:extLst>
          </p:cNvPr>
          <p:cNvSpPr/>
          <p:nvPr/>
        </p:nvSpPr>
        <p:spPr bwMode="gray">
          <a:xfrm>
            <a:off x="952341" y="1249133"/>
            <a:ext cx="10303594" cy="4462172"/>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BCC6C30F-4000-8AFB-FDAF-34D29D308717}"/>
              </a:ext>
            </a:extLst>
          </p:cNvPr>
          <p:cNvGrpSpPr/>
          <p:nvPr/>
        </p:nvGrpSpPr>
        <p:grpSpPr>
          <a:xfrm>
            <a:off x="1074955" y="1306571"/>
            <a:ext cx="650153" cy="608505"/>
            <a:chOff x="1686269" y="1600319"/>
            <a:chExt cx="650323" cy="608505"/>
          </a:xfrm>
        </p:grpSpPr>
        <p:cxnSp>
          <p:nvCxnSpPr>
            <p:cNvPr id="9" name="Straight Connector 8">
              <a:extLst>
                <a:ext uri="{FF2B5EF4-FFF2-40B4-BE49-F238E27FC236}">
                  <a16:creationId xmlns:a16="http://schemas.microsoft.com/office/drawing/2014/main" id="{401FE14D-4032-FA02-AFAE-2FBE655F298D}"/>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1" name="TextBox 10">
              <a:extLst>
                <a:ext uri="{FF2B5EF4-FFF2-40B4-BE49-F238E27FC236}">
                  <a16:creationId xmlns:a16="http://schemas.microsoft.com/office/drawing/2014/main" id="{7F1E4ECA-248B-9FB4-786B-9DBDA10F7467}"/>
                </a:ext>
              </a:extLst>
            </p:cNvPr>
            <p:cNvSpPr txBox="1"/>
            <p:nvPr/>
          </p:nvSpPr>
          <p:spPr bwMode="gray">
            <a:xfrm>
              <a:off x="1686269" y="1600319"/>
              <a:ext cx="650323" cy="608505"/>
            </a:xfrm>
            <a:prstGeom prst="rect">
              <a:avLst/>
            </a:prstGeom>
          </p:spPr>
          <p:txBody>
            <a:bodyPr wrap="none" lIns="45708" tIns="45708" rIns="45708" bIns="45708"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graphicFrame>
        <p:nvGraphicFramePr>
          <p:cNvPr id="1035" name="Table 1034">
            <a:extLst>
              <a:ext uri="{FF2B5EF4-FFF2-40B4-BE49-F238E27FC236}">
                <a16:creationId xmlns:a16="http://schemas.microsoft.com/office/drawing/2014/main" id="{54F10132-670C-9A9C-735C-9312A13B3ABE}"/>
              </a:ext>
            </a:extLst>
          </p:cNvPr>
          <p:cNvGraphicFramePr>
            <a:graphicFrameLocks noGrp="1"/>
          </p:cNvGraphicFramePr>
          <p:nvPr/>
        </p:nvGraphicFramePr>
        <p:xfrm>
          <a:off x="7765523" y="2692950"/>
          <a:ext cx="3290469" cy="370840"/>
        </p:xfrm>
        <a:graphic>
          <a:graphicData uri="http://schemas.openxmlformats.org/drawingml/2006/table">
            <a:tbl>
              <a:tblPr firstRow="1" bandRow="1">
                <a:tableStyleId>{5C22544A-7EE6-4342-B048-85BDC9FD1C3A}</a:tableStyleId>
              </a:tblPr>
              <a:tblGrid>
                <a:gridCol w="1096823">
                  <a:extLst>
                    <a:ext uri="{9D8B030D-6E8A-4147-A177-3AD203B41FA5}">
                      <a16:colId xmlns:a16="http://schemas.microsoft.com/office/drawing/2014/main" val="1855832237"/>
                    </a:ext>
                  </a:extLst>
                </a:gridCol>
                <a:gridCol w="1096823">
                  <a:extLst>
                    <a:ext uri="{9D8B030D-6E8A-4147-A177-3AD203B41FA5}">
                      <a16:colId xmlns:a16="http://schemas.microsoft.com/office/drawing/2014/main" val="1035005710"/>
                    </a:ext>
                  </a:extLst>
                </a:gridCol>
                <a:gridCol w="1096823">
                  <a:extLst>
                    <a:ext uri="{9D8B030D-6E8A-4147-A177-3AD203B41FA5}">
                      <a16:colId xmlns:a16="http://schemas.microsoft.com/office/drawing/2014/main" val="3708560425"/>
                    </a:ext>
                  </a:extLst>
                </a:gridCol>
              </a:tblGrid>
              <a:tr h="370840">
                <a:tc>
                  <a:txBody>
                    <a:bodyPr/>
                    <a:lstStyle/>
                    <a:p>
                      <a:pPr algn="ct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Tier 1</a:t>
                      </a:r>
                      <a:endParaRPr lang="en-US" baseline="7000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Tier 2</a:t>
                      </a:r>
                      <a:endParaRPr lang="en-US" sz="1000" b="0" baseline="70000">
                        <a:solidFill>
                          <a:srgbClr val="595959"/>
                        </a:solidFill>
                        <a:latin typeface="+mn-l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600" b="1">
                          <a:solidFill>
                            <a:schemeClr val="tx1"/>
                          </a:solidFill>
                          <a:latin typeface="+mn-lt"/>
                        </a:rPr>
                        <a:t>Tier 3</a:t>
                      </a:r>
                      <a:endParaRPr lang="en-US" sz="1800" b="0" baseline="70000">
                        <a:solidFill>
                          <a:schemeClr val="accent2">
                            <a:lumMod val="50000"/>
                          </a:schemeClr>
                        </a:solidFill>
                        <a:latin typeface="+mn-l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43881415"/>
                  </a:ext>
                </a:extLst>
              </a:tr>
            </a:tbl>
          </a:graphicData>
        </a:graphic>
      </p:graphicFrame>
      <p:sp>
        <p:nvSpPr>
          <p:cNvPr id="1037" name="TextBox 1036">
            <a:extLst>
              <a:ext uri="{FF2B5EF4-FFF2-40B4-BE49-F238E27FC236}">
                <a16:creationId xmlns:a16="http://schemas.microsoft.com/office/drawing/2014/main" id="{90CE6C98-5B5F-A616-E047-A288179CDEF5}"/>
              </a:ext>
            </a:extLst>
          </p:cNvPr>
          <p:cNvSpPr txBox="1"/>
          <p:nvPr/>
        </p:nvSpPr>
        <p:spPr bwMode="gray">
          <a:xfrm>
            <a:off x="1036046" y="1015460"/>
            <a:ext cx="670633"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C9"/>
                </a:solidFill>
                <a:effectLst/>
                <a:uLnTx/>
                <a:uFillTx/>
                <a:latin typeface="Arial" panose="020B0604020202020204"/>
                <a:ea typeface="+mn-ea"/>
                <a:cs typeface="+mn-cs"/>
              </a:rPr>
              <a:t>By Tier</a:t>
            </a:r>
          </a:p>
        </p:txBody>
      </p:sp>
      <p:sp>
        <p:nvSpPr>
          <p:cNvPr id="2" name="TextBox 1">
            <a:extLst>
              <a:ext uri="{FF2B5EF4-FFF2-40B4-BE49-F238E27FC236}">
                <a16:creationId xmlns:a16="http://schemas.microsoft.com/office/drawing/2014/main" id="{347B8790-7413-F539-7FDE-AE7419D68489}"/>
              </a:ext>
            </a:extLst>
          </p:cNvPr>
          <p:cNvSpPr txBox="1"/>
          <p:nvPr/>
        </p:nvSpPr>
        <p:spPr bwMode="gray">
          <a:xfrm>
            <a:off x="1060449" y="1646536"/>
            <a:ext cx="848926" cy="466257"/>
          </a:xfrm>
          <a:prstGeom prst="rect">
            <a:avLst/>
          </a:prstGeom>
        </p:spPr>
        <p:txBody>
          <a:bodyPr wrap="none" lIns="45708" tIns="45708" rIns="45708" bIns="45708" rtlCol="0">
            <a:spAutoFit/>
          </a:bodyPr>
          <a:lstStyle/>
          <a:p>
            <a:pPr>
              <a:lnSpc>
                <a:spcPct val="90000"/>
              </a:lnSpc>
              <a:spcBef>
                <a:spcPts val="1000"/>
              </a:spcBef>
              <a:tabLst>
                <a:tab pos="457063" algn="l"/>
              </a:tabLst>
              <a:defRPr/>
            </a:pPr>
            <a:r>
              <a:rPr lang="en-US" sz="900">
                <a:solidFill>
                  <a:srgbClr val="FFFFFF">
                    <a:lumMod val="50000"/>
                  </a:srgbClr>
                </a:solidFill>
                <a:latin typeface="Arial" panose="020B0604020202020204"/>
              </a:rPr>
              <a:t>(n=131)	Tier 1</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(n=40)	Tier 2</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(n=29)</a:t>
            </a:r>
            <a:r>
              <a:rPr lang="en-US" sz="900">
                <a:solidFill>
                  <a:srgbClr val="FF0000"/>
                </a:solidFill>
                <a:latin typeface="Arial" panose="020B0604020202020204"/>
              </a:rPr>
              <a:t>*</a:t>
            </a:r>
            <a:r>
              <a:rPr lang="en-US" sz="900">
                <a:solidFill>
                  <a:srgbClr val="FFFFFF">
                    <a:lumMod val="50000"/>
                  </a:srgbClr>
                </a:solidFill>
                <a:latin typeface="Arial" panose="020B0604020202020204"/>
              </a:rPr>
              <a:t>	Tier 3</a:t>
            </a:r>
          </a:p>
        </p:txBody>
      </p:sp>
      <p:graphicFrame>
        <p:nvGraphicFramePr>
          <p:cNvPr id="12" name="Table 11">
            <a:extLst>
              <a:ext uri="{FF2B5EF4-FFF2-40B4-BE49-F238E27FC236}">
                <a16:creationId xmlns:a16="http://schemas.microsoft.com/office/drawing/2014/main" id="{A084514E-C004-698B-60AC-4F701976067B}"/>
              </a:ext>
            </a:extLst>
          </p:cNvPr>
          <p:cNvGraphicFramePr>
            <a:graphicFrameLocks noGrp="1"/>
          </p:cNvGraphicFramePr>
          <p:nvPr/>
        </p:nvGraphicFramePr>
        <p:xfrm>
          <a:off x="1192003" y="2692950"/>
          <a:ext cx="3290469" cy="370840"/>
        </p:xfrm>
        <a:graphic>
          <a:graphicData uri="http://schemas.openxmlformats.org/drawingml/2006/table">
            <a:tbl>
              <a:tblPr firstRow="1" bandRow="1">
                <a:tableStyleId>{5C22544A-7EE6-4342-B048-85BDC9FD1C3A}</a:tableStyleId>
              </a:tblPr>
              <a:tblGrid>
                <a:gridCol w="1096823">
                  <a:extLst>
                    <a:ext uri="{9D8B030D-6E8A-4147-A177-3AD203B41FA5}">
                      <a16:colId xmlns:a16="http://schemas.microsoft.com/office/drawing/2014/main" val="1855832237"/>
                    </a:ext>
                  </a:extLst>
                </a:gridCol>
                <a:gridCol w="1096823">
                  <a:extLst>
                    <a:ext uri="{9D8B030D-6E8A-4147-A177-3AD203B41FA5}">
                      <a16:colId xmlns:a16="http://schemas.microsoft.com/office/drawing/2014/main" val="1035005710"/>
                    </a:ext>
                  </a:extLst>
                </a:gridCol>
                <a:gridCol w="1096823">
                  <a:extLst>
                    <a:ext uri="{9D8B030D-6E8A-4147-A177-3AD203B41FA5}">
                      <a16:colId xmlns:a16="http://schemas.microsoft.com/office/drawing/2014/main" val="3708560425"/>
                    </a:ext>
                  </a:extLst>
                </a:gridCol>
              </a:tblGrid>
              <a:tr h="370840">
                <a:tc>
                  <a:txBody>
                    <a:bodyPr/>
                    <a:lstStyle/>
                    <a:p>
                      <a:pPr algn="ct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Tier 1</a:t>
                      </a:r>
                      <a:endParaRPr lang="en-US" baseline="7000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Tier 2</a:t>
                      </a:r>
                      <a:endParaRPr lang="en-US" sz="1000" b="0" baseline="70000">
                        <a:solidFill>
                          <a:srgbClr val="595959"/>
                        </a:solidFill>
                        <a:latin typeface="+mn-l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600" b="1">
                          <a:solidFill>
                            <a:schemeClr val="tx1"/>
                          </a:solidFill>
                          <a:latin typeface="+mn-lt"/>
                        </a:rPr>
                        <a:t>Tier 3</a:t>
                      </a:r>
                      <a:endParaRPr lang="en-US" sz="1800" b="0" baseline="70000">
                        <a:solidFill>
                          <a:schemeClr val="accent2">
                            <a:lumMod val="50000"/>
                          </a:schemeClr>
                        </a:solidFill>
                        <a:latin typeface="+mn-lt"/>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43881415"/>
                  </a:ext>
                </a:extLst>
              </a:tr>
            </a:tbl>
          </a:graphicData>
        </a:graphic>
      </p:graphicFrame>
      <p:sp>
        <p:nvSpPr>
          <p:cNvPr id="41" name="TextBox 40">
            <a:extLst>
              <a:ext uri="{FF2B5EF4-FFF2-40B4-BE49-F238E27FC236}">
                <a16:creationId xmlns:a16="http://schemas.microsoft.com/office/drawing/2014/main" id="{AF5149CD-FE5B-7C6F-AF98-938326DE1732}"/>
              </a:ext>
            </a:extLst>
          </p:cNvPr>
          <p:cNvSpPr txBox="1"/>
          <p:nvPr/>
        </p:nvSpPr>
        <p:spPr bwMode="gray">
          <a:xfrm>
            <a:off x="6337126" y="4989877"/>
            <a:ext cx="1219888" cy="33846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MenACWY</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ED407124-C711-EC55-3538-BBD3B3D40761}"/>
              </a:ext>
            </a:extLst>
          </p:cNvPr>
          <p:cNvSpPr txBox="1"/>
          <p:nvPr/>
        </p:nvSpPr>
        <p:spPr bwMode="gray">
          <a:xfrm>
            <a:off x="6337127" y="4155499"/>
            <a:ext cx="742318" cy="33846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MenB</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3" name="TextBox 42">
            <a:extLst>
              <a:ext uri="{FF2B5EF4-FFF2-40B4-BE49-F238E27FC236}">
                <a16:creationId xmlns:a16="http://schemas.microsoft.com/office/drawing/2014/main" id="{1976362A-1CFB-C050-80B2-2D51EE96ADF2}"/>
              </a:ext>
            </a:extLst>
          </p:cNvPr>
          <p:cNvSpPr txBox="1"/>
          <p:nvPr/>
        </p:nvSpPr>
        <p:spPr bwMode="gray">
          <a:xfrm>
            <a:off x="6337126" y="3321121"/>
            <a:ext cx="1367326" cy="33846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MenABCWY</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4" name="Group 43">
            <a:extLst>
              <a:ext uri="{FF2B5EF4-FFF2-40B4-BE49-F238E27FC236}">
                <a16:creationId xmlns:a16="http://schemas.microsoft.com/office/drawing/2014/main" id="{BA6A5B22-8685-601D-B6A9-8AD68F581F80}"/>
              </a:ext>
            </a:extLst>
          </p:cNvPr>
          <p:cNvGrpSpPr/>
          <p:nvPr/>
        </p:nvGrpSpPr>
        <p:grpSpPr>
          <a:xfrm>
            <a:off x="6192838" y="3959067"/>
            <a:ext cx="140970" cy="731330"/>
            <a:chOff x="6145530" y="3464632"/>
            <a:chExt cx="140970" cy="731520"/>
          </a:xfrm>
        </p:grpSpPr>
        <p:cxnSp>
          <p:nvCxnSpPr>
            <p:cNvPr id="45" name="Straight Connector 44">
              <a:extLst>
                <a:ext uri="{FF2B5EF4-FFF2-40B4-BE49-F238E27FC236}">
                  <a16:creationId xmlns:a16="http://schemas.microsoft.com/office/drawing/2014/main" id="{9C157D9B-4795-80BB-2FEC-70426EE60364}"/>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B43B66A1-28BA-1D28-06E4-9F8FFB87C473}"/>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grpSp>
        <p:nvGrpSpPr>
          <p:cNvPr id="47" name="Group 46">
            <a:extLst>
              <a:ext uri="{FF2B5EF4-FFF2-40B4-BE49-F238E27FC236}">
                <a16:creationId xmlns:a16="http://schemas.microsoft.com/office/drawing/2014/main" id="{3815B418-8054-2B11-5176-1B4FE24793E7}"/>
              </a:ext>
            </a:extLst>
          </p:cNvPr>
          <p:cNvGrpSpPr/>
          <p:nvPr/>
        </p:nvGrpSpPr>
        <p:grpSpPr>
          <a:xfrm>
            <a:off x="6192838" y="4793445"/>
            <a:ext cx="140970" cy="731330"/>
            <a:chOff x="6145530" y="3464632"/>
            <a:chExt cx="140970" cy="731520"/>
          </a:xfrm>
        </p:grpSpPr>
        <p:cxnSp>
          <p:nvCxnSpPr>
            <p:cNvPr id="53" name="Straight Connector 52">
              <a:extLst>
                <a:ext uri="{FF2B5EF4-FFF2-40B4-BE49-F238E27FC236}">
                  <a16:creationId xmlns:a16="http://schemas.microsoft.com/office/drawing/2014/main" id="{C5589C7D-9F44-0F17-DB95-BBF0B86B4840}"/>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2B6FDE3-C1EC-5203-4E94-443B929CFB29}"/>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grpSp>
        <p:nvGrpSpPr>
          <p:cNvPr id="55" name="Group 54">
            <a:extLst>
              <a:ext uri="{FF2B5EF4-FFF2-40B4-BE49-F238E27FC236}">
                <a16:creationId xmlns:a16="http://schemas.microsoft.com/office/drawing/2014/main" id="{4321C5B8-191B-422A-7E97-F5336B412772}"/>
              </a:ext>
            </a:extLst>
          </p:cNvPr>
          <p:cNvGrpSpPr/>
          <p:nvPr/>
        </p:nvGrpSpPr>
        <p:grpSpPr>
          <a:xfrm>
            <a:off x="6192838" y="3124689"/>
            <a:ext cx="140970" cy="731330"/>
            <a:chOff x="6145530" y="3464632"/>
            <a:chExt cx="140970" cy="731520"/>
          </a:xfrm>
        </p:grpSpPr>
        <p:cxnSp>
          <p:nvCxnSpPr>
            <p:cNvPr id="56" name="Straight Connector 55">
              <a:extLst>
                <a:ext uri="{FF2B5EF4-FFF2-40B4-BE49-F238E27FC236}">
                  <a16:creationId xmlns:a16="http://schemas.microsoft.com/office/drawing/2014/main" id="{6034E45E-64E8-3A6E-26D6-C0D09ED51E0A}"/>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1FA25A08-A7FF-6863-7FF2-B6D1B04C9FED}"/>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62" name="TextBox 61">
            <a:extLst>
              <a:ext uri="{FF2B5EF4-FFF2-40B4-BE49-F238E27FC236}">
                <a16:creationId xmlns:a16="http://schemas.microsoft.com/office/drawing/2014/main" id="{97098190-B0A1-7AEB-00F6-5D1D25E29B44}"/>
              </a:ext>
            </a:extLst>
          </p:cNvPr>
          <p:cNvSpPr txBox="1"/>
          <p:nvPr/>
        </p:nvSpPr>
        <p:spPr bwMode="gray">
          <a:xfrm>
            <a:off x="5847281" y="3547806"/>
            <a:ext cx="150041" cy="258532"/>
          </a:xfrm>
          <a:prstGeom prst="rect">
            <a:avLst/>
          </a:prstGeom>
        </p:spPr>
        <p:txBody>
          <a:bodyPr wrap="none" lIns="45720" tIns="45720" rIns="45720" bIns="45720" rtlCol="0">
            <a:spAutoFit/>
          </a:bodyPr>
          <a:lstStyle/>
          <a:p>
            <a:pPr algn="ctr">
              <a:lnSpc>
                <a:spcPct val="90000"/>
              </a:lnSpc>
              <a:spcAft>
                <a:spcPts val="400"/>
              </a:spcAft>
            </a:pPr>
            <a:r>
              <a:rPr lang="en-US" sz="1200" baseline="30000">
                <a:solidFill>
                  <a:srgbClr val="FF0000"/>
                </a:solidFill>
              </a:rPr>
              <a:t>†</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923E41A3-73BE-08F7-E167-702FF360A7E9}"/>
              </a:ext>
            </a:extLst>
          </p:cNvPr>
          <p:cNvSpPr txBox="1">
            <a:spLocks/>
          </p:cNvSpPr>
          <p:nvPr/>
        </p:nvSpPr>
        <p:spPr bwMode="gray">
          <a:xfrm>
            <a:off x="2986956" y="3658824"/>
            <a:ext cx="164003"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chemeClr val="bg1"/>
                </a:solidFill>
                <a:cs typeface="Arial" panose="020B0604020202020204" pitchFamily="34" charset="0"/>
                <a:sym typeface="Symbol" pitchFamily="18" charset="2"/>
              </a:rPr>
              <a:t></a:t>
            </a:r>
            <a:endParaRPr lang="en-US">
              <a:solidFill>
                <a:schemeClr val="bg1"/>
              </a:solidFill>
            </a:endParaRPr>
          </a:p>
        </p:txBody>
      </p:sp>
      <p:sp>
        <p:nvSpPr>
          <p:cNvPr id="6" name="Text Placeholder 2">
            <a:extLst>
              <a:ext uri="{FF2B5EF4-FFF2-40B4-BE49-F238E27FC236}">
                <a16:creationId xmlns:a16="http://schemas.microsoft.com/office/drawing/2014/main" id="{92BB5519-38D1-A5CB-45BB-8F6FF1FB040B}"/>
              </a:ext>
            </a:extLst>
          </p:cNvPr>
          <p:cNvSpPr txBox="1">
            <a:spLocks/>
          </p:cNvSpPr>
          <p:nvPr/>
        </p:nvSpPr>
        <p:spPr bwMode="gray">
          <a:xfrm flipV="1">
            <a:off x="1858903" y="3814474"/>
            <a:ext cx="164003"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chemeClr val="bg1"/>
                </a:solidFill>
                <a:cs typeface="Arial" panose="020B0604020202020204" pitchFamily="34" charset="0"/>
                <a:sym typeface="Symbol" pitchFamily="18" charset="2"/>
              </a:rPr>
              <a:t></a:t>
            </a:r>
            <a:endParaRPr lang="en-US">
              <a:solidFill>
                <a:schemeClr val="bg1"/>
              </a:solidFill>
            </a:endParaRPr>
          </a:p>
        </p:txBody>
      </p:sp>
      <p:sp>
        <p:nvSpPr>
          <p:cNvPr id="7" name="Text Placeholder 2">
            <a:extLst>
              <a:ext uri="{FF2B5EF4-FFF2-40B4-BE49-F238E27FC236}">
                <a16:creationId xmlns:a16="http://schemas.microsoft.com/office/drawing/2014/main" id="{B4973CF3-34CD-FB24-CCB8-426193CB9976}"/>
              </a:ext>
            </a:extLst>
          </p:cNvPr>
          <p:cNvSpPr txBox="1">
            <a:spLocks/>
          </p:cNvSpPr>
          <p:nvPr/>
        </p:nvSpPr>
        <p:spPr bwMode="gray">
          <a:xfrm flipV="1">
            <a:off x="1858903" y="4177760"/>
            <a:ext cx="164003"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chemeClr val="bg1"/>
                </a:solidFill>
                <a:cs typeface="Arial" panose="020B0604020202020204" pitchFamily="34" charset="0"/>
                <a:sym typeface="Symbol" pitchFamily="18" charset="2"/>
              </a:rPr>
              <a:t></a:t>
            </a:r>
            <a:endParaRPr lang="en-US">
              <a:solidFill>
                <a:schemeClr val="bg1"/>
              </a:solidFill>
            </a:endParaRPr>
          </a:p>
        </p:txBody>
      </p:sp>
      <p:sp>
        <p:nvSpPr>
          <p:cNvPr id="8" name="Text Placeholder 2">
            <a:extLst>
              <a:ext uri="{FF2B5EF4-FFF2-40B4-BE49-F238E27FC236}">
                <a16:creationId xmlns:a16="http://schemas.microsoft.com/office/drawing/2014/main" id="{97D2CBFC-A940-403C-EEA7-A3224C213E2C}"/>
              </a:ext>
            </a:extLst>
          </p:cNvPr>
          <p:cNvSpPr txBox="1">
            <a:spLocks/>
          </p:cNvSpPr>
          <p:nvPr/>
        </p:nvSpPr>
        <p:spPr bwMode="gray">
          <a:xfrm>
            <a:off x="1890432" y="4937516"/>
            <a:ext cx="164003"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chemeClr val="bg1"/>
                </a:solidFill>
                <a:cs typeface="Arial" panose="020B0604020202020204" pitchFamily="34" charset="0"/>
                <a:sym typeface="Symbol" pitchFamily="18" charset="2"/>
              </a:rPr>
              <a:t></a:t>
            </a:r>
            <a:endParaRPr lang="en-US">
              <a:solidFill>
                <a:schemeClr val="bg1"/>
              </a:solidFill>
            </a:endParaRPr>
          </a:p>
        </p:txBody>
      </p:sp>
      <p:sp>
        <p:nvSpPr>
          <p:cNvPr id="26" name="Text Placeholder 2">
            <a:extLst>
              <a:ext uri="{FF2B5EF4-FFF2-40B4-BE49-F238E27FC236}">
                <a16:creationId xmlns:a16="http://schemas.microsoft.com/office/drawing/2014/main" id="{E7F805E5-4C99-ECF8-88EC-0AD0360052BC}"/>
              </a:ext>
            </a:extLst>
          </p:cNvPr>
          <p:cNvSpPr txBox="1">
            <a:spLocks/>
          </p:cNvSpPr>
          <p:nvPr/>
        </p:nvSpPr>
        <p:spPr bwMode="gray">
          <a:xfrm>
            <a:off x="8450979" y="3215713"/>
            <a:ext cx="204543" cy="180049"/>
          </a:xfrm>
          <a:prstGeom prst="rect">
            <a:avLst/>
          </a:prstGeom>
        </p:spPr>
        <p:txBody>
          <a:bodyPr vert="horz" wrap="non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bg1"/>
                </a:solidFill>
                <a:sym typeface="Wingdings 3" panose="05040102010807070707" pitchFamily="18" charset="2"/>
              </a:rPr>
              <a:t></a:t>
            </a:r>
            <a:endParaRPr lang="en-US">
              <a:solidFill>
                <a:schemeClr val="bg1"/>
              </a:solidFill>
              <a:cs typeface="Arial" panose="020B0604020202020204" pitchFamily="34" charset="0"/>
            </a:endParaRPr>
          </a:p>
        </p:txBody>
      </p:sp>
      <p:sp>
        <p:nvSpPr>
          <p:cNvPr id="27" name="Text Placeholder 2">
            <a:extLst>
              <a:ext uri="{FF2B5EF4-FFF2-40B4-BE49-F238E27FC236}">
                <a16:creationId xmlns:a16="http://schemas.microsoft.com/office/drawing/2014/main" id="{603E6A69-302A-6CA2-A4CA-29892DB590D5}"/>
              </a:ext>
            </a:extLst>
          </p:cNvPr>
          <p:cNvSpPr txBox="1">
            <a:spLocks/>
          </p:cNvSpPr>
          <p:nvPr/>
        </p:nvSpPr>
        <p:spPr bwMode="gray">
          <a:xfrm>
            <a:off x="9547267" y="3290262"/>
            <a:ext cx="204543" cy="180049"/>
          </a:xfrm>
          <a:prstGeom prst="rect">
            <a:avLst/>
          </a:prstGeom>
        </p:spPr>
        <p:txBody>
          <a:bodyPr vert="horz" wrap="non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bg1"/>
                </a:solidFill>
                <a:sym typeface="Wingdings 3" panose="05040102010807070707" pitchFamily="18" charset="2"/>
              </a:rPr>
              <a:t></a:t>
            </a:r>
            <a:endParaRPr lang="en-US">
              <a:solidFill>
                <a:schemeClr val="bg1"/>
              </a:solidFill>
              <a:cs typeface="Arial" panose="020B0604020202020204" pitchFamily="34" charset="0"/>
            </a:endParaRPr>
          </a:p>
        </p:txBody>
      </p:sp>
      <p:sp>
        <p:nvSpPr>
          <p:cNvPr id="28" name="Text Placeholder 2">
            <a:extLst>
              <a:ext uri="{FF2B5EF4-FFF2-40B4-BE49-F238E27FC236}">
                <a16:creationId xmlns:a16="http://schemas.microsoft.com/office/drawing/2014/main" id="{E5CF2E91-B0DC-6D13-4944-64067271A189}"/>
              </a:ext>
            </a:extLst>
          </p:cNvPr>
          <p:cNvSpPr txBox="1">
            <a:spLocks/>
          </p:cNvSpPr>
          <p:nvPr/>
        </p:nvSpPr>
        <p:spPr bwMode="gray">
          <a:xfrm>
            <a:off x="10645744" y="3372608"/>
            <a:ext cx="204543" cy="180049"/>
          </a:xfrm>
          <a:prstGeom prst="rect">
            <a:avLst/>
          </a:prstGeom>
        </p:spPr>
        <p:txBody>
          <a:bodyPr vert="horz" wrap="non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bg1"/>
                </a:solidFill>
                <a:sym typeface="Wingdings 3" panose="05040102010807070707" pitchFamily="18" charset="2"/>
              </a:rPr>
              <a:t></a:t>
            </a:r>
            <a:endParaRPr lang="en-US">
              <a:solidFill>
                <a:schemeClr val="bg1"/>
              </a:solidFill>
              <a:cs typeface="Arial" panose="020B0604020202020204" pitchFamily="34" charset="0"/>
            </a:endParaRPr>
          </a:p>
        </p:txBody>
      </p:sp>
      <p:sp>
        <p:nvSpPr>
          <p:cNvPr id="29" name="Text Placeholder 2">
            <a:extLst>
              <a:ext uri="{FF2B5EF4-FFF2-40B4-BE49-F238E27FC236}">
                <a16:creationId xmlns:a16="http://schemas.microsoft.com/office/drawing/2014/main" id="{EF517A69-8D5C-49A7-457D-0269D0E37D29}"/>
              </a:ext>
            </a:extLst>
          </p:cNvPr>
          <p:cNvSpPr txBox="1">
            <a:spLocks/>
          </p:cNvSpPr>
          <p:nvPr/>
        </p:nvSpPr>
        <p:spPr bwMode="gray">
          <a:xfrm flipV="1">
            <a:off x="10626736" y="4210503"/>
            <a:ext cx="204543" cy="180049"/>
          </a:xfrm>
          <a:prstGeom prst="rect">
            <a:avLst/>
          </a:prstGeom>
        </p:spPr>
        <p:txBody>
          <a:bodyPr vert="horz" wrap="non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bg1"/>
                </a:solidFill>
                <a:sym typeface="Wingdings 3" panose="05040102010807070707" pitchFamily="18" charset="2"/>
              </a:rPr>
              <a:t></a:t>
            </a:r>
            <a:endParaRPr lang="en-US">
              <a:solidFill>
                <a:schemeClr val="bg1"/>
              </a:solidFill>
              <a:cs typeface="Arial" panose="020B0604020202020204" pitchFamily="34" charset="0"/>
            </a:endParaRPr>
          </a:p>
        </p:txBody>
      </p:sp>
      <p:sp>
        <p:nvSpPr>
          <p:cNvPr id="30" name="Text Placeholder 2">
            <a:extLst>
              <a:ext uri="{FF2B5EF4-FFF2-40B4-BE49-F238E27FC236}">
                <a16:creationId xmlns:a16="http://schemas.microsoft.com/office/drawing/2014/main" id="{FDC3EBBC-A89E-F7A9-C066-EC3F5BAB177B}"/>
              </a:ext>
            </a:extLst>
          </p:cNvPr>
          <p:cNvSpPr txBox="1">
            <a:spLocks/>
          </p:cNvSpPr>
          <p:nvPr/>
        </p:nvSpPr>
        <p:spPr bwMode="gray">
          <a:xfrm flipV="1">
            <a:off x="8451870" y="4961919"/>
            <a:ext cx="204543" cy="180049"/>
          </a:xfrm>
          <a:prstGeom prst="rect">
            <a:avLst/>
          </a:prstGeom>
        </p:spPr>
        <p:txBody>
          <a:bodyPr vert="horz" wrap="non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bg1"/>
                </a:solidFill>
                <a:sym typeface="Wingdings 3" panose="05040102010807070707" pitchFamily="18" charset="2"/>
              </a:rPr>
              <a:t></a:t>
            </a:r>
            <a:endParaRPr lang="en-US">
              <a:solidFill>
                <a:schemeClr val="bg1"/>
              </a:solidFill>
              <a:cs typeface="Arial" panose="020B0604020202020204" pitchFamily="34" charset="0"/>
            </a:endParaRPr>
          </a:p>
        </p:txBody>
      </p:sp>
      <p:grpSp>
        <p:nvGrpSpPr>
          <p:cNvPr id="23" name="Group 22">
            <a:extLst>
              <a:ext uri="{FF2B5EF4-FFF2-40B4-BE49-F238E27FC236}">
                <a16:creationId xmlns:a16="http://schemas.microsoft.com/office/drawing/2014/main" id="{4D00BF53-ABBE-FDBE-11BE-C414711324EA}"/>
              </a:ext>
            </a:extLst>
          </p:cNvPr>
          <p:cNvGrpSpPr/>
          <p:nvPr/>
        </p:nvGrpSpPr>
        <p:grpSpPr>
          <a:xfrm>
            <a:off x="4736939" y="3016008"/>
            <a:ext cx="272373" cy="2607012"/>
            <a:chOff x="4747099" y="3005848"/>
            <a:chExt cx="272373" cy="2607012"/>
          </a:xfrm>
        </p:grpSpPr>
        <p:sp>
          <p:nvSpPr>
            <p:cNvPr id="22" name="Rectangle 21">
              <a:extLst>
                <a:ext uri="{FF2B5EF4-FFF2-40B4-BE49-F238E27FC236}">
                  <a16:creationId xmlns:a16="http://schemas.microsoft.com/office/drawing/2014/main" id="{28DC0E2C-3862-0D9E-2284-D114A55A5084}"/>
                </a:ext>
              </a:extLst>
            </p:cNvPr>
            <p:cNvSpPr/>
            <p:nvPr/>
          </p:nvSpPr>
          <p:spPr bwMode="gray">
            <a:xfrm>
              <a:off x="4747099" y="3005848"/>
              <a:ext cx="272373" cy="2607012"/>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33" name="Group 32">
              <a:extLst>
                <a:ext uri="{FF2B5EF4-FFF2-40B4-BE49-F238E27FC236}">
                  <a16:creationId xmlns:a16="http://schemas.microsoft.com/office/drawing/2014/main" id="{1308784B-0876-5D66-E1C8-6121F2B5890A}"/>
                </a:ext>
              </a:extLst>
            </p:cNvPr>
            <p:cNvGrpSpPr/>
            <p:nvPr/>
          </p:nvGrpSpPr>
          <p:grpSpPr>
            <a:xfrm>
              <a:off x="4795510" y="3193443"/>
              <a:ext cx="182832" cy="2257472"/>
              <a:chOff x="4887324" y="3225037"/>
              <a:chExt cx="182832" cy="2257472"/>
            </a:xfrm>
          </p:grpSpPr>
          <p:sp>
            <p:nvSpPr>
              <p:cNvPr id="34" name="Oval 33">
                <a:extLst>
                  <a:ext uri="{FF2B5EF4-FFF2-40B4-BE49-F238E27FC236}">
                    <a16:creationId xmlns:a16="http://schemas.microsoft.com/office/drawing/2014/main" id="{0FDA1032-F60C-9E01-2C0D-53845B5C5A4E}"/>
                  </a:ext>
                </a:extLst>
              </p:cNvPr>
              <p:cNvSpPr/>
              <p:nvPr/>
            </p:nvSpPr>
            <p:spPr bwMode="gray">
              <a:xfrm>
                <a:off x="4887324" y="3225037"/>
                <a:ext cx="182832" cy="182832"/>
              </a:xfrm>
              <a:prstGeom prst="ellipse">
                <a:avLst/>
              </a:prstGeom>
              <a:solidFill>
                <a:srgbClr val="937DAD"/>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35" name="Oval 34">
                <a:extLst>
                  <a:ext uri="{FF2B5EF4-FFF2-40B4-BE49-F238E27FC236}">
                    <a16:creationId xmlns:a16="http://schemas.microsoft.com/office/drawing/2014/main" id="{34B2CDEC-D1C1-6E41-2B0E-EC4D3081FF9F}"/>
                  </a:ext>
                </a:extLst>
              </p:cNvPr>
              <p:cNvSpPr/>
              <p:nvPr/>
            </p:nvSpPr>
            <p:spPr bwMode="gray">
              <a:xfrm>
                <a:off x="4887324" y="4054893"/>
                <a:ext cx="182832" cy="182832"/>
              </a:xfrm>
              <a:prstGeom prst="ellipse">
                <a:avLst/>
              </a:prstGeom>
              <a:solidFill>
                <a:srgbClr val="009F54"/>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36" name="Oval 35">
                <a:extLst>
                  <a:ext uri="{FF2B5EF4-FFF2-40B4-BE49-F238E27FC236}">
                    <a16:creationId xmlns:a16="http://schemas.microsoft.com/office/drawing/2014/main" id="{3A255994-9198-7F3F-E72D-9185DED918F6}"/>
                  </a:ext>
                </a:extLst>
              </p:cNvPr>
              <p:cNvSpPr/>
              <p:nvPr/>
            </p:nvSpPr>
            <p:spPr bwMode="gray">
              <a:xfrm>
                <a:off x="4887324" y="4469821"/>
                <a:ext cx="182832" cy="182832"/>
              </a:xfrm>
              <a:prstGeom prst="ellipse">
                <a:avLst/>
              </a:prstGeom>
              <a:solidFill>
                <a:srgbClr val="6F002C"/>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38" name="Oval 37">
                <a:extLst>
                  <a:ext uri="{FF2B5EF4-FFF2-40B4-BE49-F238E27FC236}">
                    <a16:creationId xmlns:a16="http://schemas.microsoft.com/office/drawing/2014/main" id="{A8859BE0-A88A-220D-4DC0-E36CBBDBBB52}"/>
                  </a:ext>
                </a:extLst>
              </p:cNvPr>
              <p:cNvSpPr/>
              <p:nvPr/>
            </p:nvSpPr>
            <p:spPr bwMode="gray">
              <a:xfrm>
                <a:off x="4887324" y="4884749"/>
                <a:ext cx="182832" cy="182832"/>
              </a:xfrm>
              <a:prstGeom prst="ellipse">
                <a:avLst/>
              </a:prstGeom>
              <a:solidFill>
                <a:srgbClr val="D80065"/>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39" name="Oval 38">
                <a:extLst>
                  <a:ext uri="{FF2B5EF4-FFF2-40B4-BE49-F238E27FC236}">
                    <a16:creationId xmlns:a16="http://schemas.microsoft.com/office/drawing/2014/main" id="{5B9447CB-5C50-FFB6-D773-8AB3C2236FAE}"/>
                  </a:ext>
                </a:extLst>
              </p:cNvPr>
              <p:cNvSpPr/>
              <p:nvPr/>
            </p:nvSpPr>
            <p:spPr bwMode="gray">
              <a:xfrm>
                <a:off x="4887324" y="5299677"/>
                <a:ext cx="182832" cy="182832"/>
              </a:xfrm>
              <a:prstGeom prst="ellipse">
                <a:avLst/>
              </a:prstGeom>
              <a:solidFill>
                <a:srgbClr val="009CED"/>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40" name="Oval 39">
                <a:extLst>
                  <a:ext uri="{FF2B5EF4-FFF2-40B4-BE49-F238E27FC236}">
                    <a16:creationId xmlns:a16="http://schemas.microsoft.com/office/drawing/2014/main" id="{0CC0B013-4978-733C-EBC1-663F18B88BD5}"/>
                  </a:ext>
                </a:extLst>
              </p:cNvPr>
              <p:cNvSpPr/>
              <p:nvPr/>
            </p:nvSpPr>
            <p:spPr bwMode="gray">
              <a:xfrm>
                <a:off x="4887324" y="3639965"/>
                <a:ext cx="182832" cy="182832"/>
              </a:xfrm>
              <a:prstGeom prst="ellipse">
                <a:avLst/>
              </a:prstGeom>
              <a:solidFill>
                <a:schemeClr val="accent6">
                  <a:lumMod val="60000"/>
                  <a:lumOff val="40000"/>
                </a:schemeClr>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grpSp>
      </p:grpSp>
      <p:sp>
        <p:nvSpPr>
          <p:cNvPr id="21" name="TextBox 20">
            <a:extLst>
              <a:ext uri="{FF2B5EF4-FFF2-40B4-BE49-F238E27FC236}">
                <a16:creationId xmlns:a16="http://schemas.microsoft.com/office/drawing/2014/main" id="{1376C66E-8066-48F1-CE4D-D868CDA2144C}"/>
              </a:ext>
            </a:extLst>
          </p:cNvPr>
          <p:cNvSpPr txBox="1"/>
          <p:nvPr/>
        </p:nvSpPr>
        <p:spPr bwMode="gray">
          <a:xfrm>
            <a:off x="129657" y="5667859"/>
            <a:ext cx="6389611" cy="261542"/>
          </a:xfrm>
          <a:prstGeom prst="rect">
            <a:avLst/>
          </a:prstGeom>
          <a:noFill/>
        </p:spPr>
        <p:txBody>
          <a:bodyPr wrap="square">
            <a:spAutoFit/>
          </a:bodyPr>
          <a:lstStyle/>
          <a:p>
            <a:pPr algn="ctr" defTabSz="914126"/>
            <a:r>
              <a:rPr lang="en-US" sz="1100" i="1" dirty="0">
                <a:solidFill>
                  <a:srgbClr val="0000C9"/>
                </a:solidFill>
                <a:highlight>
                  <a:srgbClr val="F2F2F2"/>
                </a:highlight>
                <a:latin typeface="Arial" panose="020B0604020202020204"/>
              </a:rPr>
              <a:t>*After shown Penbraya TPP and ACIP Recommendation</a:t>
            </a:r>
          </a:p>
        </p:txBody>
      </p:sp>
      <p:sp>
        <p:nvSpPr>
          <p:cNvPr id="49" name="Oval 48">
            <a:extLst>
              <a:ext uri="{FF2B5EF4-FFF2-40B4-BE49-F238E27FC236}">
                <a16:creationId xmlns:a16="http://schemas.microsoft.com/office/drawing/2014/main" id="{93637904-9DA8-6942-2DF2-C953F977C114}"/>
              </a:ext>
            </a:extLst>
          </p:cNvPr>
          <p:cNvSpPr/>
          <p:nvPr/>
        </p:nvSpPr>
        <p:spPr bwMode="gray">
          <a:xfrm>
            <a:off x="8016241" y="3124689"/>
            <a:ext cx="626932" cy="337550"/>
          </a:xfrm>
          <a:prstGeom prst="ellipse">
            <a:avLst/>
          </a:prstGeom>
          <a:noFill/>
          <a:ln w="1270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0" name="Oval 49">
            <a:extLst>
              <a:ext uri="{FF2B5EF4-FFF2-40B4-BE49-F238E27FC236}">
                <a16:creationId xmlns:a16="http://schemas.microsoft.com/office/drawing/2014/main" id="{FFBD2A7E-75BB-5941-AE71-065476D75C07}"/>
              </a:ext>
            </a:extLst>
          </p:cNvPr>
          <p:cNvSpPr/>
          <p:nvPr/>
        </p:nvSpPr>
        <p:spPr bwMode="gray">
          <a:xfrm>
            <a:off x="9114970" y="3196964"/>
            <a:ext cx="626932" cy="337550"/>
          </a:xfrm>
          <a:prstGeom prst="ellipse">
            <a:avLst/>
          </a:prstGeom>
          <a:noFill/>
          <a:ln w="1270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1" name="Oval 50">
            <a:extLst>
              <a:ext uri="{FF2B5EF4-FFF2-40B4-BE49-F238E27FC236}">
                <a16:creationId xmlns:a16="http://schemas.microsoft.com/office/drawing/2014/main" id="{E8200D5B-D26A-C5EA-5669-837B76B39171}"/>
              </a:ext>
            </a:extLst>
          </p:cNvPr>
          <p:cNvSpPr/>
          <p:nvPr/>
        </p:nvSpPr>
        <p:spPr bwMode="gray">
          <a:xfrm>
            <a:off x="10220640" y="3291141"/>
            <a:ext cx="626932" cy="337550"/>
          </a:xfrm>
          <a:prstGeom prst="ellipse">
            <a:avLst/>
          </a:prstGeom>
          <a:noFill/>
          <a:ln w="1270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2" name="Oval 51">
            <a:extLst>
              <a:ext uri="{FF2B5EF4-FFF2-40B4-BE49-F238E27FC236}">
                <a16:creationId xmlns:a16="http://schemas.microsoft.com/office/drawing/2014/main" id="{45850CBD-598C-0747-4C74-278F37EAF5CF}"/>
              </a:ext>
            </a:extLst>
          </p:cNvPr>
          <p:cNvSpPr/>
          <p:nvPr/>
        </p:nvSpPr>
        <p:spPr bwMode="gray">
          <a:xfrm>
            <a:off x="8015462" y="4883635"/>
            <a:ext cx="626932" cy="337550"/>
          </a:xfrm>
          <a:prstGeom prst="ellipse">
            <a:avLst/>
          </a:prstGeom>
          <a:noFill/>
          <a:ln w="1270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8" name="Oval 57">
            <a:extLst>
              <a:ext uri="{FF2B5EF4-FFF2-40B4-BE49-F238E27FC236}">
                <a16:creationId xmlns:a16="http://schemas.microsoft.com/office/drawing/2014/main" id="{D88A3DF0-C049-B672-DF07-283882752CC6}"/>
              </a:ext>
            </a:extLst>
          </p:cNvPr>
          <p:cNvSpPr/>
          <p:nvPr/>
        </p:nvSpPr>
        <p:spPr bwMode="gray">
          <a:xfrm>
            <a:off x="10213195" y="4149596"/>
            <a:ext cx="626932" cy="337550"/>
          </a:xfrm>
          <a:prstGeom prst="ellipse">
            <a:avLst/>
          </a:prstGeom>
          <a:noFill/>
          <a:ln w="1270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3" name="Oval 12">
            <a:extLst>
              <a:ext uri="{FF2B5EF4-FFF2-40B4-BE49-F238E27FC236}">
                <a16:creationId xmlns:a16="http://schemas.microsoft.com/office/drawing/2014/main" id="{C1A07E64-60CE-F61B-1F56-764001A48BFD}"/>
              </a:ext>
            </a:extLst>
          </p:cNvPr>
          <p:cNvSpPr/>
          <p:nvPr/>
        </p:nvSpPr>
        <p:spPr bwMode="gray">
          <a:xfrm>
            <a:off x="9092879" y="3970874"/>
            <a:ext cx="626932" cy="337550"/>
          </a:xfrm>
          <a:prstGeom prst="ellipse">
            <a:avLst/>
          </a:prstGeom>
          <a:noFill/>
          <a:ln w="1270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Tree>
    <p:extLst>
      <p:ext uri="{BB962C8B-B14F-4D97-AF65-F5344CB8AC3E}">
        <p14:creationId xmlns:p14="http://schemas.microsoft.com/office/powerpoint/2010/main" val="334346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F47597-BEC8-9785-6383-346AD60A097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A2B42A3-9420-ED8F-1C69-FABD2419A5DF}"/>
              </a:ext>
            </a:extLst>
          </p:cNvPr>
          <p:cNvSpPr>
            <a:spLocks noGrp="1"/>
          </p:cNvSpPr>
          <p:nvPr>
            <p:ph type="title"/>
          </p:nvPr>
        </p:nvSpPr>
        <p:spPr>
          <a:xfrm>
            <a:off x="1143412" y="172005"/>
            <a:ext cx="10408991" cy="849950"/>
          </a:xfrm>
        </p:spPr>
        <p:txBody>
          <a:bodyPr/>
          <a:lstStyle/>
          <a:p>
            <a:r>
              <a:rPr lang="en-US" dirty="0"/>
              <a:t>Penbraya Stockers anticipate a slight uptake in share of stock in three months (28%-39%), and 13% of Non-Stockers plan to adopt (depleting some share of Bexsero and </a:t>
            </a:r>
            <a:r>
              <a:rPr lang="en-US" dirty="0" err="1"/>
              <a:t>MenQuadfi</a:t>
            </a:r>
            <a:r>
              <a:rPr lang="en-US" dirty="0"/>
              <a:t>)</a:t>
            </a:r>
          </a:p>
        </p:txBody>
      </p:sp>
      <p:sp>
        <p:nvSpPr>
          <p:cNvPr id="17" name="Text Placeholder 16">
            <a:extLst>
              <a:ext uri="{FF2B5EF4-FFF2-40B4-BE49-F238E27FC236}">
                <a16:creationId xmlns:a16="http://schemas.microsoft.com/office/drawing/2014/main" id="{0AAAA896-B3F6-4520-BF96-F4EA7825F2B0}"/>
              </a:ext>
            </a:extLst>
          </p:cNvPr>
          <p:cNvSpPr>
            <a:spLocks noGrp="1"/>
          </p:cNvSpPr>
          <p:nvPr>
            <p:ph type="body" sz="quarter" idx="16"/>
          </p:nvPr>
        </p:nvSpPr>
        <p:spPr>
          <a:xfrm>
            <a:off x="1572803" y="5961968"/>
            <a:ext cx="9236844" cy="781037"/>
          </a:xfrm>
        </p:spPr>
        <p:txBody>
          <a:bodyPr/>
          <a:lstStyle/>
          <a:p>
            <a:r>
              <a:rPr lang="en-US">
                <a:solidFill>
                  <a:srgbClr val="FF0000"/>
                </a:solidFill>
              </a:rPr>
              <a:t>† Added in Sep‘25 </a:t>
            </a:r>
          </a:p>
          <a:p>
            <a:r>
              <a:rPr lang="en-US">
                <a:solidFill>
                  <a:srgbClr val="FF0000"/>
                </a:solidFill>
                <a:sym typeface="Wingdings 3" panose="05040102010807070707" pitchFamily="18" charset="2"/>
              </a:rPr>
              <a:t></a:t>
            </a:r>
            <a:r>
              <a:rPr lang="en-US">
                <a:sym typeface="Wingdings 3" panose="05040102010807070707" pitchFamily="18" charset="2"/>
              </a:rPr>
              <a:t>/</a:t>
            </a:r>
            <a:r>
              <a:rPr lang="en-US">
                <a:solidFill>
                  <a:srgbClr val="FF0000"/>
                </a:solidFill>
                <a:sym typeface="Wingdings 3" panose="05040102010807070707" pitchFamily="18" charset="2"/>
              </a:rPr>
              <a:t></a:t>
            </a:r>
            <a:r>
              <a:rPr lang="en-US">
                <a:sym typeface="Wingdings 3" panose="05040102010807070707" pitchFamily="18" charset="2"/>
              </a:rPr>
              <a:t> = significantly higher/lower than Current Stock</a:t>
            </a:r>
            <a:endParaRPr lang="en-US"/>
          </a:p>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r>
              <a:rPr lang="en-US"/>
              <a:t>C6_1. What percent of your total stock of Meningococcal vaccines does each brand represent? </a:t>
            </a:r>
          </a:p>
          <a:p>
            <a:r>
              <a:rPr lang="en-US"/>
              <a:t>P4. In three months from now, what percent of your total stock of Meningococcal vaccines do you anticipate each brand will represent? </a:t>
            </a:r>
          </a:p>
        </p:txBody>
      </p:sp>
      <p:sp>
        <p:nvSpPr>
          <p:cNvPr id="49" name="Rectangle: Rounded Corners 48">
            <a:extLst>
              <a:ext uri="{FF2B5EF4-FFF2-40B4-BE49-F238E27FC236}">
                <a16:creationId xmlns:a16="http://schemas.microsoft.com/office/drawing/2014/main" id="{2A928847-8907-81D7-CD09-C352A924A308}"/>
              </a:ext>
            </a:extLst>
          </p:cNvPr>
          <p:cNvSpPr/>
          <p:nvPr/>
        </p:nvSpPr>
        <p:spPr bwMode="gray">
          <a:xfrm>
            <a:off x="955020" y="1625995"/>
            <a:ext cx="10298228" cy="4244601"/>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357" tIns="45679" rIns="91357" bIns="45679"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7" b="1">
              <a:solidFill>
                <a:srgbClr val="0000C9"/>
              </a:solidFill>
              <a:latin typeface="Arial" panose="020B0604020202020204"/>
            </a:endParaRPr>
          </a:p>
        </p:txBody>
      </p:sp>
      <p:graphicFrame>
        <p:nvGraphicFramePr>
          <p:cNvPr id="60" name="Chart 59">
            <a:extLst>
              <a:ext uri="{FF2B5EF4-FFF2-40B4-BE49-F238E27FC236}">
                <a16:creationId xmlns:a16="http://schemas.microsoft.com/office/drawing/2014/main" id="{956E8D97-4D99-AD9A-1EE3-B7B13BDB86F6}"/>
              </a:ext>
            </a:extLst>
          </p:cNvPr>
          <p:cNvGraphicFramePr/>
          <p:nvPr/>
        </p:nvGraphicFramePr>
        <p:xfrm>
          <a:off x="861209" y="3132846"/>
          <a:ext cx="3762050" cy="2751640"/>
        </p:xfrm>
        <a:graphic>
          <a:graphicData uri="http://schemas.openxmlformats.org/drawingml/2006/chart">
            <c:chart xmlns:c="http://schemas.openxmlformats.org/drawingml/2006/chart" xmlns:r="http://schemas.openxmlformats.org/officeDocument/2006/relationships" r:id="rId3"/>
          </a:graphicData>
        </a:graphic>
      </p:graphicFrame>
      <p:sp>
        <p:nvSpPr>
          <p:cNvPr id="61" name="TextBox 60">
            <a:extLst>
              <a:ext uri="{FF2B5EF4-FFF2-40B4-BE49-F238E27FC236}">
                <a16:creationId xmlns:a16="http://schemas.microsoft.com/office/drawing/2014/main" id="{47FA796A-02D0-E9B7-A28B-275312332EAB}"/>
              </a:ext>
            </a:extLst>
          </p:cNvPr>
          <p:cNvSpPr txBox="1"/>
          <p:nvPr/>
        </p:nvSpPr>
        <p:spPr bwMode="gray">
          <a:xfrm>
            <a:off x="1104842" y="2775852"/>
            <a:ext cx="1506041" cy="445371"/>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rgbClr val="000000"/>
                </a:solidFill>
                <a:latin typeface="Arial" panose="020B0604020202020204"/>
              </a:rPr>
              <a:t>Current Stock</a:t>
            </a:r>
          </a:p>
          <a:p>
            <a:pPr algn="ctr" defTabSz="914126">
              <a:defRPr/>
            </a:pPr>
            <a:r>
              <a:rPr lang="en-US" sz="1100">
                <a:solidFill>
                  <a:srgbClr val="000000"/>
                </a:solidFill>
                <a:latin typeface="Arial" panose="020B0604020202020204"/>
              </a:rPr>
              <a:t>(Past Month)</a:t>
            </a:r>
            <a:endParaRPr lang="en-US" sz="1400">
              <a:solidFill>
                <a:srgbClr val="000000"/>
              </a:solidFill>
              <a:latin typeface="Arial" panose="020B0604020202020204"/>
            </a:endParaRPr>
          </a:p>
        </p:txBody>
      </p:sp>
      <p:sp>
        <p:nvSpPr>
          <p:cNvPr id="62" name="TextBox 61">
            <a:extLst>
              <a:ext uri="{FF2B5EF4-FFF2-40B4-BE49-F238E27FC236}">
                <a16:creationId xmlns:a16="http://schemas.microsoft.com/office/drawing/2014/main" id="{13C08603-3807-34C0-13A7-EEB6709C06B3}"/>
              </a:ext>
            </a:extLst>
          </p:cNvPr>
          <p:cNvSpPr txBox="1"/>
          <p:nvPr/>
        </p:nvSpPr>
        <p:spPr bwMode="gray">
          <a:xfrm>
            <a:off x="2924605" y="2776141"/>
            <a:ext cx="1506041" cy="447091"/>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rgbClr val="000000"/>
                </a:solidFill>
                <a:latin typeface="Arial" panose="020B0604020202020204"/>
              </a:rPr>
              <a:t>Future Stock*</a:t>
            </a:r>
          </a:p>
          <a:p>
            <a:pPr algn="ctr" defTabSz="914126">
              <a:defRPr/>
            </a:pPr>
            <a:r>
              <a:rPr lang="en-US" sz="1100">
                <a:solidFill>
                  <a:srgbClr val="000000"/>
                </a:solidFill>
                <a:latin typeface="Arial" panose="020B0604020202020204"/>
              </a:rPr>
              <a:t>(3 Months from Now)</a:t>
            </a:r>
          </a:p>
        </p:txBody>
      </p:sp>
      <p:graphicFrame>
        <p:nvGraphicFramePr>
          <p:cNvPr id="66" name="Table 3">
            <a:extLst>
              <a:ext uri="{FF2B5EF4-FFF2-40B4-BE49-F238E27FC236}">
                <a16:creationId xmlns:a16="http://schemas.microsoft.com/office/drawing/2014/main" id="{645C1351-76B9-AE8D-528F-00051BA8F72E}"/>
              </a:ext>
            </a:extLst>
          </p:cNvPr>
          <p:cNvGraphicFramePr>
            <a:graphicFrameLocks noGrp="1"/>
          </p:cNvGraphicFramePr>
          <p:nvPr/>
        </p:nvGraphicFramePr>
        <p:xfrm>
          <a:off x="1104841" y="2186493"/>
          <a:ext cx="3336429" cy="325334"/>
        </p:xfrm>
        <a:graphic>
          <a:graphicData uri="http://schemas.openxmlformats.org/drawingml/2006/table">
            <a:tbl>
              <a:tblPr firstRow="1" bandRow="1">
                <a:tableStyleId>{5C22544A-7EE6-4342-B048-85BDC9FD1C3A}</a:tableStyleId>
              </a:tblPr>
              <a:tblGrid>
                <a:gridCol w="3336429">
                  <a:extLst>
                    <a:ext uri="{9D8B030D-6E8A-4147-A177-3AD203B41FA5}">
                      <a16:colId xmlns:a16="http://schemas.microsoft.com/office/drawing/2014/main" val="2733787592"/>
                    </a:ext>
                  </a:extLst>
                </a:gridCol>
              </a:tblGrid>
              <a:tr h="325334">
                <a:tc>
                  <a:txBody>
                    <a:bodyPr/>
                    <a:lstStyle/>
                    <a:p>
                      <a:pPr algn="ctr"/>
                      <a:r>
                        <a:rPr lang="en-US" sz="1400" b="1" dirty="0">
                          <a:solidFill>
                            <a:schemeClr val="tx1"/>
                          </a:solidFill>
                        </a:rPr>
                        <a:t>Current Penbraya Stockers</a:t>
                      </a:r>
                    </a:p>
                  </a:txBody>
                  <a:tcPr marL="0" marR="0" marT="4566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1968976"/>
                  </a:ext>
                </a:extLst>
              </a:tr>
            </a:tbl>
          </a:graphicData>
        </a:graphic>
      </p:graphicFrame>
      <p:graphicFrame>
        <p:nvGraphicFramePr>
          <p:cNvPr id="71" name="Chart 70">
            <a:extLst>
              <a:ext uri="{FF2B5EF4-FFF2-40B4-BE49-F238E27FC236}">
                <a16:creationId xmlns:a16="http://schemas.microsoft.com/office/drawing/2014/main" id="{932118A4-5497-F3B8-7999-486CD179C93B}"/>
              </a:ext>
            </a:extLst>
          </p:cNvPr>
          <p:cNvGraphicFramePr/>
          <p:nvPr/>
        </p:nvGraphicFramePr>
        <p:xfrm>
          <a:off x="7516324" y="3127758"/>
          <a:ext cx="3762050" cy="27516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4" name="Table 3">
            <a:extLst>
              <a:ext uri="{FF2B5EF4-FFF2-40B4-BE49-F238E27FC236}">
                <a16:creationId xmlns:a16="http://schemas.microsoft.com/office/drawing/2014/main" id="{502C5343-5B91-E80A-9505-F207D9BB2A76}"/>
              </a:ext>
            </a:extLst>
          </p:cNvPr>
          <p:cNvGraphicFramePr>
            <a:graphicFrameLocks noGrp="1"/>
          </p:cNvGraphicFramePr>
          <p:nvPr/>
        </p:nvGraphicFramePr>
        <p:xfrm>
          <a:off x="7741856" y="2181405"/>
          <a:ext cx="3325803" cy="325334"/>
        </p:xfrm>
        <a:graphic>
          <a:graphicData uri="http://schemas.openxmlformats.org/drawingml/2006/table">
            <a:tbl>
              <a:tblPr firstRow="1" bandRow="1">
                <a:tableStyleId>{5C22544A-7EE6-4342-B048-85BDC9FD1C3A}</a:tableStyleId>
              </a:tblPr>
              <a:tblGrid>
                <a:gridCol w="3325803">
                  <a:extLst>
                    <a:ext uri="{9D8B030D-6E8A-4147-A177-3AD203B41FA5}">
                      <a16:colId xmlns:a16="http://schemas.microsoft.com/office/drawing/2014/main" val="2733787592"/>
                    </a:ext>
                  </a:extLst>
                </a:gridCol>
              </a:tblGrid>
              <a:tr h="325334">
                <a:tc>
                  <a:txBody>
                    <a:bodyPr/>
                    <a:lstStyle/>
                    <a:p>
                      <a:pPr algn="ctr"/>
                      <a:r>
                        <a:rPr lang="en-US" sz="1400" b="1" dirty="0">
                          <a:solidFill>
                            <a:schemeClr val="tx1"/>
                          </a:solidFill>
                        </a:rPr>
                        <a:t>Penbraya Non-Stockers</a:t>
                      </a:r>
                    </a:p>
                  </a:txBody>
                  <a:tcPr marL="0" marR="0" marT="4566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1968976"/>
                  </a:ext>
                </a:extLst>
              </a:tr>
            </a:tbl>
          </a:graphicData>
        </a:graphic>
      </p:graphicFrame>
      <p:graphicFrame>
        <p:nvGraphicFramePr>
          <p:cNvPr id="75" name="Chart 74">
            <a:extLst>
              <a:ext uri="{FF2B5EF4-FFF2-40B4-BE49-F238E27FC236}">
                <a16:creationId xmlns:a16="http://schemas.microsoft.com/office/drawing/2014/main" id="{730644EF-39B2-2944-E5E6-DDEA874129A3}"/>
              </a:ext>
            </a:extLst>
          </p:cNvPr>
          <p:cNvGraphicFramePr/>
          <p:nvPr/>
        </p:nvGraphicFramePr>
        <p:xfrm>
          <a:off x="4676689" y="3249779"/>
          <a:ext cx="1454162" cy="2592867"/>
        </p:xfrm>
        <a:graphic>
          <a:graphicData uri="http://schemas.openxmlformats.org/drawingml/2006/chart">
            <c:chart xmlns:c="http://schemas.openxmlformats.org/drawingml/2006/chart" xmlns:r="http://schemas.openxmlformats.org/officeDocument/2006/relationships" r:id="rId5"/>
          </a:graphicData>
        </a:graphic>
      </p:graphicFrame>
      <p:grpSp>
        <p:nvGrpSpPr>
          <p:cNvPr id="104" name="Group 103">
            <a:extLst>
              <a:ext uri="{FF2B5EF4-FFF2-40B4-BE49-F238E27FC236}">
                <a16:creationId xmlns:a16="http://schemas.microsoft.com/office/drawing/2014/main" id="{B722A32D-3D0B-051E-7CEC-8F36ECA83663}"/>
              </a:ext>
            </a:extLst>
          </p:cNvPr>
          <p:cNvGrpSpPr/>
          <p:nvPr/>
        </p:nvGrpSpPr>
        <p:grpSpPr>
          <a:xfrm>
            <a:off x="1077645" y="1683401"/>
            <a:ext cx="649671" cy="608056"/>
            <a:chOff x="1686341" y="1600319"/>
            <a:chExt cx="650178" cy="608372"/>
          </a:xfrm>
        </p:grpSpPr>
        <p:cxnSp>
          <p:nvCxnSpPr>
            <p:cNvPr id="105" name="Straight Connector 104">
              <a:extLst>
                <a:ext uri="{FF2B5EF4-FFF2-40B4-BE49-F238E27FC236}">
                  <a16:creationId xmlns:a16="http://schemas.microsoft.com/office/drawing/2014/main" id="{2F0DBB9C-C003-AC16-C759-7204EBA5DC11}"/>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06" name="TextBox 105">
              <a:extLst>
                <a:ext uri="{FF2B5EF4-FFF2-40B4-BE49-F238E27FC236}">
                  <a16:creationId xmlns:a16="http://schemas.microsoft.com/office/drawing/2014/main" id="{BAB41C07-7B51-00A5-8BA4-86123769076C}"/>
                </a:ext>
              </a:extLst>
            </p:cNvPr>
            <p:cNvSpPr txBox="1"/>
            <p:nvPr/>
          </p:nvSpPr>
          <p:spPr bwMode="gray">
            <a:xfrm>
              <a:off x="1686341" y="1600319"/>
              <a:ext cx="650178" cy="608372"/>
            </a:xfrm>
            <a:prstGeom prst="rect">
              <a:avLst/>
            </a:prstGeom>
          </p:spPr>
          <p:txBody>
            <a:bodyPr wrap="none" lIns="45684" tIns="45684" rIns="45684" bIns="45684" rtlCol="0">
              <a:spAutoFit/>
            </a:bodyPr>
            <a:lstStyle/>
            <a:p>
              <a:pPr algn="ctr" defTabSz="914126">
                <a:lnSpc>
                  <a:spcPct val="90000"/>
                </a:lnSpc>
                <a:spcBef>
                  <a:spcPts val="1000"/>
                </a:spcBef>
                <a:defRPr/>
              </a:pPr>
              <a:r>
                <a:rPr lang="en-US" sz="1400">
                  <a:solidFill>
                    <a:srgbClr val="000000"/>
                  </a:solidFill>
                  <a:latin typeface="Arial" panose="020B0604020202020204"/>
                </a:rPr>
                <a:t>Sep’25</a:t>
              </a:r>
            </a:p>
            <a:p>
              <a:pPr algn="ctr" defTabSz="914126">
                <a:lnSpc>
                  <a:spcPct val="90000"/>
                </a:lnSpc>
                <a:spcBef>
                  <a:spcPts val="1000"/>
                </a:spcBef>
                <a:defRPr/>
              </a:pPr>
              <a:endParaRPr lang="en-US" sz="1400">
                <a:solidFill>
                  <a:srgbClr val="FFFFFF">
                    <a:lumMod val="50000"/>
                  </a:srgbClr>
                </a:solidFill>
                <a:latin typeface="Arial" panose="020B0604020202020204"/>
              </a:endParaRPr>
            </a:p>
          </p:txBody>
        </p:sp>
      </p:grpSp>
      <p:sp>
        <p:nvSpPr>
          <p:cNvPr id="111" name="TextBox 110">
            <a:extLst>
              <a:ext uri="{FF2B5EF4-FFF2-40B4-BE49-F238E27FC236}">
                <a16:creationId xmlns:a16="http://schemas.microsoft.com/office/drawing/2014/main" id="{DE2F8479-636E-0F99-A2D0-F2B11B350C43}"/>
              </a:ext>
            </a:extLst>
          </p:cNvPr>
          <p:cNvSpPr txBox="1"/>
          <p:nvPr/>
        </p:nvSpPr>
        <p:spPr bwMode="gray">
          <a:xfrm>
            <a:off x="7741856" y="2777134"/>
            <a:ext cx="1506041" cy="445371"/>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rgbClr val="000000"/>
                </a:solidFill>
                <a:latin typeface="Arial" panose="020B0604020202020204"/>
              </a:rPr>
              <a:t>Current Stock</a:t>
            </a:r>
          </a:p>
          <a:p>
            <a:pPr algn="ctr" defTabSz="914126">
              <a:defRPr/>
            </a:pPr>
            <a:r>
              <a:rPr lang="en-US" sz="1100">
                <a:solidFill>
                  <a:srgbClr val="000000"/>
                </a:solidFill>
                <a:latin typeface="Arial" panose="020B0604020202020204"/>
              </a:rPr>
              <a:t>(Past Month)</a:t>
            </a:r>
            <a:endParaRPr lang="en-US" sz="1400">
              <a:solidFill>
                <a:srgbClr val="000000"/>
              </a:solidFill>
              <a:latin typeface="Arial" panose="020B0604020202020204"/>
            </a:endParaRPr>
          </a:p>
        </p:txBody>
      </p:sp>
      <p:sp>
        <p:nvSpPr>
          <p:cNvPr id="112" name="TextBox 111">
            <a:extLst>
              <a:ext uri="{FF2B5EF4-FFF2-40B4-BE49-F238E27FC236}">
                <a16:creationId xmlns:a16="http://schemas.microsoft.com/office/drawing/2014/main" id="{8D77349F-F1E2-D94A-B2BA-F25E0B2DC28F}"/>
              </a:ext>
            </a:extLst>
          </p:cNvPr>
          <p:cNvSpPr txBox="1"/>
          <p:nvPr/>
        </p:nvSpPr>
        <p:spPr bwMode="gray">
          <a:xfrm>
            <a:off x="9561620" y="2777424"/>
            <a:ext cx="1506041" cy="447091"/>
          </a:xfrm>
          <a:prstGeom prst="rect">
            <a:avLst/>
          </a:prstGeom>
          <a:solidFill>
            <a:schemeClr val="bg1">
              <a:lumMod val="95000"/>
            </a:schemeClr>
          </a:solidFill>
          <a:ln w="9525">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square" anchor="ctr">
            <a:noAutofit/>
          </a:bodyPr>
          <a:lstStyle/>
          <a:p>
            <a:pPr algn="ctr" defTabSz="914126">
              <a:defRPr/>
            </a:pPr>
            <a:r>
              <a:rPr lang="en-US" sz="1400" b="1">
                <a:solidFill>
                  <a:srgbClr val="000000"/>
                </a:solidFill>
                <a:latin typeface="Arial" panose="020B0604020202020204"/>
              </a:rPr>
              <a:t>Future Stock*</a:t>
            </a:r>
          </a:p>
          <a:p>
            <a:pPr algn="ctr" defTabSz="914126">
              <a:defRPr/>
            </a:pPr>
            <a:r>
              <a:rPr lang="en-US" sz="1100">
                <a:solidFill>
                  <a:srgbClr val="000000"/>
                </a:solidFill>
                <a:latin typeface="Arial" panose="020B0604020202020204"/>
              </a:rPr>
              <a:t>(3 Months from Now)</a:t>
            </a:r>
          </a:p>
        </p:txBody>
      </p:sp>
      <p:sp>
        <p:nvSpPr>
          <p:cNvPr id="126" name="TextBox 125">
            <a:extLst>
              <a:ext uri="{FF2B5EF4-FFF2-40B4-BE49-F238E27FC236}">
                <a16:creationId xmlns:a16="http://schemas.microsoft.com/office/drawing/2014/main" id="{0E7FB180-429F-2B0B-6DD4-EE5E820CDC0D}"/>
              </a:ext>
            </a:extLst>
          </p:cNvPr>
          <p:cNvSpPr txBox="1"/>
          <p:nvPr/>
        </p:nvSpPr>
        <p:spPr bwMode="gray">
          <a:xfrm>
            <a:off x="2558696" y="2433389"/>
            <a:ext cx="428716" cy="230688"/>
          </a:xfrm>
          <a:prstGeom prst="rect">
            <a:avLst/>
          </a:prstGeom>
        </p:spPr>
        <p:txBody>
          <a:bodyPr wrap="none" lIns="45684" tIns="45684" rIns="45684" bIns="45684" rtlCol="0">
            <a:spAutoFit/>
          </a:bodyPr>
          <a:lstStyle/>
          <a:p>
            <a:pPr algn="ctr" defTabSz="914126">
              <a:defRPr/>
            </a:pPr>
            <a:r>
              <a:rPr lang="en-US" sz="900">
                <a:solidFill>
                  <a:srgbClr val="FFFFFF">
                    <a:lumMod val="50000"/>
                  </a:srgbClr>
                </a:solidFill>
                <a:latin typeface="Arial" panose="020B0604020202020204"/>
              </a:rPr>
              <a:t>(n=34)</a:t>
            </a:r>
            <a:endParaRPr lang="en-US" sz="1400">
              <a:solidFill>
                <a:srgbClr val="FFFFFF">
                  <a:lumMod val="50000"/>
                </a:srgbClr>
              </a:solidFill>
              <a:latin typeface="Arial" panose="020B0604020202020204"/>
            </a:endParaRPr>
          </a:p>
        </p:txBody>
      </p:sp>
      <p:sp>
        <p:nvSpPr>
          <p:cNvPr id="127" name="TextBox 126">
            <a:extLst>
              <a:ext uri="{FF2B5EF4-FFF2-40B4-BE49-F238E27FC236}">
                <a16:creationId xmlns:a16="http://schemas.microsoft.com/office/drawing/2014/main" id="{5738F3A7-FB17-6FD2-6063-02BD7AB727EF}"/>
              </a:ext>
            </a:extLst>
          </p:cNvPr>
          <p:cNvSpPr txBox="1"/>
          <p:nvPr/>
        </p:nvSpPr>
        <p:spPr bwMode="gray">
          <a:xfrm>
            <a:off x="9158356" y="2434513"/>
            <a:ext cx="492804" cy="230688"/>
          </a:xfrm>
          <a:prstGeom prst="rect">
            <a:avLst/>
          </a:prstGeom>
        </p:spPr>
        <p:txBody>
          <a:bodyPr wrap="none" lIns="45684" tIns="45684" rIns="45684" bIns="45684" rtlCol="0">
            <a:spAutoFit/>
          </a:bodyPr>
          <a:lstStyle/>
          <a:p>
            <a:pPr algn="ctr" defTabSz="914126">
              <a:defRPr/>
            </a:pPr>
            <a:r>
              <a:rPr lang="en-US" sz="900">
                <a:solidFill>
                  <a:srgbClr val="FFFFFF">
                    <a:lumMod val="50000"/>
                  </a:srgbClr>
                </a:solidFill>
                <a:latin typeface="Arial" panose="020B0604020202020204"/>
              </a:rPr>
              <a:t>(n=166)</a:t>
            </a:r>
            <a:endParaRPr lang="en-US" sz="1400">
              <a:solidFill>
                <a:srgbClr val="FFFFFF">
                  <a:lumMod val="50000"/>
                </a:srgbClr>
              </a:solidFill>
              <a:latin typeface="Arial" panose="020B0604020202020204"/>
            </a:endParaRPr>
          </a:p>
        </p:txBody>
      </p:sp>
      <p:sp>
        <p:nvSpPr>
          <p:cNvPr id="12" name="TextBox 11">
            <a:extLst>
              <a:ext uri="{FF2B5EF4-FFF2-40B4-BE49-F238E27FC236}">
                <a16:creationId xmlns:a16="http://schemas.microsoft.com/office/drawing/2014/main" id="{A7A32C8B-BF8C-7096-9224-1510461F8268}"/>
              </a:ext>
            </a:extLst>
          </p:cNvPr>
          <p:cNvSpPr txBox="1"/>
          <p:nvPr/>
        </p:nvSpPr>
        <p:spPr bwMode="gray">
          <a:xfrm>
            <a:off x="989740" y="1392444"/>
            <a:ext cx="1541606" cy="276855"/>
          </a:xfrm>
          <a:prstGeom prst="rect">
            <a:avLst/>
          </a:prstGeom>
          <a:noFill/>
        </p:spPr>
        <p:txBody>
          <a:bodyPr wrap="none">
            <a:spAutoFit/>
          </a:bodyPr>
          <a:lstStyle/>
          <a:p>
            <a:pPr defTabSz="914126">
              <a:defRPr/>
            </a:pPr>
            <a:r>
              <a:rPr lang="en-US" sz="1200" i="1">
                <a:solidFill>
                  <a:srgbClr val="0000C9"/>
                </a:solidFill>
                <a:latin typeface="Arial" panose="020B0604020202020204"/>
              </a:rPr>
              <a:t>By Stocking Groups</a:t>
            </a:r>
          </a:p>
        </p:txBody>
      </p:sp>
      <p:sp>
        <p:nvSpPr>
          <p:cNvPr id="2" name="TextBox 1">
            <a:extLst>
              <a:ext uri="{FF2B5EF4-FFF2-40B4-BE49-F238E27FC236}">
                <a16:creationId xmlns:a16="http://schemas.microsoft.com/office/drawing/2014/main" id="{E2BB0EBF-0F54-FA48-2E4D-A57DCD9CBE15}"/>
              </a:ext>
            </a:extLst>
          </p:cNvPr>
          <p:cNvSpPr txBox="1"/>
          <p:nvPr/>
        </p:nvSpPr>
        <p:spPr bwMode="gray">
          <a:xfrm>
            <a:off x="11579312" y="30955"/>
            <a:ext cx="556914" cy="244554"/>
          </a:xfrm>
          <a:prstGeom prst="rect">
            <a:avLst/>
          </a:prstGeom>
        </p:spPr>
        <p:txBody>
          <a:bodyPr wrap="none" lIns="45696" tIns="45696" rIns="45696" bIns="45696"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26">
              <a:lnSpc>
                <a:spcPct val="90000"/>
              </a:lnSpc>
              <a:spcBef>
                <a:spcPts val="1000"/>
              </a:spcBef>
            </a:pPr>
            <a:r>
              <a:rPr lang="en-US" sz="1100" i="1">
                <a:solidFill>
                  <a:srgbClr val="FFFFFF">
                    <a:lumMod val="65000"/>
                  </a:srgbClr>
                </a:solidFill>
                <a:latin typeface="Arial" panose="020B0604020202020204"/>
              </a:rPr>
              <a:t>Topline</a:t>
            </a:r>
          </a:p>
        </p:txBody>
      </p:sp>
      <p:sp>
        <p:nvSpPr>
          <p:cNvPr id="18" name="TextBox 17">
            <a:extLst>
              <a:ext uri="{FF2B5EF4-FFF2-40B4-BE49-F238E27FC236}">
                <a16:creationId xmlns:a16="http://schemas.microsoft.com/office/drawing/2014/main" id="{4F5C1265-D5F1-F4C1-2E1D-E68BBD2724D5}"/>
              </a:ext>
            </a:extLst>
          </p:cNvPr>
          <p:cNvSpPr txBox="1"/>
          <p:nvPr/>
        </p:nvSpPr>
        <p:spPr bwMode="gray">
          <a:xfrm>
            <a:off x="6337000" y="5238029"/>
            <a:ext cx="1219252"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MenACWY</a:t>
            </a:r>
            <a:endParaRPr lang="en-US" sz="1600">
              <a:solidFill>
                <a:srgbClr val="000000"/>
              </a:solidFill>
              <a:latin typeface="Arial" panose="020B0604020202020204"/>
            </a:endParaRPr>
          </a:p>
        </p:txBody>
      </p:sp>
      <p:sp>
        <p:nvSpPr>
          <p:cNvPr id="19" name="TextBox 18">
            <a:extLst>
              <a:ext uri="{FF2B5EF4-FFF2-40B4-BE49-F238E27FC236}">
                <a16:creationId xmlns:a16="http://schemas.microsoft.com/office/drawing/2014/main" id="{695A9CF3-B9B2-2FB6-ACC7-DA10FC3A4AC4}"/>
              </a:ext>
            </a:extLst>
          </p:cNvPr>
          <p:cNvSpPr txBox="1"/>
          <p:nvPr/>
        </p:nvSpPr>
        <p:spPr bwMode="gray">
          <a:xfrm>
            <a:off x="6337002" y="4397825"/>
            <a:ext cx="741932"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MenB</a:t>
            </a:r>
            <a:endParaRPr lang="en-US" sz="1600">
              <a:solidFill>
                <a:srgbClr val="000000"/>
              </a:solidFill>
              <a:latin typeface="Arial" panose="020B0604020202020204"/>
            </a:endParaRPr>
          </a:p>
        </p:txBody>
      </p:sp>
      <p:sp>
        <p:nvSpPr>
          <p:cNvPr id="20" name="TextBox 19">
            <a:extLst>
              <a:ext uri="{FF2B5EF4-FFF2-40B4-BE49-F238E27FC236}">
                <a16:creationId xmlns:a16="http://schemas.microsoft.com/office/drawing/2014/main" id="{58480FD9-1214-DCE8-B411-A2A295404301}"/>
              </a:ext>
            </a:extLst>
          </p:cNvPr>
          <p:cNvSpPr txBox="1"/>
          <p:nvPr/>
        </p:nvSpPr>
        <p:spPr bwMode="gray">
          <a:xfrm>
            <a:off x="6337000" y="3557621"/>
            <a:ext cx="1366614" cy="338290"/>
          </a:xfrm>
          <a:prstGeom prst="rect">
            <a:avLst/>
          </a:prstGeom>
          <a:noFill/>
        </p:spPr>
        <p:txBody>
          <a:bodyPr wrap="none">
            <a:spAutoFit/>
          </a:bodyPr>
          <a:lstStyle/>
          <a:p>
            <a:pPr defTabSz="914126">
              <a:defRPr/>
            </a:pPr>
            <a:r>
              <a:rPr lang="en-US" sz="1600" b="1">
                <a:solidFill>
                  <a:srgbClr val="000000"/>
                </a:solidFill>
                <a:latin typeface="Arial" panose="020B0604020202020204"/>
              </a:rPr>
              <a:t>MenABCWY</a:t>
            </a:r>
            <a:endParaRPr lang="en-US" sz="1600">
              <a:solidFill>
                <a:srgbClr val="000000"/>
              </a:solidFill>
              <a:latin typeface="Arial" panose="020B0604020202020204"/>
            </a:endParaRPr>
          </a:p>
        </p:txBody>
      </p:sp>
      <p:grpSp>
        <p:nvGrpSpPr>
          <p:cNvPr id="21" name="Group 20">
            <a:extLst>
              <a:ext uri="{FF2B5EF4-FFF2-40B4-BE49-F238E27FC236}">
                <a16:creationId xmlns:a16="http://schemas.microsoft.com/office/drawing/2014/main" id="{F33E5A80-4C6C-1A19-E467-CD208E0B4354}"/>
              </a:ext>
            </a:extLst>
          </p:cNvPr>
          <p:cNvGrpSpPr/>
          <p:nvPr/>
        </p:nvGrpSpPr>
        <p:grpSpPr>
          <a:xfrm>
            <a:off x="6192790" y="4201495"/>
            <a:ext cx="140896" cy="730950"/>
            <a:chOff x="6145530" y="3464632"/>
            <a:chExt cx="140970" cy="731520"/>
          </a:xfrm>
        </p:grpSpPr>
        <p:cxnSp>
          <p:nvCxnSpPr>
            <p:cNvPr id="22" name="Straight Connector 21">
              <a:extLst>
                <a:ext uri="{FF2B5EF4-FFF2-40B4-BE49-F238E27FC236}">
                  <a16:creationId xmlns:a16="http://schemas.microsoft.com/office/drawing/2014/main" id="{C8E72B60-5D18-FA8A-BD89-F37F2AF38249}"/>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454383B-48BD-7BCD-4EB1-754B27F757BC}"/>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grpSp>
        <p:nvGrpSpPr>
          <p:cNvPr id="24" name="Group 23">
            <a:extLst>
              <a:ext uri="{FF2B5EF4-FFF2-40B4-BE49-F238E27FC236}">
                <a16:creationId xmlns:a16="http://schemas.microsoft.com/office/drawing/2014/main" id="{7D3712BA-4C82-E2A7-8ADF-1BC24980A49F}"/>
              </a:ext>
            </a:extLst>
          </p:cNvPr>
          <p:cNvGrpSpPr/>
          <p:nvPr/>
        </p:nvGrpSpPr>
        <p:grpSpPr>
          <a:xfrm>
            <a:off x="6192790" y="5041699"/>
            <a:ext cx="140896" cy="730950"/>
            <a:chOff x="6145530" y="3464632"/>
            <a:chExt cx="140970" cy="731520"/>
          </a:xfrm>
        </p:grpSpPr>
        <p:cxnSp>
          <p:nvCxnSpPr>
            <p:cNvPr id="25" name="Straight Connector 24">
              <a:extLst>
                <a:ext uri="{FF2B5EF4-FFF2-40B4-BE49-F238E27FC236}">
                  <a16:creationId xmlns:a16="http://schemas.microsoft.com/office/drawing/2014/main" id="{19C8C59B-7781-872B-89A4-D38D97393966}"/>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AEBF1B24-FBA3-D047-522E-9B55936A51F1}"/>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grpSp>
        <p:nvGrpSpPr>
          <p:cNvPr id="27" name="Group 26">
            <a:extLst>
              <a:ext uri="{FF2B5EF4-FFF2-40B4-BE49-F238E27FC236}">
                <a16:creationId xmlns:a16="http://schemas.microsoft.com/office/drawing/2014/main" id="{DD2E998A-8E2F-5614-7ECC-BC9BE648BA70}"/>
              </a:ext>
            </a:extLst>
          </p:cNvPr>
          <p:cNvGrpSpPr/>
          <p:nvPr/>
        </p:nvGrpSpPr>
        <p:grpSpPr>
          <a:xfrm>
            <a:off x="6192790" y="3361291"/>
            <a:ext cx="140896" cy="730950"/>
            <a:chOff x="6145530" y="3464632"/>
            <a:chExt cx="140970" cy="731520"/>
          </a:xfrm>
        </p:grpSpPr>
        <p:cxnSp>
          <p:nvCxnSpPr>
            <p:cNvPr id="28" name="Straight Connector 27">
              <a:extLst>
                <a:ext uri="{FF2B5EF4-FFF2-40B4-BE49-F238E27FC236}">
                  <a16:creationId xmlns:a16="http://schemas.microsoft.com/office/drawing/2014/main" id="{7B31269A-1D3E-60B0-83C0-C61AA8292EED}"/>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D457A823-0A83-F8C3-24F6-36824CFC08D7}"/>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30" name="TextBox 29">
            <a:extLst>
              <a:ext uri="{FF2B5EF4-FFF2-40B4-BE49-F238E27FC236}">
                <a16:creationId xmlns:a16="http://schemas.microsoft.com/office/drawing/2014/main" id="{E9362438-2DB6-CCB3-40A0-525642C64C41}"/>
              </a:ext>
            </a:extLst>
          </p:cNvPr>
          <p:cNvSpPr txBox="1"/>
          <p:nvPr/>
        </p:nvSpPr>
        <p:spPr bwMode="gray">
          <a:xfrm>
            <a:off x="5842606" y="3809230"/>
            <a:ext cx="159575" cy="286082"/>
          </a:xfrm>
          <a:prstGeom prst="rect">
            <a:avLst/>
          </a:prstGeom>
        </p:spPr>
        <p:txBody>
          <a:bodyPr wrap="none" lIns="45696" tIns="45696" rIns="45696" bIns="45696" rtlCol="0">
            <a:spAutoFit/>
          </a:bodyPr>
          <a:lstStyle/>
          <a:p>
            <a:pPr algn="ctr" defTabSz="914126">
              <a:lnSpc>
                <a:spcPct val="90000"/>
              </a:lnSpc>
              <a:spcAft>
                <a:spcPts val="400"/>
              </a:spcAft>
            </a:pPr>
            <a:r>
              <a:rPr lang="en-US" sz="1400" baseline="30000">
                <a:solidFill>
                  <a:srgbClr val="FF0000"/>
                </a:solidFill>
                <a:latin typeface="Arial" panose="020B0604020202020204"/>
              </a:rPr>
              <a:t>†</a:t>
            </a:r>
            <a:endParaRPr lang="en-US" sz="1798" b="1">
              <a:solidFill>
                <a:srgbClr val="FF0000"/>
              </a:solidFill>
              <a:latin typeface="Arial" panose="020B0604020202020204"/>
            </a:endParaRPr>
          </a:p>
        </p:txBody>
      </p:sp>
      <p:sp>
        <p:nvSpPr>
          <p:cNvPr id="8" name="Text Placeholder 2">
            <a:extLst>
              <a:ext uri="{FF2B5EF4-FFF2-40B4-BE49-F238E27FC236}">
                <a16:creationId xmlns:a16="http://schemas.microsoft.com/office/drawing/2014/main" id="{760748AB-4DAD-30B8-2067-59BB498D1E41}"/>
              </a:ext>
            </a:extLst>
          </p:cNvPr>
          <p:cNvSpPr txBox="1">
            <a:spLocks/>
          </p:cNvSpPr>
          <p:nvPr/>
        </p:nvSpPr>
        <p:spPr bwMode="gray">
          <a:xfrm>
            <a:off x="8621214" y="5122863"/>
            <a:ext cx="163917" cy="179955"/>
          </a:xfrm>
          <a:prstGeom prst="rect">
            <a:avLst/>
          </a:prstGeom>
        </p:spPr>
        <p:txBody>
          <a:bodyPr vert="horz" wrap="square" lIns="45696" tIns="27418" rIns="45696" bIns="27418"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4126"/>
            <a:r>
              <a:rPr lang="en-US" altLang="en-US">
                <a:solidFill>
                  <a:srgbClr val="FFFFFF"/>
                </a:solidFill>
                <a:latin typeface="Arial" panose="020B0604020202020204"/>
                <a:cs typeface="Arial" panose="020B0604020202020204" pitchFamily="34" charset="0"/>
                <a:sym typeface="Symbol" pitchFamily="18" charset="2"/>
              </a:rPr>
              <a:t></a:t>
            </a:r>
            <a:endParaRPr lang="en-US">
              <a:solidFill>
                <a:srgbClr val="FFFFFF"/>
              </a:solidFill>
              <a:latin typeface="Arial" panose="020B0604020202020204"/>
            </a:endParaRPr>
          </a:p>
        </p:txBody>
      </p:sp>
      <p:sp>
        <p:nvSpPr>
          <p:cNvPr id="32" name="Text Placeholder 2">
            <a:extLst>
              <a:ext uri="{FF2B5EF4-FFF2-40B4-BE49-F238E27FC236}">
                <a16:creationId xmlns:a16="http://schemas.microsoft.com/office/drawing/2014/main" id="{B131DC9E-7618-BDA2-6393-D7DEC739EDC1}"/>
              </a:ext>
            </a:extLst>
          </p:cNvPr>
          <p:cNvSpPr txBox="1">
            <a:spLocks/>
          </p:cNvSpPr>
          <p:nvPr/>
        </p:nvSpPr>
        <p:spPr bwMode="gray">
          <a:xfrm flipV="1">
            <a:off x="8639187" y="4311603"/>
            <a:ext cx="163917" cy="179955"/>
          </a:xfrm>
          <a:prstGeom prst="rect">
            <a:avLst/>
          </a:prstGeom>
        </p:spPr>
        <p:txBody>
          <a:bodyPr vert="horz" wrap="square" lIns="45696" tIns="27418" rIns="45696" bIns="27418"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4126"/>
            <a:r>
              <a:rPr lang="en-US" altLang="en-US">
                <a:solidFill>
                  <a:srgbClr val="FFFFFF"/>
                </a:solidFill>
                <a:latin typeface="Arial" panose="020B0604020202020204"/>
                <a:cs typeface="Arial" panose="020B0604020202020204" pitchFamily="34" charset="0"/>
                <a:sym typeface="Symbol" pitchFamily="18" charset="2"/>
              </a:rPr>
              <a:t></a:t>
            </a:r>
            <a:endParaRPr lang="en-US">
              <a:solidFill>
                <a:srgbClr val="FFFFFF"/>
              </a:solidFill>
              <a:latin typeface="Arial" panose="020B0604020202020204"/>
            </a:endParaRPr>
          </a:p>
        </p:txBody>
      </p:sp>
      <p:sp>
        <p:nvSpPr>
          <p:cNvPr id="39" name="Text Placeholder 2">
            <a:extLst>
              <a:ext uri="{FF2B5EF4-FFF2-40B4-BE49-F238E27FC236}">
                <a16:creationId xmlns:a16="http://schemas.microsoft.com/office/drawing/2014/main" id="{13BB959D-589C-71F1-A42B-81BA03CCEC6D}"/>
              </a:ext>
            </a:extLst>
          </p:cNvPr>
          <p:cNvSpPr txBox="1">
            <a:spLocks/>
          </p:cNvSpPr>
          <p:nvPr/>
        </p:nvSpPr>
        <p:spPr bwMode="gray">
          <a:xfrm flipV="1">
            <a:off x="10442439" y="4162918"/>
            <a:ext cx="196474" cy="179908"/>
          </a:xfrm>
          <a:prstGeom prst="rect">
            <a:avLst/>
          </a:prstGeom>
        </p:spPr>
        <p:txBody>
          <a:bodyPr vert="horz" wrap="square" lIns="45684" tIns="27411" rIns="45684" bIns="27411"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defRPr/>
            </a:pPr>
            <a:r>
              <a:rPr lang="en-US">
                <a:solidFill>
                  <a:srgbClr val="FFFFFF"/>
                </a:solidFill>
                <a:latin typeface="Arial" panose="020B0604020202020204"/>
                <a:sym typeface="Wingdings 3" panose="05040102010807070707" pitchFamily="18" charset="2"/>
              </a:rPr>
              <a:t></a:t>
            </a:r>
            <a:endParaRPr lang="en-US">
              <a:solidFill>
                <a:srgbClr val="FFFFFF"/>
              </a:solidFill>
              <a:latin typeface="Arial" panose="020B0604020202020204"/>
            </a:endParaRPr>
          </a:p>
        </p:txBody>
      </p:sp>
      <p:sp>
        <p:nvSpPr>
          <p:cNvPr id="41" name="Text Placeholder 2">
            <a:extLst>
              <a:ext uri="{FF2B5EF4-FFF2-40B4-BE49-F238E27FC236}">
                <a16:creationId xmlns:a16="http://schemas.microsoft.com/office/drawing/2014/main" id="{BE47724C-1BB3-5BA0-0D20-80630AE3C359}"/>
              </a:ext>
            </a:extLst>
          </p:cNvPr>
          <p:cNvSpPr txBox="1">
            <a:spLocks/>
          </p:cNvSpPr>
          <p:nvPr/>
        </p:nvSpPr>
        <p:spPr bwMode="gray">
          <a:xfrm flipV="1">
            <a:off x="10480901" y="5182302"/>
            <a:ext cx="196474" cy="179908"/>
          </a:xfrm>
          <a:prstGeom prst="rect">
            <a:avLst/>
          </a:prstGeom>
        </p:spPr>
        <p:txBody>
          <a:bodyPr vert="horz" wrap="square" lIns="45684" tIns="27411" rIns="45684" bIns="27411"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26">
              <a:defRPr/>
            </a:pPr>
            <a:r>
              <a:rPr lang="en-US">
                <a:solidFill>
                  <a:srgbClr val="FFFFFF"/>
                </a:solidFill>
                <a:latin typeface="Arial" panose="020B0604020202020204"/>
                <a:sym typeface="Wingdings 3" panose="05040102010807070707" pitchFamily="18" charset="2"/>
              </a:rPr>
              <a:t></a:t>
            </a:r>
            <a:endParaRPr lang="en-US">
              <a:solidFill>
                <a:srgbClr val="FFFFFF"/>
              </a:solidFill>
              <a:latin typeface="Arial" panose="020B0604020202020204"/>
            </a:endParaRPr>
          </a:p>
        </p:txBody>
      </p:sp>
      <p:sp>
        <p:nvSpPr>
          <p:cNvPr id="33" name="TextBox 32">
            <a:extLst>
              <a:ext uri="{FF2B5EF4-FFF2-40B4-BE49-F238E27FC236}">
                <a16:creationId xmlns:a16="http://schemas.microsoft.com/office/drawing/2014/main" id="{8C4DED27-0BA3-5A44-606C-6145FA2C33FA}"/>
              </a:ext>
            </a:extLst>
          </p:cNvPr>
          <p:cNvSpPr txBox="1"/>
          <p:nvPr/>
        </p:nvSpPr>
        <p:spPr bwMode="gray">
          <a:xfrm>
            <a:off x="1286242" y="816332"/>
            <a:ext cx="9967007" cy="351916"/>
          </a:xfrm>
          <a:prstGeom prst="rect">
            <a:avLst/>
          </a:prstGeom>
        </p:spPr>
        <p:txBody>
          <a:bodyPr wrap="square" lIns="45684" tIns="45684" rIns="45684" bIns="45684" rtlCol="0">
            <a:noAutofit/>
          </a:bodyPr>
          <a:lstStyle/>
          <a:p>
            <a:pPr marL="171297" indent="-171297" defTabSz="913578">
              <a:spcBef>
                <a:spcPts val="600"/>
              </a:spcBef>
              <a:buFont typeface="Arial" panose="020B0604020202020204" pitchFamily="34" charset="0"/>
              <a:buChar char="•"/>
              <a:defRPr/>
            </a:pPr>
            <a:r>
              <a:rPr lang="en-US" sz="1400" dirty="0">
                <a:solidFill>
                  <a:srgbClr val="FFFFFF">
                    <a:lumMod val="50000"/>
                  </a:srgbClr>
                </a:solidFill>
                <a:latin typeface="Arial" panose="020B0604020202020204"/>
              </a:rPr>
              <a:t>Increase in </a:t>
            </a:r>
            <a:r>
              <a:rPr lang="en-US" sz="1400" dirty="0" err="1">
                <a:solidFill>
                  <a:srgbClr val="FFFFFF">
                    <a:lumMod val="50000"/>
                  </a:srgbClr>
                </a:solidFill>
                <a:latin typeface="Arial" panose="020B0604020202020204"/>
              </a:rPr>
              <a:t>MenQuadfi</a:t>
            </a:r>
            <a:r>
              <a:rPr lang="en-US" sz="1400" dirty="0">
                <a:solidFill>
                  <a:srgbClr val="FFFFFF">
                    <a:lumMod val="50000"/>
                  </a:srgbClr>
                </a:solidFill>
                <a:latin typeface="Arial" panose="020B0604020202020204"/>
              </a:rPr>
              <a:t> share among </a:t>
            </a:r>
            <a:r>
              <a:rPr lang="en-US" sz="1400" i="1" dirty="0">
                <a:solidFill>
                  <a:srgbClr val="FFFFFF">
                    <a:lumMod val="50000"/>
                  </a:srgbClr>
                </a:solidFill>
                <a:latin typeface="Arial" panose="020B0604020202020204"/>
              </a:rPr>
              <a:t>Penbraya Non-Stockers </a:t>
            </a:r>
            <a:r>
              <a:rPr lang="en-US" sz="1400" dirty="0">
                <a:solidFill>
                  <a:srgbClr val="FFFFFF">
                    <a:lumMod val="50000"/>
                  </a:srgbClr>
                </a:solidFill>
                <a:latin typeface="Arial" panose="020B0604020202020204"/>
              </a:rPr>
              <a:t>driven by </a:t>
            </a:r>
            <a:r>
              <a:rPr lang="en-US" sz="1400" i="1" dirty="0">
                <a:solidFill>
                  <a:srgbClr val="FFFFFF">
                    <a:lumMod val="50000"/>
                  </a:srgbClr>
                </a:solidFill>
                <a:latin typeface="Arial" panose="020B0604020202020204"/>
              </a:rPr>
              <a:t>Tier 1 and 2</a:t>
            </a:r>
            <a:r>
              <a:rPr lang="en-US" sz="1400" dirty="0">
                <a:solidFill>
                  <a:srgbClr val="FFFFFF">
                    <a:lumMod val="50000"/>
                  </a:srgbClr>
                </a:solidFill>
                <a:latin typeface="Arial" panose="020B0604020202020204"/>
              </a:rPr>
              <a:t> HCPs (data not shown)</a:t>
            </a:r>
          </a:p>
        </p:txBody>
      </p:sp>
      <p:sp>
        <p:nvSpPr>
          <p:cNvPr id="43" name="Text Placeholder 2">
            <a:extLst>
              <a:ext uri="{FF2B5EF4-FFF2-40B4-BE49-F238E27FC236}">
                <a16:creationId xmlns:a16="http://schemas.microsoft.com/office/drawing/2014/main" id="{ADD24CCC-DD7E-054E-CA00-FD46A7B27CD2}"/>
              </a:ext>
            </a:extLst>
          </p:cNvPr>
          <p:cNvSpPr txBox="1">
            <a:spLocks/>
          </p:cNvSpPr>
          <p:nvPr/>
        </p:nvSpPr>
        <p:spPr bwMode="gray">
          <a:xfrm>
            <a:off x="10409546" y="5213915"/>
            <a:ext cx="163917" cy="179955"/>
          </a:xfrm>
          <a:prstGeom prst="rect">
            <a:avLst/>
          </a:prstGeom>
        </p:spPr>
        <p:txBody>
          <a:bodyPr vert="horz" wrap="square" lIns="45696" tIns="27418" rIns="45696" bIns="27418"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4126"/>
            <a:r>
              <a:rPr lang="en-US" altLang="en-US">
                <a:solidFill>
                  <a:srgbClr val="FFFFFF"/>
                </a:solidFill>
                <a:latin typeface="Arial" panose="020B0604020202020204"/>
                <a:cs typeface="Arial" panose="020B0604020202020204" pitchFamily="34" charset="0"/>
                <a:sym typeface="Symbol" pitchFamily="18" charset="2"/>
              </a:rPr>
              <a:t></a:t>
            </a:r>
            <a:endParaRPr lang="en-US">
              <a:solidFill>
                <a:srgbClr val="FFFFFF"/>
              </a:solidFill>
              <a:latin typeface="Arial" panose="020B0604020202020204"/>
            </a:endParaRPr>
          </a:p>
        </p:txBody>
      </p:sp>
      <p:grpSp>
        <p:nvGrpSpPr>
          <p:cNvPr id="3" name="Group 2">
            <a:extLst>
              <a:ext uri="{FF2B5EF4-FFF2-40B4-BE49-F238E27FC236}">
                <a16:creationId xmlns:a16="http://schemas.microsoft.com/office/drawing/2014/main" id="{464C0D97-9CE9-95AE-060C-A881B2E182F0}"/>
              </a:ext>
            </a:extLst>
          </p:cNvPr>
          <p:cNvGrpSpPr/>
          <p:nvPr/>
        </p:nvGrpSpPr>
        <p:grpSpPr>
          <a:xfrm>
            <a:off x="4747451" y="3258814"/>
            <a:ext cx="272302" cy="2606333"/>
            <a:chOff x="4747099" y="3005848"/>
            <a:chExt cx="272373" cy="2607012"/>
          </a:xfrm>
        </p:grpSpPr>
        <p:sp>
          <p:nvSpPr>
            <p:cNvPr id="5" name="Rectangle 4">
              <a:extLst>
                <a:ext uri="{FF2B5EF4-FFF2-40B4-BE49-F238E27FC236}">
                  <a16:creationId xmlns:a16="http://schemas.microsoft.com/office/drawing/2014/main" id="{75AC95F5-C634-6E2D-4308-452086BAD873}"/>
                </a:ext>
              </a:extLst>
            </p:cNvPr>
            <p:cNvSpPr/>
            <p:nvPr/>
          </p:nvSpPr>
          <p:spPr bwMode="gray">
            <a:xfrm>
              <a:off x="4747099" y="3005848"/>
              <a:ext cx="272373" cy="2607012"/>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b="1">
                <a:solidFill>
                  <a:srgbClr val="0000C9"/>
                </a:solidFill>
                <a:latin typeface="Arial" panose="020B0604020202020204"/>
              </a:endParaRPr>
            </a:p>
          </p:txBody>
        </p:sp>
        <p:grpSp>
          <p:nvGrpSpPr>
            <p:cNvPr id="6" name="Group 5">
              <a:extLst>
                <a:ext uri="{FF2B5EF4-FFF2-40B4-BE49-F238E27FC236}">
                  <a16:creationId xmlns:a16="http://schemas.microsoft.com/office/drawing/2014/main" id="{80E4C3E7-FFEE-EABE-5B21-881E587778FE}"/>
                </a:ext>
              </a:extLst>
            </p:cNvPr>
            <p:cNvGrpSpPr/>
            <p:nvPr/>
          </p:nvGrpSpPr>
          <p:grpSpPr>
            <a:xfrm>
              <a:off x="4795510" y="3193443"/>
              <a:ext cx="182832" cy="2257472"/>
              <a:chOff x="4887324" y="3225037"/>
              <a:chExt cx="182832" cy="2257472"/>
            </a:xfrm>
          </p:grpSpPr>
          <p:sp>
            <p:nvSpPr>
              <p:cNvPr id="7" name="Oval 6">
                <a:extLst>
                  <a:ext uri="{FF2B5EF4-FFF2-40B4-BE49-F238E27FC236}">
                    <a16:creationId xmlns:a16="http://schemas.microsoft.com/office/drawing/2014/main" id="{F9FCF080-42DB-F134-9778-4AB381F02983}"/>
                  </a:ext>
                </a:extLst>
              </p:cNvPr>
              <p:cNvSpPr/>
              <p:nvPr/>
            </p:nvSpPr>
            <p:spPr bwMode="gray">
              <a:xfrm>
                <a:off x="4887324" y="3225037"/>
                <a:ext cx="182832" cy="182832"/>
              </a:xfrm>
              <a:prstGeom prst="ellipse">
                <a:avLst/>
              </a:prstGeom>
              <a:solidFill>
                <a:srgbClr val="937DA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1" name="Oval 30">
                <a:extLst>
                  <a:ext uri="{FF2B5EF4-FFF2-40B4-BE49-F238E27FC236}">
                    <a16:creationId xmlns:a16="http://schemas.microsoft.com/office/drawing/2014/main" id="{6CD98613-7D8E-B0B1-BF1C-7CE6610E8821}"/>
                  </a:ext>
                </a:extLst>
              </p:cNvPr>
              <p:cNvSpPr/>
              <p:nvPr/>
            </p:nvSpPr>
            <p:spPr bwMode="gray">
              <a:xfrm>
                <a:off x="4887324" y="4054893"/>
                <a:ext cx="182832" cy="182832"/>
              </a:xfrm>
              <a:prstGeom prst="ellipse">
                <a:avLst/>
              </a:prstGeom>
              <a:solidFill>
                <a:srgbClr val="009F54"/>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4" name="Oval 33">
                <a:extLst>
                  <a:ext uri="{FF2B5EF4-FFF2-40B4-BE49-F238E27FC236}">
                    <a16:creationId xmlns:a16="http://schemas.microsoft.com/office/drawing/2014/main" id="{E469C466-F2A6-2F0E-C909-BCDCBD3A714C}"/>
                  </a:ext>
                </a:extLst>
              </p:cNvPr>
              <p:cNvSpPr/>
              <p:nvPr/>
            </p:nvSpPr>
            <p:spPr bwMode="gray">
              <a:xfrm>
                <a:off x="4887324" y="4469821"/>
                <a:ext cx="182832" cy="182832"/>
              </a:xfrm>
              <a:prstGeom prst="ellipse">
                <a:avLst/>
              </a:prstGeom>
              <a:solidFill>
                <a:srgbClr val="6F002C"/>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5" name="Oval 34">
                <a:extLst>
                  <a:ext uri="{FF2B5EF4-FFF2-40B4-BE49-F238E27FC236}">
                    <a16:creationId xmlns:a16="http://schemas.microsoft.com/office/drawing/2014/main" id="{A98DDAF7-8D01-F25F-786C-5A2F2B8CFBF2}"/>
                  </a:ext>
                </a:extLst>
              </p:cNvPr>
              <p:cNvSpPr/>
              <p:nvPr/>
            </p:nvSpPr>
            <p:spPr bwMode="gray">
              <a:xfrm>
                <a:off x="4887324" y="4884749"/>
                <a:ext cx="182832" cy="182832"/>
              </a:xfrm>
              <a:prstGeom prst="ellipse">
                <a:avLst/>
              </a:prstGeom>
              <a:solidFill>
                <a:srgbClr val="D80065"/>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6" name="Oval 35">
                <a:extLst>
                  <a:ext uri="{FF2B5EF4-FFF2-40B4-BE49-F238E27FC236}">
                    <a16:creationId xmlns:a16="http://schemas.microsoft.com/office/drawing/2014/main" id="{05D24EAB-606E-CA62-72F9-CCF5F8CBC551}"/>
                  </a:ext>
                </a:extLst>
              </p:cNvPr>
              <p:cNvSpPr/>
              <p:nvPr/>
            </p:nvSpPr>
            <p:spPr bwMode="gray">
              <a:xfrm>
                <a:off x="4887324" y="5299677"/>
                <a:ext cx="182832" cy="182832"/>
              </a:xfrm>
              <a:prstGeom prst="ellipse">
                <a:avLst/>
              </a:prstGeom>
              <a:solidFill>
                <a:srgbClr val="009CED"/>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37" name="Oval 36">
                <a:extLst>
                  <a:ext uri="{FF2B5EF4-FFF2-40B4-BE49-F238E27FC236}">
                    <a16:creationId xmlns:a16="http://schemas.microsoft.com/office/drawing/2014/main" id="{3E6F9CC5-32D1-1963-A6DF-AC84EAEA92A5}"/>
                  </a:ext>
                </a:extLst>
              </p:cNvPr>
              <p:cNvSpPr/>
              <p:nvPr/>
            </p:nvSpPr>
            <p:spPr bwMode="gray">
              <a:xfrm>
                <a:off x="4887324" y="3639965"/>
                <a:ext cx="182832" cy="182832"/>
              </a:xfrm>
              <a:prstGeom prst="ellipse">
                <a:avLst/>
              </a:prstGeom>
              <a:solidFill>
                <a:schemeClr val="accent6">
                  <a:lumMod val="60000"/>
                  <a:lumOff val="40000"/>
                </a:schemeClr>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grpSp>
      </p:grpSp>
      <p:sp>
        <p:nvSpPr>
          <p:cNvPr id="4" name="TextBox 3">
            <a:extLst>
              <a:ext uri="{FF2B5EF4-FFF2-40B4-BE49-F238E27FC236}">
                <a16:creationId xmlns:a16="http://schemas.microsoft.com/office/drawing/2014/main" id="{13DBB759-C073-CC2D-C228-171E3224FCC0}"/>
              </a:ext>
            </a:extLst>
          </p:cNvPr>
          <p:cNvSpPr txBox="1"/>
          <p:nvPr/>
        </p:nvSpPr>
        <p:spPr bwMode="gray">
          <a:xfrm>
            <a:off x="129657" y="5767249"/>
            <a:ext cx="6389611" cy="261542"/>
          </a:xfrm>
          <a:prstGeom prst="rect">
            <a:avLst/>
          </a:prstGeom>
          <a:noFill/>
        </p:spPr>
        <p:txBody>
          <a:bodyPr wrap="square">
            <a:spAutoFit/>
          </a:bodyPr>
          <a:lstStyle/>
          <a:p>
            <a:pPr algn="ctr" defTabSz="914126"/>
            <a:r>
              <a:rPr lang="en-US" sz="1100" i="1" dirty="0">
                <a:solidFill>
                  <a:srgbClr val="0000C9"/>
                </a:solidFill>
                <a:highlight>
                  <a:srgbClr val="F2F2F2"/>
                </a:highlight>
                <a:latin typeface="Arial" panose="020B0604020202020204"/>
              </a:rPr>
              <a:t>*After shown Penbraya TPP and ACIP Recommendation</a:t>
            </a:r>
          </a:p>
        </p:txBody>
      </p:sp>
      <p:sp>
        <p:nvSpPr>
          <p:cNvPr id="9" name="TextBox 8">
            <a:extLst>
              <a:ext uri="{FF2B5EF4-FFF2-40B4-BE49-F238E27FC236}">
                <a16:creationId xmlns:a16="http://schemas.microsoft.com/office/drawing/2014/main" id="{B4543559-D0F8-080A-458B-77DB1C1F7D00}"/>
              </a:ext>
            </a:extLst>
          </p:cNvPr>
          <p:cNvSpPr txBox="1"/>
          <p:nvPr/>
        </p:nvSpPr>
        <p:spPr bwMode="gray">
          <a:xfrm>
            <a:off x="1057161" y="1641917"/>
            <a:ext cx="10695764" cy="341543"/>
          </a:xfrm>
          <a:prstGeom prst="rect">
            <a:avLst/>
          </a:prstGeom>
        </p:spPr>
        <p:txBody>
          <a:bodyPr wrap="square" lIns="45708" tIns="45708" rIns="45708" bIns="45708" rtlCol="0">
            <a:spAutoFit/>
          </a:bodyPr>
          <a:lstStyle/>
          <a:p>
            <a:pPr algn="ctr" defTabSz="914126">
              <a:lnSpc>
                <a:spcPct val="90000"/>
              </a:lnSpc>
              <a:spcAft>
                <a:spcPts val="400"/>
              </a:spcAft>
              <a:defRPr/>
            </a:pPr>
            <a:r>
              <a:rPr lang="en-US" sz="1799" b="1" dirty="0">
                <a:solidFill>
                  <a:srgbClr val="0000C9"/>
                </a:solidFill>
                <a:latin typeface="Arial" panose="020B0604020202020204"/>
              </a:rPr>
              <a:t>Current and Anticipated </a:t>
            </a:r>
            <a:r>
              <a:rPr lang="en-US" sz="1797" b="1" u="sng" dirty="0">
                <a:solidFill>
                  <a:srgbClr val="0000C9"/>
                </a:solidFill>
                <a:latin typeface="Arial" panose="020B0604020202020204"/>
              </a:rPr>
              <a:t>Share</a:t>
            </a:r>
            <a:r>
              <a:rPr lang="en-US" sz="1799" b="1" dirty="0">
                <a:solidFill>
                  <a:srgbClr val="0000C9"/>
                </a:solidFill>
                <a:latin typeface="Arial" panose="020B0604020202020204"/>
              </a:rPr>
              <a:t> </a:t>
            </a:r>
            <a:r>
              <a:rPr lang="en-US" sz="1797" b="1" dirty="0">
                <a:solidFill>
                  <a:srgbClr val="0000C9"/>
                </a:solidFill>
                <a:latin typeface="Arial" panose="020B0604020202020204"/>
              </a:rPr>
              <a:t>–</a:t>
            </a:r>
            <a:r>
              <a:rPr lang="en-US" sz="1799" b="1" dirty="0">
                <a:solidFill>
                  <a:srgbClr val="0000C9"/>
                </a:solidFill>
                <a:latin typeface="Arial" panose="020B0604020202020204"/>
              </a:rPr>
              <a:t> Penbraya </a:t>
            </a:r>
            <a:r>
              <a:rPr lang="en-US" sz="1797" b="1" dirty="0">
                <a:solidFill>
                  <a:srgbClr val="0000C9"/>
                </a:solidFill>
                <a:latin typeface="Arial" panose="020B0604020202020204"/>
              </a:rPr>
              <a:t>Stockers vs. Non-Stockers</a:t>
            </a:r>
            <a:endParaRPr lang="en-US" sz="1000" i="1" dirty="0">
              <a:solidFill>
                <a:srgbClr val="0000C9"/>
              </a:solidFill>
              <a:latin typeface="Arial" panose="020B0604020202020204"/>
            </a:endParaRPr>
          </a:p>
        </p:txBody>
      </p:sp>
    </p:spTree>
    <p:extLst>
      <p:ext uri="{BB962C8B-B14F-4D97-AF65-F5344CB8AC3E}">
        <p14:creationId xmlns:p14="http://schemas.microsoft.com/office/powerpoint/2010/main" val="136238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924C5-A652-DFEB-6034-1A86A2EB32F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B88A220-3148-E3FB-FF3C-78CD3C37D6A0}"/>
              </a:ext>
            </a:extLst>
          </p:cNvPr>
          <p:cNvSpPr>
            <a:spLocks noGrp="1"/>
          </p:cNvSpPr>
          <p:nvPr>
            <p:ph type="body" sz="quarter" idx="10"/>
          </p:nvPr>
        </p:nvSpPr>
        <p:spPr>
          <a:xfrm>
            <a:off x="448056" y="4215384"/>
            <a:ext cx="4233672" cy="905256"/>
          </a:xfrm>
        </p:spPr>
        <p:txBody>
          <a:bodyPr/>
          <a:lstStyle/>
          <a:p>
            <a:r>
              <a:rPr lang="en-US" dirty="0"/>
              <a:t>Barriers to Penbraya Use</a:t>
            </a:r>
          </a:p>
        </p:txBody>
      </p:sp>
      <p:sp>
        <p:nvSpPr>
          <p:cNvPr id="3" name="Title 2">
            <a:extLst>
              <a:ext uri="{FF2B5EF4-FFF2-40B4-BE49-F238E27FC236}">
                <a16:creationId xmlns:a16="http://schemas.microsoft.com/office/drawing/2014/main" id="{F122DBEF-0FB3-5046-C1FC-C6F879CEC99D}"/>
              </a:ext>
            </a:extLst>
          </p:cNvPr>
          <p:cNvSpPr>
            <a:spLocks noGrp="1"/>
          </p:cNvSpPr>
          <p:nvPr>
            <p:ph type="ctrTitle"/>
          </p:nvPr>
        </p:nvSpPr>
        <p:spPr>
          <a:xfrm>
            <a:off x="448056" y="2560320"/>
            <a:ext cx="4233672" cy="1508760"/>
          </a:xfrm>
        </p:spPr>
        <p:txBody>
          <a:bodyPr/>
          <a:lstStyle/>
          <a:p>
            <a:r>
              <a:rPr lang="en-US"/>
              <a:t>Detailed Findings</a:t>
            </a:r>
          </a:p>
        </p:txBody>
      </p:sp>
    </p:spTree>
    <p:extLst>
      <p:ext uri="{BB962C8B-B14F-4D97-AF65-F5344CB8AC3E}">
        <p14:creationId xmlns:p14="http://schemas.microsoft.com/office/powerpoint/2010/main" val="98730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342404D3-0B09-38D4-A360-B4B004058AAD}"/>
              </a:ext>
            </a:extLst>
          </p:cNvPr>
          <p:cNvSpPr/>
          <p:nvPr/>
        </p:nvSpPr>
        <p:spPr bwMode="gray">
          <a:xfrm>
            <a:off x="941273" y="1543281"/>
            <a:ext cx="10306278" cy="463378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8" name="TextBox 7">
            <a:extLst>
              <a:ext uri="{FF2B5EF4-FFF2-40B4-BE49-F238E27FC236}">
                <a16:creationId xmlns:a16="http://schemas.microsoft.com/office/drawing/2014/main" id="{EA5E36FB-67C7-A3BC-5426-A42A7DB0BE83}"/>
              </a:ext>
            </a:extLst>
          </p:cNvPr>
          <p:cNvSpPr txBox="1"/>
          <p:nvPr/>
        </p:nvSpPr>
        <p:spPr bwMode="gray">
          <a:xfrm>
            <a:off x="4101905" y="1653469"/>
            <a:ext cx="4405438" cy="729430"/>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Arial" panose="020B0604020202020204"/>
                <a:ea typeface="+mn-ea"/>
                <a:cs typeface="+mn-cs"/>
              </a:rPr>
              <a:t>Unaided Reasons </a:t>
            </a:r>
            <a: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t>May Not Administer</a:t>
            </a:r>
            <a:b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t>Penbraya to Eligible Patients</a:t>
            </a:r>
            <a:br>
              <a:rPr kumimoji="0" lang="en-US" sz="1800" b="1" i="0" u="none" strike="noStrike" kern="1200" cap="none" spc="0" normalizeH="0" baseline="0" noProof="0" dirty="0">
                <a:ln>
                  <a:noFill/>
                </a:ln>
                <a:solidFill>
                  <a:srgbClr val="0000C9"/>
                </a:solidFill>
                <a:effectLst/>
                <a:uLnTx/>
                <a:uFillTx/>
                <a:latin typeface="Arial" panose="020B0604020202020204"/>
                <a:ea typeface="+mn-ea"/>
                <a:cs typeface="+mn-cs"/>
              </a:rPr>
            </a:br>
            <a:r>
              <a:rPr kumimoji="0" lang="en-US" sz="1000" b="0" i="1"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 HCPs</a:t>
            </a: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
        <p:nvSpPr>
          <p:cNvPr id="14" name="Title 13">
            <a:extLst>
              <a:ext uri="{FF2B5EF4-FFF2-40B4-BE49-F238E27FC236}">
                <a16:creationId xmlns:a16="http://schemas.microsoft.com/office/drawing/2014/main" id="{7770B78A-46E1-8075-3E25-431AF91A190C}"/>
              </a:ext>
            </a:extLst>
          </p:cNvPr>
          <p:cNvSpPr>
            <a:spLocks noGrp="1"/>
          </p:cNvSpPr>
          <p:nvPr>
            <p:ph type="title"/>
          </p:nvPr>
        </p:nvSpPr>
        <p:spPr>
          <a:xfrm>
            <a:off x="1142122" y="170307"/>
            <a:ext cx="10714597" cy="850392"/>
          </a:xfrm>
        </p:spPr>
        <p:txBody>
          <a:bodyPr/>
          <a:lstStyle/>
          <a:p>
            <a:r>
              <a:rPr lang="en-US" dirty="0"/>
              <a:t>PEDs continue to anticipate more barriers to administering Penbraya than PCPs, mostly </a:t>
            </a:r>
            <a:r>
              <a:rPr lang="en-US" i="1" dirty="0"/>
              <a:t>stocking barriers </a:t>
            </a:r>
            <a:r>
              <a:rPr lang="en-US" dirty="0"/>
              <a:t>and </a:t>
            </a:r>
            <a:r>
              <a:rPr lang="en-US" i="1" dirty="0"/>
              <a:t>not wanting to change their current practices</a:t>
            </a:r>
            <a:r>
              <a:rPr lang="en-US" dirty="0"/>
              <a:t>, while PCPs are most concerned about </a:t>
            </a:r>
            <a:r>
              <a:rPr lang="en-US" i="1" dirty="0"/>
              <a:t>patient refusals</a:t>
            </a:r>
            <a:endParaRPr lang="en-US" dirty="0"/>
          </a:p>
        </p:txBody>
      </p:sp>
      <p:sp>
        <p:nvSpPr>
          <p:cNvPr id="3" name="Text Placeholder 2">
            <a:extLst>
              <a:ext uri="{FF2B5EF4-FFF2-40B4-BE49-F238E27FC236}">
                <a16:creationId xmlns:a16="http://schemas.microsoft.com/office/drawing/2014/main" id="{1C9C6525-A111-63E6-EF07-AA766BE29782}"/>
              </a:ext>
            </a:extLst>
          </p:cNvPr>
          <p:cNvSpPr>
            <a:spLocks noGrp="1"/>
          </p:cNvSpPr>
          <p:nvPr>
            <p:ph type="body" sz="quarter" idx="16"/>
          </p:nvPr>
        </p:nvSpPr>
        <p:spPr>
          <a:xfrm>
            <a:off x="1571625" y="6290292"/>
            <a:ext cx="9029319" cy="454996"/>
          </a:xfrm>
        </p:spPr>
        <p:txBody>
          <a:bodyPr/>
          <a:lstStyle/>
          <a:p>
            <a:pPr marL="690563" lvl="0" indent="-690563">
              <a:defRPr/>
            </a:pP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marL="285750" lvl="0" indent="-285750">
              <a:defRPr/>
            </a:pPr>
            <a:r>
              <a:rPr lang="en-US" dirty="0"/>
              <a:t>P16.	Excluding financial considerations and potential vaccine platform changes, what are all the reasons you may not administer Penbraya </a:t>
            </a:r>
            <a:br>
              <a:rPr lang="en-US" dirty="0"/>
            </a:br>
            <a:r>
              <a:rPr lang="en-US" dirty="0"/>
              <a:t>(Meningococcal Groups A, B, C, W, and Y vaccine) to eligible patients?  </a:t>
            </a:r>
          </a:p>
        </p:txBody>
      </p:sp>
      <p:grpSp>
        <p:nvGrpSpPr>
          <p:cNvPr id="2" name="Group 1">
            <a:extLst>
              <a:ext uri="{FF2B5EF4-FFF2-40B4-BE49-F238E27FC236}">
                <a16:creationId xmlns:a16="http://schemas.microsoft.com/office/drawing/2014/main" id="{FE1E93DF-987C-1D76-7BC5-18BB7C4943D0}"/>
              </a:ext>
            </a:extLst>
          </p:cNvPr>
          <p:cNvGrpSpPr/>
          <p:nvPr/>
        </p:nvGrpSpPr>
        <p:grpSpPr>
          <a:xfrm>
            <a:off x="3738251" y="1607873"/>
            <a:ext cx="420624" cy="420624"/>
            <a:chOff x="1119929" y="943834"/>
            <a:chExt cx="846331" cy="784203"/>
          </a:xfrm>
        </p:grpSpPr>
        <p:pic>
          <p:nvPicPr>
            <p:cNvPr id="5" name="Picture 6" descr="143,700+ Mouth Icon Illustrations, Royalty-Free Vector Graphics &amp; Clip Art  - iStock | Open mouth icon, Word of mouth icon, Cover mouth icon">
              <a:extLst>
                <a:ext uri="{FF2B5EF4-FFF2-40B4-BE49-F238E27FC236}">
                  <a16:creationId xmlns:a16="http://schemas.microsoft.com/office/drawing/2014/main" id="{36672C19-F821-CFB8-52EA-BC409D248EDC}"/>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627C775F-10DE-7367-598F-3FBE8C22FEE2}"/>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grpSp>
        <p:nvGrpSpPr>
          <p:cNvPr id="32" name="Group 31">
            <a:extLst>
              <a:ext uri="{FF2B5EF4-FFF2-40B4-BE49-F238E27FC236}">
                <a16:creationId xmlns:a16="http://schemas.microsoft.com/office/drawing/2014/main" id="{F783DC6E-EA98-9AE1-2196-5F8CDE5F5EC3}"/>
              </a:ext>
            </a:extLst>
          </p:cNvPr>
          <p:cNvGrpSpPr/>
          <p:nvPr/>
        </p:nvGrpSpPr>
        <p:grpSpPr>
          <a:xfrm>
            <a:off x="1046276" y="1600797"/>
            <a:ext cx="925653" cy="806539"/>
            <a:chOff x="1668641" y="1600319"/>
            <a:chExt cx="925894" cy="806749"/>
          </a:xfrm>
        </p:grpSpPr>
        <p:cxnSp>
          <p:nvCxnSpPr>
            <p:cNvPr id="33" name="Straight Connector 32">
              <a:extLst>
                <a:ext uri="{FF2B5EF4-FFF2-40B4-BE49-F238E27FC236}">
                  <a16:creationId xmlns:a16="http://schemas.microsoft.com/office/drawing/2014/main" id="{4615A4BE-1ACE-F234-667E-BF98A91F2EF0}"/>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34" name="TextBox 33">
              <a:extLst>
                <a:ext uri="{FF2B5EF4-FFF2-40B4-BE49-F238E27FC236}">
                  <a16:creationId xmlns:a16="http://schemas.microsoft.com/office/drawing/2014/main" id="{F5A361D7-8009-C0AA-6711-3258FDECCE52}"/>
                </a:ext>
              </a:extLst>
            </p:cNvPr>
            <p:cNvSpPr txBox="1"/>
            <p:nvPr/>
          </p:nvSpPr>
          <p:spPr bwMode="gray">
            <a:xfrm>
              <a:off x="1686341" y="1600319"/>
              <a:ext cx="650178" cy="28623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p:txBody>
        </p:sp>
        <p:sp>
          <p:nvSpPr>
            <p:cNvPr id="35" name="TextBox 34">
              <a:extLst>
                <a:ext uri="{FF2B5EF4-FFF2-40B4-BE49-F238E27FC236}">
                  <a16:creationId xmlns:a16="http://schemas.microsoft.com/office/drawing/2014/main" id="{527316B9-6E92-4BCD-A5CA-86EE1F279772}"/>
                </a:ext>
              </a:extLst>
            </p:cNvPr>
            <p:cNvSpPr txBox="1"/>
            <p:nvPr/>
          </p:nvSpPr>
          <p:spPr bwMode="gray">
            <a:xfrm>
              <a:off x="1668641" y="1940787"/>
              <a:ext cx="925894" cy="466281"/>
            </a:xfrm>
            <a:prstGeom prst="rect">
              <a:avLst/>
            </a:prstGeom>
          </p:spPr>
          <p:txBody>
            <a:bodyPr wrap="none" lIns="45708" tIns="45708" rIns="45708" bIns="45708" rtlCol="0">
              <a:spAutoFit/>
            </a:bodyPr>
            <a:lstStyle/>
            <a:p>
              <a:pPr>
                <a:lnSpc>
                  <a:spcPct val="90000"/>
                </a:lnSpc>
                <a:spcBef>
                  <a:spcPts val="1000"/>
                </a:spcBef>
                <a:tabLst>
                  <a:tab pos="457063" algn="l"/>
                </a:tabLst>
                <a:defRPr/>
              </a:pPr>
              <a:r>
                <a:rPr lang="en-US" sz="900">
                  <a:solidFill>
                    <a:srgbClr val="FFFFFF">
                      <a:lumMod val="50000"/>
                    </a:srgbClr>
                  </a:solidFill>
                  <a:latin typeface="Arial" panose="020B0604020202020204"/>
                </a:rPr>
                <a:t>(n=200)	TOTAL</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(n=160)	PED</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(n=40)	PCP</a:t>
              </a:r>
            </a:p>
          </p:txBody>
        </p:sp>
      </p:grpSp>
      <p:sp>
        <p:nvSpPr>
          <p:cNvPr id="36" name="TextBox 35">
            <a:extLst>
              <a:ext uri="{FF2B5EF4-FFF2-40B4-BE49-F238E27FC236}">
                <a16:creationId xmlns:a16="http://schemas.microsoft.com/office/drawing/2014/main" id="{5E6FB86B-475A-BC17-AF4C-938AA533DD64}"/>
              </a:ext>
            </a:extLst>
          </p:cNvPr>
          <p:cNvSpPr txBox="1"/>
          <p:nvPr/>
        </p:nvSpPr>
        <p:spPr bwMode="gray">
          <a:xfrm>
            <a:off x="976021" y="1310100"/>
            <a:ext cx="825909" cy="338466"/>
          </a:xfrm>
          <a:prstGeom prst="rect">
            <a:avLst/>
          </a:prstGeom>
          <a:noFill/>
        </p:spPr>
        <p:txBody>
          <a:bodyPr wrap="none">
            <a:spAutoFit/>
          </a:bodyPr>
          <a:lstStyle/>
          <a:p>
            <a:r>
              <a:rPr lang="en-US" sz="1600">
                <a:solidFill>
                  <a:srgbClr val="000000"/>
                </a:solidFill>
                <a:latin typeface="Arial" panose="020B0604020202020204"/>
              </a:rPr>
              <a:t>TOTAL</a:t>
            </a:r>
          </a:p>
        </p:txBody>
      </p:sp>
      <p:graphicFrame>
        <p:nvGraphicFramePr>
          <p:cNvPr id="20" name="Table 19">
            <a:extLst>
              <a:ext uri="{FF2B5EF4-FFF2-40B4-BE49-F238E27FC236}">
                <a16:creationId xmlns:a16="http://schemas.microsoft.com/office/drawing/2014/main" id="{B51E495C-0D26-113B-D747-643CDCF5C15D}"/>
              </a:ext>
            </a:extLst>
          </p:cNvPr>
          <p:cNvGraphicFramePr>
            <a:graphicFrameLocks noGrp="1"/>
          </p:cNvGraphicFramePr>
          <p:nvPr>
            <p:extLst>
              <p:ext uri="{D42A27DB-BD31-4B8C-83A1-F6EECF244321}">
                <p14:modId xmlns:p14="http://schemas.microsoft.com/office/powerpoint/2010/main" val="679519303"/>
              </p:ext>
            </p:extLst>
          </p:nvPr>
        </p:nvGraphicFramePr>
        <p:xfrm>
          <a:off x="2765002" y="2407336"/>
          <a:ext cx="8345615" cy="3681048"/>
        </p:xfrm>
        <a:graphic>
          <a:graphicData uri="http://schemas.openxmlformats.org/drawingml/2006/table">
            <a:tbl>
              <a:tblPr firstRow="1" bandRow="1">
                <a:tableStyleId>{F5AB1C69-6EDB-4FF4-983F-18BD219EF322}</a:tableStyleId>
              </a:tblPr>
              <a:tblGrid>
                <a:gridCol w="5760720">
                  <a:extLst>
                    <a:ext uri="{9D8B030D-6E8A-4147-A177-3AD203B41FA5}">
                      <a16:colId xmlns:a16="http://schemas.microsoft.com/office/drawing/2014/main" val="980891169"/>
                    </a:ext>
                  </a:extLst>
                </a:gridCol>
                <a:gridCol w="713232">
                  <a:extLst>
                    <a:ext uri="{9D8B030D-6E8A-4147-A177-3AD203B41FA5}">
                      <a16:colId xmlns:a16="http://schemas.microsoft.com/office/drawing/2014/main" val="765208812"/>
                    </a:ext>
                  </a:extLst>
                </a:gridCol>
                <a:gridCol w="225743">
                  <a:extLst>
                    <a:ext uri="{9D8B030D-6E8A-4147-A177-3AD203B41FA5}">
                      <a16:colId xmlns:a16="http://schemas.microsoft.com/office/drawing/2014/main" val="3687049205"/>
                    </a:ext>
                  </a:extLst>
                </a:gridCol>
                <a:gridCol w="822960">
                  <a:extLst>
                    <a:ext uri="{9D8B030D-6E8A-4147-A177-3AD203B41FA5}">
                      <a16:colId xmlns:a16="http://schemas.microsoft.com/office/drawing/2014/main" val="3264863121"/>
                    </a:ext>
                  </a:extLst>
                </a:gridCol>
                <a:gridCol w="822960">
                  <a:extLst>
                    <a:ext uri="{9D8B030D-6E8A-4147-A177-3AD203B41FA5}">
                      <a16:colId xmlns:a16="http://schemas.microsoft.com/office/drawing/2014/main" val="1469452096"/>
                    </a:ext>
                  </a:extLst>
                </a:gridCol>
              </a:tblGrid>
              <a:tr h="262932">
                <a:tc>
                  <a:txBody>
                    <a:bodyPr/>
                    <a:lstStyle/>
                    <a:p>
                      <a:pPr algn="l"/>
                      <a:r>
                        <a:rPr lang="en-US" sz="1200"/>
                        <a:t>Top Responses</a:t>
                      </a:r>
                    </a:p>
                  </a:txBody>
                  <a:tcPr marT="27432" marB="27432" anchor="ctr">
                    <a:lnL w="12700" cap="flat" cmpd="sng" algn="ctr">
                      <a:solidFill>
                        <a:schemeClr val="accent3">
                          <a:lumMod val="75000"/>
                        </a:schemeClr>
                      </a:solidFill>
                      <a:prstDash val="solid"/>
                      <a:round/>
                      <a:headEnd type="none" w="med" len="med"/>
                      <a:tailEnd type="none" w="med" len="med"/>
                    </a:lnL>
                    <a:lnT w="12700" cap="flat" cmpd="sng" algn="ctr">
                      <a:solidFill>
                        <a:schemeClr val="accent3">
                          <a:lumMod val="75000"/>
                        </a:schemeClr>
                      </a:solidFill>
                      <a:prstDash val="solid"/>
                      <a:round/>
                      <a:headEnd type="none" w="med" len="med"/>
                      <a:tailEnd type="none" w="med" len="med"/>
                    </a:lnT>
                  </a:tcPr>
                </a:tc>
                <a:tc>
                  <a:txBody>
                    <a:bodyPr/>
                    <a:lstStyle/>
                    <a:p>
                      <a:pPr algn="ctr"/>
                      <a:r>
                        <a:rPr lang="en-US" sz="1200"/>
                        <a:t>TOTAL</a:t>
                      </a:r>
                    </a:p>
                  </a:txBody>
                  <a:tcPr marT="27432" marB="27432" anchor="ctr">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tcPr>
                </a:tc>
                <a:tc>
                  <a:txBody>
                    <a:bodyPr/>
                    <a:lstStyle/>
                    <a:p>
                      <a:pPr algn="ctr"/>
                      <a:endParaRPr lang="en-US" sz="1200"/>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a:r>
                        <a:rPr lang="en-US" sz="1400" b="0">
                          <a:solidFill>
                            <a:schemeClr val="tx1">
                              <a:lumMod val="50000"/>
                              <a:lumOff val="50000"/>
                            </a:schemeClr>
                          </a:solidFill>
                          <a:latin typeface="+mn-lt"/>
                        </a:rPr>
                        <a:t>PED</a:t>
                      </a:r>
                      <a:r>
                        <a:rPr lang="en-US" sz="1600" b="0" baseline="20000">
                          <a:solidFill>
                            <a:schemeClr val="tx1">
                              <a:lumMod val="50000"/>
                              <a:lumOff val="50000"/>
                            </a:schemeClr>
                          </a:solidFill>
                          <a:latin typeface="+mn-lt"/>
                          <a:cs typeface="Arial"/>
                        </a:rPr>
                        <a:t> </a:t>
                      </a:r>
                      <a:r>
                        <a:rPr kumimoji="0" lang="en-US" sz="1600" b="0" i="0" u="none" strike="noStrike" kern="1200" cap="none" spc="0" normalizeH="0" baseline="15000" noProof="0">
                          <a:ln>
                            <a:noFill/>
                          </a:ln>
                          <a:solidFill>
                            <a:schemeClr val="tx1">
                              <a:lumMod val="50000"/>
                              <a:lumOff val="50000"/>
                            </a:schemeClr>
                          </a:solidFill>
                          <a:effectLst/>
                          <a:uLnTx/>
                          <a:uFillTx/>
                          <a:latin typeface="+mn-lt"/>
                          <a:ea typeface="+mn-ea"/>
                          <a:cs typeface="+mn-cs"/>
                        </a:rPr>
                        <a:t>|</a:t>
                      </a:r>
                      <a:r>
                        <a:rPr kumimoji="0" lang="en-US" sz="1600" b="0" i="0" u="none" strike="noStrike" kern="1200" cap="none" spc="0" normalizeH="0" baseline="20000" noProof="0">
                          <a:ln>
                            <a:noFill/>
                          </a:ln>
                          <a:solidFill>
                            <a:schemeClr val="tx1">
                              <a:lumMod val="50000"/>
                              <a:lumOff val="50000"/>
                            </a:schemeClr>
                          </a:solidFill>
                          <a:effectLst/>
                          <a:uLnTx/>
                          <a:uFillTx/>
                          <a:latin typeface="+mn-lt"/>
                          <a:ea typeface="+mn-ea"/>
                          <a:cs typeface="+mn-cs"/>
                        </a:rPr>
                        <a:t> </a:t>
                      </a:r>
                      <a:r>
                        <a:rPr kumimoji="0" lang="en-US" sz="1000" b="0" i="0" u="none" strike="noStrike" kern="1200" cap="none" spc="0" normalizeH="0" baseline="55000" noProof="0">
                          <a:ln>
                            <a:noFill/>
                          </a:ln>
                          <a:solidFill>
                            <a:schemeClr val="tx1">
                              <a:lumMod val="50000"/>
                              <a:lumOff val="50000"/>
                            </a:schemeClr>
                          </a:solidFill>
                          <a:effectLst/>
                          <a:uLnTx/>
                          <a:uFillTx/>
                          <a:latin typeface="+mn-lt"/>
                          <a:ea typeface="+mn-ea"/>
                          <a:cs typeface="+mn-cs"/>
                        </a:rPr>
                        <a:t>A</a:t>
                      </a:r>
                      <a:endParaRPr lang="en-US" sz="1000" b="0" baseline="55000">
                        <a:solidFill>
                          <a:schemeClr val="tx1">
                            <a:lumMod val="50000"/>
                            <a:lumOff val="50000"/>
                          </a:schemeClr>
                        </a:solidFill>
                        <a:latin typeface="+mn-lt"/>
                      </a:endParaRPr>
                    </a:p>
                  </a:txBody>
                  <a:tcPr marL="0" marR="0" marT="0" marB="0"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400" b="0">
                          <a:solidFill>
                            <a:schemeClr val="tx1">
                              <a:lumMod val="50000"/>
                              <a:lumOff val="50000"/>
                            </a:schemeClr>
                          </a:solidFill>
                          <a:latin typeface="+mn-lt"/>
                        </a:rPr>
                        <a:t>PCP</a:t>
                      </a:r>
                      <a:r>
                        <a:rPr lang="en-US" sz="1600" b="0" baseline="20000">
                          <a:solidFill>
                            <a:schemeClr val="tx1">
                              <a:lumMod val="50000"/>
                              <a:lumOff val="50000"/>
                            </a:schemeClr>
                          </a:solidFill>
                          <a:latin typeface="+mn-lt"/>
                          <a:cs typeface="Arial"/>
                        </a:rPr>
                        <a:t> </a:t>
                      </a:r>
                      <a:r>
                        <a:rPr kumimoji="0" lang="en-US" sz="1600" b="0" i="0" u="none" strike="noStrike" kern="1200" cap="none" spc="0" normalizeH="0" baseline="15000" noProof="0">
                          <a:ln>
                            <a:noFill/>
                          </a:ln>
                          <a:solidFill>
                            <a:schemeClr val="tx1">
                              <a:lumMod val="50000"/>
                              <a:lumOff val="50000"/>
                            </a:schemeClr>
                          </a:solidFill>
                          <a:effectLst/>
                          <a:uLnTx/>
                          <a:uFillTx/>
                          <a:latin typeface="+mn-lt"/>
                          <a:ea typeface="+mn-ea"/>
                          <a:cs typeface="+mn-cs"/>
                        </a:rPr>
                        <a:t>|</a:t>
                      </a:r>
                      <a:r>
                        <a:rPr kumimoji="0" lang="en-US" sz="1800" b="0" i="0" u="none" strike="noStrike" kern="1200" cap="none" spc="0" normalizeH="0" baseline="20000" noProof="0">
                          <a:ln>
                            <a:noFill/>
                          </a:ln>
                          <a:solidFill>
                            <a:schemeClr val="tx1">
                              <a:lumMod val="50000"/>
                              <a:lumOff val="50000"/>
                            </a:schemeClr>
                          </a:solidFill>
                          <a:effectLst/>
                          <a:uLnTx/>
                          <a:uFillTx/>
                          <a:latin typeface="+mn-lt"/>
                          <a:ea typeface="+mn-ea"/>
                          <a:cs typeface="+mn-cs"/>
                        </a:rPr>
                        <a:t> </a:t>
                      </a:r>
                      <a:r>
                        <a:rPr kumimoji="0" lang="en-US" sz="1050" b="0" i="0" u="none" strike="noStrike" kern="1200" cap="none" spc="0" normalizeH="0" baseline="55000" noProof="0">
                          <a:ln>
                            <a:noFill/>
                          </a:ln>
                          <a:solidFill>
                            <a:schemeClr val="tx1">
                              <a:lumMod val="50000"/>
                              <a:lumOff val="50000"/>
                            </a:schemeClr>
                          </a:solidFill>
                          <a:effectLst/>
                          <a:uLnTx/>
                          <a:uFillTx/>
                          <a:latin typeface="+mn-lt"/>
                          <a:ea typeface="+mn-ea"/>
                          <a:cs typeface="+mn-cs"/>
                        </a:rPr>
                        <a:t>B</a:t>
                      </a:r>
                      <a:endParaRPr lang="en-US" sz="1800" b="0" baseline="55000">
                        <a:solidFill>
                          <a:schemeClr val="tx1">
                            <a:lumMod val="50000"/>
                            <a:lumOff val="50000"/>
                          </a:schemeClr>
                        </a:solidFill>
                        <a:latin typeface="+mn-lt"/>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85626216"/>
                  </a:ext>
                </a:extLst>
              </a:tr>
              <a:tr h="262932">
                <a:tc>
                  <a:txBody>
                    <a:bodyPr/>
                    <a:lstStyle/>
                    <a:p>
                      <a:pPr algn="l"/>
                      <a:r>
                        <a:rPr lang="en-US" sz="1200" b="1">
                          <a:solidFill>
                            <a:schemeClr val="tx1"/>
                          </a:solidFill>
                        </a:rPr>
                        <a:t>Stocking barriers (Net)</a:t>
                      </a:r>
                    </a:p>
                  </a:txBody>
                  <a:tcPr marT="27432" marB="27432" anchor="ctr">
                    <a:lnL w="12700" cap="flat" cmpd="sng" algn="ctr">
                      <a:solidFill>
                        <a:schemeClr val="accent3">
                          <a:lumMod val="75000"/>
                        </a:schemeClr>
                      </a:solidFill>
                      <a:prstDash val="solid"/>
                      <a:round/>
                      <a:headEnd type="none" w="med" len="med"/>
                      <a:tailEnd type="none" w="med" len="med"/>
                    </a:lnL>
                    <a:lnB w="6350" cap="flat" cmpd="sng" algn="ctr">
                      <a:noFill/>
                      <a:prstDash val="solid"/>
                      <a:round/>
                      <a:headEnd type="none" w="med" len="med"/>
                      <a:tailEnd type="none" w="med" len="med"/>
                    </a:lnB>
                    <a:solidFill>
                      <a:srgbClr val="E7F4F3"/>
                    </a:solidFill>
                  </a:tcPr>
                </a:tc>
                <a:tc>
                  <a:txBody>
                    <a:bodyPr/>
                    <a:lstStyle/>
                    <a:p>
                      <a:pPr algn="ctr"/>
                      <a:r>
                        <a:rPr lang="en-US" sz="1200" b="1">
                          <a:solidFill>
                            <a:schemeClr val="tx1"/>
                          </a:solidFill>
                        </a:rPr>
                        <a:t>24%</a:t>
                      </a:r>
                    </a:p>
                  </a:txBody>
                  <a:tcPr marT="27432" marB="27432" anchor="ctr">
                    <a:lnR w="12700" cap="flat" cmpd="sng" algn="ctr">
                      <a:solidFill>
                        <a:schemeClr val="accent3">
                          <a:lumMod val="75000"/>
                        </a:schemeClr>
                      </a:solidFill>
                      <a:prstDash val="solid"/>
                      <a:round/>
                      <a:headEnd type="none" w="med" len="med"/>
                      <a:tailEnd type="none" w="med" len="med"/>
                    </a:lnR>
                    <a:lnB w="6350" cap="flat" cmpd="sng" algn="ctr">
                      <a:noFill/>
                      <a:prstDash val="solid"/>
                      <a:round/>
                      <a:headEnd type="none" w="med" len="med"/>
                      <a:tailEnd type="none" w="med" len="med"/>
                    </a:lnB>
                    <a:solidFill>
                      <a:srgbClr val="E7F4F3"/>
                    </a:solidFill>
                  </a:tcPr>
                </a:tc>
                <a:tc>
                  <a:txBody>
                    <a:bodyPr/>
                    <a:lstStyle/>
                    <a:p>
                      <a:pPr algn="ctr"/>
                      <a:endParaRPr lang="en-US" sz="1200" b="1">
                        <a:solidFill>
                          <a:schemeClr val="tx1"/>
                        </a:solidFill>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B w="6350" cap="flat" cmpd="sng" algn="ctr">
                      <a:noFill/>
                      <a:prstDash val="solid"/>
                      <a:round/>
                      <a:headEnd type="none" w="med" len="med"/>
                      <a:tailEnd type="none" w="med" len="med"/>
                    </a:lnB>
                    <a:noFill/>
                  </a:tcPr>
                </a:tc>
                <a:tc>
                  <a:txBody>
                    <a:bodyPr/>
                    <a:lstStyle/>
                    <a:p>
                      <a:pPr algn="ctr"/>
                      <a:r>
                        <a:rPr lang="en-US" sz="1200" b="0">
                          <a:solidFill>
                            <a:schemeClr val="tx1">
                              <a:lumMod val="50000"/>
                              <a:lumOff val="50000"/>
                            </a:schemeClr>
                          </a:solidFill>
                        </a:rPr>
                        <a:t>28%</a:t>
                      </a:r>
                      <a:r>
                        <a:rPr lang="en-US" sz="1200" b="0" baseline="30000">
                          <a:solidFill>
                            <a:schemeClr val="tx1">
                              <a:lumMod val="50000"/>
                              <a:lumOff val="50000"/>
                            </a:schemeClr>
                          </a:solidFill>
                        </a:rPr>
                        <a:t>B</a:t>
                      </a:r>
                      <a:endParaRPr lang="en-US" sz="1200" b="0" baseline="50000">
                        <a:solidFill>
                          <a:schemeClr val="tx1">
                            <a:lumMod val="50000"/>
                            <a:lumOff val="50000"/>
                          </a:schemeClr>
                        </a:solidFill>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200" b="0">
                          <a:solidFill>
                            <a:schemeClr val="tx1">
                              <a:lumMod val="50000"/>
                              <a:lumOff val="50000"/>
                            </a:schemeClr>
                          </a:solidFill>
                        </a:rPr>
                        <a:t>10%</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35588992"/>
                  </a:ext>
                </a:extLst>
              </a:tr>
              <a:tr h="262932">
                <a:tc>
                  <a:txBody>
                    <a:bodyPr/>
                    <a:lstStyle/>
                    <a:p>
                      <a:pPr algn="l"/>
                      <a:r>
                        <a:rPr lang="en-US" sz="1200" b="1">
                          <a:solidFill>
                            <a:schemeClr val="tx1"/>
                          </a:solidFill>
                        </a:rPr>
                        <a:t>Don't want to stock multiple Vxs/not enough benefit (subnet)</a:t>
                      </a:r>
                    </a:p>
                  </a:txBody>
                  <a:tcPr marL="274320"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14%</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16%</a:t>
                      </a:r>
                      <a:r>
                        <a:rPr kumimoji="0" lang="en-US" sz="1200" b="1" i="0" u="none" strike="noStrike" kern="1200" cap="none" spc="0" normalizeH="0" baseline="50000" noProof="0">
                          <a:ln>
                            <a:noFill/>
                          </a:ln>
                          <a:solidFill>
                            <a:schemeClr val="tx1"/>
                          </a:solidFill>
                          <a:effectLst/>
                          <a:uLnTx/>
                          <a:uFillTx/>
                          <a:latin typeface="Arial" panose="020B0604020202020204"/>
                          <a:ea typeface="+mn-ea"/>
                          <a:cs typeface="+mn-cs"/>
                        </a:rPr>
                        <a:t>B</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3%</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95064838"/>
                  </a:ext>
                </a:extLst>
              </a:tr>
              <a:tr h="262932">
                <a:tc>
                  <a:txBody>
                    <a:bodyPr/>
                    <a:lstStyle/>
                    <a:p>
                      <a:pPr algn="l"/>
                      <a:r>
                        <a:rPr lang="en-US" sz="1200">
                          <a:solidFill>
                            <a:schemeClr val="tx1"/>
                          </a:solidFill>
                        </a:rPr>
                        <a:t>Do not want to stock multiple Vxs / too much hassle</a:t>
                      </a:r>
                    </a:p>
                  </a:txBody>
                  <a:tcPr marL="457200"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Arial" panose="020B0604020202020204"/>
                          <a:ea typeface="+mn-ea"/>
                          <a:cs typeface="+mn-cs"/>
                        </a:rPr>
                        <a:t>10%</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12%</a:t>
                      </a:r>
                      <a:r>
                        <a:rPr kumimoji="0" lang="en-US" sz="1200" b="1" i="0" u="none" strike="noStrike" kern="1200" cap="none" spc="0" normalizeH="0" baseline="50000" noProof="0">
                          <a:ln>
                            <a:noFill/>
                          </a:ln>
                          <a:solidFill>
                            <a:schemeClr val="tx1"/>
                          </a:solidFill>
                          <a:effectLst/>
                          <a:uLnTx/>
                          <a:uFillTx/>
                          <a:latin typeface="Arial" panose="020B0604020202020204"/>
                          <a:ea typeface="+mn-ea"/>
                          <a:cs typeface="+mn-cs"/>
                        </a:rPr>
                        <a:t>B</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3%</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00659004"/>
                  </a:ext>
                </a:extLst>
              </a:tr>
              <a:tr h="262932">
                <a:tc>
                  <a:txBody>
                    <a:bodyPr/>
                    <a:lstStyle/>
                    <a:p>
                      <a:pPr algn="l"/>
                      <a:r>
                        <a:rPr lang="en-US" sz="1200">
                          <a:solidFill>
                            <a:schemeClr val="tx1"/>
                          </a:solidFill>
                        </a:rPr>
                        <a:t>No significant benefit / doesn't simplify routine</a:t>
                      </a:r>
                    </a:p>
                  </a:txBody>
                  <a:tcPr marL="457200"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Arial" panose="020B0604020202020204"/>
                          <a:ea typeface="+mn-ea"/>
                          <a:cs typeface="+mn-cs"/>
                        </a:rPr>
                        <a:t>4%</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5%</a:t>
                      </a:r>
                      <a:r>
                        <a:rPr kumimoji="0" lang="en-US" sz="1200" b="1" i="0" u="none" strike="noStrike" kern="1200" cap="none" spc="0" normalizeH="0" baseline="50000" noProof="0">
                          <a:ln>
                            <a:noFill/>
                          </a:ln>
                          <a:solidFill>
                            <a:schemeClr val="tx1"/>
                          </a:solidFill>
                          <a:effectLst/>
                          <a:uLnTx/>
                          <a:uFillTx/>
                          <a:latin typeface="Arial" panose="020B0604020202020204"/>
                          <a:ea typeface="+mn-ea"/>
                          <a:cs typeface="+mn-cs"/>
                        </a:rPr>
                        <a:t>B</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0%</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49236311"/>
                  </a:ext>
                </a:extLst>
              </a:tr>
              <a:tr h="262932">
                <a:tc>
                  <a:txBody>
                    <a:bodyPr/>
                    <a:lstStyle/>
                    <a:p>
                      <a:pPr algn="l"/>
                      <a:r>
                        <a:rPr lang="en-US" sz="1200" b="1">
                          <a:solidFill>
                            <a:schemeClr val="tx1"/>
                          </a:solidFill>
                        </a:rPr>
                        <a:t>Stocking multiple Vxs increases risk of error / is confusing</a:t>
                      </a:r>
                    </a:p>
                  </a:txBody>
                  <a:tcPr marL="274320"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10%</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12%</a:t>
                      </a:r>
                      <a:r>
                        <a:rPr kumimoji="0" lang="en-US" sz="1200" b="1"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rPr>
                        <a:t>B</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0%</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70601140"/>
                  </a:ext>
                </a:extLst>
              </a:tr>
              <a:tr h="262932">
                <a:tc>
                  <a:txBody>
                    <a:bodyPr/>
                    <a:lstStyle/>
                    <a:p>
                      <a:pPr algn="l"/>
                      <a:r>
                        <a:rPr lang="en-US" sz="1200" b="1">
                          <a:solidFill>
                            <a:schemeClr val="tx1"/>
                          </a:solidFill>
                        </a:rPr>
                        <a:t>Storage burden</a:t>
                      </a:r>
                    </a:p>
                  </a:txBody>
                  <a:tcPr marL="274320"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5%</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4%</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5%</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38095991"/>
                  </a:ext>
                </a:extLst>
              </a:tr>
              <a:tr h="262932">
                <a:tc>
                  <a:txBody>
                    <a:bodyPr/>
                    <a:lstStyle/>
                    <a:p>
                      <a:pPr algn="l"/>
                      <a:r>
                        <a:rPr lang="en-US" sz="1200" b="1">
                          <a:solidFill>
                            <a:schemeClr val="tx1"/>
                          </a:solidFill>
                        </a:rPr>
                        <a:t>Patient refusal / preference / MenB not required</a:t>
                      </a:r>
                    </a:p>
                  </a:txBody>
                  <a:tcPr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23%</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21%</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30%</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95865855"/>
                  </a:ext>
                </a:extLst>
              </a:tr>
              <a:tr h="262932">
                <a:tc>
                  <a:txBody>
                    <a:bodyPr/>
                    <a:lstStyle/>
                    <a:p>
                      <a:pPr algn="l"/>
                      <a:r>
                        <a:rPr lang="en-US" sz="1200" b="1">
                          <a:solidFill>
                            <a:schemeClr val="tx1"/>
                          </a:solidFill>
                        </a:rPr>
                        <a:t>Don't want to change practice (Net)</a:t>
                      </a:r>
                    </a:p>
                  </a:txBody>
                  <a:tcPr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24%</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24%</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20%</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43842743"/>
                  </a:ext>
                </a:extLst>
              </a:tr>
              <a:tr h="262932">
                <a:tc>
                  <a:txBody>
                    <a:bodyPr/>
                    <a:lstStyle/>
                    <a:p>
                      <a:pPr algn="l"/>
                      <a:r>
                        <a:rPr lang="en-US" sz="1200" b="0">
                          <a:solidFill>
                            <a:schemeClr val="tx1"/>
                          </a:solidFill>
                        </a:rPr>
                        <a:t>Difficult to change / takes time / staff buy-in</a:t>
                      </a:r>
                    </a:p>
                  </a:txBody>
                  <a:tcPr marL="274320"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Arial" panose="020B0604020202020204"/>
                          <a:ea typeface="+mn-ea"/>
                          <a:cs typeface="+mn-cs"/>
                        </a:rPr>
                        <a:t>13%</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14%</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8%</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65285087"/>
                  </a:ext>
                </a:extLst>
              </a:tr>
              <a:tr h="262932">
                <a:tc>
                  <a:txBody>
                    <a:bodyPr/>
                    <a:lstStyle/>
                    <a:p>
                      <a:pPr algn="l"/>
                      <a:r>
                        <a:rPr lang="en-US" sz="1200" b="0" dirty="0">
                          <a:solidFill>
                            <a:schemeClr val="tx1"/>
                          </a:solidFill>
                        </a:rPr>
                        <a:t>Use Bexsero / have stock / patient already started / Trumenba requirement</a:t>
                      </a:r>
                    </a:p>
                  </a:txBody>
                  <a:tcPr marL="274320"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Arial" panose="020B0604020202020204"/>
                          <a:ea typeface="+mn-ea"/>
                          <a:cs typeface="+mn-cs"/>
                        </a:rPr>
                        <a:t>11%</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11%</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13%</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10966140"/>
                  </a:ext>
                </a:extLst>
              </a:tr>
              <a:tr h="262932">
                <a:tc>
                  <a:txBody>
                    <a:bodyPr/>
                    <a:lstStyle/>
                    <a:p>
                      <a:pPr algn="l"/>
                      <a:r>
                        <a:rPr lang="en-US" sz="1200" b="1">
                          <a:solidFill>
                            <a:schemeClr val="tx1"/>
                          </a:solidFill>
                        </a:rPr>
                        <a:t>Costs, insurance coverage</a:t>
                      </a:r>
                    </a:p>
                  </a:txBody>
                  <a:tcPr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15%</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13%</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23%</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16117956"/>
                  </a:ext>
                </a:extLst>
              </a:tr>
              <a:tr h="262932">
                <a:tc>
                  <a:txBody>
                    <a:bodyPr/>
                    <a:lstStyle/>
                    <a:p>
                      <a:pPr algn="l"/>
                      <a:r>
                        <a:rPr lang="en-US" sz="1200" b="1">
                          <a:solidFill>
                            <a:schemeClr val="tx1"/>
                          </a:solidFill>
                        </a:rPr>
                        <a:t>Too new / lack of experience</a:t>
                      </a:r>
                    </a:p>
                  </a:txBody>
                  <a:tcPr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10%</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10%</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8%</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056287833"/>
                  </a:ext>
                </a:extLst>
              </a:tr>
              <a:tr h="262932">
                <a:tc>
                  <a:txBody>
                    <a:bodyPr/>
                    <a:lstStyle/>
                    <a:p>
                      <a:pPr algn="l"/>
                      <a:r>
                        <a:rPr lang="en-US" sz="1200" b="1">
                          <a:solidFill>
                            <a:schemeClr val="tx1"/>
                          </a:solidFill>
                        </a:rPr>
                        <a:t>None</a:t>
                      </a:r>
                    </a:p>
                  </a:txBody>
                  <a:tcPr marT="27432" marB="27432" anchor="ctr">
                    <a:lnL w="12700" cap="flat" cmpd="sng" algn="ctr">
                      <a:solidFill>
                        <a:schemeClr val="accent3">
                          <a:lumMod val="75000"/>
                        </a:schemeClr>
                      </a:solidFill>
                      <a:prstDash val="solid"/>
                      <a:round/>
                      <a:headEnd type="none" w="med" len="med"/>
                      <a:tailEnd type="none" w="med" len="med"/>
                    </a:lnL>
                    <a:lnT w="6350" cap="flat" cmpd="sng" algn="ctr">
                      <a:no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a:ea typeface="+mn-ea"/>
                          <a:cs typeface="+mn-cs"/>
                        </a:rPr>
                        <a:t>9%</a:t>
                      </a:r>
                    </a:p>
                  </a:txBody>
                  <a:tcPr marT="27432" marB="27432" anchor="ctr">
                    <a:lnR w="12700" cap="flat" cmpd="sng" algn="ctr">
                      <a:solidFill>
                        <a:schemeClr val="accent3">
                          <a:lumMod val="7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solidFill>
                      <a:srgbClr val="E7F4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Arial" panose="020B0604020202020204"/>
                        <a:ea typeface="+mn-ea"/>
                        <a:cs typeface="+mn-cs"/>
                      </a:endParaRPr>
                    </a:p>
                  </a:txBody>
                  <a:tcPr marT="27432" marB="27432" anchor="ctr">
                    <a:lnL w="12700" cap="flat" cmpd="sng" algn="ctr">
                      <a:solidFill>
                        <a:schemeClr val="accent3">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8%</a:t>
                      </a: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13%</a:t>
                      </a:r>
                    </a:p>
                  </a:txBody>
                  <a:tcPr marT="27432" marB="27432"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83128324"/>
                  </a:ext>
                </a:extLst>
              </a:tr>
            </a:tbl>
          </a:graphicData>
        </a:graphic>
      </p:graphicFrame>
      <p:sp>
        <p:nvSpPr>
          <p:cNvPr id="11" name="TextBox 10">
            <a:extLst>
              <a:ext uri="{FF2B5EF4-FFF2-40B4-BE49-F238E27FC236}">
                <a16:creationId xmlns:a16="http://schemas.microsoft.com/office/drawing/2014/main" id="{85F5A87B-CBB1-E20A-FD85-D33D3D49CBDB}"/>
              </a:ext>
            </a:extLst>
          </p:cNvPr>
          <p:cNvSpPr txBox="1"/>
          <p:nvPr/>
        </p:nvSpPr>
        <p:spPr bwMode="gray">
          <a:xfrm>
            <a:off x="7572264" y="2970114"/>
            <a:ext cx="1116588" cy="175433"/>
          </a:xfrm>
          <a:prstGeom prst="rect">
            <a:avLst/>
          </a:prstGeom>
          <a:solidFill>
            <a:schemeClr val="bg1">
              <a:lumMod val="95000"/>
            </a:schemeClr>
          </a:solidFill>
          <a:ln w="12700">
            <a:solidFill>
              <a:schemeClr val="tx1">
                <a:lumMod val="50000"/>
                <a:lumOff val="50000"/>
              </a:schemeClr>
            </a:solidFill>
            <a:prstDash val="solid"/>
          </a:ln>
        </p:spPr>
        <p:txBody>
          <a:bodyPr wrap="none" lIns="27432" tIns="18288" rIns="27432" bIns="18288" rtlCol="0" anchor="ctr" anchorCtr="0">
            <a:spAutoFit/>
          </a:bodyPr>
          <a:lstStyle/>
          <a:p>
            <a:pPr lvl="0" algn="ctr">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High Public &lt; Others</a:t>
            </a:r>
          </a:p>
        </p:txBody>
      </p:sp>
      <p:sp>
        <p:nvSpPr>
          <p:cNvPr id="12" name="TextBox 11">
            <a:extLst>
              <a:ext uri="{FF2B5EF4-FFF2-40B4-BE49-F238E27FC236}">
                <a16:creationId xmlns:a16="http://schemas.microsoft.com/office/drawing/2014/main" id="{19797530-5112-89A2-D627-468A784B1719}"/>
              </a:ext>
            </a:extLst>
          </p:cNvPr>
          <p:cNvSpPr txBox="1"/>
          <p:nvPr/>
        </p:nvSpPr>
        <p:spPr bwMode="gray">
          <a:xfrm>
            <a:off x="7572265" y="3235691"/>
            <a:ext cx="1116588" cy="175433"/>
          </a:xfrm>
          <a:prstGeom prst="rect">
            <a:avLst/>
          </a:prstGeom>
          <a:solidFill>
            <a:schemeClr val="bg1">
              <a:lumMod val="95000"/>
            </a:schemeClr>
          </a:solidFill>
          <a:ln w="12700">
            <a:solidFill>
              <a:schemeClr val="tx1">
                <a:lumMod val="50000"/>
                <a:lumOff val="50000"/>
              </a:schemeClr>
            </a:solidFill>
            <a:prstDash val="solid"/>
          </a:ln>
        </p:spPr>
        <p:txBody>
          <a:bodyPr wrap="none" lIns="27432" tIns="18288" rIns="27432" bIns="18288" rtlCol="0" anchor="ctr" anchorCtr="0">
            <a:spAutoFit/>
          </a:bodyPr>
          <a:lstStyle/>
          <a:p>
            <a:pPr lvl="0" algn="r">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High Public &lt; Others</a:t>
            </a:r>
          </a:p>
        </p:txBody>
      </p:sp>
      <p:sp>
        <p:nvSpPr>
          <p:cNvPr id="15" name="TextBox 14">
            <a:extLst>
              <a:ext uri="{FF2B5EF4-FFF2-40B4-BE49-F238E27FC236}">
                <a16:creationId xmlns:a16="http://schemas.microsoft.com/office/drawing/2014/main" id="{768A81E1-6D48-181B-EAE6-0C76353BCCFB}"/>
              </a:ext>
            </a:extLst>
          </p:cNvPr>
          <p:cNvSpPr txBox="1"/>
          <p:nvPr/>
        </p:nvSpPr>
        <p:spPr bwMode="gray">
          <a:xfrm>
            <a:off x="7553029" y="3764056"/>
            <a:ext cx="1135824" cy="175433"/>
          </a:xfrm>
          <a:prstGeom prst="rect">
            <a:avLst/>
          </a:prstGeom>
          <a:solidFill>
            <a:schemeClr val="bg1"/>
          </a:solidFill>
          <a:ln w="6350">
            <a:solidFill>
              <a:schemeClr val="tx1">
                <a:lumMod val="50000"/>
                <a:lumOff val="50000"/>
              </a:schemeClr>
            </a:solidFill>
            <a:prstDash val="solid"/>
          </a:ln>
        </p:spPr>
        <p:txBody>
          <a:bodyPr wrap="none" lIns="27432" tIns="18288" rIns="27432" bIns="18288" rtlCol="0" anchor="ctr" anchorCtr="0">
            <a:spAutoFit/>
          </a:bodyPr>
          <a:lstStyle/>
          <a:p>
            <a:pPr marL="457200" lvl="0" indent="-457200" algn="r"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Tier 2 &gt; Tier 3</a:t>
            </a:r>
          </a:p>
        </p:txBody>
      </p:sp>
      <p:sp>
        <p:nvSpPr>
          <p:cNvPr id="16" name="TextBox 15">
            <a:extLst>
              <a:ext uri="{FF2B5EF4-FFF2-40B4-BE49-F238E27FC236}">
                <a16:creationId xmlns:a16="http://schemas.microsoft.com/office/drawing/2014/main" id="{99AE232D-0F16-22E8-49B8-0BDD1D8D4A25}"/>
              </a:ext>
            </a:extLst>
          </p:cNvPr>
          <p:cNvSpPr txBox="1"/>
          <p:nvPr/>
        </p:nvSpPr>
        <p:spPr bwMode="gray">
          <a:xfrm>
            <a:off x="7912102" y="4024685"/>
            <a:ext cx="776751" cy="175433"/>
          </a:xfrm>
          <a:prstGeom prst="rect">
            <a:avLst/>
          </a:prstGeom>
          <a:solidFill>
            <a:schemeClr val="bg1"/>
          </a:solidFill>
          <a:ln w="6350">
            <a:solidFill>
              <a:schemeClr val="tx1">
                <a:lumMod val="50000"/>
                <a:lumOff val="50000"/>
              </a:schemeClr>
            </a:solidFill>
            <a:prstDash val="solid"/>
          </a:ln>
        </p:spPr>
        <p:txBody>
          <a:bodyPr wrap="none" lIns="27432" tIns="18288" rIns="27432" bIns="18288" rtlCol="0" anchor="ctr" anchorCtr="0">
            <a:spAutoFit/>
          </a:bodyPr>
          <a:lstStyle/>
          <a:p>
            <a:pPr marL="457200" lvl="0" indent="-457200" algn="r"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 Tier 2</a:t>
            </a:r>
          </a:p>
        </p:txBody>
      </p:sp>
      <p:sp>
        <p:nvSpPr>
          <p:cNvPr id="18" name="TextBox 17">
            <a:extLst>
              <a:ext uri="{FF2B5EF4-FFF2-40B4-BE49-F238E27FC236}">
                <a16:creationId xmlns:a16="http://schemas.microsoft.com/office/drawing/2014/main" id="{30B44221-297A-9072-3984-7BCCAC3C65F0}"/>
              </a:ext>
            </a:extLst>
          </p:cNvPr>
          <p:cNvSpPr txBox="1"/>
          <p:nvPr/>
        </p:nvSpPr>
        <p:spPr bwMode="gray">
          <a:xfrm>
            <a:off x="7553029" y="4817421"/>
            <a:ext cx="1135824" cy="175433"/>
          </a:xfrm>
          <a:prstGeom prst="rect">
            <a:avLst/>
          </a:prstGeom>
          <a:solidFill>
            <a:schemeClr val="bg1"/>
          </a:solidFill>
          <a:ln w="6350">
            <a:solidFill>
              <a:schemeClr val="tx1">
                <a:lumMod val="50000"/>
                <a:lumOff val="50000"/>
              </a:schemeClr>
            </a:solidFill>
            <a:prstDash val="solid"/>
          </a:ln>
        </p:spPr>
        <p:txBody>
          <a:bodyPr wrap="none" lIns="27432" tIns="18288" rIns="27432" bIns="18288" rtlCol="0" anchor="ctr" anchorCtr="0">
            <a:spAutoFit/>
          </a:bodyPr>
          <a:lstStyle/>
          <a:p>
            <a:pPr marL="457200" lvl="0" indent="-457200" algn="r"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Tier 2 &gt; Tier 3</a:t>
            </a:r>
          </a:p>
        </p:txBody>
      </p:sp>
    </p:spTree>
    <p:extLst>
      <p:ext uri="{BB962C8B-B14F-4D97-AF65-F5344CB8AC3E}">
        <p14:creationId xmlns:p14="http://schemas.microsoft.com/office/powerpoint/2010/main" val="657474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0DEE6-1E71-04DF-A913-9664B47C0BB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9F3E960-640F-CF46-9B9A-4A0AE46FF090}"/>
              </a:ext>
            </a:extLst>
          </p:cNvPr>
          <p:cNvSpPr>
            <a:spLocks noGrp="1"/>
          </p:cNvSpPr>
          <p:nvPr>
            <p:ph type="title"/>
          </p:nvPr>
        </p:nvSpPr>
        <p:spPr>
          <a:xfrm>
            <a:off x="1142123" y="170307"/>
            <a:ext cx="10411702" cy="507251"/>
          </a:xfrm>
        </p:spPr>
        <p:txBody>
          <a:bodyPr/>
          <a:lstStyle/>
          <a:p>
            <a:r>
              <a:rPr lang="en-US" b="1" dirty="0">
                <a:solidFill>
                  <a:srgbClr val="0000C9"/>
                </a:solidFill>
                <a:latin typeface="Arial" panose="020B0604020202020204"/>
                <a:ea typeface="+mn-ea"/>
                <a:cs typeface="+mn-cs"/>
              </a:rPr>
              <a:t>Verbatims: Reasons </a:t>
            </a:r>
            <a:r>
              <a:rPr lang="en-US" b="1" dirty="0">
                <a:solidFill>
                  <a:schemeClr val="accent1"/>
                </a:solidFill>
                <a:latin typeface="Arial" panose="020B0604020202020204"/>
                <a:ea typeface="+mn-ea"/>
                <a:cs typeface="+mn-cs"/>
              </a:rPr>
              <a:t>May Not Administer Penbraya to Eligible Patients</a:t>
            </a:r>
          </a:p>
        </p:txBody>
      </p:sp>
      <p:sp>
        <p:nvSpPr>
          <p:cNvPr id="3" name="Text Placeholder 2">
            <a:extLst>
              <a:ext uri="{FF2B5EF4-FFF2-40B4-BE49-F238E27FC236}">
                <a16:creationId xmlns:a16="http://schemas.microsoft.com/office/drawing/2014/main" id="{7CE0EC2A-666F-FBC0-3FA7-8C0B855BE28C}"/>
              </a:ext>
            </a:extLst>
          </p:cNvPr>
          <p:cNvSpPr>
            <a:spLocks noGrp="1"/>
          </p:cNvSpPr>
          <p:nvPr>
            <p:ph type="body" sz="quarter" idx="16"/>
          </p:nvPr>
        </p:nvSpPr>
        <p:spPr>
          <a:xfrm>
            <a:off x="1571625" y="6440589"/>
            <a:ext cx="9029319" cy="304699"/>
          </a:xfrm>
        </p:spPr>
        <p:txBody>
          <a:bodyPr/>
          <a:lstStyle/>
          <a:p>
            <a:pPr marL="285750" marR="0" lvl="0" indent="-285750" algn="l" defTabSz="914400" rtl="0" eaLnBrk="1" fontAlgn="auto" latinLnBrk="0" hangingPunct="1">
              <a:lnSpc>
                <a:spcPct val="90000"/>
              </a:lnSpc>
              <a:spcBef>
                <a:spcPts val="200"/>
              </a:spcBef>
              <a:spcAft>
                <a:spcPts val="0"/>
              </a:spcAft>
              <a:buClrTx/>
              <a:buSzPct val="100000"/>
              <a:buFont typeface="Arial" panose="020B0604020202020204" pitchFamily="34" charset="0"/>
              <a:buNone/>
              <a:tabLst/>
              <a:defRPr/>
            </a:pPr>
            <a:r>
              <a:rPr lang="en-US" dirty="0"/>
              <a:t>P16.	Excluding financial considerations and potential vaccine platform changes, what are all the reasons you may not administer Penbraya </a:t>
            </a:r>
            <a:br>
              <a:rPr lang="en-US" dirty="0"/>
            </a:br>
            <a:r>
              <a:rPr lang="en-US" dirty="0"/>
              <a:t>(Meningococcal Groups A, B, C, W, and Y vaccine) to eligible patients?  </a:t>
            </a:r>
          </a:p>
        </p:txBody>
      </p:sp>
      <p:sp>
        <p:nvSpPr>
          <p:cNvPr id="12" name="Rectangle 11">
            <a:extLst>
              <a:ext uri="{FF2B5EF4-FFF2-40B4-BE49-F238E27FC236}">
                <a16:creationId xmlns:a16="http://schemas.microsoft.com/office/drawing/2014/main" id="{95C4CE0E-95A0-D2A9-7459-30E8FF726818}"/>
              </a:ext>
            </a:extLst>
          </p:cNvPr>
          <p:cNvSpPr/>
          <p:nvPr/>
        </p:nvSpPr>
        <p:spPr>
          <a:xfrm>
            <a:off x="2198898" y="1408849"/>
            <a:ext cx="7560842" cy="4739759"/>
          </a:xfrm>
          <a:prstGeom prst="rect">
            <a:avLst/>
          </a:prstGeom>
          <a:ln>
            <a:noFill/>
          </a:ln>
        </p:spPr>
        <p:txBody>
          <a:bodyPr wrap="square" tIns="45720" anchor="ctr" anchorCtr="0">
            <a:spAutoFit/>
          </a:bodyPr>
          <a:lstStyle/>
          <a:p>
            <a:pPr algn="ctr">
              <a:spcBef>
                <a:spcPts val="1200"/>
              </a:spcBef>
            </a:pPr>
            <a:r>
              <a:rPr lang="en-US" sz="1400" i="1">
                <a:solidFill>
                  <a:schemeClr val="tx1">
                    <a:lumMod val="50000"/>
                    <a:lumOff val="50000"/>
                  </a:schemeClr>
                </a:solidFill>
              </a:rPr>
              <a:t>Too many vaccines. Not worth it to save 1 shot. Too complicated and increased risk for errors. </a:t>
            </a:r>
            <a:br>
              <a:rPr lang="en-US" sz="1400" i="1">
                <a:solidFill>
                  <a:schemeClr val="tx1">
                    <a:lumMod val="50000"/>
                    <a:lumOff val="50000"/>
                  </a:schemeClr>
                </a:solidFill>
              </a:rPr>
            </a:br>
            <a:r>
              <a:rPr lang="en-US" sz="1400">
                <a:solidFill>
                  <a:schemeClr val="tx1">
                    <a:lumMod val="50000"/>
                    <a:lumOff val="50000"/>
                  </a:schemeClr>
                </a:solidFill>
              </a:rPr>
              <a:t>– PED</a:t>
            </a:r>
            <a:endParaRPr lang="en-US" sz="1400" i="1">
              <a:solidFill>
                <a:schemeClr val="tx1">
                  <a:lumMod val="50000"/>
                  <a:lumOff val="50000"/>
                </a:schemeClr>
              </a:solidFill>
            </a:endParaRPr>
          </a:p>
          <a:p>
            <a:pPr algn="ctr">
              <a:spcBef>
                <a:spcPts val="1200"/>
              </a:spcBef>
            </a:pPr>
            <a:r>
              <a:rPr lang="en-US" sz="1400" i="1">
                <a:solidFill>
                  <a:schemeClr val="tx1">
                    <a:lumMod val="50000"/>
                    <a:lumOff val="50000"/>
                  </a:schemeClr>
                </a:solidFill>
              </a:rPr>
              <a:t>Some patients are wary about combination vaccinations. </a:t>
            </a:r>
            <a:br>
              <a:rPr lang="en-US" sz="1400" i="1">
                <a:solidFill>
                  <a:schemeClr val="tx1">
                    <a:lumMod val="50000"/>
                    <a:lumOff val="50000"/>
                  </a:schemeClr>
                </a:solidFill>
              </a:rPr>
            </a:br>
            <a:r>
              <a:rPr lang="en-US" sz="1400">
                <a:solidFill>
                  <a:schemeClr val="tx1">
                    <a:lumMod val="50000"/>
                    <a:lumOff val="50000"/>
                  </a:schemeClr>
                </a:solidFill>
              </a:rPr>
              <a:t>– PED</a:t>
            </a:r>
          </a:p>
          <a:p>
            <a:pPr algn="ctr">
              <a:spcBef>
                <a:spcPts val="1200"/>
              </a:spcBef>
            </a:pPr>
            <a:r>
              <a:rPr lang="en-US" sz="1400" i="1">
                <a:solidFill>
                  <a:schemeClr val="tx1">
                    <a:lumMod val="50000"/>
                    <a:lumOff val="50000"/>
                  </a:schemeClr>
                </a:solidFill>
              </a:rPr>
              <a:t>Transition of vaccine supplies. Will still need to stock individual doses for 11-year Men A and 17-year Men B. While extreme efforts made to administer correct vaccine— potential of misadministration when so many versions exist. I don’t think the combined vaccine will offer a substantial shot burden benefit. 2 vs 1 shot.</a:t>
            </a:r>
            <a:br>
              <a:rPr lang="en-US" sz="1400" i="1">
                <a:solidFill>
                  <a:schemeClr val="tx1">
                    <a:lumMod val="50000"/>
                    <a:lumOff val="50000"/>
                  </a:schemeClr>
                </a:solidFill>
              </a:rPr>
            </a:br>
            <a:r>
              <a:rPr lang="en-US" sz="1400">
                <a:solidFill>
                  <a:schemeClr val="tx1">
                    <a:lumMod val="50000"/>
                    <a:lumOff val="50000"/>
                  </a:schemeClr>
                </a:solidFill>
              </a:rPr>
              <a:t>– PED</a:t>
            </a:r>
          </a:p>
          <a:p>
            <a:pPr algn="ctr">
              <a:spcBef>
                <a:spcPts val="1200"/>
              </a:spcBef>
            </a:pPr>
            <a:r>
              <a:rPr lang="en-US" sz="1400">
                <a:solidFill>
                  <a:schemeClr val="tx1">
                    <a:lumMod val="50000"/>
                    <a:lumOff val="50000"/>
                  </a:schemeClr>
                </a:solidFill>
              </a:rPr>
              <a:t>Parents might be reluctant for the newer vaccine. They are used to vaccines that have been around a long time. </a:t>
            </a:r>
            <a:br>
              <a:rPr lang="en-US" sz="1400">
                <a:solidFill>
                  <a:schemeClr val="tx1">
                    <a:lumMod val="50000"/>
                    <a:lumOff val="50000"/>
                  </a:schemeClr>
                </a:solidFill>
              </a:rPr>
            </a:br>
            <a:r>
              <a:rPr lang="en-US" sz="1400">
                <a:solidFill>
                  <a:schemeClr val="tx1">
                    <a:lumMod val="50000"/>
                    <a:lumOff val="50000"/>
                  </a:schemeClr>
                </a:solidFill>
              </a:rPr>
              <a:t>– PCP</a:t>
            </a:r>
          </a:p>
          <a:p>
            <a:pPr algn="ctr">
              <a:spcBef>
                <a:spcPts val="1200"/>
              </a:spcBef>
            </a:pPr>
            <a:r>
              <a:rPr lang="en-US" sz="1400">
                <a:solidFill>
                  <a:schemeClr val="tx1">
                    <a:lumMod val="50000"/>
                    <a:lumOff val="50000"/>
                  </a:schemeClr>
                </a:solidFill>
              </a:rPr>
              <a:t>It requires the stocking of a third product, which takes up fridge space and can potentially increase vaccine errors. </a:t>
            </a:r>
            <a:br>
              <a:rPr lang="en-US" sz="1400">
                <a:solidFill>
                  <a:schemeClr val="tx1">
                    <a:lumMod val="50000"/>
                    <a:lumOff val="50000"/>
                  </a:schemeClr>
                </a:solidFill>
              </a:rPr>
            </a:br>
            <a:r>
              <a:rPr lang="en-US" sz="1400">
                <a:solidFill>
                  <a:schemeClr val="tx1">
                    <a:lumMod val="50000"/>
                    <a:lumOff val="50000"/>
                  </a:schemeClr>
                </a:solidFill>
              </a:rPr>
              <a:t>– PED</a:t>
            </a:r>
          </a:p>
          <a:p>
            <a:pPr algn="ctr">
              <a:spcBef>
                <a:spcPts val="1200"/>
              </a:spcBef>
            </a:pPr>
            <a:r>
              <a:rPr lang="en-US" sz="1400">
                <a:solidFill>
                  <a:schemeClr val="tx1">
                    <a:lumMod val="50000"/>
                    <a:lumOff val="50000"/>
                  </a:schemeClr>
                </a:solidFill>
              </a:rPr>
              <a:t>Financial considerations are a main factor. Also will insurance companies cover it for patients and is it part of the VFC platform. </a:t>
            </a:r>
            <a:br>
              <a:rPr lang="en-US" sz="1400">
                <a:solidFill>
                  <a:schemeClr val="tx1">
                    <a:lumMod val="50000"/>
                    <a:lumOff val="50000"/>
                  </a:schemeClr>
                </a:solidFill>
              </a:rPr>
            </a:br>
            <a:r>
              <a:rPr lang="en-US" sz="1400">
                <a:solidFill>
                  <a:schemeClr val="tx1">
                    <a:lumMod val="50000"/>
                    <a:lumOff val="50000"/>
                  </a:schemeClr>
                </a:solidFill>
              </a:rPr>
              <a:t>– PED</a:t>
            </a:r>
          </a:p>
        </p:txBody>
      </p:sp>
      <p:cxnSp>
        <p:nvCxnSpPr>
          <p:cNvPr id="15" name="Straight Connector 14">
            <a:extLst>
              <a:ext uri="{FF2B5EF4-FFF2-40B4-BE49-F238E27FC236}">
                <a16:creationId xmlns:a16="http://schemas.microsoft.com/office/drawing/2014/main" id="{7D8D1DE9-CBE9-1180-28DB-1BBEA466CD09}"/>
              </a:ext>
            </a:extLst>
          </p:cNvPr>
          <p:cNvCxnSpPr>
            <a:cxnSpLocks/>
          </p:cNvCxnSpPr>
          <p:nvPr/>
        </p:nvCxnSpPr>
        <p:spPr>
          <a:xfrm>
            <a:off x="2375684" y="5920196"/>
            <a:ext cx="6766560"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62B7292-25AA-74E5-621F-7386CAF3867B}"/>
              </a:ext>
            </a:extLst>
          </p:cNvPr>
          <p:cNvCxnSpPr>
            <a:cxnSpLocks/>
          </p:cNvCxnSpPr>
          <p:nvPr/>
        </p:nvCxnSpPr>
        <p:spPr>
          <a:xfrm>
            <a:off x="2375684" y="1190860"/>
            <a:ext cx="6766560"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6">
            <a:extLst>
              <a:ext uri="{FF2B5EF4-FFF2-40B4-BE49-F238E27FC236}">
                <a16:creationId xmlns:a16="http://schemas.microsoft.com/office/drawing/2014/main" id="{297EEFAE-47D1-CBC8-8083-0B95EDA3EBB6}"/>
              </a:ext>
            </a:extLst>
          </p:cNvPr>
          <p:cNvPicPr>
            <a:picLocks noChangeAspect="1" noChangeArrowheads="1"/>
          </p:cNvPicPr>
          <p:nvPr/>
        </p:nvPicPr>
        <p:blipFill rotWithShape="1">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r="73864" b="73864"/>
          <a:stretch/>
        </p:blipFill>
        <p:spPr bwMode="auto">
          <a:xfrm>
            <a:off x="1799744" y="898483"/>
            <a:ext cx="714553" cy="50841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a:extLst>
              <a:ext uri="{FF2B5EF4-FFF2-40B4-BE49-F238E27FC236}">
                <a16:creationId xmlns:a16="http://schemas.microsoft.com/office/drawing/2014/main" id="{E0428F67-2ECF-E9F3-CEBB-E961AE5BFE84}"/>
              </a:ext>
            </a:extLst>
          </p:cNvPr>
          <p:cNvPicPr>
            <a:picLocks noChangeAspect="1" noChangeArrowheads="1"/>
          </p:cNvPicPr>
          <p:nvPr/>
        </p:nvPicPr>
        <p:blipFill rotWithShape="1">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l="70875" t="70875" r="3855" b="11211"/>
          <a:stretch/>
        </p:blipFill>
        <p:spPr bwMode="auto">
          <a:xfrm>
            <a:off x="9070439" y="5734684"/>
            <a:ext cx="689301" cy="348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0572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CFD20-7A57-5662-C7CD-30581A6CF710}"/>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EE9C7F05-03BF-5E99-34CA-3C65F5959A75}"/>
              </a:ext>
            </a:extLst>
          </p:cNvPr>
          <p:cNvGraphicFramePr>
            <a:graphicFrameLocks noGrp="1"/>
          </p:cNvGraphicFramePr>
          <p:nvPr>
            <p:extLst>
              <p:ext uri="{D42A27DB-BD31-4B8C-83A1-F6EECF244321}">
                <p14:modId xmlns:p14="http://schemas.microsoft.com/office/powerpoint/2010/main" val="3966907139"/>
              </p:ext>
            </p:extLst>
          </p:nvPr>
        </p:nvGraphicFramePr>
        <p:xfrm>
          <a:off x="484412" y="1952238"/>
          <a:ext cx="11254416" cy="4281015"/>
        </p:xfrm>
        <a:graphic>
          <a:graphicData uri="http://schemas.openxmlformats.org/drawingml/2006/table">
            <a:tbl>
              <a:tblPr firstRow="1" bandRow="1">
                <a:tableStyleId>{2D5ABB26-0587-4C30-8999-92F81FD0307C}</a:tableStyleId>
              </a:tblPr>
              <a:tblGrid>
                <a:gridCol w="6088056">
                  <a:extLst>
                    <a:ext uri="{9D8B030D-6E8A-4147-A177-3AD203B41FA5}">
                      <a16:colId xmlns:a16="http://schemas.microsoft.com/office/drawing/2014/main" val="853037655"/>
                    </a:ext>
                  </a:extLst>
                </a:gridCol>
                <a:gridCol w="5166360">
                  <a:extLst>
                    <a:ext uri="{9D8B030D-6E8A-4147-A177-3AD203B41FA5}">
                      <a16:colId xmlns:a16="http://schemas.microsoft.com/office/drawing/2014/main" val="3956174775"/>
                    </a:ext>
                  </a:extLst>
                </a:gridCol>
              </a:tblGrid>
              <a:tr h="285401">
                <a:tc>
                  <a:txBody>
                    <a:bodyPr/>
                    <a:lstStyle/>
                    <a:p>
                      <a:pPr algn="r" rtl="0" fontAlgn="ctr"/>
                      <a:r>
                        <a:rPr lang="en-US" sz="1200" b="0" i="0" u="none" strike="noStrike">
                          <a:solidFill>
                            <a:srgbClr val="000000"/>
                          </a:solidFill>
                          <a:effectLst/>
                          <a:latin typeface="Arial" panose="020B0604020202020204" pitchFamily="34" charset="0"/>
                        </a:rPr>
                        <a:t>ACIP recco requires stocking up to 3 Vx brands which adds operational complexity</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0" u="none" strike="noStrike">
                        <a:solidFill>
                          <a:srgbClr val="000000"/>
                        </a:solidFill>
                        <a:effectLst/>
                        <a:latin typeface="+mj-lt"/>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66497024"/>
                  </a:ext>
                </a:extLst>
              </a:tr>
              <a:tr h="285401">
                <a:tc>
                  <a:txBody>
                    <a:bodyPr/>
                    <a:lstStyle/>
                    <a:p>
                      <a:pPr algn="r" rtl="0" fontAlgn="ctr"/>
                      <a:r>
                        <a:rPr lang="en-US" sz="1200" b="0" i="0" u="none" strike="noStrike">
                          <a:solidFill>
                            <a:srgbClr val="000000"/>
                          </a:solidFill>
                          <a:effectLst/>
                          <a:latin typeface="Arial" panose="020B0604020202020204" pitchFamily="34" charset="0"/>
                        </a:rPr>
                        <a:t>ACIP recco requires stocking up to 3 Vx brands which may increase initial inventory costs</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endParaRPr lang="en-US" sz="1600" b="0" i="0" u="none" strike="noStrike">
                        <a:solidFill>
                          <a:srgbClr val="000000"/>
                        </a:solidFill>
                        <a:effectLst/>
                        <a:latin typeface="+mj-lt"/>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6591799"/>
                  </a:ext>
                </a:extLst>
              </a:tr>
              <a:tr h="285401">
                <a:tc>
                  <a:txBody>
                    <a:bodyPr/>
                    <a:lstStyle/>
                    <a:p>
                      <a:pPr algn="r" rtl="0" fontAlgn="ctr"/>
                      <a:r>
                        <a:rPr lang="en-US" sz="1200" b="0" i="0" u="none" strike="noStrike" dirty="0">
                          <a:solidFill>
                            <a:srgbClr val="000000"/>
                          </a:solidFill>
                          <a:effectLst/>
                          <a:latin typeface="Arial" panose="020B0604020202020204" pitchFamily="34" charset="0"/>
                        </a:rPr>
                        <a:t>Need to train staff on reconstitution process for Penbraya</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0060597"/>
                  </a:ext>
                </a:extLst>
              </a:tr>
              <a:tr h="285401">
                <a:tc>
                  <a:txBody>
                    <a:bodyPr/>
                    <a:lstStyle/>
                    <a:p>
                      <a:pPr algn="r" rtl="0" fontAlgn="ctr"/>
                      <a:r>
                        <a:rPr lang="en-US" sz="1200" b="0" i="0" u="none" strike="noStrike" dirty="0">
                          <a:solidFill>
                            <a:srgbClr val="000000"/>
                          </a:solidFill>
                          <a:effectLst/>
                          <a:latin typeface="Arial" panose="020B0604020202020204" pitchFamily="34" charset="0"/>
                        </a:rPr>
                        <a:t>Need to train staff on Penbraya Vx schedule</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669889"/>
                  </a:ext>
                </a:extLst>
              </a:tr>
              <a:tr h="285401">
                <a:tc>
                  <a:txBody>
                    <a:bodyPr/>
                    <a:lstStyle/>
                    <a:p>
                      <a:pPr algn="r" rtl="0" fontAlgn="ctr"/>
                      <a:r>
                        <a:rPr lang="en-US" sz="1200" b="0" i="0" u="none" strike="noStrike" dirty="0">
                          <a:solidFill>
                            <a:srgbClr val="000000"/>
                          </a:solidFill>
                          <a:effectLst/>
                          <a:latin typeface="Arial" panose="020B0604020202020204" pitchFamily="34" charset="0"/>
                        </a:rPr>
                        <a:t>Stocking Pfizer’s Pentavalent requires the need to stock Trumenba</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77222489"/>
                  </a:ext>
                </a:extLst>
              </a:tr>
              <a:tr h="285401">
                <a:tc>
                  <a:txBody>
                    <a:bodyPr/>
                    <a:lstStyle/>
                    <a:p>
                      <a:pPr algn="r" rtl="0" fontAlgn="ctr"/>
                      <a:r>
                        <a:rPr lang="en-US" sz="1200" b="0" i="0" u="none" strike="noStrike">
                          <a:solidFill>
                            <a:srgbClr val="000000"/>
                          </a:solidFill>
                          <a:effectLst/>
                          <a:latin typeface="Arial" panose="020B0604020202020204" pitchFamily="34" charset="0"/>
                        </a:rPr>
                        <a:t>Increased risk of provider confusion as to which Vx to administer [Non-Stockers]</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6826809"/>
                  </a:ext>
                </a:extLst>
              </a:tr>
              <a:tr h="285401">
                <a:tc>
                  <a:txBody>
                    <a:bodyPr/>
                    <a:lstStyle/>
                    <a:p>
                      <a:pPr algn="r" rtl="0" fontAlgn="ctr"/>
                      <a:r>
                        <a:rPr lang="en-US" sz="1200" b="0" i="0" u="none" strike="noStrike" dirty="0">
                          <a:solidFill>
                            <a:srgbClr val="000000"/>
                          </a:solidFill>
                          <a:effectLst/>
                          <a:latin typeface="Arial" panose="020B0604020202020204" pitchFamily="34" charset="0"/>
                        </a:rPr>
                        <a:t>Having to administer Trumenba 6 months after patient receives Penbraya</a:t>
                      </a:r>
                    </a:p>
                  </a:txBody>
                  <a:tcPr marL="7620" marR="76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12393023"/>
                  </a:ext>
                </a:extLst>
              </a:tr>
              <a:tr h="285401">
                <a:tc>
                  <a:txBody>
                    <a:bodyPr/>
                    <a:lstStyle/>
                    <a:p>
                      <a:pPr algn="r" rtl="0" fontAlgn="ctr"/>
                      <a:r>
                        <a:rPr lang="en-US" sz="1200" b="0" i="0" u="none" strike="noStrike">
                          <a:solidFill>
                            <a:srgbClr val="000000"/>
                          </a:solidFill>
                          <a:effectLst/>
                          <a:latin typeface="Arial" panose="020B0604020202020204" pitchFamily="34" charset="0"/>
                        </a:rPr>
                        <a:t>Changes to existing and long-standing supplier contracts/relationships</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8750175"/>
                  </a:ext>
                </a:extLst>
              </a:tr>
              <a:tr h="285401">
                <a:tc>
                  <a:txBody>
                    <a:bodyPr/>
                    <a:lstStyle/>
                    <a:p>
                      <a:pPr algn="r" rtl="0" fontAlgn="ctr"/>
                      <a:r>
                        <a:rPr lang="en-US" sz="1200" b="0" i="0" u="none" strike="noStrike">
                          <a:solidFill>
                            <a:srgbClr val="000000"/>
                          </a:solidFill>
                          <a:effectLst/>
                          <a:latin typeface="Arial" panose="020B0604020202020204" pitchFamily="34" charset="0"/>
                        </a:rPr>
                        <a:t>Losing rebates/discounts for Vx brands my practice originally stocked</a:t>
                      </a:r>
                    </a:p>
                  </a:txBody>
                  <a:tcPr marL="7620" marR="76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7300387"/>
                  </a:ext>
                </a:extLst>
              </a:tr>
              <a:tr h="285401">
                <a:tc>
                  <a:txBody>
                    <a:bodyPr/>
                    <a:lstStyle/>
                    <a:p>
                      <a:pPr algn="r" rtl="0" fontAlgn="ctr"/>
                      <a:r>
                        <a:rPr lang="en-US" sz="1200" b="0" i="0" u="none" strike="noStrike">
                          <a:solidFill>
                            <a:srgbClr val="000000"/>
                          </a:solidFill>
                          <a:effectLst/>
                          <a:latin typeface="Arial" panose="020B0604020202020204" pitchFamily="34" charset="0"/>
                        </a:rPr>
                        <a:t>Higher discount or more favorable contract terms on competitor vs. Pfizer Vxs</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5522678"/>
                  </a:ext>
                </a:extLst>
              </a:tr>
              <a:tr h="285401">
                <a:tc>
                  <a:txBody>
                    <a:bodyPr/>
                    <a:lstStyle/>
                    <a:p>
                      <a:pPr algn="r" rtl="0" fontAlgn="ctr"/>
                      <a:r>
                        <a:rPr lang="en-US" sz="1200" b="0" i="0" u="none" strike="noStrike">
                          <a:solidFill>
                            <a:srgbClr val="000000"/>
                          </a:solidFill>
                          <a:effectLst/>
                          <a:latin typeface="Arial" panose="020B0604020202020204" pitchFamily="34" charset="0"/>
                        </a:rPr>
                        <a:t>Lack of refrigerator storage space</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12918988"/>
                  </a:ext>
                </a:extLst>
              </a:tr>
              <a:tr h="285401">
                <a:tc>
                  <a:txBody>
                    <a:bodyPr/>
                    <a:lstStyle/>
                    <a:p>
                      <a:pPr algn="r" rtl="0" fontAlgn="ctr"/>
                      <a:r>
                        <a:rPr lang="en-US" sz="1200" b="0" i="0" u="none" strike="noStrike">
                          <a:solidFill>
                            <a:srgbClr val="000000"/>
                          </a:solidFill>
                          <a:effectLst/>
                          <a:latin typeface="Arial" panose="020B0604020202020204" pitchFamily="34" charset="0"/>
                        </a:rPr>
                        <a:t>Difficulty scheduling patients for second/booster dose</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9524892"/>
                  </a:ext>
                </a:extLst>
              </a:tr>
              <a:tr h="285401">
                <a:tc>
                  <a:txBody>
                    <a:bodyPr/>
                    <a:lstStyle/>
                    <a:p>
                      <a:pPr algn="r" rtl="0" fontAlgn="ctr"/>
                      <a:r>
                        <a:rPr lang="en-US" sz="1200" b="0" i="0" u="none" strike="noStrike">
                          <a:solidFill>
                            <a:srgbClr val="000000"/>
                          </a:solidFill>
                          <a:effectLst/>
                          <a:latin typeface="Arial" panose="020B0604020202020204" pitchFamily="34" charset="0"/>
                        </a:rPr>
                        <a:t>Increased difficulty measuring market share performance*</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32120804"/>
                  </a:ext>
                </a:extLst>
              </a:tr>
              <a:tr h="285401">
                <a:tc>
                  <a:txBody>
                    <a:bodyPr/>
                    <a:lstStyle/>
                    <a:p>
                      <a:pPr algn="r" rtl="0" fontAlgn="ctr"/>
                      <a:r>
                        <a:rPr lang="en-US" sz="1200" b="0" i="0" u="none" strike="noStrike">
                          <a:solidFill>
                            <a:srgbClr val="000000"/>
                          </a:solidFill>
                          <a:effectLst/>
                          <a:latin typeface="Arial" panose="020B0604020202020204" pitchFamily="34" charset="0"/>
                        </a:rPr>
                        <a:t>Difficulty in scheduling patients for initial/first dose</a:t>
                      </a:r>
                    </a:p>
                  </a:txBody>
                  <a:tcPr marL="7620" marR="762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a:noFill/>
                    </a:lnL>
                    <a:lnR>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3512410"/>
                  </a:ext>
                </a:extLst>
              </a:tr>
              <a:tr h="285401">
                <a:tc>
                  <a:txBody>
                    <a:bodyPr/>
                    <a:lstStyle/>
                    <a:p>
                      <a:pPr algn="r" rtl="0" fontAlgn="ctr"/>
                      <a:r>
                        <a:rPr lang="en-US" sz="1200" b="0" i="0" u="none" strike="noStrike">
                          <a:solidFill>
                            <a:srgbClr val="000000"/>
                          </a:solidFill>
                          <a:effectLst/>
                          <a:latin typeface="Arial" panose="020B0604020202020204" pitchFamily="34" charset="0"/>
                        </a:rPr>
                        <a:t>Vaccine package size</a:t>
                      </a:r>
                    </a:p>
                  </a:txBody>
                  <a:tcPr marL="7620" marR="76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endParaRPr lang="en-US" sz="1600" b="0" i="1" u="none" strike="noStrike">
                        <a:solidFill>
                          <a:srgbClr val="000000"/>
                        </a:solidFill>
                        <a:effectLst/>
                        <a:latin typeface="+mj-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78276982"/>
                  </a:ext>
                </a:extLst>
              </a:tr>
            </a:tbl>
          </a:graphicData>
        </a:graphic>
      </p:graphicFrame>
      <p:sp>
        <p:nvSpPr>
          <p:cNvPr id="5" name="Title 4">
            <a:extLst>
              <a:ext uri="{FF2B5EF4-FFF2-40B4-BE49-F238E27FC236}">
                <a16:creationId xmlns:a16="http://schemas.microsoft.com/office/drawing/2014/main" id="{ACC91E39-05FB-7D6A-2F5C-66DC66F30F61}"/>
              </a:ext>
            </a:extLst>
          </p:cNvPr>
          <p:cNvSpPr>
            <a:spLocks noGrp="1"/>
          </p:cNvSpPr>
          <p:nvPr>
            <p:ph type="title"/>
          </p:nvPr>
        </p:nvSpPr>
        <p:spPr>
          <a:xfrm>
            <a:off x="1142123" y="170307"/>
            <a:ext cx="10492158" cy="850392"/>
          </a:xfrm>
        </p:spPr>
        <p:txBody>
          <a:bodyPr/>
          <a:lstStyle/>
          <a:p>
            <a:r>
              <a:rPr lang="en-US" i="1" dirty="0"/>
              <a:t>Operational complexity </a:t>
            </a:r>
            <a:r>
              <a:rPr lang="en-US" dirty="0"/>
              <a:t>and </a:t>
            </a:r>
            <a:r>
              <a:rPr lang="en-US" i="1" dirty="0"/>
              <a:t>costs of stocking multiple Vx brands are </a:t>
            </a:r>
            <a:r>
              <a:rPr lang="en-US" dirty="0"/>
              <a:t>the leading challenges to stocking Penbraya among HCPs, followed by </a:t>
            </a:r>
            <a:r>
              <a:rPr lang="en-US" i="1" dirty="0"/>
              <a:t>staff training</a:t>
            </a:r>
            <a:endParaRPr lang="en-US" strike="sngStrike" dirty="0">
              <a:highlight>
                <a:srgbClr val="00FFFF"/>
              </a:highlight>
            </a:endParaRPr>
          </a:p>
        </p:txBody>
      </p:sp>
      <p:sp>
        <p:nvSpPr>
          <p:cNvPr id="14" name="Text Placeholder 13">
            <a:extLst>
              <a:ext uri="{FF2B5EF4-FFF2-40B4-BE49-F238E27FC236}">
                <a16:creationId xmlns:a16="http://schemas.microsoft.com/office/drawing/2014/main" id="{83420269-49C2-97CB-2F77-8DFFC7178E14}"/>
              </a:ext>
            </a:extLst>
          </p:cNvPr>
          <p:cNvSpPr>
            <a:spLocks noGrp="1"/>
          </p:cNvSpPr>
          <p:nvPr>
            <p:ph type="body" sz="quarter" idx="16"/>
          </p:nvPr>
        </p:nvSpPr>
        <p:spPr>
          <a:xfrm>
            <a:off x="1571625" y="6513049"/>
            <a:ext cx="9040295" cy="330347"/>
          </a:xfrm>
        </p:spPr>
        <p:txBody>
          <a:bodyPr wrap="none"/>
          <a:lstStyle/>
          <a:p>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r>
              <a:rPr lang="en-US" dirty="0"/>
              <a:t>B1. Which of the following [challenges did you experience with/do you anticipate being a challenge to] stocking Penbraya (Pfizer's 5-in-1 Pentavalent vaccine for </a:t>
            </a:r>
            <a:r>
              <a:rPr lang="en-US" dirty="0" err="1"/>
              <a:t>MenABCWY</a:t>
            </a:r>
            <a:r>
              <a:rPr lang="en-US" dirty="0"/>
              <a:t>)?</a:t>
            </a:r>
            <a:endParaRPr lang="en-US" b="1" dirty="0"/>
          </a:p>
        </p:txBody>
      </p:sp>
      <p:graphicFrame>
        <p:nvGraphicFramePr>
          <p:cNvPr id="2" name="Chart 1">
            <a:extLst>
              <a:ext uri="{FF2B5EF4-FFF2-40B4-BE49-F238E27FC236}">
                <a16:creationId xmlns:a16="http://schemas.microsoft.com/office/drawing/2014/main" id="{0FAEDA5A-059B-DA58-3CC4-E6EF16BBD224}"/>
              </a:ext>
            </a:extLst>
          </p:cNvPr>
          <p:cNvGraphicFramePr/>
          <p:nvPr/>
        </p:nvGraphicFramePr>
        <p:xfrm>
          <a:off x="6509428" y="1724668"/>
          <a:ext cx="4192689" cy="4619376"/>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Rounded Corners 14">
            <a:extLst>
              <a:ext uri="{FF2B5EF4-FFF2-40B4-BE49-F238E27FC236}">
                <a16:creationId xmlns:a16="http://schemas.microsoft.com/office/drawing/2014/main" id="{8C2E37FD-796D-4B36-1BD0-E7BD376374A2}"/>
              </a:ext>
            </a:extLst>
          </p:cNvPr>
          <p:cNvSpPr/>
          <p:nvPr/>
        </p:nvSpPr>
        <p:spPr bwMode="gray">
          <a:xfrm>
            <a:off x="330610" y="1367277"/>
            <a:ext cx="11547061" cy="4936873"/>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6" name="TextBox 15">
            <a:extLst>
              <a:ext uri="{FF2B5EF4-FFF2-40B4-BE49-F238E27FC236}">
                <a16:creationId xmlns:a16="http://schemas.microsoft.com/office/drawing/2014/main" id="{FBF314A1-72E6-460E-2AC2-5BA927F0F1A5}"/>
              </a:ext>
            </a:extLst>
          </p:cNvPr>
          <p:cNvSpPr txBox="1"/>
          <p:nvPr/>
        </p:nvSpPr>
        <p:spPr bwMode="gray">
          <a:xfrm>
            <a:off x="3800947" y="1375161"/>
            <a:ext cx="4606389" cy="480131"/>
          </a:xfrm>
          <a:prstGeom prst="rect">
            <a:avLst/>
          </a:prstGeom>
        </p:spPr>
        <p:txBody>
          <a:bodyPr wrap="none" lIns="45720" tIns="45720" rIns="45720" bIns="45720" rtlCol="0">
            <a:spAutoFit/>
          </a:bodyPr>
          <a:lstStyle/>
          <a:p>
            <a:pPr algn="ctr">
              <a:lnSpc>
                <a:spcPct val="90000"/>
              </a:lnSpc>
              <a:spcAft>
                <a:spcPts val="400"/>
              </a:spcAft>
            </a:pPr>
            <a:r>
              <a:rPr lang="en-US" b="1" dirty="0">
                <a:solidFill>
                  <a:schemeClr val="accent1"/>
                </a:solidFill>
              </a:rPr>
              <a:t>Challenges to Stocking Penbraya (Aided)</a:t>
            </a:r>
            <a:br>
              <a:rPr lang="en-US" b="1" i="1" dirty="0">
                <a:solidFill>
                  <a:schemeClr val="accent1"/>
                </a:solidFill>
              </a:rPr>
            </a:br>
            <a:r>
              <a:rPr lang="en-US" sz="1000" i="1" dirty="0">
                <a:solidFill>
                  <a:schemeClr val="bg1">
                    <a:lumMod val="50000"/>
                  </a:schemeClr>
                </a:solidFill>
              </a:rPr>
              <a:t>% HCPs</a:t>
            </a:r>
          </a:p>
        </p:txBody>
      </p:sp>
      <p:sp>
        <p:nvSpPr>
          <p:cNvPr id="4" name="Rectangle 3">
            <a:extLst>
              <a:ext uri="{FF2B5EF4-FFF2-40B4-BE49-F238E27FC236}">
                <a16:creationId xmlns:a16="http://schemas.microsoft.com/office/drawing/2014/main" id="{560083BE-9A41-0865-A9FF-CD5240B4D41A}"/>
              </a:ext>
            </a:extLst>
          </p:cNvPr>
          <p:cNvSpPr/>
          <p:nvPr/>
        </p:nvSpPr>
        <p:spPr bwMode="gray">
          <a:xfrm>
            <a:off x="10453801" y="5629557"/>
            <a:ext cx="1285027" cy="590045"/>
          </a:xfrm>
          <a:prstGeom prst="rect">
            <a:avLst/>
          </a:prstGeom>
          <a:solidFill>
            <a:schemeClr val="bg1">
              <a:lumMod val="85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t" anchorCtr="0" compatLnSpc="1">
            <a:prstTxWarp prst="textNoShape">
              <a:avLst/>
            </a:prstTxWarp>
            <a:noAutofit/>
          </a:bodyPr>
          <a:lstStyle/>
          <a:p>
            <a:pPr algn="ctr" fontAlgn="base">
              <a:lnSpc>
                <a:spcPct val="90000"/>
              </a:lnSpc>
              <a:spcAft>
                <a:spcPct val="0"/>
              </a:spcAft>
              <a:buClr>
                <a:schemeClr val="accent2"/>
              </a:buClr>
              <a:buSzPct val="90000"/>
            </a:pPr>
            <a:r>
              <a:rPr lang="en-US" sz="1200" b="1">
                <a:solidFill>
                  <a:schemeClr val="tx1">
                    <a:lumMod val="65000"/>
                    <a:lumOff val="35000"/>
                  </a:schemeClr>
                </a:solidFill>
                <a:latin typeface="+mj-lt"/>
                <a:cs typeface="Arial"/>
              </a:rPr>
              <a:t>5% report </a:t>
            </a:r>
            <a:br>
              <a:rPr lang="en-US" sz="1200" b="1">
                <a:solidFill>
                  <a:schemeClr val="tx1">
                    <a:lumMod val="65000"/>
                    <a:lumOff val="35000"/>
                  </a:schemeClr>
                </a:solidFill>
                <a:latin typeface="+mj-lt"/>
                <a:cs typeface="Arial"/>
              </a:rPr>
            </a:br>
            <a:r>
              <a:rPr lang="en-US" sz="1200" b="1">
                <a:solidFill>
                  <a:schemeClr val="tx1">
                    <a:lumMod val="65000"/>
                    <a:lumOff val="35000"/>
                  </a:schemeClr>
                </a:solidFill>
                <a:latin typeface="+mj-lt"/>
                <a:cs typeface="Arial"/>
              </a:rPr>
              <a:t>NO Barriers</a:t>
            </a:r>
            <a:endParaRPr lang="en-US" sz="1200" b="1">
              <a:solidFill>
                <a:schemeClr val="tx1">
                  <a:lumMod val="65000"/>
                  <a:lumOff val="35000"/>
                </a:schemeClr>
              </a:solidFill>
              <a:latin typeface="+mj-lt"/>
            </a:endParaRPr>
          </a:p>
        </p:txBody>
      </p:sp>
      <p:grpSp>
        <p:nvGrpSpPr>
          <p:cNvPr id="28" name="Group 27">
            <a:extLst>
              <a:ext uri="{FF2B5EF4-FFF2-40B4-BE49-F238E27FC236}">
                <a16:creationId xmlns:a16="http://schemas.microsoft.com/office/drawing/2014/main" id="{B1E861D9-7142-9BB5-C7A8-B23E9ACC0B64}"/>
              </a:ext>
            </a:extLst>
          </p:cNvPr>
          <p:cNvGrpSpPr/>
          <p:nvPr/>
        </p:nvGrpSpPr>
        <p:grpSpPr>
          <a:xfrm>
            <a:off x="433643" y="1413116"/>
            <a:ext cx="650178" cy="539122"/>
            <a:chOff x="1686341" y="1600319"/>
            <a:chExt cx="650178" cy="539122"/>
          </a:xfrm>
        </p:grpSpPr>
        <p:cxnSp>
          <p:nvCxnSpPr>
            <p:cNvPr id="29" name="Straight Connector 28">
              <a:extLst>
                <a:ext uri="{FF2B5EF4-FFF2-40B4-BE49-F238E27FC236}">
                  <a16:creationId xmlns:a16="http://schemas.microsoft.com/office/drawing/2014/main" id="{B2ACE20F-72C6-6DB2-9519-7599BABFB279}"/>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30" name="TextBox 29">
              <a:extLst>
                <a:ext uri="{FF2B5EF4-FFF2-40B4-BE49-F238E27FC236}">
                  <a16:creationId xmlns:a16="http://schemas.microsoft.com/office/drawing/2014/main" id="{C875A90F-7257-FB61-0EEE-D849555A94CE}"/>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31" name="TextBox 30">
            <a:extLst>
              <a:ext uri="{FF2B5EF4-FFF2-40B4-BE49-F238E27FC236}">
                <a16:creationId xmlns:a16="http://schemas.microsoft.com/office/drawing/2014/main" id="{263465B0-9D20-DACB-246D-2223DFB1D85E}"/>
              </a:ext>
            </a:extLst>
          </p:cNvPr>
          <p:cNvSpPr txBox="1"/>
          <p:nvPr/>
        </p:nvSpPr>
        <p:spPr bwMode="gray">
          <a:xfrm>
            <a:off x="345670" y="1122345"/>
            <a:ext cx="826124" cy="338554"/>
          </a:xfrm>
          <a:prstGeom prst="rect">
            <a:avLst/>
          </a:prstGeom>
          <a:noFill/>
        </p:spPr>
        <p:txBody>
          <a:bodyPr wrap="none">
            <a:spAutoFit/>
          </a:bodyPr>
          <a:lstStyle/>
          <a:p>
            <a:r>
              <a:rPr lang="en-US" sz="1600"/>
              <a:t>TOTAL</a:t>
            </a:r>
          </a:p>
        </p:txBody>
      </p:sp>
      <p:sp>
        <p:nvSpPr>
          <p:cNvPr id="13" name="TextBox 12">
            <a:extLst>
              <a:ext uri="{FF2B5EF4-FFF2-40B4-BE49-F238E27FC236}">
                <a16:creationId xmlns:a16="http://schemas.microsoft.com/office/drawing/2014/main" id="{A725665E-BECE-6BFB-DB1F-813729CB1484}"/>
              </a:ext>
            </a:extLst>
          </p:cNvPr>
          <p:cNvSpPr txBox="1"/>
          <p:nvPr/>
        </p:nvSpPr>
        <p:spPr bwMode="gray">
          <a:xfrm>
            <a:off x="1536805" y="6304150"/>
            <a:ext cx="9561442" cy="246221"/>
          </a:xfrm>
          <a:prstGeom prst="rect">
            <a:avLst/>
          </a:prstGeom>
          <a:noFill/>
        </p:spPr>
        <p:txBody>
          <a:bodyPr wrap="square">
            <a:spAutoFit/>
          </a:bodyPr>
          <a:lstStyle/>
          <a:p>
            <a:r>
              <a:rPr lang="en-US" sz="1000">
                <a:solidFill>
                  <a:srgbClr val="000000"/>
                </a:solidFill>
                <a:latin typeface="Arial" panose="020B0604020202020204" pitchFamily="34" charset="0"/>
              </a:rPr>
              <a:t>*</a:t>
            </a:r>
            <a:r>
              <a:rPr lang="en-US" sz="1000" b="0" i="0" u="none" strike="noStrike">
                <a:solidFill>
                  <a:srgbClr val="000000"/>
                </a:solidFill>
                <a:effectLst/>
                <a:latin typeface="Arial" panose="020B0604020202020204" pitchFamily="34" charset="0"/>
              </a:rPr>
              <a:t>under performance-based Vx discount contracts</a:t>
            </a:r>
            <a:endParaRPr lang="en-US" sz="1000"/>
          </a:p>
        </p:txBody>
      </p:sp>
      <p:sp>
        <p:nvSpPr>
          <p:cNvPr id="3" name="TextBox 2">
            <a:extLst>
              <a:ext uri="{FF2B5EF4-FFF2-40B4-BE49-F238E27FC236}">
                <a16:creationId xmlns:a16="http://schemas.microsoft.com/office/drawing/2014/main" id="{33069485-3E91-14B5-0916-D9A77AA1C3C9}"/>
              </a:ext>
            </a:extLst>
          </p:cNvPr>
          <p:cNvSpPr txBox="1"/>
          <p:nvPr/>
        </p:nvSpPr>
        <p:spPr bwMode="gray">
          <a:xfrm>
            <a:off x="9306657" y="1988474"/>
            <a:ext cx="730265" cy="1938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r>
              <a:rPr lang="en-US" sz="900">
                <a:solidFill>
                  <a:schemeClr val="tx1">
                    <a:lumMod val="50000"/>
                    <a:lumOff val="50000"/>
                  </a:schemeClr>
                </a:solidFill>
              </a:rPr>
              <a:t>PED</a:t>
            </a:r>
            <a:r>
              <a:rPr lang="en-US" altLang="en-US" sz="900">
                <a:solidFill>
                  <a:srgbClr val="FF0000"/>
                </a:solidFill>
                <a:cs typeface="Arial" panose="020B0604020202020204" pitchFamily="34" charset="0"/>
                <a:sym typeface="Symbol" pitchFamily="18" charset="2"/>
              </a:rPr>
              <a:t></a:t>
            </a:r>
            <a:r>
              <a:rPr lang="en-US" sz="900">
                <a:solidFill>
                  <a:schemeClr val="tx1">
                    <a:lumMod val="50000"/>
                    <a:lumOff val="50000"/>
                  </a:schemeClr>
                </a:solidFill>
              </a:rPr>
              <a:t> &gt; PCP</a:t>
            </a:r>
          </a:p>
        </p:txBody>
      </p:sp>
      <p:sp>
        <p:nvSpPr>
          <p:cNvPr id="6" name="Rectangle 5">
            <a:extLst>
              <a:ext uri="{FF2B5EF4-FFF2-40B4-BE49-F238E27FC236}">
                <a16:creationId xmlns:a16="http://schemas.microsoft.com/office/drawing/2014/main" id="{276CE548-D25A-7734-1047-71A522555C93}"/>
              </a:ext>
            </a:extLst>
          </p:cNvPr>
          <p:cNvSpPr/>
          <p:nvPr/>
        </p:nvSpPr>
        <p:spPr bwMode="gray">
          <a:xfrm>
            <a:off x="481562" y="1964588"/>
            <a:ext cx="11273620" cy="1106761"/>
          </a:xfrm>
          <a:prstGeom prst="rect">
            <a:avLst/>
          </a:prstGeom>
          <a:noFill/>
          <a:ln w="1905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ln w="12700">
                <a:solidFill>
                  <a:schemeClr val="tx1"/>
                </a:solidFill>
              </a:ln>
              <a:solidFill>
                <a:schemeClr val="accent1"/>
              </a:solidFill>
              <a:latin typeface="+mj-lt"/>
            </a:endParaRPr>
          </a:p>
        </p:txBody>
      </p:sp>
      <p:sp>
        <p:nvSpPr>
          <p:cNvPr id="21" name="TextBox 20">
            <a:extLst>
              <a:ext uri="{FF2B5EF4-FFF2-40B4-BE49-F238E27FC236}">
                <a16:creationId xmlns:a16="http://schemas.microsoft.com/office/drawing/2014/main" id="{F9B9A7A1-44A9-ACE9-8D43-486FE7426E07}"/>
              </a:ext>
            </a:extLst>
          </p:cNvPr>
          <p:cNvSpPr txBox="1"/>
          <p:nvPr/>
        </p:nvSpPr>
        <p:spPr bwMode="gray">
          <a:xfrm>
            <a:off x="7837181" y="5125117"/>
            <a:ext cx="661336" cy="1938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gn="ctr"/>
            <a:r>
              <a:rPr lang="en-US" sz="900">
                <a:solidFill>
                  <a:schemeClr val="tx1">
                    <a:lumMod val="50000"/>
                    <a:lumOff val="50000"/>
                  </a:schemeClr>
                </a:solidFill>
              </a:rPr>
              <a:t>PED &lt; PCP</a:t>
            </a:r>
          </a:p>
        </p:txBody>
      </p:sp>
      <p:sp>
        <p:nvSpPr>
          <p:cNvPr id="44" name="TextBox 43">
            <a:extLst>
              <a:ext uri="{FF2B5EF4-FFF2-40B4-BE49-F238E27FC236}">
                <a16:creationId xmlns:a16="http://schemas.microsoft.com/office/drawing/2014/main" id="{88AECBD7-D390-BCED-0291-7426F9922D9E}"/>
              </a:ext>
            </a:extLst>
          </p:cNvPr>
          <p:cNvSpPr txBox="1"/>
          <p:nvPr/>
        </p:nvSpPr>
        <p:spPr bwMode="gray">
          <a:xfrm>
            <a:off x="10486724" y="5992628"/>
            <a:ext cx="1219180" cy="193899"/>
          </a:xfrm>
          <a:prstGeom prst="rect">
            <a:avLst/>
          </a:prstGeom>
          <a:solidFill>
            <a:schemeClr val="bg1"/>
          </a:solidFill>
          <a:ln w="12700">
            <a:solidFill>
              <a:schemeClr val="tx1"/>
            </a:solidFill>
            <a:prstDash val="solid"/>
          </a:ln>
        </p:spPr>
        <p:txBody>
          <a:bodyPr wrap="none" lIns="27432" tIns="27432" rIns="27432" bIns="27432" rtlCol="0" anchor="ctr" anchorCtr="0">
            <a:spAutoFit/>
          </a:bodyPr>
          <a:lstStyle/>
          <a:p>
            <a:r>
              <a:rPr lang="en-US" sz="900">
                <a:solidFill>
                  <a:schemeClr val="tx1">
                    <a:lumMod val="50000"/>
                    <a:lumOff val="50000"/>
                  </a:schemeClr>
                </a:solidFill>
              </a:rPr>
              <a:t>Stocker &gt; Non-Stocker</a:t>
            </a:r>
          </a:p>
        </p:txBody>
      </p:sp>
      <p:sp>
        <p:nvSpPr>
          <p:cNvPr id="9" name="Text Placeholder 2">
            <a:extLst>
              <a:ext uri="{FF2B5EF4-FFF2-40B4-BE49-F238E27FC236}">
                <a16:creationId xmlns:a16="http://schemas.microsoft.com/office/drawing/2014/main" id="{C420B6A9-578F-29F6-4A27-886C6647338F}"/>
              </a:ext>
            </a:extLst>
          </p:cNvPr>
          <p:cNvSpPr txBox="1">
            <a:spLocks/>
          </p:cNvSpPr>
          <p:nvPr/>
        </p:nvSpPr>
        <p:spPr bwMode="gray">
          <a:xfrm flipV="1">
            <a:off x="9132701" y="1968821"/>
            <a:ext cx="161263" cy="193899"/>
          </a:xfrm>
          <a:prstGeom prst="rect">
            <a:avLst/>
          </a:prstGeom>
        </p:spPr>
        <p:txBody>
          <a:bodyPr vert="horz" wrap="none" lIns="45720" tIns="27432" rIns="45720" bIns="27432" rtlCol="0" anchor="ctr"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gn="ctr">
              <a:lnSpc>
                <a:spcPct val="100000"/>
              </a:lnSpc>
            </a:pPr>
            <a:r>
              <a:rPr lang="en-US" altLang="en-US">
                <a:solidFill>
                  <a:srgbClr val="FF0000"/>
                </a:solidFill>
                <a:cs typeface="Arial" panose="020B0604020202020204" pitchFamily="34" charset="0"/>
                <a:sym typeface="Symbol" pitchFamily="18" charset="2"/>
              </a:rPr>
              <a:t></a:t>
            </a:r>
            <a:endParaRPr lang="en-US"/>
          </a:p>
        </p:txBody>
      </p:sp>
      <p:sp>
        <p:nvSpPr>
          <p:cNvPr id="19" name="TextBox 18">
            <a:extLst>
              <a:ext uri="{FF2B5EF4-FFF2-40B4-BE49-F238E27FC236}">
                <a16:creationId xmlns:a16="http://schemas.microsoft.com/office/drawing/2014/main" id="{5AAA202F-41F6-D2AD-026B-A23899EFF28F}"/>
              </a:ext>
            </a:extLst>
          </p:cNvPr>
          <p:cNvSpPr txBox="1"/>
          <p:nvPr/>
        </p:nvSpPr>
        <p:spPr bwMode="gray">
          <a:xfrm>
            <a:off x="7992550" y="4837215"/>
            <a:ext cx="776751"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marL="400050" lvl="0" indent="-40005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 </a:t>
            </a:r>
            <a:r>
              <a:rPr lang="en-US" sz="900">
                <a:solidFill>
                  <a:srgbClr val="000000">
                    <a:lumMod val="50000"/>
                    <a:lumOff val="50000"/>
                  </a:srgbClr>
                </a:solidFill>
                <a:latin typeface="Arial" panose="020B0604020202020204"/>
              </a:rPr>
              <a:t>Tier 2</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C9416248-6614-7887-42E8-9D00CABD4D53}"/>
              </a:ext>
            </a:extLst>
          </p:cNvPr>
          <p:cNvSpPr txBox="1"/>
          <p:nvPr/>
        </p:nvSpPr>
        <p:spPr bwMode="gray">
          <a:xfrm>
            <a:off x="7229383" y="5983682"/>
            <a:ext cx="776751"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marL="400050" lvl="0" indent="-40005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 </a:t>
            </a:r>
            <a:r>
              <a:rPr lang="en-US" sz="900">
                <a:solidFill>
                  <a:srgbClr val="000000">
                    <a:lumMod val="50000"/>
                    <a:lumOff val="50000"/>
                  </a:srgbClr>
                </a:solidFill>
                <a:latin typeface="Arial" panose="020B0604020202020204"/>
              </a:rPr>
              <a:t>Tier 2</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6DFAC555-26E2-B8AB-B70C-3865E621E76D}"/>
              </a:ext>
            </a:extLst>
          </p:cNvPr>
          <p:cNvSpPr txBox="1"/>
          <p:nvPr/>
        </p:nvSpPr>
        <p:spPr bwMode="gray">
          <a:xfrm>
            <a:off x="8546436" y="5125117"/>
            <a:ext cx="776751"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marL="400050" lvl="0" indent="-40005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 </a:t>
            </a:r>
            <a:r>
              <a:rPr lang="en-US" sz="900">
                <a:solidFill>
                  <a:srgbClr val="000000">
                    <a:lumMod val="50000"/>
                    <a:lumOff val="50000"/>
                  </a:srgbClr>
                </a:solidFill>
                <a:latin typeface="Arial" panose="020B0604020202020204"/>
              </a:rPr>
              <a:t>Tier 2</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7A3F6F47-DC3A-BE7B-D5C6-ECABD1D825A6}"/>
              </a:ext>
            </a:extLst>
          </p:cNvPr>
          <p:cNvSpPr txBox="1"/>
          <p:nvPr/>
        </p:nvSpPr>
        <p:spPr bwMode="gray">
          <a:xfrm>
            <a:off x="8811385" y="2843503"/>
            <a:ext cx="1236813"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lvl="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a:t>
            </a:r>
            <a:r>
              <a:rPr lang="en-US" sz="900">
                <a:solidFill>
                  <a:srgbClr val="000000">
                    <a:lumMod val="50000"/>
                    <a:lumOff val="50000"/>
                  </a:srgbClr>
                </a:solidFill>
                <a:latin typeface="Arial" panose="020B0604020202020204"/>
              </a:rPr>
              <a:t>Tier 2  &gt; Tier 3</a:t>
            </a:r>
            <a:r>
              <a:rPr lang="en-US" altLang="en-US" sz="900">
                <a:solidFill>
                  <a:srgbClr val="FF0000"/>
                </a:solidFill>
                <a:cs typeface="Arial" panose="020B0604020202020204" pitchFamily="34" charset="0"/>
                <a:sym typeface="Symbol" pitchFamily="18" charset="2"/>
              </a:rPr>
              <a:t></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4" name="TextBox 23">
            <a:extLst>
              <a:ext uri="{FF2B5EF4-FFF2-40B4-BE49-F238E27FC236}">
                <a16:creationId xmlns:a16="http://schemas.microsoft.com/office/drawing/2014/main" id="{E221596B-2C86-5BF4-942E-BB3C4C60ADE9}"/>
              </a:ext>
            </a:extLst>
          </p:cNvPr>
          <p:cNvSpPr txBox="1"/>
          <p:nvPr/>
        </p:nvSpPr>
        <p:spPr bwMode="gray">
          <a:xfrm>
            <a:off x="10130044" y="1993945"/>
            <a:ext cx="776751"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marL="400050" lvl="0" indent="-400050" defTabSz="914126">
              <a:defRPr/>
            </a:pPr>
            <a:r>
              <a:rPr lang="en-US" sz="900">
                <a:solidFill>
                  <a:srgbClr val="000000">
                    <a:lumMod val="50000"/>
                    <a:lumOff val="50000"/>
                  </a:srgbClr>
                </a:solidFill>
                <a:latin typeface="Arial" panose="020B0604020202020204"/>
              </a:rPr>
              <a:t>Tier 2 &gt;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42EFF566-36C8-8B0C-251D-420FBD5AB429}"/>
              </a:ext>
            </a:extLst>
          </p:cNvPr>
          <p:cNvSpPr txBox="1"/>
          <p:nvPr/>
        </p:nvSpPr>
        <p:spPr bwMode="gray">
          <a:xfrm>
            <a:off x="8356498" y="4273488"/>
            <a:ext cx="776751"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marL="400050" lvl="0" indent="-400050" defTabSz="914126">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&lt; </a:t>
            </a:r>
            <a:r>
              <a:rPr lang="en-US" sz="900">
                <a:solidFill>
                  <a:srgbClr val="000000">
                    <a:lumMod val="50000"/>
                    <a:lumOff val="50000"/>
                  </a:srgbClr>
                </a:solidFill>
                <a:latin typeface="Arial" panose="020B0604020202020204"/>
              </a:rPr>
              <a:t>Tier 2</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92E3E399-2E30-993D-7D2B-FC7B593CACF6}"/>
              </a:ext>
            </a:extLst>
          </p:cNvPr>
          <p:cNvSpPr txBox="1"/>
          <p:nvPr/>
        </p:nvSpPr>
        <p:spPr bwMode="gray">
          <a:xfrm>
            <a:off x="1283737" y="767737"/>
            <a:ext cx="10607358" cy="499180"/>
          </a:xfrm>
          <a:prstGeom prst="rect">
            <a:avLst/>
          </a:prstGeom>
        </p:spPr>
        <p:txBody>
          <a:bodyPr wrap="square" lIns="45708" tIns="45708" rIns="45708" bIns="45708" rtlCol="0">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Tier 1 (comprised of nearly half Trumenba stockers that do not stock Penbraya) cites loss of discounts, lack of storage space, scheduling difficulties and Vx package size more often as challenges than Tier 2 </a:t>
            </a:r>
          </a:p>
        </p:txBody>
      </p:sp>
      <p:sp>
        <p:nvSpPr>
          <p:cNvPr id="8" name="TextBox 7">
            <a:extLst>
              <a:ext uri="{FF2B5EF4-FFF2-40B4-BE49-F238E27FC236}">
                <a16:creationId xmlns:a16="http://schemas.microsoft.com/office/drawing/2014/main" id="{2E593147-7FF8-733E-A5D0-F2F9BAC7D2D0}"/>
              </a:ext>
            </a:extLst>
          </p:cNvPr>
          <p:cNvSpPr txBox="1"/>
          <p:nvPr/>
        </p:nvSpPr>
        <p:spPr bwMode="gray">
          <a:xfrm>
            <a:off x="8811385" y="3131405"/>
            <a:ext cx="2349297"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lvl="0" defTabSz="914126">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&lt;Trumenba Non-Stockers, Bexsero Stockers</a:t>
            </a:r>
          </a:p>
        </p:txBody>
      </p:sp>
      <p:sp>
        <p:nvSpPr>
          <p:cNvPr id="11" name="TextBox 10">
            <a:extLst>
              <a:ext uri="{FF2B5EF4-FFF2-40B4-BE49-F238E27FC236}">
                <a16:creationId xmlns:a16="http://schemas.microsoft.com/office/drawing/2014/main" id="{56903F64-1D12-37A2-61F0-25ED0E479C9D}"/>
              </a:ext>
            </a:extLst>
          </p:cNvPr>
          <p:cNvSpPr txBox="1"/>
          <p:nvPr/>
        </p:nvSpPr>
        <p:spPr bwMode="gray">
          <a:xfrm>
            <a:off x="8317222" y="4571260"/>
            <a:ext cx="2349297" cy="193899"/>
          </a:xfrm>
          <a:prstGeom prst="rect">
            <a:avLst/>
          </a:prstGeom>
          <a:solidFill>
            <a:schemeClr val="bg1"/>
          </a:solidFill>
          <a:ln w="6350">
            <a:solidFill>
              <a:schemeClr val="tx1">
                <a:lumMod val="50000"/>
                <a:lumOff val="50000"/>
              </a:schemeClr>
            </a:solidFill>
            <a:prstDash val="solid"/>
          </a:ln>
        </p:spPr>
        <p:txBody>
          <a:bodyPr wrap="none" lIns="27432" tIns="27432" rIns="27432" bIns="27432" rtlCol="0" anchor="ctr" anchorCtr="0">
            <a:spAutoFit/>
          </a:bodyPr>
          <a:lstStyle/>
          <a:p>
            <a:pPr lvl="0" defTabSz="914126">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&lt;Trumenba Non-Stockers, Bexsero Stockers</a:t>
            </a:r>
          </a:p>
        </p:txBody>
      </p:sp>
    </p:spTree>
    <p:extLst>
      <p:ext uri="{BB962C8B-B14F-4D97-AF65-F5344CB8AC3E}">
        <p14:creationId xmlns:p14="http://schemas.microsoft.com/office/powerpoint/2010/main" val="3715450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animBg="1"/>
      <p:bldP spid="4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80E65D-F0BC-BE9B-CD67-B2136BF256B7}"/>
              </a:ext>
            </a:extLst>
          </p:cNvPr>
          <p:cNvSpPr>
            <a:spLocks noGrp="1"/>
          </p:cNvSpPr>
          <p:nvPr>
            <p:ph type="body" sz="quarter" idx="16"/>
          </p:nvPr>
        </p:nvSpPr>
        <p:spPr>
          <a:xfrm>
            <a:off x="1572803" y="6112926"/>
            <a:ext cx="9236844" cy="630942"/>
          </a:xfrm>
        </p:spPr>
        <p:txBody>
          <a:bodyPr/>
          <a:lstStyle/>
          <a:p>
            <a:pPr marL="347559" indent="-347559"/>
            <a:r>
              <a:rPr lang="en-US">
                <a:solidFill>
                  <a:srgbClr val="FF0000"/>
                </a:solidFill>
              </a:rPr>
              <a:t>*Caution: small base size</a:t>
            </a:r>
          </a:p>
          <a:p>
            <a:pPr marL="347559" indent="-347559"/>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pPr marL="347559" indent="-347559"/>
            <a:r>
              <a:rPr lang="en-US"/>
              <a:t>P19. Which of the following Meningococcal vaccine brands were requested by caregivers or patients 16-18 years of age in the past month?</a:t>
            </a:r>
          </a:p>
          <a:p>
            <a:pPr marL="347559" indent="-347559"/>
            <a:r>
              <a:rPr lang="en-US"/>
              <a:t>P20. What percent of the time did you administer each brand when requested by caregivers or patients 16-18 years of age? </a:t>
            </a:r>
          </a:p>
        </p:txBody>
      </p:sp>
      <p:sp>
        <p:nvSpPr>
          <p:cNvPr id="6" name="TextBox 5">
            <a:extLst>
              <a:ext uri="{FF2B5EF4-FFF2-40B4-BE49-F238E27FC236}">
                <a16:creationId xmlns:a16="http://schemas.microsoft.com/office/drawing/2014/main" id="{49EFF1C7-7FD9-2C29-9D82-9B56AE537F2B}"/>
              </a:ext>
            </a:extLst>
          </p:cNvPr>
          <p:cNvSpPr txBox="1"/>
          <p:nvPr/>
        </p:nvSpPr>
        <p:spPr bwMode="gray">
          <a:xfrm>
            <a:off x="1703379" y="1941622"/>
            <a:ext cx="4019343" cy="729240"/>
          </a:xfrm>
          <a:prstGeom prst="rect">
            <a:avLst/>
          </a:prstGeom>
        </p:spPr>
        <p:txBody>
          <a:bodyPr wrap="square" lIns="45708" tIns="45708" rIns="45708" bIns="45708" rtlCol="0">
            <a:spAutoFit/>
          </a:bodyPr>
          <a:lstStyle/>
          <a:p>
            <a:pPr algn="ctr">
              <a:lnSpc>
                <a:spcPct val="90000"/>
              </a:lnSpc>
              <a:spcAft>
                <a:spcPts val="400"/>
              </a:spcAft>
            </a:pPr>
            <a:r>
              <a:rPr lang="en-US" sz="1799" b="1">
                <a:solidFill>
                  <a:srgbClr val="0000C9"/>
                </a:solidFill>
                <a:latin typeface="Arial" panose="020B0604020202020204"/>
              </a:rPr>
              <a:t>Brands </a:t>
            </a:r>
            <a:r>
              <a:rPr lang="en-US" sz="1799" b="1" u="sng">
                <a:solidFill>
                  <a:srgbClr val="0000C9"/>
                </a:solidFill>
                <a:latin typeface="Arial" panose="020B0604020202020204"/>
              </a:rPr>
              <a:t>Requested</a:t>
            </a:r>
            <a:br>
              <a:rPr lang="en-US" sz="1799" b="1">
                <a:solidFill>
                  <a:srgbClr val="0000C9"/>
                </a:solidFill>
                <a:latin typeface="Arial" panose="020B0604020202020204"/>
              </a:rPr>
            </a:br>
            <a:r>
              <a:rPr lang="en-US" sz="1799" b="1">
                <a:solidFill>
                  <a:srgbClr val="0000C9"/>
                </a:solidFill>
                <a:latin typeface="Arial" panose="020B0604020202020204"/>
              </a:rPr>
              <a:t>for Patients Aged 16-18</a:t>
            </a:r>
            <a:br>
              <a:rPr lang="en-US" sz="1799" b="1">
                <a:solidFill>
                  <a:srgbClr val="0000C9"/>
                </a:solidFill>
                <a:latin typeface="Arial" panose="020B0604020202020204"/>
              </a:rPr>
            </a:br>
            <a:r>
              <a:rPr lang="en-US" sz="1000" i="1">
                <a:solidFill>
                  <a:srgbClr val="FFFFFF">
                    <a:lumMod val="50000"/>
                  </a:srgbClr>
                </a:solidFill>
                <a:latin typeface="Arial" panose="020B0604020202020204"/>
              </a:rPr>
              <a:t>% HCPs</a:t>
            </a:r>
          </a:p>
        </p:txBody>
      </p:sp>
      <p:sp>
        <p:nvSpPr>
          <p:cNvPr id="8" name="TextBox 7">
            <a:extLst>
              <a:ext uri="{FF2B5EF4-FFF2-40B4-BE49-F238E27FC236}">
                <a16:creationId xmlns:a16="http://schemas.microsoft.com/office/drawing/2014/main" id="{B88E701A-A684-F36B-E7C8-9E9E4E52A4AA}"/>
              </a:ext>
            </a:extLst>
          </p:cNvPr>
          <p:cNvSpPr txBox="1"/>
          <p:nvPr/>
        </p:nvSpPr>
        <p:spPr bwMode="gray">
          <a:xfrm>
            <a:off x="6804239" y="1941622"/>
            <a:ext cx="3772753" cy="729150"/>
          </a:xfrm>
          <a:prstGeom prst="rect">
            <a:avLst/>
          </a:prstGeom>
        </p:spPr>
        <p:txBody>
          <a:bodyPr wrap="squar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 Time </a:t>
            </a:r>
            <a:r>
              <a:rPr lang="en-US" sz="1799" b="1" u="sng">
                <a:solidFill>
                  <a:srgbClr val="0000C9"/>
                </a:solidFill>
                <a:latin typeface="Arial" panose="020B0604020202020204"/>
              </a:rPr>
              <a:t>Administered</a:t>
            </a:r>
            <a:br>
              <a:rPr lang="en-US" sz="1799" b="1">
                <a:solidFill>
                  <a:srgbClr val="0000C9"/>
                </a:solidFill>
                <a:latin typeface="Arial" panose="020B0604020202020204"/>
              </a:rPr>
            </a:br>
            <a:r>
              <a:rPr lang="en-US" sz="1799" b="1">
                <a:solidFill>
                  <a:srgbClr val="0000C9"/>
                </a:solidFill>
                <a:latin typeface="Arial" panose="020B0604020202020204"/>
              </a:rPr>
              <a:t>when Requested</a:t>
            </a:r>
            <a:br>
              <a:rPr lang="en-US" sz="1799" b="1" i="1">
                <a:solidFill>
                  <a:srgbClr val="0000C9"/>
                </a:solidFill>
                <a:latin typeface="Arial" panose="020B0604020202020204"/>
              </a:rPr>
            </a:br>
            <a:r>
              <a:rPr lang="en-US" sz="1000" i="1">
                <a:solidFill>
                  <a:srgbClr val="FFFFFF">
                    <a:lumMod val="50000"/>
                  </a:srgbClr>
                </a:solidFill>
                <a:latin typeface="Arial" panose="020B0604020202020204"/>
              </a:rPr>
              <a:t>% Time</a:t>
            </a:r>
          </a:p>
        </p:txBody>
      </p:sp>
      <p:sp>
        <p:nvSpPr>
          <p:cNvPr id="18" name="Rectangle: Rounded Corners 17">
            <a:extLst>
              <a:ext uri="{FF2B5EF4-FFF2-40B4-BE49-F238E27FC236}">
                <a16:creationId xmlns:a16="http://schemas.microsoft.com/office/drawing/2014/main" id="{9A574387-3477-2256-3D85-1FF7FA46A196}"/>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aphicFrame>
        <p:nvGraphicFramePr>
          <p:cNvPr id="21" name="Chart 20">
            <a:extLst>
              <a:ext uri="{FF2B5EF4-FFF2-40B4-BE49-F238E27FC236}">
                <a16:creationId xmlns:a16="http://schemas.microsoft.com/office/drawing/2014/main" id="{0F3F25B2-2895-A2AE-E78E-3565F490EDD7}"/>
              </a:ext>
            </a:extLst>
          </p:cNvPr>
          <p:cNvGraphicFramePr/>
          <p:nvPr>
            <p:extLst>
              <p:ext uri="{D42A27DB-BD31-4B8C-83A1-F6EECF244321}">
                <p14:modId xmlns:p14="http://schemas.microsoft.com/office/powerpoint/2010/main" val="3731569299"/>
              </p:ext>
            </p:extLst>
          </p:nvPr>
        </p:nvGraphicFramePr>
        <p:xfrm>
          <a:off x="1711883" y="2773679"/>
          <a:ext cx="3905061" cy="28152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21">
            <a:extLst>
              <a:ext uri="{FF2B5EF4-FFF2-40B4-BE49-F238E27FC236}">
                <a16:creationId xmlns:a16="http://schemas.microsoft.com/office/drawing/2014/main" id="{F080060C-61ED-D8EA-B312-143247693F92}"/>
              </a:ext>
            </a:extLst>
          </p:cNvPr>
          <p:cNvGraphicFramePr/>
          <p:nvPr>
            <p:extLst>
              <p:ext uri="{D42A27DB-BD31-4B8C-83A1-F6EECF244321}">
                <p14:modId xmlns:p14="http://schemas.microsoft.com/office/powerpoint/2010/main" val="1971834144"/>
              </p:ext>
            </p:extLst>
          </p:nvPr>
        </p:nvGraphicFramePr>
        <p:xfrm>
          <a:off x="6365134" y="2773679"/>
          <a:ext cx="4520047" cy="2815283"/>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Group 8">
            <a:extLst>
              <a:ext uri="{FF2B5EF4-FFF2-40B4-BE49-F238E27FC236}">
                <a16:creationId xmlns:a16="http://schemas.microsoft.com/office/drawing/2014/main" id="{0CAB78BB-3E9E-74AD-4612-294805B4B725}"/>
              </a:ext>
            </a:extLst>
          </p:cNvPr>
          <p:cNvGrpSpPr/>
          <p:nvPr/>
        </p:nvGrpSpPr>
        <p:grpSpPr>
          <a:xfrm>
            <a:off x="1073723" y="1600319"/>
            <a:ext cx="650178" cy="539122"/>
            <a:chOff x="1686341" y="1600319"/>
            <a:chExt cx="650178" cy="539122"/>
          </a:xfrm>
        </p:grpSpPr>
        <p:cxnSp>
          <p:nvCxnSpPr>
            <p:cNvPr id="13" name="Straight Connector 12">
              <a:extLst>
                <a:ext uri="{FF2B5EF4-FFF2-40B4-BE49-F238E27FC236}">
                  <a16:creationId xmlns:a16="http://schemas.microsoft.com/office/drawing/2014/main" id="{2147DEE8-BECF-DFDC-63BA-3C84E4C55CD3}"/>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4" name="TextBox 13">
              <a:extLst>
                <a:ext uri="{FF2B5EF4-FFF2-40B4-BE49-F238E27FC236}">
                  <a16:creationId xmlns:a16="http://schemas.microsoft.com/office/drawing/2014/main" id="{8013D5D2-09AA-5CD7-EBC2-02D5B76B3192}"/>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15" name="TextBox 14">
            <a:extLst>
              <a:ext uri="{FF2B5EF4-FFF2-40B4-BE49-F238E27FC236}">
                <a16:creationId xmlns:a16="http://schemas.microsoft.com/office/drawing/2014/main" id="{570A7990-10E5-F077-FD4F-9799566B87D6}"/>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graphicFrame>
        <p:nvGraphicFramePr>
          <p:cNvPr id="45" name="Table 44">
            <a:extLst>
              <a:ext uri="{FF2B5EF4-FFF2-40B4-BE49-F238E27FC236}">
                <a16:creationId xmlns:a16="http://schemas.microsoft.com/office/drawing/2014/main" id="{BE21EF1D-15AD-EDCC-AC28-D2E5E875F074}"/>
              </a:ext>
            </a:extLst>
          </p:cNvPr>
          <p:cNvGraphicFramePr>
            <a:graphicFrameLocks noGrp="1"/>
          </p:cNvGraphicFramePr>
          <p:nvPr>
            <p:extLst>
              <p:ext uri="{D42A27DB-BD31-4B8C-83A1-F6EECF244321}">
                <p14:modId xmlns:p14="http://schemas.microsoft.com/office/powerpoint/2010/main" val="1475618203"/>
              </p:ext>
            </p:extLst>
          </p:nvPr>
        </p:nvGraphicFramePr>
        <p:xfrm>
          <a:off x="7489660" y="3012441"/>
          <a:ext cx="529174" cy="2186940"/>
        </p:xfrm>
        <a:graphic>
          <a:graphicData uri="http://schemas.openxmlformats.org/drawingml/2006/table">
            <a:tbl>
              <a:tblPr firstRow="1" bandRow="1">
                <a:tableStyleId>{5C22544A-7EE6-4342-B048-85BDC9FD1C3A}</a:tableStyleId>
              </a:tblPr>
              <a:tblGrid>
                <a:gridCol w="529174">
                  <a:extLst>
                    <a:ext uri="{9D8B030D-6E8A-4147-A177-3AD203B41FA5}">
                      <a16:colId xmlns:a16="http://schemas.microsoft.com/office/drawing/2014/main" val="3753271863"/>
                    </a:ext>
                  </a:extLst>
                </a:gridCol>
              </a:tblGrid>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(n=28)</a:t>
                      </a:r>
                      <a:r>
                        <a:rPr kumimoji="0" lang="en-US" sz="900" b="0" i="0" u="none" strike="noStrike" kern="1200" cap="none" spc="0" normalizeH="0" baseline="0" noProof="0">
                          <a:ln>
                            <a:noFill/>
                          </a:ln>
                          <a:solidFill>
                            <a:srgbClr val="FF0000"/>
                          </a:solidFill>
                          <a:effectLst/>
                          <a:uLnTx/>
                          <a:uFillTx/>
                          <a:latin typeface="+mn-lt"/>
                          <a:ea typeface="+mn-ea"/>
                          <a:cs typeface="+mn-cs"/>
                        </a:rPr>
                        <a:t>*</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95179680"/>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(n=24)</a:t>
                      </a:r>
                      <a:r>
                        <a:rPr kumimoji="0" lang="en-US" sz="900" b="0" i="0" u="none" strike="noStrike" kern="1200" cap="none" spc="0" normalizeH="0" baseline="0" noProof="0">
                          <a:ln>
                            <a:noFill/>
                          </a:ln>
                          <a:solidFill>
                            <a:srgbClr val="FF0000"/>
                          </a:solidFill>
                          <a:effectLst/>
                          <a:uLnTx/>
                          <a:uFillTx/>
                          <a:latin typeface="+mn-lt"/>
                          <a:ea typeface="+mn-ea"/>
                          <a:cs typeface="+mn-cs"/>
                        </a:rPr>
                        <a:t>*</a:t>
                      </a:r>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a:txBody>
                  <a:tcPr marL="0" marR="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83632557"/>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(n=20)</a:t>
                      </a:r>
                      <a:r>
                        <a:rPr kumimoji="0" lang="en-US" sz="900" b="0" i="0" u="none" strike="noStrike" kern="1200" cap="none" spc="0" normalizeH="0" baseline="0" noProof="0">
                          <a:ln>
                            <a:noFill/>
                          </a:ln>
                          <a:solidFill>
                            <a:srgbClr val="FF0000"/>
                          </a:solidFill>
                          <a:effectLst/>
                          <a:uLnTx/>
                          <a:uFillTx/>
                          <a:latin typeface="+mn-lt"/>
                          <a:ea typeface="+mn-ea"/>
                          <a:cs typeface="+mn-cs"/>
                        </a:rPr>
                        <a:t>*</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14558098"/>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(n=15)</a:t>
                      </a:r>
                      <a:r>
                        <a:rPr kumimoji="0" lang="en-US" sz="900" b="0" i="0" u="none" strike="noStrike" kern="1200" cap="none" spc="0" normalizeH="0" baseline="0" noProof="0">
                          <a:ln>
                            <a:noFill/>
                          </a:ln>
                          <a:solidFill>
                            <a:srgbClr val="FF0000"/>
                          </a:solidFill>
                          <a:effectLst/>
                          <a:uLnTx/>
                          <a:uFillTx/>
                          <a:latin typeface="+mn-lt"/>
                          <a:ea typeface="+mn-ea"/>
                          <a:cs typeface="+mn-cs"/>
                        </a:rPr>
                        <a:t>*</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93973778"/>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(n=11)</a:t>
                      </a:r>
                      <a:r>
                        <a:rPr kumimoji="0" lang="en-US" sz="900" b="0" i="0" u="none" strike="noStrike" kern="1200" cap="none" spc="0" normalizeH="0" baseline="0" noProof="0">
                          <a:ln>
                            <a:noFill/>
                          </a:ln>
                          <a:solidFill>
                            <a:srgbClr val="FF0000"/>
                          </a:solidFill>
                          <a:effectLst/>
                          <a:uLnTx/>
                          <a:uFillTx/>
                          <a:latin typeface="+mn-lt"/>
                          <a:ea typeface="+mn-ea"/>
                          <a:cs typeface="+mn-cs"/>
                        </a:rPr>
                        <a:t>*</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7225109"/>
                  </a:ext>
                </a:extLst>
              </a:tr>
            </a:tbl>
          </a:graphicData>
        </a:graphic>
      </p:graphicFrame>
      <p:sp>
        <p:nvSpPr>
          <p:cNvPr id="5" name="Title 4">
            <a:extLst>
              <a:ext uri="{FF2B5EF4-FFF2-40B4-BE49-F238E27FC236}">
                <a16:creationId xmlns:a16="http://schemas.microsoft.com/office/drawing/2014/main" id="{CD92832F-5FF3-A9F9-69C5-B396DAD3C68D}"/>
              </a:ext>
            </a:extLst>
          </p:cNvPr>
          <p:cNvSpPr>
            <a:spLocks noGrp="1"/>
          </p:cNvSpPr>
          <p:nvPr>
            <p:ph type="title"/>
          </p:nvPr>
        </p:nvSpPr>
        <p:spPr/>
        <p:txBody>
          <a:bodyPr/>
          <a:lstStyle/>
          <a:p>
            <a:r>
              <a:rPr lang="en-US" dirty="0"/>
              <a:t>While Penbraya requests are low, Trumenba is second highest requested brand by patients/caregivers; HCPs are most willing to administer Penbraya when requested</a:t>
            </a:r>
          </a:p>
        </p:txBody>
      </p:sp>
      <p:cxnSp>
        <p:nvCxnSpPr>
          <p:cNvPr id="11" name="Straight Connector 10">
            <a:extLst>
              <a:ext uri="{FF2B5EF4-FFF2-40B4-BE49-F238E27FC236}">
                <a16:creationId xmlns:a16="http://schemas.microsoft.com/office/drawing/2014/main" id="{0E3453D5-E4AA-3158-F88A-7B91BE41A3DD}"/>
              </a:ext>
            </a:extLst>
          </p:cNvPr>
          <p:cNvCxnSpPr/>
          <p:nvPr/>
        </p:nvCxnSpPr>
        <p:spPr bwMode="gray">
          <a:xfrm>
            <a:off x="1767840" y="5140960"/>
            <a:ext cx="8493760" cy="0"/>
          </a:xfrm>
          <a:prstGeom prst="line">
            <a:avLst/>
          </a:prstGeom>
          <a:ln w="19050">
            <a:solidFill>
              <a:schemeClr val="bg1">
                <a:lumMod val="75000"/>
              </a:schemeClr>
            </a:solidFill>
            <a:headEnd/>
            <a:tailEnd/>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F4FB5C79-3902-F795-4D91-84A5CAF5B8FE}"/>
              </a:ext>
            </a:extLst>
          </p:cNvPr>
          <p:cNvSpPr txBox="1"/>
          <p:nvPr/>
        </p:nvSpPr>
        <p:spPr bwMode="gray">
          <a:xfrm>
            <a:off x="3869947" y="4321648"/>
            <a:ext cx="753366" cy="304699"/>
          </a:xfrm>
          <a:prstGeom prst="rect">
            <a:avLst/>
          </a:prstGeom>
          <a:solidFill>
            <a:schemeClr val="bg1">
              <a:lumMod val="95000"/>
            </a:schemeClr>
          </a:solidFill>
          <a:ln w="12700">
            <a:solidFill>
              <a:schemeClr val="tx1">
                <a:lumMod val="50000"/>
                <a:lumOff val="50000"/>
              </a:schemeClr>
            </a:solidFill>
            <a:prstDash val="solid"/>
          </a:ln>
        </p:spPr>
        <p:txBody>
          <a:bodyPr wrap="square" lIns="27432" tIns="27432" rIns="27432" bIns="27432" rtlCol="0" anchor="ctr" anchorCtr="0">
            <a:spAutoFit/>
          </a:bodyPr>
          <a:lstStyle/>
          <a:p>
            <a:pPr lvl="0" algn="ctr">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High Public &lt; Others</a:t>
            </a:r>
          </a:p>
        </p:txBody>
      </p:sp>
      <p:sp>
        <p:nvSpPr>
          <p:cNvPr id="10" name="TextBox 9">
            <a:extLst>
              <a:ext uri="{FF2B5EF4-FFF2-40B4-BE49-F238E27FC236}">
                <a16:creationId xmlns:a16="http://schemas.microsoft.com/office/drawing/2014/main" id="{68331BD2-57A9-40F2-4604-836C9B6481E3}"/>
              </a:ext>
            </a:extLst>
          </p:cNvPr>
          <p:cNvSpPr txBox="1"/>
          <p:nvPr/>
        </p:nvSpPr>
        <p:spPr bwMode="gray">
          <a:xfrm>
            <a:off x="5178563" y="5212612"/>
            <a:ext cx="655638"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81% PED &gt; 60% PCP</a:t>
            </a:r>
          </a:p>
        </p:txBody>
      </p:sp>
      <p:sp>
        <p:nvSpPr>
          <p:cNvPr id="12" name="TextBox 11">
            <a:extLst>
              <a:ext uri="{FF2B5EF4-FFF2-40B4-BE49-F238E27FC236}">
                <a16:creationId xmlns:a16="http://schemas.microsoft.com/office/drawing/2014/main" id="{D352441F-FBA2-7CC4-1E9A-3AFF5B3A3D6A}"/>
              </a:ext>
            </a:extLst>
          </p:cNvPr>
          <p:cNvSpPr txBox="1"/>
          <p:nvPr/>
        </p:nvSpPr>
        <p:spPr bwMode="gray">
          <a:xfrm>
            <a:off x="5886751" y="5209891"/>
            <a:ext cx="753366" cy="304699"/>
          </a:xfrm>
          <a:prstGeom prst="rect">
            <a:avLst/>
          </a:prstGeom>
          <a:solidFill>
            <a:schemeClr val="bg1">
              <a:lumMod val="95000"/>
            </a:schemeClr>
          </a:solidFill>
          <a:ln w="12700">
            <a:solidFill>
              <a:schemeClr val="tx1">
                <a:lumMod val="50000"/>
                <a:lumOff val="50000"/>
              </a:schemeClr>
            </a:solidFill>
            <a:prstDash val="solid"/>
          </a:ln>
        </p:spPr>
        <p:txBody>
          <a:bodyPr wrap="square" lIns="27432" tIns="27432" rIns="27432" bIns="27432" rtlCol="0" anchor="ctr" anchorCtr="0">
            <a:spAutoFit/>
          </a:bodyPr>
          <a:lstStyle/>
          <a:p>
            <a:pPr lvl="0" algn="ctr">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High Public &lt; Others</a:t>
            </a:r>
          </a:p>
        </p:txBody>
      </p:sp>
    </p:spTree>
    <p:extLst>
      <p:ext uri="{BB962C8B-B14F-4D97-AF65-F5344CB8AC3E}">
        <p14:creationId xmlns:p14="http://schemas.microsoft.com/office/powerpoint/2010/main" val="2042934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3FC70-E592-B664-6675-757BF1B714A2}"/>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D955A316-66E8-9644-F173-33BD3D821C28}"/>
              </a:ext>
            </a:extLst>
          </p:cNvPr>
          <p:cNvGraphicFramePr>
            <a:graphicFrameLocks noGrp="1"/>
          </p:cNvGraphicFramePr>
          <p:nvPr/>
        </p:nvGraphicFramePr>
        <p:xfrm>
          <a:off x="1943111" y="3186861"/>
          <a:ext cx="529174" cy="2186940"/>
        </p:xfrm>
        <a:graphic>
          <a:graphicData uri="http://schemas.openxmlformats.org/drawingml/2006/table">
            <a:tbl>
              <a:tblPr firstRow="1" bandRow="1">
                <a:tableStyleId>{5C22544A-7EE6-4342-B048-85BDC9FD1C3A}</a:tableStyleId>
              </a:tblPr>
              <a:tblGrid>
                <a:gridCol w="529174">
                  <a:extLst>
                    <a:ext uri="{9D8B030D-6E8A-4147-A177-3AD203B41FA5}">
                      <a16:colId xmlns:a16="http://schemas.microsoft.com/office/drawing/2014/main" val="3753271863"/>
                    </a:ext>
                  </a:extLst>
                </a:gridCol>
              </a:tblGrid>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(n=190)</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95179680"/>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(n=195)</a:t>
                      </a:r>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a:txBody>
                  <a:tcPr marL="0" marR="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83632557"/>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(n=196)</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14558098"/>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(n=195)</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93973778"/>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(n=200)</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7225109"/>
                  </a:ext>
                </a:extLst>
              </a:tr>
            </a:tbl>
          </a:graphicData>
        </a:graphic>
      </p:graphicFrame>
      <p:sp>
        <p:nvSpPr>
          <p:cNvPr id="2" name="Title 1">
            <a:extLst>
              <a:ext uri="{FF2B5EF4-FFF2-40B4-BE49-F238E27FC236}">
                <a16:creationId xmlns:a16="http://schemas.microsoft.com/office/drawing/2014/main" id="{A43D01CC-8E97-C502-059D-318971E3E22E}"/>
              </a:ext>
            </a:extLst>
          </p:cNvPr>
          <p:cNvSpPr>
            <a:spLocks noGrp="1"/>
          </p:cNvSpPr>
          <p:nvPr>
            <p:ph type="title"/>
          </p:nvPr>
        </p:nvSpPr>
        <p:spPr>
          <a:xfrm>
            <a:off x="1142122" y="170307"/>
            <a:ext cx="10696439" cy="850392"/>
          </a:xfrm>
        </p:spPr>
        <p:txBody>
          <a:bodyPr/>
          <a:lstStyle/>
          <a:p>
            <a:r>
              <a:rPr lang="en-US" dirty="0"/>
              <a:t>Overall, half of HCPs report high comfort administering Penbraya, and speculate lower comfort among parents; significantly higher comfort levels reported among Penbraya Stockers vs. </a:t>
            </a:r>
            <a:br>
              <a:rPr lang="en-US" dirty="0"/>
            </a:br>
            <a:r>
              <a:rPr lang="en-US" dirty="0"/>
              <a:t>Non-Stockers</a:t>
            </a:r>
          </a:p>
        </p:txBody>
      </p:sp>
      <p:sp>
        <p:nvSpPr>
          <p:cNvPr id="3" name="Text Placeholder 2">
            <a:extLst>
              <a:ext uri="{FF2B5EF4-FFF2-40B4-BE49-F238E27FC236}">
                <a16:creationId xmlns:a16="http://schemas.microsoft.com/office/drawing/2014/main" id="{ED6E024E-D2BE-D540-5DCE-6C18C5784A0F}"/>
              </a:ext>
            </a:extLst>
          </p:cNvPr>
          <p:cNvSpPr>
            <a:spLocks noGrp="1"/>
          </p:cNvSpPr>
          <p:nvPr>
            <p:ph type="body" sz="quarter" idx="16"/>
          </p:nvPr>
        </p:nvSpPr>
        <p:spPr>
          <a:xfrm>
            <a:off x="1572803" y="6112926"/>
            <a:ext cx="8075288" cy="630942"/>
          </a:xfrm>
        </p:spPr>
        <p:txBody>
          <a:bodyPr wrap="none"/>
          <a:lstStyle/>
          <a:p>
            <a:pPr marL="347559" indent="-347559"/>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a:t>
            </a:r>
          </a:p>
          <a:p>
            <a:pPr marL="347559" indent="-347559"/>
            <a:r>
              <a:rPr lang="en-US"/>
              <a:t>(7-pt scale: 1=Not at all comfortable, 7=Extremely comfortable)</a:t>
            </a:r>
          </a:p>
          <a:p>
            <a:pPr marL="347559" indent="-347559"/>
            <a:r>
              <a:rPr lang="en-US"/>
              <a:t>P21. Please indicate the level of comfort you have administering or recommending each vaccine to patients 16-18 years of age.</a:t>
            </a:r>
          </a:p>
          <a:p>
            <a:pPr marL="347559" indent="-347559"/>
            <a:r>
              <a:rPr lang="en-US"/>
              <a:t>P22. Please indicate the level of comfort you believe parents/caregivers have with their children 16-18 years of age receiving each of the following vaccines. </a:t>
            </a:r>
          </a:p>
        </p:txBody>
      </p:sp>
      <p:graphicFrame>
        <p:nvGraphicFramePr>
          <p:cNvPr id="4" name="Chart 3">
            <a:extLst>
              <a:ext uri="{FF2B5EF4-FFF2-40B4-BE49-F238E27FC236}">
                <a16:creationId xmlns:a16="http://schemas.microsoft.com/office/drawing/2014/main" id="{A8B889B6-D9FA-A9D8-954E-05408759FF97}"/>
              </a:ext>
            </a:extLst>
          </p:cNvPr>
          <p:cNvGraphicFramePr/>
          <p:nvPr/>
        </p:nvGraphicFramePr>
        <p:xfrm>
          <a:off x="997733" y="3061400"/>
          <a:ext cx="5274505" cy="23665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DC79D6F4-2610-F6B6-1856-89C67B2420F0}"/>
              </a:ext>
            </a:extLst>
          </p:cNvPr>
          <p:cNvGraphicFramePr/>
          <p:nvPr/>
        </p:nvGraphicFramePr>
        <p:xfrm>
          <a:off x="6595586" y="3061400"/>
          <a:ext cx="5274505" cy="2366515"/>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20">
            <a:extLst>
              <a:ext uri="{FF2B5EF4-FFF2-40B4-BE49-F238E27FC236}">
                <a16:creationId xmlns:a16="http://schemas.microsoft.com/office/drawing/2014/main" id="{BAD58ECC-0B82-6853-F863-8B0BFAE4F843}"/>
              </a:ext>
            </a:extLst>
          </p:cNvPr>
          <p:cNvSpPr txBox="1"/>
          <p:nvPr/>
        </p:nvSpPr>
        <p:spPr bwMode="gray">
          <a:xfrm>
            <a:off x="1811874" y="1767883"/>
            <a:ext cx="3038516" cy="780446"/>
          </a:xfrm>
          <a:prstGeom prst="rect">
            <a:avLst/>
          </a:prstGeom>
        </p:spPr>
        <p:txBody>
          <a:bodyPr wrap="square" lIns="45708" tIns="45708" rIns="45708" bIns="45708" rtlCol="0">
            <a:spAutoFit/>
          </a:bodyPr>
          <a:lstStyle/>
          <a:p>
            <a:pPr algn="ctr">
              <a:lnSpc>
                <a:spcPct val="90000"/>
              </a:lnSpc>
              <a:spcAft>
                <a:spcPts val="400"/>
              </a:spcAft>
            </a:pPr>
            <a:r>
              <a:rPr lang="en-US" sz="1799" b="1">
                <a:solidFill>
                  <a:srgbClr val="0000C9"/>
                </a:solidFill>
                <a:latin typeface="Arial" panose="020B0604020202020204"/>
              </a:rPr>
              <a:t>Level of HCP Comfort Administering Vaccines</a:t>
            </a:r>
          </a:p>
          <a:p>
            <a:pPr algn="ctr">
              <a:lnSpc>
                <a:spcPct val="90000"/>
              </a:lnSpc>
              <a:spcAft>
                <a:spcPts val="400"/>
              </a:spcAft>
            </a:pPr>
            <a:r>
              <a:rPr lang="en-US" sz="1000" i="1">
                <a:solidFill>
                  <a:srgbClr val="FFFFFF">
                    <a:lumMod val="50000"/>
                  </a:srgbClr>
                </a:solidFill>
                <a:latin typeface="Arial" panose="020B0604020202020204"/>
              </a:rPr>
              <a:t>% HCPs</a:t>
            </a:r>
          </a:p>
        </p:txBody>
      </p:sp>
      <p:sp>
        <p:nvSpPr>
          <p:cNvPr id="22" name="TextBox 21">
            <a:extLst>
              <a:ext uri="{FF2B5EF4-FFF2-40B4-BE49-F238E27FC236}">
                <a16:creationId xmlns:a16="http://schemas.microsoft.com/office/drawing/2014/main" id="{1A813453-D6F3-CC84-3470-8B65E26E9C0B}"/>
              </a:ext>
            </a:extLst>
          </p:cNvPr>
          <p:cNvSpPr txBox="1"/>
          <p:nvPr/>
        </p:nvSpPr>
        <p:spPr bwMode="gray">
          <a:xfrm>
            <a:off x="7257043" y="1767883"/>
            <a:ext cx="3242127" cy="780446"/>
          </a:xfrm>
          <a:prstGeom prst="rect">
            <a:avLst/>
          </a:prstGeom>
        </p:spPr>
        <p:txBody>
          <a:bodyPr wrap="squar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Level of Parental Comfort </a:t>
            </a:r>
            <a:br>
              <a:rPr lang="en-US" sz="1799" b="1">
                <a:solidFill>
                  <a:srgbClr val="0000C9"/>
                </a:solidFill>
                <a:latin typeface="Arial" panose="020B0604020202020204"/>
              </a:rPr>
            </a:br>
            <a:r>
              <a:rPr lang="en-US" sz="1799" b="1">
                <a:solidFill>
                  <a:srgbClr val="0000C9"/>
                </a:solidFill>
                <a:latin typeface="Arial" panose="020B0604020202020204"/>
              </a:rPr>
              <a:t>with Child Receiving</a:t>
            </a:r>
          </a:p>
          <a:p>
            <a:pPr algn="ctr">
              <a:lnSpc>
                <a:spcPct val="90000"/>
              </a:lnSpc>
              <a:spcAft>
                <a:spcPts val="400"/>
              </a:spcAft>
              <a:defRPr/>
            </a:pPr>
            <a:r>
              <a:rPr lang="en-US" sz="1000" i="1">
                <a:solidFill>
                  <a:srgbClr val="FFFFFF">
                    <a:lumMod val="50000"/>
                  </a:srgbClr>
                </a:solidFill>
                <a:latin typeface="Arial" panose="020B0604020202020204"/>
              </a:rPr>
              <a:t>% HCPs</a:t>
            </a:r>
          </a:p>
        </p:txBody>
      </p:sp>
      <p:sp>
        <p:nvSpPr>
          <p:cNvPr id="26" name="Rectangle: Rounded Corners 25">
            <a:extLst>
              <a:ext uri="{FF2B5EF4-FFF2-40B4-BE49-F238E27FC236}">
                <a16:creationId xmlns:a16="http://schemas.microsoft.com/office/drawing/2014/main" id="{F702BA29-8FEC-C9FE-B21E-48480B8E0EEE}"/>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6" name="TextBox 15">
            <a:extLst>
              <a:ext uri="{FF2B5EF4-FFF2-40B4-BE49-F238E27FC236}">
                <a16:creationId xmlns:a16="http://schemas.microsoft.com/office/drawing/2014/main" id="{49196317-3846-415A-4F10-7AFCDCDF0D95}"/>
              </a:ext>
            </a:extLst>
          </p:cNvPr>
          <p:cNvSpPr txBox="1"/>
          <p:nvPr/>
        </p:nvSpPr>
        <p:spPr bwMode="gray">
          <a:xfrm>
            <a:off x="4893278" y="4996743"/>
            <a:ext cx="1126206" cy="332399"/>
          </a:xfrm>
          <a:prstGeom prst="rect">
            <a:avLst/>
          </a:prstGeom>
          <a:solidFill>
            <a:schemeClr val="bg1"/>
          </a:solidFill>
          <a:ln w="12700">
            <a:solidFill>
              <a:schemeClr val="tx1"/>
            </a:solidFill>
            <a:prstDash val="solid"/>
          </a:ln>
        </p:spPr>
        <p:txBody>
          <a:bodyPr wrap="none" lIns="27432" tIns="27432" rIns="27432" bIns="27432" rtlCol="0" anchor="ctr" anchorCtr="0">
            <a:spAutoFit/>
          </a:bodyPr>
          <a:lstStyle/>
          <a:p>
            <a:pPr>
              <a:lnSpc>
                <a:spcPct val="90000"/>
              </a:lnSpc>
            </a:pPr>
            <a:r>
              <a:rPr lang="en-US" sz="1000">
                <a:solidFill>
                  <a:schemeClr val="tx1">
                    <a:lumMod val="50000"/>
                    <a:lumOff val="50000"/>
                  </a:schemeClr>
                </a:solidFill>
              </a:rPr>
              <a:t>85%</a:t>
            </a:r>
            <a:r>
              <a:rPr lang="en-US" sz="1000">
                <a:solidFill>
                  <a:srgbClr val="FF0000"/>
                </a:solidFill>
                <a:cs typeface="Arial" panose="020B0604020202020204" pitchFamily="34" charset="0"/>
                <a:sym typeface="Symbol" pitchFamily="18" charset="2"/>
              </a:rPr>
              <a:t>  </a:t>
            </a:r>
            <a:r>
              <a:rPr lang="en-US" sz="1000">
                <a:solidFill>
                  <a:schemeClr val="tx1">
                    <a:lumMod val="50000"/>
                    <a:lumOff val="50000"/>
                  </a:schemeClr>
                </a:solidFill>
              </a:rPr>
              <a:t> Stocker &gt;</a:t>
            </a:r>
          </a:p>
          <a:p>
            <a:pPr>
              <a:lnSpc>
                <a:spcPct val="90000"/>
              </a:lnSpc>
            </a:pPr>
            <a:r>
              <a:rPr lang="en-US" sz="1000">
                <a:solidFill>
                  <a:schemeClr val="tx1">
                    <a:lumMod val="50000"/>
                    <a:lumOff val="50000"/>
                  </a:schemeClr>
                </a:solidFill>
              </a:rPr>
              <a:t>46%   Non-Stocker</a:t>
            </a:r>
          </a:p>
        </p:txBody>
      </p:sp>
      <p:grpSp>
        <p:nvGrpSpPr>
          <p:cNvPr id="17" name="Group 16">
            <a:extLst>
              <a:ext uri="{FF2B5EF4-FFF2-40B4-BE49-F238E27FC236}">
                <a16:creationId xmlns:a16="http://schemas.microsoft.com/office/drawing/2014/main" id="{4D91C1BF-206E-8B51-81CB-F4E390A23ACC}"/>
              </a:ext>
            </a:extLst>
          </p:cNvPr>
          <p:cNvGrpSpPr/>
          <p:nvPr/>
        </p:nvGrpSpPr>
        <p:grpSpPr>
          <a:xfrm>
            <a:off x="1073723" y="1600319"/>
            <a:ext cx="650178" cy="289396"/>
            <a:chOff x="1686341" y="1600319"/>
            <a:chExt cx="650178" cy="289396"/>
          </a:xfrm>
        </p:grpSpPr>
        <p:cxnSp>
          <p:nvCxnSpPr>
            <p:cNvPr id="18" name="Straight Connector 17">
              <a:extLst>
                <a:ext uri="{FF2B5EF4-FFF2-40B4-BE49-F238E27FC236}">
                  <a16:creationId xmlns:a16="http://schemas.microsoft.com/office/drawing/2014/main" id="{BCE4374E-B158-AA62-5F44-947B1B825A9A}"/>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9" name="TextBox 18">
              <a:extLst>
                <a:ext uri="{FF2B5EF4-FFF2-40B4-BE49-F238E27FC236}">
                  <a16:creationId xmlns:a16="http://schemas.microsoft.com/office/drawing/2014/main" id="{11A73CF3-FE5D-5844-752F-DBEECFFD2976}"/>
                </a:ext>
              </a:extLst>
            </p:cNvPr>
            <p:cNvSpPr txBox="1"/>
            <p:nvPr/>
          </p:nvSpPr>
          <p:spPr bwMode="gray">
            <a:xfrm>
              <a:off x="1686341" y="1600319"/>
              <a:ext cx="650178" cy="2862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20" name="TextBox 19">
            <a:extLst>
              <a:ext uri="{FF2B5EF4-FFF2-40B4-BE49-F238E27FC236}">
                <a16:creationId xmlns:a16="http://schemas.microsoft.com/office/drawing/2014/main" id="{35D19035-EA24-19ED-463F-D35F43A33D5C}"/>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graphicFrame>
        <p:nvGraphicFramePr>
          <p:cNvPr id="5" name="Chart 4">
            <a:extLst>
              <a:ext uri="{FF2B5EF4-FFF2-40B4-BE49-F238E27FC236}">
                <a16:creationId xmlns:a16="http://schemas.microsoft.com/office/drawing/2014/main" id="{DCB8C0BD-9E57-C4F3-C0B5-4A0D87A5CC56}"/>
              </a:ext>
            </a:extLst>
          </p:cNvPr>
          <p:cNvGraphicFramePr/>
          <p:nvPr/>
        </p:nvGraphicFramePr>
        <p:xfrm>
          <a:off x="3443100" y="2707331"/>
          <a:ext cx="5144592" cy="353082"/>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Placeholder 2">
            <a:extLst>
              <a:ext uri="{FF2B5EF4-FFF2-40B4-BE49-F238E27FC236}">
                <a16:creationId xmlns:a16="http://schemas.microsoft.com/office/drawing/2014/main" id="{2B362654-FFEF-62D9-5EBD-BA6868331206}"/>
              </a:ext>
            </a:extLst>
          </p:cNvPr>
          <p:cNvSpPr txBox="1">
            <a:spLocks/>
          </p:cNvSpPr>
          <p:nvPr/>
        </p:nvSpPr>
        <p:spPr bwMode="gray">
          <a:xfrm flipV="1">
            <a:off x="3948542" y="3281356"/>
            <a:ext cx="12272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gn="ctr"/>
            <a:r>
              <a:rPr lang="en-US" altLang="en-US">
                <a:solidFill>
                  <a:srgbClr val="FF0000"/>
                </a:solidFill>
                <a:cs typeface="Arial" panose="020B0604020202020204" pitchFamily="34" charset="0"/>
                <a:sym typeface="Symbol" pitchFamily="18" charset="2"/>
              </a:rPr>
              <a:t></a:t>
            </a:r>
            <a:endParaRPr lang="en-US"/>
          </a:p>
        </p:txBody>
      </p:sp>
      <p:sp>
        <p:nvSpPr>
          <p:cNvPr id="13" name="TextBox 12">
            <a:extLst>
              <a:ext uri="{FF2B5EF4-FFF2-40B4-BE49-F238E27FC236}">
                <a16:creationId xmlns:a16="http://schemas.microsoft.com/office/drawing/2014/main" id="{4711B861-AF4E-F884-7376-C0A97ADF1C9F}"/>
              </a:ext>
            </a:extLst>
          </p:cNvPr>
          <p:cNvSpPr txBox="1"/>
          <p:nvPr/>
        </p:nvSpPr>
        <p:spPr bwMode="gray">
          <a:xfrm>
            <a:off x="4867432" y="3236511"/>
            <a:ext cx="725807"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92%</a:t>
            </a:r>
            <a:r>
              <a:rPr lang="en-US" altLang="en-US" sz="900">
                <a:solidFill>
                  <a:srgbClr val="FF0000"/>
                </a:solidFill>
                <a:cs typeface="Arial" panose="020B0604020202020204" pitchFamily="34" charset="0"/>
                <a:sym typeface="Symbol" pitchFamily="18" charset="2"/>
              </a:rPr>
              <a:t></a:t>
            </a:r>
            <a:r>
              <a:rPr lang="en-US" sz="900">
                <a:solidFill>
                  <a:schemeClr val="tx1">
                    <a:lumMod val="50000"/>
                    <a:lumOff val="50000"/>
                  </a:schemeClr>
                </a:solidFill>
              </a:rPr>
              <a:t> PED &gt; 54%   PCP</a:t>
            </a:r>
          </a:p>
        </p:txBody>
      </p:sp>
      <p:sp>
        <p:nvSpPr>
          <p:cNvPr id="14" name="TextBox 13">
            <a:extLst>
              <a:ext uri="{FF2B5EF4-FFF2-40B4-BE49-F238E27FC236}">
                <a16:creationId xmlns:a16="http://schemas.microsoft.com/office/drawing/2014/main" id="{2CA9597F-A3DE-9FE1-6945-2751A23DE8FD}"/>
              </a:ext>
            </a:extLst>
          </p:cNvPr>
          <p:cNvSpPr txBox="1"/>
          <p:nvPr/>
        </p:nvSpPr>
        <p:spPr bwMode="gray">
          <a:xfrm>
            <a:off x="4867432" y="3688756"/>
            <a:ext cx="725807"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85% PED &gt; 66% PCP</a:t>
            </a:r>
          </a:p>
        </p:txBody>
      </p:sp>
      <p:graphicFrame>
        <p:nvGraphicFramePr>
          <p:cNvPr id="15" name="Table 14">
            <a:extLst>
              <a:ext uri="{FF2B5EF4-FFF2-40B4-BE49-F238E27FC236}">
                <a16:creationId xmlns:a16="http://schemas.microsoft.com/office/drawing/2014/main" id="{C087E37E-23E2-124D-7468-C837015592B1}"/>
              </a:ext>
            </a:extLst>
          </p:cNvPr>
          <p:cNvGraphicFramePr>
            <a:graphicFrameLocks noGrp="1"/>
          </p:cNvGraphicFramePr>
          <p:nvPr/>
        </p:nvGraphicFramePr>
        <p:xfrm>
          <a:off x="7543050" y="3186861"/>
          <a:ext cx="529174" cy="2186940"/>
        </p:xfrm>
        <a:graphic>
          <a:graphicData uri="http://schemas.openxmlformats.org/drawingml/2006/table">
            <a:tbl>
              <a:tblPr firstRow="1" bandRow="1">
                <a:tableStyleId>{5C22544A-7EE6-4342-B048-85BDC9FD1C3A}</a:tableStyleId>
              </a:tblPr>
              <a:tblGrid>
                <a:gridCol w="529174">
                  <a:extLst>
                    <a:ext uri="{9D8B030D-6E8A-4147-A177-3AD203B41FA5}">
                      <a16:colId xmlns:a16="http://schemas.microsoft.com/office/drawing/2014/main" val="3753271863"/>
                    </a:ext>
                  </a:extLst>
                </a:gridCol>
              </a:tblGrid>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(n=190)</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95179680"/>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(n=195)</a:t>
                      </a:r>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a:txBody>
                  <a:tcPr marL="0" marR="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83632557"/>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(n=195)</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14558098"/>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(n=196)</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93973778"/>
                  </a:ext>
                </a:extLst>
              </a:tr>
              <a:tr h="4373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mn-lt"/>
                          <a:ea typeface="+mn-ea"/>
                          <a:cs typeface="+mn-cs"/>
                        </a:rPr>
                        <a:t>(n=200)</a:t>
                      </a:r>
                      <a:endParaRPr kumimoji="0" lang="en-US" sz="900" b="0" i="0" u="none" strike="noStrike" kern="1200" cap="none" spc="0" normalizeH="0" baseline="0" noProof="0">
                        <a:ln>
                          <a:noFill/>
                        </a:ln>
                        <a:solidFill>
                          <a:srgbClr val="FF0000"/>
                        </a:solidFill>
                        <a:effectLst/>
                        <a:uLnTx/>
                        <a:uFillTx/>
                        <a:latin typeface="Arial" panose="020B0604020202020204"/>
                        <a:ea typeface="+mn-ea"/>
                        <a:cs typeface="+mn-cs"/>
                      </a:endParaRPr>
                    </a:p>
                  </a:txBody>
                  <a:tcPr marL="0" marR="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7225109"/>
                  </a:ext>
                </a:extLst>
              </a:tr>
            </a:tbl>
          </a:graphicData>
        </a:graphic>
      </p:graphicFrame>
      <p:sp>
        <p:nvSpPr>
          <p:cNvPr id="24" name="TextBox 23">
            <a:extLst>
              <a:ext uri="{FF2B5EF4-FFF2-40B4-BE49-F238E27FC236}">
                <a16:creationId xmlns:a16="http://schemas.microsoft.com/office/drawing/2014/main" id="{3536CFEB-460B-780C-032B-458DA8D4142B}"/>
              </a:ext>
            </a:extLst>
          </p:cNvPr>
          <p:cNvSpPr txBox="1"/>
          <p:nvPr/>
        </p:nvSpPr>
        <p:spPr bwMode="gray">
          <a:xfrm>
            <a:off x="10465285" y="3236511"/>
            <a:ext cx="725807"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63% PED &gt; 40% PCP</a:t>
            </a:r>
          </a:p>
        </p:txBody>
      </p:sp>
      <p:sp>
        <p:nvSpPr>
          <p:cNvPr id="9" name="TextBox 8">
            <a:extLst>
              <a:ext uri="{FF2B5EF4-FFF2-40B4-BE49-F238E27FC236}">
                <a16:creationId xmlns:a16="http://schemas.microsoft.com/office/drawing/2014/main" id="{147F2552-80E1-5FE4-9FA5-8F45F3FD9E3D}"/>
              </a:ext>
            </a:extLst>
          </p:cNvPr>
          <p:cNvSpPr txBox="1"/>
          <p:nvPr/>
        </p:nvSpPr>
        <p:spPr bwMode="gray">
          <a:xfrm>
            <a:off x="5613946" y="3306856"/>
            <a:ext cx="733915" cy="180035"/>
          </a:xfrm>
          <a:prstGeom prst="rect">
            <a:avLst/>
          </a:prstGeom>
          <a:solidFill>
            <a:schemeClr val="bg1"/>
          </a:solid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2 &gt; 3</a:t>
            </a:r>
          </a:p>
        </p:txBody>
      </p:sp>
      <p:sp>
        <p:nvSpPr>
          <p:cNvPr id="11" name="TextBox 10">
            <a:extLst>
              <a:ext uri="{FF2B5EF4-FFF2-40B4-BE49-F238E27FC236}">
                <a16:creationId xmlns:a16="http://schemas.microsoft.com/office/drawing/2014/main" id="{28F6BF31-4F5C-7F2E-2926-E3943F617640}"/>
              </a:ext>
            </a:extLst>
          </p:cNvPr>
          <p:cNvSpPr txBox="1"/>
          <p:nvPr/>
        </p:nvSpPr>
        <p:spPr bwMode="gray">
          <a:xfrm>
            <a:off x="5613946" y="3763331"/>
            <a:ext cx="733915" cy="180035"/>
          </a:xfrm>
          <a:prstGeom prst="rect">
            <a:avLst/>
          </a:prstGeom>
          <a:solidFill>
            <a:schemeClr val="bg1"/>
          </a:solid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1</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&lt; 2</a:t>
            </a:r>
          </a:p>
        </p:txBody>
      </p:sp>
      <p:sp>
        <p:nvSpPr>
          <p:cNvPr id="30" name="TextBox 29">
            <a:extLst>
              <a:ext uri="{FF2B5EF4-FFF2-40B4-BE49-F238E27FC236}">
                <a16:creationId xmlns:a16="http://schemas.microsoft.com/office/drawing/2014/main" id="{2F95FBC9-10FB-CE16-A596-E6818DCF0BD7}"/>
              </a:ext>
            </a:extLst>
          </p:cNvPr>
          <p:cNvSpPr txBox="1"/>
          <p:nvPr/>
        </p:nvSpPr>
        <p:spPr bwMode="gray">
          <a:xfrm>
            <a:off x="4882426" y="4190313"/>
            <a:ext cx="733915" cy="180035"/>
          </a:xfrm>
          <a:prstGeom prst="rect">
            <a:avLst/>
          </a:prstGeom>
          <a:solidFill>
            <a:schemeClr val="bg1"/>
          </a:solid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 3</a:t>
            </a:r>
          </a:p>
        </p:txBody>
      </p:sp>
      <p:sp>
        <p:nvSpPr>
          <p:cNvPr id="31" name="TextBox 30">
            <a:extLst>
              <a:ext uri="{FF2B5EF4-FFF2-40B4-BE49-F238E27FC236}">
                <a16:creationId xmlns:a16="http://schemas.microsoft.com/office/drawing/2014/main" id="{923F514B-DDB3-E7AC-9A39-698FD5E94984}"/>
              </a:ext>
            </a:extLst>
          </p:cNvPr>
          <p:cNvSpPr txBox="1"/>
          <p:nvPr/>
        </p:nvSpPr>
        <p:spPr bwMode="gray">
          <a:xfrm>
            <a:off x="10476083" y="4169908"/>
            <a:ext cx="733915" cy="180035"/>
          </a:xfrm>
          <a:prstGeom prst="rect">
            <a:avLst/>
          </a:prstGeom>
          <a:solidFill>
            <a:schemeClr val="bg1"/>
          </a:solid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1</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&lt; 3</a:t>
            </a:r>
          </a:p>
        </p:txBody>
      </p:sp>
      <p:sp>
        <p:nvSpPr>
          <p:cNvPr id="32" name="TextBox 31">
            <a:extLst>
              <a:ext uri="{FF2B5EF4-FFF2-40B4-BE49-F238E27FC236}">
                <a16:creationId xmlns:a16="http://schemas.microsoft.com/office/drawing/2014/main" id="{7B65A702-5D96-320A-C2CA-913AC2DF89F6}"/>
              </a:ext>
            </a:extLst>
          </p:cNvPr>
          <p:cNvSpPr txBox="1"/>
          <p:nvPr/>
        </p:nvSpPr>
        <p:spPr bwMode="gray">
          <a:xfrm>
            <a:off x="11237823" y="3318662"/>
            <a:ext cx="733915" cy="180035"/>
          </a:xfrm>
          <a:prstGeom prst="rect">
            <a:avLst/>
          </a:prstGeom>
          <a:solidFill>
            <a:schemeClr val="bg1"/>
          </a:solid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2 &gt; 3</a:t>
            </a:r>
          </a:p>
        </p:txBody>
      </p:sp>
    </p:spTree>
    <p:extLst>
      <p:ext uri="{BB962C8B-B14F-4D97-AF65-F5344CB8AC3E}">
        <p14:creationId xmlns:p14="http://schemas.microsoft.com/office/powerpoint/2010/main" val="351697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C4EB15-6C0F-C51B-DB25-BB959D811A31}"/>
              </a:ext>
            </a:extLst>
          </p:cNvPr>
          <p:cNvSpPr>
            <a:spLocks noGrp="1"/>
          </p:cNvSpPr>
          <p:nvPr>
            <p:ph type="title"/>
          </p:nvPr>
        </p:nvSpPr>
        <p:spPr/>
        <p:txBody>
          <a:bodyPr/>
          <a:lstStyle/>
          <a:p>
            <a:r>
              <a:rPr lang="en-US" dirty="0"/>
              <a:t>HCPs remain least willing to </a:t>
            </a:r>
            <a:r>
              <a:rPr lang="en-US" dirty="0" err="1"/>
              <a:t>coadminister</a:t>
            </a:r>
            <a:r>
              <a:rPr lang="en-US" dirty="0"/>
              <a:t> Penbraya with a COVID-19 vaccine, otherwise, high willingness is reported for others; PEDs are more willing to </a:t>
            </a:r>
            <a:r>
              <a:rPr lang="en-US" dirty="0" err="1"/>
              <a:t>coadminister</a:t>
            </a:r>
            <a:r>
              <a:rPr lang="en-US" dirty="0"/>
              <a:t> Penbraya than PCPs overall</a:t>
            </a:r>
          </a:p>
        </p:txBody>
      </p:sp>
      <p:sp>
        <p:nvSpPr>
          <p:cNvPr id="3" name="Text Placeholder 2">
            <a:extLst>
              <a:ext uri="{FF2B5EF4-FFF2-40B4-BE49-F238E27FC236}">
                <a16:creationId xmlns:a16="http://schemas.microsoft.com/office/drawing/2014/main" id="{9A1F7D5D-76A3-AAE3-4B78-29A5E716AB8A}"/>
              </a:ext>
            </a:extLst>
          </p:cNvPr>
          <p:cNvSpPr>
            <a:spLocks noGrp="1"/>
          </p:cNvSpPr>
          <p:nvPr>
            <p:ph type="body" sz="quarter" idx="16"/>
          </p:nvPr>
        </p:nvSpPr>
        <p:spPr>
          <a:xfrm>
            <a:off x="1571625" y="6414941"/>
            <a:ext cx="9239250" cy="330347"/>
          </a:xfrm>
        </p:spPr>
        <p:txBody>
          <a:bodyPr/>
          <a:lstStyle/>
          <a:p>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r>
              <a:rPr lang="en-US" dirty="0"/>
              <a:t>P23. How willing would you be to </a:t>
            </a:r>
            <a:r>
              <a:rPr lang="en-US" dirty="0" err="1"/>
              <a:t>coadminister</a:t>
            </a:r>
            <a:r>
              <a:rPr lang="en-US" dirty="0"/>
              <a:t> Penbraya with each of the following vaccines? (7-pt scale: 1=Not at all willing, 7=Extremely willing)</a:t>
            </a:r>
          </a:p>
        </p:txBody>
      </p:sp>
      <p:graphicFrame>
        <p:nvGraphicFramePr>
          <p:cNvPr id="7" name="Chart 6">
            <a:extLst>
              <a:ext uri="{FF2B5EF4-FFF2-40B4-BE49-F238E27FC236}">
                <a16:creationId xmlns:a16="http://schemas.microsoft.com/office/drawing/2014/main" id="{F22729E4-7489-D6DC-0165-5497FAED5E6B}"/>
              </a:ext>
            </a:extLst>
          </p:cNvPr>
          <p:cNvGraphicFramePr/>
          <p:nvPr>
            <p:extLst>
              <p:ext uri="{D42A27DB-BD31-4B8C-83A1-F6EECF244321}">
                <p14:modId xmlns:p14="http://schemas.microsoft.com/office/powerpoint/2010/main" val="3654213640"/>
              </p:ext>
            </p:extLst>
          </p:nvPr>
        </p:nvGraphicFramePr>
        <p:xfrm>
          <a:off x="2687320" y="3230879"/>
          <a:ext cx="5394960" cy="23665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39B77DC5-7DF2-6B82-8D17-57A92443A270}"/>
              </a:ext>
            </a:extLst>
          </p:cNvPr>
          <p:cNvGraphicFramePr/>
          <p:nvPr>
            <p:extLst>
              <p:ext uri="{D42A27DB-BD31-4B8C-83A1-F6EECF244321}">
                <p14:modId xmlns:p14="http://schemas.microsoft.com/office/powerpoint/2010/main" val="143273607"/>
              </p:ext>
            </p:extLst>
          </p:nvPr>
        </p:nvGraphicFramePr>
        <p:xfrm>
          <a:off x="2905760" y="2826010"/>
          <a:ext cx="6289040" cy="353082"/>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a:extLst>
              <a:ext uri="{FF2B5EF4-FFF2-40B4-BE49-F238E27FC236}">
                <a16:creationId xmlns:a16="http://schemas.microsoft.com/office/drawing/2014/main" id="{9CB864D8-9D37-1507-7601-05D51DD94C6B}"/>
              </a:ext>
            </a:extLst>
          </p:cNvPr>
          <p:cNvSpPr txBox="1"/>
          <p:nvPr/>
        </p:nvSpPr>
        <p:spPr bwMode="gray">
          <a:xfrm>
            <a:off x="3914086" y="1941622"/>
            <a:ext cx="4360657" cy="479979"/>
          </a:xfrm>
          <a:prstGeom prst="rect">
            <a:avLst/>
          </a:prstGeom>
        </p:spPr>
        <p:txBody>
          <a:bodyPr wrap="none" lIns="45708" tIns="45708" rIns="45708" bIns="45708" rtlCol="0">
            <a:spAutoFit/>
          </a:bodyPr>
          <a:lstStyle/>
          <a:p>
            <a:pPr algn="ctr">
              <a:lnSpc>
                <a:spcPct val="90000"/>
              </a:lnSpc>
              <a:spcAft>
                <a:spcPts val="400"/>
              </a:spcAft>
            </a:pPr>
            <a:r>
              <a:rPr lang="en-US" sz="1799" b="1" dirty="0">
                <a:solidFill>
                  <a:srgbClr val="0000C9"/>
                </a:solidFill>
                <a:latin typeface="Arial" panose="020B0604020202020204"/>
              </a:rPr>
              <a:t>Willingness to </a:t>
            </a:r>
            <a:r>
              <a:rPr lang="en-US" sz="1799" b="1" dirty="0" err="1">
                <a:solidFill>
                  <a:srgbClr val="0000C9"/>
                </a:solidFill>
                <a:latin typeface="Arial" panose="020B0604020202020204"/>
              </a:rPr>
              <a:t>Coadminister</a:t>
            </a:r>
            <a:r>
              <a:rPr lang="en-US" sz="1799" b="1" dirty="0">
                <a:solidFill>
                  <a:srgbClr val="0000C9"/>
                </a:solidFill>
                <a:latin typeface="Arial" panose="020B0604020202020204"/>
              </a:rPr>
              <a:t> Penbraya </a:t>
            </a:r>
            <a:br>
              <a:rPr lang="en-US" sz="1799" b="1" dirty="0">
                <a:solidFill>
                  <a:srgbClr val="0000C9"/>
                </a:solidFill>
                <a:latin typeface="Arial" panose="020B0604020202020204"/>
              </a:rPr>
            </a:br>
            <a:r>
              <a:rPr lang="en-US" sz="1000" i="1" dirty="0">
                <a:solidFill>
                  <a:srgbClr val="FFFFFF">
                    <a:lumMod val="50000"/>
                  </a:srgbClr>
                </a:solidFill>
                <a:latin typeface="Arial" panose="020B0604020202020204"/>
              </a:rPr>
              <a:t>% HCPs</a:t>
            </a:r>
          </a:p>
        </p:txBody>
      </p:sp>
      <p:sp>
        <p:nvSpPr>
          <p:cNvPr id="2" name="Rectangle: Rounded Corners 1">
            <a:extLst>
              <a:ext uri="{FF2B5EF4-FFF2-40B4-BE49-F238E27FC236}">
                <a16:creationId xmlns:a16="http://schemas.microsoft.com/office/drawing/2014/main" id="{09D0706B-F3DA-5E3A-E844-3D98B8E79EAF}"/>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4" name="Group 3">
            <a:extLst>
              <a:ext uri="{FF2B5EF4-FFF2-40B4-BE49-F238E27FC236}">
                <a16:creationId xmlns:a16="http://schemas.microsoft.com/office/drawing/2014/main" id="{5E847C4B-548A-9BD6-96B1-BE2665DFEB85}"/>
              </a:ext>
            </a:extLst>
          </p:cNvPr>
          <p:cNvGrpSpPr/>
          <p:nvPr/>
        </p:nvGrpSpPr>
        <p:grpSpPr>
          <a:xfrm>
            <a:off x="1073723" y="1600319"/>
            <a:ext cx="650178" cy="539122"/>
            <a:chOff x="1686341" y="1600319"/>
            <a:chExt cx="650178" cy="539122"/>
          </a:xfrm>
        </p:grpSpPr>
        <p:cxnSp>
          <p:nvCxnSpPr>
            <p:cNvPr id="5" name="Straight Connector 4">
              <a:extLst>
                <a:ext uri="{FF2B5EF4-FFF2-40B4-BE49-F238E27FC236}">
                  <a16:creationId xmlns:a16="http://schemas.microsoft.com/office/drawing/2014/main" id="{53086C65-9DB9-5240-4218-193B53041C15}"/>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4" name="TextBox 13">
              <a:extLst>
                <a:ext uri="{FF2B5EF4-FFF2-40B4-BE49-F238E27FC236}">
                  <a16:creationId xmlns:a16="http://schemas.microsoft.com/office/drawing/2014/main" id="{4C5C61DD-1018-E10E-E4B0-48BBC1E33AB6}"/>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15" name="TextBox 14">
            <a:extLst>
              <a:ext uri="{FF2B5EF4-FFF2-40B4-BE49-F238E27FC236}">
                <a16:creationId xmlns:a16="http://schemas.microsoft.com/office/drawing/2014/main" id="{FB5D5956-DB60-8BCD-ECAB-37DCAE9BC0EB}"/>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sp>
        <p:nvSpPr>
          <p:cNvPr id="8" name="TextBox 7">
            <a:extLst>
              <a:ext uri="{FF2B5EF4-FFF2-40B4-BE49-F238E27FC236}">
                <a16:creationId xmlns:a16="http://schemas.microsoft.com/office/drawing/2014/main" id="{B4E2EEA8-F990-488D-8E14-93793783F3DB}"/>
              </a:ext>
            </a:extLst>
          </p:cNvPr>
          <p:cNvSpPr txBox="1"/>
          <p:nvPr/>
        </p:nvSpPr>
        <p:spPr bwMode="gray">
          <a:xfrm>
            <a:off x="7911839" y="4561991"/>
            <a:ext cx="725807"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78% PED &gt; 50% PCP</a:t>
            </a:r>
          </a:p>
        </p:txBody>
      </p:sp>
      <p:sp>
        <p:nvSpPr>
          <p:cNvPr id="11" name="TextBox 10">
            <a:extLst>
              <a:ext uri="{FF2B5EF4-FFF2-40B4-BE49-F238E27FC236}">
                <a16:creationId xmlns:a16="http://schemas.microsoft.com/office/drawing/2014/main" id="{AD86AB40-F05B-A351-64A9-5AB753A6203B}"/>
              </a:ext>
            </a:extLst>
          </p:cNvPr>
          <p:cNvSpPr txBox="1"/>
          <p:nvPr/>
        </p:nvSpPr>
        <p:spPr bwMode="gray">
          <a:xfrm>
            <a:off x="7911839" y="3465584"/>
            <a:ext cx="725807"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82%   PED &gt; 53%</a:t>
            </a:r>
            <a:r>
              <a:rPr lang="en-US" altLang="en-US" sz="900">
                <a:solidFill>
                  <a:srgbClr val="FF0000"/>
                </a:solidFill>
                <a:cs typeface="Arial" panose="020B0604020202020204" pitchFamily="34" charset="0"/>
                <a:sym typeface="Symbol" pitchFamily="18" charset="2"/>
              </a:rPr>
              <a:t></a:t>
            </a:r>
            <a:r>
              <a:rPr lang="en-US" sz="900">
                <a:solidFill>
                  <a:schemeClr val="tx1">
                    <a:lumMod val="50000"/>
                    <a:lumOff val="50000"/>
                  </a:schemeClr>
                </a:solidFill>
              </a:rPr>
              <a:t> PCP</a:t>
            </a:r>
          </a:p>
        </p:txBody>
      </p:sp>
      <p:sp>
        <p:nvSpPr>
          <p:cNvPr id="12" name="TextBox 11">
            <a:extLst>
              <a:ext uri="{FF2B5EF4-FFF2-40B4-BE49-F238E27FC236}">
                <a16:creationId xmlns:a16="http://schemas.microsoft.com/office/drawing/2014/main" id="{0B76CF02-7178-6EDA-DDD2-DFFE69B84FED}"/>
              </a:ext>
            </a:extLst>
          </p:cNvPr>
          <p:cNvSpPr txBox="1"/>
          <p:nvPr/>
        </p:nvSpPr>
        <p:spPr bwMode="gray">
          <a:xfrm>
            <a:off x="7911838" y="4013787"/>
            <a:ext cx="725807"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79% PED &gt; 58% PCP</a:t>
            </a:r>
          </a:p>
        </p:txBody>
      </p:sp>
      <p:sp>
        <p:nvSpPr>
          <p:cNvPr id="16" name="TextBox 15">
            <a:extLst>
              <a:ext uri="{FF2B5EF4-FFF2-40B4-BE49-F238E27FC236}">
                <a16:creationId xmlns:a16="http://schemas.microsoft.com/office/drawing/2014/main" id="{310E058F-5D81-6D33-CABC-98B1373FA622}"/>
              </a:ext>
            </a:extLst>
          </p:cNvPr>
          <p:cNvSpPr txBox="1"/>
          <p:nvPr/>
        </p:nvSpPr>
        <p:spPr bwMode="gray">
          <a:xfrm>
            <a:off x="7911838" y="5110194"/>
            <a:ext cx="725807"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a:lnSpc>
                <a:spcPct val="90000"/>
              </a:lnSpc>
            </a:pPr>
            <a:r>
              <a:rPr lang="en-US" sz="900">
                <a:solidFill>
                  <a:schemeClr val="tx1">
                    <a:lumMod val="50000"/>
                    <a:lumOff val="50000"/>
                  </a:schemeClr>
                </a:solidFill>
              </a:rPr>
              <a:t>64% PED &gt; 40% PCP</a:t>
            </a:r>
          </a:p>
        </p:txBody>
      </p:sp>
    </p:spTree>
    <p:extLst>
      <p:ext uri="{BB962C8B-B14F-4D97-AF65-F5344CB8AC3E}">
        <p14:creationId xmlns:p14="http://schemas.microsoft.com/office/powerpoint/2010/main" val="2471724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2D08F72D-2A37-8A28-7615-33745D91113B}"/>
              </a:ext>
            </a:extLst>
          </p:cNvPr>
          <p:cNvSpPr/>
          <p:nvPr/>
        </p:nvSpPr>
        <p:spPr bwMode="gray">
          <a:xfrm>
            <a:off x="863318" y="1381760"/>
            <a:ext cx="10411702" cy="4795304"/>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5" name="Title 4">
            <a:extLst>
              <a:ext uri="{FF2B5EF4-FFF2-40B4-BE49-F238E27FC236}">
                <a16:creationId xmlns:a16="http://schemas.microsoft.com/office/drawing/2014/main" id="{5BF2E870-8632-B483-A0D0-33F3DB2E6A41}"/>
              </a:ext>
            </a:extLst>
          </p:cNvPr>
          <p:cNvSpPr>
            <a:spLocks noGrp="1"/>
          </p:cNvSpPr>
          <p:nvPr>
            <p:ph type="title"/>
          </p:nvPr>
        </p:nvSpPr>
        <p:spPr>
          <a:xfrm>
            <a:off x="1142123" y="170307"/>
            <a:ext cx="10411702" cy="850392"/>
          </a:xfrm>
        </p:spPr>
        <p:txBody>
          <a:bodyPr/>
          <a:lstStyle/>
          <a:p>
            <a:r>
              <a:rPr lang="en-US" dirty="0"/>
              <a:t>Majority of Penbraya Non-Stockers lack confidence in receiving full reimbursement from insurers, primarily due to </a:t>
            </a:r>
            <a:r>
              <a:rPr lang="en-US" i="1" dirty="0"/>
              <a:t>unknown reimbursement amount prior to purchase, unclear insurance coverage policies, </a:t>
            </a:r>
            <a:r>
              <a:rPr lang="en-US" dirty="0"/>
              <a:t>and </a:t>
            </a:r>
            <a:r>
              <a:rPr lang="en-US" i="1" dirty="0"/>
              <a:t>challenges in determining coverage </a:t>
            </a:r>
            <a:r>
              <a:rPr lang="en-US" dirty="0"/>
              <a:t>(up this year)</a:t>
            </a:r>
          </a:p>
        </p:txBody>
      </p:sp>
      <p:sp>
        <p:nvSpPr>
          <p:cNvPr id="11" name="Text Placeholder 2">
            <a:extLst>
              <a:ext uri="{FF2B5EF4-FFF2-40B4-BE49-F238E27FC236}">
                <a16:creationId xmlns:a16="http://schemas.microsoft.com/office/drawing/2014/main" id="{A259A2E3-400F-F171-D0A7-FC5D0D7F00D1}"/>
              </a:ext>
            </a:extLst>
          </p:cNvPr>
          <p:cNvSpPr>
            <a:spLocks noGrp="1"/>
          </p:cNvSpPr>
          <p:nvPr>
            <p:ph type="body" sz="quarter" idx="16"/>
          </p:nvPr>
        </p:nvSpPr>
        <p:spPr>
          <a:xfrm>
            <a:off x="1571624" y="6264644"/>
            <a:ext cx="9360535" cy="480644"/>
          </a:xfrm>
        </p:spPr>
        <p:txBody>
          <a:bodyPr/>
          <a:lstStyle/>
          <a:p>
            <a:pPr lvl="0">
              <a:defRPr/>
            </a:pP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prior wave </a:t>
            </a:r>
          </a:p>
          <a:p>
            <a:pPr lvl="0">
              <a:defRPr/>
            </a:pPr>
            <a:r>
              <a:rPr lang="en-US" dirty="0"/>
              <a:t>B2. How much do you agree or disagree with the following statement... </a:t>
            </a:r>
          </a:p>
          <a:p>
            <a:r>
              <a:rPr lang="en-US" dirty="0"/>
              <a:t>B3. Which of the following has an impact on your confidence in insurance coverage and reimbursement for Penbraya? </a:t>
            </a:r>
          </a:p>
        </p:txBody>
      </p:sp>
      <p:sp>
        <p:nvSpPr>
          <p:cNvPr id="27" name="Oval 26">
            <a:extLst>
              <a:ext uri="{FF2B5EF4-FFF2-40B4-BE49-F238E27FC236}">
                <a16:creationId xmlns:a16="http://schemas.microsoft.com/office/drawing/2014/main" id="{8E83A3E7-0AFD-EE3D-A1B6-EF727F9F6106}"/>
              </a:ext>
            </a:extLst>
          </p:cNvPr>
          <p:cNvSpPr/>
          <p:nvPr/>
        </p:nvSpPr>
        <p:spPr bwMode="gray">
          <a:xfrm>
            <a:off x="1313475" y="5684240"/>
            <a:ext cx="182832" cy="182832"/>
          </a:xfrm>
          <a:prstGeom prst="ellipse">
            <a:avLst/>
          </a:prstGeom>
          <a:solidFill>
            <a:srgbClr val="EBE3FD"/>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a:solidFill>
                <a:srgbClr val="0000C9"/>
              </a:solidFill>
              <a:latin typeface="Arial" panose="020B0604020202020204"/>
            </a:endParaRPr>
          </a:p>
        </p:txBody>
      </p:sp>
      <p:sp>
        <p:nvSpPr>
          <p:cNvPr id="30" name="Oval 29">
            <a:extLst>
              <a:ext uri="{FF2B5EF4-FFF2-40B4-BE49-F238E27FC236}">
                <a16:creationId xmlns:a16="http://schemas.microsoft.com/office/drawing/2014/main" id="{1FD46DBC-E918-3377-85C2-1135B8E65A43}"/>
              </a:ext>
            </a:extLst>
          </p:cNvPr>
          <p:cNvSpPr/>
          <p:nvPr/>
        </p:nvSpPr>
        <p:spPr bwMode="gray">
          <a:xfrm>
            <a:off x="1311968" y="4994601"/>
            <a:ext cx="185846" cy="182832"/>
          </a:xfrm>
          <a:prstGeom prst="ellipse">
            <a:avLst/>
          </a:prstGeom>
          <a:solidFill>
            <a:srgbClr val="8383FF"/>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b="1">
              <a:solidFill>
                <a:srgbClr val="0000C9"/>
              </a:solidFill>
              <a:latin typeface="Arial" panose="020B0604020202020204"/>
            </a:endParaRPr>
          </a:p>
        </p:txBody>
      </p:sp>
      <p:sp>
        <p:nvSpPr>
          <p:cNvPr id="33" name="Oval 32">
            <a:extLst>
              <a:ext uri="{FF2B5EF4-FFF2-40B4-BE49-F238E27FC236}">
                <a16:creationId xmlns:a16="http://schemas.microsoft.com/office/drawing/2014/main" id="{D3B31193-66E6-813F-6EFE-BBC4010F5ECA}"/>
              </a:ext>
            </a:extLst>
          </p:cNvPr>
          <p:cNvSpPr/>
          <p:nvPr/>
        </p:nvSpPr>
        <p:spPr bwMode="gray">
          <a:xfrm>
            <a:off x="1311968" y="3960142"/>
            <a:ext cx="185846" cy="182832"/>
          </a:xfrm>
          <a:prstGeom prst="ellipse">
            <a:avLst/>
          </a:prstGeom>
          <a:solidFill>
            <a:srgbClr val="000097"/>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a:solidFill>
                <a:srgbClr val="0000C9"/>
              </a:solidFill>
              <a:latin typeface="Arial" panose="020B0604020202020204"/>
            </a:endParaRPr>
          </a:p>
        </p:txBody>
      </p:sp>
      <p:graphicFrame>
        <p:nvGraphicFramePr>
          <p:cNvPr id="49" name="Table 48">
            <a:extLst>
              <a:ext uri="{FF2B5EF4-FFF2-40B4-BE49-F238E27FC236}">
                <a16:creationId xmlns:a16="http://schemas.microsoft.com/office/drawing/2014/main" id="{28198E5A-413C-E92F-F708-33E18B57E810}"/>
              </a:ext>
            </a:extLst>
          </p:cNvPr>
          <p:cNvGraphicFramePr>
            <a:graphicFrameLocks noGrp="1"/>
          </p:cNvGraphicFramePr>
          <p:nvPr>
            <p:extLst>
              <p:ext uri="{D42A27DB-BD31-4B8C-83A1-F6EECF244321}">
                <p14:modId xmlns:p14="http://schemas.microsoft.com/office/powerpoint/2010/main" val="1932981671"/>
              </p:ext>
            </p:extLst>
          </p:nvPr>
        </p:nvGraphicFramePr>
        <p:xfrm>
          <a:off x="5774902" y="2674747"/>
          <a:ext cx="3386916" cy="3383280"/>
        </p:xfrm>
        <a:graphic>
          <a:graphicData uri="http://schemas.openxmlformats.org/drawingml/2006/table">
            <a:tbl>
              <a:tblPr firstRow="1" bandRow="1">
                <a:tableStyleId>{5C22544A-7EE6-4342-B048-85BDC9FD1C3A}</a:tableStyleId>
              </a:tblPr>
              <a:tblGrid>
                <a:gridCol w="3386916">
                  <a:extLst>
                    <a:ext uri="{9D8B030D-6E8A-4147-A177-3AD203B41FA5}">
                      <a16:colId xmlns:a16="http://schemas.microsoft.com/office/drawing/2014/main" val="1418281455"/>
                    </a:ext>
                  </a:extLst>
                </a:gridCol>
              </a:tblGrid>
              <a:tr h="297846">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mn-lt"/>
                          <a:ea typeface="+mn-ea"/>
                          <a:cs typeface="+mn-cs"/>
                        </a:rPr>
                        <a:t>Reimbursement amount variable unknown</a:t>
                      </a:r>
                      <a:br>
                        <a:rPr lang="en-US" sz="1200" b="1" i="0" u="none" strike="noStrike" kern="1200">
                          <a:solidFill>
                            <a:srgbClr val="000000"/>
                          </a:solidFill>
                          <a:effectLst/>
                          <a:latin typeface="+mn-lt"/>
                          <a:ea typeface="+mn-ea"/>
                          <a:cs typeface="+mn-cs"/>
                        </a:rPr>
                      </a:br>
                      <a:r>
                        <a:rPr lang="en-US" sz="1200" b="1" i="0" u="none" strike="noStrike" kern="1200">
                          <a:solidFill>
                            <a:srgbClr val="000000"/>
                          </a:solidFill>
                          <a:effectLst/>
                          <a:latin typeface="+mn-lt"/>
                          <a:ea typeface="+mn-ea"/>
                          <a:cs typeface="+mn-cs"/>
                        </a:rPr>
                        <a:t>prior to purchase</a:t>
                      </a:r>
                    </a:p>
                  </a:txBody>
                  <a:tcPr marL="0" marR="0" marT="0" marB="0" anchor="ctr">
                    <a:lnL w="12700" cmpd="sng">
                      <a:noFill/>
                    </a:lnL>
                    <a:lnR w="12700" cmpd="sng">
                      <a:noFill/>
                    </a:lnR>
                    <a:lnT w="12700" cmpd="sng">
                      <a:noFill/>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0002480"/>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mn-lt"/>
                          <a:ea typeface="+mn-ea"/>
                          <a:cs typeface="+mn-cs"/>
                        </a:rPr>
                        <a:t>Unclear insurance coverage policies</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5505095"/>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mn-lt"/>
                          <a:ea typeface="+mn-ea"/>
                          <a:cs typeface="+mn-cs"/>
                        </a:rPr>
                        <a:t>Challenging to determine insurance coverage</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447839"/>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Need for prior authorization unclear</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4068568"/>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Reimbursement amount not enough</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8824836"/>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Lack of commercial insurance coverage</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4441716"/>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Patient out of pocket costs</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5145493"/>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Billing/coding requirement unclear</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7867745"/>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Reimbursement differs from other vaccines</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7285821"/>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Lack of Medicaid insurance coverage</a:t>
                      </a:r>
                    </a:p>
                  </a:txBody>
                  <a:tcPr marL="7620" marR="7620" marT="762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0306290"/>
                  </a:ext>
                </a:extLst>
              </a:tr>
              <a:tr h="3017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mn-lt"/>
                          <a:ea typeface="+mn-ea"/>
                          <a:cs typeface="+mn-cs"/>
                        </a:rPr>
                        <a:t>Reimbursement takes too long</a:t>
                      </a:r>
                    </a:p>
                  </a:txBody>
                  <a:tcPr marL="7620" marR="7620" marT="762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6615385"/>
                  </a:ext>
                </a:extLst>
              </a:tr>
            </a:tbl>
          </a:graphicData>
        </a:graphic>
      </p:graphicFrame>
      <p:sp>
        <p:nvSpPr>
          <p:cNvPr id="8" name="TextBox 7">
            <a:extLst>
              <a:ext uri="{FF2B5EF4-FFF2-40B4-BE49-F238E27FC236}">
                <a16:creationId xmlns:a16="http://schemas.microsoft.com/office/drawing/2014/main" id="{8A0B2775-6474-D56A-EEDA-126C6D6981F8}"/>
              </a:ext>
            </a:extLst>
          </p:cNvPr>
          <p:cNvSpPr txBox="1"/>
          <p:nvPr/>
        </p:nvSpPr>
        <p:spPr bwMode="gray">
          <a:xfrm>
            <a:off x="1256666" y="2777373"/>
            <a:ext cx="3677076" cy="646331"/>
          </a:xfrm>
          <a:prstGeom prst="rect">
            <a:avLst/>
          </a:prstGeom>
          <a:noFill/>
          <a:ln>
            <a:solidFill>
              <a:schemeClr val="bg1">
                <a:lumMod val="75000"/>
              </a:schemeClr>
            </a:solidFill>
          </a:ln>
        </p:spPr>
        <p:txBody>
          <a:bodyPr wrap="square">
            <a:spAutoFit/>
          </a:bodyPr>
          <a:lstStyle/>
          <a:p>
            <a:pPr algn="ctr" defTabSz="914126"/>
            <a:r>
              <a:rPr lang="en-US" sz="1200" i="1" dirty="0">
                <a:solidFill>
                  <a:schemeClr val="bg1">
                    <a:lumMod val="50000"/>
                  </a:schemeClr>
                </a:solidFill>
                <a:latin typeface="+mj-lt"/>
                <a:ea typeface="Times New Roman" panose="02020603050405020304" pitchFamily="18" charset="0"/>
                <a:cs typeface="Arial" panose="020B0604020202020204" pitchFamily="34" charset="0"/>
              </a:rPr>
              <a:t>I am confident in being reimbursed by insurers for administering Penbraya (Meningococcal Groups A, B, C, W, and Y vaccine) to appropriate patients.</a:t>
            </a:r>
            <a:endParaRPr lang="en-US" sz="1200" dirty="0">
              <a:solidFill>
                <a:schemeClr val="bg1">
                  <a:lumMod val="50000"/>
                </a:schemeClr>
              </a:solidFill>
              <a:latin typeface="+mj-lt"/>
              <a:ea typeface="Times New Roman" panose="02020603050405020304" pitchFamily="18" charset="0"/>
            </a:endParaRPr>
          </a:p>
        </p:txBody>
      </p:sp>
      <p:sp>
        <p:nvSpPr>
          <p:cNvPr id="12" name="Oval 11">
            <a:extLst>
              <a:ext uri="{FF2B5EF4-FFF2-40B4-BE49-F238E27FC236}">
                <a16:creationId xmlns:a16="http://schemas.microsoft.com/office/drawing/2014/main" id="{AFDE00DD-042E-28C4-9FCF-C77954F5BED0}"/>
              </a:ext>
            </a:extLst>
          </p:cNvPr>
          <p:cNvSpPr/>
          <p:nvPr/>
        </p:nvSpPr>
        <p:spPr bwMode="gray">
          <a:xfrm>
            <a:off x="1311968" y="4304961"/>
            <a:ext cx="185846" cy="182832"/>
          </a:xfrm>
          <a:prstGeom prst="ellipse">
            <a:avLst/>
          </a:prstGeom>
          <a:solidFill>
            <a:srgbClr val="0000C9"/>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a:solidFill>
                <a:srgbClr val="0000C9"/>
              </a:solidFill>
              <a:latin typeface="Arial" panose="020B0604020202020204"/>
            </a:endParaRPr>
          </a:p>
        </p:txBody>
      </p:sp>
      <p:sp>
        <p:nvSpPr>
          <p:cNvPr id="15" name="Oval 14">
            <a:extLst>
              <a:ext uri="{FF2B5EF4-FFF2-40B4-BE49-F238E27FC236}">
                <a16:creationId xmlns:a16="http://schemas.microsoft.com/office/drawing/2014/main" id="{A37C540F-6D03-F1DF-913A-C27A53F0A300}"/>
              </a:ext>
            </a:extLst>
          </p:cNvPr>
          <p:cNvSpPr/>
          <p:nvPr/>
        </p:nvSpPr>
        <p:spPr bwMode="gray">
          <a:xfrm>
            <a:off x="1311968" y="5339421"/>
            <a:ext cx="185846" cy="182832"/>
          </a:xfrm>
          <a:prstGeom prst="ellipse">
            <a:avLst/>
          </a:prstGeom>
          <a:solidFill>
            <a:srgbClr val="C1C1FF"/>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a:solidFill>
                <a:srgbClr val="0000C9"/>
              </a:solidFill>
              <a:latin typeface="Arial" panose="020B0604020202020204"/>
            </a:endParaRPr>
          </a:p>
        </p:txBody>
      </p:sp>
      <p:sp>
        <p:nvSpPr>
          <p:cNvPr id="19" name="Oval 18">
            <a:extLst>
              <a:ext uri="{FF2B5EF4-FFF2-40B4-BE49-F238E27FC236}">
                <a16:creationId xmlns:a16="http://schemas.microsoft.com/office/drawing/2014/main" id="{1A19B404-68C4-72D0-881E-E99C29949395}"/>
              </a:ext>
            </a:extLst>
          </p:cNvPr>
          <p:cNvSpPr/>
          <p:nvPr/>
        </p:nvSpPr>
        <p:spPr bwMode="gray">
          <a:xfrm>
            <a:off x="1311968" y="3615323"/>
            <a:ext cx="185846" cy="182832"/>
          </a:xfrm>
          <a:prstGeom prst="ellipse">
            <a:avLst/>
          </a:prstGeom>
          <a:solidFill>
            <a:srgbClr val="000064"/>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a:solidFill>
                <a:srgbClr val="0000C9"/>
              </a:solidFill>
              <a:latin typeface="Arial" panose="020B0604020202020204"/>
            </a:endParaRPr>
          </a:p>
        </p:txBody>
      </p:sp>
      <p:sp>
        <p:nvSpPr>
          <p:cNvPr id="26" name="Oval 25">
            <a:extLst>
              <a:ext uri="{FF2B5EF4-FFF2-40B4-BE49-F238E27FC236}">
                <a16:creationId xmlns:a16="http://schemas.microsoft.com/office/drawing/2014/main" id="{FDC33AF0-A813-0EEC-98EB-0C5B96253789}"/>
              </a:ext>
            </a:extLst>
          </p:cNvPr>
          <p:cNvSpPr/>
          <p:nvPr/>
        </p:nvSpPr>
        <p:spPr bwMode="gray">
          <a:xfrm>
            <a:off x="1311968" y="4649781"/>
            <a:ext cx="185846" cy="182832"/>
          </a:xfrm>
          <a:prstGeom prst="ellipse">
            <a:avLst/>
          </a:prstGeom>
          <a:solidFill>
            <a:srgbClr val="4646FF"/>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b="1">
              <a:solidFill>
                <a:srgbClr val="0000C9"/>
              </a:solidFill>
              <a:latin typeface="Arial" panose="020B0604020202020204"/>
            </a:endParaRPr>
          </a:p>
        </p:txBody>
      </p:sp>
      <p:sp>
        <p:nvSpPr>
          <p:cNvPr id="4" name="Rectangle: Rounded Corners 3">
            <a:extLst>
              <a:ext uri="{FF2B5EF4-FFF2-40B4-BE49-F238E27FC236}">
                <a16:creationId xmlns:a16="http://schemas.microsoft.com/office/drawing/2014/main" id="{D3F54AA5-17BD-2B46-1315-3E45D52D988B}"/>
              </a:ext>
            </a:extLst>
          </p:cNvPr>
          <p:cNvSpPr/>
          <p:nvPr/>
        </p:nvSpPr>
        <p:spPr bwMode="gray">
          <a:xfrm>
            <a:off x="5774902" y="1734151"/>
            <a:ext cx="5321219" cy="4373305"/>
          </a:xfrm>
          <a:prstGeom prst="roundRect">
            <a:avLst>
              <a:gd name="adj" fmla="val 13444"/>
            </a:avLst>
          </a:prstGeom>
          <a:noFill/>
          <a:ln w="12700" cap="flat" cmpd="sng" algn="ctr">
            <a:solidFill>
              <a:schemeClr val="accent1">
                <a:lumMod val="60000"/>
                <a:lumOff val="40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7" name="TextBox 6">
            <a:extLst>
              <a:ext uri="{FF2B5EF4-FFF2-40B4-BE49-F238E27FC236}">
                <a16:creationId xmlns:a16="http://schemas.microsoft.com/office/drawing/2014/main" id="{3A4962D2-ABC7-3456-3D5C-F4082004DB7F}"/>
              </a:ext>
            </a:extLst>
          </p:cNvPr>
          <p:cNvSpPr txBox="1"/>
          <p:nvPr/>
        </p:nvSpPr>
        <p:spPr bwMode="gray">
          <a:xfrm>
            <a:off x="1256666" y="1844360"/>
            <a:ext cx="3677076" cy="707886"/>
          </a:xfrm>
          <a:prstGeom prst="rect">
            <a:avLst/>
          </a:prstGeom>
        </p:spPr>
        <p:txBody>
          <a:bodyPr wrap="square" lIns="45720" tIns="45720" rIns="45720" bIns="45720" rtlCol="0">
            <a:spAutoFit/>
          </a:bodyPr>
          <a:lstStyle/>
          <a:p>
            <a:pPr algn="ctr">
              <a:spcAft>
                <a:spcPts val="400"/>
              </a:spcAft>
            </a:pPr>
            <a:r>
              <a:rPr lang="en-US" sz="1600" b="1" i="1">
                <a:solidFill>
                  <a:schemeClr val="accent1"/>
                </a:solidFill>
              </a:rPr>
              <a:t>Confidence in Reimbursement</a:t>
            </a:r>
            <a:br>
              <a:rPr lang="en-US" sz="1600" b="1" i="1">
                <a:solidFill>
                  <a:schemeClr val="accent1"/>
                </a:solidFill>
              </a:rPr>
            </a:br>
            <a:r>
              <a:rPr lang="en-US" sz="1400" i="1">
                <a:solidFill>
                  <a:schemeClr val="accent1"/>
                </a:solidFill>
              </a:rPr>
              <a:t>(among non-stockers)</a:t>
            </a:r>
            <a:br>
              <a:rPr lang="en-US" sz="1600">
                <a:solidFill>
                  <a:schemeClr val="accent1"/>
                </a:solidFill>
              </a:rPr>
            </a:br>
            <a:r>
              <a:rPr lang="en-US" sz="1000" i="1">
                <a:solidFill>
                  <a:schemeClr val="bg1">
                    <a:lumMod val="50000"/>
                  </a:schemeClr>
                </a:solidFill>
              </a:rPr>
              <a:t>% HCPs </a:t>
            </a:r>
            <a:r>
              <a:rPr lang="en-US" sz="1000">
                <a:solidFill>
                  <a:schemeClr val="bg1">
                    <a:lumMod val="50000"/>
                  </a:schemeClr>
                </a:solidFill>
              </a:rPr>
              <a:t>(n=164)</a:t>
            </a:r>
          </a:p>
        </p:txBody>
      </p:sp>
      <p:graphicFrame>
        <p:nvGraphicFramePr>
          <p:cNvPr id="16" name="Chart 15">
            <a:extLst>
              <a:ext uri="{FF2B5EF4-FFF2-40B4-BE49-F238E27FC236}">
                <a16:creationId xmlns:a16="http://schemas.microsoft.com/office/drawing/2014/main" id="{7E464A99-83E0-2A35-6AF1-79043B575D9C}"/>
              </a:ext>
            </a:extLst>
          </p:cNvPr>
          <p:cNvGraphicFramePr/>
          <p:nvPr>
            <p:extLst>
              <p:ext uri="{D42A27DB-BD31-4B8C-83A1-F6EECF244321}">
                <p14:modId xmlns:p14="http://schemas.microsoft.com/office/powerpoint/2010/main" val="2484129702"/>
              </p:ext>
            </p:extLst>
          </p:nvPr>
        </p:nvGraphicFramePr>
        <p:xfrm>
          <a:off x="2156555" y="3454400"/>
          <a:ext cx="3307193" cy="3027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1" name="Table 30">
            <a:extLst>
              <a:ext uri="{FF2B5EF4-FFF2-40B4-BE49-F238E27FC236}">
                <a16:creationId xmlns:a16="http://schemas.microsoft.com/office/drawing/2014/main" id="{38D056C7-6AB2-3FCA-5958-CEE7AF94FA9A}"/>
              </a:ext>
            </a:extLst>
          </p:cNvPr>
          <p:cNvGraphicFramePr>
            <a:graphicFrameLocks noGrp="1"/>
          </p:cNvGraphicFramePr>
          <p:nvPr>
            <p:extLst>
              <p:ext uri="{D42A27DB-BD31-4B8C-83A1-F6EECF244321}">
                <p14:modId xmlns:p14="http://schemas.microsoft.com/office/powerpoint/2010/main" val="1059622864"/>
              </p:ext>
            </p:extLst>
          </p:nvPr>
        </p:nvGraphicFramePr>
        <p:xfrm>
          <a:off x="1556847" y="3535680"/>
          <a:ext cx="1467803" cy="2397759"/>
        </p:xfrm>
        <a:graphic>
          <a:graphicData uri="http://schemas.openxmlformats.org/drawingml/2006/table">
            <a:tbl>
              <a:tblPr>
                <a:tableStyleId>{5C22544A-7EE6-4342-B048-85BDC9FD1C3A}</a:tableStyleId>
              </a:tblPr>
              <a:tblGrid>
                <a:gridCol w="1467803">
                  <a:extLst>
                    <a:ext uri="{9D8B030D-6E8A-4147-A177-3AD203B41FA5}">
                      <a16:colId xmlns:a16="http://schemas.microsoft.com/office/drawing/2014/main" val="1970359841"/>
                    </a:ext>
                  </a:extLst>
                </a:gridCol>
              </a:tblGrid>
              <a:tr h="342537">
                <a:tc>
                  <a:txBody>
                    <a:bodyPr/>
                    <a:lstStyle/>
                    <a:p>
                      <a:pPr algn="l" fontAlgn="b"/>
                      <a:r>
                        <a:rPr lang="en-US" sz="1200" b="0" i="0" u="none" strike="noStrike">
                          <a:solidFill>
                            <a:schemeClr val="tx1"/>
                          </a:solidFill>
                          <a:effectLst/>
                          <a:latin typeface="+mj-lt"/>
                        </a:rPr>
                        <a:t>Agree strongly (7)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41795122"/>
                  </a:ext>
                </a:extLst>
              </a:tr>
              <a:tr h="342537">
                <a:tc>
                  <a:txBody>
                    <a:bodyPr/>
                    <a:lstStyle/>
                    <a:p>
                      <a:pPr algn="l" fontAlgn="b"/>
                      <a:r>
                        <a:rPr lang="en-US" sz="1200" b="0" i="0" u="none" strike="noStrike">
                          <a:solidFill>
                            <a:schemeClr val="tx1"/>
                          </a:solidFill>
                          <a:effectLst/>
                          <a:latin typeface="+mj-lt"/>
                        </a:rPr>
                        <a:t>(6)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18785694"/>
                  </a:ext>
                </a:extLst>
              </a:tr>
              <a:tr h="342537">
                <a:tc>
                  <a:txBody>
                    <a:bodyPr/>
                    <a:lstStyle/>
                    <a:p>
                      <a:pPr algn="l" fontAlgn="b"/>
                      <a:r>
                        <a:rPr lang="en-US" sz="1200" b="0" i="0" u="none" strike="noStrike">
                          <a:solidFill>
                            <a:schemeClr val="tx1"/>
                          </a:solidFill>
                          <a:effectLst/>
                          <a:latin typeface="+mj-lt"/>
                        </a:rPr>
                        <a:t>(5)</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11915003"/>
                  </a:ext>
                </a:extLst>
              </a:tr>
              <a:tr h="342537">
                <a:tc>
                  <a:txBody>
                    <a:bodyPr/>
                    <a:lstStyle/>
                    <a:p>
                      <a:pPr algn="l" fontAlgn="b"/>
                      <a:r>
                        <a:rPr lang="en-US" sz="1200" b="0" i="0" u="none" strike="noStrike">
                          <a:solidFill>
                            <a:schemeClr val="tx1"/>
                          </a:solidFill>
                          <a:effectLst/>
                          <a:latin typeface="+mj-lt"/>
                        </a:rPr>
                        <a:t>(4)</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92654314"/>
                  </a:ext>
                </a:extLst>
              </a:tr>
              <a:tr h="342537">
                <a:tc>
                  <a:txBody>
                    <a:bodyPr/>
                    <a:lstStyle/>
                    <a:p>
                      <a:pPr algn="l" fontAlgn="b"/>
                      <a:r>
                        <a:rPr lang="en-US" sz="1200" b="0" i="0" u="none" strike="noStrike">
                          <a:solidFill>
                            <a:schemeClr val="tx1"/>
                          </a:solidFill>
                          <a:effectLst/>
                          <a:latin typeface="+mj-lt"/>
                        </a:rPr>
                        <a:t>(3)</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58850319"/>
                  </a:ext>
                </a:extLst>
              </a:tr>
              <a:tr h="342537">
                <a:tc>
                  <a:txBody>
                    <a:bodyPr/>
                    <a:lstStyle/>
                    <a:p>
                      <a:pPr algn="l" fontAlgn="b"/>
                      <a:r>
                        <a:rPr lang="en-US" sz="1200" b="0" i="0" u="none" strike="noStrike">
                          <a:solidFill>
                            <a:schemeClr val="tx1"/>
                          </a:solidFill>
                          <a:effectLst/>
                          <a:latin typeface="+mj-lt"/>
                        </a:rPr>
                        <a:t>(2)</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34073120"/>
                  </a:ext>
                </a:extLst>
              </a:tr>
              <a:tr h="342537">
                <a:tc>
                  <a:txBody>
                    <a:bodyPr/>
                    <a:lstStyle/>
                    <a:p>
                      <a:pPr algn="l" fontAlgn="b"/>
                      <a:r>
                        <a:rPr lang="en-US" sz="1200" b="0" i="0" u="none" strike="noStrike">
                          <a:solidFill>
                            <a:schemeClr val="tx1"/>
                          </a:solidFill>
                          <a:effectLst/>
                          <a:latin typeface="+mj-lt"/>
                        </a:rPr>
                        <a:t>Disagree strongly (1)</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773730"/>
                  </a:ext>
                </a:extLst>
              </a:tr>
            </a:tbl>
          </a:graphicData>
        </a:graphic>
      </p:graphicFrame>
      <p:graphicFrame>
        <p:nvGraphicFramePr>
          <p:cNvPr id="35" name="Chart 34">
            <a:extLst>
              <a:ext uri="{FF2B5EF4-FFF2-40B4-BE49-F238E27FC236}">
                <a16:creationId xmlns:a16="http://schemas.microsoft.com/office/drawing/2014/main" id="{CEF42576-5F47-35E6-FD48-957EB42F7899}"/>
              </a:ext>
            </a:extLst>
          </p:cNvPr>
          <p:cNvGraphicFramePr/>
          <p:nvPr>
            <p:extLst>
              <p:ext uri="{D42A27DB-BD31-4B8C-83A1-F6EECF244321}">
                <p14:modId xmlns:p14="http://schemas.microsoft.com/office/powerpoint/2010/main" val="84563782"/>
              </p:ext>
            </p:extLst>
          </p:nvPr>
        </p:nvGraphicFramePr>
        <p:xfrm>
          <a:off x="9137229" y="2588094"/>
          <a:ext cx="3331034" cy="3529626"/>
        </p:xfrm>
        <a:graphic>
          <a:graphicData uri="http://schemas.openxmlformats.org/drawingml/2006/chart">
            <c:chart xmlns:c="http://schemas.openxmlformats.org/drawingml/2006/chart" xmlns:r="http://schemas.openxmlformats.org/officeDocument/2006/relationships" r:id="rId4"/>
          </a:graphicData>
        </a:graphic>
      </p:graphicFrame>
      <p:sp>
        <p:nvSpPr>
          <p:cNvPr id="37" name="Rectangle: Rounded Corners 36">
            <a:extLst>
              <a:ext uri="{FF2B5EF4-FFF2-40B4-BE49-F238E27FC236}">
                <a16:creationId xmlns:a16="http://schemas.microsoft.com/office/drawing/2014/main" id="{9560D23E-1C5E-1F71-14C5-6F9F900D90CF}"/>
              </a:ext>
            </a:extLst>
          </p:cNvPr>
          <p:cNvSpPr/>
          <p:nvPr/>
        </p:nvSpPr>
        <p:spPr bwMode="gray">
          <a:xfrm>
            <a:off x="3152075" y="4228761"/>
            <a:ext cx="1289737" cy="1737360"/>
          </a:xfrm>
          <a:prstGeom prst="roundRect">
            <a:avLst/>
          </a:prstGeom>
          <a:noFill/>
          <a:ln w="12700" cap="flat" cmpd="sng" algn="ctr">
            <a:solidFill>
              <a:schemeClr val="accent1">
                <a:lumMod val="60000"/>
                <a:lumOff val="40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defTabSz="914126" fontAlgn="base">
              <a:lnSpc>
                <a:spcPct val="90000"/>
              </a:lnSpc>
              <a:spcAft>
                <a:spcPct val="0"/>
              </a:spcAft>
              <a:buClr>
                <a:srgbClr val="0095FF"/>
              </a:buClr>
              <a:buSzPct val="90000"/>
            </a:pPr>
            <a:endParaRPr lang="en-US" sz="1799" b="1">
              <a:solidFill>
                <a:srgbClr val="0000C9"/>
              </a:solidFill>
              <a:latin typeface="Arial" panose="020B0604020202020204"/>
            </a:endParaRPr>
          </a:p>
        </p:txBody>
      </p:sp>
      <p:cxnSp>
        <p:nvCxnSpPr>
          <p:cNvPr id="38" name="Straight Connector 37">
            <a:extLst>
              <a:ext uri="{FF2B5EF4-FFF2-40B4-BE49-F238E27FC236}">
                <a16:creationId xmlns:a16="http://schemas.microsoft.com/office/drawing/2014/main" id="{1F11F316-777C-D918-4145-83EBCC9450AC}"/>
              </a:ext>
            </a:extLst>
          </p:cNvPr>
          <p:cNvCxnSpPr>
            <a:cxnSpLocks/>
          </p:cNvCxnSpPr>
          <p:nvPr/>
        </p:nvCxnSpPr>
        <p:spPr bwMode="gray">
          <a:xfrm>
            <a:off x="4441810" y="5097441"/>
            <a:ext cx="1239363" cy="0"/>
          </a:xfrm>
          <a:prstGeom prst="line">
            <a:avLst/>
          </a:prstGeom>
          <a:noFill/>
          <a:ln w="12700" cap="rnd">
            <a:solidFill>
              <a:schemeClr val="accent1">
                <a:lumMod val="60000"/>
                <a:lumOff val="40000"/>
              </a:schemeClr>
            </a:solidFill>
            <a:prstDash val="solid"/>
            <a:round/>
            <a:headEnd type="none" w="med" len="med"/>
            <a:tailEnd type="oval" w="med" len="med"/>
          </a:ln>
          <a:effectLst/>
        </p:spPr>
      </p:cxnSp>
      <p:sp>
        <p:nvSpPr>
          <p:cNvPr id="9" name="TextBox 8">
            <a:extLst>
              <a:ext uri="{FF2B5EF4-FFF2-40B4-BE49-F238E27FC236}">
                <a16:creationId xmlns:a16="http://schemas.microsoft.com/office/drawing/2014/main" id="{FEF23037-89FB-50DF-63F5-377BB10897AB}"/>
              </a:ext>
            </a:extLst>
          </p:cNvPr>
          <p:cNvSpPr txBox="1"/>
          <p:nvPr/>
        </p:nvSpPr>
        <p:spPr bwMode="gray">
          <a:xfrm>
            <a:off x="6552379" y="1844360"/>
            <a:ext cx="3766264" cy="707886"/>
          </a:xfrm>
          <a:prstGeom prst="rect">
            <a:avLst/>
          </a:prstGeom>
          <a:solidFill>
            <a:schemeClr val="bg1"/>
          </a:solidFill>
        </p:spPr>
        <p:txBody>
          <a:bodyPr wrap="square" lIns="45720" tIns="45720" rIns="45720" bIns="45720" rtlCol="0">
            <a:spAutoFit/>
          </a:bodyPr>
          <a:lstStyle/>
          <a:p>
            <a:pPr algn="ctr">
              <a:spcAft>
                <a:spcPts val="400"/>
              </a:spcAft>
            </a:pPr>
            <a:r>
              <a:rPr lang="en-US" sz="1600" b="1">
                <a:solidFill>
                  <a:schemeClr val="accent1"/>
                </a:solidFill>
              </a:rPr>
              <a:t>Factors Impacting Confidence</a:t>
            </a:r>
            <a:br>
              <a:rPr lang="en-US" b="1">
                <a:solidFill>
                  <a:schemeClr val="accent1"/>
                </a:solidFill>
              </a:rPr>
            </a:br>
            <a:r>
              <a:rPr lang="en-US" sz="1400" i="1">
                <a:solidFill>
                  <a:schemeClr val="accent1"/>
                </a:solidFill>
              </a:rPr>
              <a:t>(among non-stockers)</a:t>
            </a:r>
            <a:br>
              <a:rPr lang="en-US" sz="1600" i="1">
                <a:solidFill>
                  <a:schemeClr val="accent1"/>
                </a:solidFill>
              </a:rPr>
            </a:br>
            <a:r>
              <a:rPr kumimoji="0" lang="en-US" altLang="en-US" sz="1000" b="0" i="1"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 HCPs not highly confident in reimbursement</a:t>
            </a:r>
            <a:r>
              <a:rPr lang="en-US" altLang="en-US" sz="1000" i="1">
                <a:solidFill>
                  <a:schemeClr val="tx1">
                    <a:lumMod val="50000"/>
                    <a:lumOff val="50000"/>
                  </a:schemeClr>
                </a:solidFill>
                <a:latin typeface="Arial" panose="020B0604020202020204"/>
              </a:rPr>
              <a:t> </a:t>
            </a:r>
            <a:r>
              <a:rPr kumimoji="0" lang="en-US" altLang="en-US" sz="1000" b="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(n=119)</a:t>
            </a:r>
          </a:p>
        </p:txBody>
      </p:sp>
      <p:grpSp>
        <p:nvGrpSpPr>
          <p:cNvPr id="13" name="Group 12">
            <a:extLst>
              <a:ext uri="{FF2B5EF4-FFF2-40B4-BE49-F238E27FC236}">
                <a16:creationId xmlns:a16="http://schemas.microsoft.com/office/drawing/2014/main" id="{7D959146-4F28-2135-9533-B5AD814D18F4}"/>
              </a:ext>
            </a:extLst>
          </p:cNvPr>
          <p:cNvGrpSpPr/>
          <p:nvPr/>
        </p:nvGrpSpPr>
        <p:grpSpPr>
          <a:xfrm>
            <a:off x="1123162" y="1447919"/>
            <a:ext cx="650178" cy="289396"/>
            <a:chOff x="1686341" y="1600319"/>
            <a:chExt cx="650178" cy="289396"/>
          </a:xfrm>
        </p:grpSpPr>
        <p:cxnSp>
          <p:nvCxnSpPr>
            <p:cNvPr id="21" name="Straight Connector 20">
              <a:extLst>
                <a:ext uri="{FF2B5EF4-FFF2-40B4-BE49-F238E27FC236}">
                  <a16:creationId xmlns:a16="http://schemas.microsoft.com/office/drawing/2014/main" id="{30480FB2-0FEB-E493-F093-CEA812C1F4F0}"/>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2" name="TextBox 21">
              <a:extLst>
                <a:ext uri="{FF2B5EF4-FFF2-40B4-BE49-F238E27FC236}">
                  <a16:creationId xmlns:a16="http://schemas.microsoft.com/office/drawing/2014/main" id="{334648D0-117E-7586-5F53-F8C0B724F060}"/>
                </a:ext>
              </a:extLst>
            </p:cNvPr>
            <p:cNvSpPr txBox="1"/>
            <p:nvPr/>
          </p:nvSpPr>
          <p:spPr bwMode="gray">
            <a:xfrm>
              <a:off x="1686341" y="1600319"/>
              <a:ext cx="650178" cy="2862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p:txBody>
        </p:sp>
      </p:grpSp>
      <p:sp>
        <p:nvSpPr>
          <p:cNvPr id="6" name="TextBox 5">
            <a:extLst>
              <a:ext uri="{FF2B5EF4-FFF2-40B4-BE49-F238E27FC236}">
                <a16:creationId xmlns:a16="http://schemas.microsoft.com/office/drawing/2014/main" id="{88126750-2487-0BDE-3708-16EE2C7E3395}"/>
              </a:ext>
            </a:extLst>
          </p:cNvPr>
          <p:cNvSpPr txBox="1"/>
          <p:nvPr/>
        </p:nvSpPr>
        <p:spPr bwMode="gray">
          <a:xfrm>
            <a:off x="2956554" y="4968175"/>
            <a:ext cx="398507" cy="258532"/>
          </a:xfrm>
          <a:prstGeom prst="rect">
            <a:avLst/>
          </a:prstGeom>
          <a:solidFill>
            <a:schemeClr val="bg1"/>
          </a:solidFill>
        </p:spPr>
        <p:txBody>
          <a:bodyPr wrap="none" lIns="45720" tIns="45720" rIns="45720" bIns="45720" rtlCol="0">
            <a:spAutoFit/>
          </a:bodyPr>
          <a:lstStyle/>
          <a:p>
            <a:pPr algn="l">
              <a:lnSpc>
                <a:spcPct val="90000"/>
              </a:lnSpc>
              <a:spcBef>
                <a:spcPts val="1000"/>
              </a:spcBef>
            </a:pPr>
            <a:r>
              <a:rPr lang="en-US" sz="1200"/>
              <a:t>72%</a:t>
            </a:r>
          </a:p>
        </p:txBody>
      </p:sp>
      <p:sp>
        <p:nvSpPr>
          <p:cNvPr id="23" name="TextBox 22">
            <a:extLst>
              <a:ext uri="{FF2B5EF4-FFF2-40B4-BE49-F238E27FC236}">
                <a16:creationId xmlns:a16="http://schemas.microsoft.com/office/drawing/2014/main" id="{0C29EEC5-63AA-C9EB-250B-BCB2D8CE6C20}"/>
              </a:ext>
            </a:extLst>
          </p:cNvPr>
          <p:cNvSpPr txBox="1"/>
          <p:nvPr/>
        </p:nvSpPr>
        <p:spPr bwMode="gray">
          <a:xfrm>
            <a:off x="831989" y="1157148"/>
            <a:ext cx="1269899" cy="307777"/>
          </a:xfrm>
          <a:prstGeom prst="rect">
            <a:avLst/>
          </a:prstGeom>
          <a:noFill/>
        </p:spPr>
        <p:txBody>
          <a:bodyPr wrap="none">
            <a:spAutoFit/>
          </a:bodyPr>
          <a:lstStyle/>
          <a:p>
            <a:r>
              <a:rPr lang="en-US" sz="1400" i="1">
                <a:solidFill>
                  <a:schemeClr val="accent1"/>
                </a:solidFill>
              </a:rPr>
              <a:t>Non-Stockers</a:t>
            </a:r>
          </a:p>
        </p:txBody>
      </p:sp>
      <p:sp>
        <p:nvSpPr>
          <p:cNvPr id="39" name="Text Placeholder 2">
            <a:extLst>
              <a:ext uri="{FF2B5EF4-FFF2-40B4-BE49-F238E27FC236}">
                <a16:creationId xmlns:a16="http://schemas.microsoft.com/office/drawing/2014/main" id="{965C8670-8FA6-F59D-8298-7597C4291D7A}"/>
              </a:ext>
            </a:extLst>
          </p:cNvPr>
          <p:cNvSpPr txBox="1">
            <a:spLocks/>
          </p:cNvSpPr>
          <p:nvPr/>
        </p:nvSpPr>
        <p:spPr bwMode="gray">
          <a:xfrm>
            <a:off x="10753680" y="3413194"/>
            <a:ext cx="12272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gn="ctr"/>
            <a:r>
              <a:rPr lang="en-US" altLang="en-US">
                <a:solidFill>
                  <a:srgbClr val="FF0000"/>
                </a:solidFill>
                <a:cs typeface="Arial" panose="020B0604020202020204" pitchFamily="34" charset="0"/>
                <a:sym typeface="Symbol" panose="05050102010706020507" pitchFamily="18" charset="2"/>
              </a:rPr>
              <a:t></a:t>
            </a:r>
            <a:endParaRPr lang="en-US"/>
          </a:p>
        </p:txBody>
      </p:sp>
    </p:spTree>
    <p:extLst>
      <p:ext uri="{BB962C8B-B14F-4D97-AF65-F5344CB8AC3E}">
        <p14:creationId xmlns:p14="http://schemas.microsoft.com/office/powerpoint/2010/main" val="3086761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924C5-A652-DFEB-6034-1A86A2EB32F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B88A220-3148-E3FB-FF3C-78CD3C37D6A0}"/>
              </a:ext>
            </a:extLst>
          </p:cNvPr>
          <p:cNvSpPr>
            <a:spLocks noGrp="1"/>
          </p:cNvSpPr>
          <p:nvPr>
            <p:ph type="body" sz="quarter" idx="10"/>
          </p:nvPr>
        </p:nvSpPr>
        <p:spPr>
          <a:xfrm>
            <a:off x="448056" y="4215384"/>
            <a:ext cx="4233672" cy="905256"/>
          </a:xfrm>
        </p:spPr>
        <p:txBody>
          <a:bodyPr/>
          <a:lstStyle/>
          <a:p>
            <a:r>
              <a:rPr lang="en-US"/>
              <a:t>GSK’s Penmenvy Competitive Evaluation</a:t>
            </a:r>
          </a:p>
          <a:p>
            <a:r>
              <a:rPr lang="en-US" sz="1100">
                <a:solidFill>
                  <a:srgbClr val="FF0000"/>
                </a:solidFill>
              </a:rPr>
              <a:t>*(Shown Branded to HCPs vs Blinded in Sep’24) </a:t>
            </a:r>
            <a:br>
              <a:rPr lang="en-US"/>
            </a:br>
            <a:endParaRPr lang="en-US"/>
          </a:p>
        </p:txBody>
      </p:sp>
      <p:sp>
        <p:nvSpPr>
          <p:cNvPr id="3" name="Title 2">
            <a:extLst>
              <a:ext uri="{FF2B5EF4-FFF2-40B4-BE49-F238E27FC236}">
                <a16:creationId xmlns:a16="http://schemas.microsoft.com/office/drawing/2014/main" id="{F122DBEF-0FB3-5046-C1FC-C6F879CEC99D}"/>
              </a:ext>
            </a:extLst>
          </p:cNvPr>
          <p:cNvSpPr>
            <a:spLocks noGrp="1"/>
          </p:cNvSpPr>
          <p:nvPr>
            <p:ph type="ctrTitle"/>
          </p:nvPr>
        </p:nvSpPr>
        <p:spPr>
          <a:xfrm>
            <a:off x="448056" y="2560320"/>
            <a:ext cx="4233672" cy="1508760"/>
          </a:xfrm>
        </p:spPr>
        <p:txBody>
          <a:bodyPr/>
          <a:lstStyle/>
          <a:p>
            <a:r>
              <a:rPr lang="en-US"/>
              <a:t>Detailed Findings</a:t>
            </a:r>
          </a:p>
        </p:txBody>
      </p:sp>
    </p:spTree>
    <p:extLst>
      <p:ext uri="{BB962C8B-B14F-4D97-AF65-F5344CB8AC3E}">
        <p14:creationId xmlns:p14="http://schemas.microsoft.com/office/powerpoint/2010/main" val="491910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EE169A-80C9-3641-2988-4FDB318ED4F7}"/>
              </a:ext>
            </a:extLst>
          </p:cNvPr>
          <p:cNvSpPr>
            <a:spLocks noGrp="1"/>
          </p:cNvSpPr>
          <p:nvPr>
            <p:ph type="title"/>
          </p:nvPr>
        </p:nvSpPr>
        <p:spPr/>
        <p:txBody>
          <a:bodyPr/>
          <a:lstStyle/>
          <a:p>
            <a:r>
              <a:rPr lang="en-US" sz="2800"/>
              <a:t>Penmenvy TPP</a:t>
            </a:r>
            <a:endParaRPr lang="en-US"/>
          </a:p>
        </p:txBody>
      </p:sp>
      <p:sp>
        <p:nvSpPr>
          <p:cNvPr id="7" name="TextBox 6">
            <a:extLst>
              <a:ext uri="{FF2B5EF4-FFF2-40B4-BE49-F238E27FC236}">
                <a16:creationId xmlns:a16="http://schemas.microsoft.com/office/drawing/2014/main" id="{E6BD0936-5E48-7D07-CAFB-805C72FC3E81}"/>
              </a:ext>
            </a:extLst>
          </p:cNvPr>
          <p:cNvSpPr txBox="1"/>
          <p:nvPr/>
        </p:nvSpPr>
        <p:spPr bwMode="gray">
          <a:xfrm>
            <a:off x="1142123" y="729456"/>
            <a:ext cx="9904580" cy="830997"/>
          </a:xfrm>
          <a:prstGeom prst="rect">
            <a:avLst/>
          </a:prstGeom>
          <a:noFill/>
        </p:spPr>
        <p:txBody>
          <a:bodyPr wrap="square">
            <a:spAutoFit/>
          </a:bodyPr>
          <a:lstStyle/>
          <a:p>
            <a:r>
              <a:rPr lang="en-US" sz="1600">
                <a:latin typeface="+mj-lt"/>
                <a:ea typeface="Calibri" panose="020F0502020204030204" pitchFamily="34" charset="0"/>
              </a:rPr>
              <a:t>Please review the following information for Penmenvy (GSK’s 5-in-1 Pentavalent vaccine for </a:t>
            </a:r>
            <a:r>
              <a:rPr lang="en-US" sz="1600" err="1">
                <a:latin typeface="+mj-lt"/>
                <a:ea typeface="Calibri" panose="020F0502020204030204" pitchFamily="34" charset="0"/>
              </a:rPr>
              <a:t>MenABCWY</a:t>
            </a:r>
            <a:r>
              <a:rPr lang="en-US" sz="1600">
                <a:latin typeface="+mj-lt"/>
                <a:ea typeface="Calibri" panose="020F0502020204030204" pitchFamily="34" charset="0"/>
              </a:rPr>
              <a:t>), a recently approved vaccine. Also assume it’s available for use, added to the VFC program, and will be fully reimbursed per ACIP recommendations.</a:t>
            </a:r>
            <a:endParaRPr lang="en-US" sz="1600">
              <a:effectLst/>
              <a:latin typeface="+mj-lt"/>
              <a:ea typeface="Times New Roman" panose="02020603050405020304" pitchFamily="18" charset="0"/>
            </a:endParaRPr>
          </a:p>
        </p:txBody>
      </p:sp>
      <p:pic>
        <p:nvPicPr>
          <p:cNvPr id="6" name="image5.png" descr="A screenshot of a medical form&#10;&#10;AI-generated content may be incorrect.">
            <a:extLst>
              <a:ext uri="{FF2B5EF4-FFF2-40B4-BE49-F238E27FC236}">
                <a16:creationId xmlns:a16="http://schemas.microsoft.com/office/drawing/2014/main" id="{3D7A57D4-C4FB-6F19-6393-C314D7A936DD}"/>
              </a:ext>
            </a:extLst>
          </p:cNvPr>
          <p:cNvPicPr/>
          <p:nvPr/>
        </p:nvPicPr>
        <p:blipFill>
          <a:blip r:embed="rId3"/>
          <a:srcRect/>
          <a:stretch>
            <a:fillRect/>
          </a:stretch>
        </p:blipFill>
        <p:spPr>
          <a:xfrm>
            <a:off x="1048151" y="1560453"/>
            <a:ext cx="8767180" cy="4828772"/>
          </a:xfrm>
          <a:prstGeom prst="rect">
            <a:avLst/>
          </a:prstGeom>
          <a:ln/>
        </p:spPr>
      </p:pic>
      <p:sp>
        <p:nvSpPr>
          <p:cNvPr id="2" name="Text Placeholder 2">
            <a:extLst>
              <a:ext uri="{FF2B5EF4-FFF2-40B4-BE49-F238E27FC236}">
                <a16:creationId xmlns:a16="http://schemas.microsoft.com/office/drawing/2014/main" id="{6F8E7E8C-FE44-3DEB-1784-A13AFA777B5F}"/>
              </a:ext>
            </a:extLst>
          </p:cNvPr>
          <p:cNvSpPr>
            <a:spLocks noGrp="1"/>
          </p:cNvSpPr>
          <p:nvPr>
            <p:ph type="body" sz="quarter" idx="16"/>
          </p:nvPr>
        </p:nvSpPr>
        <p:spPr>
          <a:xfrm>
            <a:off x="1571624" y="6414941"/>
            <a:ext cx="9360535" cy="330347"/>
          </a:xfrm>
        </p:spPr>
        <p:txBody>
          <a:bodyPr/>
          <a:lstStyle/>
          <a:p>
            <a:r>
              <a:rPr lang="en-US"/>
              <a:t>*Unblinded TPP shown this wave</a:t>
            </a:r>
          </a:p>
          <a:p>
            <a:r>
              <a:rPr lang="en-US"/>
              <a:t>Wave 4 Unbranded TPP shown in Appendix for reference</a:t>
            </a:r>
          </a:p>
        </p:txBody>
      </p:sp>
    </p:spTree>
    <p:extLst>
      <p:ext uri="{BB962C8B-B14F-4D97-AF65-F5344CB8AC3E}">
        <p14:creationId xmlns:p14="http://schemas.microsoft.com/office/powerpoint/2010/main" val="2369312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14D8804-4C64-B610-9665-93F5D94A1731}"/>
              </a:ext>
            </a:extLst>
          </p:cNvPr>
          <p:cNvSpPr/>
          <p:nvPr/>
        </p:nvSpPr>
        <p:spPr bwMode="gray">
          <a:xfrm>
            <a:off x="1371884" y="2036098"/>
            <a:ext cx="3971359" cy="3601798"/>
          </a:xfrm>
          <a:prstGeom prst="rect">
            <a:avLst/>
          </a:prstGeom>
          <a:noFill/>
          <a:ln w="19050" cap="flat" cmpd="sng" algn="ctr">
            <a:solidFill>
              <a:schemeClr val="bg1">
                <a:lumMod val="7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14" name="Rectangle 13">
            <a:extLst>
              <a:ext uri="{FF2B5EF4-FFF2-40B4-BE49-F238E27FC236}">
                <a16:creationId xmlns:a16="http://schemas.microsoft.com/office/drawing/2014/main" id="{7CC13039-E0AA-11E6-6C92-2DD32372A5CD}"/>
              </a:ext>
            </a:extLst>
          </p:cNvPr>
          <p:cNvSpPr/>
          <p:nvPr/>
        </p:nvSpPr>
        <p:spPr bwMode="gray">
          <a:xfrm>
            <a:off x="5623846" y="2035101"/>
            <a:ext cx="5051017" cy="3601798"/>
          </a:xfrm>
          <a:prstGeom prst="rect">
            <a:avLst/>
          </a:prstGeom>
          <a:solidFill>
            <a:schemeClr val="bg1">
              <a:lumMod val="95000"/>
            </a:schemeClr>
          </a:solidFill>
          <a:ln w="19050" cap="flat" cmpd="sng" algn="ctr">
            <a:solidFill>
              <a:schemeClr val="bg1">
                <a:lumMod val="7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6" name="Title 5">
            <a:extLst>
              <a:ext uri="{FF2B5EF4-FFF2-40B4-BE49-F238E27FC236}">
                <a16:creationId xmlns:a16="http://schemas.microsoft.com/office/drawing/2014/main" id="{13B7DA6E-BD38-A9F7-1255-EF0145D9015D}"/>
              </a:ext>
            </a:extLst>
          </p:cNvPr>
          <p:cNvSpPr>
            <a:spLocks noGrp="1"/>
          </p:cNvSpPr>
          <p:nvPr>
            <p:ph type="title"/>
          </p:nvPr>
        </p:nvSpPr>
        <p:spPr>
          <a:xfrm>
            <a:off x="1142122" y="171155"/>
            <a:ext cx="10823240" cy="850171"/>
          </a:xfrm>
        </p:spPr>
        <p:txBody>
          <a:bodyPr/>
          <a:lstStyle/>
          <a:p>
            <a:r>
              <a:rPr lang="en-US" sz="1999"/>
              <a:t>One third of HCPs are </a:t>
            </a:r>
            <a:r>
              <a:rPr lang="en-US" sz="1999" i="1"/>
              <a:t>highly likely </a:t>
            </a:r>
            <a:r>
              <a:rPr lang="en-US" sz="1999"/>
              <a:t>to </a:t>
            </a:r>
            <a:r>
              <a:rPr lang="en-US" sz="1999" u="sng"/>
              <a:t>stock</a:t>
            </a:r>
            <a:r>
              <a:rPr lang="en-US" sz="1999"/>
              <a:t> Penmenvy, with 7 in 10 estimating adoption within </a:t>
            </a:r>
            <a:br>
              <a:rPr lang="en-US" sz="1999"/>
            </a:br>
            <a:r>
              <a:rPr lang="en-US" sz="1999"/>
              <a:t>6 months</a:t>
            </a:r>
            <a:r>
              <a:rPr lang="en-US"/>
              <a:t> after MMWR publication and inclusion in the VFC program</a:t>
            </a:r>
          </a:p>
        </p:txBody>
      </p:sp>
      <p:sp>
        <p:nvSpPr>
          <p:cNvPr id="7" name="Text Placeholder 6">
            <a:extLst>
              <a:ext uri="{FF2B5EF4-FFF2-40B4-BE49-F238E27FC236}">
                <a16:creationId xmlns:a16="http://schemas.microsoft.com/office/drawing/2014/main" id="{3B0B4543-AE41-EA05-0528-BEC258FD2E2A}"/>
              </a:ext>
            </a:extLst>
          </p:cNvPr>
          <p:cNvSpPr>
            <a:spLocks noGrp="1"/>
          </p:cNvSpPr>
          <p:nvPr>
            <p:ph type="body" sz="quarter" idx="16"/>
          </p:nvPr>
        </p:nvSpPr>
        <p:spPr>
          <a:xfrm>
            <a:off x="1572804" y="5977097"/>
            <a:ext cx="8894092" cy="880012"/>
          </a:xfrm>
        </p:spPr>
        <p:txBody>
          <a:bodyPr/>
          <a:lstStyle/>
          <a:p>
            <a:pPr marL="228531" indent="-228531"/>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unbranded (Vaccine X) perceptions in the prior wave </a:t>
            </a:r>
          </a:p>
          <a:p>
            <a:pPr marL="228531" indent="-228531"/>
            <a:r>
              <a:rPr lang="en-US"/>
              <a:t>X1.	How likely are you to stock Penmenvy (GSK’s 5-in-1 pentavalent vaccine for </a:t>
            </a:r>
            <a:r>
              <a:rPr lang="en-US" err="1"/>
              <a:t>MenABCWY</a:t>
            </a:r>
            <a:r>
              <a:rPr lang="en-US"/>
              <a:t>) in your practice, assuming cost and financial factors are not a barrier to use? (7-pt scale: 1=Not at all </a:t>
            </a:r>
            <a:r>
              <a:rPr lang="en-US">
                <a:solidFill>
                  <a:srgbClr val="FFFFFF">
                    <a:lumMod val="50000"/>
                  </a:srgbClr>
                </a:solidFill>
                <a:latin typeface="Arial" panose="020B0604020202020204"/>
              </a:rPr>
              <a:t>likely</a:t>
            </a:r>
            <a:r>
              <a:rPr lang="en-US"/>
              <a:t>, 7=Extremely </a:t>
            </a:r>
            <a:r>
              <a:rPr lang="en-US">
                <a:solidFill>
                  <a:srgbClr val="FFFFFF">
                    <a:lumMod val="50000"/>
                  </a:srgbClr>
                </a:solidFill>
                <a:latin typeface="Arial" panose="020B0604020202020204"/>
              </a:rPr>
              <a:t>likely</a:t>
            </a:r>
            <a:r>
              <a:rPr lang="en-US"/>
              <a:t>)</a:t>
            </a:r>
          </a:p>
          <a:p>
            <a:pPr marL="228531" indent="-228531"/>
            <a:r>
              <a:rPr lang="en-US"/>
              <a:t>X2. 	How long would it take for you to first recommend / stock Penmenvy (GSK’s 5-in-1 pentavalent vaccine for </a:t>
            </a:r>
            <a:r>
              <a:rPr lang="en-US" err="1"/>
              <a:t>MenABCWY</a:t>
            </a:r>
            <a:r>
              <a:rPr lang="en-US"/>
              <a:t>) in your practice? </a:t>
            </a:r>
          </a:p>
          <a:p>
            <a:pPr marL="228531" indent="-228531"/>
            <a:r>
              <a:rPr lang="en-US"/>
              <a:t>X3.	How long would it take for you to fully incorporate Penmenvy (GSK’s 5-in-1 pentavalent vaccine for </a:t>
            </a:r>
            <a:r>
              <a:rPr lang="en-US" err="1"/>
              <a:t>MenABCWY</a:t>
            </a:r>
            <a:r>
              <a:rPr lang="en-US"/>
              <a:t>) in your practice, after MMWR publication and inclusion in the VFC program?</a:t>
            </a:r>
          </a:p>
        </p:txBody>
      </p:sp>
      <p:graphicFrame>
        <p:nvGraphicFramePr>
          <p:cNvPr id="30" name="Chart 29">
            <a:extLst>
              <a:ext uri="{FF2B5EF4-FFF2-40B4-BE49-F238E27FC236}">
                <a16:creationId xmlns:a16="http://schemas.microsoft.com/office/drawing/2014/main" id="{D612585E-F5EC-D779-2010-01648E03D801}"/>
              </a:ext>
            </a:extLst>
          </p:cNvPr>
          <p:cNvGraphicFramePr/>
          <p:nvPr/>
        </p:nvGraphicFramePr>
        <p:xfrm>
          <a:off x="3251075" y="2650019"/>
          <a:ext cx="1945459" cy="30776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3" name="Chart 72">
            <a:extLst>
              <a:ext uri="{FF2B5EF4-FFF2-40B4-BE49-F238E27FC236}">
                <a16:creationId xmlns:a16="http://schemas.microsoft.com/office/drawing/2014/main" id="{6C2A8A4A-6472-D5C8-256B-4898328FF444}"/>
              </a:ext>
            </a:extLst>
          </p:cNvPr>
          <p:cNvGraphicFramePr/>
          <p:nvPr/>
        </p:nvGraphicFramePr>
        <p:xfrm>
          <a:off x="5720545" y="2650019"/>
          <a:ext cx="1945459" cy="307767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4" name="Chart 73">
            <a:extLst>
              <a:ext uri="{FF2B5EF4-FFF2-40B4-BE49-F238E27FC236}">
                <a16:creationId xmlns:a16="http://schemas.microsoft.com/office/drawing/2014/main" id="{EC5B453F-7E57-0169-5FE6-F7E9C871E7D8}"/>
              </a:ext>
            </a:extLst>
          </p:cNvPr>
          <p:cNvGraphicFramePr/>
          <p:nvPr/>
        </p:nvGraphicFramePr>
        <p:xfrm>
          <a:off x="8871483" y="2650019"/>
          <a:ext cx="1945459" cy="3077678"/>
        </p:xfrm>
        <a:graphic>
          <a:graphicData uri="http://schemas.openxmlformats.org/drawingml/2006/chart">
            <c:chart xmlns:c="http://schemas.openxmlformats.org/drawingml/2006/chart" xmlns:r="http://schemas.openxmlformats.org/officeDocument/2006/relationships" r:id="rId5"/>
          </a:graphicData>
        </a:graphic>
      </p:graphicFrame>
      <p:sp>
        <p:nvSpPr>
          <p:cNvPr id="77" name="TextBox 76">
            <a:extLst>
              <a:ext uri="{FF2B5EF4-FFF2-40B4-BE49-F238E27FC236}">
                <a16:creationId xmlns:a16="http://schemas.microsoft.com/office/drawing/2014/main" id="{83A61E3B-E3BF-B604-5FAD-F42CB42671E7}"/>
              </a:ext>
            </a:extLst>
          </p:cNvPr>
          <p:cNvSpPr txBox="1"/>
          <p:nvPr/>
        </p:nvSpPr>
        <p:spPr bwMode="gray">
          <a:xfrm>
            <a:off x="5712817" y="2416989"/>
            <a:ext cx="1960923" cy="286157"/>
          </a:xfrm>
          <a:prstGeom prst="rect">
            <a:avLst/>
          </a:prstGeom>
          <a:ln>
            <a:noFill/>
          </a:ln>
        </p:spPr>
        <p:txBody>
          <a:bodyPr wrap="none" lIns="45708" tIns="45708" rIns="45708" bIns="45708" rtlCol="0">
            <a:spAutoFit/>
          </a:bodyPr>
          <a:lstStyle/>
          <a:p>
            <a:pPr algn="ctr">
              <a:lnSpc>
                <a:spcPct val="90000"/>
              </a:lnSpc>
              <a:spcAft>
                <a:spcPts val="400"/>
              </a:spcAft>
            </a:pPr>
            <a:r>
              <a:rPr lang="en-US" sz="1400" b="1"/>
              <a:t>1</a:t>
            </a:r>
            <a:r>
              <a:rPr lang="en-US" sz="1400" b="1" baseline="30000"/>
              <a:t>st</a:t>
            </a:r>
            <a:r>
              <a:rPr lang="en-US" sz="1400" b="1"/>
              <a:t> Recommend/Stock</a:t>
            </a:r>
          </a:p>
        </p:txBody>
      </p:sp>
      <p:sp>
        <p:nvSpPr>
          <p:cNvPr id="78" name="TextBox 77">
            <a:extLst>
              <a:ext uri="{FF2B5EF4-FFF2-40B4-BE49-F238E27FC236}">
                <a16:creationId xmlns:a16="http://schemas.microsoft.com/office/drawing/2014/main" id="{1E08E6C7-E84B-F795-7F09-F7B944812A3C}"/>
              </a:ext>
            </a:extLst>
          </p:cNvPr>
          <p:cNvSpPr txBox="1"/>
          <p:nvPr/>
        </p:nvSpPr>
        <p:spPr bwMode="gray">
          <a:xfrm>
            <a:off x="9043713" y="2416989"/>
            <a:ext cx="1542649" cy="286157"/>
          </a:xfrm>
          <a:prstGeom prst="rect">
            <a:avLst/>
          </a:prstGeom>
          <a:ln>
            <a:noFill/>
          </a:ln>
        </p:spPr>
        <p:txBody>
          <a:bodyPr wrap="none" lIns="45708" tIns="45708" rIns="45708" bIns="45708" rtlCol="0">
            <a:spAutoFit/>
          </a:bodyPr>
          <a:lstStyle/>
          <a:p>
            <a:pPr algn="ctr">
              <a:lnSpc>
                <a:spcPct val="90000"/>
              </a:lnSpc>
              <a:spcAft>
                <a:spcPts val="400"/>
              </a:spcAft>
            </a:pPr>
            <a:r>
              <a:rPr lang="en-US" sz="1400" b="1"/>
              <a:t>Fully Incorporate</a:t>
            </a:r>
          </a:p>
        </p:txBody>
      </p:sp>
      <p:sp>
        <p:nvSpPr>
          <p:cNvPr id="90" name="Rectangle: Rounded Corners 89">
            <a:extLst>
              <a:ext uri="{FF2B5EF4-FFF2-40B4-BE49-F238E27FC236}">
                <a16:creationId xmlns:a16="http://schemas.microsoft.com/office/drawing/2014/main" id="{F61C4C08-C4BB-0444-89F6-6F279C2243DF}"/>
              </a:ext>
            </a:extLst>
          </p:cNvPr>
          <p:cNvSpPr/>
          <p:nvPr/>
        </p:nvSpPr>
        <p:spPr bwMode="gray">
          <a:xfrm>
            <a:off x="952341" y="1350784"/>
            <a:ext cx="10303594" cy="4376915"/>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799" b="1">
              <a:solidFill>
                <a:schemeClr val="accent1"/>
              </a:solidFill>
              <a:latin typeface="+mj-lt"/>
            </a:endParaRPr>
          </a:p>
        </p:txBody>
      </p:sp>
      <p:grpSp>
        <p:nvGrpSpPr>
          <p:cNvPr id="91" name="Group 90">
            <a:extLst>
              <a:ext uri="{FF2B5EF4-FFF2-40B4-BE49-F238E27FC236}">
                <a16:creationId xmlns:a16="http://schemas.microsoft.com/office/drawing/2014/main" id="{74C5867F-1E4F-33DB-A885-18D2BD84F867}"/>
              </a:ext>
            </a:extLst>
          </p:cNvPr>
          <p:cNvGrpSpPr/>
          <p:nvPr/>
        </p:nvGrpSpPr>
        <p:grpSpPr>
          <a:xfrm>
            <a:off x="1075030" y="1407805"/>
            <a:ext cx="650009" cy="538982"/>
            <a:chOff x="1686341" y="1600319"/>
            <a:chExt cx="650178" cy="539122"/>
          </a:xfrm>
        </p:grpSpPr>
        <p:cxnSp>
          <p:nvCxnSpPr>
            <p:cNvPr id="92" name="Straight Connector 91">
              <a:extLst>
                <a:ext uri="{FF2B5EF4-FFF2-40B4-BE49-F238E27FC236}">
                  <a16:creationId xmlns:a16="http://schemas.microsoft.com/office/drawing/2014/main" id="{F41F8B1B-CB26-C0A7-B7FD-ECA289EAEFD5}"/>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93" name="TextBox 92">
              <a:extLst>
                <a:ext uri="{FF2B5EF4-FFF2-40B4-BE49-F238E27FC236}">
                  <a16:creationId xmlns:a16="http://schemas.microsoft.com/office/drawing/2014/main" id="{494E98B2-D1AE-13B8-21B6-B3AF8A2C5697}"/>
                </a:ext>
              </a:extLst>
            </p:cNvPr>
            <p:cNvSpPr txBox="1"/>
            <p:nvPr/>
          </p:nvSpPr>
          <p:spPr bwMode="gray">
            <a:xfrm>
              <a:off x="1686341" y="1600319"/>
              <a:ext cx="650178" cy="53912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a:p>
              <a:pPr algn="ctr">
                <a:lnSpc>
                  <a:spcPct val="90000"/>
                </a:lnSpc>
                <a:spcBef>
                  <a:spcPts val="1000"/>
                </a:spcBef>
                <a:defRPr/>
              </a:pPr>
              <a:r>
                <a:rPr lang="en-US" sz="900">
                  <a:solidFill>
                    <a:srgbClr val="FFFFFF">
                      <a:lumMod val="50000"/>
                    </a:srgbClr>
                  </a:solidFill>
                  <a:latin typeface="Arial" panose="020B0604020202020204"/>
                </a:rPr>
                <a:t>(n=200)</a:t>
              </a:r>
              <a:endParaRPr lang="en-US" sz="1400">
                <a:solidFill>
                  <a:srgbClr val="FFFFFF">
                    <a:lumMod val="50000"/>
                  </a:srgbClr>
                </a:solidFill>
                <a:latin typeface="Arial" panose="020B0604020202020204"/>
              </a:endParaRPr>
            </a:p>
          </p:txBody>
        </p:sp>
      </p:grpSp>
      <p:sp>
        <p:nvSpPr>
          <p:cNvPr id="94" name="TextBox 93">
            <a:extLst>
              <a:ext uri="{FF2B5EF4-FFF2-40B4-BE49-F238E27FC236}">
                <a16:creationId xmlns:a16="http://schemas.microsoft.com/office/drawing/2014/main" id="{F966ED7A-FB1E-7AC9-B9EC-EDEEB79EB9A4}"/>
              </a:ext>
            </a:extLst>
          </p:cNvPr>
          <p:cNvSpPr txBox="1"/>
          <p:nvPr/>
        </p:nvSpPr>
        <p:spPr bwMode="gray">
          <a:xfrm>
            <a:off x="987080" y="1117110"/>
            <a:ext cx="825909" cy="338466"/>
          </a:xfrm>
          <a:prstGeom prst="rect">
            <a:avLst/>
          </a:prstGeom>
          <a:noFill/>
        </p:spPr>
        <p:txBody>
          <a:bodyPr wrap="none">
            <a:spAutoFit/>
          </a:bodyPr>
          <a:lstStyle/>
          <a:p>
            <a:r>
              <a:rPr lang="en-US" sz="1600"/>
              <a:t>TOTAL</a:t>
            </a:r>
          </a:p>
        </p:txBody>
      </p:sp>
      <p:sp>
        <p:nvSpPr>
          <p:cNvPr id="2" name="TextBox 1">
            <a:extLst>
              <a:ext uri="{FF2B5EF4-FFF2-40B4-BE49-F238E27FC236}">
                <a16:creationId xmlns:a16="http://schemas.microsoft.com/office/drawing/2014/main" id="{210740B9-AA14-7B0B-E2A4-EC12D7CC09F3}"/>
              </a:ext>
            </a:extLst>
          </p:cNvPr>
          <p:cNvSpPr txBox="1"/>
          <p:nvPr/>
        </p:nvSpPr>
        <p:spPr bwMode="gray">
          <a:xfrm>
            <a:off x="3971353" y="1460943"/>
            <a:ext cx="4246120" cy="480006"/>
          </a:xfrm>
          <a:prstGeom prst="rect">
            <a:avLst/>
          </a:prstGeom>
        </p:spPr>
        <p:txBody>
          <a:bodyPr wrap="square" lIns="45708" tIns="45708" rIns="45708" bIns="45708" rtlCol="0">
            <a:spAutoFit/>
          </a:bodyPr>
          <a:lstStyle/>
          <a:p>
            <a:pPr algn="ctr">
              <a:lnSpc>
                <a:spcPct val="90000"/>
              </a:lnSpc>
              <a:spcAft>
                <a:spcPts val="400"/>
              </a:spcAft>
              <a:defRPr/>
            </a:pPr>
            <a:r>
              <a:rPr lang="en-US" sz="1799" b="1">
                <a:solidFill>
                  <a:srgbClr val="0000C9"/>
                </a:solidFill>
                <a:latin typeface="Arial" panose="020B0604020202020204"/>
              </a:rPr>
              <a:t>Intent to Stock Penmenvy</a:t>
            </a:r>
            <a:br>
              <a:rPr lang="en-US" sz="1799" b="1">
                <a:solidFill>
                  <a:schemeClr val="bg1">
                    <a:lumMod val="50000"/>
                  </a:schemeClr>
                </a:solidFill>
                <a:latin typeface="Arial" panose="020B0604020202020204"/>
              </a:rPr>
            </a:br>
            <a:r>
              <a:rPr lang="en-US" sz="1000" i="1">
                <a:solidFill>
                  <a:schemeClr val="bg1">
                    <a:lumMod val="50000"/>
                  </a:schemeClr>
                </a:solidFill>
                <a:latin typeface="Arial" panose="020B0604020202020204"/>
              </a:rPr>
              <a:t>% HCPs</a:t>
            </a:r>
            <a:endParaRPr lang="en-US" sz="1000">
              <a:solidFill>
                <a:srgbClr val="FFFFFF">
                  <a:lumMod val="50000"/>
                </a:srgbClr>
              </a:solidFill>
              <a:latin typeface="Arial" panose="020B0604020202020204"/>
            </a:endParaRPr>
          </a:p>
        </p:txBody>
      </p:sp>
      <p:sp>
        <p:nvSpPr>
          <p:cNvPr id="15" name="TextBox 14">
            <a:extLst>
              <a:ext uri="{FF2B5EF4-FFF2-40B4-BE49-F238E27FC236}">
                <a16:creationId xmlns:a16="http://schemas.microsoft.com/office/drawing/2014/main" id="{ECADA495-1D58-DE92-33BF-71F9FA44B811}"/>
              </a:ext>
            </a:extLst>
          </p:cNvPr>
          <p:cNvSpPr txBox="1"/>
          <p:nvPr/>
        </p:nvSpPr>
        <p:spPr bwMode="gray">
          <a:xfrm>
            <a:off x="1958672" y="2077350"/>
            <a:ext cx="3066684" cy="313826"/>
          </a:xfrm>
          <a:prstGeom prst="rect">
            <a:avLst/>
          </a:prstGeom>
        </p:spPr>
        <p:txBody>
          <a:bodyPr wrap="none" lIns="45696" tIns="45696" rIns="45696" bIns="45696" rtlCol="0" anchor="b">
            <a:spAutoFit/>
          </a:bodyPr>
          <a:lstStyle/>
          <a:p>
            <a:pPr algn="ctr" defTabSz="913852">
              <a:lnSpc>
                <a:spcPct val="90000"/>
              </a:lnSpc>
              <a:spcAft>
                <a:spcPts val="400"/>
              </a:spcAft>
            </a:pPr>
            <a:r>
              <a:rPr lang="en-US" sz="1600" b="1" u="sng">
                <a:solidFill>
                  <a:srgbClr val="000000"/>
                </a:solidFill>
                <a:latin typeface="Arial" panose="020B0604020202020204"/>
              </a:rPr>
              <a:t>Likelihood to Stock Penmenvy</a:t>
            </a:r>
          </a:p>
        </p:txBody>
      </p:sp>
      <p:sp>
        <p:nvSpPr>
          <p:cNvPr id="17" name="TextBox 16">
            <a:extLst>
              <a:ext uri="{FF2B5EF4-FFF2-40B4-BE49-F238E27FC236}">
                <a16:creationId xmlns:a16="http://schemas.microsoft.com/office/drawing/2014/main" id="{D45513E3-C2E6-E4D4-7719-49DA8E62AF21}"/>
              </a:ext>
            </a:extLst>
          </p:cNvPr>
          <p:cNvSpPr txBox="1"/>
          <p:nvPr/>
        </p:nvSpPr>
        <p:spPr bwMode="gray">
          <a:xfrm>
            <a:off x="7488205" y="2057093"/>
            <a:ext cx="1492067" cy="313768"/>
          </a:xfrm>
          <a:prstGeom prst="rect">
            <a:avLst/>
          </a:prstGeom>
          <a:ln>
            <a:noFill/>
          </a:ln>
        </p:spPr>
        <p:txBody>
          <a:bodyPr wrap="none" lIns="45696" tIns="45696" rIns="45696" bIns="45696" rtlCol="0" anchor="b">
            <a:spAutoFit/>
          </a:bodyPr>
          <a:lstStyle/>
          <a:p>
            <a:pPr algn="ctr" defTabSz="913852">
              <a:lnSpc>
                <a:spcPct val="90000"/>
              </a:lnSpc>
              <a:spcAft>
                <a:spcPts val="400"/>
              </a:spcAft>
            </a:pPr>
            <a:r>
              <a:rPr lang="en-US" sz="1600" b="1" u="sng">
                <a:solidFill>
                  <a:srgbClr val="000000"/>
                </a:solidFill>
                <a:latin typeface="Arial" panose="020B0604020202020204"/>
              </a:rPr>
              <a:t>Time to Stock </a:t>
            </a:r>
          </a:p>
        </p:txBody>
      </p:sp>
      <p:sp>
        <p:nvSpPr>
          <p:cNvPr id="18" name="Oval 17">
            <a:extLst>
              <a:ext uri="{FF2B5EF4-FFF2-40B4-BE49-F238E27FC236}">
                <a16:creationId xmlns:a16="http://schemas.microsoft.com/office/drawing/2014/main" id="{E0D02F70-4BEB-B690-4B80-7A6A1B08A450}"/>
              </a:ext>
            </a:extLst>
          </p:cNvPr>
          <p:cNvSpPr/>
          <p:nvPr/>
        </p:nvSpPr>
        <p:spPr bwMode="gray">
          <a:xfrm>
            <a:off x="7766549" y="2903579"/>
            <a:ext cx="126750" cy="124696"/>
          </a:xfrm>
          <a:prstGeom prst="ellipse">
            <a:avLst/>
          </a:prstGeom>
          <a:solidFill>
            <a:schemeClr val="accent1"/>
          </a:solidFill>
          <a:ln w="1905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19" name="Oval 18">
            <a:extLst>
              <a:ext uri="{FF2B5EF4-FFF2-40B4-BE49-F238E27FC236}">
                <a16:creationId xmlns:a16="http://schemas.microsoft.com/office/drawing/2014/main" id="{DEEC7520-0EA4-1DE4-4522-64A359609921}"/>
              </a:ext>
            </a:extLst>
          </p:cNvPr>
          <p:cNvSpPr/>
          <p:nvPr/>
        </p:nvSpPr>
        <p:spPr bwMode="gray">
          <a:xfrm>
            <a:off x="7766547" y="3261356"/>
            <a:ext cx="124696" cy="124696"/>
          </a:xfrm>
          <a:prstGeom prst="ellipse">
            <a:avLst/>
          </a:prstGeom>
          <a:solidFill>
            <a:schemeClr val="accent2"/>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20" name="Oval 19">
            <a:extLst>
              <a:ext uri="{FF2B5EF4-FFF2-40B4-BE49-F238E27FC236}">
                <a16:creationId xmlns:a16="http://schemas.microsoft.com/office/drawing/2014/main" id="{FD22261F-9943-2D28-2C30-5ECC17C7580B}"/>
              </a:ext>
            </a:extLst>
          </p:cNvPr>
          <p:cNvSpPr/>
          <p:nvPr/>
        </p:nvSpPr>
        <p:spPr bwMode="gray">
          <a:xfrm>
            <a:off x="7766547" y="3619134"/>
            <a:ext cx="124696" cy="124696"/>
          </a:xfrm>
          <a:prstGeom prst="ellipse">
            <a:avLst/>
          </a:prstGeom>
          <a:solidFill>
            <a:schemeClr val="accent3"/>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graphicFrame>
        <p:nvGraphicFramePr>
          <p:cNvPr id="21" name="Table 20">
            <a:extLst>
              <a:ext uri="{FF2B5EF4-FFF2-40B4-BE49-F238E27FC236}">
                <a16:creationId xmlns:a16="http://schemas.microsoft.com/office/drawing/2014/main" id="{97DB21F7-BD4A-521E-3CC4-5C7412D260B1}"/>
              </a:ext>
            </a:extLst>
          </p:cNvPr>
          <p:cNvGraphicFramePr>
            <a:graphicFrameLocks noGrp="1"/>
          </p:cNvGraphicFramePr>
          <p:nvPr/>
        </p:nvGraphicFramePr>
        <p:xfrm>
          <a:off x="7946090" y="2760206"/>
          <a:ext cx="1027529" cy="2548833"/>
        </p:xfrm>
        <a:graphic>
          <a:graphicData uri="http://schemas.openxmlformats.org/drawingml/2006/table">
            <a:tbl>
              <a:tblPr>
                <a:tableStyleId>{5C22544A-7EE6-4342-B048-85BDC9FD1C3A}</a:tableStyleId>
              </a:tblPr>
              <a:tblGrid>
                <a:gridCol w="1027529">
                  <a:extLst>
                    <a:ext uri="{9D8B030D-6E8A-4147-A177-3AD203B41FA5}">
                      <a16:colId xmlns:a16="http://schemas.microsoft.com/office/drawing/2014/main" val="1927998642"/>
                    </a:ext>
                  </a:extLst>
                </a:gridCol>
              </a:tblGrid>
              <a:tr h="364119">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&lt; 1 month</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032717"/>
                  </a:ext>
                </a:extLst>
              </a:tr>
              <a:tr h="364119">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1 to &lt; 3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4283452"/>
                  </a:ext>
                </a:extLst>
              </a:tr>
              <a:tr h="364119">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3 to &lt; 6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8720126"/>
                  </a:ext>
                </a:extLst>
              </a:tr>
              <a:tr h="364119">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6 to &lt; 9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92804416"/>
                  </a:ext>
                </a:extLst>
              </a:tr>
              <a:tr h="364119">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9 to &lt; 12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5366642"/>
                  </a:ext>
                </a:extLst>
              </a:tr>
              <a:tr h="364119">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&gt; 12 mos.</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58045002"/>
                  </a:ext>
                </a:extLst>
              </a:tr>
              <a:tr h="364119">
                <a:tc>
                  <a:txBody>
                    <a:bodyPr/>
                    <a:lstStyle/>
                    <a:p>
                      <a:pPr marL="0" algn="l" defTabSz="914400" rtl="0" eaLnBrk="1" fontAlgn="b" latinLnBrk="0" hangingPunct="1">
                        <a:lnSpc>
                          <a:spcPct val="90000"/>
                        </a:lnSpc>
                      </a:pPr>
                      <a:r>
                        <a:rPr lang="en-US" sz="1200" kern="1200">
                          <a:solidFill>
                            <a:schemeClr val="tx1"/>
                          </a:solidFill>
                          <a:latin typeface="+mn-lt"/>
                          <a:ea typeface="+mn-ea"/>
                          <a:cs typeface="+mn-cs"/>
                        </a:rPr>
                        <a:t>Unsure</a:t>
                      </a:r>
                    </a:p>
                  </a:txBody>
                  <a:tcPr marL="7616" marR="7616" marT="7616"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6928901"/>
                  </a:ext>
                </a:extLst>
              </a:tr>
            </a:tbl>
          </a:graphicData>
        </a:graphic>
      </p:graphicFrame>
      <p:sp>
        <p:nvSpPr>
          <p:cNvPr id="22" name="Oval 21">
            <a:extLst>
              <a:ext uri="{FF2B5EF4-FFF2-40B4-BE49-F238E27FC236}">
                <a16:creationId xmlns:a16="http://schemas.microsoft.com/office/drawing/2014/main" id="{CA64E515-E98A-3CEB-593E-0FD472840B83}"/>
              </a:ext>
            </a:extLst>
          </p:cNvPr>
          <p:cNvSpPr/>
          <p:nvPr/>
        </p:nvSpPr>
        <p:spPr bwMode="gray">
          <a:xfrm>
            <a:off x="7766549" y="3976912"/>
            <a:ext cx="126750" cy="124696"/>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23" name="Oval 22">
            <a:extLst>
              <a:ext uri="{FF2B5EF4-FFF2-40B4-BE49-F238E27FC236}">
                <a16:creationId xmlns:a16="http://schemas.microsoft.com/office/drawing/2014/main" id="{CD64D47C-1456-4845-54BD-439705B5314D}"/>
              </a:ext>
            </a:extLst>
          </p:cNvPr>
          <p:cNvSpPr/>
          <p:nvPr/>
        </p:nvSpPr>
        <p:spPr bwMode="gray">
          <a:xfrm>
            <a:off x="7766547" y="4334689"/>
            <a:ext cx="124696" cy="124696"/>
          </a:xfrm>
          <a:prstGeom prst="ellipse">
            <a:avLst/>
          </a:prstGeom>
          <a:solidFill>
            <a:schemeClr val="accent5"/>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24" name="Oval 23">
            <a:extLst>
              <a:ext uri="{FF2B5EF4-FFF2-40B4-BE49-F238E27FC236}">
                <a16:creationId xmlns:a16="http://schemas.microsoft.com/office/drawing/2014/main" id="{E1FB245E-F6C3-12AA-94CF-FC92ABB64F18}"/>
              </a:ext>
            </a:extLst>
          </p:cNvPr>
          <p:cNvSpPr/>
          <p:nvPr/>
        </p:nvSpPr>
        <p:spPr bwMode="gray">
          <a:xfrm>
            <a:off x="7766547" y="4692467"/>
            <a:ext cx="124696" cy="124696"/>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25" name="Oval 24">
            <a:extLst>
              <a:ext uri="{FF2B5EF4-FFF2-40B4-BE49-F238E27FC236}">
                <a16:creationId xmlns:a16="http://schemas.microsoft.com/office/drawing/2014/main" id="{BD011F11-8B61-DEE6-92C6-3C6C5D80EE74}"/>
              </a:ext>
            </a:extLst>
          </p:cNvPr>
          <p:cNvSpPr/>
          <p:nvPr/>
        </p:nvSpPr>
        <p:spPr bwMode="gray">
          <a:xfrm>
            <a:off x="7766547" y="5050244"/>
            <a:ext cx="124696" cy="124696"/>
          </a:xfrm>
          <a:prstGeom prst="ellipse">
            <a:avLst/>
          </a:prstGeom>
          <a:solidFill>
            <a:schemeClr val="bg1">
              <a:lumMod val="65000"/>
            </a:schemeClr>
          </a:solidFill>
          <a:ln w="12700"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16" name="Isosceles Triangle 15">
            <a:extLst>
              <a:ext uri="{FF2B5EF4-FFF2-40B4-BE49-F238E27FC236}">
                <a16:creationId xmlns:a16="http://schemas.microsoft.com/office/drawing/2014/main" id="{56E0B4CC-23E2-3078-C255-BB2207568B4B}"/>
              </a:ext>
            </a:extLst>
          </p:cNvPr>
          <p:cNvSpPr/>
          <p:nvPr/>
        </p:nvSpPr>
        <p:spPr bwMode="gray">
          <a:xfrm rot="5400000">
            <a:off x="4581426" y="2747204"/>
            <a:ext cx="942308" cy="929193"/>
          </a:xfrm>
          <a:prstGeom prst="triangle">
            <a:avLst/>
          </a:prstGeom>
          <a:solidFill>
            <a:schemeClr val="accent4">
              <a:lumMod val="40000"/>
              <a:lumOff val="60000"/>
            </a:schemeClr>
          </a:solidFill>
          <a:ln w="28575" cap="flat" cmpd="sng" algn="ctr">
            <a:no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26" name="TextBox 25">
            <a:extLst>
              <a:ext uri="{FF2B5EF4-FFF2-40B4-BE49-F238E27FC236}">
                <a16:creationId xmlns:a16="http://schemas.microsoft.com/office/drawing/2014/main" id="{D912B843-20BB-0CF4-ECBF-9398010E0E53}"/>
              </a:ext>
            </a:extLst>
          </p:cNvPr>
          <p:cNvSpPr txBox="1"/>
          <p:nvPr/>
        </p:nvSpPr>
        <p:spPr bwMode="gray">
          <a:xfrm>
            <a:off x="4533129" y="2894472"/>
            <a:ext cx="817841" cy="645995"/>
          </a:xfrm>
          <a:prstGeom prst="rect">
            <a:avLst/>
          </a:prstGeom>
          <a:noFill/>
        </p:spPr>
        <p:txBody>
          <a:bodyPr wrap="square">
            <a:spAutoFit/>
          </a:bodyPr>
          <a:lstStyle/>
          <a:p>
            <a:pPr defTabSz="913852">
              <a:defRPr/>
            </a:pPr>
            <a:r>
              <a:rPr lang="en-US" sz="1000" b="1">
                <a:solidFill>
                  <a:srgbClr val="000000"/>
                </a:solidFill>
                <a:latin typeface="Arial" panose="020B0604020202020204"/>
              </a:rPr>
              <a:t>Highly </a:t>
            </a:r>
            <a:br>
              <a:rPr lang="en-US" sz="1000" b="1">
                <a:solidFill>
                  <a:srgbClr val="000000"/>
                </a:solidFill>
                <a:latin typeface="Arial" panose="020B0604020202020204"/>
              </a:rPr>
            </a:br>
            <a:r>
              <a:rPr lang="en-US" sz="1000" b="1">
                <a:solidFill>
                  <a:srgbClr val="000000"/>
                </a:solidFill>
                <a:latin typeface="Arial" panose="020B0604020202020204"/>
              </a:rPr>
              <a:t>Likely to </a:t>
            </a:r>
          </a:p>
          <a:p>
            <a:pPr defTabSz="913852">
              <a:defRPr/>
            </a:pPr>
            <a:r>
              <a:rPr lang="en-US" sz="1000" b="1">
                <a:solidFill>
                  <a:srgbClr val="000000"/>
                </a:solidFill>
                <a:latin typeface="Arial" panose="020B0604020202020204"/>
              </a:rPr>
              <a:t>Stock </a:t>
            </a:r>
          </a:p>
          <a:p>
            <a:pPr defTabSz="913852">
              <a:defRPr/>
            </a:pPr>
            <a:r>
              <a:rPr lang="en-US" sz="600">
                <a:solidFill>
                  <a:srgbClr val="000000"/>
                </a:solidFill>
                <a:latin typeface="Arial" panose="020B0604020202020204"/>
              </a:rPr>
              <a:t>(n=67)</a:t>
            </a:r>
            <a:endParaRPr lang="en-US" sz="500">
              <a:solidFill>
                <a:srgbClr val="000000"/>
              </a:solidFill>
              <a:latin typeface="Arial" panose="020B0604020202020204"/>
            </a:endParaRPr>
          </a:p>
        </p:txBody>
      </p:sp>
      <p:sp>
        <p:nvSpPr>
          <p:cNvPr id="27" name="Rectangle 26">
            <a:extLst>
              <a:ext uri="{FF2B5EF4-FFF2-40B4-BE49-F238E27FC236}">
                <a16:creationId xmlns:a16="http://schemas.microsoft.com/office/drawing/2014/main" id="{94CF8DA6-C101-4E72-03D9-2EED84855902}"/>
              </a:ext>
            </a:extLst>
          </p:cNvPr>
          <p:cNvSpPr/>
          <p:nvPr/>
        </p:nvSpPr>
        <p:spPr bwMode="gray">
          <a:xfrm>
            <a:off x="6245651" y="2760206"/>
            <a:ext cx="719811" cy="1738481"/>
          </a:xfrm>
          <a:prstGeom prst="rect">
            <a:avLst/>
          </a:prstGeom>
          <a:noFill/>
          <a:ln w="28575" cap="flat" cmpd="sng" algn="ctr">
            <a:solidFill>
              <a:schemeClr val="accent4"/>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28" name="Rectangle 27">
            <a:extLst>
              <a:ext uri="{FF2B5EF4-FFF2-40B4-BE49-F238E27FC236}">
                <a16:creationId xmlns:a16="http://schemas.microsoft.com/office/drawing/2014/main" id="{27AB73BE-8E1A-8919-2AFF-A86C4F46AF91}"/>
              </a:ext>
            </a:extLst>
          </p:cNvPr>
          <p:cNvSpPr/>
          <p:nvPr/>
        </p:nvSpPr>
        <p:spPr bwMode="gray">
          <a:xfrm>
            <a:off x="9482265" y="2797301"/>
            <a:ext cx="719811" cy="1804639"/>
          </a:xfrm>
          <a:prstGeom prst="rect">
            <a:avLst/>
          </a:prstGeom>
          <a:noFill/>
          <a:ln w="28575" cap="flat" cmpd="sng" algn="ctr">
            <a:solidFill>
              <a:schemeClr val="accent4"/>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defRPr/>
            </a:pPr>
            <a:endParaRPr lang="en-US" sz="1798" b="1">
              <a:solidFill>
                <a:srgbClr val="0000C9"/>
              </a:solidFill>
              <a:latin typeface="Arial" panose="020B0604020202020204"/>
            </a:endParaRPr>
          </a:p>
        </p:txBody>
      </p:sp>
      <p:sp>
        <p:nvSpPr>
          <p:cNvPr id="29" name="TextBox 28">
            <a:extLst>
              <a:ext uri="{FF2B5EF4-FFF2-40B4-BE49-F238E27FC236}">
                <a16:creationId xmlns:a16="http://schemas.microsoft.com/office/drawing/2014/main" id="{8F33EFA6-689B-C1A4-6617-8906098E67F6}"/>
              </a:ext>
            </a:extLst>
          </p:cNvPr>
          <p:cNvSpPr txBox="1"/>
          <p:nvPr/>
        </p:nvSpPr>
        <p:spPr bwMode="gray">
          <a:xfrm>
            <a:off x="5812268" y="3500226"/>
            <a:ext cx="398379" cy="258441"/>
          </a:xfrm>
          <a:prstGeom prst="rect">
            <a:avLst/>
          </a:prstGeom>
          <a:solidFill>
            <a:srgbClr val="F2F2F2"/>
          </a:solidFill>
        </p:spPr>
        <p:txBody>
          <a:bodyPr wrap="none" lIns="45696" tIns="45696" rIns="45696" bIns="45696" rtlCol="0">
            <a:spAutoFit/>
          </a:bodyPr>
          <a:lstStyle/>
          <a:p>
            <a:pPr defTabSz="913852">
              <a:lnSpc>
                <a:spcPct val="90000"/>
              </a:lnSpc>
              <a:spcBef>
                <a:spcPts val="1000"/>
              </a:spcBef>
              <a:defRPr/>
            </a:pPr>
            <a:r>
              <a:rPr lang="en-US" sz="1200" b="1">
                <a:solidFill>
                  <a:srgbClr val="67BB6E"/>
                </a:solidFill>
                <a:latin typeface="Arial" panose="020B0604020202020204"/>
              </a:rPr>
              <a:t>70%</a:t>
            </a:r>
          </a:p>
        </p:txBody>
      </p:sp>
      <p:sp>
        <p:nvSpPr>
          <p:cNvPr id="32" name="TextBox 31">
            <a:extLst>
              <a:ext uri="{FF2B5EF4-FFF2-40B4-BE49-F238E27FC236}">
                <a16:creationId xmlns:a16="http://schemas.microsoft.com/office/drawing/2014/main" id="{82A2A081-480F-13B6-6D40-FDB89FE44CAE}"/>
              </a:ext>
            </a:extLst>
          </p:cNvPr>
          <p:cNvSpPr txBox="1"/>
          <p:nvPr/>
        </p:nvSpPr>
        <p:spPr bwMode="gray">
          <a:xfrm>
            <a:off x="10238194" y="3570398"/>
            <a:ext cx="398379" cy="258441"/>
          </a:xfrm>
          <a:prstGeom prst="rect">
            <a:avLst/>
          </a:prstGeom>
          <a:solidFill>
            <a:srgbClr val="F2F2F2"/>
          </a:solidFill>
        </p:spPr>
        <p:txBody>
          <a:bodyPr wrap="none" lIns="45696" tIns="45696" rIns="45696" bIns="45696" rtlCol="0">
            <a:spAutoFit/>
          </a:bodyPr>
          <a:lstStyle/>
          <a:p>
            <a:pPr defTabSz="913852">
              <a:lnSpc>
                <a:spcPct val="90000"/>
              </a:lnSpc>
              <a:spcBef>
                <a:spcPts val="1000"/>
              </a:spcBef>
              <a:defRPr/>
            </a:pPr>
            <a:r>
              <a:rPr lang="en-US" sz="1200" b="1">
                <a:solidFill>
                  <a:srgbClr val="67BB6E"/>
                </a:solidFill>
                <a:latin typeface="Arial" panose="020B0604020202020204"/>
              </a:rPr>
              <a:t>73%</a:t>
            </a:r>
          </a:p>
        </p:txBody>
      </p:sp>
      <p:grpSp>
        <p:nvGrpSpPr>
          <p:cNvPr id="47" name="Group 46">
            <a:extLst>
              <a:ext uri="{FF2B5EF4-FFF2-40B4-BE49-F238E27FC236}">
                <a16:creationId xmlns:a16="http://schemas.microsoft.com/office/drawing/2014/main" id="{D397CFF9-A09A-5DD8-B4F6-64E8734ED0F4}"/>
              </a:ext>
            </a:extLst>
          </p:cNvPr>
          <p:cNvGrpSpPr/>
          <p:nvPr/>
        </p:nvGrpSpPr>
        <p:grpSpPr>
          <a:xfrm>
            <a:off x="1645041" y="2862137"/>
            <a:ext cx="1985886" cy="2115483"/>
            <a:chOff x="597388" y="2735426"/>
            <a:chExt cx="1986403" cy="2116034"/>
          </a:xfrm>
        </p:grpSpPr>
        <p:grpSp>
          <p:nvGrpSpPr>
            <p:cNvPr id="48" name="Group 47">
              <a:extLst>
                <a:ext uri="{FF2B5EF4-FFF2-40B4-BE49-F238E27FC236}">
                  <a16:creationId xmlns:a16="http://schemas.microsoft.com/office/drawing/2014/main" id="{138A6546-49CE-423D-5A01-62EC290381AF}"/>
                </a:ext>
              </a:extLst>
            </p:cNvPr>
            <p:cNvGrpSpPr/>
            <p:nvPr/>
          </p:nvGrpSpPr>
          <p:grpSpPr>
            <a:xfrm>
              <a:off x="597388" y="2735426"/>
              <a:ext cx="1986403" cy="286232"/>
              <a:chOff x="597388" y="3296603"/>
              <a:chExt cx="1986403" cy="286232"/>
            </a:xfrm>
          </p:grpSpPr>
          <p:sp>
            <p:nvSpPr>
              <p:cNvPr id="56" name="TextBox 55">
                <a:extLst>
                  <a:ext uri="{FF2B5EF4-FFF2-40B4-BE49-F238E27FC236}">
                    <a16:creationId xmlns:a16="http://schemas.microsoft.com/office/drawing/2014/main" id="{65B677C1-86DE-C220-ED23-67083D63C1BF}"/>
                  </a:ext>
                </a:extLst>
              </p:cNvPr>
              <p:cNvSpPr txBox="1"/>
              <p:nvPr/>
            </p:nvSpPr>
            <p:spPr bwMode="gray">
              <a:xfrm>
                <a:off x="849983" y="3296603"/>
                <a:ext cx="1733808" cy="286232"/>
              </a:xfrm>
              <a:prstGeom prst="rect">
                <a:avLst/>
              </a:prstGeom>
            </p:spPr>
            <p:txBody>
              <a:bodyPr wrap="none" lIns="45708" tIns="45708" rIns="45708" bIns="45708" rtlCol="0" anchor="ctr" anchorCtr="0">
                <a:spAutoFit/>
              </a:bodyPr>
              <a:lstStyle/>
              <a:p>
                <a:pPr>
                  <a:lnSpc>
                    <a:spcPct val="90000"/>
                  </a:lnSpc>
                </a:pPr>
                <a:r>
                  <a:rPr lang="en-US" sz="1400"/>
                  <a:t>High Likelihood (6,7)</a:t>
                </a:r>
              </a:p>
            </p:txBody>
          </p:sp>
          <p:sp>
            <p:nvSpPr>
              <p:cNvPr id="57" name="Oval 56">
                <a:extLst>
                  <a:ext uri="{FF2B5EF4-FFF2-40B4-BE49-F238E27FC236}">
                    <a16:creationId xmlns:a16="http://schemas.microsoft.com/office/drawing/2014/main" id="{E1777538-3949-D000-5B44-37477568B20A}"/>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49" name="Group 48">
              <a:extLst>
                <a:ext uri="{FF2B5EF4-FFF2-40B4-BE49-F238E27FC236}">
                  <a16:creationId xmlns:a16="http://schemas.microsoft.com/office/drawing/2014/main" id="{8CFAD02E-0804-A982-41A5-B29333B1F794}"/>
                </a:ext>
              </a:extLst>
            </p:cNvPr>
            <p:cNvGrpSpPr/>
            <p:nvPr/>
          </p:nvGrpSpPr>
          <p:grpSpPr>
            <a:xfrm>
              <a:off x="597388" y="3650327"/>
              <a:ext cx="1526342" cy="286232"/>
              <a:chOff x="597388" y="4244215"/>
              <a:chExt cx="1526342" cy="286232"/>
            </a:xfrm>
          </p:grpSpPr>
          <p:sp>
            <p:nvSpPr>
              <p:cNvPr id="54" name="Oval 53">
                <a:extLst>
                  <a:ext uri="{FF2B5EF4-FFF2-40B4-BE49-F238E27FC236}">
                    <a16:creationId xmlns:a16="http://schemas.microsoft.com/office/drawing/2014/main" id="{F766D058-AFD2-CEBA-41DB-D81266BED34F}"/>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55" name="TextBox 54">
                <a:extLst>
                  <a:ext uri="{FF2B5EF4-FFF2-40B4-BE49-F238E27FC236}">
                    <a16:creationId xmlns:a16="http://schemas.microsoft.com/office/drawing/2014/main" id="{9E009AE0-BECE-CC65-186A-87D0822C5045}"/>
                  </a:ext>
                </a:extLst>
              </p:cNvPr>
              <p:cNvSpPr txBox="1"/>
              <p:nvPr/>
            </p:nvSpPr>
            <p:spPr bwMode="gray">
              <a:xfrm>
                <a:off x="849983" y="4244215"/>
                <a:ext cx="1273747" cy="286232"/>
              </a:xfrm>
              <a:prstGeom prst="rect">
                <a:avLst/>
              </a:prstGeom>
            </p:spPr>
            <p:txBody>
              <a:bodyPr wrap="none" lIns="45708" tIns="45708" rIns="45708" bIns="45708" rtlCol="0" anchor="ctr" anchorCtr="0">
                <a:spAutoFit/>
              </a:bodyPr>
              <a:lstStyle/>
              <a:p>
                <a:pPr>
                  <a:lnSpc>
                    <a:spcPct val="90000"/>
                  </a:lnSpc>
                </a:pPr>
                <a:r>
                  <a:rPr lang="en-US" sz="1400"/>
                  <a:t>Moderate (3-5)</a:t>
                </a:r>
              </a:p>
            </p:txBody>
          </p:sp>
        </p:grpSp>
        <p:grpSp>
          <p:nvGrpSpPr>
            <p:cNvPr id="50" name="Group 49">
              <a:extLst>
                <a:ext uri="{FF2B5EF4-FFF2-40B4-BE49-F238E27FC236}">
                  <a16:creationId xmlns:a16="http://schemas.microsoft.com/office/drawing/2014/main" id="{728CEA8D-EC4F-329E-941A-793A4DA12050}"/>
                </a:ext>
              </a:extLst>
            </p:cNvPr>
            <p:cNvGrpSpPr/>
            <p:nvPr/>
          </p:nvGrpSpPr>
          <p:grpSpPr>
            <a:xfrm>
              <a:off x="597388" y="4565228"/>
              <a:ext cx="1946328" cy="286232"/>
              <a:chOff x="597388" y="4818147"/>
              <a:chExt cx="1946328" cy="286232"/>
            </a:xfrm>
          </p:grpSpPr>
          <p:sp>
            <p:nvSpPr>
              <p:cNvPr id="51" name="Oval 50">
                <a:extLst>
                  <a:ext uri="{FF2B5EF4-FFF2-40B4-BE49-F238E27FC236}">
                    <a16:creationId xmlns:a16="http://schemas.microsoft.com/office/drawing/2014/main" id="{65B5F2EC-7A6C-7892-8B0D-7A9D240FF470}"/>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53" name="TextBox 52">
                <a:extLst>
                  <a:ext uri="{FF2B5EF4-FFF2-40B4-BE49-F238E27FC236}">
                    <a16:creationId xmlns:a16="http://schemas.microsoft.com/office/drawing/2014/main" id="{AEC27EE7-F046-DD10-0E18-4B35712EFCBF}"/>
                  </a:ext>
                </a:extLst>
              </p:cNvPr>
              <p:cNvSpPr txBox="1"/>
              <p:nvPr/>
            </p:nvSpPr>
            <p:spPr bwMode="gray">
              <a:xfrm>
                <a:off x="849983" y="4818147"/>
                <a:ext cx="1693733" cy="286232"/>
              </a:xfrm>
              <a:prstGeom prst="rect">
                <a:avLst/>
              </a:prstGeom>
            </p:spPr>
            <p:txBody>
              <a:bodyPr wrap="none" lIns="45708" tIns="45708" rIns="45708" bIns="45708" rtlCol="0" anchor="ctr" anchorCtr="0">
                <a:spAutoFit/>
              </a:bodyPr>
              <a:lstStyle/>
              <a:p>
                <a:pPr>
                  <a:lnSpc>
                    <a:spcPct val="90000"/>
                  </a:lnSpc>
                </a:pPr>
                <a:r>
                  <a:rPr lang="en-US" sz="1400"/>
                  <a:t>Low Likelihood (1,2)</a:t>
                </a:r>
              </a:p>
            </p:txBody>
          </p:sp>
        </p:grpSp>
      </p:grpSp>
      <p:sp>
        <p:nvSpPr>
          <p:cNvPr id="3" name="Text Placeholder 2">
            <a:extLst>
              <a:ext uri="{FF2B5EF4-FFF2-40B4-BE49-F238E27FC236}">
                <a16:creationId xmlns:a16="http://schemas.microsoft.com/office/drawing/2014/main" id="{E20F078C-1063-9CF1-CFA9-2BBA7B5486D0}"/>
              </a:ext>
            </a:extLst>
          </p:cNvPr>
          <p:cNvSpPr txBox="1">
            <a:spLocks/>
          </p:cNvSpPr>
          <p:nvPr/>
        </p:nvSpPr>
        <p:spPr bwMode="gray">
          <a:xfrm flipV="1">
            <a:off x="4363558" y="4805584"/>
            <a:ext cx="122689"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664" indent="-285664" algn="ctr"/>
            <a:r>
              <a:rPr lang="en-US" altLang="en-US">
                <a:solidFill>
                  <a:schemeClr val="bg1"/>
                </a:solidFill>
                <a:cs typeface="Arial" panose="020B0604020202020204" pitchFamily="34" charset="0"/>
                <a:sym typeface="Symbol" pitchFamily="18" charset="2"/>
              </a:rPr>
              <a:t></a:t>
            </a:r>
            <a:endParaRPr lang="en-US">
              <a:solidFill>
                <a:schemeClr val="bg1"/>
              </a:solidFill>
            </a:endParaRPr>
          </a:p>
        </p:txBody>
      </p:sp>
      <p:sp>
        <p:nvSpPr>
          <p:cNvPr id="5" name="TextBox 4">
            <a:extLst>
              <a:ext uri="{FF2B5EF4-FFF2-40B4-BE49-F238E27FC236}">
                <a16:creationId xmlns:a16="http://schemas.microsoft.com/office/drawing/2014/main" id="{6F05B4CA-4EB5-B3C4-DCD3-06526AA6478F}"/>
              </a:ext>
            </a:extLst>
          </p:cNvPr>
          <p:cNvSpPr txBox="1"/>
          <p:nvPr/>
        </p:nvSpPr>
        <p:spPr bwMode="gray">
          <a:xfrm>
            <a:off x="1952878" y="4925958"/>
            <a:ext cx="725618" cy="304620"/>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a:lnSpc>
                <a:spcPct val="90000"/>
              </a:lnSpc>
            </a:pPr>
            <a:r>
              <a:rPr lang="en-US" sz="900">
                <a:solidFill>
                  <a:schemeClr val="tx1">
                    <a:lumMod val="50000"/>
                    <a:lumOff val="50000"/>
                  </a:schemeClr>
                </a:solidFill>
              </a:rPr>
              <a:t>29%</a:t>
            </a:r>
            <a:r>
              <a:rPr lang="en-US" altLang="en-US" sz="900">
                <a:solidFill>
                  <a:srgbClr val="FF0000"/>
                </a:solidFill>
                <a:cs typeface="Arial" panose="020B0604020202020204" pitchFamily="34" charset="0"/>
                <a:sym typeface="Symbol" pitchFamily="18" charset="2"/>
              </a:rPr>
              <a:t></a:t>
            </a:r>
            <a:r>
              <a:rPr lang="en-US" sz="900">
                <a:solidFill>
                  <a:schemeClr val="tx1">
                    <a:lumMod val="50000"/>
                    <a:lumOff val="50000"/>
                  </a:schemeClr>
                </a:solidFill>
              </a:rPr>
              <a:t> PED &gt;  </a:t>
            </a:r>
          </a:p>
          <a:p>
            <a:pPr>
              <a:lnSpc>
                <a:spcPct val="90000"/>
              </a:lnSpc>
            </a:pPr>
            <a:r>
              <a:rPr lang="en-US" sz="900">
                <a:solidFill>
                  <a:schemeClr val="tx1">
                    <a:lumMod val="50000"/>
                    <a:lumOff val="50000"/>
                  </a:schemeClr>
                </a:solidFill>
              </a:rPr>
              <a:t>  5%   PCP</a:t>
            </a:r>
          </a:p>
        </p:txBody>
      </p:sp>
      <p:sp>
        <p:nvSpPr>
          <p:cNvPr id="9" name="TextBox 8">
            <a:extLst>
              <a:ext uri="{FF2B5EF4-FFF2-40B4-BE49-F238E27FC236}">
                <a16:creationId xmlns:a16="http://schemas.microsoft.com/office/drawing/2014/main" id="{539A254C-1C25-0316-3664-8C2B4397C364}"/>
              </a:ext>
            </a:extLst>
          </p:cNvPr>
          <p:cNvSpPr txBox="1"/>
          <p:nvPr/>
        </p:nvSpPr>
        <p:spPr bwMode="gray">
          <a:xfrm>
            <a:off x="1947743" y="4021668"/>
            <a:ext cx="733915" cy="429334"/>
          </a:xfrm>
          <a:prstGeom prst="rect">
            <a:avLst/>
          </a:prstGeom>
          <a:no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34%</a:t>
            </a:r>
            <a:r>
              <a:rPr lang="en-US" altLang="en-US" sz="9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a:solidFill>
                  <a:srgbClr val="000000">
                    <a:lumMod val="50000"/>
                    <a:lumOff val="50000"/>
                  </a:srgbClr>
                </a:solidFill>
                <a:latin typeface="Arial" panose="020B0604020202020204"/>
              </a:rPr>
              <a:t>60%</a:t>
            </a:r>
            <a:r>
              <a:rPr lang="en-US" sz="900" baseline="50000">
                <a:solidFill>
                  <a:srgbClr val="000000">
                    <a:lumMod val="50000"/>
                    <a:lumOff val="50000"/>
                  </a:srgbClr>
                </a:solidFill>
              </a:rPr>
              <a:t>1</a:t>
            </a:r>
            <a:r>
              <a:rPr lang="en-US" altLang="en-US" sz="900">
                <a:solidFill>
                  <a:srgbClr val="FF0000"/>
                </a:solidFill>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Tier 2 </a:t>
            </a:r>
          </a:p>
          <a:p>
            <a:pPr marL="400050" lvl="0" indent="-400050" defTabSz="914126">
              <a:lnSpc>
                <a:spcPct val="90000"/>
              </a:lnSpc>
              <a:defRPr/>
            </a:pPr>
            <a:r>
              <a:rPr lang="en-US" sz="900">
                <a:solidFill>
                  <a:srgbClr val="000000">
                    <a:lumMod val="50000"/>
                    <a:lumOff val="50000"/>
                  </a:srgbClr>
                </a:solidFill>
                <a:latin typeface="Arial" panose="020B0604020202020204"/>
              </a:rPr>
              <a:t>55%</a:t>
            </a:r>
            <a:r>
              <a:rPr lang="en-US" sz="900" baseline="50000">
                <a:solidFill>
                  <a:srgbClr val="000000">
                    <a:lumMod val="50000"/>
                    <a:lumOff val="50000"/>
                  </a:srgbClr>
                </a:solidFill>
              </a:rPr>
              <a:t>1</a:t>
            </a:r>
            <a:r>
              <a:rPr lang="en-US" sz="9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80817C94-CFA6-14AF-3351-615793FCFF94}"/>
              </a:ext>
            </a:extLst>
          </p:cNvPr>
          <p:cNvSpPr txBox="1"/>
          <p:nvPr/>
        </p:nvSpPr>
        <p:spPr bwMode="gray">
          <a:xfrm>
            <a:off x="2741620" y="4925958"/>
            <a:ext cx="733915" cy="429334"/>
          </a:xfrm>
          <a:prstGeom prst="rect">
            <a:avLst/>
          </a:prstGeom>
          <a:no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29%</a:t>
            </a:r>
            <a:r>
              <a:rPr lang="en-US" sz="900" baseline="40000">
                <a:solidFill>
                  <a:srgbClr val="000000">
                    <a:lumMod val="50000"/>
                    <a:lumOff val="50000"/>
                  </a:srgbClr>
                </a:solidFill>
              </a:rPr>
              <a:t>2</a:t>
            </a:r>
            <a:r>
              <a:rPr lang="en-US" altLang="en-US" sz="9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a:solidFill>
                  <a:srgbClr val="000000">
                    <a:lumMod val="50000"/>
                    <a:lumOff val="50000"/>
                  </a:srgbClr>
                </a:solidFill>
                <a:latin typeface="Arial" panose="020B0604020202020204"/>
              </a:rPr>
              <a:t>15%	Tier 2 </a:t>
            </a:r>
          </a:p>
          <a:p>
            <a:pPr marL="400050" lvl="0" indent="-400050" defTabSz="914126">
              <a:lnSpc>
                <a:spcPct val="90000"/>
              </a:lnSpc>
              <a:defRPr/>
            </a:pPr>
            <a:r>
              <a:rPr lang="en-US" sz="900">
                <a:solidFill>
                  <a:srgbClr val="000000">
                    <a:lumMod val="50000"/>
                    <a:lumOff val="50000"/>
                  </a:srgbClr>
                </a:solidFill>
                <a:latin typeface="Arial" panose="020B0604020202020204"/>
              </a:rPr>
              <a:t>17%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4308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ABB8E-1D00-7B4D-89A0-3374CFA69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06478-7F3A-2D6F-F53D-22DA3E152D2D}"/>
              </a:ext>
            </a:extLst>
          </p:cNvPr>
          <p:cNvSpPr>
            <a:spLocks noGrp="1"/>
          </p:cNvSpPr>
          <p:nvPr>
            <p:ph type="title"/>
          </p:nvPr>
        </p:nvSpPr>
        <p:spPr/>
        <p:txBody>
          <a:bodyPr/>
          <a:lstStyle/>
          <a:p>
            <a:r>
              <a:rPr lang="en-US"/>
              <a:t>Just over a third of HCPs are highly likely to recommend Penmenvy </a:t>
            </a:r>
            <a:r>
              <a:rPr lang="en-US" i="1"/>
              <a:t>given one fewer shot in the meningococcal Vx. series</a:t>
            </a:r>
            <a:r>
              <a:rPr lang="en-US"/>
              <a:t>; PEDs are significantly less likely to recommend Penmenvy due to </a:t>
            </a:r>
            <a:r>
              <a:rPr lang="en-US" i="1"/>
              <a:t>stocking barriers</a:t>
            </a:r>
            <a:r>
              <a:rPr lang="en-US"/>
              <a:t>, </a:t>
            </a:r>
            <a:r>
              <a:rPr lang="en-US" i="1"/>
              <a:t>not wanting to change practice </a:t>
            </a:r>
            <a:r>
              <a:rPr lang="en-US"/>
              <a:t>and the </a:t>
            </a:r>
            <a:r>
              <a:rPr lang="en-US" i="1"/>
              <a:t>Vx. being too new</a:t>
            </a:r>
          </a:p>
        </p:txBody>
      </p:sp>
      <p:sp>
        <p:nvSpPr>
          <p:cNvPr id="51" name="Text Placeholder 11">
            <a:extLst>
              <a:ext uri="{FF2B5EF4-FFF2-40B4-BE49-F238E27FC236}">
                <a16:creationId xmlns:a16="http://schemas.microsoft.com/office/drawing/2014/main" id="{229D3CA6-5900-EDD9-F3C1-4A76A6DA4C77}"/>
              </a:ext>
            </a:extLst>
          </p:cNvPr>
          <p:cNvSpPr>
            <a:spLocks noGrp="1"/>
          </p:cNvSpPr>
          <p:nvPr>
            <p:ph type="body" sz="quarter" idx="16"/>
          </p:nvPr>
        </p:nvSpPr>
        <p:spPr>
          <a:xfrm>
            <a:off x="1572803" y="6277502"/>
            <a:ext cx="9975047" cy="605294"/>
          </a:xfrm>
        </p:spPr>
        <p:txBody>
          <a:bodyPr/>
          <a:lstStyle/>
          <a:p>
            <a:pPr marL="228531" indent="-228531"/>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unbranded (Vaccine X) perceptions in the prior wave </a:t>
            </a:r>
          </a:p>
          <a:p>
            <a:pPr marL="228600" indent="-228600"/>
            <a:r>
              <a:rPr lang="en-US"/>
              <a:t>X4.	How likely are you to recommend Penmenvy (GSK’s 5-in-1 pentavalent vaccine for </a:t>
            </a:r>
            <a:r>
              <a:rPr lang="en-US" err="1"/>
              <a:t>MenABCWY</a:t>
            </a:r>
            <a:r>
              <a:rPr lang="en-US"/>
              <a:t>) for your 16-18 year old  patients?</a:t>
            </a:r>
            <a:br>
              <a:rPr lang="en-US"/>
            </a:br>
            <a:r>
              <a:rPr lang="en-US"/>
              <a:t>(7-pt scale: 1=Not at all likely, 7=Extremely likely)</a:t>
            </a:r>
          </a:p>
          <a:p>
            <a:pPr marL="228600" indent="-228600"/>
            <a:r>
              <a:rPr lang="en-US"/>
              <a:t>X5. 	Why are you [highly likely / not highly likely] to recommend Penmenvy (GSK’s 5-in-1 pentavalent vaccine for </a:t>
            </a:r>
            <a:r>
              <a:rPr lang="en-US" err="1"/>
              <a:t>MenABCWY</a:t>
            </a:r>
            <a:r>
              <a:rPr lang="en-US"/>
              <a:t>) for your 16-18 year old patients? </a:t>
            </a:r>
          </a:p>
        </p:txBody>
      </p:sp>
      <p:sp>
        <p:nvSpPr>
          <p:cNvPr id="21" name="Rectangle: Rounded Corners 20">
            <a:extLst>
              <a:ext uri="{FF2B5EF4-FFF2-40B4-BE49-F238E27FC236}">
                <a16:creationId xmlns:a16="http://schemas.microsoft.com/office/drawing/2014/main" id="{6BA61797-1165-674A-F1C4-AB6E009849BA}"/>
              </a:ext>
            </a:extLst>
          </p:cNvPr>
          <p:cNvSpPr/>
          <p:nvPr/>
        </p:nvSpPr>
        <p:spPr bwMode="gray">
          <a:xfrm>
            <a:off x="245927" y="1320252"/>
            <a:ext cx="11698207" cy="4727448"/>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799" b="1">
              <a:solidFill>
                <a:schemeClr val="accent1"/>
              </a:solidFill>
              <a:latin typeface="+mj-lt"/>
            </a:endParaRPr>
          </a:p>
        </p:txBody>
      </p:sp>
      <p:sp>
        <p:nvSpPr>
          <p:cNvPr id="65" name="TextBox 64">
            <a:extLst>
              <a:ext uri="{FF2B5EF4-FFF2-40B4-BE49-F238E27FC236}">
                <a16:creationId xmlns:a16="http://schemas.microsoft.com/office/drawing/2014/main" id="{06E7894C-049E-FC84-2B67-4900DF3C8EA2}"/>
              </a:ext>
            </a:extLst>
          </p:cNvPr>
          <p:cNvSpPr txBox="1"/>
          <p:nvPr/>
        </p:nvSpPr>
        <p:spPr bwMode="gray">
          <a:xfrm>
            <a:off x="280669" y="1087132"/>
            <a:ext cx="825694" cy="338378"/>
          </a:xfrm>
          <a:prstGeom prst="rect">
            <a:avLst/>
          </a:prstGeom>
          <a:noFill/>
        </p:spPr>
        <p:txBody>
          <a:bodyPr wrap="none">
            <a:spAutoFit/>
          </a:bodyPr>
          <a:lstStyle/>
          <a:p>
            <a:r>
              <a:rPr lang="en-US" sz="1600">
                <a:solidFill>
                  <a:srgbClr val="000000"/>
                </a:solidFill>
                <a:latin typeface="Arial" panose="020B0604020202020204"/>
              </a:rPr>
              <a:t>TOTAL</a:t>
            </a:r>
          </a:p>
        </p:txBody>
      </p:sp>
      <p:grpSp>
        <p:nvGrpSpPr>
          <p:cNvPr id="47" name="Group 46">
            <a:extLst>
              <a:ext uri="{FF2B5EF4-FFF2-40B4-BE49-F238E27FC236}">
                <a16:creationId xmlns:a16="http://schemas.microsoft.com/office/drawing/2014/main" id="{987B2F48-C087-093A-5B34-77BA216C38A4}"/>
              </a:ext>
            </a:extLst>
          </p:cNvPr>
          <p:cNvGrpSpPr/>
          <p:nvPr/>
        </p:nvGrpSpPr>
        <p:grpSpPr>
          <a:xfrm>
            <a:off x="356101" y="1377755"/>
            <a:ext cx="925412" cy="806329"/>
            <a:chOff x="1668641" y="1600319"/>
            <a:chExt cx="925894" cy="806749"/>
          </a:xfrm>
        </p:grpSpPr>
        <p:cxnSp>
          <p:nvCxnSpPr>
            <p:cNvPr id="48" name="Straight Connector 47">
              <a:extLst>
                <a:ext uri="{FF2B5EF4-FFF2-40B4-BE49-F238E27FC236}">
                  <a16:creationId xmlns:a16="http://schemas.microsoft.com/office/drawing/2014/main" id="{97041B3C-6E3C-8F9E-3F9E-9B2ECAEB47E5}"/>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49" name="TextBox 48">
              <a:extLst>
                <a:ext uri="{FF2B5EF4-FFF2-40B4-BE49-F238E27FC236}">
                  <a16:creationId xmlns:a16="http://schemas.microsoft.com/office/drawing/2014/main" id="{E79D0AC6-14C0-B7D7-2488-084837AE6395}"/>
                </a:ext>
              </a:extLst>
            </p:cNvPr>
            <p:cNvSpPr txBox="1"/>
            <p:nvPr/>
          </p:nvSpPr>
          <p:spPr bwMode="gray">
            <a:xfrm>
              <a:off x="1686341" y="1600319"/>
              <a:ext cx="650178" cy="286232"/>
            </a:xfrm>
            <a:prstGeom prst="rect">
              <a:avLst/>
            </a:prstGeom>
          </p:spPr>
          <p:txBody>
            <a:bodyPr wrap="none" lIns="45696" tIns="45696" rIns="45696" bIns="45696" rtlCol="0">
              <a:spAutoFit/>
            </a:bodyPr>
            <a:lstStyle/>
            <a:p>
              <a:pPr algn="ctr">
                <a:lnSpc>
                  <a:spcPct val="90000"/>
                </a:lnSpc>
                <a:spcBef>
                  <a:spcPts val="1000"/>
                </a:spcBef>
                <a:defRPr/>
              </a:pPr>
              <a:r>
                <a:rPr lang="en-US" sz="1400">
                  <a:solidFill>
                    <a:srgbClr val="000000"/>
                  </a:solidFill>
                  <a:latin typeface="Arial" panose="020B0604020202020204"/>
                </a:rPr>
                <a:t>Sep’25</a:t>
              </a:r>
            </a:p>
          </p:txBody>
        </p:sp>
        <p:sp>
          <p:nvSpPr>
            <p:cNvPr id="50" name="TextBox 49">
              <a:extLst>
                <a:ext uri="{FF2B5EF4-FFF2-40B4-BE49-F238E27FC236}">
                  <a16:creationId xmlns:a16="http://schemas.microsoft.com/office/drawing/2014/main" id="{84113087-904A-D9AF-B395-4F00861A5EC7}"/>
                </a:ext>
              </a:extLst>
            </p:cNvPr>
            <p:cNvSpPr txBox="1"/>
            <p:nvPr/>
          </p:nvSpPr>
          <p:spPr bwMode="gray">
            <a:xfrm>
              <a:off x="1668641" y="1940787"/>
              <a:ext cx="925894" cy="466281"/>
            </a:xfrm>
            <a:prstGeom prst="rect">
              <a:avLst/>
            </a:prstGeom>
          </p:spPr>
          <p:txBody>
            <a:bodyPr wrap="none" lIns="45696" tIns="45696" rIns="45696" bIns="45696" rtlCol="0">
              <a:spAutoFit/>
            </a:bodyPr>
            <a:lstStyle/>
            <a:p>
              <a:pPr>
                <a:lnSpc>
                  <a:spcPct val="90000"/>
                </a:lnSpc>
                <a:spcBef>
                  <a:spcPts val="1000"/>
                </a:spcBef>
                <a:tabLst>
                  <a:tab pos="456926" algn="l"/>
                </a:tabLst>
                <a:defRPr/>
              </a:pPr>
              <a:r>
                <a:rPr lang="en-US" sz="900">
                  <a:solidFill>
                    <a:srgbClr val="FFFFFF">
                      <a:lumMod val="50000"/>
                    </a:srgbClr>
                  </a:solidFill>
                  <a:latin typeface="Arial" panose="020B0604020202020204"/>
                </a:rPr>
                <a:t>(n=200)	TOTAL</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(n=160)	PED</a:t>
              </a:r>
              <a:br>
                <a:rPr lang="en-US" sz="1400">
                  <a:solidFill>
                    <a:srgbClr val="FFFFFF">
                      <a:lumMod val="50000"/>
                    </a:srgbClr>
                  </a:solidFill>
                  <a:latin typeface="Arial" panose="020B0604020202020204"/>
                </a:rPr>
              </a:br>
              <a:r>
                <a:rPr lang="en-US" sz="900">
                  <a:solidFill>
                    <a:srgbClr val="FFFFFF">
                      <a:lumMod val="50000"/>
                    </a:srgbClr>
                  </a:solidFill>
                  <a:latin typeface="Arial" panose="020B0604020202020204"/>
                </a:rPr>
                <a:t>(n=40)	PCP</a:t>
              </a:r>
            </a:p>
          </p:txBody>
        </p:sp>
      </p:grpSp>
      <p:grpSp>
        <p:nvGrpSpPr>
          <p:cNvPr id="59" name="Group 58">
            <a:extLst>
              <a:ext uri="{FF2B5EF4-FFF2-40B4-BE49-F238E27FC236}">
                <a16:creationId xmlns:a16="http://schemas.microsoft.com/office/drawing/2014/main" id="{AF7C795A-D772-ACCD-E35F-011681DE894B}"/>
              </a:ext>
            </a:extLst>
          </p:cNvPr>
          <p:cNvGrpSpPr/>
          <p:nvPr/>
        </p:nvGrpSpPr>
        <p:grpSpPr>
          <a:xfrm>
            <a:off x="5536926" y="2016336"/>
            <a:ext cx="420624" cy="420624"/>
            <a:chOff x="1119929" y="943834"/>
            <a:chExt cx="846331" cy="784203"/>
          </a:xfrm>
        </p:grpSpPr>
        <p:pic>
          <p:nvPicPr>
            <p:cNvPr id="60" name="Picture 6" descr="143,700+ Mouth Icon Illustrations, Royalty-Free Vector Graphics &amp; Clip Art  - iStock | Open mouth icon, Word of mouth icon, Cover mouth icon">
              <a:extLst>
                <a:ext uri="{FF2B5EF4-FFF2-40B4-BE49-F238E27FC236}">
                  <a16:creationId xmlns:a16="http://schemas.microsoft.com/office/drawing/2014/main" id="{0BC5AE74-06BC-6712-FB8C-DC955EE1E084}"/>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61" name="Rectangle: Rounded Corners 60">
              <a:extLst>
                <a:ext uri="{FF2B5EF4-FFF2-40B4-BE49-F238E27FC236}">
                  <a16:creationId xmlns:a16="http://schemas.microsoft.com/office/drawing/2014/main" id="{7F64D040-7F17-A826-4295-0FADE0595569}"/>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800" b="1" i="0" u="none" strike="noStrike" kern="1200" cap="none" spc="0" normalizeH="0" baseline="0" noProof="0">
                <a:ln>
                  <a:noFill/>
                </a:ln>
                <a:solidFill>
                  <a:srgbClr val="0000C9"/>
                </a:solidFill>
                <a:effectLst/>
                <a:uLnTx/>
                <a:uFillTx/>
                <a:latin typeface="Arial" panose="020B0604020202020204"/>
                <a:ea typeface="+mn-ea"/>
                <a:cs typeface="+mn-cs"/>
              </a:endParaRPr>
            </a:p>
          </p:txBody>
        </p:sp>
      </p:grpSp>
      <p:sp>
        <p:nvSpPr>
          <p:cNvPr id="69" name="TextBox 68">
            <a:extLst>
              <a:ext uri="{FF2B5EF4-FFF2-40B4-BE49-F238E27FC236}">
                <a16:creationId xmlns:a16="http://schemas.microsoft.com/office/drawing/2014/main" id="{8206E2F5-5157-EEDB-0332-4D637909D937}"/>
              </a:ext>
            </a:extLst>
          </p:cNvPr>
          <p:cNvSpPr txBox="1"/>
          <p:nvPr/>
        </p:nvSpPr>
        <p:spPr bwMode="gray">
          <a:xfrm>
            <a:off x="3996428" y="1512132"/>
            <a:ext cx="4195972" cy="341455"/>
          </a:xfrm>
          <a:prstGeom prst="rect">
            <a:avLst/>
          </a:prstGeom>
        </p:spPr>
        <p:txBody>
          <a:bodyPr wrap="none" lIns="45696" tIns="45696" rIns="45696" bIns="45696" rtlCol="0">
            <a:spAutoFit/>
          </a:bodyPr>
          <a:lstStyle/>
          <a:p>
            <a:pPr algn="ctr">
              <a:lnSpc>
                <a:spcPct val="90000"/>
              </a:lnSpc>
              <a:spcBef>
                <a:spcPts val="1000"/>
              </a:spcBef>
            </a:pPr>
            <a:r>
              <a:rPr lang="en-US" sz="1799" b="1">
                <a:solidFill>
                  <a:schemeClr val="accent1"/>
                </a:solidFill>
              </a:rPr>
              <a:t>Likelihood to Recommend Penmenvy</a:t>
            </a:r>
          </a:p>
        </p:txBody>
      </p:sp>
      <p:graphicFrame>
        <p:nvGraphicFramePr>
          <p:cNvPr id="83" name="Chart 82">
            <a:extLst>
              <a:ext uri="{FF2B5EF4-FFF2-40B4-BE49-F238E27FC236}">
                <a16:creationId xmlns:a16="http://schemas.microsoft.com/office/drawing/2014/main" id="{A7E4D887-8BB2-FA4F-BE46-4CC23EF67D61}"/>
              </a:ext>
            </a:extLst>
          </p:cNvPr>
          <p:cNvGraphicFramePr/>
          <p:nvPr>
            <p:extLst>
              <p:ext uri="{D42A27DB-BD31-4B8C-83A1-F6EECF244321}">
                <p14:modId xmlns:p14="http://schemas.microsoft.com/office/powerpoint/2010/main" val="2095760767"/>
              </p:ext>
            </p:extLst>
          </p:nvPr>
        </p:nvGraphicFramePr>
        <p:xfrm>
          <a:off x="1989636" y="2452556"/>
          <a:ext cx="1945459" cy="3077678"/>
        </p:xfrm>
        <a:graphic>
          <a:graphicData uri="http://schemas.openxmlformats.org/drawingml/2006/chart">
            <c:chart xmlns:c="http://schemas.openxmlformats.org/drawingml/2006/chart" xmlns:r="http://schemas.openxmlformats.org/officeDocument/2006/relationships" r:id="rId3"/>
          </a:graphicData>
        </a:graphic>
      </p:graphicFrame>
      <p:grpSp>
        <p:nvGrpSpPr>
          <p:cNvPr id="84" name="Group 83">
            <a:extLst>
              <a:ext uri="{FF2B5EF4-FFF2-40B4-BE49-F238E27FC236}">
                <a16:creationId xmlns:a16="http://schemas.microsoft.com/office/drawing/2014/main" id="{87CE93F3-7977-B33B-F038-28BB5A8D4E4F}"/>
              </a:ext>
            </a:extLst>
          </p:cNvPr>
          <p:cNvGrpSpPr/>
          <p:nvPr/>
        </p:nvGrpSpPr>
        <p:grpSpPr>
          <a:xfrm>
            <a:off x="614120" y="2746435"/>
            <a:ext cx="1985886" cy="2115483"/>
            <a:chOff x="597388" y="2735426"/>
            <a:chExt cx="1986403" cy="2116034"/>
          </a:xfrm>
        </p:grpSpPr>
        <p:grpSp>
          <p:nvGrpSpPr>
            <p:cNvPr id="85" name="Group 84">
              <a:extLst>
                <a:ext uri="{FF2B5EF4-FFF2-40B4-BE49-F238E27FC236}">
                  <a16:creationId xmlns:a16="http://schemas.microsoft.com/office/drawing/2014/main" id="{D5DDD6C2-C696-1AF7-ACAA-D35440D4C44D}"/>
                </a:ext>
              </a:extLst>
            </p:cNvPr>
            <p:cNvGrpSpPr/>
            <p:nvPr/>
          </p:nvGrpSpPr>
          <p:grpSpPr>
            <a:xfrm>
              <a:off x="597388" y="2735426"/>
              <a:ext cx="1986403" cy="286232"/>
              <a:chOff x="597388" y="3296603"/>
              <a:chExt cx="1986403" cy="286232"/>
            </a:xfrm>
          </p:grpSpPr>
          <p:sp>
            <p:nvSpPr>
              <p:cNvPr id="92" name="TextBox 91">
                <a:extLst>
                  <a:ext uri="{FF2B5EF4-FFF2-40B4-BE49-F238E27FC236}">
                    <a16:creationId xmlns:a16="http://schemas.microsoft.com/office/drawing/2014/main" id="{2C15BE47-F926-2A22-751E-5A833810F38B}"/>
                  </a:ext>
                </a:extLst>
              </p:cNvPr>
              <p:cNvSpPr txBox="1"/>
              <p:nvPr/>
            </p:nvSpPr>
            <p:spPr bwMode="gray">
              <a:xfrm>
                <a:off x="849983" y="3296603"/>
                <a:ext cx="1733808" cy="286232"/>
              </a:xfrm>
              <a:prstGeom prst="rect">
                <a:avLst/>
              </a:prstGeom>
            </p:spPr>
            <p:txBody>
              <a:bodyPr wrap="none" lIns="45708" tIns="45708" rIns="45708" bIns="45708" rtlCol="0" anchor="ctr" anchorCtr="0">
                <a:spAutoFit/>
              </a:bodyPr>
              <a:lstStyle/>
              <a:p>
                <a:pPr>
                  <a:lnSpc>
                    <a:spcPct val="90000"/>
                  </a:lnSpc>
                </a:pPr>
                <a:r>
                  <a:rPr lang="en-US" sz="1400"/>
                  <a:t>High Likelihood (6,7)</a:t>
                </a:r>
              </a:p>
            </p:txBody>
          </p:sp>
          <p:sp>
            <p:nvSpPr>
              <p:cNvPr id="93" name="Oval 92">
                <a:extLst>
                  <a:ext uri="{FF2B5EF4-FFF2-40B4-BE49-F238E27FC236}">
                    <a16:creationId xmlns:a16="http://schemas.microsoft.com/office/drawing/2014/main" id="{900FE6CD-10DE-BAC5-9287-683A4357509F}"/>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nvGrpSpPr>
            <p:cNvPr id="86" name="Group 85">
              <a:extLst>
                <a:ext uri="{FF2B5EF4-FFF2-40B4-BE49-F238E27FC236}">
                  <a16:creationId xmlns:a16="http://schemas.microsoft.com/office/drawing/2014/main" id="{766232D8-80D4-4BE7-A455-3E361ED6419C}"/>
                </a:ext>
              </a:extLst>
            </p:cNvPr>
            <p:cNvGrpSpPr/>
            <p:nvPr/>
          </p:nvGrpSpPr>
          <p:grpSpPr>
            <a:xfrm>
              <a:off x="597388" y="3650327"/>
              <a:ext cx="1526342" cy="286232"/>
              <a:chOff x="597388" y="4244215"/>
              <a:chExt cx="1526342" cy="286232"/>
            </a:xfrm>
          </p:grpSpPr>
          <p:sp>
            <p:nvSpPr>
              <p:cNvPr id="90" name="Oval 89">
                <a:extLst>
                  <a:ext uri="{FF2B5EF4-FFF2-40B4-BE49-F238E27FC236}">
                    <a16:creationId xmlns:a16="http://schemas.microsoft.com/office/drawing/2014/main" id="{3FD4B679-CF6D-6922-E228-06C5F1944758}"/>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91" name="TextBox 90">
                <a:extLst>
                  <a:ext uri="{FF2B5EF4-FFF2-40B4-BE49-F238E27FC236}">
                    <a16:creationId xmlns:a16="http://schemas.microsoft.com/office/drawing/2014/main" id="{CEF1ADAB-9115-BFA2-924B-0E1F6FF67113}"/>
                  </a:ext>
                </a:extLst>
              </p:cNvPr>
              <p:cNvSpPr txBox="1"/>
              <p:nvPr/>
            </p:nvSpPr>
            <p:spPr bwMode="gray">
              <a:xfrm>
                <a:off x="849983" y="4244215"/>
                <a:ext cx="1273747" cy="286232"/>
              </a:xfrm>
              <a:prstGeom prst="rect">
                <a:avLst/>
              </a:prstGeom>
            </p:spPr>
            <p:txBody>
              <a:bodyPr wrap="none" lIns="45708" tIns="45708" rIns="45708" bIns="45708" rtlCol="0" anchor="ctr" anchorCtr="0">
                <a:spAutoFit/>
              </a:bodyPr>
              <a:lstStyle/>
              <a:p>
                <a:pPr>
                  <a:lnSpc>
                    <a:spcPct val="90000"/>
                  </a:lnSpc>
                </a:pPr>
                <a:r>
                  <a:rPr lang="en-US" sz="1400"/>
                  <a:t>Moderate (3-5)</a:t>
                </a:r>
              </a:p>
            </p:txBody>
          </p:sp>
        </p:grpSp>
        <p:grpSp>
          <p:nvGrpSpPr>
            <p:cNvPr id="87" name="Group 86">
              <a:extLst>
                <a:ext uri="{FF2B5EF4-FFF2-40B4-BE49-F238E27FC236}">
                  <a16:creationId xmlns:a16="http://schemas.microsoft.com/office/drawing/2014/main" id="{73DCB189-A0AE-AAC2-F537-8F53400B340D}"/>
                </a:ext>
              </a:extLst>
            </p:cNvPr>
            <p:cNvGrpSpPr/>
            <p:nvPr/>
          </p:nvGrpSpPr>
          <p:grpSpPr>
            <a:xfrm>
              <a:off x="597388" y="4565228"/>
              <a:ext cx="1946328" cy="286232"/>
              <a:chOff x="597388" y="4818147"/>
              <a:chExt cx="1946328" cy="286232"/>
            </a:xfrm>
          </p:grpSpPr>
          <p:sp>
            <p:nvSpPr>
              <p:cNvPr id="88" name="Oval 87">
                <a:extLst>
                  <a:ext uri="{FF2B5EF4-FFF2-40B4-BE49-F238E27FC236}">
                    <a16:creationId xmlns:a16="http://schemas.microsoft.com/office/drawing/2014/main" id="{7361EF66-04CC-0883-ED82-A3B11BA99796}"/>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89" name="TextBox 88">
                <a:extLst>
                  <a:ext uri="{FF2B5EF4-FFF2-40B4-BE49-F238E27FC236}">
                    <a16:creationId xmlns:a16="http://schemas.microsoft.com/office/drawing/2014/main" id="{971B4E28-7F81-9F06-2C05-87165C441F88}"/>
                  </a:ext>
                </a:extLst>
              </p:cNvPr>
              <p:cNvSpPr txBox="1"/>
              <p:nvPr/>
            </p:nvSpPr>
            <p:spPr bwMode="gray">
              <a:xfrm>
                <a:off x="849983" y="4818147"/>
                <a:ext cx="1693733" cy="286232"/>
              </a:xfrm>
              <a:prstGeom prst="rect">
                <a:avLst/>
              </a:prstGeom>
            </p:spPr>
            <p:txBody>
              <a:bodyPr wrap="none" lIns="45708" tIns="45708" rIns="45708" bIns="45708" rtlCol="0" anchor="ctr" anchorCtr="0">
                <a:spAutoFit/>
              </a:bodyPr>
              <a:lstStyle/>
              <a:p>
                <a:pPr>
                  <a:lnSpc>
                    <a:spcPct val="90000"/>
                  </a:lnSpc>
                </a:pPr>
                <a:r>
                  <a:rPr lang="en-US" sz="1400"/>
                  <a:t>Low Likelihood (1,2)</a:t>
                </a:r>
              </a:p>
            </p:txBody>
          </p:sp>
        </p:grpSp>
      </p:grpSp>
      <p:sp>
        <p:nvSpPr>
          <p:cNvPr id="94" name="Rectangle 93">
            <a:extLst>
              <a:ext uri="{FF2B5EF4-FFF2-40B4-BE49-F238E27FC236}">
                <a16:creationId xmlns:a16="http://schemas.microsoft.com/office/drawing/2014/main" id="{15BD6B0D-DB5B-7741-B41F-0F59FEFD828D}"/>
              </a:ext>
            </a:extLst>
          </p:cNvPr>
          <p:cNvSpPr/>
          <p:nvPr/>
        </p:nvSpPr>
        <p:spPr bwMode="gray">
          <a:xfrm>
            <a:off x="430892" y="2182658"/>
            <a:ext cx="4837187" cy="3108150"/>
          </a:xfrm>
          <a:prstGeom prst="rect">
            <a:avLst/>
          </a:prstGeom>
          <a:noFill/>
          <a:ln w="19050" cap="flat" cmpd="sng" algn="ctr">
            <a:solidFill>
              <a:schemeClr val="bg1">
                <a:lumMod val="75000"/>
              </a:schemeClr>
            </a:solidFill>
            <a:prstDash val="solid"/>
            <a:miter lim="800000"/>
            <a:headEnd type="none" w="med" len="med"/>
            <a:tailEnd type="none" w="med" len="med"/>
          </a:ln>
          <a:effectLst/>
        </p:spPr>
        <p:txBody>
          <a:bodyPr vert="horz" wrap="square" lIns="91381" tIns="45691" rIns="91381" bIns="45691" numCol="1" rtlCol="0" anchor="ctr" anchorCtr="0" compatLnSpc="1">
            <a:prstTxWarp prst="textNoShape">
              <a:avLst/>
            </a:prstTxWarp>
            <a:noAutofit/>
          </a:bodyPr>
          <a:lstStyle/>
          <a:p>
            <a:pPr algn="ctr" defTabSz="913852" fontAlgn="base">
              <a:lnSpc>
                <a:spcPct val="90000"/>
              </a:lnSpc>
              <a:spcAft>
                <a:spcPct val="0"/>
              </a:spcAft>
              <a:buClr>
                <a:srgbClr val="0095FF"/>
              </a:buClr>
              <a:buSzPct val="90000"/>
            </a:pPr>
            <a:endParaRPr lang="en-US" sz="1798" b="1">
              <a:solidFill>
                <a:srgbClr val="0000C9"/>
              </a:solidFill>
              <a:latin typeface="Arial" panose="020B0604020202020204"/>
            </a:endParaRPr>
          </a:p>
        </p:txBody>
      </p:sp>
      <p:sp>
        <p:nvSpPr>
          <p:cNvPr id="95" name="Text Placeholder 2">
            <a:extLst>
              <a:ext uri="{FF2B5EF4-FFF2-40B4-BE49-F238E27FC236}">
                <a16:creationId xmlns:a16="http://schemas.microsoft.com/office/drawing/2014/main" id="{81E7D51C-E4BD-C189-B841-376C3A923B01}"/>
              </a:ext>
            </a:extLst>
          </p:cNvPr>
          <p:cNvSpPr txBox="1">
            <a:spLocks/>
          </p:cNvSpPr>
          <p:nvPr/>
        </p:nvSpPr>
        <p:spPr bwMode="gray">
          <a:xfrm flipV="1">
            <a:off x="4198128" y="4633404"/>
            <a:ext cx="122689"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664" indent="-285664"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sp>
        <p:nvSpPr>
          <p:cNvPr id="96" name="Text Placeholder 2">
            <a:extLst>
              <a:ext uri="{FF2B5EF4-FFF2-40B4-BE49-F238E27FC236}">
                <a16:creationId xmlns:a16="http://schemas.microsoft.com/office/drawing/2014/main" id="{7ABA1825-431E-E284-59A8-2DE3EB236B81}"/>
              </a:ext>
            </a:extLst>
          </p:cNvPr>
          <p:cNvSpPr txBox="1">
            <a:spLocks/>
          </p:cNvSpPr>
          <p:nvPr/>
        </p:nvSpPr>
        <p:spPr bwMode="gray">
          <a:xfrm flipV="1">
            <a:off x="3092856" y="4636613"/>
            <a:ext cx="122689" cy="180002"/>
          </a:xfrm>
          <a:prstGeom prst="rect">
            <a:avLst/>
          </a:prstGeom>
        </p:spPr>
        <p:txBody>
          <a:bodyPr vert="horz" wrap="square" lIns="45708" tIns="27425" rIns="45708" bIns="27425"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664" indent="-285664" algn="ctr"/>
            <a:r>
              <a:rPr lang="en-US" altLang="en-US">
                <a:solidFill>
                  <a:schemeClr val="bg1"/>
                </a:solidFill>
                <a:cs typeface="Arial" panose="020B0604020202020204" pitchFamily="34" charset="0"/>
                <a:sym typeface="Symbol" pitchFamily="18" charset="2"/>
              </a:rPr>
              <a:t></a:t>
            </a:r>
            <a:endParaRPr lang="en-US">
              <a:solidFill>
                <a:schemeClr val="bg1"/>
              </a:solidFill>
            </a:endParaRPr>
          </a:p>
        </p:txBody>
      </p:sp>
      <p:sp>
        <p:nvSpPr>
          <p:cNvPr id="97" name="TextBox 96">
            <a:extLst>
              <a:ext uri="{FF2B5EF4-FFF2-40B4-BE49-F238E27FC236}">
                <a16:creationId xmlns:a16="http://schemas.microsoft.com/office/drawing/2014/main" id="{F4486EA3-3969-7811-B6D5-BE182DA54561}"/>
              </a:ext>
            </a:extLst>
          </p:cNvPr>
          <p:cNvSpPr txBox="1"/>
          <p:nvPr/>
        </p:nvSpPr>
        <p:spPr bwMode="gray">
          <a:xfrm>
            <a:off x="927425" y="4825631"/>
            <a:ext cx="753153" cy="304620"/>
          </a:xfrm>
          <a:prstGeom prst="rect">
            <a:avLst/>
          </a:prstGeom>
          <a:solidFill>
            <a:schemeClr val="bg1"/>
          </a:solidFill>
          <a:ln w="12700">
            <a:solidFill>
              <a:schemeClr val="tx1">
                <a:lumMod val="50000"/>
                <a:lumOff val="50000"/>
              </a:schemeClr>
            </a:solidFill>
            <a:prstDash val="sysDash"/>
          </a:ln>
        </p:spPr>
        <p:txBody>
          <a:bodyPr wrap="square" lIns="27425" tIns="27425" rIns="27425" bIns="27425" rtlCol="0" anchor="ctr" anchorCtr="0">
            <a:spAutoFit/>
          </a:bodyPr>
          <a:lstStyle/>
          <a:p>
            <a:pPr lvl="0">
              <a:lnSpc>
                <a:spcPct val="90000"/>
              </a:lnSpc>
              <a:defRPr/>
            </a:pPr>
            <a:r>
              <a:rPr lang="en-US" sz="900">
                <a:solidFill>
                  <a:srgbClr val="000000">
                    <a:lumMod val="50000"/>
                    <a:lumOff val="50000"/>
                  </a:srgbClr>
                </a:solidFill>
                <a:latin typeface="Arial" panose="020B0604020202020204"/>
              </a:rPr>
              <a:t>25%</a:t>
            </a:r>
            <a:r>
              <a:rPr lang="en-US" altLang="en-US" sz="900">
                <a:solidFill>
                  <a:srgbClr val="FF0000"/>
                </a:solidFill>
                <a:cs typeface="Arial" panose="020B0604020202020204" pitchFamily="34" charset="0"/>
                <a:sym typeface="Symbol" pitchFamily="18" charset="2"/>
              </a:rPr>
              <a:t></a:t>
            </a:r>
            <a:r>
              <a:rPr lang="en-US" sz="900">
                <a:solidFill>
                  <a:srgbClr val="000000">
                    <a:lumMod val="50000"/>
                    <a:lumOff val="50000"/>
                  </a:srgbClr>
                </a:solidFill>
                <a:latin typeface="Arial" panose="020B0604020202020204"/>
              </a:rPr>
              <a:t> PED &gt;</a:t>
            </a:r>
          </a:p>
          <a:p>
            <a:pPr>
              <a:lnSpc>
                <a:spcPct val="90000"/>
              </a:lnSpc>
              <a:defRPr/>
            </a:pPr>
            <a:r>
              <a:rPr lang="en-US" sz="900">
                <a:solidFill>
                  <a:srgbClr val="000000">
                    <a:lumMod val="50000"/>
                    <a:lumOff val="50000"/>
                  </a:srgbClr>
                </a:solidFill>
                <a:latin typeface="Arial" panose="020B0604020202020204"/>
              </a:rPr>
              <a:t>  5%   PCP</a:t>
            </a:r>
          </a:p>
        </p:txBody>
      </p:sp>
      <p:sp>
        <p:nvSpPr>
          <p:cNvPr id="98" name="TextBox 97">
            <a:extLst>
              <a:ext uri="{FF2B5EF4-FFF2-40B4-BE49-F238E27FC236}">
                <a16:creationId xmlns:a16="http://schemas.microsoft.com/office/drawing/2014/main" id="{4703CF78-1920-66EF-7F74-71AC17A6B033}"/>
              </a:ext>
            </a:extLst>
          </p:cNvPr>
          <p:cNvSpPr txBox="1"/>
          <p:nvPr/>
        </p:nvSpPr>
        <p:spPr bwMode="gray">
          <a:xfrm>
            <a:off x="927425" y="3903416"/>
            <a:ext cx="733724" cy="429222"/>
          </a:xfrm>
          <a:prstGeom prst="rect">
            <a:avLst/>
          </a:prstGeom>
          <a:solidFill>
            <a:schemeClr val="bg1"/>
          </a:solidFill>
          <a:ln w="6350">
            <a:solidFill>
              <a:schemeClr val="tx1">
                <a:lumMod val="50000"/>
                <a:lumOff val="50000"/>
              </a:schemeClr>
            </a:solidFill>
            <a:prstDash val="solid"/>
          </a:ln>
        </p:spPr>
        <p:txBody>
          <a:bodyPr wrap="square" lIns="27425" tIns="27418" rIns="0" bIns="27418" rtlCol="0" anchor="ctr" anchorCtr="0">
            <a:spAutoFit/>
          </a:bodyPr>
          <a:lstStyle/>
          <a:p>
            <a:pPr marL="399930" indent="-399930" defTabSz="913852">
              <a:lnSpc>
                <a:spcPct val="90000"/>
              </a:lnSpc>
              <a:defRPr/>
            </a:pPr>
            <a:r>
              <a:rPr lang="en-US" sz="900">
                <a:solidFill>
                  <a:srgbClr val="000000">
                    <a:lumMod val="50000"/>
                    <a:lumOff val="50000"/>
                  </a:srgbClr>
                </a:solidFill>
                <a:latin typeface="Arial" panose="020B0604020202020204"/>
              </a:rPr>
              <a:t>38%</a:t>
            </a:r>
            <a:r>
              <a:rPr lang="en-US" altLang="en-US" sz="9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lang="en-US" sz="900">
                <a:solidFill>
                  <a:srgbClr val="000000">
                    <a:lumMod val="50000"/>
                    <a:lumOff val="50000"/>
                  </a:srgbClr>
                </a:solidFill>
                <a:latin typeface="Arial" panose="020B0604020202020204"/>
              </a:rPr>
              <a:t>Tier 1</a:t>
            </a:r>
          </a:p>
          <a:p>
            <a:pPr marL="399930" indent="-399930" defTabSz="913852">
              <a:lnSpc>
                <a:spcPct val="90000"/>
              </a:lnSpc>
              <a:defRPr/>
            </a:pPr>
            <a:r>
              <a:rPr lang="en-US" sz="900">
                <a:solidFill>
                  <a:srgbClr val="000000">
                    <a:lumMod val="50000"/>
                    <a:lumOff val="50000"/>
                  </a:srgbClr>
                </a:solidFill>
                <a:latin typeface="Arial" panose="020B0604020202020204"/>
              </a:rPr>
              <a:t>48%	Tier 2 </a:t>
            </a:r>
          </a:p>
          <a:p>
            <a:pPr marL="399930" indent="-399930" defTabSz="913852">
              <a:lnSpc>
                <a:spcPct val="90000"/>
              </a:lnSpc>
              <a:defRPr/>
            </a:pPr>
            <a:r>
              <a:rPr lang="en-US" sz="900">
                <a:solidFill>
                  <a:srgbClr val="000000">
                    <a:lumMod val="50000"/>
                    <a:lumOff val="50000"/>
                  </a:srgbClr>
                </a:solidFill>
                <a:latin typeface="Arial" panose="020B0604020202020204"/>
              </a:rPr>
              <a:t>59%</a:t>
            </a:r>
            <a:r>
              <a:rPr lang="en-US" sz="900" baseline="30000">
                <a:solidFill>
                  <a:srgbClr val="000000">
                    <a:lumMod val="50000"/>
                    <a:lumOff val="50000"/>
                  </a:srgbClr>
                </a:solidFill>
              </a:rPr>
              <a:t>1</a:t>
            </a:r>
            <a:r>
              <a:rPr lang="en-US" sz="900">
                <a:solidFill>
                  <a:srgbClr val="000000">
                    <a:lumMod val="50000"/>
                    <a:lumOff val="50000"/>
                  </a:srgbClr>
                </a:solidFill>
                <a:latin typeface="Arial" panose="020B0604020202020204"/>
              </a:rPr>
              <a:t>	Tier 3</a:t>
            </a:r>
          </a:p>
        </p:txBody>
      </p:sp>
      <p:sp>
        <p:nvSpPr>
          <p:cNvPr id="99" name="TextBox 98">
            <a:extLst>
              <a:ext uri="{FF2B5EF4-FFF2-40B4-BE49-F238E27FC236}">
                <a16:creationId xmlns:a16="http://schemas.microsoft.com/office/drawing/2014/main" id="{6EB0F254-49F9-B472-6A3C-F0B75E456D54}"/>
              </a:ext>
            </a:extLst>
          </p:cNvPr>
          <p:cNvSpPr txBox="1"/>
          <p:nvPr/>
        </p:nvSpPr>
        <p:spPr bwMode="gray">
          <a:xfrm>
            <a:off x="1725968" y="4818030"/>
            <a:ext cx="733724" cy="429320"/>
          </a:xfrm>
          <a:prstGeom prst="rect">
            <a:avLst/>
          </a:prstGeom>
          <a:solidFill>
            <a:schemeClr val="bg1"/>
          </a:solidFill>
          <a:ln w="6350">
            <a:solidFill>
              <a:schemeClr val="tx1">
                <a:lumMod val="50000"/>
                <a:lumOff val="50000"/>
              </a:schemeClr>
            </a:solidFill>
            <a:prstDash val="solid"/>
          </a:ln>
        </p:spPr>
        <p:txBody>
          <a:bodyPr wrap="square" lIns="27425" tIns="27418" rIns="0" bIns="27418" rtlCol="0" anchor="ctr" anchorCtr="0">
            <a:spAutoFit/>
          </a:bodyPr>
          <a:lstStyle/>
          <a:p>
            <a:pPr marL="399930" indent="-399930" defTabSz="913852">
              <a:lnSpc>
                <a:spcPct val="90000"/>
              </a:lnSpc>
              <a:defRPr/>
            </a:pPr>
            <a:r>
              <a:rPr lang="en-US" sz="900">
                <a:solidFill>
                  <a:srgbClr val="000000">
                    <a:lumMod val="50000"/>
                    <a:lumOff val="50000"/>
                  </a:srgbClr>
                </a:solidFill>
                <a:latin typeface="Arial" panose="020B0604020202020204"/>
              </a:rPr>
              <a:t>24%</a:t>
            </a:r>
            <a:r>
              <a:rPr lang="en-US" sz="900" baseline="30000">
                <a:solidFill>
                  <a:srgbClr val="000000">
                    <a:lumMod val="50000"/>
                    <a:lumOff val="50000"/>
                  </a:srgbClr>
                </a:solidFill>
              </a:rPr>
              <a:t>3</a:t>
            </a:r>
            <a:r>
              <a:rPr lang="en-US" altLang="en-US" sz="9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lang="en-US" sz="900">
                <a:solidFill>
                  <a:srgbClr val="000000">
                    <a:lumMod val="50000"/>
                    <a:lumOff val="50000"/>
                  </a:srgbClr>
                </a:solidFill>
                <a:latin typeface="Arial" panose="020B0604020202020204"/>
              </a:rPr>
              <a:t>Tier 1</a:t>
            </a:r>
          </a:p>
          <a:p>
            <a:pPr marL="399930" indent="-399930" defTabSz="913852">
              <a:lnSpc>
                <a:spcPct val="90000"/>
              </a:lnSpc>
              <a:defRPr/>
            </a:pPr>
            <a:r>
              <a:rPr lang="en-US" sz="900">
                <a:solidFill>
                  <a:srgbClr val="000000">
                    <a:lumMod val="50000"/>
                    <a:lumOff val="50000"/>
                  </a:srgbClr>
                </a:solidFill>
                <a:latin typeface="Arial" panose="020B0604020202020204"/>
              </a:rPr>
              <a:t>18%	Tier 2 </a:t>
            </a:r>
          </a:p>
          <a:p>
            <a:pPr marL="399930" indent="-399930" defTabSz="913852">
              <a:lnSpc>
                <a:spcPct val="90000"/>
              </a:lnSpc>
              <a:defRPr/>
            </a:pPr>
            <a:r>
              <a:rPr lang="en-US" sz="900">
                <a:solidFill>
                  <a:srgbClr val="000000">
                    <a:lumMod val="50000"/>
                    <a:lumOff val="50000"/>
                  </a:srgbClr>
                </a:solidFill>
                <a:latin typeface="Arial" panose="020B0604020202020204"/>
              </a:rPr>
              <a:t>10%	Tier 3</a:t>
            </a:r>
          </a:p>
        </p:txBody>
      </p:sp>
      <p:graphicFrame>
        <p:nvGraphicFramePr>
          <p:cNvPr id="100" name="Table 99">
            <a:extLst>
              <a:ext uri="{FF2B5EF4-FFF2-40B4-BE49-F238E27FC236}">
                <a16:creationId xmlns:a16="http://schemas.microsoft.com/office/drawing/2014/main" id="{948E2F60-4827-EB6E-0E86-7F9F98615893}"/>
              </a:ext>
            </a:extLst>
          </p:cNvPr>
          <p:cNvGraphicFramePr>
            <a:graphicFrameLocks noGrp="1"/>
          </p:cNvGraphicFramePr>
          <p:nvPr>
            <p:extLst>
              <p:ext uri="{D42A27DB-BD31-4B8C-83A1-F6EECF244321}">
                <p14:modId xmlns:p14="http://schemas.microsoft.com/office/powerpoint/2010/main" val="917038091"/>
              </p:ext>
            </p:extLst>
          </p:nvPr>
        </p:nvGraphicFramePr>
        <p:xfrm>
          <a:off x="3655013" y="2381250"/>
          <a:ext cx="1389054" cy="2642821"/>
        </p:xfrm>
        <a:graphic>
          <a:graphicData uri="http://schemas.openxmlformats.org/drawingml/2006/table">
            <a:tbl>
              <a:tblPr firstRow="1" bandRow="1">
                <a:tableStyleId>{F5AB1C69-6EDB-4FF4-983F-18BD219EF322}</a:tableStyleId>
              </a:tblPr>
              <a:tblGrid>
                <a:gridCol w="694527">
                  <a:extLst>
                    <a:ext uri="{9D8B030D-6E8A-4147-A177-3AD203B41FA5}">
                      <a16:colId xmlns:a16="http://schemas.microsoft.com/office/drawing/2014/main" val="3264863121"/>
                    </a:ext>
                  </a:extLst>
                </a:gridCol>
                <a:gridCol w="694527">
                  <a:extLst>
                    <a:ext uri="{9D8B030D-6E8A-4147-A177-3AD203B41FA5}">
                      <a16:colId xmlns:a16="http://schemas.microsoft.com/office/drawing/2014/main" val="1469452096"/>
                    </a:ext>
                  </a:extLst>
                </a:gridCol>
              </a:tblGrid>
              <a:tr h="274249">
                <a:tc>
                  <a:txBody>
                    <a:bodyPr/>
                    <a:lstStyle/>
                    <a:p>
                      <a:pPr algn="ctr"/>
                      <a:r>
                        <a:rPr lang="en-US" sz="1400" b="1">
                          <a:solidFill>
                            <a:schemeClr val="tx1">
                              <a:lumMod val="50000"/>
                              <a:lumOff val="50000"/>
                            </a:schemeClr>
                          </a:solidFill>
                          <a:latin typeface="+mn-lt"/>
                        </a:rPr>
                        <a:t>PED</a:t>
                      </a:r>
                      <a:r>
                        <a:rPr lang="en-US" sz="1600" baseline="20000">
                          <a:solidFill>
                            <a:schemeClr val="tx1">
                              <a:lumMod val="50000"/>
                              <a:lumOff val="50000"/>
                            </a:schemeClr>
                          </a:solidFill>
                          <a:latin typeface="+mn-lt"/>
                          <a:cs typeface="Arial"/>
                        </a:rPr>
                        <a:t> </a:t>
                      </a:r>
                      <a:r>
                        <a:rPr kumimoji="0" lang="en-US" sz="1600" b="0" i="0" u="none" strike="noStrike" kern="1200" cap="none" spc="0" normalizeH="0" baseline="15000" noProof="0">
                          <a:ln>
                            <a:noFill/>
                          </a:ln>
                          <a:solidFill>
                            <a:schemeClr val="tx1">
                              <a:lumMod val="50000"/>
                              <a:lumOff val="50000"/>
                            </a:schemeClr>
                          </a:solidFill>
                          <a:effectLst/>
                          <a:uLnTx/>
                          <a:uFillTx/>
                          <a:latin typeface="+mn-lt"/>
                          <a:ea typeface="+mn-ea"/>
                          <a:cs typeface="+mn-cs"/>
                        </a:rPr>
                        <a:t>|</a:t>
                      </a:r>
                      <a:r>
                        <a:rPr kumimoji="0" lang="en-US" sz="1600" b="0" i="0" u="none" strike="noStrike" kern="1200" cap="none" spc="0" normalizeH="0" baseline="20000" noProof="0">
                          <a:ln>
                            <a:noFill/>
                          </a:ln>
                          <a:solidFill>
                            <a:schemeClr val="tx1">
                              <a:lumMod val="50000"/>
                              <a:lumOff val="50000"/>
                            </a:schemeClr>
                          </a:solidFill>
                          <a:effectLst/>
                          <a:uLnTx/>
                          <a:uFillTx/>
                          <a:latin typeface="+mn-lt"/>
                          <a:ea typeface="+mn-ea"/>
                          <a:cs typeface="+mn-cs"/>
                        </a:rPr>
                        <a:t> </a:t>
                      </a:r>
                      <a:r>
                        <a:rPr kumimoji="0" lang="en-US" sz="1000" b="0" i="0" u="none" strike="noStrike" kern="1200" cap="none" spc="0" normalizeH="0" baseline="55000" noProof="0">
                          <a:ln>
                            <a:noFill/>
                          </a:ln>
                          <a:solidFill>
                            <a:schemeClr val="tx1">
                              <a:lumMod val="50000"/>
                              <a:lumOff val="50000"/>
                            </a:schemeClr>
                          </a:solidFill>
                          <a:effectLst/>
                          <a:uLnTx/>
                          <a:uFillTx/>
                          <a:latin typeface="+mn-lt"/>
                          <a:ea typeface="+mn-ea"/>
                          <a:cs typeface="+mn-cs"/>
                        </a:rPr>
                        <a:t>A</a:t>
                      </a:r>
                      <a:endParaRPr lang="en-US" sz="1000" b="0" baseline="55000">
                        <a:solidFill>
                          <a:schemeClr val="tx1">
                            <a:lumMod val="50000"/>
                            <a:lumOff val="50000"/>
                          </a:schemeClr>
                        </a:solidFill>
                        <a:latin typeface="+mn-lt"/>
                      </a:endParaRPr>
                    </a:p>
                  </a:txBody>
                  <a:tcPr marL="0" marR="0" marT="0" marB="0">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400" b="1">
                          <a:solidFill>
                            <a:schemeClr val="tx1">
                              <a:lumMod val="50000"/>
                              <a:lumOff val="50000"/>
                            </a:schemeClr>
                          </a:solidFill>
                          <a:latin typeface="+mn-lt"/>
                        </a:rPr>
                        <a:t>PCP</a:t>
                      </a:r>
                      <a:r>
                        <a:rPr lang="en-US" sz="1600" baseline="20000">
                          <a:solidFill>
                            <a:schemeClr val="tx1">
                              <a:lumMod val="50000"/>
                              <a:lumOff val="50000"/>
                            </a:schemeClr>
                          </a:solidFill>
                          <a:latin typeface="+mn-lt"/>
                          <a:cs typeface="Arial"/>
                        </a:rPr>
                        <a:t> </a:t>
                      </a:r>
                      <a:r>
                        <a:rPr kumimoji="0" lang="en-US" sz="1600" b="0" i="0" u="none" strike="noStrike" kern="1200" cap="none" spc="0" normalizeH="0" baseline="15000" noProof="0">
                          <a:ln>
                            <a:noFill/>
                          </a:ln>
                          <a:solidFill>
                            <a:schemeClr val="tx1">
                              <a:lumMod val="50000"/>
                              <a:lumOff val="50000"/>
                            </a:schemeClr>
                          </a:solidFill>
                          <a:effectLst/>
                          <a:uLnTx/>
                          <a:uFillTx/>
                          <a:latin typeface="+mn-lt"/>
                          <a:ea typeface="+mn-ea"/>
                          <a:cs typeface="+mn-cs"/>
                        </a:rPr>
                        <a:t>|</a:t>
                      </a:r>
                      <a:r>
                        <a:rPr kumimoji="0" lang="en-US" sz="1800" b="0" i="0" u="none" strike="noStrike" kern="1200" cap="none" spc="0" normalizeH="0" baseline="20000" noProof="0">
                          <a:ln>
                            <a:noFill/>
                          </a:ln>
                          <a:solidFill>
                            <a:schemeClr val="tx1">
                              <a:lumMod val="50000"/>
                              <a:lumOff val="50000"/>
                            </a:schemeClr>
                          </a:solidFill>
                          <a:effectLst/>
                          <a:uLnTx/>
                          <a:uFillTx/>
                          <a:latin typeface="+mn-lt"/>
                          <a:ea typeface="+mn-ea"/>
                          <a:cs typeface="+mn-cs"/>
                        </a:rPr>
                        <a:t> </a:t>
                      </a:r>
                      <a:r>
                        <a:rPr kumimoji="0" lang="en-US" sz="1000" b="0" i="0" u="none" strike="noStrike" kern="1200" cap="none" spc="0" normalizeH="0" baseline="55000" noProof="0">
                          <a:ln>
                            <a:noFill/>
                          </a:ln>
                          <a:solidFill>
                            <a:schemeClr val="tx1">
                              <a:lumMod val="50000"/>
                              <a:lumOff val="50000"/>
                            </a:schemeClr>
                          </a:solidFill>
                          <a:effectLst/>
                          <a:uLnTx/>
                          <a:uFillTx/>
                          <a:latin typeface="+mn-lt"/>
                          <a:ea typeface="+mn-ea"/>
                          <a:cs typeface="+mn-cs"/>
                        </a:rPr>
                        <a:t>B</a:t>
                      </a:r>
                      <a:endParaRPr lang="en-US" sz="1800" b="0" baseline="55000">
                        <a:solidFill>
                          <a:schemeClr val="tx1">
                            <a:lumMod val="50000"/>
                            <a:lumOff val="50000"/>
                          </a:schemeClr>
                        </a:solidFill>
                        <a:latin typeface="+mn-lt"/>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85626216"/>
                  </a:ext>
                </a:extLst>
              </a:tr>
              <a:tr h="7886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35%</a:t>
                      </a:r>
                      <a:endParaRPr kumimoji="0" lang="en-US" sz="1200" b="0"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endParaRPr>
                    </a:p>
                  </a:txBody>
                  <a:tcPr marL="91416" marR="91416" marT="27425" marB="27425"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40%</a:t>
                      </a:r>
                    </a:p>
                  </a:txBody>
                  <a:tcPr marL="91416" marR="91416" marT="27425" marB="27425"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00659004"/>
                  </a:ext>
                </a:extLst>
              </a:tr>
              <a:tr h="1033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40%</a:t>
                      </a:r>
                      <a:endParaRPr kumimoji="0" lang="en-US" sz="1200" b="0"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endParaRPr>
                    </a:p>
                  </a:txBody>
                  <a:tcPr marL="91416" marR="91416" marT="27425" marB="27425"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55%</a:t>
                      </a:r>
                      <a:endParaRPr kumimoji="0" lang="en-US" sz="1200" b="0" i="0" u="none" strike="noStrike" kern="1200" cap="none" spc="0" normalizeH="0" baseline="50000" noProof="0">
                        <a:ln>
                          <a:noFill/>
                        </a:ln>
                        <a:solidFill>
                          <a:schemeClr val="tx1">
                            <a:lumMod val="50000"/>
                            <a:lumOff val="50000"/>
                          </a:schemeClr>
                        </a:solidFill>
                        <a:effectLst/>
                        <a:uLnTx/>
                        <a:uFillTx/>
                        <a:latin typeface="Arial" panose="020B0604020202020204"/>
                        <a:ea typeface="+mn-ea"/>
                        <a:cs typeface="+mn-cs"/>
                      </a:endParaRPr>
                    </a:p>
                  </a:txBody>
                  <a:tcPr marL="91416" marR="91416" marT="27425" marB="27425"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49236311"/>
                  </a:ext>
                </a:extLst>
              </a:tr>
              <a:tr h="5465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25%</a:t>
                      </a:r>
                      <a:r>
                        <a:rPr lang="en-US" sz="1200" baseline="50000">
                          <a:solidFill>
                            <a:schemeClr val="tx1">
                              <a:lumMod val="50000"/>
                              <a:lumOff val="50000"/>
                            </a:schemeClr>
                          </a:solidFill>
                          <a:sym typeface="Wingdings 3" panose="05040102010807070707" pitchFamily="18" charset="2"/>
                        </a:rPr>
                        <a:t>B</a:t>
                      </a:r>
                      <a:endPar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endParaRPr>
                    </a:p>
                  </a:txBody>
                  <a:tcPr marL="91416" marR="91416" marT="27425" marB="27425"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5%</a:t>
                      </a:r>
                    </a:p>
                  </a:txBody>
                  <a:tcPr marL="91416" marR="91416" marT="27425" marB="27425"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10966140"/>
                  </a:ext>
                </a:extLst>
              </a:tr>
            </a:tbl>
          </a:graphicData>
        </a:graphic>
      </p:graphicFrame>
      <p:graphicFrame>
        <p:nvGraphicFramePr>
          <p:cNvPr id="20" name="Table 19">
            <a:extLst>
              <a:ext uri="{FF2B5EF4-FFF2-40B4-BE49-F238E27FC236}">
                <a16:creationId xmlns:a16="http://schemas.microsoft.com/office/drawing/2014/main" id="{3B1D4F51-1CD6-79D3-B80F-CBD5656575DC}"/>
              </a:ext>
            </a:extLst>
          </p:cNvPr>
          <p:cNvGraphicFramePr>
            <a:graphicFrameLocks noGrp="1"/>
          </p:cNvGraphicFramePr>
          <p:nvPr>
            <p:extLst>
              <p:ext uri="{D42A27DB-BD31-4B8C-83A1-F6EECF244321}">
                <p14:modId xmlns:p14="http://schemas.microsoft.com/office/powerpoint/2010/main" val="3930758151"/>
              </p:ext>
            </p:extLst>
          </p:nvPr>
        </p:nvGraphicFramePr>
        <p:xfrm>
          <a:off x="5971387" y="2063003"/>
          <a:ext cx="5861888" cy="1544786"/>
        </p:xfrm>
        <a:graphic>
          <a:graphicData uri="http://schemas.openxmlformats.org/drawingml/2006/table">
            <a:tbl>
              <a:tblPr firstRow="1" bandRow="1">
                <a:tableStyleId>{00A15C55-8517-42AA-B614-E9B94910E393}</a:tableStyleId>
              </a:tblPr>
              <a:tblGrid>
                <a:gridCol w="4937760">
                  <a:extLst>
                    <a:ext uri="{9D8B030D-6E8A-4147-A177-3AD203B41FA5}">
                      <a16:colId xmlns:a16="http://schemas.microsoft.com/office/drawing/2014/main" val="980891169"/>
                    </a:ext>
                  </a:extLst>
                </a:gridCol>
                <a:gridCol w="924128">
                  <a:extLst>
                    <a:ext uri="{9D8B030D-6E8A-4147-A177-3AD203B41FA5}">
                      <a16:colId xmlns:a16="http://schemas.microsoft.com/office/drawing/2014/main" val="765208812"/>
                    </a:ext>
                  </a:extLst>
                </a:gridCol>
              </a:tblGrid>
              <a:tr h="191510">
                <a:tc>
                  <a:txBody>
                    <a:bodyPr/>
                    <a:lstStyle/>
                    <a:p>
                      <a:pPr algn="l"/>
                      <a:r>
                        <a:rPr lang="en-US" sz="1100"/>
                        <a:t>Reasons Highly Likely</a:t>
                      </a:r>
                    </a:p>
                  </a:txBody>
                  <a:tcPr marT="18288" marB="18288">
                    <a:lnL w="12700" cap="flat" cmpd="sng" algn="ctr">
                      <a:solidFill>
                        <a:schemeClr val="accent4">
                          <a:lumMod val="75000"/>
                        </a:schemeClr>
                      </a:solidFill>
                      <a:prstDash val="solid"/>
                      <a:round/>
                      <a:headEnd type="none" w="med" len="med"/>
                      <a:tailEnd type="none" w="med" len="med"/>
                    </a:lnL>
                    <a:lnT w="12700" cap="flat" cmpd="sng" algn="ctr">
                      <a:solidFill>
                        <a:schemeClr val="accent4">
                          <a:lumMod val="75000"/>
                        </a:schemeClr>
                      </a:solidFill>
                      <a:prstDash val="solid"/>
                      <a:round/>
                      <a:headEnd type="none" w="med" len="med"/>
                      <a:tailEnd type="none" w="med" len="med"/>
                    </a:lnT>
                  </a:tcPr>
                </a:tc>
                <a:tc>
                  <a:txBody>
                    <a:bodyPr/>
                    <a:lstStyle/>
                    <a:p>
                      <a:pPr algn="ctr"/>
                      <a:endParaRPr lang="en-US" sz="1100"/>
                    </a:p>
                  </a:txBody>
                  <a:tcPr marT="18288" marB="18288">
                    <a:lnR w="12700" cap="flat" cmpd="sng" algn="ctr">
                      <a:solidFill>
                        <a:schemeClr val="accent4">
                          <a:lumMod val="75000"/>
                        </a:schemeClr>
                      </a:solid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tcPr>
                </a:tc>
                <a:extLst>
                  <a:ext uri="{0D108BD9-81ED-4DB2-BD59-A6C34878D82A}">
                    <a16:rowId xmlns:a16="http://schemas.microsoft.com/office/drawing/2014/main" val="2785626216"/>
                  </a:ext>
                </a:extLst>
              </a:tr>
              <a:tr h="191510">
                <a:tc>
                  <a:txBody>
                    <a:bodyPr/>
                    <a:lstStyle/>
                    <a:p>
                      <a:r>
                        <a:rPr lang="en-US" sz="1100" b="1"/>
                        <a:t>One Vx / fewer shots (Net)</a:t>
                      </a:r>
                    </a:p>
                  </a:txBody>
                  <a:tcPr marT="0" marB="0" anchor="ctr">
                    <a:lnL w="12700" cap="flat" cmpd="sng" algn="ctr">
                      <a:solidFill>
                        <a:schemeClr val="accent4">
                          <a:lumMod val="75000"/>
                        </a:schemeClr>
                      </a:solidFill>
                      <a:prstDash val="solid"/>
                      <a:round/>
                      <a:headEnd type="none" w="med" len="med"/>
                      <a:tailEnd type="none" w="med" len="med"/>
                    </a:lnL>
                    <a:solidFill>
                      <a:srgbClr val="EBF3EB"/>
                    </a:solidFill>
                  </a:tcPr>
                </a:tc>
                <a:tc>
                  <a:txBody>
                    <a:bodyPr/>
                    <a:lstStyle/>
                    <a:p>
                      <a:pPr algn="ctr"/>
                      <a:r>
                        <a:rPr lang="en-US" sz="1100" b="1"/>
                        <a:t>51%</a:t>
                      </a:r>
                    </a:p>
                  </a:txBody>
                  <a:tcPr marT="0" marB="0" anchor="ctr">
                    <a:lnR w="12700" cap="flat" cmpd="sng" algn="ctr">
                      <a:solidFill>
                        <a:schemeClr val="accent4">
                          <a:lumMod val="75000"/>
                        </a:schemeClr>
                      </a:solidFill>
                      <a:prstDash val="solid"/>
                      <a:round/>
                      <a:headEnd type="none" w="med" len="med"/>
                      <a:tailEnd type="none" w="med" len="med"/>
                    </a:lnR>
                    <a:solidFill>
                      <a:srgbClr val="EBF3EB"/>
                    </a:solidFill>
                  </a:tcPr>
                </a:tc>
                <a:extLst>
                  <a:ext uri="{0D108BD9-81ED-4DB2-BD59-A6C34878D82A}">
                    <a16:rowId xmlns:a16="http://schemas.microsoft.com/office/drawing/2014/main" val="3035588992"/>
                  </a:ext>
                </a:extLst>
              </a:tr>
              <a:tr h="191510">
                <a:tc>
                  <a:txBody>
                    <a:bodyPr/>
                    <a:lstStyle/>
                    <a:p>
                      <a:r>
                        <a:rPr lang="en-US" sz="1100"/>
                        <a:t>One shot instead of two, fewer shots, combination</a:t>
                      </a:r>
                    </a:p>
                  </a:txBody>
                  <a:tcPr marL="274320" marT="0" marB="0" anchor="ctr">
                    <a:lnL w="12700" cap="flat" cmpd="sng" algn="ctr">
                      <a:solidFill>
                        <a:schemeClr val="accent4">
                          <a:lumMod val="75000"/>
                        </a:schemeClr>
                      </a:solidFill>
                      <a:prstDash val="solid"/>
                      <a:round/>
                      <a:headEnd type="none" w="med" len="med"/>
                      <a:tailEnd type="none" w="med" len="med"/>
                    </a:lnL>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40%</a:t>
                      </a:r>
                    </a:p>
                  </a:txBody>
                  <a:tcPr marT="0" marB="0" anchor="ctr">
                    <a:lnR w="12700" cap="flat" cmpd="sng" algn="ctr">
                      <a:solidFill>
                        <a:schemeClr val="accent4">
                          <a:lumMod val="75000"/>
                        </a:schemeClr>
                      </a:solidFill>
                      <a:prstDash val="solid"/>
                      <a:round/>
                      <a:headEnd type="none" w="med" len="med"/>
                      <a:tailEnd type="none" w="med" len="med"/>
                    </a:lnR>
                    <a:noFill/>
                  </a:tcPr>
                </a:tc>
                <a:extLst>
                  <a:ext uri="{0D108BD9-81ED-4DB2-BD59-A6C34878D82A}">
                    <a16:rowId xmlns:a16="http://schemas.microsoft.com/office/drawing/2014/main" val="3295064838"/>
                  </a:ext>
                </a:extLst>
              </a:tr>
              <a:tr h="191510">
                <a:tc>
                  <a:txBody>
                    <a:bodyPr/>
                    <a:lstStyle/>
                    <a:p>
                      <a:r>
                        <a:rPr lang="en-US" sz="1100"/>
                        <a:t>More convenient, simple / easier dosing schedule</a:t>
                      </a:r>
                    </a:p>
                  </a:txBody>
                  <a:tcPr marL="274320" marT="0" marB="0" anchor="ctr">
                    <a:lnL w="12700" cap="flat" cmpd="sng" algn="ctr">
                      <a:solidFill>
                        <a:schemeClr val="accent4">
                          <a:lumMod val="75000"/>
                        </a:schemeClr>
                      </a:solidFill>
                      <a:prstDash val="solid"/>
                      <a:round/>
                      <a:headEnd type="none" w="med" len="med"/>
                      <a:tailEnd type="none" w="med" len="med"/>
                    </a:lnL>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11%</a:t>
                      </a:r>
                    </a:p>
                  </a:txBody>
                  <a:tcPr marT="0" marB="0" anchor="ctr">
                    <a:lnR w="12700" cap="flat" cmpd="sng" algn="ctr">
                      <a:solidFill>
                        <a:schemeClr val="accent4">
                          <a:lumMod val="75000"/>
                        </a:schemeClr>
                      </a:solidFill>
                      <a:prstDash val="solid"/>
                      <a:round/>
                      <a:headEnd type="none" w="med" len="med"/>
                      <a:tailEnd type="none" w="med" len="med"/>
                    </a:lnR>
                    <a:noFill/>
                  </a:tcPr>
                </a:tc>
                <a:extLst>
                  <a:ext uri="{0D108BD9-81ED-4DB2-BD59-A6C34878D82A}">
                    <a16:rowId xmlns:a16="http://schemas.microsoft.com/office/drawing/2014/main" val="1300659004"/>
                  </a:ext>
                </a:extLst>
              </a:tr>
              <a:tr h="191510">
                <a:tc>
                  <a:txBody>
                    <a:bodyPr/>
                    <a:lstStyle/>
                    <a:p>
                      <a:r>
                        <a:rPr lang="en-US" sz="1100"/>
                        <a:t>Improves compliance / acceptance</a:t>
                      </a:r>
                    </a:p>
                  </a:txBody>
                  <a:tcPr marL="274320" marT="0" marB="0" anchor="ctr">
                    <a:lnL w="12700" cap="flat" cmpd="sng" algn="ctr">
                      <a:solidFill>
                        <a:schemeClr val="accent4">
                          <a:lumMod val="75000"/>
                        </a:schemeClr>
                      </a:solidFill>
                      <a:prstDash val="solid"/>
                      <a:round/>
                      <a:headEnd type="none" w="med" len="med"/>
                      <a:tailEnd type="none" w="med" len="med"/>
                    </a:lnL>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6%</a:t>
                      </a:r>
                    </a:p>
                  </a:txBody>
                  <a:tcPr marT="0" marB="0" anchor="ctr">
                    <a:lnR w="12700" cap="flat" cmpd="sng" algn="ctr">
                      <a:solidFill>
                        <a:schemeClr val="accent4">
                          <a:lumMod val="75000"/>
                        </a:schemeClr>
                      </a:solidFill>
                      <a:prstDash val="solid"/>
                      <a:round/>
                      <a:headEnd type="none" w="med" len="med"/>
                      <a:tailEnd type="none" w="med" len="med"/>
                    </a:lnR>
                    <a:noFill/>
                  </a:tcPr>
                </a:tc>
                <a:extLst>
                  <a:ext uri="{0D108BD9-81ED-4DB2-BD59-A6C34878D82A}">
                    <a16:rowId xmlns:a16="http://schemas.microsoft.com/office/drawing/2014/main" val="1363238904"/>
                  </a:ext>
                </a:extLst>
              </a:tr>
              <a:tr h="191510">
                <a:tc>
                  <a:txBody>
                    <a:bodyPr/>
                    <a:lstStyle/>
                    <a:p>
                      <a:r>
                        <a:rPr lang="en-US" sz="1100" b="1" dirty="0"/>
                        <a:t>Seems effective / new option / comparable to Penbraya</a:t>
                      </a:r>
                    </a:p>
                  </a:txBody>
                  <a:tcPr marT="0" marB="0" anchor="ctr">
                    <a:lnL w="12700" cap="flat" cmpd="sng" algn="ctr">
                      <a:solidFill>
                        <a:schemeClr val="accent4">
                          <a:lumMod val="75000"/>
                        </a:schemeClr>
                      </a:solidFill>
                      <a:prstDash val="solid"/>
                      <a:round/>
                      <a:headEnd type="none" w="med" len="med"/>
                      <a:tailEnd type="none" w="med" len="med"/>
                    </a:lnL>
                    <a:solidFill>
                      <a:srgbClr val="EBF3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26%</a:t>
                      </a:r>
                    </a:p>
                  </a:txBody>
                  <a:tcPr marT="0" marB="0" anchor="ctr">
                    <a:lnR w="12700" cap="flat" cmpd="sng" algn="ctr">
                      <a:solidFill>
                        <a:schemeClr val="accent4">
                          <a:lumMod val="75000"/>
                        </a:schemeClr>
                      </a:solidFill>
                      <a:prstDash val="solid"/>
                      <a:round/>
                      <a:headEnd type="none" w="med" len="med"/>
                      <a:tailEnd type="none" w="med" len="med"/>
                    </a:lnR>
                    <a:solidFill>
                      <a:srgbClr val="EBF3EB"/>
                    </a:solidFill>
                  </a:tcPr>
                </a:tc>
                <a:extLst>
                  <a:ext uri="{0D108BD9-81ED-4DB2-BD59-A6C34878D82A}">
                    <a16:rowId xmlns:a16="http://schemas.microsoft.com/office/drawing/2014/main" val="4103476162"/>
                  </a:ext>
                </a:extLst>
              </a:tr>
              <a:tr h="191510">
                <a:tc>
                  <a:txBody>
                    <a:bodyPr/>
                    <a:lstStyle/>
                    <a:p>
                      <a:r>
                        <a:rPr lang="en-US" sz="1100" b="1"/>
                        <a:t>Already stock / use Bexsero / easy transition</a:t>
                      </a:r>
                    </a:p>
                  </a:txBody>
                  <a:tcPr marT="0" marB="0" anchor="ctr">
                    <a:lnL w="12700" cap="flat" cmpd="sng" algn="ctr">
                      <a:solidFill>
                        <a:schemeClr val="accent4">
                          <a:lumMod val="75000"/>
                        </a:schemeClr>
                      </a:solidFill>
                      <a:prstDash val="solid"/>
                      <a:round/>
                      <a:headEnd type="none" w="med" len="med"/>
                      <a:tailEnd type="none" w="med" len="med"/>
                    </a:lnL>
                    <a:solidFill>
                      <a:srgbClr val="EBF3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22%</a:t>
                      </a:r>
                    </a:p>
                  </a:txBody>
                  <a:tcPr marT="0" marB="0" anchor="ctr">
                    <a:lnR w="12700" cap="flat" cmpd="sng" algn="ctr">
                      <a:solidFill>
                        <a:schemeClr val="accent4">
                          <a:lumMod val="75000"/>
                        </a:schemeClr>
                      </a:solidFill>
                      <a:prstDash val="solid"/>
                      <a:round/>
                      <a:headEnd type="none" w="med" len="med"/>
                      <a:tailEnd type="none" w="med" len="med"/>
                    </a:lnR>
                    <a:solidFill>
                      <a:srgbClr val="EBF3EB"/>
                    </a:solidFill>
                  </a:tcPr>
                </a:tc>
                <a:extLst>
                  <a:ext uri="{0D108BD9-81ED-4DB2-BD59-A6C34878D82A}">
                    <a16:rowId xmlns:a16="http://schemas.microsoft.com/office/drawing/2014/main" val="720940688"/>
                  </a:ext>
                </a:extLst>
              </a:tr>
              <a:tr h="191510">
                <a:tc>
                  <a:txBody>
                    <a:bodyPr/>
                    <a:lstStyle/>
                    <a:p>
                      <a:r>
                        <a:rPr lang="en-US" sz="1100" b="1"/>
                        <a:t>Broad coverage / covers more / all 5</a:t>
                      </a:r>
                    </a:p>
                  </a:txBody>
                  <a:tcPr marT="0" marB="0" anchor="ctr">
                    <a:lnL w="12700" cap="flat" cmpd="sng" algn="ctr">
                      <a:solidFill>
                        <a:schemeClr val="accent4">
                          <a:lumMod val="75000"/>
                        </a:schemeClr>
                      </a:solidFill>
                      <a:prstDash val="solid"/>
                      <a:round/>
                      <a:headEnd type="none" w="med" len="med"/>
                      <a:tailEnd type="none" w="med" len="med"/>
                    </a:lnL>
                    <a:lnB w="12700" cap="flat" cmpd="sng" algn="ctr">
                      <a:solidFill>
                        <a:schemeClr val="accent4">
                          <a:lumMod val="75000"/>
                        </a:schemeClr>
                      </a:solidFill>
                      <a:prstDash val="solid"/>
                      <a:round/>
                      <a:headEnd type="none" w="med" len="med"/>
                      <a:tailEnd type="none" w="med" len="med"/>
                    </a:lnB>
                    <a:solidFill>
                      <a:srgbClr val="EBF3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11%</a:t>
                      </a:r>
                    </a:p>
                  </a:txBody>
                  <a:tcPr marT="0" marB="0" anchor="ctr">
                    <a:lnR w="12700" cap="flat" cmpd="sng" algn="ctr">
                      <a:solidFill>
                        <a:schemeClr val="accent4">
                          <a:lumMod val="75000"/>
                        </a:schemeClr>
                      </a:solidFill>
                      <a:prstDash val="solid"/>
                      <a:round/>
                      <a:headEnd type="none" w="med" len="med"/>
                      <a:tailEnd type="none" w="med" len="med"/>
                    </a:lnR>
                    <a:lnB w="12700" cap="flat" cmpd="sng" algn="ctr">
                      <a:solidFill>
                        <a:schemeClr val="accent4">
                          <a:lumMod val="75000"/>
                        </a:schemeClr>
                      </a:solidFill>
                      <a:prstDash val="solid"/>
                      <a:round/>
                      <a:headEnd type="none" w="med" len="med"/>
                      <a:tailEnd type="none" w="med" len="med"/>
                    </a:lnB>
                    <a:solidFill>
                      <a:srgbClr val="EBF3EB"/>
                    </a:solidFill>
                  </a:tcPr>
                </a:tc>
                <a:extLst>
                  <a:ext uri="{0D108BD9-81ED-4DB2-BD59-A6C34878D82A}">
                    <a16:rowId xmlns:a16="http://schemas.microsoft.com/office/drawing/2014/main" val="529606967"/>
                  </a:ext>
                </a:extLst>
              </a:tr>
            </a:tbl>
          </a:graphicData>
        </a:graphic>
      </p:graphicFrame>
      <p:graphicFrame>
        <p:nvGraphicFramePr>
          <p:cNvPr id="24" name="Table 23">
            <a:extLst>
              <a:ext uri="{FF2B5EF4-FFF2-40B4-BE49-F238E27FC236}">
                <a16:creationId xmlns:a16="http://schemas.microsoft.com/office/drawing/2014/main" id="{E180AA36-BB74-0825-9BD7-EC8417940837}"/>
              </a:ext>
            </a:extLst>
          </p:cNvPr>
          <p:cNvGraphicFramePr>
            <a:graphicFrameLocks noGrp="1"/>
          </p:cNvGraphicFramePr>
          <p:nvPr>
            <p:extLst>
              <p:ext uri="{D42A27DB-BD31-4B8C-83A1-F6EECF244321}">
                <p14:modId xmlns:p14="http://schemas.microsoft.com/office/powerpoint/2010/main" val="2332206524"/>
              </p:ext>
            </p:extLst>
          </p:nvPr>
        </p:nvGraphicFramePr>
        <p:xfrm>
          <a:off x="5971387" y="3659223"/>
          <a:ext cx="5852160" cy="2316480"/>
        </p:xfrm>
        <a:graphic>
          <a:graphicData uri="http://schemas.openxmlformats.org/drawingml/2006/table">
            <a:tbl>
              <a:tblPr firstRow="1" bandRow="1">
                <a:tableStyleId>{93296810-A885-4BE3-A3E7-6D5BEEA58F35}</a:tableStyleId>
              </a:tblPr>
              <a:tblGrid>
                <a:gridCol w="4937760">
                  <a:extLst>
                    <a:ext uri="{9D8B030D-6E8A-4147-A177-3AD203B41FA5}">
                      <a16:colId xmlns:a16="http://schemas.microsoft.com/office/drawing/2014/main" val="980891169"/>
                    </a:ext>
                  </a:extLst>
                </a:gridCol>
                <a:gridCol w="914400">
                  <a:extLst>
                    <a:ext uri="{9D8B030D-6E8A-4147-A177-3AD203B41FA5}">
                      <a16:colId xmlns:a16="http://schemas.microsoft.com/office/drawing/2014/main" val="765208812"/>
                    </a:ext>
                  </a:extLst>
                </a:gridCol>
              </a:tblGrid>
              <a:tr h="191510">
                <a:tc>
                  <a:txBody>
                    <a:bodyPr/>
                    <a:lstStyle/>
                    <a:p>
                      <a:pPr algn="l"/>
                      <a:r>
                        <a:rPr lang="en-US" sz="1100" b="1"/>
                        <a:t>Reasons Not Highly Likely</a:t>
                      </a:r>
                    </a:p>
                  </a:txBody>
                  <a:tcPr marT="18288" marB="18288" anchor="ctr">
                    <a:lnL w="12700" cap="flat" cmpd="sng" algn="ctr">
                      <a:solidFill>
                        <a:schemeClr val="tx1">
                          <a:lumMod val="65000"/>
                          <a:lumOff val="35000"/>
                        </a:schemeClr>
                      </a:solidFill>
                      <a:prstDash val="solid"/>
                      <a:round/>
                      <a:headEnd type="none" w="med" len="med"/>
                      <a:tailEnd type="none" w="med" len="med"/>
                    </a:lnL>
                    <a:lnT w="12700" cap="flat" cmpd="sng" algn="ctr">
                      <a:solidFill>
                        <a:schemeClr val="tx1">
                          <a:lumMod val="65000"/>
                          <a:lumOff val="35000"/>
                        </a:schemeClr>
                      </a:solidFill>
                      <a:prstDash val="solid"/>
                      <a:round/>
                      <a:headEnd type="none" w="med" len="med"/>
                      <a:tailEnd type="none" w="med" len="med"/>
                    </a:lnT>
                    <a:solidFill>
                      <a:schemeClr val="bg1">
                        <a:lumMod val="65000"/>
                      </a:schemeClr>
                    </a:solidFill>
                  </a:tcPr>
                </a:tc>
                <a:tc>
                  <a:txBody>
                    <a:bodyPr/>
                    <a:lstStyle/>
                    <a:p>
                      <a:pPr algn="ctr"/>
                      <a:endParaRPr lang="en-US" sz="1100" b="1"/>
                    </a:p>
                  </a:txBody>
                  <a:tcPr marT="18288" marB="18288">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solidFill>
                      <a:schemeClr val="bg1">
                        <a:lumMod val="65000"/>
                      </a:schemeClr>
                    </a:solidFill>
                  </a:tcPr>
                </a:tc>
                <a:extLst>
                  <a:ext uri="{0D108BD9-81ED-4DB2-BD59-A6C34878D82A}">
                    <a16:rowId xmlns:a16="http://schemas.microsoft.com/office/drawing/2014/main" val="2785626216"/>
                  </a:ext>
                </a:extLst>
              </a:tr>
              <a:tr h="192024">
                <a:tc>
                  <a:txBody>
                    <a:bodyPr/>
                    <a:lstStyle/>
                    <a:p>
                      <a:r>
                        <a:rPr lang="en-US" sz="1100" b="1"/>
                        <a:t>Stocking barriers (Net)</a:t>
                      </a:r>
                    </a:p>
                  </a:txBody>
                  <a:tcPr marT="0" marB="0" anchor="ctr">
                    <a:lnL w="12700" cap="flat" cmpd="sng" algn="ctr">
                      <a:solidFill>
                        <a:schemeClr val="tx1">
                          <a:lumMod val="65000"/>
                          <a:lumOff val="35000"/>
                        </a:schemeClr>
                      </a:solidFill>
                      <a:prstDash val="solid"/>
                      <a:round/>
                      <a:headEnd type="none" w="med" len="med"/>
                      <a:tailEnd type="none" w="med" len="med"/>
                    </a:lnL>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26%</a:t>
                      </a:r>
                    </a:p>
                  </a:txBody>
                  <a:tcPr marT="0" marB="0" anchor="ctr">
                    <a:lnR w="12700" cap="flat" cmpd="sng" algn="ctr">
                      <a:solidFill>
                        <a:schemeClr val="tx1">
                          <a:lumMod val="65000"/>
                          <a:lumOff val="35000"/>
                        </a:schemeClr>
                      </a:solidFill>
                      <a:prstDash val="solid"/>
                      <a:round/>
                      <a:headEnd type="none" w="med" len="med"/>
                      <a:tailEnd type="none" w="med" len="med"/>
                    </a:lnR>
                    <a:solidFill>
                      <a:srgbClr val="F2F2F2"/>
                    </a:solidFill>
                  </a:tcPr>
                </a:tc>
                <a:extLst>
                  <a:ext uri="{0D108BD9-81ED-4DB2-BD59-A6C34878D82A}">
                    <a16:rowId xmlns:a16="http://schemas.microsoft.com/office/drawing/2014/main" val="3035588992"/>
                  </a:ext>
                </a:extLst>
              </a:tr>
              <a:tr h="192024">
                <a:tc>
                  <a:txBody>
                    <a:bodyPr/>
                    <a:lstStyle/>
                    <a:p>
                      <a:r>
                        <a:rPr lang="en-US" sz="1100"/>
                        <a:t>Do not want to stock multiple Vxs / Bexsero / GSK</a:t>
                      </a:r>
                    </a:p>
                  </a:txBody>
                  <a:tcPr marL="274320" marT="0" marB="0" anchor="ctr">
                    <a:lnL w="12700" cap="flat" cmpd="sng" algn="ctr">
                      <a:solidFill>
                        <a:schemeClr val="tx1">
                          <a:lumMod val="65000"/>
                          <a:lumOff val="35000"/>
                        </a:schemeClr>
                      </a:solid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25%</a:t>
                      </a:r>
                    </a:p>
                  </a:txBody>
                  <a:tcPr marT="0" marB="0" anchor="ctr">
                    <a:lnR w="12700" cap="flat" cmpd="sng" algn="ctr">
                      <a:solidFill>
                        <a:schemeClr val="tx1">
                          <a:lumMod val="65000"/>
                          <a:lumOff val="35000"/>
                        </a:schemeClr>
                      </a:solidFill>
                      <a:prstDash val="solid"/>
                      <a:round/>
                      <a:headEnd type="none" w="med" len="med"/>
                      <a:tailEnd type="none" w="med" len="med"/>
                    </a:lnR>
                    <a:solidFill>
                      <a:schemeClr val="bg1"/>
                    </a:solidFill>
                  </a:tcPr>
                </a:tc>
                <a:extLst>
                  <a:ext uri="{0D108BD9-81ED-4DB2-BD59-A6C34878D82A}">
                    <a16:rowId xmlns:a16="http://schemas.microsoft.com/office/drawing/2014/main" val="3295064838"/>
                  </a:ext>
                </a:extLst>
              </a:tr>
              <a:tr h="192024">
                <a:tc>
                  <a:txBody>
                    <a:bodyPr/>
                    <a:lstStyle/>
                    <a:p>
                      <a:r>
                        <a:rPr lang="en-US" sz="1100"/>
                        <a:t>Storage burden</a:t>
                      </a:r>
                    </a:p>
                  </a:txBody>
                  <a:tcPr marL="274320" marT="0" marB="0" anchor="ctr">
                    <a:lnL w="12700" cap="flat" cmpd="sng" algn="ctr">
                      <a:solidFill>
                        <a:schemeClr val="tx1">
                          <a:lumMod val="65000"/>
                          <a:lumOff val="35000"/>
                        </a:schemeClr>
                      </a:solid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2%</a:t>
                      </a:r>
                    </a:p>
                  </a:txBody>
                  <a:tcPr marT="0" marB="0" anchor="ctr">
                    <a:lnR w="12700" cap="flat" cmpd="sng" algn="ctr">
                      <a:solidFill>
                        <a:schemeClr val="tx1">
                          <a:lumMod val="65000"/>
                          <a:lumOff val="35000"/>
                        </a:schemeClr>
                      </a:solidFill>
                      <a:prstDash val="solid"/>
                      <a:round/>
                      <a:headEnd type="none" w="med" len="med"/>
                      <a:tailEnd type="none" w="med" len="med"/>
                    </a:lnR>
                    <a:solidFill>
                      <a:schemeClr val="bg1"/>
                    </a:solidFill>
                  </a:tcPr>
                </a:tc>
                <a:extLst>
                  <a:ext uri="{0D108BD9-81ED-4DB2-BD59-A6C34878D82A}">
                    <a16:rowId xmlns:a16="http://schemas.microsoft.com/office/drawing/2014/main" val="1300659004"/>
                  </a:ext>
                </a:extLst>
              </a:tr>
              <a:tr h="192024">
                <a:tc>
                  <a:txBody>
                    <a:bodyPr/>
                    <a:lstStyle/>
                    <a:p>
                      <a:r>
                        <a:rPr lang="en-US" sz="1100" b="1"/>
                        <a:t>Do not want to change practice (Net)</a:t>
                      </a:r>
                    </a:p>
                  </a:txBody>
                  <a:tcPr marT="0" marB="0" anchor="ctr">
                    <a:lnL w="12700" cap="flat" cmpd="sng" algn="ctr">
                      <a:solidFill>
                        <a:schemeClr val="tx1">
                          <a:lumMod val="65000"/>
                          <a:lumOff val="35000"/>
                        </a:schemeClr>
                      </a:solidFill>
                      <a:prstDash val="solid"/>
                      <a:round/>
                      <a:headEnd type="none" w="med" len="med"/>
                      <a:tailEnd type="none" w="med" len="med"/>
                    </a:lnL>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18%</a:t>
                      </a:r>
                    </a:p>
                  </a:txBody>
                  <a:tcPr marT="0" marB="0" anchor="ctr">
                    <a:lnR w="12700" cap="flat" cmpd="sng" algn="ctr">
                      <a:solidFill>
                        <a:schemeClr val="tx1">
                          <a:lumMod val="65000"/>
                          <a:lumOff val="35000"/>
                        </a:schemeClr>
                      </a:solidFill>
                      <a:prstDash val="solid"/>
                      <a:round/>
                      <a:headEnd type="none" w="med" len="med"/>
                      <a:tailEnd type="none" w="med" len="med"/>
                    </a:lnR>
                    <a:solidFill>
                      <a:srgbClr val="F2F2F2"/>
                    </a:solidFill>
                  </a:tcPr>
                </a:tc>
                <a:extLst>
                  <a:ext uri="{0D108BD9-81ED-4DB2-BD59-A6C34878D82A}">
                    <a16:rowId xmlns:a16="http://schemas.microsoft.com/office/drawing/2014/main" val="2485167806"/>
                  </a:ext>
                </a:extLst>
              </a:tr>
              <a:tr h="192024">
                <a:tc>
                  <a:txBody>
                    <a:bodyPr/>
                    <a:lstStyle/>
                    <a:p>
                      <a:r>
                        <a:rPr lang="en-US" sz="1100"/>
                        <a:t>Difficult to switch / confusing / takes time</a:t>
                      </a:r>
                    </a:p>
                  </a:txBody>
                  <a:tcPr marL="274320" marT="0" marB="0" anchor="ctr">
                    <a:lnL w="12700" cap="flat" cmpd="sng" algn="ctr">
                      <a:solidFill>
                        <a:schemeClr val="tx1">
                          <a:lumMod val="65000"/>
                          <a:lumOff val="35000"/>
                        </a:schemeClr>
                      </a:solid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9%</a:t>
                      </a:r>
                    </a:p>
                  </a:txBody>
                  <a:tcPr marT="0" marB="0" anchor="ctr">
                    <a:lnR w="12700" cap="flat" cmpd="sng" algn="ctr">
                      <a:solidFill>
                        <a:schemeClr val="tx1">
                          <a:lumMod val="65000"/>
                          <a:lumOff val="35000"/>
                        </a:schemeClr>
                      </a:solidFill>
                      <a:prstDash val="solid"/>
                      <a:round/>
                      <a:headEnd type="none" w="med" len="med"/>
                      <a:tailEnd type="none" w="med" len="med"/>
                    </a:lnR>
                    <a:solidFill>
                      <a:schemeClr val="bg1"/>
                    </a:solidFill>
                  </a:tcPr>
                </a:tc>
                <a:extLst>
                  <a:ext uri="{0D108BD9-81ED-4DB2-BD59-A6C34878D82A}">
                    <a16:rowId xmlns:a16="http://schemas.microsoft.com/office/drawing/2014/main" val="4016051402"/>
                  </a:ext>
                </a:extLst>
              </a:tr>
              <a:tr h="192024">
                <a:tc>
                  <a:txBody>
                    <a:bodyPr/>
                    <a:lstStyle/>
                    <a:p>
                      <a:r>
                        <a:rPr lang="en-US" sz="1100"/>
                        <a:t>Patient preference / hesitation / Not all want / get Men B / optional</a:t>
                      </a:r>
                    </a:p>
                  </a:txBody>
                  <a:tcPr marL="274320" marT="0" marB="0" anchor="ctr">
                    <a:lnL w="12700" cap="flat" cmpd="sng" algn="ctr">
                      <a:solidFill>
                        <a:schemeClr val="tx1">
                          <a:lumMod val="65000"/>
                          <a:lumOff val="35000"/>
                        </a:schemeClr>
                      </a:solid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9%</a:t>
                      </a:r>
                    </a:p>
                  </a:txBody>
                  <a:tcPr marT="0" marB="0" anchor="ctr">
                    <a:lnR w="12700" cap="flat" cmpd="sng" algn="ctr">
                      <a:solidFill>
                        <a:schemeClr val="tx1">
                          <a:lumMod val="65000"/>
                          <a:lumOff val="35000"/>
                        </a:schemeClr>
                      </a:solidFill>
                      <a:prstDash val="solid"/>
                      <a:round/>
                      <a:headEnd type="none" w="med" len="med"/>
                      <a:tailEnd type="none" w="med" len="med"/>
                    </a:lnR>
                    <a:solidFill>
                      <a:schemeClr val="bg1"/>
                    </a:solidFill>
                  </a:tcPr>
                </a:tc>
                <a:extLst>
                  <a:ext uri="{0D108BD9-81ED-4DB2-BD59-A6C34878D82A}">
                    <a16:rowId xmlns:a16="http://schemas.microsoft.com/office/drawing/2014/main" val="3177265743"/>
                  </a:ext>
                </a:extLst>
              </a:tr>
              <a:tr h="192024">
                <a:tc>
                  <a:txBody>
                    <a:bodyPr/>
                    <a:lstStyle/>
                    <a:p>
                      <a:r>
                        <a:rPr lang="en-US" sz="1100" b="1"/>
                        <a:t>Need more information first / too new</a:t>
                      </a:r>
                    </a:p>
                  </a:txBody>
                  <a:tcPr marT="0" marB="0" anchor="ctr">
                    <a:lnL w="12700" cap="flat" cmpd="sng" algn="ctr">
                      <a:solidFill>
                        <a:schemeClr val="tx1">
                          <a:lumMod val="65000"/>
                          <a:lumOff val="35000"/>
                        </a:schemeClr>
                      </a:solidFill>
                      <a:prstDash val="solid"/>
                      <a:round/>
                      <a:headEnd type="none" w="med" len="med"/>
                      <a:tailEnd type="none" w="med" len="med"/>
                    </a:lnL>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16%</a:t>
                      </a:r>
                    </a:p>
                  </a:txBody>
                  <a:tcPr marT="0" marB="0" anchor="ctr">
                    <a:lnR w="12700" cap="flat" cmpd="sng" algn="ctr">
                      <a:solidFill>
                        <a:schemeClr val="tx1">
                          <a:lumMod val="65000"/>
                          <a:lumOff val="35000"/>
                        </a:schemeClr>
                      </a:solidFill>
                      <a:prstDash val="solid"/>
                      <a:round/>
                      <a:headEnd type="none" w="med" len="med"/>
                      <a:tailEnd type="none" w="med" len="med"/>
                    </a:lnR>
                    <a:solidFill>
                      <a:srgbClr val="F2F2F2"/>
                    </a:solidFill>
                  </a:tcPr>
                </a:tc>
                <a:extLst>
                  <a:ext uri="{0D108BD9-81ED-4DB2-BD59-A6C34878D82A}">
                    <a16:rowId xmlns:a16="http://schemas.microsoft.com/office/drawing/2014/main" val="2901920652"/>
                  </a:ext>
                </a:extLst>
              </a:tr>
              <a:tr h="192024">
                <a:tc>
                  <a:txBody>
                    <a:bodyPr/>
                    <a:lstStyle/>
                    <a:p>
                      <a:r>
                        <a:rPr lang="en-US" sz="1100" b="1" dirty="0"/>
                        <a:t>No benefit / stock Penbraya / no need for another pentavalent</a:t>
                      </a:r>
                    </a:p>
                  </a:txBody>
                  <a:tcPr marT="0" marB="0" anchor="ctr">
                    <a:lnL w="12700" cap="flat" cmpd="sng" algn="ctr">
                      <a:solidFill>
                        <a:schemeClr val="tx1">
                          <a:lumMod val="65000"/>
                          <a:lumOff val="35000"/>
                        </a:schemeClr>
                      </a:solidFill>
                      <a:prstDash val="solid"/>
                      <a:round/>
                      <a:headEnd type="none" w="med" len="med"/>
                      <a:tailEnd type="none" w="med" len="med"/>
                    </a:lnL>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15%</a:t>
                      </a:r>
                    </a:p>
                  </a:txBody>
                  <a:tcPr marT="0" marB="0" anchor="ctr">
                    <a:lnR w="12700" cap="flat" cmpd="sng" algn="ctr">
                      <a:solidFill>
                        <a:schemeClr val="tx1">
                          <a:lumMod val="65000"/>
                          <a:lumOff val="35000"/>
                        </a:schemeClr>
                      </a:solidFill>
                      <a:prstDash val="solid"/>
                      <a:round/>
                      <a:headEnd type="none" w="med" len="med"/>
                      <a:tailEnd type="none" w="med" len="med"/>
                    </a:lnR>
                    <a:solidFill>
                      <a:srgbClr val="F2F2F2"/>
                    </a:solidFill>
                  </a:tcPr>
                </a:tc>
                <a:extLst>
                  <a:ext uri="{0D108BD9-81ED-4DB2-BD59-A6C34878D82A}">
                    <a16:rowId xmlns:a16="http://schemas.microsoft.com/office/drawing/2014/main" val="240174906"/>
                  </a:ext>
                </a:extLst>
              </a:tr>
              <a:tr h="192024">
                <a:tc>
                  <a:txBody>
                    <a:bodyPr/>
                    <a:lstStyle/>
                    <a:p>
                      <a:r>
                        <a:rPr lang="en-US" sz="1100" b="1"/>
                        <a:t>Costs, insurance coverage, reimbursement</a:t>
                      </a:r>
                    </a:p>
                  </a:txBody>
                  <a:tcPr marT="0" marB="0" anchor="ctr">
                    <a:lnL w="12700" cap="flat" cmpd="sng" algn="ctr">
                      <a:solidFill>
                        <a:schemeClr val="tx1">
                          <a:lumMod val="65000"/>
                          <a:lumOff val="35000"/>
                        </a:schemeClr>
                      </a:solidFill>
                      <a:prstDash val="solid"/>
                      <a:round/>
                      <a:headEnd type="none" w="med" len="med"/>
                      <a:tailEnd type="none" w="med" len="med"/>
                    </a:lnL>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13%</a:t>
                      </a:r>
                    </a:p>
                  </a:txBody>
                  <a:tcPr marT="0" marB="0" anchor="ctr">
                    <a:lnR w="12700" cap="flat" cmpd="sng" algn="ctr">
                      <a:solidFill>
                        <a:schemeClr val="tx1">
                          <a:lumMod val="65000"/>
                          <a:lumOff val="35000"/>
                        </a:schemeClr>
                      </a:solidFill>
                      <a:prstDash val="solid"/>
                      <a:round/>
                      <a:headEnd type="none" w="med" len="med"/>
                      <a:tailEnd type="none" w="med" len="med"/>
                    </a:lnR>
                    <a:solidFill>
                      <a:srgbClr val="F2F2F2"/>
                    </a:solidFill>
                  </a:tcPr>
                </a:tc>
                <a:extLst>
                  <a:ext uri="{0D108BD9-81ED-4DB2-BD59-A6C34878D82A}">
                    <a16:rowId xmlns:a16="http://schemas.microsoft.com/office/drawing/2014/main" val="3067320894"/>
                  </a:ext>
                </a:extLst>
              </a:tr>
              <a:tr h="192024">
                <a:tc>
                  <a:txBody>
                    <a:bodyPr/>
                    <a:lstStyle/>
                    <a:p>
                      <a:r>
                        <a:rPr lang="en-US" sz="1100" b="1"/>
                        <a:t>Patient preference / MenB optional</a:t>
                      </a:r>
                    </a:p>
                  </a:txBody>
                  <a:tcPr marT="0" marB="0" anchor="ctr">
                    <a:lnL w="12700" cap="flat" cmpd="sng" algn="ctr">
                      <a:solidFill>
                        <a:schemeClr val="tx1">
                          <a:lumMod val="65000"/>
                          <a:lumOff val="35000"/>
                        </a:schemeClr>
                      </a:solidFill>
                      <a:prstDash val="solid"/>
                      <a:round/>
                      <a:headEnd type="none" w="med" len="med"/>
                      <a:tailEnd type="none" w="med" len="med"/>
                    </a:lnL>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9%</a:t>
                      </a:r>
                    </a:p>
                  </a:txBody>
                  <a:tcPr marT="0" marB="0" anchor="ctr">
                    <a:lnR w="12700" cap="flat" cmpd="sng" algn="ctr">
                      <a:solidFill>
                        <a:schemeClr val="tx1">
                          <a:lumMod val="65000"/>
                          <a:lumOff val="35000"/>
                        </a:schemeClr>
                      </a:solidFill>
                      <a:prstDash val="solid"/>
                      <a:round/>
                      <a:headEnd type="none" w="med" len="med"/>
                      <a:tailEnd type="none" w="med" len="med"/>
                    </a:lnR>
                    <a:solidFill>
                      <a:srgbClr val="F2F2F2"/>
                    </a:solidFill>
                  </a:tcPr>
                </a:tc>
                <a:extLst>
                  <a:ext uri="{0D108BD9-81ED-4DB2-BD59-A6C34878D82A}">
                    <a16:rowId xmlns:a16="http://schemas.microsoft.com/office/drawing/2014/main" val="1169785946"/>
                  </a:ext>
                </a:extLst>
              </a:tr>
              <a:tr h="192024">
                <a:tc>
                  <a:txBody>
                    <a:bodyPr/>
                    <a:lstStyle/>
                    <a:p>
                      <a:r>
                        <a:rPr lang="en-US" sz="1100" b="1" i="0" u="none" strike="noStrike">
                          <a:solidFill>
                            <a:srgbClr val="000000"/>
                          </a:solidFill>
                          <a:effectLst/>
                          <a:latin typeface="Arial" panose="020B0604020202020204" pitchFamily="34" charset="0"/>
                        </a:rPr>
                        <a:t>Multiple Vxs increases risk of error / confusing / complicates schedule</a:t>
                      </a:r>
                      <a:endParaRPr lang="en-US" sz="1100" b="1"/>
                    </a:p>
                  </a:txBody>
                  <a:tcPr marT="0" marB="0" anchor="ctr">
                    <a:lnL w="12700" cap="flat" cmpd="sng" algn="ctr">
                      <a:solidFill>
                        <a:schemeClr val="tx1">
                          <a:lumMod val="65000"/>
                          <a:lumOff val="35000"/>
                        </a:schemeClr>
                      </a:solidFill>
                      <a:prstDash val="solid"/>
                      <a:round/>
                      <a:headEnd type="none" w="med" len="med"/>
                      <a:tailEnd type="none" w="med" len="med"/>
                    </a:lnL>
                    <a:lnB w="12700"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7%</a:t>
                      </a:r>
                    </a:p>
                  </a:txBody>
                  <a:tcPr marT="0" marB="0" anchor="ctr">
                    <a:lnR w="12700" cap="flat" cmpd="sng" algn="ctr">
                      <a:solidFill>
                        <a:schemeClr val="tx1">
                          <a:lumMod val="65000"/>
                          <a:lumOff val="35000"/>
                        </a:schemeClr>
                      </a:solidFill>
                      <a:prstDash val="solid"/>
                      <a:round/>
                      <a:headEnd type="none" w="med" len="med"/>
                      <a:tailEnd type="none" w="med" len="med"/>
                    </a:lnR>
                    <a:lnB w="12700" cap="flat" cmpd="sng" algn="ctr">
                      <a:solidFill>
                        <a:schemeClr val="tx1">
                          <a:lumMod val="65000"/>
                          <a:lumOff val="3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454535102"/>
                  </a:ext>
                </a:extLst>
              </a:tr>
            </a:tbl>
          </a:graphicData>
        </a:graphic>
      </p:graphicFrame>
      <p:grpSp>
        <p:nvGrpSpPr>
          <p:cNvPr id="68" name="Group 67">
            <a:extLst>
              <a:ext uri="{FF2B5EF4-FFF2-40B4-BE49-F238E27FC236}">
                <a16:creationId xmlns:a16="http://schemas.microsoft.com/office/drawing/2014/main" id="{1CC25131-7849-A6B7-AB2F-DE1F4F1B32E7}"/>
              </a:ext>
            </a:extLst>
          </p:cNvPr>
          <p:cNvGrpSpPr/>
          <p:nvPr/>
        </p:nvGrpSpPr>
        <p:grpSpPr>
          <a:xfrm>
            <a:off x="5109569" y="3652162"/>
            <a:ext cx="831554" cy="659176"/>
            <a:chOff x="3823608" y="4411198"/>
            <a:chExt cx="831554" cy="659176"/>
          </a:xfrm>
        </p:grpSpPr>
        <p:sp>
          <p:nvSpPr>
            <p:cNvPr id="55" name="Arrow: Right 54">
              <a:extLst>
                <a:ext uri="{FF2B5EF4-FFF2-40B4-BE49-F238E27FC236}">
                  <a16:creationId xmlns:a16="http://schemas.microsoft.com/office/drawing/2014/main" id="{07E963FB-E86B-9D0B-B134-274BD32F062A}"/>
                </a:ext>
              </a:extLst>
            </p:cNvPr>
            <p:cNvSpPr/>
            <p:nvPr/>
          </p:nvSpPr>
          <p:spPr bwMode="gray">
            <a:xfrm>
              <a:off x="3823608" y="4411198"/>
              <a:ext cx="831554" cy="659176"/>
            </a:xfrm>
            <a:prstGeom prst="rightArrow">
              <a:avLst/>
            </a:prstGeom>
            <a:solidFill>
              <a:schemeClr val="bg1">
                <a:lumMod val="65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800"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65E3948-DB9A-214B-86DE-E06CF018B2B7}"/>
                </a:ext>
              </a:extLst>
            </p:cNvPr>
            <p:cNvSpPr txBox="1"/>
            <p:nvPr/>
          </p:nvSpPr>
          <p:spPr bwMode="gray">
            <a:xfrm>
              <a:off x="4019332" y="4625370"/>
              <a:ext cx="493084" cy="230832"/>
            </a:xfrm>
            <a:prstGeom prst="rect">
              <a:avLst/>
            </a:prstGeom>
          </p:spPr>
          <p:txBody>
            <a:bodyPr wrap="none" lIns="45720" tIns="45720" rIns="45720" b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a:ea typeface="+mn-ea"/>
                  <a:cs typeface="+mn-cs"/>
                </a:rPr>
                <a:t>(n=128)</a:t>
              </a: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67" name="Group 66">
            <a:extLst>
              <a:ext uri="{FF2B5EF4-FFF2-40B4-BE49-F238E27FC236}">
                <a16:creationId xmlns:a16="http://schemas.microsoft.com/office/drawing/2014/main" id="{A209D835-6E5A-1375-FDA0-EFFAFED2728B}"/>
              </a:ext>
            </a:extLst>
          </p:cNvPr>
          <p:cNvGrpSpPr/>
          <p:nvPr/>
        </p:nvGrpSpPr>
        <p:grpSpPr>
          <a:xfrm>
            <a:off x="5109569" y="2731428"/>
            <a:ext cx="831553" cy="659176"/>
            <a:chOff x="3823608" y="3038073"/>
            <a:chExt cx="831553" cy="659176"/>
          </a:xfrm>
        </p:grpSpPr>
        <p:sp>
          <p:nvSpPr>
            <p:cNvPr id="23" name="Arrow: Right 22">
              <a:extLst>
                <a:ext uri="{FF2B5EF4-FFF2-40B4-BE49-F238E27FC236}">
                  <a16:creationId xmlns:a16="http://schemas.microsoft.com/office/drawing/2014/main" id="{CCF7C021-2F89-C8B5-8880-0D26A684E1A1}"/>
                </a:ext>
              </a:extLst>
            </p:cNvPr>
            <p:cNvSpPr/>
            <p:nvPr/>
          </p:nvSpPr>
          <p:spPr bwMode="gray">
            <a:xfrm>
              <a:off x="3823608" y="3038073"/>
              <a:ext cx="831553" cy="659176"/>
            </a:xfrm>
            <a:prstGeom prst="rightArrow">
              <a:avLst/>
            </a:prstGeom>
            <a:solidFill>
              <a:schemeClr val="accent4"/>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800"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58" name="TextBox 57">
              <a:extLst>
                <a:ext uri="{FF2B5EF4-FFF2-40B4-BE49-F238E27FC236}">
                  <a16:creationId xmlns:a16="http://schemas.microsoft.com/office/drawing/2014/main" id="{364FBF82-4792-536B-9EDB-ABF422715550}"/>
                </a:ext>
              </a:extLst>
            </p:cNvPr>
            <p:cNvSpPr txBox="1"/>
            <p:nvPr/>
          </p:nvSpPr>
          <p:spPr bwMode="gray">
            <a:xfrm>
              <a:off x="4083452" y="3252245"/>
              <a:ext cx="428964" cy="230832"/>
            </a:xfrm>
            <a:prstGeom prst="rect">
              <a:avLst/>
            </a:prstGeom>
          </p:spPr>
          <p:txBody>
            <a:bodyPr wrap="none" lIns="45720" tIns="45720" rIns="45720" b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a:ea typeface="+mn-ea"/>
                  <a:cs typeface="+mn-cs"/>
                </a:rPr>
                <a:t>(n=72)</a:t>
              </a: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5" name="TextBox 24">
            <a:extLst>
              <a:ext uri="{FF2B5EF4-FFF2-40B4-BE49-F238E27FC236}">
                <a16:creationId xmlns:a16="http://schemas.microsoft.com/office/drawing/2014/main" id="{FE3A8D7E-4B42-B217-8B29-D0995E0A6408}"/>
              </a:ext>
            </a:extLst>
          </p:cNvPr>
          <p:cNvSpPr txBox="1"/>
          <p:nvPr/>
        </p:nvSpPr>
        <p:spPr bwMode="gray">
          <a:xfrm>
            <a:off x="11580739" y="30070"/>
            <a:ext cx="557059" cy="244618"/>
          </a:xfrm>
          <a:prstGeom prst="rect">
            <a:avLst/>
          </a:prstGeom>
        </p:spPr>
        <p:txBody>
          <a:bodyPr wrap="none" lIns="45708" tIns="45708" rIns="45708" bIns="4570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100" i="1">
                <a:solidFill>
                  <a:srgbClr val="FFFFFF">
                    <a:lumMod val="65000"/>
                  </a:srgbClr>
                </a:solidFill>
                <a:latin typeface="Arial" panose="020B0604020202020204"/>
              </a:rPr>
              <a:t>Topline</a:t>
            </a:r>
          </a:p>
        </p:txBody>
      </p:sp>
    </p:spTree>
    <p:extLst>
      <p:ext uri="{BB962C8B-B14F-4D97-AF65-F5344CB8AC3E}">
        <p14:creationId xmlns:p14="http://schemas.microsoft.com/office/powerpoint/2010/main" val="68071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3" grpId="0">
        <p:bldAsOne/>
      </p:bldGraphic>
      <p:bldP spid="9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7FCBF2F-30AF-87E4-0712-9767CF0A7C4C}"/>
              </a:ext>
            </a:extLst>
          </p:cNvPr>
          <p:cNvSpPr>
            <a:spLocks noGrp="1"/>
          </p:cNvSpPr>
          <p:nvPr>
            <p:ph type="title"/>
          </p:nvPr>
        </p:nvSpPr>
        <p:spPr>
          <a:xfrm>
            <a:off x="1142123" y="170307"/>
            <a:ext cx="10011612" cy="850392"/>
          </a:xfrm>
        </p:spPr>
        <p:txBody>
          <a:bodyPr/>
          <a:lstStyle/>
          <a:p>
            <a:r>
              <a:rPr lang="en-US" dirty="0"/>
              <a:t>At least one-quarter of HCPs perceive </a:t>
            </a:r>
            <a:r>
              <a:rPr lang="en-US" dirty="0" err="1"/>
              <a:t>Penmenvy</a:t>
            </a:r>
            <a:r>
              <a:rPr lang="en-US" dirty="0"/>
              <a:t> to be a </a:t>
            </a:r>
            <a:r>
              <a:rPr lang="en-US" i="1" dirty="0"/>
              <a:t>significant improvement </a:t>
            </a:r>
            <a:r>
              <a:rPr lang="en-US" dirty="0"/>
              <a:t>over Penbraya or </a:t>
            </a:r>
            <a:r>
              <a:rPr lang="en-US" dirty="0" err="1"/>
              <a:t>MenACWY</a:t>
            </a:r>
            <a:r>
              <a:rPr lang="en-US" dirty="0"/>
              <a:t> + </a:t>
            </a:r>
            <a:r>
              <a:rPr lang="en-US" dirty="0" err="1"/>
              <a:t>MenB</a:t>
            </a:r>
            <a:r>
              <a:rPr lang="en-US" dirty="0"/>
              <a:t> vaccines; PEDs are more likely to report little to no improvement over other meningococcal Vx. options</a:t>
            </a:r>
          </a:p>
        </p:txBody>
      </p:sp>
      <p:sp>
        <p:nvSpPr>
          <p:cNvPr id="3" name="Text Placeholder 2">
            <a:extLst>
              <a:ext uri="{FF2B5EF4-FFF2-40B4-BE49-F238E27FC236}">
                <a16:creationId xmlns:a16="http://schemas.microsoft.com/office/drawing/2014/main" id="{7E7D77F8-FF4C-6E6B-CDDE-BEC76D359A2E}"/>
              </a:ext>
            </a:extLst>
          </p:cNvPr>
          <p:cNvSpPr>
            <a:spLocks noGrp="1"/>
          </p:cNvSpPr>
          <p:nvPr>
            <p:ph type="body" sz="quarter" idx="16"/>
          </p:nvPr>
        </p:nvSpPr>
        <p:spPr>
          <a:xfrm>
            <a:off x="1571625" y="6348660"/>
            <a:ext cx="8607485" cy="454996"/>
          </a:xfrm>
        </p:spPr>
        <p:txBody>
          <a:bodyPr wrap="none"/>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unbranded (Vaccine X) perceptions in the prior wave </a:t>
            </a:r>
          </a:p>
          <a:p>
            <a:pPr marL="228600" indent="-228600"/>
            <a:r>
              <a:rPr lang="en-US"/>
              <a:t>X6.	How much of an improvement do you consider Penmenvy (GSK’s 5-in-1 pentavalent vaccine for </a:t>
            </a:r>
            <a:r>
              <a:rPr lang="en-US" err="1"/>
              <a:t>MenABCWY</a:t>
            </a:r>
            <a:r>
              <a:rPr lang="en-US"/>
              <a:t>) to be over the current meningococcal vaccinations? </a:t>
            </a:r>
            <a:br>
              <a:rPr lang="en-US"/>
            </a:br>
            <a:r>
              <a:rPr lang="en-US"/>
              <a:t>(7-pt scale: 1=No improvement at all, 7=Significant improvement)</a:t>
            </a:r>
          </a:p>
        </p:txBody>
      </p:sp>
      <p:graphicFrame>
        <p:nvGraphicFramePr>
          <p:cNvPr id="5" name="Chart 4">
            <a:extLst>
              <a:ext uri="{FF2B5EF4-FFF2-40B4-BE49-F238E27FC236}">
                <a16:creationId xmlns:a16="http://schemas.microsoft.com/office/drawing/2014/main" id="{EEE31A4C-6C31-FACA-117A-7CC07AF28162}"/>
              </a:ext>
            </a:extLst>
          </p:cNvPr>
          <p:cNvGraphicFramePr/>
          <p:nvPr>
            <p:extLst>
              <p:ext uri="{D42A27DB-BD31-4B8C-83A1-F6EECF244321}">
                <p14:modId xmlns:p14="http://schemas.microsoft.com/office/powerpoint/2010/main" val="3232028154"/>
              </p:ext>
            </p:extLst>
          </p:nvPr>
        </p:nvGraphicFramePr>
        <p:xfrm>
          <a:off x="3352723" y="2583726"/>
          <a:ext cx="5127585" cy="3175047"/>
        </p:xfrm>
        <a:graphic>
          <a:graphicData uri="http://schemas.openxmlformats.org/drawingml/2006/chart">
            <c:chart xmlns:c="http://schemas.openxmlformats.org/drawingml/2006/chart" xmlns:r="http://schemas.openxmlformats.org/officeDocument/2006/relationships" r:id="rId3"/>
          </a:graphicData>
        </a:graphic>
      </p:graphicFrame>
      <p:grpSp>
        <p:nvGrpSpPr>
          <p:cNvPr id="6" name="Group 5">
            <a:extLst>
              <a:ext uri="{FF2B5EF4-FFF2-40B4-BE49-F238E27FC236}">
                <a16:creationId xmlns:a16="http://schemas.microsoft.com/office/drawing/2014/main" id="{C4B684DF-C100-896C-6B39-FFA669612820}"/>
              </a:ext>
            </a:extLst>
          </p:cNvPr>
          <p:cNvGrpSpPr/>
          <p:nvPr/>
        </p:nvGrpSpPr>
        <p:grpSpPr>
          <a:xfrm>
            <a:off x="7979286" y="2753324"/>
            <a:ext cx="1805264" cy="2309933"/>
            <a:chOff x="597388" y="2638477"/>
            <a:chExt cx="1805264" cy="2309933"/>
          </a:xfrm>
        </p:grpSpPr>
        <p:grpSp>
          <p:nvGrpSpPr>
            <p:cNvPr id="7" name="Group 6">
              <a:extLst>
                <a:ext uri="{FF2B5EF4-FFF2-40B4-BE49-F238E27FC236}">
                  <a16:creationId xmlns:a16="http://schemas.microsoft.com/office/drawing/2014/main" id="{B6F10ABA-D731-6C43-0FFA-4A24724DCBCB}"/>
                </a:ext>
              </a:extLst>
            </p:cNvPr>
            <p:cNvGrpSpPr/>
            <p:nvPr/>
          </p:nvGrpSpPr>
          <p:grpSpPr>
            <a:xfrm>
              <a:off x="597388" y="2638477"/>
              <a:ext cx="1805264" cy="480131"/>
              <a:chOff x="597388" y="3199654"/>
              <a:chExt cx="1805264" cy="480131"/>
            </a:xfrm>
          </p:grpSpPr>
          <p:sp>
            <p:nvSpPr>
              <p:cNvPr id="14" name="TextBox 13">
                <a:extLst>
                  <a:ext uri="{FF2B5EF4-FFF2-40B4-BE49-F238E27FC236}">
                    <a16:creationId xmlns:a16="http://schemas.microsoft.com/office/drawing/2014/main" id="{C316B531-C23C-8BD6-FCE4-C4413536DE83}"/>
                  </a:ext>
                </a:extLst>
              </p:cNvPr>
              <p:cNvSpPr txBox="1"/>
              <p:nvPr/>
            </p:nvSpPr>
            <p:spPr bwMode="gray">
              <a:xfrm>
                <a:off x="849983" y="3199654"/>
                <a:ext cx="1552669" cy="480131"/>
              </a:xfrm>
              <a:prstGeom prst="rect">
                <a:avLst/>
              </a:prstGeom>
            </p:spPr>
            <p:txBody>
              <a:bodyPr wrap="none" lIns="45720" tIns="45720" rIns="45720" bIns="45720" rtlCol="0" anchor="ctr"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Significant/High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Improvement (6,7)</a:t>
                </a:r>
              </a:p>
            </p:txBody>
          </p:sp>
          <p:sp>
            <p:nvSpPr>
              <p:cNvPr id="15" name="Oval 14">
                <a:extLst>
                  <a:ext uri="{FF2B5EF4-FFF2-40B4-BE49-F238E27FC236}">
                    <a16:creationId xmlns:a16="http://schemas.microsoft.com/office/drawing/2014/main" id="{656DD71B-B5C7-3EB9-17DD-8829EA4300A5}"/>
                  </a:ext>
                </a:extLst>
              </p:cNvPr>
              <p:cNvSpPr/>
              <p:nvPr/>
            </p:nvSpPr>
            <p:spPr bwMode="gray">
              <a:xfrm>
                <a:off x="597388" y="3348279"/>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400" b="1" i="0" u="none" strike="noStrike" kern="1200" cap="none" spc="0" normalizeH="0" baseline="0" noProof="0">
                  <a:ln>
                    <a:noFill/>
                  </a:ln>
                  <a:solidFill>
                    <a:srgbClr val="0000C9"/>
                  </a:solidFill>
                  <a:effectLst/>
                  <a:uLnTx/>
                  <a:uFillTx/>
                  <a:latin typeface="Arial" panose="020B0604020202020204"/>
                  <a:ea typeface="+mn-ea"/>
                  <a:cs typeface="+mn-cs"/>
                </a:endParaRPr>
              </a:p>
            </p:txBody>
          </p:sp>
        </p:grpSp>
        <p:grpSp>
          <p:nvGrpSpPr>
            <p:cNvPr id="8" name="Group 7">
              <a:extLst>
                <a:ext uri="{FF2B5EF4-FFF2-40B4-BE49-F238E27FC236}">
                  <a16:creationId xmlns:a16="http://schemas.microsoft.com/office/drawing/2014/main" id="{B3F14D08-9602-C979-ECEE-3924B450C33C}"/>
                </a:ext>
              </a:extLst>
            </p:cNvPr>
            <p:cNvGrpSpPr/>
            <p:nvPr/>
          </p:nvGrpSpPr>
          <p:grpSpPr>
            <a:xfrm>
              <a:off x="597388" y="3650327"/>
              <a:ext cx="1526342" cy="286232"/>
              <a:chOff x="597388" y="4244215"/>
              <a:chExt cx="1526342" cy="286232"/>
            </a:xfrm>
          </p:grpSpPr>
          <p:sp>
            <p:nvSpPr>
              <p:cNvPr id="12" name="Oval 11">
                <a:extLst>
                  <a:ext uri="{FF2B5EF4-FFF2-40B4-BE49-F238E27FC236}">
                    <a16:creationId xmlns:a16="http://schemas.microsoft.com/office/drawing/2014/main" id="{327895D8-79DC-F046-83D0-3E554733D5E0}"/>
                  </a:ext>
                </a:extLst>
              </p:cNvPr>
              <p:cNvSpPr/>
              <p:nvPr/>
            </p:nvSpPr>
            <p:spPr bwMode="gray">
              <a:xfrm>
                <a:off x="597388" y="4295891"/>
                <a:ext cx="182880" cy="182880"/>
              </a:xfrm>
              <a:prstGeom prst="ellipse">
                <a:avLst/>
              </a:prstGeom>
              <a:solidFill>
                <a:schemeClr val="bg1">
                  <a:lumMod val="75000"/>
                </a:schemeClr>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400"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F38DA1B7-E289-BC22-8756-817A005341B7}"/>
                  </a:ext>
                </a:extLst>
              </p:cNvPr>
              <p:cNvSpPr txBox="1"/>
              <p:nvPr/>
            </p:nvSpPr>
            <p:spPr bwMode="gray">
              <a:xfrm>
                <a:off x="849983" y="4244215"/>
                <a:ext cx="1273747" cy="286232"/>
              </a:xfrm>
              <a:prstGeom prst="rect">
                <a:avLst/>
              </a:prstGeom>
            </p:spPr>
            <p:txBody>
              <a:bodyPr wrap="none" lIns="45720" tIns="45720" rIns="45720" bIns="45720" rtlCol="0" anchor="ctr"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Moderate (3-5)</a:t>
                </a:r>
              </a:p>
            </p:txBody>
          </p:sp>
        </p:grpSp>
        <p:grpSp>
          <p:nvGrpSpPr>
            <p:cNvPr id="9" name="Group 8">
              <a:extLst>
                <a:ext uri="{FF2B5EF4-FFF2-40B4-BE49-F238E27FC236}">
                  <a16:creationId xmlns:a16="http://schemas.microsoft.com/office/drawing/2014/main" id="{D03D3E4A-3F0F-83C9-2851-9A4F0877EE1B}"/>
                </a:ext>
              </a:extLst>
            </p:cNvPr>
            <p:cNvGrpSpPr/>
            <p:nvPr/>
          </p:nvGrpSpPr>
          <p:grpSpPr>
            <a:xfrm>
              <a:off x="597388" y="4468279"/>
              <a:ext cx="1805264" cy="480131"/>
              <a:chOff x="597388" y="4721198"/>
              <a:chExt cx="1805264" cy="480131"/>
            </a:xfrm>
          </p:grpSpPr>
          <p:sp>
            <p:nvSpPr>
              <p:cNvPr id="10" name="Oval 9">
                <a:extLst>
                  <a:ext uri="{FF2B5EF4-FFF2-40B4-BE49-F238E27FC236}">
                    <a16:creationId xmlns:a16="http://schemas.microsoft.com/office/drawing/2014/main" id="{6E8D8B99-F667-BBA3-8957-B1E9482D79F0}"/>
                  </a:ext>
                </a:extLst>
              </p:cNvPr>
              <p:cNvSpPr/>
              <p:nvPr/>
            </p:nvSpPr>
            <p:spPr bwMode="gray">
              <a:xfrm>
                <a:off x="597388" y="4869823"/>
                <a:ext cx="182880" cy="182880"/>
              </a:xfrm>
              <a:prstGeom prst="ellipse">
                <a:avLst/>
              </a:prstGeom>
              <a:solidFill>
                <a:schemeClr val="accent6"/>
              </a:solidFill>
              <a:ln w="1270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400"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30329E89-B8E3-C844-BB38-2A0E53C0932A}"/>
                  </a:ext>
                </a:extLst>
              </p:cNvPr>
              <p:cNvSpPr txBox="1"/>
              <p:nvPr/>
            </p:nvSpPr>
            <p:spPr bwMode="gray">
              <a:xfrm>
                <a:off x="849983" y="4721198"/>
                <a:ext cx="1552669" cy="480131"/>
              </a:xfrm>
              <a:prstGeom prst="rect">
                <a:avLst/>
              </a:prstGeom>
            </p:spPr>
            <p:txBody>
              <a:bodyPr wrap="none" lIns="45720" tIns="45720" rIns="45720" bIns="45720" rtlCol="0" anchor="ctr"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Little/No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Improvement (1,2)</a:t>
                </a:r>
              </a:p>
            </p:txBody>
          </p:sp>
        </p:grpSp>
      </p:grpSp>
      <p:sp>
        <p:nvSpPr>
          <p:cNvPr id="18" name="TextBox 17">
            <a:extLst>
              <a:ext uri="{FF2B5EF4-FFF2-40B4-BE49-F238E27FC236}">
                <a16:creationId xmlns:a16="http://schemas.microsoft.com/office/drawing/2014/main" id="{6A6224F1-E875-9E00-F3ED-24A9C06FD212}"/>
              </a:ext>
            </a:extLst>
          </p:cNvPr>
          <p:cNvSpPr txBox="1"/>
          <p:nvPr/>
        </p:nvSpPr>
        <p:spPr bwMode="gray">
          <a:xfrm>
            <a:off x="3970800" y="1653469"/>
            <a:ext cx="4247226" cy="531428"/>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Penmenvy Improvement Over…</a:t>
            </a: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2" name="Rectangle: Rounded Corners 1">
            <a:extLst>
              <a:ext uri="{FF2B5EF4-FFF2-40B4-BE49-F238E27FC236}">
                <a16:creationId xmlns:a16="http://schemas.microsoft.com/office/drawing/2014/main" id="{0BA4AC67-5C07-8CCE-81E6-869DCAC59CD1}"/>
              </a:ext>
            </a:extLst>
          </p:cNvPr>
          <p:cNvSpPr/>
          <p:nvPr/>
        </p:nvSpPr>
        <p:spPr bwMode="gray">
          <a:xfrm>
            <a:off x="1142123" y="1543281"/>
            <a:ext cx="9850132"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marL="0" marR="0" lvl="0" indent="0" algn="ctr" defTabSz="914400" rtl="0" eaLnBrk="1" fontAlgn="base" latinLnBrk="0" hangingPunct="1">
              <a:lnSpc>
                <a:spcPct val="90000"/>
              </a:lnSpc>
              <a:spcBef>
                <a:spcPts val="0"/>
              </a:spcBef>
              <a:spcAft>
                <a:spcPct val="0"/>
              </a:spcAft>
              <a:buClr>
                <a:srgbClr val="0095FF"/>
              </a:buClr>
              <a:buSzPct val="90000"/>
              <a:buFontTx/>
              <a:buNone/>
              <a:tabLst/>
              <a:defRPr/>
            </a:pPr>
            <a:endParaRPr kumimoji="0" lang="en-US" sz="1800" b="1" i="0" u="none" strike="noStrike" kern="1200" cap="none" spc="0" normalizeH="0" baseline="0" noProof="0">
              <a:ln>
                <a:noFill/>
              </a:ln>
              <a:solidFill>
                <a:srgbClr val="0000C9"/>
              </a:solidFill>
              <a:effectLst/>
              <a:uLnTx/>
              <a:uFillTx/>
              <a:latin typeface="Arial" panose="020B0604020202020204"/>
              <a:ea typeface="+mn-ea"/>
              <a:cs typeface="+mn-cs"/>
            </a:endParaRPr>
          </a:p>
        </p:txBody>
      </p:sp>
      <p:grpSp>
        <p:nvGrpSpPr>
          <p:cNvPr id="19" name="Group 18">
            <a:extLst>
              <a:ext uri="{FF2B5EF4-FFF2-40B4-BE49-F238E27FC236}">
                <a16:creationId xmlns:a16="http://schemas.microsoft.com/office/drawing/2014/main" id="{AAA31007-238D-D02C-16A4-98E66EF805B9}"/>
              </a:ext>
            </a:extLst>
          </p:cNvPr>
          <p:cNvGrpSpPr/>
          <p:nvPr/>
        </p:nvGrpSpPr>
        <p:grpSpPr>
          <a:xfrm>
            <a:off x="1239093" y="1600319"/>
            <a:ext cx="650178" cy="539122"/>
            <a:chOff x="1686341" y="1600319"/>
            <a:chExt cx="650178" cy="539122"/>
          </a:xfrm>
        </p:grpSpPr>
        <p:cxnSp>
          <p:nvCxnSpPr>
            <p:cNvPr id="21" name="Straight Connector 20">
              <a:extLst>
                <a:ext uri="{FF2B5EF4-FFF2-40B4-BE49-F238E27FC236}">
                  <a16:creationId xmlns:a16="http://schemas.microsoft.com/office/drawing/2014/main" id="{6BE27962-5A61-9E23-FADC-73A2360091FB}"/>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2" name="TextBox 21">
              <a:extLst>
                <a:ext uri="{FF2B5EF4-FFF2-40B4-BE49-F238E27FC236}">
                  <a16:creationId xmlns:a16="http://schemas.microsoft.com/office/drawing/2014/main" id="{11F8048C-BAF5-C2FE-9552-9EB7CE7D9178}"/>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23" name="TextBox 22">
            <a:extLst>
              <a:ext uri="{FF2B5EF4-FFF2-40B4-BE49-F238E27FC236}">
                <a16:creationId xmlns:a16="http://schemas.microsoft.com/office/drawing/2014/main" id="{24ED1533-D5DB-0681-2A4D-01B0113A852B}"/>
              </a:ext>
            </a:extLst>
          </p:cNvPr>
          <p:cNvSpPr txBox="1"/>
          <p:nvPr/>
        </p:nvSpPr>
        <p:spPr bwMode="gray">
          <a:xfrm>
            <a:off x="1151120" y="1309548"/>
            <a:ext cx="826124" cy="33855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TOTAL</a:t>
            </a:r>
          </a:p>
        </p:txBody>
      </p:sp>
      <p:pic>
        <p:nvPicPr>
          <p:cNvPr id="17" name="Picture 16">
            <a:extLst>
              <a:ext uri="{FF2B5EF4-FFF2-40B4-BE49-F238E27FC236}">
                <a16:creationId xmlns:a16="http://schemas.microsoft.com/office/drawing/2014/main" id="{DAAD72DB-5D21-1C15-38DB-FD99DF14774F}"/>
              </a:ext>
            </a:extLst>
          </p:cNvPr>
          <p:cNvPicPr>
            <a:picLocks noChangeAspect="1"/>
          </p:cNvPicPr>
          <p:nvPr/>
        </p:nvPicPr>
        <p:blipFill>
          <a:blip r:embed="rId4"/>
          <a:stretch>
            <a:fillRect/>
          </a:stretch>
        </p:blipFill>
        <p:spPr>
          <a:xfrm>
            <a:off x="6193550" y="5206429"/>
            <a:ext cx="1798486" cy="318881"/>
          </a:xfrm>
          <a:prstGeom prst="rect">
            <a:avLst/>
          </a:prstGeom>
          <a:solidFill>
            <a:schemeClr val="bg1"/>
          </a:solidFill>
        </p:spPr>
      </p:pic>
      <p:sp>
        <p:nvSpPr>
          <p:cNvPr id="24" name="TextBox 23">
            <a:extLst>
              <a:ext uri="{FF2B5EF4-FFF2-40B4-BE49-F238E27FC236}">
                <a16:creationId xmlns:a16="http://schemas.microsoft.com/office/drawing/2014/main" id="{9A9F9E40-BB2F-4BA3-A0D4-B56D1F752DFB}"/>
              </a:ext>
            </a:extLst>
          </p:cNvPr>
          <p:cNvSpPr txBox="1"/>
          <p:nvPr/>
        </p:nvSpPr>
        <p:spPr bwMode="gray">
          <a:xfrm>
            <a:off x="3740111" y="4764303"/>
            <a:ext cx="655638"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marL="0" marR="0" lvl="0" indent="0"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21% PED &gt; </a:t>
            </a:r>
          </a:p>
          <a:p>
            <a:pPr marL="0" marR="0" lvl="0" indent="0" defTabSz="914400" rtl="0" eaLnBrk="1" fontAlgn="auto" latinLnBrk="0" hangingPunct="1">
              <a:lnSpc>
                <a:spcPct val="90000"/>
              </a:lnSpc>
              <a:spcBef>
                <a:spcPts val="0"/>
              </a:spcBef>
              <a:spcAft>
                <a:spcPts val="0"/>
              </a:spcAft>
              <a:buClrTx/>
              <a:buSzTx/>
              <a:buFontTx/>
              <a:buNone/>
              <a:tabLst/>
              <a:defRPr/>
            </a:pPr>
            <a:r>
              <a:rPr lang="en-US" sz="900">
                <a:solidFill>
                  <a:srgbClr val="000000">
                    <a:lumMod val="50000"/>
                    <a:lumOff val="50000"/>
                  </a:srgbClr>
                </a:solidFill>
                <a:latin typeface="Arial" panose="020B0604020202020204"/>
              </a:rPr>
              <a:t>  3%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25" name="TextBox 24">
            <a:extLst>
              <a:ext uri="{FF2B5EF4-FFF2-40B4-BE49-F238E27FC236}">
                <a16:creationId xmlns:a16="http://schemas.microsoft.com/office/drawing/2014/main" id="{A0F0728E-95AB-139E-7C16-145A93E1AB46}"/>
              </a:ext>
            </a:extLst>
          </p:cNvPr>
          <p:cNvSpPr txBox="1"/>
          <p:nvPr/>
        </p:nvSpPr>
        <p:spPr bwMode="gray">
          <a:xfrm>
            <a:off x="6094412" y="4624099"/>
            <a:ext cx="655638"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marL="0" marR="0" lvl="0" indent="0"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38% PED &gt; </a:t>
            </a:r>
          </a:p>
          <a:p>
            <a:pPr marL="0" marR="0" lvl="0" indent="0" defTabSz="914400" rtl="0" eaLnBrk="1" fontAlgn="auto" latinLnBrk="0" hangingPunct="1">
              <a:lnSpc>
                <a:spcPct val="90000"/>
              </a:lnSpc>
              <a:spcBef>
                <a:spcPts val="0"/>
              </a:spcBef>
              <a:spcAft>
                <a:spcPts val="0"/>
              </a:spcAft>
              <a:buClrTx/>
              <a:buSzTx/>
              <a:buFontTx/>
              <a:buNone/>
              <a:tabLst/>
              <a:defRPr/>
            </a:pPr>
            <a:r>
              <a:rPr lang="en-US" sz="900">
                <a:solidFill>
                  <a:srgbClr val="000000">
                    <a:lumMod val="50000"/>
                    <a:lumOff val="50000"/>
                  </a:srgbClr>
                </a:solidFill>
                <a:latin typeface="Arial" panose="020B0604020202020204"/>
              </a:rPr>
              <a:t>13%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4" name="TextBox 3">
            <a:extLst>
              <a:ext uri="{FF2B5EF4-FFF2-40B4-BE49-F238E27FC236}">
                <a16:creationId xmlns:a16="http://schemas.microsoft.com/office/drawing/2014/main" id="{F04794FA-17A4-ADAA-6D7C-BE944E5B7FC7}"/>
              </a:ext>
            </a:extLst>
          </p:cNvPr>
          <p:cNvSpPr txBox="1"/>
          <p:nvPr/>
        </p:nvSpPr>
        <p:spPr bwMode="gray">
          <a:xfrm>
            <a:off x="6011339" y="3590850"/>
            <a:ext cx="733915" cy="429334"/>
          </a:xfrm>
          <a:prstGeom prst="rect">
            <a:avLst/>
          </a:prstGeom>
          <a:solidFill>
            <a:schemeClr val="bg1"/>
          </a:solidFill>
          <a:ln w="6350">
            <a:solidFill>
              <a:schemeClr val="tx1">
                <a:lumMod val="50000"/>
                <a:lumOff val="50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38%</a:t>
            </a:r>
            <a:r>
              <a:rPr lang="en-US" altLang="en-US" sz="9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a:solidFill>
                  <a:srgbClr val="000000">
                    <a:lumMod val="50000"/>
                    <a:lumOff val="50000"/>
                  </a:srgbClr>
                </a:solidFill>
                <a:latin typeface="Arial" panose="020B0604020202020204"/>
              </a:rPr>
              <a:t>58%</a:t>
            </a:r>
            <a:r>
              <a:rPr lang="en-US" sz="900" baseline="30000">
                <a:solidFill>
                  <a:srgbClr val="000000">
                    <a:lumMod val="50000"/>
                    <a:lumOff val="50000"/>
                  </a:srgbClr>
                </a:solidFill>
              </a:rPr>
              <a:t>1</a:t>
            </a:r>
            <a:r>
              <a:rPr lang="en-US" sz="900">
                <a:solidFill>
                  <a:srgbClr val="000000">
                    <a:lumMod val="50000"/>
                    <a:lumOff val="50000"/>
                  </a:srgbClr>
                </a:solidFill>
                <a:latin typeface="Arial" panose="020B0604020202020204"/>
              </a:rPr>
              <a:t>	Tier 2 </a:t>
            </a:r>
          </a:p>
          <a:p>
            <a:pPr marL="400050" lvl="0" indent="-400050" defTabSz="914126">
              <a:lnSpc>
                <a:spcPct val="90000"/>
              </a:lnSpc>
              <a:defRPr/>
            </a:pPr>
            <a:r>
              <a:rPr lang="en-US" sz="900">
                <a:solidFill>
                  <a:srgbClr val="000000">
                    <a:lumMod val="50000"/>
                    <a:lumOff val="50000"/>
                  </a:srgbClr>
                </a:solidFill>
                <a:latin typeface="Arial" panose="020B0604020202020204"/>
              </a:rPr>
              <a:t>41%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71674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9ADE0173-3A61-6460-55E9-328A79521759}"/>
              </a:ext>
            </a:extLst>
          </p:cNvPr>
          <p:cNvPicPr>
            <a:picLocks noChangeAspect="1"/>
          </p:cNvPicPr>
          <p:nvPr/>
        </p:nvPicPr>
        <p:blipFill rotWithShape="1">
          <a:blip r:embed="rId3"/>
          <a:srcRect b="49265"/>
          <a:stretch/>
        </p:blipFill>
        <p:spPr>
          <a:xfrm>
            <a:off x="3966724" y="2488557"/>
            <a:ext cx="4255377" cy="2089498"/>
          </a:xfrm>
          <a:prstGeom prst="rect">
            <a:avLst/>
          </a:prstGeom>
        </p:spPr>
      </p:pic>
      <p:graphicFrame>
        <p:nvGraphicFramePr>
          <p:cNvPr id="6" name="Chart 5">
            <a:extLst>
              <a:ext uri="{FF2B5EF4-FFF2-40B4-BE49-F238E27FC236}">
                <a16:creationId xmlns:a16="http://schemas.microsoft.com/office/drawing/2014/main" id="{42D16F61-EB26-0986-80A9-CC5ED0626EA2}"/>
              </a:ext>
            </a:extLst>
          </p:cNvPr>
          <p:cNvGraphicFramePr/>
          <p:nvPr>
            <p:extLst>
              <p:ext uri="{D42A27DB-BD31-4B8C-83A1-F6EECF244321}">
                <p14:modId xmlns:p14="http://schemas.microsoft.com/office/powerpoint/2010/main" val="1447712381"/>
              </p:ext>
            </p:extLst>
          </p:nvPr>
        </p:nvGraphicFramePr>
        <p:xfrm>
          <a:off x="3124719" y="2436363"/>
          <a:ext cx="6254830" cy="4665668"/>
        </p:xfrm>
        <a:graphic>
          <a:graphicData uri="http://schemas.openxmlformats.org/drawingml/2006/chart">
            <c:chart xmlns:c="http://schemas.openxmlformats.org/drawingml/2006/chart" xmlns:r="http://schemas.openxmlformats.org/officeDocument/2006/relationships" r:id="rId4"/>
          </a:graphicData>
        </a:graphic>
      </p:graphicFrame>
      <p:sp>
        <p:nvSpPr>
          <p:cNvPr id="88" name="Rectangle 87">
            <a:extLst>
              <a:ext uri="{FF2B5EF4-FFF2-40B4-BE49-F238E27FC236}">
                <a16:creationId xmlns:a16="http://schemas.microsoft.com/office/drawing/2014/main" id="{28790FC0-A84B-4691-FB20-7E756B1A234A}"/>
              </a:ext>
            </a:extLst>
          </p:cNvPr>
          <p:cNvSpPr/>
          <p:nvPr/>
        </p:nvSpPr>
        <p:spPr>
          <a:xfrm>
            <a:off x="9296977" y="2015119"/>
            <a:ext cx="2596332" cy="4539704"/>
          </a:xfrm>
          <a:prstGeom prst="rect">
            <a:avLst/>
          </a:prstGeom>
        </p:spPr>
        <p:txBody>
          <a:bodyPr wrap="square" tIns="182880">
            <a:spAutoFit/>
          </a:bodyPr>
          <a:lstStyle/>
          <a:p>
            <a:pPr algn="ctr"/>
            <a:r>
              <a:rPr lang="en-US" sz="1200" i="1" dirty="0">
                <a:solidFill>
                  <a:schemeClr val="tx1">
                    <a:lumMod val="50000"/>
                    <a:lumOff val="50000"/>
                  </a:schemeClr>
                </a:solidFill>
              </a:rPr>
              <a:t>Experience with vaccine as the initial pentavalent vaccine and </a:t>
            </a:r>
            <a:br>
              <a:rPr lang="en-US" sz="1200" i="1" dirty="0">
                <a:solidFill>
                  <a:schemeClr val="tx1">
                    <a:lumMod val="50000"/>
                    <a:lumOff val="50000"/>
                  </a:schemeClr>
                </a:solidFill>
              </a:rPr>
            </a:br>
            <a:r>
              <a:rPr lang="en-US" sz="1200" i="1" dirty="0">
                <a:solidFill>
                  <a:schemeClr val="tx1">
                    <a:lumMod val="50000"/>
                    <a:lumOff val="50000"/>
                  </a:schemeClr>
                </a:solidFill>
              </a:rPr>
              <a:t>also prefer Trumenba.</a:t>
            </a:r>
          </a:p>
          <a:p>
            <a:pPr algn="ctr"/>
            <a:r>
              <a:rPr lang="en-US" sz="1200" dirty="0">
                <a:solidFill>
                  <a:schemeClr val="tx1">
                    <a:lumMod val="50000"/>
                    <a:lumOff val="50000"/>
                  </a:schemeClr>
                </a:solidFill>
              </a:rPr>
              <a:t>– PED</a:t>
            </a:r>
            <a:endParaRPr lang="en-US" sz="1200" i="1" dirty="0">
              <a:solidFill>
                <a:schemeClr val="tx1">
                  <a:lumMod val="50000"/>
                  <a:lumOff val="50000"/>
                </a:schemeClr>
              </a:solidFill>
            </a:endParaRPr>
          </a:p>
          <a:p>
            <a:pPr algn="ctr">
              <a:spcBef>
                <a:spcPts val="1200"/>
              </a:spcBef>
            </a:pPr>
            <a:r>
              <a:rPr lang="en-US" sz="1200" i="1" dirty="0">
                <a:solidFill>
                  <a:schemeClr val="tx1">
                    <a:lumMod val="50000"/>
                    <a:lumOff val="50000"/>
                  </a:schemeClr>
                </a:solidFill>
              </a:rPr>
              <a:t>We use other Pfizer vaccines and would therefore be more likely to receive a discount.</a:t>
            </a:r>
          </a:p>
          <a:p>
            <a:pPr algn="ctr"/>
            <a:r>
              <a:rPr lang="en-US" sz="1200" dirty="0">
                <a:solidFill>
                  <a:schemeClr val="tx1">
                    <a:lumMod val="50000"/>
                    <a:lumOff val="50000"/>
                  </a:schemeClr>
                </a:solidFill>
              </a:rPr>
              <a:t>– PED</a:t>
            </a:r>
            <a:endParaRPr lang="en-US" sz="1200" i="1" dirty="0">
              <a:solidFill>
                <a:schemeClr val="tx1">
                  <a:lumMod val="50000"/>
                  <a:lumOff val="50000"/>
                </a:schemeClr>
              </a:solidFill>
            </a:endParaRPr>
          </a:p>
          <a:p>
            <a:pPr algn="ctr">
              <a:spcBef>
                <a:spcPts val="1200"/>
              </a:spcBef>
            </a:pPr>
            <a:r>
              <a:rPr lang="en-US" sz="1200" i="1" dirty="0">
                <a:solidFill>
                  <a:schemeClr val="tx1">
                    <a:lumMod val="50000"/>
                    <a:lumOff val="50000"/>
                  </a:schemeClr>
                </a:solidFill>
              </a:rPr>
              <a:t>Better efficacy, familiarity, indications.                                     </a:t>
            </a:r>
            <a:r>
              <a:rPr lang="en-US" sz="1200" dirty="0">
                <a:solidFill>
                  <a:schemeClr val="tx1">
                    <a:lumMod val="50000"/>
                    <a:lumOff val="50000"/>
                  </a:schemeClr>
                </a:solidFill>
              </a:rPr>
              <a:t>– PCP</a:t>
            </a:r>
          </a:p>
          <a:p>
            <a:pPr algn="ctr">
              <a:spcBef>
                <a:spcPts val="1200"/>
              </a:spcBef>
            </a:pPr>
            <a:r>
              <a:rPr lang="en-US" sz="1200" i="1" dirty="0">
                <a:solidFill>
                  <a:schemeClr val="tx1">
                    <a:lumMod val="50000"/>
                    <a:lumOff val="50000"/>
                  </a:schemeClr>
                </a:solidFill>
              </a:rPr>
              <a:t>Needless reconstituting. </a:t>
            </a:r>
          </a:p>
          <a:p>
            <a:pPr algn="ctr"/>
            <a:r>
              <a:rPr lang="en-US" sz="1200" dirty="0">
                <a:solidFill>
                  <a:schemeClr val="tx1">
                    <a:lumMod val="50000"/>
                    <a:lumOff val="50000"/>
                  </a:schemeClr>
                </a:solidFill>
              </a:rPr>
              <a:t>– PED</a:t>
            </a:r>
          </a:p>
          <a:p>
            <a:pPr algn="ctr">
              <a:spcBef>
                <a:spcPts val="1200"/>
              </a:spcBef>
            </a:pPr>
            <a:r>
              <a:rPr lang="en-US" sz="1200" i="1" dirty="0">
                <a:solidFill>
                  <a:schemeClr val="tx1">
                    <a:lumMod val="50000"/>
                    <a:lumOff val="50000"/>
                  </a:schemeClr>
                </a:solidFill>
              </a:rPr>
              <a:t>Trust Pfizer concerning efficacy </a:t>
            </a:r>
            <a:br>
              <a:rPr lang="en-US" sz="1200" i="1" dirty="0">
                <a:solidFill>
                  <a:schemeClr val="tx1">
                    <a:lumMod val="50000"/>
                    <a:lumOff val="50000"/>
                  </a:schemeClr>
                </a:solidFill>
              </a:rPr>
            </a:br>
            <a:r>
              <a:rPr lang="en-US" sz="1200" i="1" dirty="0">
                <a:solidFill>
                  <a:schemeClr val="tx1">
                    <a:lumMod val="50000"/>
                    <a:lumOff val="50000"/>
                  </a:schemeClr>
                </a:solidFill>
              </a:rPr>
              <a:t>and safety</a:t>
            </a:r>
          </a:p>
          <a:p>
            <a:pPr algn="ctr"/>
            <a:r>
              <a:rPr lang="en-US" sz="1200" dirty="0">
                <a:solidFill>
                  <a:schemeClr val="tx1">
                    <a:lumMod val="50000"/>
                    <a:lumOff val="50000"/>
                  </a:schemeClr>
                </a:solidFill>
              </a:rPr>
              <a:t>– PED</a:t>
            </a:r>
          </a:p>
          <a:p>
            <a:pPr algn="ctr"/>
            <a:endParaRPr lang="en-US" sz="1200" i="1" dirty="0">
              <a:solidFill>
                <a:schemeClr val="tx1">
                  <a:lumMod val="50000"/>
                  <a:lumOff val="50000"/>
                </a:schemeClr>
              </a:solidFill>
            </a:endParaRPr>
          </a:p>
          <a:p>
            <a:pPr algn="ctr"/>
            <a:endParaRPr lang="en-US" sz="1200" i="1" dirty="0">
              <a:solidFill>
                <a:schemeClr val="tx1">
                  <a:lumMod val="50000"/>
                  <a:lumOff val="50000"/>
                </a:schemeClr>
              </a:solidFill>
            </a:endParaRPr>
          </a:p>
          <a:p>
            <a:pPr algn="ctr"/>
            <a:endParaRPr lang="en-US" sz="1200" i="1" dirty="0">
              <a:solidFill>
                <a:schemeClr val="tx1">
                  <a:lumMod val="50000"/>
                  <a:lumOff val="50000"/>
                </a:schemeClr>
              </a:solidFill>
            </a:endParaRPr>
          </a:p>
          <a:p>
            <a:pPr algn="ctr"/>
            <a:endParaRPr lang="en-US" sz="1200" i="1" dirty="0">
              <a:solidFill>
                <a:schemeClr val="tx1">
                  <a:lumMod val="50000"/>
                  <a:lumOff val="50000"/>
                </a:schemeClr>
              </a:solidFill>
            </a:endParaRPr>
          </a:p>
        </p:txBody>
      </p:sp>
      <p:sp>
        <p:nvSpPr>
          <p:cNvPr id="12" name="Rectangle: Rounded Corners 11">
            <a:extLst>
              <a:ext uri="{FF2B5EF4-FFF2-40B4-BE49-F238E27FC236}">
                <a16:creationId xmlns:a16="http://schemas.microsoft.com/office/drawing/2014/main" id="{1556C480-4957-C2B3-8038-031AD1C9AE06}"/>
              </a:ext>
            </a:extLst>
          </p:cNvPr>
          <p:cNvSpPr/>
          <p:nvPr/>
        </p:nvSpPr>
        <p:spPr bwMode="gray">
          <a:xfrm>
            <a:off x="175166" y="1540107"/>
            <a:ext cx="11857950" cy="4413221"/>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14" name="Group 13">
            <a:extLst>
              <a:ext uri="{FF2B5EF4-FFF2-40B4-BE49-F238E27FC236}">
                <a16:creationId xmlns:a16="http://schemas.microsoft.com/office/drawing/2014/main" id="{1BF6BFEE-9168-391D-4227-63E3DAD1A1B7}"/>
              </a:ext>
            </a:extLst>
          </p:cNvPr>
          <p:cNvGrpSpPr/>
          <p:nvPr/>
        </p:nvGrpSpPr>
        <p:grpSpPr>
          <a:xfrm>
            <a:off x="321883" y="1600319"/>
            <a:ext cx="650178" cy="539122"/>
            <a:chOff x="1686341" y="1600319"/>
            <a:chExt cx="650178" cy="539122"/>
          </a:xfrm>
        </p:grpSpPr>
        <p:cxnSp>
          <p:nvCxnSpPr>
            <p:cNvPr id="15" name="Straight Connector 14">
              <a:extLst>
                <a:ext uri="{FF2B5EF4-FFF2-40B4-BE49-F238E27FC236}">
                  <a16:creationId xmlns:a16="http://schemas.microsoft.com/office/drawing/2014/main" id="{63F6BE0E-B60F-6F6B-9FE3-0082A7FB0841}"/>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6" name="TextBox 15">
              <a:extLst>
                <a:ext uri="{FF2B5EF4-FFF2-40B4-BE49-F238E27FC236}">
                  <a16:creationId xmlns:a16="http://schemas.microsoft.com/office/drawing/2014/main" id="{46F32607-995A-7D6F-E85E-DCDF4A8A2E90}"/>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17" name="TextBox 16">
            <a:extLst>
              <a:ext uri="{FF2B5EF4-FFF2-40B4-BE49-F238E27FC236}">
                <a16:creationId xmlns:a16="http://schemas.microsoft.com/office/drawing/2014/main" id="{F928B0E5-1710-2348-A5FB-927DAE3244E3}"/>
              </a:ext>
            </a:extLst>
          </p:cNvPr>
          <p:cNvSpPr txBox="1"/>
          <p:nvPr/>
        </p:nvSpPr>
        <p:spPr bwMode="gray">
          <a:xfrm>
            <a:off x="233910" y="1299820"/>
            <a:ext cx="826124" cy="338554"/>
          </a:xfrm>
          <a:prstGeom prst="rect">
            <a:avLst/>
          </a:prstGeom>
          <a:noFill/>
        </p:spPr>
        <p:txBody>
          <a:bodyPr wrap="none">
            <a:spAutoFit/>
          </a:bodyPr>
          <a:lstStyle/>
          <a:p>
            <a:r>
              <a:rPr lang="en-US" sz="1600"/>
              <a:t>TOTAL</a:t>
            </a:r>
          </a:p>
        </p:txBody>
      </p:sp>
      <p:sp>
        <p:nvSpPr>
          <p:cNvPr id="83" name="Rectangle 82">
            <a:extLst>
              <a:ext uri="{FF2B5EF4-FFF2-40B4-BE49-F238E27FC236}">
                <a16:creationId xmlns:a16="http://schemas.microsoft.com/office/drawing/2014/main" id="{55C591B7-99A1-336D-9808-6F2CB3C67F90}"/>
              </a:ext>
            </a:extLst>
          </p:cNvPr>
          <p:cNvSpPr/>
          <p:nvPr/>
        </p:nvSpPr>
        <p:spPr>
          <a:xfrm>
            <a:off x="388679" y="2758898"/>
            <a:ext cx="2624523" cy="2939266"/>
          </a:xfrm>
          <a:prstGeom prst="rect">
            <a:avLst/>
          </a:prstGeom>
        </p:spPr>
        <p:txBody>
          <a:bodyPr wrap="square" tIns="182880">
            <a:spAutoFit/>
          </a:bodyPr>
          <a:lstStyle/>
          <a:p>
            <a:pPr algn="ctr"/>
            <a:r>
              <a:rPr lang="en-US" sz="1200" i="1">
                <a:solidFill>
                  <a:schemeClr val="tx1">
                    <a:lumMod val="50000"/>
                    <a:lumOff val="50000"/>
                  </a:schemeClr>
                </a:solidFill>
              </a:rPr>
              <a:t>We are a Bexsero office currently, and it would not require big changes to our stocking and ordering.</a:t>
            </a:r>
          </a:p>
          <a:p>
            <a:pPr algn="ctr"/>
            <a:r>
              <a:rPr lang="en-US" sz="1200">
                <a:solidFill>
                  <a:schemeClr val="tx1">
                    <a:lumMod val="50000"/>
                    <a:lumOff val="50000"/>
                  </a:schemeClr>
                </a:solidFill>
              </a:rPr>
              <a:t>– PED</a:t>
            </a:r>
          </a:p>
          <a:p>
            <a:pPr algn="ctr">
              <a:spcBef>
                <a:spcPts val="1200"/>
              </a:spcBef>
            </a:pPr>
            <a:r>
              <a:rPr lang="en-US" sz="1200" i="1">
                <a:solidFill>
                  <a:schemeClr val="tx1">
                    <a:lumMod val="50000"/>
                    <a:lumOff val="50000"/>
                  </a:schemeClr>
                </a:solidFill>
              </a:rPr>
              <a:t>Our portfolio with GSK is larger and we have more cost rebates and discounts for higher volumes.</a:t>
            </a:r>
          </a:p>
          <a:p>
            <a:pPr algn="ctr"/>
            <a:r>
              <a:rPr lang="en-US" sz="1200">
                <a:solidFill>
                  <a:schemeClr val="tx1">
                    <a:lumMod val="50000"/>
                    <a:lumOff val="50000"/>
                  </a:schemeClr>
                </a:solidFill>
              </a:rPr>
              <a:t>– PED</a:t>
            </a:r>
          </a:p>
          <a:p>
            <a:pPr algn="ctr">
              <a:spcBef>
                <a:spcPts val="1200"/>
              </a:spcBef>
            </a:pPr>
            <a:r>
              <a:rPr lang="en-US" sz="1200" i="1">
                <a:solidFill>
                  <a:schemeClr val="tx1">
                    <a:lumMod val="50000"/>
                    <a:lumOff val="50000"/>
                  </a:schemeClr>
                </a:solidFill>
              </a:rPr>
              <a:t>Easier dosing; Less vaccine </a:t>
            </a:r>
            <a:br>
              <a:rPr lang="en-US" sz="1200" i="1">
                <a:solidFill>
                  <a:schemeClr val="tx1">
                    <a:lumMod val="50000"/>
                    <a:lumOff val="50000"/>
                  </a:schemeClr>
                </a:solidFill>
              </a:rPr>
            </a:br>
            <a:r>
              <a:rPr lang="en-US" sz="1200" i="1">
                <a:solidFill>
                  <a:schemeClr val="tx1">
                    <a:lumMod val="50000"/>
                    <a:lumOff val="50000"/>
                  </a:schemeClr>
                </a:solidFill>
              </a:rPr>
              <a:t>storage space anticipated</a:t>
            </a:r>
          </a:p>
          <a:p>
            <a:pPr algn="ctr"/>
            <a:r>
              <a:rPr lang="en-US" sz="1200">
                <a:solidFill>
                  <a:schemeClr val="tx1">
                    <a:lumMod val="50000"/>
                    <a:lumOff val="50000"/>
                  </a:schemeClr>
                </a:solidFill>
              </a:rPr>
              <a:t>– PED</a:t>
            </a:r>
          </a:p>
          <a:p>
            <a:pPr algn="ctr"/>
            <a:endParaRPr lang="en-US" sz="1200" i="1">
              <a:solidFill>
                <a:schemeClr val="tx1">
                  <a:lumMod val="50000"/>
                  <a:lumOff val="50000"/>
                </a:schemeClr>
              </a:solidFill>
            </a:endParaRPr>
          </a:p>
          <a:p>
            <a:pPr algn="ctr"/>
            <a:endParaRPr lang="en-US" sz="1200" i="1">
              <a:solidFill>
                <a:schemeClr val="tx1">
                  <a:lumMod val="50000"/>
                  <a:lumOff val="50000"/>
                </a:schemeClr>
              </a:solidFill>
            </a:endParaRPr>
          </a:p>
        </p:txBody>
      </p:sp>
      <p:sp>
        <p:nvSpPr>
          <p:cNvPr id="3" name="Title 2">
            <a:extLst>
              <a:ext uri="{FF2B5EF4-FFF2-40B4-BE49-F238E27FC236}">
                <a16:creationId xmlns:a16="http://schemas.microsoft.com/office/drawing/2014/main" id="{CA62B1BB-932E-541A-F6E8-5ABC455877CC}"/>
              </a:ext>
            </a:extLst>
          </p:cNvPr>
          <p:cNvSpPr>
            <a:spLocks noGrp="1"/>
          </p:cNvSpPr>
          <p:nvPr>
            <p:ph type="title"/>
          </p:nvPr>
        </p:nvSpPr>
        <p:spPr>
          <a:xfrm>
            <a:off x="1142123" y="170307"/>
            <a:ext cx="10629330" cy="850392"/>
          </a:xfrm>
        </p:spPr>
        <p:txBody>
          <a:bodyPr/>
          <a:lstStyle/>
          <a:p>
            <a:r>
              <a:rPr lang="en-US" dirty="0"/>
              <a:t>While half of HCPs have no preference for either pentavalent vaccine, the other half is virtually split between recommending Penbraya (28%) over </a:t>
            </a:r>
            <a:r>
              <a:rPr lang="en-US" dirty="0" err="1"/>
              <a:t>Penmenvy</a:t>
            </a:r>
            <a:r>
              <a:rPr lang="en-US" dirty="0"/>
              <a:t> (22%)</a:t>
            </a:r>
          </a:p>
        </p:txBody>
      </p:sp>
      <p:sp>
        <p:nvSpPr>
          <p:cNvPr id="11" name="Text Placeholder 2">
            <a:extLst>
              <a:ext uri="{FF2B5EF4-FFF2-40B4-BE49-F238E27FC236}">
                <a16:creationId xmlns:a16="http://schemas.microsoft.com/office/drawing/2014/main" id="{A259A2E3-400F-F171-D0A7-FC5D0D7F00D1}"/>
              </a:ext>
            </a:extLst>
          </p:cNvPr>
          <p:cNvSpPr>
            <a:spLocks noGrp="1"/>
          </p:cNvSpPr>
          <p:nvPr>
            <p:ph type="body" sz="quarter" idx="16"/>
          </p:nvPr>
        </p:nvSpPr>
        <p:spPr>
          <a:xfrm>
            <a:off x="1571627" y="6139994"/>
            <a:ext cx="8123092" cy="605294"/>
          </a:xfrm>
        </p:spPr>
        <p:txBody>
          <a:bodyPr wrap="square">
            <a:spAutoFit/>
          </a:bodyPr>
          <a:lstStyle/>
          <a:p>
            <a:pPr marL="568325" indent="-568325"/>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unbranded (Vaccine X) perceptions in the prior wave </a:t>
            </a:r>
          </a:p>
          <a:p>
            <a:pPr marL="228600" indent="-228600"/>
            <a:r>
              <a:rPr lang="en-US" dirty="0"/>
              <a:t>X7.	Given what you know about both pentavalent vaccines for </a:t>
            </a:r>
            <a:r>
              <a:rPr lang="en-US" dirty="0" err="1"/>
              <a:t>MenABCWY</a:t>
            </a:r>
            <a:r>
              <a:rPr lang="en-US" dirty="0"/>
              <a:t> (Penbraya and </a:t>
            </a:r>
            <a:r>
              <a:rPr lang="en-US" dirty="0" err="1"/>
              <a:t>Penmenvy</a:t>
            </a:r>
            <a:r>
              <a:rPr lang="en-US" dirty="0"/>
              <a:t>), how likely are you to recommend one vaccine over the other? (5-pt scale: 1=Significantly more likely to recommend Vaccine X, 5=Significantly more likely to recommend Penbraya)</a:t>
            </a:r>
          </a:p>
          <a:p>
            <a:pPr marL="228600" indent="-228600"/>
            <a:r>
              <a:rPr lang="en-US" dirty="0"/>
              <a:t>X8.	Why are you [INSERT X7 RESPONSE]?</a:t>
            </a:r>
          </a:p>
        </p:txBody>
      </p:sp>
      <p:sp>
        <p:nvSpPr>
          <p:cNvPr id="8" name="TextBox 7">
            <a:extLst>
              <a:ext uri="{FF2B5EF4-FFF2-40B4-BE49-F238E27FC236}">
                <a16:creationId xmlns:a16="http://schemas.microsoft.com/office/drawing/2014/main" id="{EAD8D3B4-C59B-8B25-2AD5-257330314BE6}"/>
              </a:ext>
            </a:extLst>
          </p:cNvPr>
          <p:cNvSpPr txBox="1"/>
          <p:nvPr/>
        </p:nvSpPr>
        <p:spPr bwMode="gray">
          <a:xfrm>
            <a:off x="4522155" y="1653469"/>
            <a:ext cx="3144515" cy="729430"/>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Likelihood to Recommend </a:t>
            </a:r>
            <a:b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b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One Vaccine Over the Other</a:t>
            </a:r>
            <a:br>
              <a:rPr kumimoji="0" lang="en-US" sz="1800" b="1" i="0" u="none" strike="noStrike" kern="1200" cap="none" spc="0" normalizeH="0" baseline="0" noProof="0">
                <a:ln>
                  <a:noFill/>
                </a:ln>
                <a:solidFill>
                  <a:schemeClr val="bg1">
                    <a:lumMod val="50000"/>
                  </a:schemeClr>
                </a:solidFill>
                <a:effectLst/>
                <a:uLnTx/>
                <a:uFillTx/>
                <a:latin typeface="Arial" panose="020B0604020202020204"/>
                <a:ea typeface="+mn-ea"/>
                <a:cs typeface="+mn-cs"/>
              </a:rPr>
            </a:b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nvGrpSpPr>
          <p:cNvPr id="70" name="Group 69">
            <a:extLst>
              <a:ext uri="{FF2B5EF4-FFF2-40B4-BE49-F238E27FC236}">
                <a16:creationId xmlns:a16="http://schemas.microsoft.com/office/drawing/2014/main" id="{7B962792-03A0-7A4E-7F29-1A059E382C99}"/>
              </a:ext>
            </a:extLst>
          </p:cNvPr>
          <p:cNvGrpSpPr/>
          <p:nvPr/>
        </p:nvGrpSpPr>
        <p:grpSpPr>
          <a:xfrm>
            <a:off x="3178492" y="4582160"/>
            <a:ext cx="5831840" cy="1221477"/>
            <a:chOff x="3017520" y="4582160"/>
            <a:chExt cx="5831840" cy="1221477"/>
          </a:xfrm>
        </p:grpSpPr>
        <p:sp>
          <p:nvSpPr>
            <p:cNvPr id="44" name="Rectangle 43">
              <a:extLst>
                <a:ext uri="{FF2B5EF4-FFF2-40B4-BE49-F238E27FC236}">
                  <a16:creationId xmlns:a16="http://schemas.microsoft.com/office/drawing/2014/main" id="{30E2228B-009E-0A4C-C0C0-06482B0BA930}"/>
                </a:ext>
              </a:extLst>
            </p:cNvPr>
            <p:cNvSpPr/>
            <p:nvPr/>
          </p:nvSpPr>
          <p:spPr>
            <a:xfrm>
              <a:off x="3017520" y="4582160"/>
              <a:ext cx="5831840" cy="1221477"/>
            </a:xfrm>
            <a:prstGeom prst="rect">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endParaRPr lang="en-US" sz="1400">
                <a:solidFill>
                  <a:schemeClr val="tx1"/>
                </a:solidFill>
              </a:endParaRPr>
            </a:p>
          </p:txBody>
        </p:sp>
        <p:grpSp>
          <p:nvGrpSpPr>
            <p:cNvPr id="65" name="Group 64">
              <a:extLst>
                <a:ext uri="{FF2B5EF4-FFF2-40B4-BE49-F238E27FC236}">
                  <a16:creationId xmlns:a16="http://schemas.microsoft.com/office/drawing/2014/main" id="{3A244AB7-AA8C-43BA-2098-43602322E774}"/>
                </a:ext>
              </a:extLst>
            </p:cNvPr>
            <p:cNvGrpSpPr/>
            <p:nvPr/>
          </p:nvGrpSpPr>
          <p:grpSpPr>
            <a:xfrm>
              <a:off x="3068321" y="4711468"/>
              <a:ext cx="1280160" cy="1082953"/>
              <a:chOff x="3068321" y="4711468"/>
              <a:chExt cx="1280160" cy="1082953"/>
            </a:xfrm>
          </p:grpSpPr>
          <p:sp>
            <p:nvSpPr>
              <p:cNvPr id="60" name="Oval 59">
                <a:extLst>
                  <a:ext uri="{FF2B5EF4-FFF2-40B4-BE49-F238E27FC236}">
                    <a16:creationId xmlns:a16="http://schemas.microsoft.com/office/drawing/2014/main" id="{B68CCCA3-047C-5343-260E-773CBA7E021E}"/>
                  </a:ext>
                </a:extLst>
              </p:cNvPr>
              <p:cNvSpPr/>
              <p:nvPr/>
            </p:nvSpPr>
            <p:spPr>
              <a:xfrm>
                <a:off x="3616961" y="4711468"/>
                <a:ext cx="182880" cy="18288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61" name="TextBox 60">
                <a:extLst>
                  <a:ext uri="{FF2B5EF4-FFF2-40B4-BE49-F238E27FC236}">
                    <a16:creationId xmlns:a16="http://schemas.microsoft.com/office/drawing/2014/main" id="{BDC5B58E-45A8-8D79-6897-41CB0F63E7FC}"/>
                  </a:ext>
                </a:extLst>
              </p:cNvPr>
              <p:cNvSpPr txBox="1"/>
              <p:nvPr/>
            </p:nvSpPr>
            <p:spPr>
              <a:xfrm>
                <a:off x="3068321" y="4901869"/>
                <a:ext cx="1280160" cy="892552"/>
              </a:xfrm>
              <a:prstGeom prst="rect">
                <a:avLst/>
              </a:prstGeom>
              <a:noFill/>
              <a:ln>
                <a:noFill/>
                <a:prstDash val="dash"/>
              </a:ln>
            </p:spPr>
            <p:txBody>
              <a:bodyPr wrap="square">
                <a:spAutoFit/>
              </a:bodyPr>
              <a:lstStyle/>
              <a:p>
                <a:pPr algn="ctr"/>
                <a:r>
                  <a:rPr lang="en-US" sz="1200">
                    <a:latin typeface="+mj-lt"/>
                  </a:rPr>
                  <a:t>Significantly </a:t>
                </a:r>
                <a:r>
                  <a:rPr lang="en-US" sz="1200" u="sng">
                    <a:latin typeface="+mj-lt"/>
                  </a:rPr>
                  <a:t>more</a:t>
                </a:r>
                <a:r>
                  <a:rPr lang="en-US" sz="1200">
                    <a:latin typeface="+mj-lt"/>
                  </a:rPr>
                  <a:t> likely to recommend</a:t>
                </a:r>
              </a:p>
              <a:p>
                <a:pPr algn="ctr"/>
                <a:r>
                  <a:rPr lang="en-US" sz="1600">
                    <a:latin typeface="+mj-lt"/>
                  </a:rPr>
                  <a:t> </a:t>
                </a:r>
                <a:r>
                  <a:rPr lang="en-US" sz="1600" b="1">
                    <a:solidFill>
                      <a:schemeClr val="accent6"/>
                    </a:solidFill>
                    <a:latin typeface="+mj-lt"/>
                  </a:rPr>
                  <a:t>Penmenvy</a:t>
                </a:r>
              </a:p>
            </p:txBody>
          </p:sp>
        </p:grpSp>
        <p:grpSp>
          <p:nvGrpSpPr>
            <p:cNvPr id="67" name="Group 66">
              <a:extLst>
                <a:ext uri="{FF2B5EF4-FFF2-40B4-BE49-F238E27FC236}">
                  <a16:creationId xmlns:a16="http://schemas.microsoft.com/office/drawing/2014/main" id="{2A0A71C2-D383-5B32-FD53-C39DD2EB27B0}"/>
                </a:ext>
              </a:extLst>
            </p:cNvPr>
            <p:cNvGrpSpPr/>
            <p:nvPr/>
          </p:nvGrpSpPr>
          <p:grpSpPr>
            <a:xfrm>
              <a:off x="5302003" y="4711468"/>
              <a:ext cx="1280160" cy="1021398"/>
              <a:chOff x="5302003" y="4711468"/>
              <a:chExt cx="1280160" cy="1021398"/>
            </a:xfrm>
          </p:grpSpPr>
          <p:sp>
            <p:nvSpPr>
              <p:cNvPr id="58" name="Oval 57">
                <a:extLst>
                  <a:ext uri="{FF2B5EF4-FFF2-40B4-BE49-F238E27FC236}">
                    <a16:creationId xmlns:a16="http://schemas.microsoft.com/office/drawing/2014/main" id="{3637810F-0290-1D2F-8200-C9A85E847F36}"/>
                  </a:ext>
                </a:extLst>
              </p:cNvPr>
              <p:cNvSpPr/>
              <p:nvPr/>
            </p:nvSpPr>
            <p:spPr>
              <a:xfrm>
                <a:off x="5850643" y="4711468"/>
                <a:ext cx="182880" cy="182880"/>
              </a:xfrm>
              <a:prstGeom prst="ellipse">
                <a:avLst/>
              </a:prstGeom>
              <a:solidFill>
                <a:schemeClr val="bg1">
                  <a:lumMod val="6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9" name="TextBox 58">
                <a:extLst>
                  <a:ext uri="{FF2B5EF4-FFF2-40B4-BE49-F238E27FC236}">
                    <a16:creationId xmlns:a16="http://schemas.microsoft.com/office/drawing/2014/main" id="{3B61E5D4-66B9-ED27-E35D-16A46F38555E}"/>
                  </a:ext>
                </a:extLst>
              </p:cNvPr>
              <p:cNvSpPr txBox="1"/>
              <p:nvPr/>
            </p:nvSpPr>
            <p:spPr>
              <a:xfrm>
                <a:off x="5302003" y="4901869"/>
                <a:ext cx="1280160" cy="830997"/>
              </a:xfrm>
              <a:prstGeom prst="rect">
                <a:avLst/>
              </a:prstGeom>
              <a:noFill/>
              <a:ln>
                <a:noFill/>
                <a:prstDash val="dash"/>
              </a:ln>
            </p:spPr>
            <p:txBody>
              <a:bodyPr wrap="square">
                <a:spAutoFit/>
              </a:bodyPr>
              <a:lstStyle/>
              <a:p>
                <a:pPr algn="ctr"/>
                <a:r>
                  <a:rPr lang="en-US" sz="1200">
                    <a:latin typeface="+mj-lt"/>
                  </a:rPr>
                  <a:t>Not likely to </a:t>
                </a:r>
              </a:p>
              <a:p>
                <a:pPr algn="ctr"/>
                <a:r>
                  <a:rPr lang="en-US" sz="1200">
                    <a:latin typeface="+mj-lt"/>
                  </a:rPr>
                  <a:t>recommend </a:t>
                </a:r>
                <a:br>
                  <a:rPr lang="en-US" sz="1200">
                    <a:latin typeface="+mj-lt"/>
                  </a:rPr>
                </a:br>
                <a:r>
                  <a:rPr lang="en-US" sz="1200">
                    <a:latin typeface="+mj-lt"/>
                  </a:rPr>
                  <a:t>one over</a:t>
                </a:r>
                <a:br>
                  <a:rPr lang="en-US" sz="1200">
                    <a:latin typeface="+mj-lt"/>
                  </a:rPr>
                </a:br>
                <a:r>
                  <a:rPr lang="en-US" sz="1200">
                    <a:latin typeface="+mj-lt"/>
                  </a:rPr>
                  <a:t>the other</a:t>
                </a:r>
              </a:p>
            </p:txBody>
          </p:sp>
        </p:grpSp>
        <p:grpSp>
          <p:nvGrpSpPr>
            <p:cNvPr id="66" name="Group 65">
              <a:extLst>
                <a:ext uri="{FF2B5EF4-FFF2-40B4-BE49-F238E27FC236}">
                  <a16:creationId xmlns:a16="http://schemas.microsoft.com/office/drawing/2014/main" id="{B8DB453D-92A1-B872-3DCD-C500E671B26D}"/>
                </a:ext>
              </a:extLst>
            </p:cNvPr>
            <p:cNvGrpSpPr/>
            <p:nvPr/>
          </p:nvGrpSpPr>
          <p:grpSpPr>
            <a:xfrm>
              <a:off x="4185162" y="4711468"/>
              <a:ext cx="1280160" cy="1082953"/>
              <a:chOff x="4185162" y="4711468"/>
              <a:chExt cx="1280160" cy="1082953"/>
            </a:xfrm>
          </p:grpSpPr>
          <p:sp>
            <p:nvSpPr>
              <p:cNvPr id="56" name="Oval 55">
                <a:extLst>
                  <a:ext uri="{FF2B5EF4-FFF2-40B4-BE49-F238E27FC236}">
                    <a16:creationId xmlns:a16="http://schemas.microsoft.com/office/drawing/2014/main" id="{BD53B9F0-D344-CA5F-1662-7DC74C35315D}"/>
                  </a:ext>
                </a:extLst>
              </p:cNvPr>
              <p:cNvSpPr/>
              <p:nvPr/>
            </p:nvSpPr>
            <p:spPr>
              <a:xfrm>
                <a:off x="4733802" y="4711468"/>
                <a:ext cx="182880" cy="182880"/>
              </a:xfrm>
              <a:prstGeom prst="ellipse">
                <a:avLst/>
              </a:prstGeom>
              <a:solidFill>
                <a:schemeClr val="accent6">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7" name="TextBox 56">
                <a:extLst>
                  <a:ext uri="{FF2B5EF4-FFF2-40B4-BE49-F238E27FC236}">
                    <a16:creationId xmlns:a16="http://schemas.microsoft.com/office/drawing/2014/main" id="{255047C0-4B4E-5080-650F-59D9CBBB338C}"/>
                  </a:ext>
                </a:extLst>
              </p:cNvPr>
              <p:cNvSpPr txBox="1"/>
              <p:nvPr/>
            </p:nvSpPr>
            <p:spPr>
              <a:xfrm>
                <a:off x="4185162" y="4901869"/>
                <a:ext cx="1280160" cy="892552"/>
              </a:xfrm>
              <a:prstGeom prst="rect">
                <a:avLst/>
              </a:prstGeom>
              <a:noFill/>
              <a:ln>
                <a:noFill/>
                <a:prstDash val="dash"/>
              </a:ln>
            </p:spPr>
            <p:txBody>
              <a:bodyPr wrap="square">
                <a:spAutoFit/>
              </a:bodyPr>
              <a:lstStyle/>
              <a:p>
                <a:pPr algn="ctr"/>
                <a:r>
                  <a:rPr lang="en-US" sz="1200">
                    <a:latin typeface="+mj-lt"/>
                  </a:rPr>
                  <a:t>Somewhat </a:t>
                </a:r>
                <a:r>
                  <a:rPr lang="en-US" sz="1200" u="sng">
                    <a:latin typeface="+mj-lt"/>
                  </a:rPr>
                  <a:t>more</a:t>
                </a:r>
                <a:r>
                  <a:rPr lang="en-US" sz="1200">
                    <a:latin typeface="+mj-lt"/>
                  </a:rPr>
                  <a:t> likely to recommend</a:t>
                </a:r>
              </a:p>
              <a:p>
                <a:pPr algn="ctr"/>
                <a:r>
                  <a:rPr lang="en-US" sz="1600">
                    <a:latin typeface="+mj-lt"/>
                  </a:rPr>
                  <a:t> </a:t>
                </a:r>
                <a:r>
                  <a:rPr lang="en-US" sz="1600" b="1">
                    <a:solidFill>
                      <a:schemeClr val="accent6"/>
                    </a:solidFill>
                  </a:rPr>
                  <a:t>Penmenvy</a:t>
                </a:r>
                <a:endParaRPr lang="en-US" sz="1600" b="1">
                  <a:solidFill>
                    <a:schemeClr val="accent6"/>
                  </a:solidFill>
                  <a:latin typeface="+mj-lt"/>
                </a:endParaRPr>
              </a:p>
            </p:txBody>
          </p:sp>
        </p:grpSp>
        <p:grpSp>
          <p:nvGrpSpPr>
            <p:cNvPr id="69" name="Group 68">
              <a:extLst>
                <a:ext uri="{FF2B5EF4-FFF2-40B4-BE49-F238E27FC236}">
                  <a16:creationId xmlns:a16="http://schemas.microsoft.com/office/drawing/2014/main" id="{8817A4A6-4D5F-D453-F0DA-B972DB88366F}"/>
                </a:ext>
              </a:extLst>
            </p:cNvPr>
            <p:cNvGrpSpPr/>
            <p:nvPr/>
          </p:nvGrpSpPr>
          <p:grpSpPr>
            <a:xfrm>
              <a:off x="7535685" y="4711468"/>
              <a:ext cx="1280160" cy="1082953"/>
              <a:chOff x="7535685" y="4711468"/>
              <a:chExt cx="1280160" cy="1082953"/>
            </a:xfrm>
          </p:grpSpPr>
          <p:sp>
            <p:nvSpPr>
              <p:cNvPr id="54" name="Oval 53">
                <a:extLst>
                  <a:ext uri="{FF2B5EF4-FFF2-40B4-BE49-F238E27FC236}">
                    <a16:creationId xmlns:a16="http://schemas.microsoft.com/office/drawing/2014/main" id="{07639441-27D4-A57C-7293-D31B0B2CF161}"/>
                  </a:ext>
                </a:extLst>
              </p:cNvPr>
              <p:cNvSpPr/>
              <p:nvPr/>
            </p:nvSpPr>
            <p:spPr>
              <a:xfrm>
                <a:off x="8084325" y="4711468"/>
                <a:ext cx="182880" cy="182880"/>
              </a:xfrm>
              <a:prstGeom prst="ellipse">
                <a:avLst/>
              </a:prstGeom>
              <a:solidFill>
                <a:srgbClr val="937DAD"/>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5" name="TextBox 54">
                <a:extLst>
                  <a:ext uri="{FF2B5EF4-FFF2-40B4-BE49-F238E27FC236}">
                    <a16:creationId xmlns:a16="http://schemas.microsoft.com/office/drawing/2014/main" id="{BC5CFDFB-3953-5E17-59DE-C45B1AB0EDC9}"/>
                  </a:ext>
                </a:extLst>
              </p:cNvPr>
              <p:cNvSpPr txBox="1"/>
              <p:nvPr/>
            </p:nvSpPr>
            <p:spPr>
              <a:xfrm>
                <a:off x="7535685" y="4901869"/>
                <a:ext cx="1280160" cy="892552"/>
              </a:xfrm>
              <a:prstGeom prst="rect">
                <a:avLst/>
              </a:prstGeom>
              <a:noFill/>
              <a:ln>
                <a:noFill/>
                <a:prstDash val="dash"/>
              </a:ln>
            </p:spPr>
            <p:txBody>
              <a:bodyPr wrap="square">
                <a:spAutoFit/>
              </a:bodyPr>
              <a:lstStyle/>
              <a:p>
                <a:pPr algn="ctr"/>
                <a:r>
                  <a:rPr lang="en-US" sz="1200" dirty="0">
                    <a:latin typeface="+mj-lt"/>
                  </a:rPr>
                  <a:t>Significantly </a:t>
                </a:r>
                <a:r>
                  <a:rPr lang="en-US" sz="1200" u="sng" dirty="0">
                    <a:latin typeface="+mj-lt"/>
                  </a:rPr>
                  <a:t>more</a:t>
                </a:r>
                <a:r>
                  <a:rPr lang="en-US" sz="1200" dirty="0">
                    <a:latin typeface="+mj-lt"/>
                  </a:rPr>
                  <a:t> likely to recommend</a:t>
                </a:r>
              </a:p>
              <a:p>
                <a:pPr algn="ctr"/>
                <a:r>
                  <a:rPr lang="en-US" sz="1600" b="1" dirty="0">
                    <a:solidFill>
                      <a:srgbClr val="937DAD"/>
                    </a:solidFill>
                    <a:latin typeface="+mj-lt"/>
                  </a:rPr>
                  <a:t>Penbraya</a:t>
                </a:r>
                <a:endParaRPr lang="en-US" sz="1200" b="1" dirty="0">
                  <a:solidFill>
                    <a:srgbClr val="937DAD"/>
                  </a:solidFill>
                  <a:latin typeface="+mj-lt"/>
                </a:endParaRPr>
              </a:p>
            </p:txBody>
          </p:sp>
        </p:grpSp>
        <p:grpSp>
          <p:nvGrpSpPr>
            <p:cNvPr id="68" name="Group 67">
              <a:extLst>
                <a:ext uri="{FF2B5EF4-FFF2-40B4-BE49-F238E27FC236}">
                  <a16:creationId xmlns:a16="http://schemas.microsoft.com/office/drawing/2014/main" id="{51E50959-EEB7-CFE6-F1E8-C366DDBA8923}"/>
                </a:ext>
              </a:extLst>
            </p:cNvPr>
            <p:cNvGrpSpPr/>
            <p:nvPr/>
          </p:nvGrpSpPr>
          <p:grpSpPr>
            <a:xfrm>
              <a:off x="6418844" y="4711468"/>
              <a:ext cx="1280160" cy="1082953"/>
              <a:chOff x="6418844" y="4711468"/>
              <a:chExt cx="1280160" cy="1082953"/>
            </a:xfrm>
          </p:grpSpPr>
          <p:sp>
            <p:nvSpPr>
              <p:cNvPr id="52" name="Oval 51">
                <a:extLst>
                  <a:ext uri="{FF2B5EF4-FFF2-40B4-BE49-F238E27FC236}">
                    <a16:creationId xmlns:a16="http://schemas.microsoft.com/office/drawing/2014/main" id="{CDD9CE27-7DAC-EE93-F1C2-82846B36AE97}"/>
                  </a:ext>
                </a:extLst>
              </p:cNvPr>
              <p:cNvSpPr/>
              <p:nvPr/>
            </p:nvSpPr>
            <p:spPr>
              <a:xfrm>
                <a:off x="6967484" y="4711468"/>
                <a:ext cx="182880" cy="182880"/>
              </a:xfrm>
              <a:prstGeom prst="ellipse">
                <a:avLst/>
              </a:prstGeom>
              <a:solidFill>
                <a:srgbClr val="CEC4D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3" name="TextBox 52">
                <a:extLst>
                  <a:ext uri="{FF2B5EF4-FFF2-40B4-BE49-F238E27FC236}">
                    <a16:creationId xmlns:a16="http://schemas.microsoft.com/office/drawing/2014/main" id="{C55E4F5F-76B2-2693-B2F1-FD734F596813}"/>
                  </a:ext>
                </a:extLst>
              </p:cNvPr>
              <p:cNvSpPr txBox="1"/>
              <p:nvPr/>
            </p:nvSpPr>
            <p:spPr>
              <a:xfrm>
                <a:off x="6418844" y="4901869"/>
                <a:ext cx="1280160" cy="892552"/>
              </a:xfrm>
              <a:prstGeom prst="rect">
                <a:avLst/>
              </a:prstGeom>
              <a:noFill/>
              <a:ln>
                <a:noFill/>
                <a:prstDash val="dash"/>
              </a:ln>
            </p:spPr>
            <p:txBody>
              <a:bodyPr wrap="square">
                <a:spAutoFit/>
              </a:bodyPr>
              <a:lstStyle/>
              <a:p>
                <a:pPr algn="ctr"/>
                <a:r>
                  <a:rPr lang="en-US" sz="1200" dirty="0">
                    <a:latin typeface="+mj-lt"/>
                  </a:rPr>
                  <a:t>Somewhat </a:t>
                </a:r>
                <a:r>
                  <a:rPr lang="en-US" sz="1200" u="sng" dirty="0">
                    <a:latin typeface="+mj-lt"/>
                  </a:rPr>
                  <a:t>more</a:t>
                </a:r>
                <a:r>
                  <a:rPr lang="en-US" sz="1200" dirty="0">
                    <a:latin typeface="+mj-lt"/>
                  </a:rPr>
                  <a:t> likely to recommend</a:t>
                </a:r>
              </a:p>
              <a:p>
                <a:pPr algn="ctr"/>
                <a:r>
                  <a:rPr lang="en-US" sz="1600" b="1" dirty="0">
                    <a:solidFill>
                      <a:srgbClr val="937DAD"/>
                    </a:solidFill>
                    <a:latin typeface="+mj-lt"/>
                  </a:rPr>
                  <a:t>Penbraya</a:t>
                </a:r>
                <a:endParaRPr lang="en-US" sz="1200" b="1" dirty="0">
                  <a:solidFill>
                    <a:srgbClr val="937DAD"/>
                  </a:solidFill>
                  <a:latin typeface="+mj-lt"/>
                </a:endParaRPr>
              </a:p>
            </p:txBody>
          </p:sp>
        </p:grpSp>
      </p:grpSp>
      <p:grpSp>
        <p:nvGrpSpPr>
          <p:cNvPr id="26" name="Group 25">
            <a:extLst>
              <a:ext uri="{FF2B5EF4-FFF2-40B4-BE49-F238E27FC236}">
                <a16:creationId xmlns:a16="http://schemas.microsoft.com/office/drawing/2014/main" id="{610A9003-B010-81EB-5FD3-97A9FCC833E1}"/>
              </a:ext>
            </a:extLst>
          </p:cNvPr>
          <p:cNvGrpSpPr/>
          <p:nvPr/>
        </p:nvGrpSpPr>
        <p:grpSpPr>
          <a:xfrm>
            <a:off x="9511999" y="2137981"/>
            <a:ext cx="2222048" cy="3612579"/>
            <a:chOff x="9549070" y="2320861"/>
            <a:chExt cx="2222048" cy="3612579"/>
          </a:xfrm>
        </p:grpSpPr>
        <p:cxnSp>
          <p:nvCxnSpPr>
            <p:cNvPr id="74" name="Straight Connector 73">
              <a:extLst>
                <a:ext uri="{FF2B5EF4-FFF2-40B4-BE49-F238E27FC236}">
                  <a16:creationId xmlns:a16="http://schemas.microsoft.com/office/drawing/2014/main" id="{8BC99AED-EFE5-4280-A978-55F820D86667}"/>
                </a:ext>
              </a:extLst>
            </p:cNvPr>
            <p:cNvCxnSpPr>
              <a:cxnSpLocks/>
            </p:cNvCxnSpPr>
            <p:nvPr/>
          </p:nvCxnSpPr>
          <p:spPr>
            <a:xfrm>
              <a:off x="9549070" y="5933440"/>
              <a:ext cx="2033330" cy="0"/>
            </a:xfrm>
            <a:prstGeom prst="line">
              <a:avLst/>
            </a:prstGeom>
            <a:ln>
              <a:solidFill>
                <a:srgbClr val="937DAD"/>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4242B97-9D93-70F5-7DDB-C5E9B868C27D}"/>
                </a:ext>
              </a:extLst>
            </p:cNvPr>
            <p:cNvCxnSpPr>
              <a:cxnSpLocks/>
            </p:cNvCxnSpPr>
            <p:nvPr/>
          </p:nvCxnSpPr>
          <p:spPr>
            <a:xfrm>
              <a:off x="9625584" y="2320861"/>
              <a:ext cx="2145534" cy="0"/>
            </a:xfrm>
            <a:prstGeom prst="line">
              <a:avLst/>
            </a:prstGeom>
            <a:ln>
              <a:solidFill>
                <a:srgbClr val="937DAD"/>
              </a:solidFill>
            </a:ln>
          </p:spPr>
          <p:style>
            <a:lnRef idx="1">
              <a:schemeClr val="accent1"/>
            </a:lnRef>
            <a:fillRef idx="0">
              <a:schemeClr val="accent1"/>
            </a:fillRef>
            <a:effectRef idx="0">
              <a:schemeClr val="accent1"/>
            </a:effectRef>
            <a:fontRef idx="minor">
              <a:schemeClr val="tx1"/>
            </a:fontRef>
          </p:style>
        </p:cxnSp>
      </p:grpSp>
      <p:pic>
        <p:nvPicPr>
          <p:cNvPr id="77" name="Picture 6">
            <a:extLst>
              <a:ext uri="{FF2B5EF4-FFF2-40B4-BE49-F238E27FC236}">
                <a16:creationId xmlns:a16="http://schemas.microsoft.com/office/drawing/2014/main" id="{C81E327E-4997-2379-9E61-4EBD80624BC4}"/>
              </a:ext>
            </a:extLst>
          </p:cNvPr>
          <p:cNvPicPr>
            <a:picLocks noChangeAspect="1" noChangeArrowheads="1"/>
          </p:cNvPicPr>
          <p:nvPr/>
        </p:nvPicPr>
        <p:blipFill rotWithShape="1">
          <a:blip r:embed="rId5" cstate="print">
            <a:duotone>
              <a:schemeClr val="accent5">
                <a:shade val="45000"/>
                <a:satMod val="135000"/>
              </a:schemeClr>
              <a:prstClr val="white"/>
            </a:duotone>
            <a:extLst>
              <a:ext uri="{28A0092B-C50C-407E-A947-70E740481C1C}">
                <a14:useLocalDpi xmlns:a14="http://schemas.microsoft.com/office/drawing/2010/main" val="0"/>
              </a:ext>
            </a:extLst>
          </a:blip>
          <a:srcRect r="73864" b="73864"/>
          <a:stretch/>
        </p:blipFill>
        <p:spPr bwMode="auto">
          <a:xfrm>
            <a:off x="9048848" y="1800719"/>
            <a:ext cx="714553" cy="508416"/>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6">
            <a:extLst>
              <a:ext uri="{FF2B5EF4-FFF2-40B4-BE49-F238E27FC236}">
                <a16:creationId xmlns:a16="http://schemas.microsoft.com/office/drawing/2014/main" id="{0F9146B5-0CFC-6848-902B-2BA5F78BD713}"/>
              </a:ext>
            </a:extLst>
          </p:cNvPr>
          <p:cNvPicPr>
            <a:picLocks noChangeAspect="1" noChangeArrowheads="1"/>
          </p:cNvPicPr>
          <p:nvPr/>
        </p:nvPicPr>
        <p:blipFill rotWithShape="1">
          <a:blip r:embed="rId6" cstate="print">
            <a:duotone>
              <a:schemeClr val="accent5">
                <a:shade val="45000"/>
                <a:satMod val="135000"/>
              </a:schemeClr>
              <a:prstClr val="white"/>
            </a:duotone>
            <a:extLst>
              <a:ext uri="{28A0092B-C50C-407E-A947-70E740481C1C}">
                <a14:useLocalDpi xmlns:a14="http://schemas.microsoft.com/office/drawing/2010/main" val="0"/>
              </a:ext>
            </a:extLst>
          </a:blip>
          <a:srcRect l="70875" t="70875" r="3855" b="11211"/>
          <a:stretch/>
        </p:blipFill>
        <p:spPr bwMode="auto">
          <a:xfrm>
            <a:off x="11391959" y="5581981"/>
            <a:ext cx="689301" cy="348476"/>
          </a:xfrm>
          <a:prstGeom prst="rect">
            <a:avLst/>
          </a:prstGeom>
          <a:noFill/>
          <a:extLst>
            <a:ext uri="{909E8E84-426E-40DD-AFC4-6F175D3DCCD1}">
              <a14:hiddenFill xmlns:a14="http://schemas.microsoft.com/office/drawing/2010/main">
                <a:solidFill>
                  <a:srgbClr val="FFFFFF"/>
                </a:solidFill>
              </a14:hiddenFill>
            </a:ext>
          </a:extLst>
        </p:spPr>
      </p:pic>
      <p:grpSp>
        <p:nvGrpSpPr>
          <p:cNvPr id="80" name="Group 79">
            <a:extLst>
              <a:ext uri="{FF2B5EF4-FFF2-40B4-BE49-F238E27FC236}">
                <a16:creationId xmlns:a16="http://schemas.microsoft.com/office/drawing/2014/main" id="{E7B9FA68-1C5C-04A1-C7AB-B658AC293D59}"/>
              </a:ext>
            </a:extLst>
          </p:cNvPr>
          <p:cNvGrpSpPr/>
          <p:nvPr/>
        </p:nvGrpSpPr>
        <p:grpSpPr>
          <a:xfrm>
            <a:off x="649259" y="2736394"/>
            <a:ext cx="2038296" cy="2700145"/>
            <a:chOff x="2520609" y="4511988"/>
            <a:chExt cx="3657600" cy="1176972"/>
          </a:xfrm>
        </p:grpSpPr>
        <p:cxnSp>
          <p:nvCxnSpPr>
            <p:cNvPr id="81" name="Straight Connector 80">
              <a:extLst>
                <a:ext uri="{FF2B5EF4-FFF2-40B4-BE49-F238E27FC236}">
                  <a16:creationId xmlns:a16="http://schemas.microsoft.com/office/drawing/2014/main" id="{7CDFA9E4-E6BF-9D75-524F-CE0697B04145}"/>
                </a:ext>
              </a:extLst>
            </p:cNvPr>
            <p:cNvCxnSpPr>
              <a:cxnSpLocks/>
            </p:cNvCxnSpPr>
            <p:nvPr/>
          </p:nvCxnSpPr>
          <p:spPr>
            <a:xfrm>
              <a:off x="2520609" y="5688960"/>
              <a:ext cx="3439631"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81994DA-D722-B333-3A4A-4DFD30C14B9B}"/>
                </a:ext>
              </a:extLst>
            </p:cNvPr>
            <p:cNvCxnSpPr/>
            <p:nvPr/>
          </p:nvCxnSpPr>
          <p:spPr>
            <a:xfrm>
              <a:off x="2520609" y="4511988"/>
              <a:ext cx="36576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pic>
        <p:nvPicPr>
          <p:cNvPr id="84" name="Picture 6">
            <a:extLst>
              <a:ext uri="{FF2B5EF4-FFF2-40B4-BE49-F238E27FC236}">
                <a16:creationId xmlns:a16="http://schemas.microsoft.com/office/drawing/2014/main" id="{CCEED1E4-1AFE-C570-B71D-B7E85F0CC1D6}"/>
              </a:ext>
            </a:extLst>
          </p:cNvPr>
          <p:cNvPicPr>
            <a:picLocks noChangeAspect="1" noChangeArrowheads="1"/>
          </p:cNvPicPr>
          <p:nvPr/>
        </p:nvPicPr>
        <p:blipFill rotWithShape="1">
          <a:blip r:embed="rId7" cstate="print">
            <a:duotone>
              <a:schemeClr val="accent6">
                <a:shade val="45000"/>
                <a:satMod val="135000"/>
              </a:schemeClr>
              <a:prstClr val="white"/>
            </a:duotone>
            <a:alphaModFix amt="70000"/>
            <a:extLst>
              <a:ext uri="{28A0092B-C50C-407E-A947-70E740481C1C}">
                <a14:useLocalDpi xmlns:a14="http://schemas.microsoft.com/office/drawing/2010/main" val="0"/>
              </a:ext>
            </a:extLst>
          </a:blip>
          <a:srcRect r="73864" b="73864"/>
          <a:stretch/>
        </p:blipFill>
        <p:spPr bwMode="auto">
          <a:xfrm>
            <a:off x="118259" y="2409289"/>
            <a:ext cx="714553" cy="508416"/>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6">
            <a:extLst>
              <a:ext uri="{FF2B5EF4-FFF2-40B4-BE49-F238E27FC236}">
                <a16:creationId xmlns:a16="http://schemas.microsoft.com/office/drawing/2014/main" id="{7583790C-5708-BF8E-0E80-379360A25CFA}"/>
              </a:ext>
            </a:extLst>
          </p:cNvPr>
          <p:cNvPicPr>
            <a:picLocks noChangeAspect="1" noChangeArrowheads="1"/>
          </p:cNvPicPr>
          <p:nvPr/>
        </p:nvPicPr>
        <p:blipFill rotWithShape="1">
          <a:blip r:embed="rId6" cstate="print">
            <a:duotone>
              <a:schemeClr val="accent6">
                <a:shade val="45000"/>
                <a:satMod val="135000"/>
              </a:schemeClr>
              <a:prstClr val="white"/>
            </a:duotone>
            <a:alphaModFix amt="70000"/>
            <a:extLst>
              <a:ext uri="{28A0092B-C50C-407E-A947-70E740481C1C}">
                <a14:useLocalDpi xmlns:a14="http://schemas.microsoft.com/office/drawing/2010/main" val="0"/>
              </a:ext>
            </a:extLst>
          </a:blip>
          <a:srcRect l="70875" t="70875" r="3855" b="11211"/>
          <a:stretch/>
        </p:blipFill>
        <p:spPr bwMode="auto">
          <a:xfrm>
            <a:off x="2450832" y="5313680"/>
            <a:ext cx="689301" cy="348476"/>
          </a:xfrm>
          <a:prstGeom prst="rect">
            <a:avLst/>
          </a:prstGeom>
          <a:noFill/>
          <a:extLst>
            <a:ext uri="{909E8E84-426E-40DD-AFC4-6F175D3DCCD1}">
              <a14:hiddenFill xmlns:a14="http://schemas.microsoft.com/office/drawing/2010/main">
                <a:solidFill>
                  <a:srgbClr val="FFFFFF"/>
                </a:solidFill>
              </a14:hiddenFill>
            </a:ext>
          </a:extLst>
        </p:spPr>
      </p:pic>
      <p:sp>
        <p:nvSpPr>
          <p:cNvPr id="62" name="Oval 61">
            <a:extLst>
              <a:ext uri="{FF2B5EF4-FFF2-40B4-BE49-F238E27FC236}">
                <a16:creationId xmlns:a16="http://schemas.microsoft.com/office/drawing/2014/main" id="{08F594B9-1D59-2FF2-F26D-1B40429B2AD3}"/>
              </a:ext>
            </a:extLst>
          </p:cNvPr>
          <p:cNvSpPr/>
          <p:nvPr/>
        </p:nvSpPr>
        <p:spPr>
          <a:xfrm>
            <a:off x="5891212" y="4185846"/>
            <a:ext cx="406400" cy="406400"/>
          </a:xfrm>
          <a:prstGeom prst="ellipse">
            <a:avLst/>
          </a:prstGeom>
          <a:solidFill>
            <a:schemeClr val="tx1">
              <a:lumMod val="50000"/>
            </a:schemeClr>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a:latin typeface="+mj-lt"/>
              </a:rPr>
              <a:t>3.1</a:t>
            </a:r>
          </a:p>
        </p:txBody>
      </p:sp>
      <p:sp>
        <p:nvSpPr>
          <p:cNvPr id="7" name="TextBox 6">
            <a:extLst>
              <a:ext uri="{FF2B5EF4-FFF2-40B4-BE49-F238E27FC236}">
                <a16:creationId xmlns:a16="http://schemas.microsoft.com/office/drawing/2014/main" id="{2A0FD798-2078-510B-1D99-F93A87F914C9}"/>
              </a:ext>
            </a:extLst>
          </p:cNvPr>
          <p:cNvSpPr txBox="1"/>
          <p:nvPr/>
        </p:nvSpPr>
        <p:spPr bwMode="gray">
          <a:xfrm>
            <a:off x="1283735" y="900172"/>
            <a:ext cx="10794992" cy="642822"/>
          </a:xfrm>
          <a:prstGeom prst="rect">
            <a:avLst/>
          </a:prstGeom>
        </p:spPr>
        <p:txBody>
          <a:bodyPr wrap="square" lIns="45708" tIns="45708" rIns="45708" bIns="45708" rtlCol="0">
            <a:noAutofit/>
          </a:bodyPr>
          <a:lstStyle/>
          <a:p>
            <a:pPr marL="171399" marR="0" lvl="0" indent="-171399" algn="l" defTabSz="914126" rtl="0" eaLnBrk="1" fontAlgn="auto" latinLnBrk="0" hangingPunct="1">
              <a:lnSpc>
                <a:spcPct val="100000"/>
              </a:lnSpc>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rPr>
              <a:t>Penbraya preference is driven by Penbraya and Trumenba stockers (data not shown)</a:t>
            </a:r>
          </a:p>
        </p:txBody>
      </p:sp>
      <p:sp>
        <p:nvSpPr>
          <p:cNvPr id="18" name="TextBox 17">
            <a:extLst>
              <a:ext uri="{FF2B5EF4-FFF2-40B4-BE49-F238E27FC236}">
                <a16:creationId xmlns:a16="http://schemas.microsoft.com/office/drawing/2014/main" id="{D5536454-6A47-67FA-02F5-E8B4D3CD268E}"/>
              </a:ext>
            </a:extLst>
          </p:cNvPr>
          <p:cNvSpPr txBox="1"/>
          <p:nvPr/>
        </p:nvSpPr>
        <p:spPr bwMode="gray">
          <a:xfrm>
            <a:off x="8464786" y="3520606"/>
            <a:ext cx="553998" cy="341632"/>
          </a:xfrm>
          <a:prstGeom prst="rect">
            <a:avLst/>
          </a:prstGeom>
          <a:solidFill>
            <a:schemeClr val="bg1"/>
          </a:solidFill>
          <a:ln w="12700">
            <a:solidFill>
              <a:srgbClr val="937DAD"/>
            </a:solidFill>
            <a:prstDash val="dash"/>
          </a:ln>
        </p:spPr>
        <p:txBody>
          <a:bodyPr wrap="none" lIns="45720" tIns="45720" rIns="45720" bIns="45720" rtlCol="0">
            <a:spAutoFit/>
          </a:bodyPr>
          <a:lstStyle/>
          <a:p>
            <a:pPr algn="l">
              <a:lnSpc>
                <a:spcPct val="90000"/>
              </a:lnSpc>
              <a:spcBef>
                <a:spcPts val="1000"/>
              </a:spcBef>
            </a:pPr>
            <a:r>
              <a:rPr lang="en-US" b="1">
                <a:solidFill>
                  <a:srgbClr val="937DAD"/>
                </a:solidFill>
              </a:rPr>
              <a:t>28%</a:t>
            </a:r>
          </a:p>
        </p:txBody>
      </p:sp>
      <p:sp>
        <p:nvSpPr>
          <p:cNvPr id="21" name="TextBox 20">
            <a:extLst>
              <a:ext uri="{FF2B5EF4-FFF2-40B4-BE49-F238E27FC236}">
                <a16:creationId xmlns:a16="http://schemas.microsoft.com/office/drawing/2014/main" id="{6CDC0C61-9298-CBF5-56D7-DBFBBCFB7425}"/>
              </a:ext>
            </a:extLst>
          </p:cNvPr>
          <p:cNvSpPr txBox="1"/>
          <p:nvPr/>
        </p:nvSpPr>
        <p:spPr bwMode="gray">
          <a:xfrm>
            <a:off x="3101399" y="3563200"/>
            <a:ext cx="553998" cy="341632"/>
          </a:xfrm>
          <a:prstGeom prst="rect">
            <a:avLst/>
          </a:prstGeom>
          <a:solidFill>
            <a:schemeClr val="bg1"/>
          </a:solidFill>
          <a:ln w="12700">
            <a:solidFill>
              <a:schemeClr val="bg2">
                <a:lumMod val="50000"/>
              </a:schemeClr>
            </a:solidFill>
            <a:prstDash val="dash"/>
          </a:ln>
        </p:spPr>
        <p:txBody>
          <a:bodyPr wrap="none" lIns="45720" tIns="45720" rIns="45720" bIns="45720" rtlCol="0">
            <a:spAutoFit/>
          </a:bodyPr>
          <a:lstStyle/>
          <a:p>
            <a:pPr algn="l">
              <a:lnSpc>
                <a:spcPct val="90000"/>
              </a:lnSpc>
              <a:spcBef>
                <a:spcPts val="1000"/>
              </a:spcBef>
            </a:pPr>
            <a:r>
              <a:rPr lang="en-US" b="1">
                <a:solidFill>
                  <a:schemeClr val="accent6"/>
                </a:solidFill>
              </a:rPr>
              <a:t>22%</a:t>
            </a:r>
          </a:p>
        </p:txBody>
      </p:sp>
      <p:pic>
        <p:nvPicPr>
          <p:cNvPr id="9" name="Picture 8">
            <a:extLst>
              <a:ext uri="{FF2B5EF4-FFF2-40B4-BE49-F238E27FC236}">
                <a16:creationId xmlns:a16="http://schemas.microsoft.com/office/drawing/2014/main" id="{8D63B5E7-8714-5292-345C-BF65FE65D13B}"/>
              </a:ext>
            </a:extLst>
          </p:cNvPr>
          <p:cNvPicPr>
            <a:picLocks noChangeAspect="1"/>
          </p:cNvPicPr>
          <p:nvPr/>
        </p:nvPicPr>
        <p:blipFill>
          <a:blip r:embed="rId8"/>
          <a:stretch>
            <a:fillRect/>
          </a:stretch>
        </p:blipFill>
        <p:spPr>
          <a:xfrm rot="19427441">
            <a:off x="5517262" y="2699423"/>
            <a:ext cx="1261652" cy="1432311"/>
          </a:xfrm>
          <a:prstGeom prst="rect">
            <a:avLst/>
          </a:prstGeom>
        </p:spPr>
      </p:pic>
      <p:sp>
        <p:nvSpPr>
          <p:cNvPr id="19" name="Right Brace 18">
            <a:extLst>
              <a:ext uri="{FF2B5EF4-FFF2-40B4-BE49-F238E27FC236}">
                <a16:creationId xmlns:a16="http://schemas.microsoft.com/office/drawing/2014/main" id="{629A771B-8EC8-1792-1526-FAA4E85E34E8}"/>
              </a:ext>
            </a:extLst>
          </p:cNvPr>
          <p:cNvSpPr/>
          <p:nvPr/>
        </p:nvSpPr>
        <p:spPr bwMode="gray">
          <a:xfrm rot="20176015">
            <a:off x="8067399" y="3299764"/>
            <a:ext cx="330322" cy="868505"/>
          </a:xfrm>
          <a:prstGeom prst="rightBrace">
            <a:avLst/>
          </a:prstGeom>
          <a:noFill/>
          <a:ln w="12700" cap="rnd">
            <a:solidFill>
              <a:srgbClr val="937DAD"/>
            </a:solidFill>
            <a:prstDash val="solid"/>
            <a:round/>
            <a:headEnd/>
            <a:tailEnd/>
          </a:ln>
          <a:effectLst/>
        </p:spPr>
        <p:txBody>
          <a:bodyPr rtlCol="0" anchor="ctr"/>
          <a:lstStyle/>
          <a:p>
            <a:pPr algn="ctr"/>
            <a:endParaRPr lang="en-US">
              <a:ln>
                <a:solidFill>
                  <a:schemeClr val="accent5"/>
                </a:solidFill>
              </a:ln>
            </a:endParaRPr>
          </a:p>
        </p:txBody>
      </p:sp>
      <p:sp>
        <p:nvSpPr>
          <p:cNvPr id="23" name="Right Brace 22">
            <a:extLst>
              <a:ext uri="{FF2B5EF4-FFF2-40B4-BE49-F238E27FC236}">
                <a16:creationId xmlns:a16="http://schemas.microsoft.com/office/drawing/2014/main" id="{3B378E6F-494B-642C-2352-14C5C9EA14A4}"/>
              </a:ext>
            </a:extLst>
          </p:cNvPr>
          <p:cNvSpPr/>
          <p:nvPr/>
        </p:nvSpPr>
        <p:spPr bwMode="gray">
          <a:xfrm rot="1218622" flipH="1">
            <a:off x="3713640" y="3423622"/>
            <a:ext cx="330322" cy="868505"/>
          </a:xfrm>
          <a:prstGeom prst="rightBrace">
            <a:avLst/>
          </a:prstGeom>
          <a:noFill/>
          <a:ln w="12700" cap="rnd">
            <a:solidFill>
              <a:schemeClr val="accent6"/>
            </a:solidFill>
            <a:prstDash val="solid"/>
            <a:round/>
            <a:headEnd/>
            <a:tailEnd/>
          </a:ln>
          <a:effectLst/>
        </p:spPr>
        <p:txBody>
          <a:bodyPr rtlCol="0" anchor="ctr"/>
          <a:lstStyle/>
          <a:p>
            <a:pPr algn="ctr"/>
            <a:endParaRPr lang="en-US">
              <a:ln>
                <a:solidFill>
                  <a:schemeClr val="accent5"/>
                </a:solidFill>
              </a:ln>
            </a:endParaRPr>
          </a:p>
        </p:txBody>
      </p:sp>
      <p:sp>
        <p:nvSpPr>
          <p:cNvPr id="4" name="TextBox 3">
            <a:extLst>
              <a:ext uri="{FF2B5EF4-FFF2-40B4-BE49-F238E27FC236}">
                <a16:creationId xmlns:a16="http://schemas.microsoft.com/office/drawing/2014/main" id="{C0B3B66A-9EB1-8A9C-1AE5-096331D9F6CA}"/>
              </a:ext>
            </a:extLst>
          </p:cNvPr>
          <p:cNvSpPr txBox="1"/>
          <p:nvPr/>
        </p:nvSpPr>
        <p:spPr bwMode="gray">
          <a:xfrm>
            <a:off x="3013202" y="3040533"/>
            <a:ext cx="733915" cy="429334"/>
          </a:xfrm>
          <a:prstGeom prst="rect">
            <a:avLst/>
          </a:prstGeom>
          <a:noFill/>
          <a:ln w="6350">
            <a:solidFill>
              <a:schemeClr val="accent6">
                <a:lumMod val="75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19%</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30%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24%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2095B2FD-B1F1-5DB8-C46D-54F1C1151951}"/>
              </a:ext>
            </a:extLst>
          </p:cNvPr>
          <p:cNvSpPr txBox="1"/>
          <p:nvPr/>
        </p:nvSpPr>
        <p:spPr bwMode="gray">
          <a:xfrm>
            <a:off x="8374827" y="3028616"/>
            <a:ext cx="733915" cy="429334"/>
          </a:xfrm>
          <a:prstGeom prst="rect">
            <a:avLst/>
          </a:prstGeom>
          <a:noFill/>
          <a:ln w="6350">
            <a:solidFill>
              <a:schemeClr val="accent5"/>
            </a:solidFill>
            <a:prstDash val="solid"/>
          </a:ln>
        </p:spPr>
        <p:txBody>
          <a:bodyPr wrap="square" lIns="27432" tIns="27425" rIns="0" bIns="27425" rtlCol="0" anchor="ctr" anchorCtr="0">
            <a:spAutoFit/>
          </a:bodyPr>
          <a:lstStyle/>
          <a:p>
            <a:pPr marL="400050" lvl="0" indent="-400050" defTabSz="914126">
              <a:lnSpc>
                <a:spcPct val="90000"/>
              </a:lnSpc>
              <a:defRPr/>
            </a:pPr>
            <a:r>
              <a:rPr lang="en-US" sz="900" dirty="0">
                <a:solidFill>
                  <a:srgbClr val="000000">
                    <a:lumMod val="50000"/>
                    <a:lumOff val="50000"/>
                  </a:srgbClr>
                </a:solidFill>
                <a:latin typeface="Arial" panose="020B0604020202020204"/>
              </a:rPr>
              <a:t>32</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20%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21%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28270229-93B7-11E9-99C8-9FEAB5477A63}"/>
              </a:ext>
            </a:extLst>
          </p:cNvPr>
          <p:cNvSpPr txBox="1"/>
          <p:nvPr/>
        </p:nvSpPr>
        <p:spPr bwMode="gray">
          <a:xfrm>
            <a:off x="7171430" y="2306047"/>
            <a:ext cx="733915" cy="429334"/>
          </a:xfrm>
          <a:prstGeom prst="rect">
            <a:avLst/>
          </a:prstGeom>
          <a:noFill/>
          <a:ln w="6350">
            <a:solidFill>
              <a:schemeClr val="bg1">
                <a:lumMod val="65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lang="en-US" sz="900" dirty="0">
                <a:solidFill>
                  <a:srgbClr val="000000">
                    <a:lumMod val="50000"/>
                    <a:lumOff val="50000"/>
                  </a:srgbClr>
                </a:solidFill>
                <a:latin typeface="Arial" panose="020B0604020202020204"/>
              </a:rPr>
              <a:t>49</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50%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55%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CED1CA20-2778-6B08-8FA2-A02BBB4F0038}"/>
              </a:ext>
            </a:extLst>
          </p:cNvPr>
          <p:cNvSpPr txBox="1"/>
          <p:nvPr/>
        </p:nvSpPr>
        <p:spPr bwMode="gray">
          <a:xfrm>
            <a:off x="9883302" y="1032820"/>
            <a:ext cx="2145183" cy="286232"/>
          </a:xfrm>
          <a:prstGeom prst="rect">
            <a:avLst/>
          </a:prstGeom>
          <a:solidFill>
            <a:srgbClr val="00B0F0"/>
          </a:solidFill>
        </p:spPr>
        <p:txBody>
          <a:bodyPr wrap="square" lIns="45720" tIns="45720" rIns="45720" bIns="45720" rtlCol="0">
            <a:spAutoFit/>
          </a:bodyPr>
          <a:lstStyle/>
          <a:p>
            <a:pPr marR="0" algn="ctr" defTabSz="914400" rtl="0" eaLnBrk="1" fontAlgn="auto" latinLnBrk="0" hangingPunct="1">
              <a:lnSpc>
                <a:spcPct val="90000"/>
              </a:lnSpc>
              <a:spcBef>
                <a:spcPts val="0"/>
              </a:spcBef>
              <a:spcAft>
                <a:spcPts val="400"/>
              </a:spcAft>
              <a:buClrTx/>
              <a:buSzTx/>
              <a:tabLst/>
            </a:pPr>
            <a:r>
              <a:rPr lang="en-US" sz="1400" b="1" dirty="0">
                <a:solidFill>
                  <a:schemeClr val="bg1"/>
                </a:solidFill>
                <a:latin typeface="Arial" panose="020B0604020202020204"/>
              </a:rPr>
              <a:t>UPDATED/NEW SLIDE</a:t>
            </a:r>
          </a:p>
        </p:txBody>
      </p:sp>
    </p:spTree>
    <p:extLst>
      <p:ext uri="{BB962C8B-B14F-4D97-AF65-F5344CB8AC3E}">
        <p14:creationId xmlns:p14="http://schemas.microsoft.com/office/powerpoint/2010/main" val="2098279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E9EB3-456D-315D-8B64-53C2B5E1010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FC2C7B7-BC6F-69B6-D4D9-B4F3CA6B9630}"/>
              </a:ext>
            </a:extLst>
          </p:cNvPr>
          <p:cNvGrpSpPr/>
          <p:nvPr/>
        </p:nvGrpSpPr>
        <p:grpSpPr>
          <a:xfrm>
            <a:off x="4539366" y="-2561823"/>
            <a:ext cx="3486545" cy="818250"/>
            <a:chOff x="2520609" y="4777708"/>
            <a:chExt cx="3375412" cy="818250"/>
          </a:xfrm>
        </p:grpSpPr>
        <p:cxnSp>
          <p:nvCxnSpPr>
            <p:cNvPr id="24" name="Straight Connector 23">
              <a:extLst>
                <a:ext uri="{FF2B5EF4-FFF2-40B4-BE49-F238E27FC236}">
                  <a16:creationId xmlns:a16="http://schemas.microsoft.com/office/drawing/2014/main" id="{F96B26F4-766E-C50D-CE5E-29D8ED424A18}"/>
                </a:ext>
              </a:extLst>
            </p:cNvPr>
            <p:cNvCxnSpPr>
              <a:cxnSpLocks/>
            </p:cNvCxnSpPr>
            <p:nvPr/>
          </p:nvCxnSpPr>
          <p:spPr>
            <a:xfrm>
              <a:off x="2520609" y="5595958"/>
              <a:ext cx="320175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8E881D-DB7F-B36B-CCB9-ADC28F7F9C61}"/>
                </a:ext>
              </a:extLst>
            </p:cNvPr>
            <p:cNvCxnSpPr/>
            <p:nvPr/>
          </p:nvCxnSpPr>
          <p:spPr>
            <a:xfrm>
              <a:off x="2574876" y="4777708"/>
              <a:ext cx="332114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 name="Rectangle: Rounded Corners 12">
            <a:extLst>
              <a:ext uri="{FF2B5EF4-FFF2-40B4-BE49-F238E27FC236}">
                <a16:creationId xmlns:a16="http://schemas.microsoft.com/office/drawing/2014/main" id="{E747AB6A-DCDE-D2B7-52AA-48AD584F8CC1}"/>
              </a:ext>
            </a:extLst>
          </p:cNvPr>
          <p:cNvSpPr/>
          <p:nvPr/>
        </p:nvSpPr>
        <p:spPr bwMode="gray">
          <a:xfrm>
            <a:off x="175166" y="1123546"/>
            <a:ext cx="11857950" cy="5185814"/>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3" name="Title 2">
            <a:extLst>
              <a:ext uri="{FF2B5EF4-FFF2-40B4-BE49-F238E27FC236}">
                <a16:creationId xmlns:a16="http://schemas.microsoft.com/office/drawing/2014/main" id="{AD58CA7E-E3E9-C8E3-BE53-43ABD5A8EB9D}"/>
              </a:ext>
            </a:extLst>
          </p:cNvPr>
          <p:cNvSpPr>
            <a:spLocks noGrp="1"/>
          </p:cNvSpPr>
          <p:nvPr>
            <p:ph type="title"/>
          </p:nvPr>
        </p:nvSpPr>
        <p:spPr>
          <a:xfrm>
            <a:off x="1142122" y="170307"/>
            <a:ext cx="10812793" cy="850392"/>
          </a:xfrm>
        </p:spPr>
        <p:txBody>
          <a:bodyPr/>
          <a:lstStyle/>
          <a:p>
            <a:r>
              <a:rPr lang="en-US" i="1" dirty="0"/>
              <a:t>Current </a:t>
            </a:r>
            <a:r>
              <a:rPr lang="en-US" i="1" dirty="0" err="1"/>
              <a:t>MenB</a:t>
            </a:r>
            <a:r>
              <a:rPr lang="en-US" i="1" dirty="0"/>
              <a:t> Vx stocked </a:t>
            </a:r>
            <a:r>
              <a:rPr lang="en-US" dirty="0"/>
              <a:t>tends to drive preference for either pentavalent Vx</a:t>
            </a:r>
            <a:r>
              <a:rPr lang="en-US" i="1" dirty="0"/>
              <a:t>, </a:t>
            </a:r>
            <a:r>
              <a:rPr lang="en-US" dirty="0"/>
              <a:t>as well as </a:t>
            </a:r>
            <a:r>
              <a:rPr lang="en-US" i="1" dirty="0"/>
              <a:t>effective/safe </a:t>
            </a:r>
            <a:r>
              <a:rPr lang="en-US" dirty="0"/>
              <a:t>for Penbraya</a:t>
            </a:r>
            <a:r>
              <a:rPr lang="en-US" i="1" dirty="0"/>
              <a:t> </a:t>
            </a:r>
            <a:r>
              <a:rPr lang="en-US" dirty="0"/>
              <a:t>(up this wave); </a:t>
            </a:r>
            <a:r>
              <a:rPr lang="en-US" i="1" dirty="0"/>
              <a:t>Vx similarity/non-superiority </a:t>
            </a:r>
            <a:r>
              <a:rPr lang="en-US" dirty="0"/>
              <a:t>drives no preference</a:t>
            </a:r>
          </a:p>
        </p:txBody>
      </p:sp>
      <p:sp>
        <p:nvSpPr>
          <p:cNvPr id="11" name="Text Placeholder 2">
            <a:extLst>
              <a:ext uri="{FF2B5EF4-FFF2-40B4-BE49-F238E27FC236}">
                <a16:creationId xmlns:a16="http://schemas.microsoft.com/office/drawing/2014/main" id="{8A18A499-8EB0-AB8A-4767-CFC45D113BAD}"/>
              </a:ext>
            </a:extLst>
          </p:cNvPr>
          <p:cNvSpPr>
            <a:spLocks noGrp="1"/>
          </p:cNvSpPr>
          <p:nvPr>
            <p:ph type="body" sz="quarter" idx="16"/>
          </p:nvPr>
        </p:nvSpPr>
        <p:spPr>
          <a:xfrm>
            <a:off x="1571625" y="6414941"/>
            <a:ext cx="4599977" cy="330347"/>
          </a:xfrm>
        </p:spPr>
        <p:txBody>
          <a:bodyPr wrap="none"/>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unbranded (Vaccine X) perceptions in the prior wave </a:t>
            </a:r>
          </a:p>
          <a:p>
            <a:r>
              <a:rPr lang="en-US"/>
              <a:t>X8. Why are you [INSERT X7 RESPONSE]?</a:t>
            </a:r>
          </a:p>
        </p:txBody>
      </p:sp>
      <p:graphicFrame>
        <p:nvGraphicFramePr>
          <p:cNvPr id="2" name="Table 4">
            <a:extLst>
              <a:ext uri="{FF2B5EF4-FFF2-40B4-BE49-F238E27FC236}">
                <a16:creationId xmlns:a16="http://schemas.microsoft.com/office/drawing/2014/main" id="{546D89E8-FA39-DD60-FA70-1A4F40C1A032}"/>
              </a:ext>
            </a:extLst>
          </p:cNvPr>
          <p:cNvGraphicFramePr>
            <a:graphicFrameLocks noGrp="1"/>
          </p:cNvGraphicFramePr>
          <p:nvPr/>
        </p:nvGraphicFramePr>
        <p:xfrm>
          <a:off x="296515" y="1759501"/>
          <a:ext cx="3795248" cy="2356414"/>
        </p:xfrm>
        <a:graphic>
          <a:graphicData uri="http://schemas.openxmlformats.org/drawingml/2006/table">
            <a:tbl>
              <a:tblPr firstRow="1" bandRow="1">
                <a:tableStyleId>{21E4AEA4-8DFA-4A89-87EB-49C32662AFE0}</a:tableStyleId>
              </a:tblPr>
              <a:tblGrid>
                <a:gridCol w="3029174">
                  <a:extLst>
                    <a:ext uri="{9D8B030D-6E8A-4147-A177-3AD203B41FA5}">
                      <a16:colId xmlns:a16="http://schemas.microsoft.com/office/drawing/2014/main" val="203367566"/>
                    </a:ext>
                  </a:extLst>
                </a:gridCol>
                <a:gridCol w="766074">
                  <a:extLst>
                    <a:ext uri="{9D8B030D-6E8A-4147-A177-3AD203B41FA5}">
                      <a16:colId xmlns:a16="http://schemas.microsoft.com/office/drawing/2014/main" val="26391975"/>
                    </a:ext>
                  </a:extLst>
                </a:gridCol>
              </a:tblGrid>
              <a:tr h="51346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kern="1200">
                          <a:solidFill>
                            <a:schemeClr val="bg1"/>
                          </a:solidFill>
                          <a:latin typeface="+mj-lt"/>
                          <a:ea typeface="+mn-ea"/>
                          <a:cs typeface="Arial" charset="0"/>
                        </a:rPr>
                        <a:t>More Likely to Recommend </a:t>
                      </a:r>
                      <a:br>
                        <a:rPr lang="en-US" sz="1600" u="none" kern="1200">
                          <a:solidFill>
                            <a:schemeClr val="bg1"/>
                          </a:solidFill>
                          <a:latin typeface="+mj-lt"/>
                          <a:ea typeface="+mn-ea"/>
                          <a:cs typeface="Arial" charset="0"/>
                        </a:rPr>
                      </a:br>
                      <a:r>
                        <a:rPr lang="en-US" sz="1600" u="none" kern="1200">
                          <a:solidFill>
                            <a:schemeClr val="bg1"/>
                          </a:solidFill>
                          <a:latin typeface="+mj-lt"/>
                          <a:ea typeface="+mn-ea"/>
                          <a:cs typeface="Arial" charset="0"/>
                        </a:rPr>
                        <a:t>Penmenvy</a:t>
                      </a:r>
                    </a:p>
                  </a:txBody>
                  <a:tcPr marL="0" marR="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solidFill>
                      <a:schemeClr val="accent6"/>
                    </a:solidFill>
                  </a:tcPr>
                </a:tc>
                <a:tc hMerge="1">
                  <a:txBody>
                    <a:bodyPr/>
                    <a:lstStyle/>
                    <a:p>
                      <a:endParaRPr lang="en-US"/>
                    </a:p>
                  </a:txBody>
                  <a:tcPr/>
                </a:tc>
                <a:extLst>
                  <a:ext uri="{0D108BD9-81ED-4DB2-BD59-A6C34878D82A}">
                    <a16:rowId xmlns:a16="http://schemas.microsoft.com/office/drawing/2014/main" val="3670159211"/>
                  </a:ext>
                </a:extLst>
              </a:tr>
              <a:tr h="160457">
                <a:tc gridSpan="2">
                  <a:txBody>
                    <a:bodyPr/>
                    <a:lstStyle/>
                    <a:p>
                      <a:pPr algn="ctr"/>
                      <a:r>
                        <a:rPr lang="en-US" sz="1000" b="0" i="0">
                          <a:solidFill>
                            <a:schemeClr val="bg1">
                              <a:lumMod val="50000"/>
                            </a:schemeClr>
                          </a:solidFill>
                        </a:rPr>
                        <a:t>(n=44)</a:t>
                      </a:r>
                      <a:endParaRPr lang="en-US" sz="1000" b="0" i="1">
                        <a:solidFill>
                          <a:schemeClr val="bg1">
                            <a:lumMod val="50000"/>
                          </a:schemeClr>
                        </a:solidFill>
                      </a:endParaRPr>
                    </a:p>
                  </a:txBody>
                  <a:tcPr marL="0" marR="0" marT="0" marB="0">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noFill/>
                  </a:tcPr>
                </a:tc>
                <a:tc hMerge="1">
                  <a:txBody>
                    <a:bodyPr/>
                    <a:lstStyle/>
                    <a:p>
                      <a:pPr algn="ctr"/>
                      <a:endParaRPr lang="en-US" sz="1200"/>
                    </a:p>
                  </a:txBody>
                  <a:tcPr anchor="ctr"/>
                </a:tc>
                <a:extLst>
                  <a:ext uri="{0D108BD9-81ED-4DB2-BD59-A6C34878D82A}">
                    <a16:rowId xmlns:a16="http://schemas.microsoft.com/office/drawing/2014/main" val="3938990820"/>
                  </a:ext>
                </a:extLst>
              </a:tr>
              <a:tr h="420624">
                <a:tc>
                  <a:txBody>
                    <a:bodyPr/>
                    <a:lstStyle/>
                    <a:p>
                      <a:r>
                        <a:rPr lang="en-US" sz="1200" b="0"/>
                        <a:t>Already stock / prefer Bexsero / GSK / easier to implement / more familiar</a:t>
                      </a:r>
                    </a:p>
                  </a:txBody>
                  <a:tcPr marT="27432" marB="27432" anchor="ctr">
                    <a:lnL w="12700" cap="flat" cmpd="sng" algn="ctr">
                      <a:solidFill>
                        <a:schemeClr val="accent6"/>
                      </a:solidFill>
                      <a:prstDash val="solid"/>
                      <a:round/>
                      <a:headEnd type="none" w="med" len="med"/>
                      <a:tailEnd type="none" w="med" len="med"/>
                    </a:lnL>
                    <a:solidFill>
                      <a:srgbClr val="D95776">
                        <a:alpha val="10196"/>
                      </a:srgbClr>
                    </a:solidFill>
                  </a:tcPr>
                </a:tc>
                <a:tc>
                  <a:txBody>
                    <a:bodyPr/>
                    <a:lstStyle/>
                    <a:p>
                      <a:pPr algn="ctr"/>
                      <a:r>
                        <a:rPr lang="en-US" sz="1200" b="0"/>
                        <a:t>75%</a:t>
                      </a:r>
                    </a:p>
                  </a:txBody>
                  <a:tcPr marT="27432" marB="27432" anchor="ctr">
                    <a:lnR w="12700" cap="flat" cmpd="sng" algn="ctr">
                      <a:solidFill>
                        <a:schemeClr val="accent6"/>
                      </a:solidFill>
                      <a:prstDash val="solid"/>
                      <a:round/>
                      <a:headEnd type="none" w="med" len="med"/>
                      <a:tailEnd type="none" w="med" len="med"/>
                    </a:lnR>
                    <a:solidFill>
                      <a:srgbClr val="D95776">
                        <a:alpha val="10196"/>
                      </a:srgbClr>
                    </a:solidFill>
                  </a:tcPr>
                </a:tc>
                <a:extLst>
                  <a:ext uri="{0D108BD9-81ED-4DB2-BD59-A6C34878D82A}">
                    <a16:rowId xmlns:a16="http://schemas.microsoft.com/office/drawing/2014/main" val="3607748115"/>
                  </a:ext>
                </a:extLst>
              </a:tr>
              <a:tr h="420624">
                <a:tc>
                  <a:txBody>
                    <a:bodyPr/>
                    <a:lstStyle/>
                    <a:p>
                      <a:r>
                        <a:rPr lang="en-US" sz="1200" b="0"/>
                        <a:t>Effective</a:t>
                      </a:r>
                    </a:p>
                  </a:txBody>
                  <a:tcPr marT="27432" marB="27432" anchor="ctr">
                    <a:lnL w="12700" cap="flat" cmpd="sng" algn="ctr">
                      <a:solidFill>
                        <a:schemeClr val="accent6"/>
                      </a:solidFill>
                      <a:prstDash val="solid"/>
                      <a:round/>
                      <a:headEnd type="none" w="med" len="med"/>
                      <a:tailEnd type="none" w="med" len="med"/>
                    </a:lnL>
                    <a:solidFill>
                      <a:srgbClr val="D95776">
                        <a:alpha val="10196"/>
                      </a:srgbClr>
                    </a:solidFill>
                  </a:tcPr>
                </a:tc>
                <a:tc>
                  <a:txBody>
                    <a:bodyPr/>
                    <a:lstStyle/>
                    <a:p>
                      <a:pPr algn="ctr"/>
                      <a:r>
                        <a:rPr lang="en-US" sz="1200" b="0"/>
                        <a:t>9%</a:t>
                      </a:r>
                    </a:p>
                  </a:txBody>
                  <a:tcPr marT="27432" marB="27432" anchor="ctr">
                    <a:lnR w="12700" cap="flat" cmpd="sng" algn="ctr">
                      <a:solidFill>
                        <a:schemeClr val="accent6"/>
                      </a:solidFill>
                      <a:prstDash val="solid"/>
                      <a:round/>
                      <a:headEnd type="none" w="med" len="med"/>
                      <a:tailEnd type="none" w="med" len="med"/>
                    </a:lnR>
                    <a:solidFill>
                      <a:srgbClr val="D95776">
                        <a:alpha val="10196"/>
                      </a:srgbClr>
                    </a:solidFill>
                  </a:tcPr>
                </a:tc>
                <a:extLst>
                  <a:ext uri="{0D108BD9-81ED-4DB2-BD59-A6C34878D82A}">
                    <a16:rowId xmlns:a16="http://schemas.microsoft.com/office/drawing/2014/main" val="352959446"/>
                  </a:ext>
                </a:extLst>
              </a:tr>
              <a:tr h="420624">
                <a:tc>
                  <a:txBody>
                    <a:bodyPr/>
                    <a:lstStyle/>
                    <a:p>
                      <a:r>
                        <a:rPr lang="en-US" sz="1200" b="0"/>
                        <a:t>Better/easier dosing schedule</a:t>
                      </a:r>
                    </a:p>
                  </a:txBody>
                  <a:tcPr marT="27432" marB="27432" anchor="ctr">
                    <a:lnL w="12700" cap="flat" cmpd="sng" algn="ctr">
                      <a:solidFill>
                        <a:schemeClr val="accent6"/>
                      </a:solidFill>
                      <a:prstDash val="solid"/>
                      <a:round/>
                      <a:headEnd type="none" w="med" len="med"/>
                      <a:tailEnd type="none" w="med" len="med"/>
                    </a:lnL>
                    <a:solidFill>
                      <a:srgbClr val="D95776">
                        <a:alpha val="10196"/>
                      </a:srgbClr>
                    </a:solidFill>
                  </a:tcPr>
                </a:tc>
                <a:tc>
                  <a:txBody>
                    <a:bodyPr/>
                    <a:lstStyle/>
                    <a:p>
                      <a:pPr algn="ctr"/>
                      <a:r>
                        <a:rPr lang="en-US" sz="1200" b="0"/>
                        <a:t>7%</a:t>
                      </a:r>
                    </a:p>
                  </a:txBody>
                  <a:tcPr marT="27432" marB="27432" anchor="ctr">
                    <a:lnR w="12700" cap="flat" cmpd="sng" algn="ctr">
                      <a:solidFill>
                        <a:schemeClr val="accent6"/>
                      </a:solidFill>
                      <a:prstDash val="solid"/>
                      <a:round/>
                      <a:headEnd type="none" w="med" len="med"/>
                      <a:tailEnd type="none" w="med" len="med"/>
                    </a:lnR>
                    <a:solidFill>
                      <a:srgbClr val="D95776">
                        <a:alpha val="10196"/>
                      </a:srgbClr>
                    </a:solidFill>
                  </a:tcPr>
                </a:tc>
                <a:extLst>
                  <a:ext uri="{0D108BD9-81ED-4DB2-BD59-A6C34878D82A}">
                    <a16:rowId xmlns:a16="http://schemas.microsoft.com/office/drawing/2014/main" val="157009809"/>
                  </a:ext>
                </a:extLst>
              </a:tr>
              <a:tr h="420624">
                <a:tc>
                  <a:txBody>
                    <a:bodyPr/>
                    <a:lstStyle/>
                    <a:p>
                      <a:r>
                        <a:rPr lang="en-US" sz="1200" b="0"/>
                        <a:t>Financial benefit (costs, contracting)</a:t>
                      </a:r>
                    </a:p>
                  </a:txBody>
                  <a:tcPr marT="27432" marB="27432" anchor="ctr">
                    <a:lnL w="12700" cap="flat" cmpd="sng" algn="ctr">
                      <a:solidFill>
                        <a:schemeClr val="accent6"/>
                      </a:solidFill>
                      <a:prstDash val="solid"/>
                      <a:round/>
                      <a:headEnd type="none" w="med" len="med"/>
                      <a:tailEnd type="none" w="med" len="med"/>
                    </a:lnL>
                    <a:lnB w="12700" cap="flat" cmpd="sng" algn="ctr">
                      <a:solidFill>
                        <a:schemeClr val="accent6"/>
                      </a:solidFill>
                      <a:prstDash val="solid"/>
                      <a:round/>
                      <a:headEnd type="none" w="med" len="med"/>
                      <a:tailEnd type="none" w="med" len="med"/>
                    </a:lnB>
                    <a:solidFill>
                      <a:srgbClr val="D95776">
                        <a:alpha val="10196"/>
                      </a:srgbClr>
                    </a:solidFill>
                  </a:tcPr>
                </a:tc>
                <a:tc>
                  <a:txBody>
                    <a:bodyPr/>
                    <a:lstStyle/>
                    <a:p>
                      <a:pPr algn="ctr"/>
                      <a:r>
                        <a:rPr lang="en-US" sz="1200" b="0"/>
                        <a:t>5%</a:t>
                      </a:r>
                    </a:p>
                  </a:txBody>
                  <a:tcPr marT="27432" marB="27432" anchor="ctr">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solidFill>
                      <a:srgbClr val="D95776">
                        <a:alpha val="10196"/>
                      </a:srgbClr>
                    </a:solidFill>
                  </a:tcPr>
                </a:tc>
                <a:extLst>
                  <a:ext uri="{0D108BD9-81ED-4DB2-BD59-A6C34878D82A}">
                    <a16:rowId xmlns:a16="http://schemas.microsoft.com/office/drawing/2014/main" val="407336144"/>
                  </a:ext>
                </a:extLst>
              </a:tr>
            </a:tbl>
          </a:graphicData>
        </a:graphic>
      </p:graphicFrame>
      <p:graphicFrame>
        <p:nvGraphicFramePr>
          <p:cNvPr id="4" name="Table 4">
            <a:extLst>
              <a:ext uri="{FF2B5EF4-FFF2-40B4-BE49-F238E27FC236}">
                <a16:creationId xmlns:a16="http://schemas.microsoft.com/office/drawing/2014/main" id="{5BCE80C1-D749-2BCC-D578-AB5145997F75}"/>
              </a:ext>
            </a:extLst>
          </p:cNvPr>
          <p:cNvGraphicFramePr>
            <a:graphicFrameLocks noGrp="1"/>
          </p:cNvGraphicFramePr>
          <p:nvPr/>
        </p:nvGraphicFramePr>
        <p:xfrm>
          <a:off x="4156133" y="1759501"/>
          <a:ext cx="3795248" cy="1537402"/>
        </p:xfrm>
        <a:graphic>
          <a:graphicData uri="http://schemas.openxmlformats.org/drawingml/2006/table">
            <a:tbl>
              <a:tblPr firstRow="1" bandRow="1">
                <a:tableStyleId>{7DF18680-E054-41AD-8BC1-D1AEF772440D}</a:tableStyleId>
              </a:tblPr>
              <a:tblGrid>
                <a:gridCol w="3029174">
                  <a:extLst>
                    <a:ext uri="{9D8B030D-6E8A-4147-A177-3AD203B41FA5}">
                      <a16:colId xmlns:a16="http://schemas.microsoft.com/office/drawing/2014/main" val="203367566"/>
                    </a:ext>
                  </a:extLst>
                </a:gridCol>
                <a:gridCol w="766074">
                  <a:extLst>
                    <a:ext uri="{9D8B030D-6E8A-4147-A177-3AD203B41FA5}">
                      <a16:colId xmlns:a16="http://schemas.microsoft.com/office/drawing/2014/main" val="26391975"/>
                    </a:ext>
                  </a:extLst>
                </a:gridCol>
              </a:tblGrid>
              <a:tr h="51346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kern="1200">
                          <a:solidFill>
                            <a:schemeClr val="bg1"/>
                          </a:solidFill>
                        </a:rPr>
                        <a:t>Not Likely to Recommend </a:t>
                      </a:r>
                      <a:br>
                        <a:rPr lang="en-US" sz="1600" u="none" kern="1200">
                          <a:solidFill>
                            <a:schemeClr val="bg1"/>
                          </a:solidFill>
                        </a:rPr>
                      </a:br>
                      <a:r>
                        <a:rPr lang="en-US" sz="1600" u="none" kern="1200">
                          <a:solidFill>
                            <a:schemeClr val="bg1"/>
                          </a:solidFill>
                        </a:rPr>
                        <a:t>One Over the Other</a:t>
                      </a:r>
                      <a:endParaRPr lang="en-US" sz="1600" u="none" kern="1200">
                        <a:solidFill>
                          <a:schemeClr val="bg1"/>
                        </a:solidFill>
                        <a:latin typeface="+mj-lt"/>
                        <a:ea typeface="+mn-ea"/>
                        <a:cs typeface="Arial" charset="0"/>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solidFill>
                      <a:schemeClr val="bg1">
                        <a:lumMod val="65000"/>
                      </a:schemeClr>
                    </a:solidFill>
                  </a:tcPr>
                </a:tc>
                <a:tc hMerge="1">
                  <a:txBody>
                    <a:bodyPr/>
                    <a:lstStyle/>
                    <a:p>
                      <a:endParaRPr lang="en-US"/>
                    </a:p>
                  </a:txBody>
                  <a:tcPr/>
                </a:tc>
                <a:extLst>
                  <a:ext uri="{0D108BD9-81ED-4DB2-BD59-A6C34878D82A}">
                    <a16:rowId xmlns:a16="http://schemas.microsoft.com/office/drawing/2014/main" val="3670159211"/>
                  </a:ext>
                </a:extLst>
              </a:tr>
              <a:tr h="160457">
                <a:tc gridSpan="2">
                  <a:txBody>
                    <a:bodyPr/>
                    <a:lstStyle/>
                    <a:p>
                      <a:pPr algn="ctr"/>
                      <a:r>
                        <a:rPr lang="en-US" sz="1000" b="0" i="0">
                          <a:solidFill>
                            <a:schemeClr val="bg1">
                              <a:lumMod val="50000"/>
                            </a:schemeClr>
                          </a:solidFill>
                        </a:rPr>
                        <a:t>(n=100)</a:t>
                      </a:r>
                      <a:endParaRPr lang="en-US" sz="1000" b="0" i="1">
                        <a:solidFill>
                          <a:schemeClr val="bg1">
                            <a:lumMod val="50000"/>
                          </a:schemeClr>
                        </a:solidFill>
                      </a:endParaRPr>
                    </a:p>
                  </a:txBody>
                  <a:tcPr marL="0" marR="0" marT="0" marB="0">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noFill/>
                  </a:tcPr>
                </a:tc>
                <a:tc hMerge="1">
                  <a:txBody>
                    <a:bodyPr/>
                    <a:lstStyle/>
                    <a:p>
                      <a:pPr algn="ctr"/>
                      <a:endParaRPr lang="en-US" sz="1200"/>
                    </a:p>
                  </a:txBody>
                  <a:tcPr anchor="ctr"/>
                </a:tc>
                <a:extLst>
                  <a:ext uri="{0D108BD9-81ED-4DB2-BD59-A6C34878D82A}">
                    <a16:rowId xmlns:a16="http://schemas.microsoft.com/office/drawing/2014/main" val="3938990820"/>
                  </a:ext>
                </a:extLst>
              </a:tr>
              <a:tr h="442860">
                <a:tc>
                  <a:txBody>
                    <a:bodyPr/>
                    <a:lstStyle/>
                    <a:p>
                      <a:r>
                        <a:rPr lang="en-US" sz="1200" b="0"/>
                        <a:t>Perceived as similar, non-superior / except MenB booster</a:t>
                      </a:r>
                    </a:p>
                  </a:txBody>
                  <a:tcPr marT="27432" marB="27432" anchor="ctr">
                    <a:lnL w="12700" cap="flat" cmpd="sng" algn="ctr">
                      <a:solidFill>
                        <a:schemeClr val="tx1">
                          <a:lumMod val="50000"/>
                          <a:lumOff val="50000"/>
                        </a:schemeClr>
                      </a:solidFill>
                      <a:prstDash val="solid"/>
                      <a:round/>
                      <a:headEnd type="none" w="med" len="med"/>
                      <a:tailEnd type="none" w="med" len="med"/>
                    </a:lnL>
                    <a:solidFill>
                      <a:srgbClr val="F2F2F2"/>
                    </a:solidFill>
                  </a:tcPr>
                </a:tc>
                <a:tc>
                  <a:txBody>
                    <a:bodyPr/>
                    <a:lstStyle/>
                    <a:p>
                      <a:pPr algn="ctr"/>
                      <a:r>
                        <a:rPr lang="en-US" sz="1200" b="0"/>
                        <a:t>66%</a:t>
                      </a:r>
                    </a:p>
                  </a:txBody>
                  <a:tcPr marT="27432" marB="27432" anchor="ctr">
                    <a:lnR w="12700" cap="flat" cmpd="sng" algn="ctr">
                      <a:solidFill>
                        <a:schemeClr val="tx1">
                          <a:lumMod val="50000"/>
                          <a:lumOff val="50000"/>
                        </a:schemeClr>
                      </a:solidFill>
                      <a:prstDash val="solid"/>
                      <a:round/>
                      <a:headEnd type="none" w="med" len="med"/>
                      <a:tailEnd type="none" w="med" len="med"/>
                    </a:lnR>
                    <a:solidFill>
                      <a:srgbClr val="F2F2F2"/>
                    </a:solidFill>
                  </a:tcPr>
                </a:tc>
                <a:extLst>
                  <a:ext uri="{0D108BD9-81ED-4DB2-BD59-A6C34878D82A}">
                    <a16:rowId xmlns:a16="http://schemas.microsoft.com/office/drawing/2014/main" val="3191034145"/>
                  </a:ext>
                </a:extLst>
              </a:tr>
              <a:tr h="326150">
                <a:tc>
                  <a:txBody>
                    <a:bodyPr/>
                    <a:lstStyle/>
                    <a:p>
                      <a:r>
                        <a:rPr lang="en-US" sz="1200" b="0"/>
                        <a:t>Lack of experience / too new / need more info (costs, availability, etc.)</a:t>
                      </a:r>
                    </a:p>
                  </a:txBody>
                  <a:tcPr marT="27432" marB="27432" anchor="ctr">
                    <a:lnL w="12700" cap="flat" cmpd="sng" algn="ctr">
                      <a:solidFill>
                        <a:schemeClr val="tx1">
                          <a:lumMod val="50000"/>
                          <a:lumOff val="50000"/>
                        </a:schemeClr>
                      </a:solidFill>
                      <a:prstDash val="solid"/>
                      <a:round/>
                      <a:headEnd type="none" w="med" len="med"/>
                      <a:tailEnd type="none" w="med" len="med"/>
                    </a:lnL>
                    <a:lnB w="12700" cap="flat" cmpd="sng" algn="ctr">
                      <a:solidFill>
                        <a:schemeClr val="tx1">
                          <a:lumMod val="50000"/>
                          <a:lumOff val="50000"/>
                        </a:schemeClr>
                      </a:solidFill>
                      <a:prstDash val="solid"/>
                      <a:round/>
                      <a:headEnd type="none" w="med" len="med"/>
                      <a:tailEnd type="none" w="med" len="med"/>
                    </a:lnB>
                    <a:solidFill>
                      <a:srgbClr val="F2F2F2"/>
                    </a:solidFill>
                  </a:tcPr>
                </a:tc>
                <a:tc>
                  <a:txBody>
                    <a:bodyPr/>
                    <a:lstStyle/>
                    <a:p>
                      <a:pPr algn="ctr"/>
                      <a:r>
                        <a:rPr lang="en-US" sz="1200" b="0"/>
                        <a:t>18%</a:t>
                      </a:r>
                    </a:p>
                  </a:txBody>
                  <a:tcPr marT="27432" marB="27432" anchor="ctr">
                    <a:lnR w="12700" cap="flat" cmpd="sng" algn="ctr">
                      <a:solidFill>
                        <a:schemeClr val="tx1">
                          <a:lumMod val="50000"/>
                          <a:lumOff val="50000"/>
                        </a:schemeClr>
                      </a:solidFill>
                      <a:prstDash val="solid"/>
                      <a:round/>
                      <a:headEnd type="none" w="med" len="med"/>
                      <a:tailEnd type="none" w="med" len="med"/>
                    </a:lnR>
                    <a:lnB w="12700" cap="flat" cmpd="sng" algn="ctr">
                      <a:solidFill>
                        <a:schemeClr val="tx1">
                          <a:lumMod val="50000"/>
                          <a:lumOff val="5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57009809"/>
                  </a:ext>
                </a:extLst>
              </a:tr>
            </a:tbl>
          </a:graphicData>
        </a:graphic>
      </p:graphicFrame>
      <p:graphicFrame>
        <p:nvGraphicFramePr>
          <p:cNvPr id="5" name="Table 4">
            <a:extLst>
              <a:ext uri="{FF2B5EF4-FFF2-40B4-BE49-F238E27FC236}">
                <a16:creationId xmlns:a16="http://schemas.microsoft.com/office/drawing/2014/main" id="{8C0416A1-8403-DF56-C3AB-69B895E8E852}"/>
              </a:ext>
            </a:extLst>
          </p:cNvPr>
          <p:cNvGraphicFramePr>
            <a:graphicFrameLocks noGrp="1"/>
          </p:cNvGraphicFramePr>
          <p:nvPr/>
        </p:nvGraphicFramePr>
        <p:xfrm>
          <a:off x="8025912" y="1759501"/>
          <a:ext cx="3795248" cy="2420717"/>
        </p:xfrm>
        <a:graphic>
          <a:graphicData uri="http://schemas.openxmlformats.org/drawingml/2006/table">
            <a:tbl>
              <a:tblPr firstRow="1" bandRow="1">
                <a:tableStyleId>{21E4AEA4-8DFA-4A89-87EB-49C32662AFE0}</a:tableStyleId>
              </a:tblPr>
              <a:tblGrid>
                <a:gridCol w="3029174">
                  <a:extLst>
                    <a:ext uri="{9D8B030D-6E8A-4147-A177-3AD203B41FA5}">
                      <a16:colId xmlns:a16="http://schemas.microsoft.com/office/drawing/2014/main" val="203367566"/>
                    </a:ext>
                  </a:extLst>
                </a:gridCol>
                <a:gridCol w="766074">
                  <a:extLst>
                    <a:ext uri="{9D8B030D-6E8A-4147-A177-3AD203B41FA5}">
                      <a16:colId xmlns:a16="http://schemas.microsoft.com/office/drawing/2014/main" val="26391975"/>
                    </a:ext>
                  </a:extLst>
                </a:gridCol>
              </a:tblGrid>
              <a:tr h="51346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kern="1200" dirty="0">
                          <a:solidFill>
                            <a:schemeClr val="bg1"/>
                          </a:solidFill>
                          <a:latin typeface="+mj-lt"/>
                          <a:ea typeface="+mn-ea"/>
                          <a:cs typeface="Arial" charset="0"/>
                        </a:rPr>
                        <a:t>More Likely to </a:t>
                      </a:r>
                      <a:r>
                        <a:rPr lang="en-US" sz="1600" b="1" u="none" kern="1200" dirty="0">
                          <a:solidFill>
                            <a:schemeClr val="bg1"/>
                          </a:solidFill>
                          <a:latin typeface="+mn-lt"/>
                          <a:ea typeface="+mn-ea"/>
                          <a:cs typeface="Arial" charset="0"/>
                        </a:rPr>
                        <a:t>Recommend</a:t>
                      </a:r>
                      <a:r>
                        <a:rPr lang="en-US" sz="1600" u="none" kern="1200" dirty="0">
                          <a:solidFill>
                            <a:schemeClr val="bg1"/>
                          </a:solidFill>
                          <a:latin typeface="+mj-lt"/>
                          <a:ea typeface="+mn-ea"/>
                          <a:cs typeface="Arial" charset="0"/>
                        </a:rPr>
                        <a:t> </a:t>
                      </a:r>
                      <a:br>
                        <a:rPr lang="en-US" sz="1600" u="none" kern="1200" dirty="0">
                          <a:solidFill>
                            <a:schemeClr val="bg1"/>
                          </a:solidFill>
                          <a:latin typeface="+mj-lt"/>
                          <a:ea typeface="+mn-ea"/>
                          <a:cs typeface="Arial" charset="0"/>
                        </a:rPr>
                      </a:br>
                      <a:r>
                        <a:rPr lang="en-US" sz="1600" u="none" kern="1200" dirty="0">
                          <a:solidFill>
                            <a:schemeClr val="bg1"/>
                          </a:solidFill>
                          <a:latin typeface="+mj-lt"/>
                          <a:ea typeface="+mn-ea"/>
                          <a:cs typeface="Arial" charset="0"/>
                        </a:rPr>
                        <a:t>Penbraya</a:t>
                      </a:r>
                    </a:p>
                  </a:txBody>
                  <a:tcPr marL="0" marR="0" marT="0" marB="0" anchor="ct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solidFill>
                      <a:srgbClr val="937DAD"/>
                    </a:solidFill>
                  </a:tcPr>
                </a:tc>
                <a:tc hMerge="1">
                  <a:txBody>
                    <a:bodyPr/>
                    <a:lstStyle/>
                    <a:p>
                      <a:endParaRPr lang="en-US"/>
                    </a:p>
                  </a:txBody>
                  <a:tcPr/>
                </a:tc>
                <a:extLst>
                  <a:ext uri="{0D108BD9-81ED-4DB2-BD59-A6C34878D82A}">
                    <a16:rowId xmlns:a16="http://schemas.microsoft.com/office/drawing/2014/main" val="3670159211"/>
                  </a:ext>
                </a:extLst>
              </a:tr>
              <a:tr h="160457">
                <a:tc gridSpan="2">
                  <a:txBody>
                    <a:bodyPr/>
                    <a:lstStyle/>
                    <a:p>
                      <a:pPr algn="ctr"/>
                      <a:r>
                        <a:rPr lang="en-US" sz="1000" b="0" i="0">
                          <a:solidFill>
                            <a:schemeClr val="bg1">
                              <a:lumMod val="50000"/>
                            </a:schemeClr>
                          </a:solidFill>
                        </a:rPr>
                        <a:t>(n=56)</a:t>
                      </a:r>
                      <a:endParaRPr lang="en-US" sz="1000" b="0" i="1">
                        <a:solidFill>
                          <a:schemeClr val="bg1">
                            <a:lumMod val="50000"/>
                          </a:schemeClr>
                        </a:solidFill>
                      </a:endParaRPr>
                    </a:p>
                  </a:txBody>
                  <a:tcPr marL="0" marR="0" marT="0" marB="0">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noFill/>
                  </a:tcPr>
                </a:tc>
                <a:tc hMerge="1">
                  <a:txBody>
                    <a:bodyPr/>
                    <a:lstStyle/>
                    <a:p>
                      <a:pPr algn="ctr"/>
                      <a:endParaRPr lang="en-US" sz="1200"/>
                    </a:p>
                  </a:txBody>
                  <a:tcPr anchor="ctr"/>
                </a:tc>
                <a:extLst>
                  <a:ext uri="{0D108BD9-81ED-4DB2-BD59-A6C34878D82A}">
                    <a16:rowId xmlns:a16="http://schemas.microsoft.com/office/drawing/2014/main" val="3938990820"/>
                  </a:ext>
                </a:extLst>
              </a:tr>
              <a:tr h="250312">
                <a:tc>
                  <a:txBody>
                    <a:bodyPr/>
                    <a:lstStyle/>
                    <a:p>
                      <a:r>
                        <a:rPr lang="en-US" sz="1200" b="0" dirty="0"/>
                        <a:t>Already stock / prefer Trumenba / easy transition</a:t>
                      </a:r>
                    </a:p>
                  </a:txBody>
                  <a:tcPr marT="27432" marB="27432" anchor="ctr">
                    <a:lnL w="12700" cap="flat" cmpd="sng" algn="ctr">
                      <a:solidFill>
                        <a:srgbClr val="7030A0"/>
                      </a:solidFill>
                      <a:prstDash val="solid"/>
                      <a:round/>
                      <a:headEnd type="none" w="med" len="med"/>
                      <a:tailEnd type="none" w="med" len="med"/>
                    </a:lnL>
                    <a:solidFill>
                      <a:srgbClr val="EFECF3"/>
                    </a:solidFill>
                  </a:tcPr>
                </a:tc>
                <a:tc>
                  <a:txBody>
                    <a:bodyPr/>
                    <a:lstStyle/>
                    <a:p>
                      <a:pPr algn="ctr"/>
                      <a:r>
                        <a:rPr lang="en-US" sz="1200" b="0"/>
                        <a:t>29%</a:t>
                      </a:r>
                    </a:p>
                  </a:txBody>
                  <a:tcPr marT="27432" marB="27432" anchor="ctr">
                    <a:lnR w="12700" cap="flat" cmpd="sng" algn="ctr">
                      <a:solidFill>
                        <a:srgbClr val="7030A0"/>
                      </a:solidFill>
                      <a:prstDash val="solid"/>
                      <a:round/>
                      <a:headEnd type="none" w="med" len="med"/>
                      <a:tailEnd type="none" w="med" len="med"/>
                    </a:lnR>
                    <a:solidFill>
                      <a:srgbClr val="EFECF3"/>
                    </a:solidFill>
                  </a:tcPr>
                </a:tc>
                <a:extLst>
                  <a:ext uri="{0D108BD9-81ED-4DB2-BD59-A6C34878D82A}">
                    <a16:rowId xmlns:a16="http://schemas.microsoft.com/office/drawing/2014/main" val="1890545705"/>
                  </a:ext>
                </a:extLst>
              </a:tr>
              <a:tr h="265235">
                <a:tc>
                  <a:txBody>
                    <a:bodyPr/>
                    <a:lstStyle/>
                    <a:p>
                      <a:r>
                        <a:rPr lang="en-US" sz="1200" b="0"/>
                        <a:t>More effective / safe (general mentions)</a:t>
                      </a:r>
                    </a:p>
                  </a:txBody>
                  <a:tcPr marT="27432" marB="27432" anchor="ctr">
                    <a:lnL w="12700" cap="flat" cmpd="sng" algn="ctr">
                      <a:solidFill>
                        <a:srgbClr val="7030A0"/>
                      </a:solidFill>
                      <a:prstDash val="solid"/>
                      <a:round/>
                      <a:headEnd type="none" w="med" len="med"/>
                      <a:tailEnd type="none" w="med" len="med"/>
                    </a:lnL>
                    <a:solidFill>
                      <a:srgbClr val="EFECF3"/>
                    </a:solidFill>
                  </a:tcPr>
                </a:tc>
                <a:tc>
                  <a:txBody>
                    <a:bodyPr/>
                    <a:lstStyle/>
                    <a:p>
                      <a:pPr algn="ctr"/>
                      <a:r>
                        <a:rPr lang="en-US" sz="1200" b="0"/>
                        <a:t>25%</a:t>
                      </a:r>
                      <a:r>
                        <a:rPr kumimoji="0" lang="en-US" altLang="en-US" sz="900" b="0" i="0" u="none" strike="noStrike" kern="1200" cap="none" spc="0" normalizeH="0" baseline="0" noProof="0">
                          <a:ln>
                            <a:noFill/>
                          </a:ln>
                          <a:solidFill>
                            <a:srgbClr val="FF0000"/>
                          </a:solidFill>
                          <a:effectLst/>
                          <a:uLnTx/>
                          <a:uFillTx/>
                          <a:latin typeface="+mn-lt"/>
                          <a:ea typeface="+mn-ea"/>
                          <a:cs typeface="Arial" panose="020B0604020202020204" pitchFamily="34" charset="0"/>
                          <a:sym typeface="Symbol" pitchFamily="18" charset="2"/>
                        </a:rPr>
                        <a:t></a:t>
                      </a:r>
                      <a:endParaRPr lang="en-US" sz="800" b="0"/>
                    </a:p>
                  </a:txBody>
                  <a:tcPr marT="27432" marB="27432" anchor="ctr">
                    <a:lnR w="12700" cap="flat" cmpd="sng" algn="ctr">
                      <a:solidFill>
                        <a:srgbClr val="7030A0"/>
                      </a:solidFill>
                      <a:prstDash val="solid"/>
                      <a:round/>
                      <a:headEnd type="none" w="med" len="med"/>
                      <a:tailEnd type="none" w="med" len="med"/>
                    </a:lnR>
                    <a:solidFill>
                      <a:srgbClr val="EFECF3"/>
                    </a:solidFill>
                  </a:tcPr>
                </a:tc>
                <a:extLst>
                  <a:ext uri="{0D108BD9-81ED-4DB2-BD59-A6C34878D82A}">
                    <a16:rowId xmlns:a16="http://schemas.microsoft.com/office/drawing/2014/main" val="407336144"/>
                  </a:ext>
                </a:extLst>
              </a:tr>
              <a:tr h="265235">
                <a:tc>
                  <a:txBody>
                    <a:bodyPr/>
                    <a:lstStyle/>
                    <a:p>
                      <a:r>
                        <a:rPr lang="en-US" sz="1200" b="0"/>
                        <a:t>Greater familiarity / experience</a:t>
                      </a:r>
                    </a:p>
                  </a:txBody>
                  <a:tcPr marT="27432" marB="27432" anchor="ctr">
                    <a:lnL w="12700" cap="flat" cmpd="sng" algn="ctr">
                      <a:solidFill>
                        <a:srgbClr val="7030A0"/>
                      </a:solidFill>
                      <a:prstDash val="solid"/>
                      <a:round/>
                      <a:headEnd type="none" w="med" len="med"/>
                      <a:tailEnd type="none" w="med" len="med"/>
                    </a:lnL>
                    <a:solidFill>
                      <a:srgbClr val="EFECF3"/>
                    </a:solidFill>
                  </a:tcPr>
                </a:tc>
                <a:tc>
                  <a:txBody>
                    <a:bodyPr/>
                    <a:lstStyle/>
                    <a:p>
                      <a:pPr algn="ctr"/>
                      <a:r>
                        <a:rPr lang="en-US" sz="1200" b="0"/>
                        <a:t>18%</a:t>
                      </a:r>
                    </a:p>
                  </a:txBody>
                  <a:tcPr marT="27432" marB="27432" anchor="ctr">
                    <a:lnR w="12700" cap="flat" cmpd="sng" algn="ctr">
                      <a:solidFill>
                        <a:srgbClr val="7030A0"/>
                      </a:solidFill>
                      <a:prstDash val="solid"/>
                      <a:round/>
                      <a:headEnd type="none" w="med" len="med"/>
                      <a:tailEnd type="none" w="med" len="med"/>
                    </a:lnR>
                    <a:solidFill>
                      <a:srgbClr val="EFECF3"/>
                    </a:solidFill>
                  </a:tcPr>
                </a:tc>
                <a:extLst>
                  <a:ext uri="{0D108BD9-81ED-4DB2-BD59-A6C34878D82A}">
                    <a16:rowId xmlns:a16="http://schemas.microsoft.com/office/drawing/2014/main" val="3835036292"/>
                  </a:ext>
                </a:extLst>
              </a:tr>
              <a:tr h="265235">
                <a:tc>
                  <a:txBody>
                    <a:bodyPr/>
                    <a:lstStyle/>
                    <a:p>
                      <a:r>
                        <a:rPr lang="en-US" sz="1200" b="0" strike="noStrike"/>
                        <a:t>One Vx / fewer shots</a:t>
                      </a:r>
                    </a:p>
                  </a:txBody>
                  <a:tcPr marT="27432" marB="27432" anchor="ctr">
                    <a:lnL w="12700" cap="flat" cmpd="sng" algn="ctr">
                      <a:solidFill>
                        <a:srgbClr val="7030A0"/>
                      </a:solidFill>
                      <a:prstDash val="solid"/>
                      <a:round/>
                      <a:headEnd type="none" w="med" len="med"/>
                      <a:tailEnd type="none" w="med" len="med"/>
                    </a:lnL>
                    <a:solidFill>
                      <a:srgbClr val="EFECF3"/>
                    </a:solidFill>
                  </a:tcPr>
                </a:tc>
                <a:tc>
                  <a:txBody>
                    <a:bodyPr/>
                    <a:lstStyle/>
                    <a:p>
                      <a:pPr algn="ctr"/>
                      <a:r>
                        <a:rPr lang="en-US" sz="1200" b="0" strike="noStrike"/>
                        <a:t>18%</a:t>
                      </a:r>
                    </a:p>
                  </a:txBody>
                  <a:tcPr marT="27432" marB="27432" anchor="ctr">
                    <a:lnR w="12700" cap="flat" cmpd="sng" algn="ctr">
                      <a:solidFill>
                        <a:srgbClr val="7030A0"/>
                      </a:solidFill>
                      <a:prstDash val="solid"/>
                      <a:round/>
                      <a:headEnd type="none" w="med" len="med"/>
                      <a:tailEnd type="none" w="med" len="med"/>
                    </a:lnR>
                    <a:solidFill>
                      <a:srgbClr val="EFECF3"/>
                    </a:solidFill>
                  </a:tcPr>
                </a:tc>
                <a:extLst>
                  <a:ext uri="{0D108BD9-81ED-4DB2-BD59-A6C34878D82A}">
                    <a16:rowId xmlns:a16="http://schemas.microsoft.com/office/drawing/2014/main" val="569769242"/>
                  </a:ext>
                </a:extLst>
              </a:tr>
              <a:tr h="265235">
                <a:tc>
                  <a:txBody>
                    <a:bodyPr/>
                    <a:lstStyle/>
                    <a:p>
                      <a:r>
                        <a:rPr lang="en-US" sz="1200" b="0"/>
                        <a:t>Financial benefit (costs, contracting)</a:t>
                      </a:r>
                    </a:p>
                  </a:txBody>
                  <a:tcPr marT="27432" marB="27432" anchor="ctr">
                    <a:lnL w="12700" cap="flat" cmpd="sng" algn="ctr">
                      <a:solidFill>
                        <a:srgbClr val="7030A0"/>
                      </a:solidFill>
                      <a:prstDash val="solid"/>
                      <a:round/>
                      <a:headEnd type="none" w="med" len="med"/>
                      <a:tailEnd type="none" w="med" len="med"/>
                    </a:lnL>
                    <a:solidFill>
                      <a:srgbClr val="EFECF3"/>
                    </a:solidFill>
                  </a:tcPr>
                </a:tc>
                <a:tc>
                  <a:txBody>
                    <a:bodyPr/>
                    <a:lstStyle/>
                    <a:p>
                      <a:pPr algn="ctr"/>
                      <a:r>
                        <a:rPr lang="en-US" sz="1200" b="0"/>
                        <a:t>9%</a:t>
                      </a:r>
                    </a:p>
                  </a:txBody>
                  <a:tcPr marT="27432" marB="27432" anchor="ctr">
                    <a:lnR w="12700" cap="flat" cmpd="sng" algn="ctr">
                      <a:solidFill>
                        <a:srgbClr val="7030A0"/>
                      </a:solidFill>
                      <a:prstDash val="solid"/>
                      <a:round/>
                      <a:headEnd type="none" w="med" len="med"/>
                      <a:tailEnd type="none" w="med" len="med"/>
                    </a:lnR>
                    <a:solidFill>
                      <a:srgbClr val="EFECF3"/>
                    </a:solidFill>
                  </a:tcPr>
                </a:tc>
                <a:extLst>
                  <a:ext uri="{0D108BD9-81ED-4DB2-BD59-A6C34878D82A}">
                    <a16:rowId xmlns:a16="http://schemas.microsoft.com/office/drawing/2014/main" val="4162693161"/>
                  </a:ext>
                </a:extLst>
              </a:tr>
              <a:tr h="265235">
                <a:tc>
                  <a:txBody>
                    <a:bodyPr/>
                    <a:lstStyle/>
                    <a:p>
                      <a:r>
                        <a:rPr lang="en-US" sz="1200" b="0"/>
                        <a:t>Covers more / all / 5 STs</a:t>
                      </a:r>
                    </a:p>
                  </a:txBody>
                  <a:tcPr marT="27432" marB="27432" anchor="ctr">
                    <a:lnL w="12700" cap="flat" cmpd="sng" algn="ctr">
                      <a:solidFill>
                        <a:srgbClr val="7030A0"/>
                      </a:solidFill>
                      <a:prstDash val="solid"/>
                      <a:round/>
                      <a:headEnd type="none" w="med" len="med"/>
                      <a:tailEnd type="none" w="med" len="med"/>
                    </a:lnL>
                    <a:lnB w="12700" cap="flat" cmpd="sng" algn="ctr">
                      <a:solidFill>
                        <a:srgbClr val="7030A0"/>
                      </a:solidFill>
                      <a:prstDash val="solid"/>
                      <a:round/>
                      <a:headEnd type="none" w="med" len="med"/>
                      <a:tailEnd type="none" w="med" len="med"/>
                    </a:lnB>
                    <a:solidFill>
                      <a:srgbClr val="EFECF3"/>
                    </a:solidFill>
                  </a:tcPr>
                </a:tc>
                <a:tc>
                  <a:txBody>
                    <a:bodyPr/>
                    <a:lstStyle/>
                    <a:p>
                      <a:pPr algn="ctr"/>
                      <a:r>
                        <a:rPr lang="en-US" sz="1200" b="0"/>
                        <a:t>5%</a:t>
                      </a:r>
                    </a:p>
                  </a:txBody>
                  <a:tcPr marT="27432" marB="27432" anchor="ctr">
                    <a:lnR w="12700" cap="flat" cmpd="sng" algn="ctr">
                      <a:solidFill>
                        <a:srgbClr val="7030A0"/>
                      </a:solidFill>
                      <a:prstDash val="solid"/>
                      <a:round/>
                      <a:headEnd type="none" w="med" len="med"/>
                      <a:tailEnd type="none" w="med" len="med"/>
                    </a:lnR>
                    <a:lnB w="12700" cap="flat" cmpd="sng" algn="ctr">
                      <a:solidFill>
                        <a:srgbClr val="7030A0"/>
                      </a:solidFill>
                      <a:prstDash val="solid"/>
                      <a:round/>
                      <a:headEnd type="none" w="med" len="med"/>
                      <a:tailEnd type="none" w="med" len="med"/>
                    </a:lnB>
                    <a:solidFill>
                      <a:srgbClr val="EFECF3"/>
                    </a:solidFill>
                  </a:tcPr>
                </a:tc>
                <a:extLst>
                  <a:ext uri="{0D108BD9-81ED-4DB2-BD59-A6C34878D82A}">
                    <a16:rowId xmlns:a16="http://schemas.microsoft.com/office/drawing/2014/main" val="2313359625"/>
                  </a:ext>
                </a:extLst>
              </a:tr>
            </a:tbl>
          </a:graphicData>
        </a:graphic>
      </p:graphicFrame>
      <p:grpSp>
        <p:nvGrpSpPr>
          <p:cNvPr id="6" name="Group 5">
            <a:extLst>
              <a:ext uri="{FF2B5EF4-FFF2-40B4-BE49-F238E27FC236}">
                <a16:creationId xmlns:a16="http://schemas.microsoft.com/office/drawing/2014/main" id="{82FCEE70-450F-0398-E3AF-B70FE279756D}"/>
              </a:ext>
            </a:extLst>
          </p:cNvPr>
          <p:cNvGrpSpPr/>
          <p:nvPr/>
        </p:nvGrpSpPr>
        <p:grpSpPr>
          <a:xfrm>
            <a:off x="321883" y="1183759"/>
            <a:ext cx="650178" cy="289396"/>
            <a:chOff x="1686341" y="1600319"/>
            <a:chExt cx="650178" cy="289396"/>
          </a:xfrm>
        </p:grpSpPr>
        <p:cxnSp>
          <p:nvCxnSpPr>
            <p:cNvPr id="8" name="Straight Connector 7">
              <a:extLst>
                <a:ext uri="{FF2B5EF4-FFF2-40B4-BE49-F238E27FC236}">
                  <a16:creationId xmlns:a16="http://schemas.microsoft.com/office/drawing/2014/main" id="{7691A40F-9878-820C-D45C-FC5C320F9689}"/>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9" name="TextBox 8">
              <a:extLst>
                <a:ext uri="{FF2B5EF4-FFF2-40B4-BE49-F238E27FC236}">
                  <a16:creationId xmlns:a16="http://schemas.microsoft.com/office/drawing/2014/main" id="{545C475A-F7F0-DE46-16AD-BAB11C8C87DF}"/>
                </a:ext>
              </a:extLst>
            </p:cNvPr>
            <p:cNvSpPr txBox="1"/>
            <p:nvPr/>
          </p:nvSpPr>
          <p:spPr bwMode="gray">
            <a:xfrm>
              <a:off x="1686341" y="1600319"/>
              <a:ext cx="650178" cy="2862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p:txBody>
        </p:sp>
      </p:grpSp>
      <p:sp>
        <p:nvSpPr>
          <p:cNvPr id="10" name="TextBox 9">
            <a:extLst>
              <a:ext uri="{FF2B5EF4-FFF2-40B4-BE49-F238E27FC236}">
                <a16:creationId xmlns:a16="http://schemas.microsoft.com/office/drawing/2014/main" id="{BE63AAA7-482F-39D2-8885-199DA1AAF35F}"/>
              </a:ext>
            </a:extLst>
          </p:cNvPr>
          <p:cNvSpPr txBox="1"/>
          <p:nvPr/>
        </p:nvSpPr>
        <p:spPr bwMode="gray">
          <a:xfrm>
            <a:off x="233910" y="883260"/>
            <a:ext cx="826124" cy="338554"/>
          </a:xfrm>
          <a:prstGeom prst="rect">
            <a:avLst/>
          </a:prstGeom>
          <a:noFill/>
        </p:spPr>
        <p:txBody>
          <a:bodyPr wrap="none">
            <a:spAutoFit/>
          </a:bodyPr>
          <a:lstStyle/>
          <a:p>
            <a:r>
              <a:rPr lang="en-US" sz="1600"/>
              <a:t>TOTAL</a:t>
            </a:r>
          </a:p>
        </p:txBody>
      </p:sp>
      <p:sp>
        <p:nvSpPr>
          <p:cNvPr id="19" name="TextBox 18">
            <a:extLst>
              <a:ext uri="{FF2B5EF4-FFF2-40B4-BE49-F238E27FC236}">
                <a16:creationId xmlns:a16="http://schemas.microsoft.com/office/drawing/2014/main" id="{D5BD800D-95CD-5AF8-8EE1-800C33DC93DF}"/>
              </a:ext>
            </a:extLst>
          </p:cNvPr>
          <p:cNvSpPr txBox="1"/>
          <p:nvPr/>
        </p:nvSpPr>
        <p:spPr bwMode="gray">
          <a:xfrm>
            <a:off x="3970800" y="1210419"/>
            <a:ext cx="4247226" cy="480131"/>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Unaided Reasons for Vx Preference </a:t>
            </a:r>
            <a:b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b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nvGrpSpPr>
          <p:cNvPr id="20" name="Group 19">
            <a:extLst>
              <a:ext uri="{FF2B5EF4-FFF2-40B4-BE49-F238E27FC236}">
                <a16:creationId xmlns:a16="http://schemas.microsoft.com/office/drawing/2014/main" id="{F5024E94-D434-9DF8-5A54-06A4AD91652F}"/>
              </a:ext>
            </a:extLst>
          </p:cNvPr>
          <p:cNvGrpSpPr/>
          <p:nvPr/>
        </p:nvGrpSpPr>
        <p:grpSpPr>
          <a:xfrm>
            <a:off x="3735509" y="1146975"/>
            <a:ext cx="420624" cy="420624"/>
            <a:chOff x="1119929" y="943834"/>
            <a:chExt cx="846331" cy="784203"/>
          </a:xfrm>
        </p:grpSpPr>
        <p:pic>
          <p:nvPicPr>
            <p:cNvPr id="21" name="Picture 6" descr="143,700+ Mouth Icon Illustrations, Royalty-Free Vector Graphics &amp; Clip Art  - iStock | Open mouth icon, Word of mouth icon, Cover mouth icon">
              <a:extLst>
                <a:ext uri="{FF2B5EF4-FFF2-40B4-BE49-F238E27FC236}">
                  <a16:creationId xmlns:a16="http://schemas.microsoft.com/office/drawing/2014/main" id="{1609CE7A-4B1D-E02A-7947-DC1E0ACC50AD}"/>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1182057" y="943834"/>
              <a:ext cx="784203" cy="784203"/>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Rounded Corners 21">
              <a:extLst>
                <a:ext uri="{FF2B5EF4-FFF2-40B4-BE49-F238E27FC236}">
                  <a16:creationId xmlns:a16="http://schemas.microsoft.com/office/drawing/2014/main" id="{D2C3D49B-544F-5602-18E4-002060C7DA2C}"/>
                </a:ext>
              </a:extLst>
            </p:cNvPr>
            <p:cNvSpPr/>
            <p:nvPr/>
          </p:nvSpPr>
          <p:spPr bwMode="gray">
            <a:xfrm>
              <a:off x="1119929" y="1022784"/>
              <a:ext cx="727031" cy="626695"/>
            </a:xfrm>
            <a:prstGeom prst="roundRect">
              <a:avLst>
                <a:gd name="adj" fmla="val 11422"/>
              </a:avLst>
            </a:prstGeom>
            <a:noFill/>
            <a:ln w="19050" cap="flat" cmpd="sng" algn="ctr">
              <a:solidFill>
                <a:schemeClr val="tx1">
                  <a:lumMod val="65000"/>
                  <a:lumOff val="3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sp>
        <p:nvSpPr>
          <p:cNvPr id="18" name="Rectangle 17">
            <a:extLst>
              <a:ext uri="{FF2B5EF4-FFF2-40B4-BE49-F238E27FC236}">
                <a16:creationId xmlns:a16="http://schemas.microsoft.com/office/drawing/2014/main" id="{05A4B893-3081-2A3C-12BD-7C47808C03A3}"/>
              </a:ext>
            </a:extLst>
          </p:cNvPr>
          <p:cNvSpPr/>
          <p:nvPr/>
        </p:nvSpPr>
        <p:spPr>
          <a:xfrm>
            <a:off x="4577936" y="3627586"/>
            <a:ext cx="2835668" cy="2400657"/>
          </a:xfrm>
          <a:prstGeom prst="rect">
            <a:avLst/>
          </a:prstGeom>
        </p:spPr>
        <p:txBody>
          <a:bodyPr wrap="square" tIns="182880">
            <a:spAutoFit/>
          </a:bodyPr>
          <a:lstStyle/>
          <a:p>
            <a:pPr algn="ctr">
              <a:spcBef>
                <a:spcPts val="1200"/>
              </a:spcBef>
            </a:pPr>
            <a:r>
              <a:rPr lang="en-US" sz="1100" i="1">
                <a:solidFill>
                  <a:schemeClr val="tx1">
                    <a:lumMod val="50000"/>
                    <a:lumOff val="50000"/>
                  </a:schemeClr>
                </a:solidFill>
              </a:rPr>
              <a:t>Because they are very similar and not significantly different. </a:t>
            </a:r>
            <a:br>
              <a:rPr lang="en-US" sz="1100" i="1">
                <a:solidFill>
                  <a:schemeClr val="tx1">
                    <a:lumMod val="50000"/>
                    <a:lumOff val="50000"/>
                  </a:schemeClr>
                </a:solidFill>
              </a:rPr>
            </a:br>
            <a:r>
              <a:rPr lang="en-US" sz="1100">
                <a:solidFill>
                  <a:schemeClr val="tx1">
                    <a:lumMod val="50000"/>
                    <a:lumOff val="50000"/>
                  </a:schemeClr>
                </a:solidFill>
              </a:rPr>
              <a:t>– PED</a:t>
            </a:r>
          </a:p>
          <a:p>
            <a:pPr algn="ctr">
              <a:spcBef>
                <a:spcPts val="1200"/>
              </a:spcBef>
            </a:pPr>
            <a:r>
              <a:rPr lang="en-US" sz="1100" i="1">
                <a:solidFill>
                  <a:schemeClr val="tx1">
                    <a:lumMod val="50000"/>
                    <a:lumOff val="50000"/>
                  </a:schemeClr>
                </a:solidFill>
              </a:rPr>
              <a:t>Don't yet know enough about their differences (preparation, cost, effectiveness, side effects).</a:t>
            </a:r>
            <a:br>
              <a:rPr lang="en-US" sz="1100" i="1">
                <a:solidFill>
                  <a:schemeClr val="tx1">
                    <a:lumMod val="50000"/>
                    <a:lumOff val="50000"/>
                  </a:schemeClr>
                </a:solidFill>
              </a:rPr>
            </a:br>
            <a:r>
              <a:rPr lang="en-US" sz="1100">
                <a:solidFill>
                  <a:schemeClr val="tx1">
                    <a:lumMod val="50000"/>
                    <a:lumOff val="50000"/>
                  </a:schemeClr>
                </a:solidFill>
              </a:rPr>
              <a:t>– PED</a:t>
            </a:r>
            <a:endParaRPr lang="en-US" sz="1100" i="1">
              <a:solidFill>
                <a:schemeClr val="tx1">
                  <a:lumMod val="50000"/>
                  <a:lumOff val="50000"/>
                </a:schemeClr>
              </a:solidFill>
            </a:endParaRPr>
          </a:p>
          <a:p>
            <a:pPr algn="ctr">
              <a:spcBef>
                <a:spcPts val="1200"/>
              </a:spcBef>
            </a:pPr>
            <a:r>
              <a:rPr lang="en-US" sz="1100" i="1">
                <a:solidFill>
                  <a:schemeClr val="tx1">
                    <a:lumMod val="50000"/>
                    <a:lumOff val="50000"/>
                  </a:schemeClr>
                </a:solidFill>
              </a:rPr>
              <a:t>I’m not thrilled about either one of the vaccines unless it was approved for the 11- to 12-year-old age group usage.</a:t>
            </a:r>
            <a:br>
              <a:rPr lang="en-US" sz="1100" i="1">
                <a:solidFill>
                  <a:schemeClr val="tx1">
                    <a:lumMod val="50000"/>
                    <a:lumOff val="50000"/>
                  </a:schemeClr>
                </a:solidFill>
              </a:rPr>
            </a:br>
            <a:r>
              <a:rPr lang="en-US" sz="1100">
                <a:solidFill>
                  <a:schemeClr val="tx1">
                    <a:lumMod val="50000"/>
                    <a:lumOff val="50000"/>
                  </a:schemeClr>
                </a:solidFill>
              </a:rPr>
              <a:t>– PED</a:t>
            </a:r>
            <a:endParaRPr lang="en-US" sz="1100" i="1">
              <a:solidFill>
                <a:schemeClr val="tx1">
                  <a:lumMod val="50000"/>
                  <a:lumOff val="50000"/>
                </a:schemeClr>
              </a:solidFill>
            </a:endParaRPr>
          </a:p>
        </p:txBody>
      </p:sp>
      <p:pic>
        <p:nvPicPr>
          <p:cNvPr id="26" name="Picture 6">
            <a:extLst>
              <a:ext uri="{FF2B5EF4-FFF2-40B4-BE49-F238E27FC236}">
                <a16:creationId xmlns:a16="http://schemas.microsoft.com/office/drawing/2014/main" id="{C8342344-0AC9-6044-C413-77EE95C576C5}"/>
              </a:ext>
            </a:extLst>
          </p:cNvPr>
          <p:cNvPicPr>
            <a:picLocks noChangeAspect="1" noChangeArrowheads="1"/>
          </p:cNvPicPr>
          <p:nvPr/>
        </p:nvPicPr>
        <p:blipFill rotWithShape="1">
          <a:blip r:embed="rId4" cstate="print">
            <a:lum bright="70000" contrast="-70000"/>
            <a:extLst>
              <a:ext uri="{28A0092B-C50C-407E-A947-70E740481C1C}">
                <a14:useLocalDpi xmlns:a14="http://schemas.microsoft.com/office/drawing/2010/main" val="0"/>
              </a:ext>
            </a:extLst>
          </a:blip>
          <a:srcRect r="73864" b="73864"/>
          <a:stretch/>
        </p:blipFill>
        <p:spPr bwMode="auto">
          <a:xfrm>
            <a:off x="4307660" y="3601253"/>
            <a:ext cx="560356" cy="39870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a:extLst>
              <a:ext uri="{FF2B5EF4-FFF2-40B4-BE49-F238E27FC236}">
                <a16:creationId xmlns:a16="http://schemas.microsoft.com/office/drawing/2014/main" id="{42A56459-15A2-9181-0356-774C62C59824}"/>
              </a:ext>
            </a:extLst>
          </p:cNvPr>
          <p:cNvPicPr>
            <a:picLocks noChangeAspect="1" noChangeArrowheads="1"/>
          </p:cNvPicPr>
          <p:nvPr/>
        </p:nvPicPr>
        <p:blipFill rotWithShape="1">
          <a:blip r:embed="rId5" cstate="print">
            <a:lum bright="70000" contrast="-70000"/>
            <a:extLst>
              <a:ext uri="{28A0092B-C50C-407E-A947-70E740481C1C}">
                <a14:useLocalDpi xmlns:a14="http://schemas.microsoft.com/office/drawing/2010/main" val="0"/>
              </a:ext>
            </a:extLst>
          </a:blip>
          <a:srcRect l="70875" t="70875" r="3855" b="11211"/>
          <a:stretch/>
        </p:blipFill>
        <p:spPr bwMode="auto">
          <a:xfrm>
            <a:off x="7143328" y="5678061"/>
            <a:ext cx="540552" cy="27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567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8DD74-7C2A-37C4-D3BB-7E9330D040D0}"/>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0423B9D4-2FBB-D234-10DF-4883C4ED13DF}"/>
              </a:ext>
            </a:extLst>
          </p:cNvPr>
          <p:cNvPicPr>
            <a:picLocks noChangeAspect="1"/>
          </p:cNvPicPr>
          <p:nvPr/>
        </p:nvPicPr>
        <p:blipFill rotWithShape="1">
          <a:blip r:embed="rId3"/>
          <a:srcRect b="49265"/>
          <a:stretch/>
        </p:blipFill>
        <p:spPr>
          <a:xfrm>
            <a:off x="3966724" y="2422172"/>
            <a:ext cx="4255377" cy="2155883"/>
          </a:xfrm>
          <a:prstGeom prst="rect">
            <a:avLst/>
          </a:prstGeom>
        </p:spPr>
      </p:pic>
      <p:graphicFrame>
        <p:nvGraphicFramePr>
          <p:cNvPr id="43" name="Chart 42">
            <a:extLst>
              <a:ext uri="{FF2B5EF4-FFF2-40B4-BE49-F238E27FC236}">
                <a16:creationId xmlns:a16="http://schemas.microsoft.com/office/drawing/2014/main" id="{C6B688AF-EFA0-28FA-B4F1-37AEB2C0DC58}"/>
              </a:ext>
            </a:extLst>
          </p:cNvPr>
          <p:cNvGraphicFramePr/>
          <p:nvPr/>
        </p:nvGraphicFramePr>
        <p:xfrm>
          <a:off x="3124719" y="2436363"/>
          <a:ext cx="6254830" cy="4665668"/>
        </p:xfrm>
        <a:graphic>
          <a:graphicData uri="http://schemas.openxmlformats.org/drawingml/2006/chart">
            <c:chart xmlns:c="http://schemas.openxmlformats.org/drawingml/2006/chart" xmlns:r="http://schemas.openxmlformats.org/officeDocument/2006/relationships" r:id="rId4"/>
          </a:graphicData>
        </a:graphic>
      </p:graphicFrame>
      <p:sp>
        <p:nvSpPr>
          <p:cNvPr id="17" name="Rectangle: Rounded Corners 16">
            <a:extLst>
              <a:ext uri="{FF2B5EF4-FFF2-40B4-BE49-F238E27FC236}">
                <a16:creationId xmlns:a16="http://schemas.microsoft.com/office/drawing/2014/main" id="{0298F0B6-9CD5-E44A-DD58-C3B29B6D9618}"/>
              </a:ext>
            </a:extLst>
          </p:cNvPr>
          <p:cNvSpPr/>
          <p:nvPr/>
        </p:nvSpPr>
        <p:spPr bwMode="gray">
          <a:xfrm>
            <a:off x="951002" y="1543280"/>
            <a:ext cx="10306278" cy="44003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3" name="Title 2">
            <a:extLst>
              <a:ext uri="{FF2B5EF4-FFF2-40B4-BE49-F238E27FC236}">
                <a16:creationId xmlns:a16="http://schemas.microsoft.com/office/drawing/2014/main" id="{AADCCDC4-0406-2A34-35E6-BBC5999AC131}"/>
              </a:ext>
            </a:extLst>
          </p:cNvPr>
          <p:cNvSpPr>
            <a:spLocks noGrp="1"/>
          </p:cNvSpPr>
          <p:nvPr>
            <p:ph type="title"/>
          </p:nvPr>
        </p:nvSpPr>
        <p:spPr>
          <a:xfrm>
            <a:off x="1142123" y="170307"/>
            <a:ext cx="10379317" cy="850392"/>
          </a:xfrm>
        </p:spPr>
        <p:txBody>
          <a:bodyPr/>
          <a:lstStyle/>
          <a:p>
            <a:r>
              <a:rPr lang="en-US" dirty="0"/>
              <a:t>Preference largely switches to </a:t>
            </a:r>
            <a:r>
              <a:rPr lang="en-US" dirty="0" err="1"/>
              <a:t>Penmenvy</a:t>
            </a:r>
            <a:r>
              <a:rPr lang="en-US" dirty="0"/>
              <a:t> (from no preference) if it offers </a:t>
            </a:r>
            <a:r>
              <a:rPr lang="en-US" i="1" dirty="0"/>
              <a:t>protection against gonorrhea</a:t>
            </a:r>
            <a:r>
              <a:rPr lang="en-US" dirty="0"/>
              <a:t>, with about 2 in 10 still favoring Penbraya</a:t>
            </a:r>
          </a:p>
        </p:txBody>
      </p:sp>
      <p:sp>
        <p:nvSpPr>
          <p:cNvPr id="11" name="Text Placeholder 2">
            <a:extLst>
              <a:ext uri="{FF2B5EF4-FFF2-40B4-BE49-F238E27FC236}">
                <a16:creationId xmlns:a16="http://schemas.microsoft.com/office/drawing/2014/main" id="{6C8725E1-8E52-3189-2A7D-F6AA1CF95E74}"/>
              </a:ext>
            </a:extLst>
          </p:cNvPr>
          <p:cNvSpPr>
            <a:spLocks noGrp="1"/>
          </p:cNvSpPr>
          <p:nvPr>
            <p:ph type="body" sz="quarter" idx="16"/>
          </p:nvPr>
        </p:nvSpPr>
        <p:spPr>
          <a:xfrm>
            <a:off x="1571625" y="6290292"/>
            <a:ext cx="8892819" cy="454996"/>
          </a:xfrm>
        </p:spPr>
        <p:txBody>
          <a:bodyPr wrap="none"/>
          <a:lstStyle/>
          <a:p>
            <a:pPr marL="568325" indent="-568325"/>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unbranded (Vaccine X) perceptions in the prior wave </a:t>
            </a:r>
          </a:p>
          <a:p>
            <a:pPr marL="228600" indent="-228600"/>
            <a:r>
              <a:rPr lang="en-US" dirty="0"/>
              <a:t>X9.	If you learned that </a:t>
            </a:r>
            <a:r>
              <a:rPr lang="en-US" dirty="0" err="1"/>
              <a:t>Penmenvy</a:t>
            </a:r>
            <a:r>
              <a:rPr lang="en-US" dirty="0"/>
              <a:t> offers some cross-protection (~30-40%) against N. gonorrhea infection, now which pentavalent vaccine would you prefer to recommend to </a:t>
            </a:r>
            <a:br>
              <a:rPr lang="en-US" dirty="0"/>
            </a:br>
            <a:r>
              <a:rPr lang="en-US" dirty="0"/>
              <a:t>your eligible patients 16-18 years of age? (5-pt scale: 1=Significantly more likely to recommend Vaccine X, 5=Significantly more likely to recommend Penbraya)</a:t>
            </a:r>
          </a:p>
        </p:txBody>
      </p:sp>
      <p:grpSp>
        <p:nvGrpSpPr>
          <p:cNvPr id="70" name="Group 69">
            <a:extLst>
              <a:ext uri="{FF2B5EF4-FFF2-40B4-BE49-F238E27FC236}">
                <a16:creationId xmlns:a16="http://schemas.microsoft.com/office/drawing/2014/main" id="{110656CA-C2DF-89ED-F706-3B542049EE1E}"/>
              </a:ext>
            </a:extLst>
          </p:cNvPr>
          <p:cNvGrpSpPr/>
          <p:nvPr/>
        </p:nvGrpSpPr>
        <p:grpSpPr>
          <a:xfrm>
            <a:off x="3178492" y="4582160"/>
            <a:ext cx="5831840" cy="1221477"/>
            <a:chOff x="3017520" y="4582160"/>
            <a:chExt cx="5831840" cy="1221477"/>
          </a:xfrm>
        </p:grpSpPr>
        <p:sp>
          <p:nvSpPr>
            <p:cNvPr id="44" name="Rectangle 43">
              <a:extLst>
                <a:ext uri="{FF2B5EF4-FFF2-40B4-BE49-F238E27FC236}">
                  <a16:creationId xmlns:a16="http://schemas.microsoft.com/office/drawing/2014/main" id="{771D4A6F-BB63-C868-9D78-68216AC56C29}"/>
                </a:ext>
              </a:extLst>
            </p:cNvPr>
            <p:cNvSpPr/>
            <p:nvPr/>
          </p:nvSpPr>
          <p:spPr>
            <a:xfrm>
              <a:off x="3017520" y="4582160"/>
              <a:ext cx="5831840" cy="1221477"/>
            </a:xfrm>
            <a:prstGeom prst="rect">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endParaRPr lang="en-US" sz="1400">
                <a:solidFill>
                  <a:schemeClr val="tx1"/>
                </a:solidFill>
              </a:endParaRPr>
            </a:p>
          </p:txBody>
        </p:sp>
        <p:grpSp>
          <p:nvGrpSpPr>
            <p:cNvPr id="65" name="Group 64">
              <a:extLst>
                <a:ext uri="{FF2B5EF4-FFF2-40B4-BE49-F238E27FC236}">
                  <a16:creationId xmlns:a16="http://schemas.microsoft.com/office/drawing/2014/main" id="{AFCFB45F-3450-8C5C-9EB6-3B24CA44C0C7}"/>
                </a:ext>
              </a:extLst>
            </p:cNvPr>
            <p:cNvGrpSpPr/>
            <p:nvPr/>
          </p:nvGrpSpPr>
          <p:grpSpPr>
            <a:xfrm>
              <a:off x="3068321" y="4711468"/>
              <a:ext cx="1280160" cy="1021398"/>
              <a:chOff x="3068321" y="4711468"/>
              <a:chExt cx="1280160" cy="1021398"/>
            </a:xfrm>
          </p:grpSpPr>
          <p:sp>
            <p:nvSpPr>
              <p:cNvPr id="60" name="Oval 59">
                <a:extLst>
                  <a:ext uri="{FF2B5EF4-FFF2-40B4-BE49-F238E27FC236}">
                    <a16:creationId xmlns:a16="http://schemas.microsoft.com/office/drawing/2014/main" id="{791FBC39-1F02-99ED-E6A7-C796D59DA6C8}"/>
                  </a:ext>
                </a:extLst>
              </p:cNvPr>
              <p:cNvSpPr/>
              <p:nvPr/>
            </p:nvSpPr>
            <p:spPr>
              <a:xfrm>
                <a:off x="3616961" y="4711468"/>
                <a:ext cx="182880" cy="18288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61" name="TextBox 60">
                <a:extLst>
                  <a:ext uri="{FF2B5EF4-FFF2-40B4-BE49-F238E27FC236}">
                    <a16:creationId xmlns:a16="http://schemas.microsoft.com/office/drawing/2014/main" id="{2B7A2761-C978-AC3B-FAE6-650E0D7BA28B}"/>
                  </a:ext>
                </a:extLst>
              </p:cNvPr>
              <p:cNvSpPr txBox="1"/>
              <p:nvPr/>
            </p:nvSpPr>
            <p:spPr>
              <a:xfrm>
                <a:off x="3068321" y="4901869"/>
                <a:ext cx="1280160" cy="830997"/>
              </a:xfrm>
              <a:prstGeom prst="rect">
                <a:avLst/>
              </a:prstGeom>
              <a:noFill/>
              <a:ln>
                <a:noFill/>
                <a:prstDash val="dash"/>
              </a:ln>
            </p:spPr>
            <p:txBody>
              <a:bodyPr wrap="square">
                <a:spAutoFit/>
              </a:bodyPr>
              <a:lstStyle/>
              <a:p>
                <a:pPr algn="ctr"/>
                <a:r>
                  <a:rPr lang="en-US" sz="1200">
                    <a:latin typeface="+mj-lt"/>
                  </a:rPr>
                  <a:t>Significantly </a:t>
                </a:r>
                <a:r>
                  <a:rPr lang="en-US" sz="1200" u="sng">
                    <a:latin typeface="+mj-lt"/>
                  </a:rPr>
                  <a:t>more</a:t>
                </a:r>
                <a:r>
                  <a:rPr lang="en-US" sz="1200">
                    <a:latin typeface="+mj-lt"/>
                  </a:rPr>
                  <a:t> likely to recommend</a:t>
                </a:r>
              </a:p>
              <a:p>
                <a:pPr algn="ctr"/>
                <a:r>
                  <a:rPr lang="en-US" sz="1200">
                    <a:latin typeface="+mj-lt"/>
                  </a:rPr>
                  <a:t> </a:t>
                </a:r>
                <a:r>
                  <a:rPr lang="en-US" sz="1200" b="1">
                    <a:solidFill>
                      <a:srgbClr val="D95776"/>
                    </a:solidFill>
                    <a:latin typeface="+mj-lt"/>
                  </a:rPr>
                  <a:t>Penmenvy</a:t>
                </a:r>
              </a:p>
            </p:txBody>
          </p:sp>
        </p:grpSp>
        <p:grpSp>
          <p:nvGrpSpPr>
            <p:cNvPr id="67" name="Group 66">
              <a:extLst>
                <a:ext uri="{FF2B5EF4-FFF2-40B4-BE49-F238E27FC236}">
                  <a16:creationId xmlns:a16="http://schemas.microsoft.com/office/drawing/2014/main" id="{08F5A14B-DC29-B984-66D6-F7947238217F}"/>
                </a:ext>
              </a:extLst>
            </p:cNvPr>
            <p:cNvGrpSpPr/>
            <p:nvPr/>
          </p:nvGrpSpPr>
          <p:grpSpPr>
            <a:xfrm>
              <a:off x="5302003" y="4711468"/>
              <a:ext cx="1280160" cy="1021398"/>
              <a:chOff x="5302003" y="4711468"/>
              <a:chExt cx="1280160" cy="1021398"/>
            </a:xfrm>
          </p:grpSpPr>
          <p:sp>
            <p:nvSpPr>
              <p:cNvPr id="58" name="Oval 57">
                <a:extLst>
                  <a:ext uri="{FF2B5EF4-FFF2-40B4-BE49-F238E27FC236}">
                    <a16:creationId xmlns:a16="http://schemas.microsoft.com/office/drawing/2014/main" id="{8A2BF093-E92C-0D76-92B1-F35B4349F153}"/>
                  </a:ext>
                </a:extLst>
              </p:cNvPr>
              <p:cNvSpPr/>
              <p:nvPr/>
            </p:nvSpPr>
            <p:spPr>
              <a:xfrm>
                <a:off x="5850643" y="4711468"/>
                <a:ext cx="182880" cy="182880"/>
              </a:xfrm>
              <a:prstGeom prst="ellipse">
                <a:avLst/>
              </a:prstGeom>
              <a:solidFill>
                <a:schemeClr val="bg1">
                  <a:lumMod val="6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9" name="TextBox 58">
                <a:extLst>
                  <a:ext uri="{FF2B5EF4-FFF2-40B4-BE49-F238E27FC236}">
                    <a16:creationId xmlns:a16="http://schemas.microsoft.com/office/drawing/2014/main" id="{E8EC6323-3576-FFAE-A2C7-50B5DF7C9CD3}"/>
                  </a:ext>
                </a:extLst>
              </p:cNvPr>
              <p:cNvSpPr txBox="1"/>
              <p:nvPr/>
            </p:nvSpPr>
            <p:spPr>
              <a:xfrm>
                <a:off x="5302003" y="4901869"/>
                <a:ext cx="1280160" cy="830997"/>
              </a:xfrm>
              <a:prstGeom prst="rect">
                <a:avLst/>
              </a:prstGeom>
              <a:noFill/>
              <a:ln>
                <a:noFill/>
                <a:prstDash val="dash"/>
              </a:ln>
            </p:spPr>
            <p:txBody>
              <a:bodyPr wrap="square">
                <a:spAutoFit/>
              </a:bodyPr>
              <a:lstStyle/>
              <a:p>
                <a:pPr algn="ctr"/>
                <a:r>
                  <a:rPr lang="en-US" sz="1200">
                    <a:latin typeface="+mj-lt"/>
                  </a:rPr>
                  <a:t>Not likely to </a:t>
                </a:r>
              </a:p>
              <a:p>
                <a:pPr algn="ctr"/>
                <a:r>
                  <a:rPr lang="en-US" sz="1200">
                    <a:latin typeface="+mj-lt"/>
                  </a:rPr>
                  <a:t>recommend </a:t>
                </a:r>
                <a:br>
                  <a:rPr lang="en-US" sz="1200">
                    <a:latin typeface="+mj-lt"/>
                  </a:rPr>
                </a:br>
                <a:r>
                  <a:rPr lang="en-US" sz="1200">
                    <a:latin typeface="+mj-lt"/>
                  </a:rPr>
                  <a:t>one over</a:t>
                </a:r>
                <a:br>
                  <a:rPr lang="en-US" sz="1200">
                    <a:latin typeface="+mj-lt"/>
                  </a:rPr>
                </a:br>
                <a:r>
                  <a:rPr lang="en-US" sz="1200">
                    <a:latin typeface="+mj-lt"/>
                  </a:rPr>
                  <a:t>the other</a:t>
                </a:r>
              </a:p>
            </p:txBody>
          </p:sp>
        </p:grpSp>
        <p:grpSp>
          <p:nvGrpSpPr>
            <p:cNvPr id="66" name="Group 65">
              <a:extLst>
                <a:ext uri="{FF2B5EF4-FFF2-40B4-BE49-F238E27FC236}">
                  <a16:creationId xmlns:a16="http://schemas.microsoft.com/office/drawing/2014/main" id="{6068B8CD-8610-04D4-3558-C2276AF99386}"/>
                </a:ext>
              </a:extLst>
            </p:cNvPr>
            <p:cNvGrpSpPr/>
            <p:nvPr/>
          </p:nvGrpSpPr>
          <p:grpSpPr>
            <a:xfrm>
              <a:off x="4185162" y="4711468"/>
              <a:ext cx="1280160" cy="1021398"/>
              <a:chOff x="4185162" y="4711468"/>
              <a:chExt cx="1280160" cy="1021398"/>
            </a:xfrm>
          </p:grpSpPr>
          <p:sp>
            <p:nvSpPr>
              <p:cNvPr id="56" name="Oval 55">
                <a:extLst>
                  <a:ext uri="{FF2B5EF4-FFF2-40B4-BE49-F238E27FC236}">
                    <a16:creationId xmlns:a16="http://schemas.microsoft.com/office/drawing/2014/main" id="{2C86CC48-CE7B-E9E0-DFC0-ECAC01C17135}"/>
                  </a:ext>
                </a:extLst>
              </p:cNvPr>
              <p:cNvSpPr/>
              <p:nvPr/>
            </p:nvSpPr>
            <p:spPr>
              <a:xfrm>
                <a:off x="4733802" y="4711468"/>
                <a:ext cx="182880" cy="182880"/>
              </a:xfrm>
              <a:prstGeom prst="ellipse">
                <a:avLst/>
              </a:prstGeom>
              <a:solidFill>
                <a:schemeClr val="accent6">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7" name="TextBox 56">
                <a:extLst>
                  <a:ext uri="{FF2B5EF4-FFF2-40B4-BE49-F238E27FC236}">
                    <a16:creationId xmlns:a16="http://schemas.microsoft.com/office/drawing/2014/main" id="{28837D7A-BF82-DBA3-8193-1278D30675C9}"/>
                  </a:ext>
                </a:extLst>
              </p:cNvPr>
              <p:cNvSpPr txBox="1"/>
              <p:nvPr/>
            </p:nvSpPr>
            <p:spPr>
              <a:xfrm>
                <a:off x="4185162" y="4901869"/>
                <a:ext cx="1280160" cy="830997"/>
              </a:xfrm>
              <a:prstGeom prst="rect">
                <a:avLst/>
              </a:prstGeom>
              <a:noFill/>
              <a:ln>
                <a:noFill/>
                <a:prstDash val="dash"/>
              </a:ln>
            </p:spPr>
            <p:txBody>
              <a:bodyPr wrap="square">
                <a:spAutoFit/>
              </a:bodyPr>
              <a:lstStyle/>
              <a:p>
                <a:pPr algn="ctr"/>
                <a:r>
                  <a:rPr lang="en-US" sz="1200">
                    <a:latin typeface="+mj-lt"/>
                  </a:rPr>
                  <a:t>Somewhat </a:t>
                </a:r>
                <a:r>
                  <a:rPr lang="en-US" sz="1200" u="sng">
                    <a:latin typeface="+mj-lt"/>
                  </a:rPr>
                  <a:t>more</a:t>
                </a:r>
                <a:r>
                  <a:rPr lang="en-US" sz="1200">
                    <a:latin typeface="+mj-lt"/>
                  </a:rPr>
                  <a:t> likely to recommend</a:t>
                </a:r>
              </a:p>
              <a:p>
                <a:pPr algn="ctr"/>
                <a:r>
                  <a:rPr lang="en-US" sz="1200">
                    <a:latin typeface="+mj-lt"/>
                  </a:rPr>
                  <a:t> </a:t>
                </a:r>
                <a:r>
                  <a:rPr lang="en-US" sz="1200" b="1">
                    <a:solidFill>
                      <a:srgbClr val="D95776"/>
                    </a:solidFill>
                  </a:rPr>
                  <a:t>Penmenvy</a:t>
                </a:r>
                <a:endParaRPr lang="en-US" sz="1200" b="1">
                  <a:solidFill>
                    <a:srgbClr val="D95776"/>
                  </a:solidFill>
                  <a:latin typeface="+mj-lt"/>
                </a:endParaRPr>
              </a:p>
            </p:txBody>
          </p:sp>
        </p:grpSp>
        <p:grpSp>
          <p:nvGrpSpPr>
            <p:cNvPr id="69" name="Group 68">
              <a:extLst>
                <a:ext uri="{FF2B5EF4-FFF2-40B4-BE49-F238E27FC236}">
                  <a16:creationId xmlns:a16="http://schemas.microsoft.com/office/drawing/2014/main" id="{2BF7BF48-7323-EBC6-896C-77E0C1AB038C}"/>
                </a:ext>
              </a:extLst>
            </p:cNvPr>
            <p:cNvGrpSpPr/>
            <p:nvPr/>
          </p:nvGrpSpPr>
          <p:grpSpPr>
            <a:xfrm>
              <a:off x="7535685" y="4711468"/>
              <a:ext cx="1280160" cy="1021398"/>
              <a:chOff x="7535685" y="4711468"/>
              <a:chExt cx="1280160" cy="1021398"/>
            </a:xfrm>
          </p:grpSpPr>
          <p:sp>
            <p:nvSpPr>
              <p:cNvPr id="54" name="Oval 53">
                <a:extLst>
                  <a:ext uri="{FF2B5EF4-FFF2-40B4-BE49-F238E27FC236}">
                    <a16:creationId xmlns:a16="http://schemas.microsoft.com/office/drawing/2014/main" id="{7821A246-1205-7C5B-3646-B4E0FF8F8861}"/>
                  </a:ext>
                </a:extLst>
              </p:cNvPr>
              <p:cNvSpPr/>
              <p:nvPr/>
            </p:nvSpPr>
            <p:spPr>
              <a:xfrm>
                <a:off x="8084325" y="4711468"/>
                <a:ext cx="182880" cy="182880"/>
              </a:xfrm>
              <a:prstGeom prst="ellipse">
                <a:avLst/>
              </a:prstGeom>
              <a:solidFill>
                <a:srgbClr val="937DAD"/>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5" name="TextBox 54">
                <a:extLst>
                  <a:ext uri="{FF2B5EF4-FFF2-40B4-BE49-F238E27FC236}">
                    <a16:creationId xmlns:a16="http://schemas.microsoft.com/office/drawing/2014/main" id="{0A65FC58-4045-C4A7-3572-B1AC092D8495}"/>
                  </a:ext>
                </a:extLst>
              </p:cNvPr>
              <p:cNvSpPr txBox="1"/>
              <p:nvPr/>
            </p:nvSpPr>
            <p:spPr>
              <a:xfrm>
                <a:off x="7535685" y="4901869"/>
                <a:ext cx="1280160" cy="830997"/>
              </a:xfrm>
              <a:prstGeom prst="rect">
                <a:avLst/>
              </a:prstGeom>
              <a:noFill/>
              <a:ln>
                <a:noFill/>
                <a:prstDash val="dash"/>
              </a:ln>
            </p:spPr>
            <p:txBody>
              <a:bodyPr wrap="square">
                <a:spAutoFit/>
              </a:bodyPr>
              <a:lstStyle/>
              <a:p>
                <a:pPr algn="ctr"/>
                <a:r>
                  <a:rPr lang="en-US" sz="1200" dirty="0">
                    <a:latin typeface="+mj-lt"/>
                  </a:rPr>
                  <a:t>Significantly </a:t>
                </a:r>
                <a:r>
                  <a:rPr lang="en-US" sz="1200" u="sng" dirty="0">
                    <a:latin typeface="+mj-lt"/>
                  </a:rPr>
                  <a:t>more</a:t>
                </a:r>
                <a:r>
                  <a:rPr lang="en-US" sz="1200" dirty="0">
                    <a:latin typeface="+mj-lt"/>
                  </a:rPr>
                  <a:t> likely to recommend</a:t>
                </a:r>
              </a:p>
              <a:p>
                <a:pPr algn="ctr"/>
                <a:r>
                  <a:rPr lang="en-US" sz="1200" b="1" dirty="0">
                    <a:solidFill>
                      <a:srgbClr val="937DAD"/>
                    </a:solidFill>
                    <a:latin typeface="+mj-lt"/>
                  </a:rPr>
                  <a:t>Penbraya</a:t>
                </a:r>
              </a:p>
            </p:txBody>
          </p:sp>
        </p:grpSp>
        <p:grpSp>
          <p:nvGrpSpPr>
            <p:cNvPr id="68" name="Group 67">
              <a:extLst>
                <a:ext uri="{FF2B5EF4-FFF2-40B4-BE49-F238E27FC236}">
                  <a16:creationId xmlns:a16="http://schemas.microsoft.com/office/drawing/2014/main" id="{D112A1B4-9D5D-B642-AA2C-A2D2D1A733A6}"/>
                </a:ext>
              </a:extLst>
            </p:cNvPr>
            <p:cNvGrpSpPr/>
            <p:nvPr/>
          </p:nvGrpSpPr>
          <p:grpSpPr>
            <a:xfrm>
              <a:off x="6418844" y="4711468"/>
              <a:ext cx="1280160" cy="1021398"/>
              <a:chOff x="6418844" y="4711468"/>
              <a:chExt cx="1280160" cy="1021398"/>
            </a:xfrm>
          </p:grpSpPr>
          <p:sp>
            <p:nvSpPr>
              <p:cNvPr id="52" name="Oval 51">
                <a:extLst>
                  <a:ext uri="{FF2B5EF4-FFF2-40B4-BE49-F238E27FC236}">
                    <a16:creationId xmlns:a16="http://schemas.microsoft.com/office/drawing/2014/main" id="{CC5F01F4-8616-5C27-7877-B6E79B082C3A}"/>
                  </a:ext>
                </a:extLst>
              </p:cNvPr>
              <p:cNvSpPr/>
              <p:nvPr/>
            </p:nvSpPr>
            <p:spPr>
              <a:xfrm>
                <a:off x="6967484" y="4711468"/>
                <a:ext cx="182880" cy="182880"/>
              </a:xfrm>
              <a:prstGeom prst="ellipse">
                <a:avLst/>
              </a:prstGeom>
              <a:solidFill>
                <a:srgbClr val="CEC4D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solidFill>
                    <a:schemeClr val="tx1"/>
                  </a:solidFill>
                </a:endParaRPr>
              </a:p>
            </p:txBody>
          </p:sp>
          <p:sp>
            <p:nvSpPr>
              <p:cNvPr id="53" name="TextBox 52">
                <a:extLst>
                  <a:ext uri="{FF2B5EF4-FFF2-40B4-BE49-F238E27FC236}">
                    <a16:creationId xmlns:a16="http://schemas.microsoft.com/office/drawing/2014/main" id="{22DF4385-FD08-6816-1D06-1A25EBD9E8CC}"/>
                  </a:ext>
                </a:extLst>
              </p:cNvPr>
              <p:cNvSpPr txBox="1"/>
              <p:nvPr/>
            </p:nvSpPr>
            <p:spPr>
              <a:xfrm>
                <a:off x="6418844" y="4901869"/>
                <a:ext cx="1280160" cy="830997"/>
              </a:xfrm>
              <a:prstGeom prst="rect">
                <a:avLst/>
              </a:prstGeom>
              <a:noFill/>
              <a:ln>
                <a:noFill/>
                <a:prstDash val="dash"/>
              </a:ln>
            </p:spPr>
            <p:txBody>
              <a:bodyPr wrap="square">
                <a:spAutoFit/>
              </a:bodyPr>
              <a:lstStyle/>
              <a:p>
                <a:pPr algn="ctr"/>
                <a:r>
                  <a:rPr lang="en-US" sz="1200" dirty="0">
                    <a:latin typeface="+mj-lt"/>
                  </a:rPr>
                  <a:t>Somewhat </a:t>
                </a:r>
                <a:r>
                  <a:rPr lang="en-US" sz="1200" u="sng" dirty="0">
                    <a:latin typeface="+mj-lt"/>
                  </a:rPr>
                  <a:t>more</a:t>
                </a:r>
                <a:r>
                  <a:rPr lang="en-US" sz="1200" dirty="0">
                    <a:latin typeface="+mj-lt"/>
                  </a:rPr>
                  <a:t> likely to recommend</a:t>
                </a:r>
              </a:p>
              <a:p>
                <a:pPr algn="ctr"/>
                <a:r>
                  <a:rPr lang="en-US" sz="1200" b="1" dirty="0">
                    <a:solidFill>
                      <a:srgbClr val="937DAD"/>
                    </a:solidFill>
                    <a:latin typeface="+mj-lt"/>
                  </a:rPr>
                  <a:t>Penbraya</a:t>
                </a:r>
              </a:p>
            </p:txBody>
          </p:sp>
        </p:grpSp>
      </p:grpSp>
      <p:sp>
        <p:nvSpPr>
          <p:cNvPr id="62" name="Oval 61">
            <a:extLst>
              <a:ext uri="{FF2B5EF4-FFF2-40B4-BE49-F238E27FC236}">
                <a16:creationId xmlns:a16="http://schemas.microsoft.com/office/drawing/2014/main" id="{AB0F145A-5509-A105-D4BD-999C6C7265E2}"/>
              </a:ext>
            </a:extLst>
          </p:cNvPr>
          <p:cNvSpPr/>
          <p:nvPr/>
        </p:nvSpPr>
        <p:spPr>
          <a:xfrm>
            <a:off x="5891212" y="4185846"/>
            <a:ext cx="406400" cy="406400"/>
          </a:xfrm>
          <a:prstGeom prst="ellipse">
            <a:avLst/>
          </a:prstGeom>
          <a:solidFill>
            <a:schemeClr val="tx1">
              <a:lumMod val="50000"/>
            </a:schemeClr>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a:latin typeface="+mj-lt"/>
              </a:rPr>
              <a:t>2.4</a:t>
            </a:r>
          </a:p>
        </p:txBody>
      </p:sp>
      <p:sp>
        <p:nvSpPr>
          <p:cNvPr id="4" name="TextBox 3">
            <a:extLst>
              <a:ext uri="{FF2B5EF4-FFF2-40B4-BE49-F238E27FC236}">
                <a16:creationId xmlns:a16="http://schemas.microsoft.com/office/drawing/2014/main" id="{D7B660C5-ADBD-993D-259F-2FFF1A449272}"/>
              </a:ext>
            </a:extLst>
          </p:cNvPr>
          <p:cNvSpPr txBox="1"/>
          <p:nvPr/>
        </p:nvSpPr>
        <p:spPr bwMode="gray">
          <a:xfrm>
            <a:off x="2546985" y="1582349"/>
            <a:ext cx="7094854" cy="851515"/>
          </a:xfrm>
          <a:prstGeom prst="rect">
            <a:avLst/>
          </a:prstGeom>
        </p:spPr>
        <p:txBody>
          <a:bodyPr wrap="square" lIns="45720" tIns="45720" rIns="45720" bIns="45720" rtlCol="0">
            <a:spAutoFit/>
          </a:bodyPr>
          <a:lstStyle/>
          <a:p>
            <a:pPr marL="0" marR="0" lvl="0" indent="0" algn="ctr" defTabSz="914400" rtl="0" eaLnBrk="1" fontAlgn="auto" latinLnBrk="0" hangingPunct="1">
              <a:spcBef>
                <a:spcPts val="600"/>
              </a:spcBef>
              <a:spcAft>
                <a:spcPts val="400"/>
              </a:spcAft>
              <a:buClrTx/>
              <a:buSzTx/>
              <a:buFontTx/>
              <a:buNone/>
              <a:tabLst/>
              <a:defRPr/>
            </a:pPr>
            <a:r>
              <a:rPr kumimoji="0" lang="en-US" sz="1800" i="0" u="none" strike="noStrike" kern="1200" cap="none" spc="0" normalizeH="0" baseline="0" noProof="0">
                <a:ln>
                  <a:noFill/>
                </a:ln>
                <a:solidFill>
                  <a:srgbClr val="0000C9"/>
                </a:solidFill>
                <a:effectLst/>
                <a:uLnTx/>
                <a:uFillTx/>
                <a:latin typeface="Arial" panose="020B0604020202020204"/>
                <a:ea typeface="+mn-ea"/>
                <a:cs typeface="+mn-cs"/>
              </a:rPr>
              <a:t>Likelihood to Recommend One Vaccine Over the Other </a:t>
            </a:r>
            <a:br>
              <a:rPr kumimoji="0" lang="en-US" sz="1800" i="0" u="none" strike="noStrike" kern="1200" cap="none" spc="0" normalizeH="0" baseline="0" noProof="0">
                <a:ln>
                  <a:noFill/>
                </a:ln>
                <a:solidFill>
                  <a:srgbClr val="0000C9"/>
                </a:solidFill>
                <a:effectLst/>
                <a:uLnTx/>
                <a:uFillTx/>
                <a:latin typeface="Arial" panose="020B0604020202020204"/>
                <a:ea typeface="+mn-ea"/>
                <a:cs typeface="+mn-cs"/>
              </a:rPr>
            </a:br>
            <a:r>
              <a:rPr kumimoji="0" lang="en-US" sz="1800" b="1" u="sng" strike="noStrike" kern="1200" cap="none" spc="0" normalizeH="0" baseline="0" noProof="0">
                <a:ln>
                  <a:noFill/>
                </a:ln>
                <a:solidFill>
                  <a:srgbClr val="0000C9"/>
                </a:solidFill>
                <a:effectLst/>
                <a:uLnTx/>
                <a:uFillTx/>
                <a:latin typeface="Arial" panose="020B0604020202020204"/>
                <a:ea typeface="+mn-ea"/>
                <a:cs typeface="+mn-cs"/>
              </a:rPr>
              <a:t>After Learning Penmenvy Offers Protection Against Gonorrhea</a:t>
            </a:r>
            <a:endParaRPr lang="en-US" b="1">
              <a:solidFill>
                <a:schemeClr val="bg1">
                  <a:lumMod val="50000"/>
                </a:schemeClr>
              </a:solidFill>
              <a:latin typeface="Arial" panose="020B0604020202020204"/>
            </a:endParaRPr>
          </a:p>
          <a:p>
            <a:pPr marL="0" marR="0" lvl="0" indent="0" algn="ctr" defTabSz="914400" rtl="0" eaLnBrk="1" fontAlgn="auto" latinLnBrk="0" hangingPunct="1">
              <a:spcAft>
                <a:spcPts val="400"/>
              </a:spcAft>
              <a:buClrTx/>
              <a:buSzTx/>
              <a:buFontTx/>
              <a:buNone/>
              <a:tabLst/>
              <a:defRPr/>
            </a:pP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nvGrpSpPr>
          <p:cNvPr id="18" name="Group 17">
            <a:extLst>
              <a:ext uri="{FF2B5EF4-FFF2-40B4-BE49-F238E27FC236}">
                <a16:creationId xmlns:a16="http://schemas.microsoft.com/office/drawing/2014/main" id="{055CAEBB-6100-59D0-BC9E-EE7D74AF76BD}"/>
              </a:ext>
            </a:extLst>
          </p:cNvPr>
          <p:cNvGrpSpPr/>
          <p:nvPr/>
        </p:nvGrpSpPr>
        <p:grpSpPr>
          <a:xfrm>
            <a:off x="1073723" y="1600319"/>
            <a:ext cx="650178" cy="539122"/>
            <a:chOff x="1686341" y="1600319"/>
            <a:chExt cx="650178" cy="539122"/>
          </a:xfrm>
        </p:grpSpPr>
        <p:cxnSp>
          <p:nvCxnSpPr>
            <p:cNvPr id="19" name="Straight Connector 18">
              <a:extLst>
                <a:ext uri="{FF2B5EF4-FFF2-40B4-BE49-F238E27FC236}">
                  <a16:creationId xmlns:a16="http://schemas.microsoft.com/office/drawing/2014/main" id="{EF64B3F8-3070-4DFD-4FED-547D6C3DA73D}"/>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0" name="TextBox 19">
              <a:extLst>
                <a:ext uri="{FF2B5EF4-FFF2-40B4-BE49-F238E27FC236}">
                  <a16:creationId xmlns:a16="http://schemas.microsoft.com/office/drawing/2014/main" id="{1F02C1D6-39A9-3522-932F-AA75920F4F3B}"/>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21" name="TextBox 20">
            <a:extLst>
              <a:ext uri="{FF2B5EF4-FFF2-40B4-BE49-F238E27FC236}">
                <a16:creationId xmlns:a16="http://schemas.microsoft.com/office/drawing/2014/main" id="{8CC2BB33-60BA-506A-4FEC-BD8AE447AD22}"/>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sp>
        <p:nvSpPr>
          <p:cNvPr id="9" name="Right Brace 8">
            <a:extLst>
              <a:ext uri="{FF2B5EF4-FFF2-40B4-BE49-F238E27FC236}">
                <a16:creationId xmlns:a16="http://schemas.microsoft.com/office/drawing/2014/main" id="{1B11805B-F72D-7E44-E8E8-E29706FFF487}"/>
              </a:ext>
            </a:extLst>
          </p:cNvPr>
          <p:cNvSpPr/>
          <p:nvPr/>
        </p:nvSpPr>
        <p:spPr bwMode="gray">
          <a:xfrm rot="20737941">
            <a:off x="8187371" y="3635129"/>
            <a:ext cx="330322" cy="868505"/>
          </a:xfrm>
          <a:prstGeom prst="rightBrace">
            <a:avLst/>
          </a:prstGeom>
          <a:noFill/>
          <a:ln w="12700" cap="rnd">
            <a:solidFill>
              <a:srgbClr val="937DAD"/>
            </a:solidFill>
            <a:prstDash val="solid"/>
            <a:round/>
            <a:headEnd/>
            <a:tailEnd/>
          </a:ln>
          <a:effectLst/>
        </p:spPr>
        <p:txBody>
          <a:bodyPr rtlCol="0" anchor="ctr"/>
          <a:lstStyle/>
          <a:p>
            <a:pPr algn="ctr"/>
            <a:endParaRPr lang="en-US">
              <a:ln>
                <a:solidFill>
                  <a:schemeClr val="accent5"/>
                </a:solidFill>
              </a:ln>
            </a:endParaRPr>
          </a:p>
        </p:txBody>
      </p:sp>
      <p:sp>
        <p:nvSpPr>
          <p:cNvPr id="13" name="TextBox 12">
            <a:extLst>
              <a:ext uri="{FF2B5EF4-FFF2-40B4-BE49-F238E27FC236}">
                <a16:creationId xmlns:a16="http://schemas.microsoft.com/office/drawing/2014/main" id="{004CC0D9-C8AF-B935-4E40-795948EAE8AA}"/>
              </a:ext>
            </a:extLst>
          </p:cNvPr>
          <p:cNvSpPr txBox="1"/>
          <p:nvPr/>
        </p:nvSpPr>
        <p:spPr bwMode="gray">
          <a:xfrm>
            <a:off x="8584142" y="3831909"/>
            <a:ext cx="553998" cy="341632"/>
          </a:xfrm>
          <a:prstGeom prst="rect">
            <a:avLst/>
          </a:prstGeom>
          <a:solidFill>
            <a:schemeClr val="bg1"/>
          </a:solidFill>
          <a:ln w="12700">
            <a:solidFill>
              <a:srgbClr val="937DAD"/>
            </a:solidFill>
            <a:prstDash val="dash"/>
          </a:ln>
        </p:spPr>
        <p:txBody>
          <a:bodyPr wrap="none" lIns="45720" tIns="45720" rIns="45720" bIns="45720" rtlCol="0">
            <a:spAutoFit/>
          </a:bodyPr>
          <a:lstStyle/>
          <a:p>
            <a:pPr algn="l">
              <a:lnSpc>
                <a:spcPct val="90000"/>
              </a:lnSpc>
              <a:spcBef>
                <a:spcPts val="1000"/>
              </a:spcBef>
            </a:pPr>
            <a:r>
              <a:rPr lang="en-US" b="1">
                <a:solidFill>
                  <a:srgbClr val="937DAD"/>
                </a:solidFill>
              </a:rPr>
              <a:t>20%</a:t>
            </a:r>
          </a:p>
        </p:txBody>
      </p:sp>
      <p:sp>
        <p:nvSpPr>
          <p:cNvPr id="16" name="Right Brace 15">
            <a:extLst>
              <a:ext uri="{FF2B5EF4-FFF2-40B4-BE49-F238E27FC236}">
                <a16:creationId xmlns:a16="http://schemas.microsoft.com/office/drawing/2014/main" id="{951239B5-2860-A2C0-3EAF-46BE56738CAC}"/>
              </a:ext>
            </a:extLst>
          </p:cNvPr>
          <p:cNvSpPr/>
          <p:nvPr/>
        </p:nvSpPr>
        <p:spPr bwMode="gray">
          <a:xfrm rot="1945926" flipH="1">
            <a:off x="4058951" y="2881001"/>
            <a:ext cx="330322" cy="868505"/>
          </a:xfrm>
          <a:prstGeom prst="rightBrace">
            <a:avLst/>
          </a:prstGeom>
          <a:noFill/>
          <a:ln w="12700" cap="rnd">
            <a:solidFill>
              <a:schemeClr val="accent6"/>
            </a:solidFill>
            <a:prstDash val="solid"/>
            <a:round/>
            <a:headEnd/>
            <a:tailEnd/>
          </a:ln>
          <a:effectLst/>
        </p:spPr>
        <p:txBody>
          <a:bodyPr rtlCol="0" anchor="ctr"/>
          <a:lstStyle/>
          <a:p>
            <a:pPr algn="ctr"/>
            <a:endParaRPr lang="en-US">
              <a:ln>
                <a:solidFill>
                  <a:schemeClr val="accent5"/>
                </a:solidFill>
              </a:ln>
            </a:endParaRPr>
          </a:p>
        </p:txBody>
      </p:sp>
      <p:sp>
        <p:nvSpPr>
          <p:cNvPr id="22" name="TextBox 21">
            <a:extLst>
              <a:ext uri="{FF2B5EF4-FFF2-40B4-BE49-F238E27FC236}">
                <a16:creationId xmlns:a16="http://schemas.microsoft.com/office/drawing/2014/main" id="{653644B3-7410-2CFF-3E1D-6B1FC5314598}"/>
              </a:ext>
            </a:extLst>
          </p:cNvPr>
          <p:cNvSpPr txBox="1"/>
          <p:nvPr/>
        </p:nvSpPr>
        <p:spPr bwMode="gray">
          <a:xfrm>
            <a:off x="3447565" y="2944269"/>
            <a:ext cx="553998" cy="341632"/>
          </a:xfrm>
          <a:prstGeom prst="rect">
            <a:avLst/>
          </a:prstGeom>
          <a:solidFill>
            <a:schemeClr val="bg1"/>
          </a:solidFill>
          <a:ln w="12700">
            <a:solidFill>
              <a:schemeClr val="accent6"/>
            </a:solidFill>
            <a:prstDash val="dash"/>
          </a:ln>
        </p:spPr>
        <p:txBody>
          <a:bodyPr wrap="none" lIns="45720" tIns="45720" rIns="45720" bIns="45720" rtlCol="0">
            <a:spAutoFit/>
          </a:bodyPr>
          <a:lstStyle/>
          <a:p>
            <a:pPr algn="l">
              <a:lnSpc>
                <a:spcPct val="90000"/>
              </a:lnSpc>
              <a:spcBef>
                <a:spcPts val="1000"/>
              </a:spcBef>
            </a:pPr>
            <a:r>
              <a:rPr lang="en-US" b="1">
                <a:solidFill>
                  <a:srgbClr val="D95776"/>
                </a:solidFill>
              </a:rPr>
              <a:t>63%</a:t>
            </a:r>
          </a:p>
        </p:txBody>
      </p:sp>
      <p:pic>
        <p:nvPicPr>
          <p:cNvPr id="14" name="Picture 13">
            <a:extLst>
              <a:ext uri="{FF2B5EF4-FFF2-40B4-BE49-F238E27FC236}">
                <a16:creationId xmlns:a16="http://schemas.microsoft.com/office/drawing/2014/main" id="{478D223A-F95E-D320-B30C-E83FD6BF51A0}"/>
              </a:ext>
            </a:extLst>
          </p:cNvPr>
          <p:cNvPicPr>
            <a:picLocks noChangeAspect="1"/>
          </p:cNvPicPr>
          <p:nvPr/>
        </p:nvPicPr>
        <p:blipFill>
          <a:blip r:embed="rId5"/>
          <a:stretch>
            <a:fillRect/>
          </a:stretch>
        </p:blipFill>
        <p:spPr>
          <a:xfrm rot="17631889">
            <a:off x="5080179" y="2795331"/>
            <a:ext cx="1261652" cy="1432311"/>
          </a:xfrm>
          <a:prstGeom prst="rect">
            <a:avLst/>
          </a:prstGeom>
        </p:spPr>
      </p:pic>
      <p:sp>
        <p:nvSpPr>
          <p:cNvPr id="5" name="TextBox 4">
            <a:extLst>
              <a:ext uri="{FF2B5EF4-FFF2-40B4-BE49-F238E27FC236}">
                <a16:creationId xmlns:a16="http://schemas.microsoft.com/office/drawing/2014/main" id="{59F572A7-1289-FECF-8F81-0B3F24D1D38D}"/>
              </a:ext>
            </a:extLst>
          </p:cNvPr>
          <p:cNvSpPr txBox="1"/>
          <p:nvPr/>
        </p:nvSpPr>
        <p:spPr bwMode="gray">
          <a:xfrm>
            <a:off x="2576985" y="2885919"/>
            <a:ext cx="733915" cy="429334"/>
          </a:xfrm>
          <a:prstGeom prst="rect">
            <a:avLst/>
          </a:prstGeom>
          <a:noFill/>
          <a:ln w="6350">
            <a:solidFill>
              <a:schemeClr val="accent6">
                <a:lumMod val="75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lang="en-US" sz="900" dirty="0">
                <a:solidFill>
                  <a:srgbClr val="000000">
                    <a:lumMod val="50000"/>
                    <a:lumOff val="50000"/>
                  </a:srgbClr>
                </a:solidFill>
                <a:latin typeface="Arial" panose="020B0604020202020204"/>
              </a:rPr>
              <a:t>65</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68%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48%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C2840BDF-B19F-7671-1501-CD1DF9678384}"/>
              </a:ext>
            </a:extLst>
          </p:cNvPr>
          <p:cNvSpPr txBox="1"/>
          <p:nvPr/>
        </p:nvSpPr>
        <p:spPr bwMode="gray">
          <a:xfrm>
            <a:off x="9271519" y="3770351"/>
            <a:ext cx="733915" cy="429334"/>
          </a:xfrm>
          <a:prstGeom prst="rect">
            <a:avLst/>
          </a:prstGeom>
          <a:noFill/>
          <a:ln w="6350">
            <a:solidFill>
              <a:schemeClr val="accent5"/>
            </a:solidFill>
            <a:prstDash val="solid"/>
          </a:ln>
        </p:spPr>
        <p:txBody>
          <a:bodyPr wrap="square" lIns="27432" tIns="27425" rIns="0" bIns="27425" rtlCol="0" anchor="ctr" anchorCtr="0">
            <a:spAutoFit/>
          </a:bodyPr>
          <a:lstStyle/>
          <a:p>
            <a:pPr marL="400050" lvl="0" indent="-400050" defTabSz="914126">
              <a:lnSpc>
                <a:spcPct val="90000"/>
              </a:lnSpc>
              <a:defRPr/>
            </a:pPr>
            <a:r>
              <a:rPr lang="en-US" sz="900" dirty="0">
                <a:solidFill>
                  <a:srgbClr val="000000">
                    <a:lumMod val="50000"/>
                    <a:lumOff val="50000"/>
                  </a:srgbClr>
                </a:solidFill>
                <a:latin typeface="Arial" panose="020B0604020202020204"/>
              </a:rPr>
              <a:t>21</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15%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21%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B9505E71-0970-E0F8-DFEE-B783820A9ADE}"/>
              </a:ext>
            </a:extLst>
          </p:cNvPr>
          <p:cNvSpPr txBox="1"/>
          <p:nvPr/>
        </p:nvSpPr>
        <p:spPr bwMode="gray">
          <a:xfrm>
            <a:off x="7602822" y="2561700"/>
            <a:ext cx="733915" cy="429334"/>
          </a:xfrm>
          <a:prstGeom prst="rect">
            <a:avLst/>
          </a:prstGeom>
          <a:noFill/>
          <a:ln w="6350">
            <a:solidFill>
              <a:schemeClr val="bg1">
                <a:lumMod val="65000"/>
              </a:schemeClr>
            </a:solidFill>
            <a:prstDash val="solid"/>
          </a:ln>
        </p:spPr>
        <p:txBody>
          <a:bodyPr wrap="square" lIns="27432" tIns="27425" rIns="0" bIns="27425" rtlCol="0" anchor="ctr" anchorCtr="0">
            <a:spAutoFit/>
          </a:bodyPr>
          <a:lstStyle/>
          <a:p>
            <a:pPr marL="400050" lvl="0" indent="-400050" defTabSz="914126">
              <a:lnSpc>
                <a:spcPct val="90000"/>
              </a:lnSpc>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15%</a:t>
            </a:r>
            <a:r>
              <a:rPr lang="en-US" sz="900" baseline="30000" dirty="0">
                <a:solidFill>
                  <a:srgbClr val="000000">
                    <a:lumMod val="50000"/>
                    <a:lumOff val="50000"/>
                  </a:srgbClr>
                </a:solidFill>
                <a:latin typeface="Arial" panose="020B0604020202020204"/>
              </a:rPr>
              <a:t>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1</a:t>
            </a:r>
          </a:p>
          <a:p>
            <a:pPr marL="400050" lvl="0" indent="-400050" defTabSz="914126">
              <a:lnSpc>
                <a:spcPct val="90000"/>
              </a:lnSpc>
              <a:defRPr/>
            </a:pPr>
            <a:r>
              <a:rPr lang="en-US" sz="900" dirty="0">
                <a:solidFill>
                  <a:srgbClr val="000000">
                    <a:lumMod val="50000"/>
                    <a:lumOff val="50000"/>
                  </a:srgbClr>
                </a:solidFill>
                <a:latin typeface="Arial" panose="020B0604020202020204"/>
              </a:rPr>
              <a:t>18%	Tier 2 </a:t>
            </a:r>
          </a:p>
          <a:p>
            <a:pPr marL="400050" lvl="0" indent="-400050" defTabSz="914126">
              <a:lnSpc>
                <a:spcPct val="90000"/>
              </a:lnSpc>
              <a:defRPr/>
            </a:pPr>
            <a:r>
              <a:rPr lang="en-US" sz="900" dirty="0">
                <a:solidFill>
                  <a:srgbClr val="000000">
                    <a:lumMod val="50000"/>
                    <a:lumOff val="50000"/>
                  </a:srgbClr>
                </a:solidFill>
                <a:latin typeface="Arial" panose="020B0604020202020204"/>
              </a:rPr>
              <a:t>31%	</a:t>
            </a: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Tier </a:t>
            </a:r>
            <a:r>
              <a:rPr lang="en-US" sz="900" dirty="0">
                <a:solidFill>
                  <a:srgbClr val="000000">
                    <a:lumMod val="50000"/>
                    <a:lumOff val="50000"/>
                  </a:srgbClr>
                </a:solidFill>
                <a:latin typeface="Arial" panose="020B0604020202020204"/>
              </a:rPr>
              <a:t>3</a:t>
            </a:r>
            <a:endPar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DCB5880E-8AA8-533D-2134-95741967AB85}"/>
              </a:ext>
            </a:extLst>
          </p:cNvPr>
          <p:cNvSpPr txBox="1"/>
          <p:nvPr/>
        </p:nvSpPr>
        <p:spPr bwMode="gray">
          <a:xfrm>
            <a:off x="9883302" y="1032820"/>
            <a:ext cx="2145183" cy="286232"/>
          </a:xfrm>
          <a:prstGeom prst="rect">
            <a:avLst/>
          </a:prstGeom>
          <a:solidFill>
            <a:srgbClr val="00B0F0"/>
          </a:solidFill>
        </p:spPr>
        <p:txBody>
          <a:bodyPr wrap="square" lIns="45720" tIns="45720" rIns="45720" bIns="45720" rtlCol="0">
            <a:spAutoFit/>
          </a:bodyPr>
          <a:lstStyle/>
          <a:p>
            <a:pPr marR="0" algn="ctr" defTabSz="914400" rtl="0" eaLnBrk="1" fontAlgn="auto" latinLnBrk="0" hangingPunct="1">
              <a:lnSpc>
                <a:spcPct val="90000"/>
              </a:lnSpc>
              <a:spcBef>
                <a:spcPts val="0"/>
              </a:spcBef>
              <a:spcAft>
                <a:spcPts val="400"/>
              </a:spcAft>
              <a:buClrTx/>
              <a:buSzTx/>
              <a:tabLst/>
            </a:pPr>
            <a:r>
              <a:rPr lang="en-US" sz="1400" b="1" dirty="0">
                <a:solidFill>
                  <a:schemeClr val="bg1"/>
                </a:solidFill>
                <a:latin typeface="Arial" panose="020B0604020202020204"/>
              </a:rPr>
              <a:t>UPDATED/NEW SLIDE</a:t>
            </a:r>
          </a:p>
        </p:txBody>
      </p:sp>
    </p:spTree>
    <p:extLst>
      <p:ext uri="{BB962C8B-B14F-4D97-AF65-F5344CB8AC3E}">
        <p14:creationId xmlns:p14="http://schemas.microsoft.com/office/powerpoint/2010/main" val="2039830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B08E9B37-EED6-E6C3-CDB1-62F635718AE1}"/>
              </a:ext>
            </a:extLst>
          </p:cNvPr>
          <p:cNvGraphicFramePr/>
          <p:nvPr>
            <p:extLst>
              <p:ext uri="{D42A27DB-BD31-4B8C-83A1-F6EECF244321}">
                <p14:modId xmlns:p14="http://schemas.microsoft.com/office/powerpoint/2010/main" val="2360768090"/>
              </p:ext>
            </p:extLst>
          </p:nvPr>
        </p:nvGraphicFramePr>
        <p:xfrm>
          <a:off x="358760" y="2622245"/>
          <a:ext cx="8371840" cy="35889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63A32842-5869-A263-F8C1-65CBFF4F6DA7}"/>
              </a:ext>
            </a:extLst>
          </p:cNvPr>
          <p:cNvGraphicFramePr>
            <a:graphicFrameLocks noGrp="1"/>
          </p:cNvGraphicFramePr>
          <p:nvPr>
            <p:extLst>
              <p:ext uri="{D42A27DB-BD31-4B8C-83A1-F6EECF244321}">
                <p14:modId xmlns:p14="http://schemas.microsoft.com/office/powerpoint/2010/main" val="3465896698"/>
              </p:ext>
            </p:extLst>
          </p:nvPr>
        </p:nvGraphicFramePr>
        <p:xfrm>
          <a:off x="639179" y="2324685"/>
          <a:ext cx="10724027" cy="3781367"/>
        </p:xfrm>
        <a:graphic>
          <a:graphicData uri="http://schemas.openxmlformats.org/drawingml/2006/table">
            <a:tbl>
              <a:tblPr firstRow="1" bandRow="1">
                <a:tableStyleId>{F5AB1C69-6EDB-4FF4-983F-18BD219EF322}</a:tableStyleId>
              </a:tblPr>
              <a:tblGrid>
                <a:gridCol w="6675120">
                  <a:extLst>
                    <a:ext uri="{9D8B030D-6E8A-4147-A177-3AD203B41FA5}">
                      <a16:colId xmlns:a16="http://schemas.microsoft.com/office/drawing/2014/main" val="3264863121"/>
                    </a:ext>
                  </a:extLst>
                </a:gridCol>
                <a:gridCol w="700505">
                  <a:extLst>
                    <a:ext uri="{9D8B030D-6E8A-4147-A177-3AD203B41FA5}">
                      <a16:colId xmlns:a16="http://schemas.microsoft.com/office/drawing/2014/main" val="1317157910"/>
                    </a:ext>
                  </a:extLst>
                </a:gridCol>
                <a:gridCol w="696642">
                  <a:extLst>
                    <a:ext uri="{9D8B030D-6E8A-4147-A177-3AD203B41FA5}">
                      <a16:colId xmlns:a16="http://schemas.microsoft.com/office/drawing/2014/main" val="1469452096"/>
                    </a:ext>
                  </a:extLst>
                </a:gridCol>
                <a:gridCol w="914400">
                  <a:extLst>
                    <a:ext uri="{9D8B030D-6E8A-4147-A177-3AD203B41FA5}">
                      <a16:colId xmlns:a16="http://schemas.microsoft.com/office/drawing/2014/main" val="3339639127"/>
                    </a:ext>
                  </a:extLst>
                </a:gridCol>
                <a:gridCol w="914400">
                  <a:extLst>
                    <a:ext uri="{9D8B030D-6E8A-4147-A177-3AD203B41FA5}">
                      <a16:colId xmlns:a16="http://schemas.microsoft.com/office/drawing/2014/main" val="1100190988"/>
                    </a:ext>
                  </a:extLst>
                </a:gridCol>
                <a:gridCol w="822960">
                  <a:extLst>
                    <a:ext uri="{9D8B030D-6E8A-4147-A177-3AD203B41FA5}">
                      <a16:colId xmlns:a16="http://schemas.microsoft.com/office/drawing/2014/main" val="1373900244"/>
                    </a:ext>
                  </a:extLst>
                </a:gridCol>
              </a:tblGrid>
              <a:tr h="274320">
                <a:tc>
                  <a:txBody>
                    <a:bodyPr/>
                    <a:lstStyle/>
                    <a:p>
                      <a:pPr algn="l" defTabSz="936625">
                        <a:tabLst>
                          <a:tab pos="4519613" algn="ctr"/>
                        </a:tabLst>
                      </a:pPr>
                      <a:r>
                        <a:rPr lang="en-US" sz="1400" b="1">
                          <a:solidFill>
                            <a:schemeClr val="tx1"/>
                          </a:solidFill>
                          <a:latin typeface="+mn-lt"/>
                        </a:rPr>
                        <a:t>	               </a:t>
                      </a:r>
                      <a:r>
                        <a:rPr lang="en-US" sz="1600" b="1">
                          <a:solidFill>
                            <a:schemeClr val="tx1"/>
                          </a:solidFill>
                          <a:latin typeface="+mn-lt"/>
                        </a:rPr>
                        <a:t>TOTAL</a:t>
                      </a:r>
                      <a:endParaRPr lang="en-US" sz="1400" b="0" baseline="55000">
                        <a:solidFill>
                          <a:schemeClr val="tx1"/>
                        </a:solidFill>
                        <a:latin typeface="+mn-lt"/>
                      </a:endParaRPr>
                    </a:p>
                  </a:txBody>
                  <a:tcPr marL="0" marR="0" marT="0" marB="0" anchor="b">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400" b="0">
                          <a:solidFill>
                            <a:schemeClr val="tx1"/>
                          </a:solidFill>
                          <a:latin typeface="+mn-lt"/>
                        </a:rPr>
                        <a:t>PED</a:t>
                      </a:r>
                      <a:r>
                        <a:rPr lang="en-US" sz="1600" b="0" baseline="20000">
                          <a:solidFill>
                            <a:srgbClr val="7F7F7F"/>
                          </a:solidFill>
                          <a:latin typeface="+mn-lt"/>
                          <a:cs typeface="Arial"/>
                        </a:rPr>
                        <a:t> </a:t>
                      </a:r>
                      <a:r>
                        <a:rPr kumimoji="0" lang="en-US" sz="1600" b="0" i="0" u="none" strike="noStrike" kern="1200" cap="none" spc="0" normalizeH="0" baseline="15000" noProof="0">
                          <a:ln>
                            <a:noFill/>
                          </a:ln>
                          <a:solidFill>
                            <a:srgbClr val="595959"/>
                          </a:solidFill>
                          <a:effectLst/>
                          <a:uLnTx/>
                          <a:uFillTx/>
                          <a:latin typeface="+mn-lt"/>
                          <a:ea typeface="+mn-ea"/>
                          <a:cs typeface="+mn-cs"/>
                        </a:rPr>
                        <a:t>|</a:t>
                      </a:r>
                      <a:r>
                        <a:rPr kumimoji="0" lang="en-US" sz="16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55000" noProof="0">
                          <a:ln>
                            <a:noFill/>
                          </a:ln>
                          <a:solidFill>
                            <a:srgbClr val="595959"/>
                          </a:solidFill>
                          <a:effectLst/>
                          <a:uLnTx/>
                          <a:uFillTx/>
                          <a:latin typeface="+mn-lt"/>
                          <a:ea typeface="+mn-ea"/>
                          <a:cs typeface="+mn-cs"/>
                        </a:rPr>
                        <a:t>A</a:t>
                      </a:r>
                      <a:endParaRPr lang="en-US" sz="1000" b="0" baseline="55000">
                        <a:solidFill>
                          <a:srgbClr val="595959"/>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400" b="0">
                          <a:solidFill>
                            <a:schemeClr val="tx1"/>
                          </a:solidFill>
                          <a:latin typeface="+mn-lt"/>
                        </a:rPr>
                        <a:t>PCP</a:t>
                      </a:r>
                      <a:r>
                        <a:rPr lang="en-US" sz="1600" b="0" baseline="20000">
                          <a:solidFill>
                            <a:srgbClr val="7F7F7F"/>
                          </a:solidFill>
                          <a:latin typeface="+mn-lt"/>
                          <a:cs typeface="Arial"/>
                        </a:rPr>
                        <a:t> </a:t>
                      </a:r>
                      <a:r>
                        <a:rPr kumimoji="0" lang="en-US" sz="1600" b="0" i="0" u="none" strike="noStrike" kern="1200" cap="none" spc="0" normalizeH="0" baseline="15000" noProof="0">
                          <a:ln>
                            <a:noFill/>
                          </a:ln>
                          <a:solidFill>
                            <a:srgbClr val="595959"/>
                          </a:solidFill>
                          <a:effectLst/>
                          <a:uLnTx/>
                          <a:uFillTx/>
                          <a:latin typeface="+mn-lt"/>
                          <a:ea typeface="+mn-ea"/>
                          <a:cs typeface="+mn-cs"/>
                        </a:rPr>
                        <a:t>|</a:t>
                      </a:r>
                      <a:r>
                        <a:rPr kumimoji="0" lang="en-US" sz="18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50" b="0" i="0" u="none" strike="noStrike" kern="1200" cap="none" spc="0" normalizeH="0" baseline="55000" noProof="0">
                          <a:ln>
                            <a:noFill/>
                          </a:ln>
                          <a:solidFill>
                            <a:srgbClr val="595959"/>
                          </a:solidFill>
                          <a:effectLst/>
                          <a:uLnTx/>
                          <a:uFillTx/>
                          <a:latin typeface="+mn-lt"/>
                          <a:ea typeface="+mn-ea"/>
                          <a:cs typeface="+mn-cs"/>
                        </a:rPr>
                        <a:t>B</a:t>
                      </a:r>
                      <a:endParaRPr lang="en-US" sz="1800" b="0" baseline="5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strike="noStrike">
                          <a:solidFill>
                            <a:schemeClr val="tx1"/>
                          </a:solidFill>
                          <a:latin typeface="+mn-lt"/>
                        </a:rPr>
                        <a:t>Tier 1</a:t>
                      </a:r>
                      <a:r>
                        <a:rPr lang="en-US" sz="1600" b="0" strike="noStrike" baseline="20000">
                          <a:solidFill>
                            <a:srgbClr val="7F7F7F"/>
                          </a:solidFill>
                          <a:latin typeface="+mn-lt"/>
                          <a:cs typeface="Arial"/>
                        </a:rPr>
                        <a:t> </a:t>
                      </a:r>
                      <a:r>
                        <a:rPr kumimoji="0" lang="en-US" sz="1600" b="0" i="0" u="none" strike="noStrike" kern="1200" cap="none" spc="0" normalizeH="0" baseline="15000" noProof="0">
                          <a:ln>
                            <a:noFill/>
                          </a:ln>
                          <a:solidFill>
                            <a:srgbClr val="595959"/>
                          </a:solidFill>
                          <a:effectLst/>
                          <a:uLnTx/>
                          <a:uFillTx/>
                          <a:latin typeface="+mn-lt"/>
                          <a:ea typeface="+mn-ea"/>
                          <a:cs typeface="+mn-cs"/>
                        </a:rPr>
                        <a:t>|</a:t>
                      </a:r>
                      <a:r>
                        <a:rPr kumimoji="0" lang="en-US" sz="16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55000" noProof="0">
                          <a:ln>
                            <a:noFill/>
                          </a:ln>
                          <a:solidFill>
                            <a:srgbClr val="595959"/>
                          </a:solidFill>
                          <a:effectLst/>
                          <a:uLnTx/>
                          <a:uFillTx/>
                          <a:latin typeface="+mn-lt"/>
                          <a:ea typeface="+mn-ea"/>
                          <a:cs typeface="+mn-cs"/>
                        </a:rPr>
                        <a:t>1</a:t>
                      </a:r>
                      <a:endParaRPr lang="en-US" sz="1000" b="0" strike="noStrike" baseline="55000">
                        <a:solidFill>
                          <a:srgbClr val="595959"/>
                        </a:solidFill>
                        <a:latin typeface="+mn-lt"/>
                      </a:endParaRPr>
                    </a:p>
                  </a:txBody>
                  <a:tcPr marL="0" marR="0" marT="0" marB="0" anchor="b">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400" b="0" strike="noStrike">
                          <a:solidFill>
                            <a:schemeClr val="tx1"/>
                          </a:solidFill>
                          <a:latin typeface="+mn-lt"/>
                        </a:rPr>
                        <a:t>Tier 2</a:t>
                      </a:r>
                      <a:r>
                        <a:rPr lang="en-US" sz="1600" b="0" strike="noStrike" baseline="20000">
                          <a:solidFill>
                            <a:srgbClr val="7F7F7F"/>
                          </a:solidFill>
                          <a:latin typeface="+mn-lt"/>
                          <a:cs typeface="Arial"/>
                        </a:rPr>
                        <a:t> </a:t>
                      </a:r>
                      <a:r>
                        <a:rPr kumimoji="0" lang="en-US" sz="1600" b="0" i="0" u="none" strike="noStrike" kern="1200" cap="none" spc="0" normalizeH="0" baseline="15000" noProof="0">
                          <a:ln>
                            <a:noFill/>
                          </a:ln>
                          <a:solidFill>
                            <a:srgbClr val="595959"/>
                          </a:solidFill>
                          <a:effectLst/>
                          <a:uLnTx/>
                          <a:uFillTx/>
                          <a:latin typeface="+mn-lt"/>
                          <a:ea typeface="+mn-ea"/>
                          <a:cs typeface="+mn-cs"/>
                        </a:rPr>
                        <a:t>|</a:t>
                      </a:r>
                      <a:r>
                        <a:rPr kumimoji="0" lang="en-US" sz="18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50" b="0" i="0" u="none" strike="noStrike" kern="1200" cap="none" spc="0" normalizeH="0" baseline="55000" noProof="0">
                          <a:ln>
                            <a:noFill/>
                          </a:ln>
                          <a:solidFill>
                            <a:srgbClr val="595959"/>
                          </a:solidFill>
                          <a:effectLst/>
                          <a:uLnTx/>
                          <a:uFillTx/>
                          <a:latin typeface="+mn-lt"/>
                          <a:ea typeface="+mn-ea"/>
                          <a:cs typeface="+mn-cs"/>
                        </a:rPr>
                        <a:t>2</a:t>
                      </a:r>
                      <a:endParaRPr lang="en-US" sz="1800" b="0" strike="noStrike" baseline="5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400" b="0" strike="noStrike">
                          <a:solidFill>
                            <a:schemeClr val="tx1"/>
                          </a:solidFill>
                          <a:latin typeface="+mn-lt"/>
                        </a:rPr>
                        <a:t>Tier 3 </a:t>
                      </a:r>
                      <a:r>
                        <a:rPr kumimoji="0" lang="en-US" sz="1600" b="0" i="0" u="none" strike="noStrike" kern="1200" cap="none" spc="0" normalizeH="0" baseline="15000" noProof="0">
                          <a:ln>
                            <a:noFill/>
                          </a:ln>
                          <a:solidFill>
                            <a:srgbClr val="595959"/>
                          </a:solidFill>
                          <a:effectLst/>
                          <a:uLnTx/>
                          <a:uFillTx/>
                          <a:latin typeface="+mn-lt"/>
                          <a:ea typeface="+mn-ea"/>
                          <a:cs typeface="+mn-cs"/>
                        </a:rPr>
                        <a:t>|</a:t>
                      </a:r>
                      <a:r>
                        <a:rPr kumimoji="0" lang="en-US" sz="18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50" b="0" i="0" u="none" strike="noStrike" kern="1200" cap="none" spc="0" normalizeH="0" baseline="55000" noProof="0">
                          <a:ln>
                            <a:noFill/>
                          </a:ln>
                          <a:solidFill>
                            <a:srgbClr val="595959"/>
                          </a:solidFill>
                          <a:effectLst/>
                          <a:uLnTx/>
                          <a:uFillTx/>
                          <a:latin typeface="+mn-lt"/>
                          <a:ea typeface="+mn-ea"/>
                          <a:cs typeface="+mn-cs"/>
                        </a:rPr>
                        <a:t>3</a:t>
                      </a:r>
                      <a:endParaRPr lang="en-US" sz="1800" b="0" strike="noStrike" baseline="5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85626216"/>
                  </a:ext>
                </a:extLst>
              </a:tr>
              <a:tr h="200403">
                <a:tc>
                  <a:txBody>
                    <a:bodyPr/>
                    <a:lstStyle/>
                    <a:p>
                      <a:pPr algn="l" defTabSz="936625">
                        <a:tabLst>
                          <a:tab pos="4630738" algn="ctr"/>
                        </a:tabLst>
                      </a:pPr>
                      <a:endParaRPr lang="en-US" sz="1400" b="0" baseline="55000">
                        <a:solidFill>
                          <a:schemeClr val="tx1"/>
                        </a:solidFill>
                        <a:latin typeface="+mn-lt"/>
                      </a:endParaRPr>
                    </a:p>
                  </a:txBody>
                  <a:tcPr marL="0" marR="0" marT="0" marB="0" anchor="b">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(n=160)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(n=40)</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(n=131)</a:t>
                      </a:r>
                    </a:p>
                  </a:txBody>
                  <a:tcPr marL="0" marR="0" marT="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(n=40)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(n=29)</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98111506"/>
                  </a:ext>
                </a:extLst>
              </a:tr>
              <a:tr h="300604">
                <a:tc>
                  <a:txBody>
                    <a:bodyPr/>
                    <a:lstStyle/>
                    <a:p>
                      <a:pPr algn="ctr"/>
                      <a:endParaRPr lang="en-US" sz="1050" b="0" baseline="55000">
                        <a:solidFill>
                          <a:srgbClr val="595959"/>
                        </a:solidFill>
                        <a:latin typeface="+mj-lt"/>
                      </a:endParaRPr>
                    </a:p>
                  </a:txBody>
                  <a:tcPr marL="0" marR="0" marT="0" marB="0" anchor="b">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86%</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78%</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86%</a:t>
                      </a:r>
                      <a:r>
                        <a:rPr kumimoji="0" lang="en-US" sz="1200" b="0" i="0" u="none" strike="noStrike" kern="1200" cap="none" spc="0" normalizeH="0" baseline="50000">
                          <a:ln>
                            <a:noFill/>
                          </a:ln>
                          <a:solidFill>
                            <a:schemeClr val="tx1"/>
                          </a:solidFill>
                          <a:effectLst/>
                          <a:uLnTx/>
                          <a:uFillTx/>
                          <a:latin typeface="+mn-lt"/>
                          <a:ea typeface="+mn-ea"/>
                          <a:cs typeface="+mn-cs"/>
                        </a:rPr>
                        <a:t>3</a:t>
                      </a:r>
                      <a:endParaRPr kumimoji="0" lang="en-US" sz="1200" b="0" i="0" u="none" strike="noStrike" kern="1200" cap="none" spc="0" normalizeH="0" baseline="0">
                        <a:ln>
                          <a:noFill/>
                        </a:ln>
                        <a:solidFill>
                          <a:schemeClr val="tx1"/>
                        </a:solidFill>
                        <a:effectLst/>
                        <a:uLnTx/>
                        <a:uFillTx/>
                        <a:latin typeface="Arial" panose="020B0604020202020204"/>
                        <a:ea typeface="+mn-ea"/>
                        <a:cs typeface="+mn-cs"/>
                      </a:endParaRP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DEFD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88%</a:t>
                      </a:r>
                      <a:r>
                        <a:rPr kumimoji="0" lang="en-US" sz="1200" b="0" i="0" u="none" strike="noStrike" kern="1200" cap="none" spc="0" normalizeH="0" baseline="50000">
                          <a:ln>
                            <a:noFill/>
                          </a:ln>
                          <a:solidFill>
                            <a:schemeClr val="tx1"/>
                          </a:solidFill>
                          <a:effectLst/>
                          <a:uLnTx/>
                          <a:uFillTx/>
                          <a:latin typeface="+mn-lt"/>
                          <a:ea typeface="+mn-ea"/>
                          <a:cs typeface="+mn-cs"/>
                        </a:rPr>
                        <a:t>3</a:t>
                      </a:r>
                      <a:endParaRPr kumimoji="0" lang="en-US" sz="1200" b="0" i="0" u="none" strike="noStrike" kern="1200" cap="none" spc="0" normalizeH="0" baseline="0">
                        <a:ln>
                          <a:noFill/>
                        </a:ln>
                        <a:solidFill>
                          <a:schemeClr val="tx1"/>
                        </a:solidFill>
                        <a:effectLst/>
                        <a:uLnTx/>
                        <a:uFillTx/>
                        <a:latin typeface="Arial" panose="020B0604020202020204"/>
                        <a:ea typeface="+mn-ea"/>
                        <a:cs typeface="+mn-cs"/>
                      </a:endParaRP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DEFD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69%</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49553244"/>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5000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79%</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78%</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80%</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78%</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76%</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00659004"/>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5000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74%</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73%</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78%</a:t>
                      </a:r>
                      <a:r>
                        <a:rPr kumimoji="0" lang="en-US" sz="1200" b="0" i="0" u="none" strike="noStrike" kern="1200" cap="none" spc="0" normalizeH="0" baseline="50000">
                          <a:ln>
                            <a:noFill/>
                          </a:ln>
                          <a:solidFill>
                            <a:schemeClr val="tx1"/>
                          </a:solidFill>
                          <a:effectLst/>
                          <a:uLnTx/>
                          <a:uFillTx/>
                          <a:latin typeface="Arial" panose="020B0604020202020204"/>
                          <a:ea typeface="+mn-ea"/>
                          <a:cs typeface="+mn-cs"/>
                        </a:rPr>
                        <a:t>2</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58%</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76%</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49236311"/>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70%</a:t>
                      </a:r>
                      <a:r>
                        <a:rPr kumimoji="0" lang="en-US" sz="1200" b="0" i="0" u="none" strike="noStrike" kern="1200" cap="none" spc="0" normalizeH="0" baseline="50000">
                          <a:ln>
                            <a:noFill/>
                          </a:ln>
                          <a:solidFill>
                            <a:schemeClr val="tx1"/>
                          </a:solidFill>
                          <a:effectLst/>
                          <a:uLnTx/>
                          <a:uFillTx/>
                          <a:latin typeface="Arial" panose="020B0604020202020204"/>
                          <a:ea typeface="+mn-ea"/>
                          <a:cs typeface="+mn-cs"/>
                        </a:rPr>
                        <a:t>B</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53%</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69%</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68%</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55%</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10966140"/>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61%</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53%</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59%</a:t>
                      </a:r>
                      <a:r>
                        <a:rPr kumimoji="0" lang="en-US" sz="1200" b="0" i="0" u="none" strike="noStrike" kern="1200" cap="none" spc="0" normalizeH="0" baseline="50000">
                          <a:ln>
                            <a:noFill/>
                          </a:ln>
                          <a:solidFill>
                            <a:schemeClr val="tx1"/>
                          </a:solidFill>
                          <a:effectLst/>
                          <a:uLnTx/>
                          <a:uFillTx/>
                          <a:latin typeface="Arial" panose="020B0604020202020204"/>
                          <a:ea typeface="+mn-ea"/>
                          <a:cs typeface="+mn-cs"/>
                        </a:rPr>
                        <a:t>3</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78%</a:t>
                      </a:r>
                      <a:r>
                        <a:rPr kumimoji="0" lang="en-US" sz="1200" b="0" i="0" u="none" strike="noStrike" kern="1200" cap="none" spc="0" normalizeH="0" baseline="50000">
                          <a:ln>
                            <a:noFill/>
                          </a:ln>
                          <a:solidFill>
                            <a:schemeClr val="tx1"/>
                          </a:solidFill>
                          <a:effectLst/>
                          <a:uLnTx/>
                          <a:uFillTx/>
                          <a:latin typeface="Arial" panose="020B0604020202020204"/>
                          <a:ea typeface="+mn-ea"/>
                          <a:cs typeface="+mn-cs"/>
                        </a:rPr>
                        <a:t>1,3</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38%</a:t>
                      </a:r>
                      <a:r>
                        <a:rPr lang="en-US" altLang="en-US" sz="1200">
                          <a:solidFill>
                            <a:srgbClr val="FF0000"/>
                          </a:solidFill>
                          <a:cs typeface="Arial" panose="020B0604020202020204" pitchFamily="34" charset="0"/>
                          <a:sym typeface="Symbol" pitchFamily="18" charset="2"/>
                        </a:rPr>
                        <a:t></a:t>
                      </a:r>
                      <a:endParaRPr kumimoji="0" lang="en-US" sz="1200" b="0" i="0" u="none" strike="noStrike" kern="1200" cap="none" spc="0" normalizeH="0" baseline="0">
                        <a:ln>
                          <a:noFill/>
                        </a:ln>
                        <a:solidFill>
                          <a:schemeClr val="tx1"/>
                        </a:solidFill>
                        <a:effectLst/>
                        <a:uLnTx/>
                        <a:uFillTx/>
                        <a:latin typeface="Arial" panose="020B0604020202020204"/>
                        <a:ea typeface="+mn-ea"/>
                        <a:cs typeface="+mn-cs"/>
                      </a:endParaRP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DEFDF"/>
                    </a:solidFill>
                  </a:tcPr>
                </a:tc>
                <a:extLst>
                  <a:ext uri="{0D108BD9-81ED-4DB2-BD59-A6C34878D82A}">
                    <a16:rowId xmlns:a16="http://schemas.microsoft.com/office/drawing/2014/main" val="681783187"/>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59%</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48%</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57%</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65%</a:t>
                      </a:r>
                      <a:r>
                        <a:rPr kumimoji="0" lang="en-US" sz="1200" b="0" i="0" u="none" strike="noStrike" kern="1200" cap="none" spc="0" normalizeH="0" baseline="50000">
                          <a:ln>
                            <a:noFill/>
                          </a:ln>
                          <a:solidFill>
                            <a:schemeClr val="tx1"/>
                          </a:solidFill>
                          <a:effectLst/>
                          <a:uLnTx/>
                          <a:uFillTx/>
                          <a:latin typeface="+mn-lt"/>
                          <a:ea typeface="+mn-ea"/>
                          <a:cs typeface="+mn-cs"/>
                        </a:rPr>
                        <a:t>3</a:t>
                      </a:r>
                      <a:endParaRPr kumimoji="0" lang="en-US" sz="1200" b="0" i="0" u="none" strike="noStrike" kern="1200" cap="none" spc="0" normalizeH="0" baseline="0">
                        <a:ln>
                          <a:noFill/>
                        </a:ln>
                        <a:solidFill>
                          <a:schemeClr val="tx1"/>
                        </a:solidFill>
                        <a:effectLst/>
                        <a:uLnTx/>
                        <a:uFillTx/>
                        <a:latin typeface="Arial" panose="020B0604020202020204"/>
                        <a:ea typeface="+mn-ea"/>
                        <a:cs typeface="+mn-cs"/>
                      </a:endParaRP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DEFD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45%</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35187661"/>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58%</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45%</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55%</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65%</a:t>
                      </a:r>
                      <a:r>
                        <a:rPr kumimoji="0" lang="en-US" sz="1200" b="0" i="0" u="none" strike="noStrike" kern="1200" cap="none" spc="0" normalizeH="0" baseline="50000">
                          <a:ln>
                            <a:noFill/>
                          </a:ln>
                          <a:solidFill>
                            <a:schemeClr val="tx1"/>
                          </a:solidFill>
                          <a:effectLst/>
                          <a:uLnTx/>
                          <a:uFillTx/>
                          <a:latin typeface="+mn-lt"/>
                          <a:ea typeface="+mn-ea"/>
                          <a:cs typeface="+mn-cs"/>
                        </a:rPr>
                        <a:t>3</a:t>
                      </a:r>
                      <a:endParaRPr kumimoji="0" lang="en-US" sz="1200" b="0" i="0" u="none" strike="noStrike" kern="1200" cap="none" spc="0" normalizeH="0" baseline="0">
                        <a:ln>
                          <a:noFill/>
                        </a:ln>
                        <a:solidFill>
                          <a:schemeClr val="tx1"/>
                        </a:solidFill>
                        <a:effectLst/>
                        <a:uLnTx/>
                        <a:uFillTx/>
                        <a:latin typeface="Arial" panose="020B0604020202020204"/>
                        <a:ea typeface="+mn-ea"/>
                        <a:cs typeface="+mn-cs"/>
                      </a:endParaRP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DEFD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45%</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26741438"/>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56%</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50%</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57%</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50%</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52%</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62653248"/>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57%</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43%</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60%</a:t>
                      </a:r>
                      <a:r>
                        <a:rPr kumimoji="0" lang="en-US" sz="1200" b="0" i="0" u="none" strike="noStrike" kern="1200" cap="none" spc="0" normalizeH="0" baseline="50000">
                          <a:ln>
                            <a:noFill/>
                          </a:ln>
                          <a:solidFill>
                            <a:schemeClr val="tx1"/>
                          </a:solidFill>
                          <a:effectLst/>
                          <a:uLnTx/>
                          <a:uFillTx/>
                          <a:latin typeface="Arial" panose="020B0604020202020204"/>
                          <a:ea typeface="+mn-ea"/>
                          <a:cs typeface="+mn-cs"/>
                        </a:rPr>
                        <a:t>3</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48%</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38%</a:t>
                      </a:r>
                      <a:r>
                        <a:rPr lang="en-US" altLang="en-US" sz="1200">
                          <a:solidFill>
                            <a:srgbClr val="FF0000"/>
                          </a:solidFill>
                          <a:cs typeface="Arial" panose="020B0604020202020204" pitchFamily="34" charset="0"/>
                          <a:sym typeface="Symbol" pitchFamily="18" charset="2"/>
                        </a:rPr>
                        <a:t></a:t>
                      </a:r>
                      <a:endParaRPr kumimoji="0" lang="en-US" sz="1200" b="0" i="0" u="none" strike="noStrike" kern="1200" cap="none" spc="0" normalizeH="0" baseline="0">
                        <a:ln>
                          <a:noFill/>
                        </a:ln>
                        <a:solidFill>
                          <a:schemeClr val="tx1"/>
                        </a:solidFill>
                        <a:effectLst/>
                        <a:uLnTx/>
                        <a:uFillTx/>
                        <a:latin typeface="Arial" panose="020B0604020202020204"/>
                        <a:ea typeface="+mn-ea"/>
                        <a:cs typeface="+mn-cs"/>
                      </a:endParaRP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DEFDF"/>
                    </a:solidFill>
                  </a:tcPr>
                </a:tc>
                <a:extLst>
                  <a:ext uri="{0D108BD9-81ED-4DB2-BD59-A6C34878D82A}">
                    <a16:rowId xmlns:a16="http://schemas.microsoft.com/office/drawing/2014/main" val="1380108236"/>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53%</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48%</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53%</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45%</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52%</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302731"/>
                  </a:ext>
                </a:extLst>
              </a:tr>
              <a:tr h="300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j-lt"/>
                        <a:ea typeface="+mn-ea"/>
                        <a:cs typeface="+mn-cs"/>
                      </a:endParaRPr>
                    </a:p>
                  </a:txBody>
                  <a:tcPr marT="27432" marB="27432"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31%</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23%</a:t>
                      </a:r>
                    </a:p>
                  </a:txBody>
                  <a:tcPr marL="7620" marR="7620" marT="7620" marB="0" anchor="ctr">
                    <a:lnL w="12700" cap="flat" cmpd="sng" algn="ctr">
                      <a:solidFill>
                        <a:schemeClr val="bg1">
                          <a:lumMod val="85000"/>
                        </a:schemeClr>
                      </a:solidFill>
                      <a:prstDash val="solid"/>
                      <a:round/>
                      <a:headEnd type="none" w="med" len="med"/>
                      <a:tailEnd type="none" w="med" len="med"/>
                    </a:lnL>
                    <a:lnR w="19050" cap="flat" cmpd="sng" algn="ctr">
                      <a:solidFill>
                        <a:schemeClr val="tx1">
                          <a:lumMod val="75000"/>
                          <a:lumOff val="2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28%</a:t>
                      </a:r>
                    </a:p>
                  </a:txBody>
                  <a:tcPr marL="7620" marR="7620" marT="7620" marB="0" anchor="ctr">
                    <a:lnL w="19050" cap="flat" cmpd="sng" algn="ctr">
                      <a:solidFill>
                        <a:schemeClr val="tx1">
                          <a:lumMod val="75000"/>
                          <a:lumOff val="2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35%</a:t>
                      </a:r>
                      <a:r>
                        <a:rPr lang="en-US" altLang="en-US" sz="1200">
                          <a:solidFill>
                            <a:srgbClr val="FF0000"/>
                          </a:solidFill>
                          <a:cs typeface="Arial" panose="020B0604020202020204" pitchFamily="34" charset="0"/>
                          <a:sym typeface="Symbol" pitchFamily="18" charset="2"/>
                        </a:rPr>
                        <a:t></a:t>
                      </a:r>
                      <a:endParaRPr kumimoji="0" lang="en-US" sz="1200" b="0" i="0" u="none" strike="noStrike" kern="1200" cap="none" spc="0" normalizeH="0" baseline="0">
                        <a:ln>
                          <a:noFill/>
                        </a:ln>
                        <a:solidFill>
                          <a:schemeClr val="tx1"/>
                        </a:solidFill>
                        <a:effectLst/>
                        <a:uLnTx/>
                        <a:uFillTx/>
                        <a:latin typeface="Arial" panose="020B0604020202020204"/>
                        <a:ea typeface="+mn-ea"/>
                        <a:cs typeface="+mn-cs"/>
                      </a:endParaRP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Arial" panose="020B0604020202020204"/>
                          <a:ea typeface="+mn-ea"/>
                          <a:cs typeface="+mn-cs"/>
                        </a:rPr>
                        <a:t>28%</a:t>
                      </a:r>
                    </a:p>
                  </a:txBody>
                  <a:tcPr marL="7620" marR="7620" marT="762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21327636"/>
                  </a:ext>
                </a:extLst>
              </a:tr>
            </a:tbl>
          </a:graphicData>
        </a:graphic>
      </p:graphicFrame>
      <p:sp>
        <p:nvSpPr>
          <p:cNvPr id="6" name="Rectangle: Rounded Corners 5">
            <a:extLst>
              <a:ext uri="{FF2B5EF4-FFF2-40B4-BE49-F238E27FC236}">
                <a16:creationId xmlns:a16="http://schemas.microsoft.com/office/drawing/2014/main" id="{14B61814-6E95-AEC5-A8DC-2FC8A78362D0}"/>
              </a:ext>
            </a:extLst>
          </p:cNvPr>
          <p:cNvSpPr/>
          <p:nvPr/>
        </p:nvSpPr>
        <p:spPr bwMode="gray">
          <a:xfrm>
            <a:off x="236060" y="1407094"/>
            <a:ext cx="11681955" cy="4722484"/>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 name="Title 1">
            <a:extLst>
              <a:ext uri="{FF2B5EF4-FFF2-40B4-BE49-F238E27FC236}">
                <a16:creationId xmlns:a16="http://schemas.microsoft.com/office/drawing/2014/main" id="{7DA77824-07A9-D5D7-AC5D-56418159929C}"/>
              </a:ext>
            </a:extLst>
          </p:cNvPr>
          <p:cNvSpPr>
            <a:spLocks noGrp="1"/>
          </p:cNvSpPr>
          <p:nvPr>
            <p:ph type="title"/>
          </p:nvPr>
        </p:nvSpPr>
        <p:spPr>
          <a:xfrm>
            <a:off x="1142123" y="170307"/>
            <a:ext cx="10775892" cy="850392"/>
          </a:xfrm>
        </p:spPr>
        <p:txBody>
          <a:bodyPr/>
          <a:lstStyle/>
          <a:p>
            <a:r>
              <a:rPr lang="en-US" b="1"/>
              <a:t>Clinical developmental data </a:t>
            </a:r>
            <a:r>
              <a:rPr lang="en-US"/>
              <a:t>and </a:t>
            </a:r>
            <a:r>
              <a:rPr lang="en-US" b="1"/>
              <a:t>demonstrated coverage of diverse </a:t>
            </a:r>
            <a:r>
              <a:rPr lang="en-US" b="1" err="1"/>
              <a:t>MenB</a:t>
            </a:r>
            <a:r>
              <a:rPr lang="en-US" b="1"/>
              <a:t> strains </a:t>
            </a:r>
            <a:r>
              <a:rPr lang="en-US"/>
              <a:t>are the most important attributes driving the selection of a pentavalent vaccine, followed by </a:t>
            </a:r>
            <a:r>
              <a:rPr lang="en-US" i="1"/>
              <a:t>VFC inclusion </a:t>
            </a:r>
            <a:r>
              <a:rPr lang="en-US"/>
              <a:t>and</a:t>
            </a:r>
            <a:r>
              <a:rPr lang="en-US" i="1"/>
              <a:t> built on well-established vaccines </a:t>
            </a:r>
            <a:r>
              <a:rPr lang="en-US"/>
              <a:t>(the latter driven by PEDs)</a:t>
            </a:r>
          </a:p>
        </p:txBody>
      </p:sp>
      <p:sp>
        <p:nvSpPr>
          <p:cNvPr id="3" name="Text Placeholder 2">
            <a:extLst>
              <a:ext uri="{FF2B5EF4-FFF2-40B4-BE49-F238E27FC236}">
                <a16:creationId xmlns:a16="http://schemas.microsoft.com/office/drawing/2014/main" id="{EDC752AA-970B-CC84-0799-D7D0DC89C7F3}"/>
              </a:ext>
            </a:extLst>
          </p:cNvPr>
          <p:cNvSpPr>
            <a:spLocks noGrp="1"/>
          </p:cNvSpPr>
          <p:nvPr>
            <p:ph type="body" sz="quarter" idx="16"/>
          </p:nvPr>
        </p:nvSpPr>
        <p:spPr>
          <a:xfrm>
            <a:off x="1571625" y="6266436"/>
            <a:ext cx="6743319" cy="605294"/>
          </a:xfrm>
        </p:spPr>
        <p:txBody>
          <a:bodyPr/>
          <a:lstStyle/>
          <a:p>
            <a:pPr marL="630238" indent="-630238"/>
            <a:r>
              <a:rPr lang="en-US" baseline="30000">
                <a:solidFill>
                  <a:srgbClr val="FF0000"/>
                </a:solidFill>
              </a:rPr>
              <a:t>† </a:t>
            </a:r>
            <a:r>
              <a:rPr lang="en-US">
                <a:solidFill>
                  <a:srgbClr val="FF0000"/>
                </a:solidFill>
              </a:rPr>
              <a:t>Added in Sep‘25 </a:t>
            </a:r>
          </a:p>
          <a:p>
            <a:pPr marL="630238" indent="-630238"/>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pPr marL="292100" indent="-292100"/>
            <a:r>
              <a:rPr lang="en-US"/>
              <a:t>X10.	If given a choice between two pentavalent vaccines for MenABCWY, how important would each of the following attributes be to your selection of a vaccine for patients 16-18 years of age? (7-pt scale: 1=Not at all important, 7=Extremely important)</a:t>
            </a:r>
          </a:p>
        </p:txBody>
      </p:sp>
      <p:sp>
        <p:nvSpPr>
          <p:cNvPr id="9" name="TextBox 8">
            <a:extLst>
              <a:ext uri="{FF2B5EF4-FFF2-40B4-BE49-F238E27FC236}">
                <a16:creationId xmlns:a16="http://schemas.microsoft.com/office/drawing/2014/main" id="{BF1C26E9-66BE-62F7-D4FD-2535A35548EE}"/>
              </a:ext>
            </a:extLst>
          </p:cNvPr>
          <p:cNvSpPr txBox="1"/>
          <p:nvPr/>
        </p:nvSpPr>
        <p:spPr bwMode="gray">
          <a:xfrm>
            <a:off x="2546986" y="1517282"/>
            <a:ext cx="7094854" cy="725327"/>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Importance of Pentavalent Vx Attributes</a:t>
            </a:r>
            <a:br>
              <a:rPr kumimoji="0" lang="en-US" sz="1800" b="1" i="0" u="none" strike="noStrike" kern="1200" cap="none" spc="0" normalizeH="0" baseline="0" noProof="0">
                <a:ln>
                  <a:noFill/>
                </a:ln>
                <a:solidFill>
                  <a:schemeClr val="bg1">
                    <a:lumMod val="50000"/>
                  </a:schemeClr>
                </a:solidFill>
                <a:effectLst/>
                <a:uLnTx/>
                <a:uFillTx/>
                <a:latin typeface="Arial" panose="020B0604020202020204"/>
                <a:ea typeface="+mn-ea"/>
                <a:cs typeface="+mn-cs"/>
              </a:rPr>
            </a:br>
            <a:r>
              <a:rPr kumimoji="0" lang="en-US" sz="1400" b="0" u="none" strike="noStrike" kern="1200" cap="none" spc="0" normalizeH="0" baseline="0" noProof="0">
                <a:ln>
                  <a:noFill/>
                </a:ln>
                <a:solidFill>
                  <a:schemeClr val="bg1">
                    <a:lumMod val="50000"/>
                  </a:schemeClr>
                </a:solidFill>
                <a:effectLst/>
                <a:uLnTx/>
                <a:uFillTx/>
                <a:latin typeface="Arial" panose="020B0604020202020204"/>
                <a:ea typeface="+mn-ea"/>
                <a:cs typeface="+mn-cs"/>
              </a:rPr>
              <a:t>% Very/Extremely Important</a:t>
            </a:r>
            <a:endParaRPr kumimoji="0" lang="en-US" sz="1000" b="0" u="none" strike="noStrike" kern="1200" cap="none" spc="0" normalizeH="0" baseline="0" noProof="0">
              <a:ln>
                <a:noFill/>
              </a:ln>
              <a:solidFill>
                <a:schemeClr val="bg1">
                  <a:lumMod val="50000"/>
                </a:schemeClr>
              </a:solidFill>
              <a:effectLst/>
              <a:uLnTx/>
              <a:uFillTx/>
              <a:latin typeface="Arial" panose="020B0604020202020204"/>
              <a:ea typeface="+mn-ea"/>
              <a:cs typeface="+mn-cs"/>
            </a:endParaRP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p>
        </p:txBody>
      </p:sp>
      <p:grpSp>
        <p:nvGrpSpPr>
          <p:cNvPr id="18" name="Group 17">
            <a:extLst>
              <a:ext uri="{FF2B5EF4-FFF2-40B4-BE49-F238E27FC236}">
                <a16:creationId xmlns:a16="http://schemas.microsoft.com/office/drawing/2014/main" id="{1EF437C5-4C16-2302-8ACB-3F143EE193F7}"/>
              </a:ext>
            </a:extLst>
          </p:cNvPr>
          <p:cNvGrpSpPr/>
          <p:nvPr/>
        </p:nvGrpSpPr>
        <p:grpSpPr>
          <a:xfrm>
            <a:off x="358760" y="1465026"/>
            <a:ext cx="650009" cy="557482"/>
            <a:chOff x="1686341" y="1600319"/>
            <a:chExt cx="650178" cy="557482"/>
          </a:xfrm>
        </p:grpSpPr>
        <p:cxnSp>
          <p:nvCxnSpPr>
            <p:cNvPr id="19" name="Straight Connector 18">
              <a:extLst>
                <a:ext uri="{FF2B5EF4-FFF2-40B4-BE49-F238E27FC236}">
                  <a16:creationId xmlns:a16="http://schemas.microsoft.com/office/drawing/2014/main" id="{AFF2B008-18BE-8012-2AD8-42FE12B90206}"/>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0" name="TextBox 19">
              <a:extLst>
                <a:ext uri="{FF2B5EF4-FFF2-40B4-BE49-F238E27FC236}">
                  <a16:creationId xmlns:a16="http://schemas.microsoft.com/office/drawing/2014/main" id="{3CF5C376-4ABF-5E18-1D7E-70C376E9D6F7}"/>
                </a:ext>
              </a:extLst>
            </p:cNvPr>
            <p:cNvSpPr txBox="1"/>
            <p:nvPr/>
          </p:nvSpPr>
          <p:spPr bwMode="gray">
            <a:xfrm>
              <a:off x="1686341" y="1600319"/>
              <a:ext cx="650178" cy="286232"/>
            </a:xfrm>
            <a:prstGeom prst="rect">
              <a:avLst/>
            </a:prstGeom>
          </p:spPr>
          <p:txBody>
            <a:bodyPr wrap="none" lIns="45708" tIns="45708" rIns="45708" bIns="45708" rtlCol="0">
              <a:spAutoFit/>
            </a:bodyPr>
            <a:lstStyle/>
            <a:p>
              <a:pPr algn="ctr">
                <a:lnSpc>
                  <a:spcPct val="90000"/>
                </a:lnSpc>
                <a:spcBef>
                  <a:spcPts val="1000"/>
                </a:spcBef>
                <a:defRPr/>
              </a:pPr>
              <a:r>
                <a:rPr lang="en-US" sz="1400">
                  <a:solidFill>
                    <a:srgbClr val="000000"/>
                  </a:solidFill>
                  <a:latin typeface="Arial" panose="020B0604020202020204"/>
                </a:rPr>
                <a:t>Sep’25</a:t>
              </a:r>
            </a:p>
          </p:txBody>
        </p:sp>
        <p:sp>
          <p:nvSpPr>
            <p:cNvPr id="21" name="TextBox 20">
              <a:extLst>
                <a:ext uri="{FF2B5EF4-FFF2-40B4-BE49-F238E27FC236}">
                  <a16:creationId xmlns:a16="http://schemas.microsoft.com/office/drawing/2014/main" id="{1208B11A-B866-2A7B-4C8F-8F1E33204FED}"/>
                </a:ext>
              </a:extLst>
            </p:cNvPr>
            <p:cNvSpPr txBox="1"/>
            <p:nvPr/>
          </p:nvSpPr>
          <p:spPr bwMode="gray">
            <a:xfrm>
              <a:off x="1737110" y="1940787"/>
              <a:ext cx="493187" cy="217014"/>
            </a:xfrm>
            <a:prstGeom prst="rect">
              <a:avLst/>
            </a:prstGeom>
          </p:spPr>
          <p:txBody>
            <a:bodyPr wrap="none" lIns="45708" tIns="45708" rIns="45708" bIns="45708" rtlCol="0">
              <a:spAutoFit/>
            </a:bodyPr>
            <a:lstStyle/>
            <a:p>
              <a:pPr>
                <a:lnSpc>
                  <a:spcPct val="90000"/>
                </a:lnSpc>
                <a:spcBef>
                  <a:spcPts val="1000"/>
                </a:spcBef>
                <a:tabLst>
                  <a:tab pos="457063" algn="l"/>
                </a:tabLst>
                <a:defRPr/>
              </a:pPr>
              <a:r>
                <a:rPr lang="en-US" sz="900">
                  <a:solidFill>
                    <a:srgbClr val="FFFFFF">
                      <a:lumMod val="50000"/>
                    </a:srgbClr>
                  </a:solidFill>
                  <a:latin typeface="Arial" panose="020B0604020202020204"/>
                </a:rPr>
                <a:t>(n=200)</a:t>
              </a:r>
            </a:p>
          </p:txBody>
        </p:sp>
      </p:grpSp>
      <p:sp>
        <p:nvSpPr>
          <p:cNvPr id="22" name="TextBox 21">
            <a:extLst>
              <a:ext uri="{FF2B5EF4-FFF2-40B4-BE49-F238E27FC236}">
                <a16:creationId xmlns:a16="http://schemas.microsoft.com/office/drawing/2014/main" id="{940D58D6-2949-35C1-91EF-15D1CB690171}"/>
              </a:ext>
            </a:extLst>
          </p:cNvPr>
          <p:cNvSpPr txBox="1"/>
          <p:nvPr/>
        </p:nvSpPr>
        <p:spPr bwMode="gray">
          <a:xfrm>
            <a:off x="270809" y="1173913"/>
            <a:ext cx="825909" cy="338466"/>
          </a:xfrm>
          <a:prstGeom prst="rect">
            <a:avLst/>
          </a:prstGeom>
          <a:noFill/>
        </p:spPr>
        <p:txBody>
          <a:bodyPr wrap="none">
            <a:spAutoFit/>
          </a:bodyPr>
          <a:lstStyle/>
          <a:p>
            <a:r>
              <a:rPr lang="en-US" sz="1600">
                <a:solidFill>
                  <a:srgbClr val="000000"/>
                </a:solidFill>
                <a:latin typeface="Arial" panose="020B0604020202020204"/>
              </a:rPr>
              <a:t>TOTAL</a:t>
            </a:r>
          </a:p>
        </p:txBody>
      </p:sp>
      <p:sp>
        <p:nvSpPr>
          <p:cNvPr id="7" name="TextBox 6">
            <a:extLst>
              <a:ext uri="{FF2B5EF4-FFF2-40B4-BE49-F238E27FC236}">
                <a16:creationId xmlns:a16="http://schemas.microsoft.com/office/drawing/2014/main" id="{82F247BE-9080-FFFE-F020-ED7446EA00E3}"/>
              </a:ext>
            </a:extLst>
          </p:cNvPr>
          <p:cNvSpPr txBox="1"/>
          <p:nvPr/>
        </p:nvSpPr>
        <p:spPr bwMode="gray">
          <a:xfrm>
            <a:off x="4471020" y="5514991"/>
            <a:ext cx="159659" cy="286232"/>
          </a:xfrm>
          <a:prstGeom prst="rect">
            <a:avLst/>
          </a:prstGeom>
        </p:spPr>
        <p:txBody>
          <a:bodyPr wrap="none" lIns="45720" tIns="45720" rIns="45720" bIns="45720" rtlCol="0">
            <a:spAutoFit/>
          </a:bodyPr>
          <a:lstStyle/>
          <a:p>
            <a:pPr algn="ctr">
              <a:lnSpc>
                <a:spcPct val="90000"/>
              </a:lnSpc>
              <a:spcAft>
                <a:spcPts val="400"/>
              </a:spcAft>
            </a:pPr>
            <a:r>
              <a:rPr lang="en-US" sz="1400" baseline="30000">
                <a:solidFill>
                  <a:srgbClr val="FF0000"/>
                </a:solidFill>
              </a:rPr>
              <a:t>†</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grpSp>
        <p:nvGrpSpPr>
          <p:cNvPr id="26" name="Group 25">
            <a:extLst>
              <a:ext uri="{FF2B5EF4-FFF2-40B4-BE49-F238E27FC236}">
                <a16:creationId xmlns:a16="http://schemas.microsoft.com/office/drawing/2014/main" id="{F83C138E-3757-73F8-54ED-8392445A9EAD}"/>
              </a:ext>
            </a:extLst>
          </p:cNvPr>
          <p:cNvGrpSpPr/>
          <p:nvPr/>
        </p:nvGrpSpPr>
        <p:grpSpPr>
          <a:xfrm>
            <a:off x="9090692" y="6153015"/>
            <a:ext cx="1938992" cy="352151"/>
            <a:chOff x="12326112" y="3819646"/>
            <a:chExt cx="1938992" cy="352151"/>
          </a:xfrm>
        </p:grpSpPr>
        <p:sp>
          <p:nvSpPr>
            <p:cNvPr id="27" name="TextBox 26">
              <a:extLst>
                <a:ext uri="{FF2B5EF4-FFF2-40B4-BE49-F238E27FC236}">
                  <a16:creationId xmlns:a16="http://schemas.microsoft.com/office/drawing/2014/main" id="{470EE899-7748-9666-E82F-34C936225702}"/>
                </a:ext>
              </a:extLst>
            </p:cNvPr>
            <p:cNvSpPr txBox="1"/>
            <p:nvPr/>
          </p:nvSpPr>
          <p:spPr bwMode="gray">
            <a:xfrm>
              <a:off x="12326112" y="4010214"/>
              <a:ext cx="1938992" cy="161583"/>
            </a:xfrm>
            <a:prstGeom prst="rect">
              <a:avLst/>
            </a:prstGeom>
            <a:solidFill>
              <a:srgbClr val="FDEFDF"/>
            </a:solidFill>
          </p:spPr>
          <p:txBody>
            <a:bodyPr wrap="none" lIns="45720" tIns="18288" rIns="45720" bIns="18288"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solidFill>
                    <a:schemeClr val="bg1">
                      <a:lumMod val="50000"/>
                    </a:schemeClr>
                  </a:solidFill>
                  <a:effectLst/>
                  <a:uLnTx/>
                  <a:uFillTx/>
                  <a:latin typeface="Arial" panose="020B0604020202020204"/>
                  <a:ea typeface="+mn-ea"/>
                  <a:cs typeface="+mn-cs"/>
                  <a:sym typeface="Wingdings" panose="05000000000000000000" pitchFamily="2" charset="2"/>
                </a:rPr>
                <a:t>Significantly higher/lower at 90% CL</a:t>
              </a:r>
              <a:endParaRPr kumimoji="0" lang="en-US" sz="900" i="0" u="none" strike="noStrike" kern="1200" cap="none" spc="0" normalizeH="0" baseline="0" noProof="0">
                <a:ln>
                  <a:noFill/>
                </a:ln>
                <a:solidFill>
                  <a:schemeClr val="bg1">
                    <a:lumMod val="50000"/>
                  </a:schemeClr>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57B01CE9-F4C7-214A-981B-399DBB043F1C}"/>
                </a:ext>
              </a:extLst>
            </p:cNvPr>
            <p:cNvSpPr txBox="1"/>
            <p:nvPr/>
          </p:nvSpPr>
          <p:spPr bwMode="gray">
            <a:xfrm>
              <a:off x="12326112" y="3819646"/>
              <a:ext cx="1938992" cy="161583"/>
            </a:xfrm>
            <a:prstGeom prst="rect">
              <a:avLst/>
            </a:prstGeom>
            <a:solidFill>
              <a:schemeClr val="tx2">
                <a:lumMod val="40000"/>
                <a:lumOff val="60000"/>
              </a:schemeClr>
            </a:solidFill>
          </p:spPr>
          <p:txBody>
            <a:bodyPr wrap="none" lIns="45720" tIns="18288" rIns="45720" bIns="18288"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solidFill>
                    <a:schemeClr val="bg1">
                      <a:lumMod val="50000"/>
                    </a:schemeClr>
                  </a:solidFill>
                  <a:effectLst/>
                  <a:uLnTx/>
                  <a:uFillTx/>
                  <a:latin typeface="Arial" panose="020B0604020202020204"/>
                  <a:ea typeface="+mn-ea"/>
                  <a:cs typeface="+mn-cs"/>
                  <a:sym typeface="Wingdings" panose="05000000000000000000" pitchFamily="2" charset="2"/>
                </a:rPr>
                <a:t>Significantly higher/lower at 95% CL</a:t>
              </a:r>
              <a:endParaRPr kumimoji="0" lang="en-US" sz="900" i="0" u="none" strike="noStrike" kern="1200" cap="none" spc="0" normalizeH="0" baseline="0" noProof="0">
                <a:ln>
                  <a:noFill/>
                </a:ln>
                <a:solidFill>
                  <a:schemeClr val="bg1">
                    <a:lumMod val="50000"/>
                  </a:schemeClr>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148881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5467A-CC4C-3760-35A2-193828161B5C}"/>
            </a:ext>
          </a:extLst>
        </p:cNvPr>
        <p:cNvGrpSpPr/>
        <p:nvPr/>
      </p:nvGrpSpPr>
      <p:grpSpPr>
        <a:xfrm>
          <a:off x="0" y="0"/>
          <a:ext cx="0" cy="0"/>
          <a:chOff x="0" y="0"/>
          <a:chExt cx="0" cy="0"/>
        </a:xfrm>
      </p:grpSpPr>
      <p:sp>
        <p:nvSpPr>
          <p:cNvPr id="95" name="Rectangle: Rounded Corners 94">
            <a:extLst>
              <a:ext uri="{FF2B5EF4-FFF2-40B4-BE49-F238E27FC236}">
                <a16:creationId xmlns:a16="http://schemas.microsoft.com/office/drawing/2014/main" id="{D996958E-BF31-E522-5102-57983BEBB9F5}"/>
              </a:ext>
            </a:extLst>
          </p:cNvPr>
          <p:cNvSpPr/>
          <p:nvPr/>
        </p:nvSpPr>
        <p:spPr bwMode="gray">
          <a:xfrm>
            <a:off x="83439" y="1196499"/>
            <a:ext cx="12024360" cy="4027251"/>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 name="Title 1">
            <a:extLst>
              <a:ext uri="{FF2B5EF4-FFF2-40B4-BE49-F238E27FC236}">
                <a16:creationId xmlns:a16="http://schemas.microsoft.com/office/drawing/2014/main" id="{3F1431DB-C3C9-D3A5-4874-826B016B3850}"/>
              </a:ext>
            </a:extLst>
          </p:cNvPr>
          <p:cNvSpPr>
            <a:spLocks noGrp="1"/>
          </p:cNvSpPr>
          <p:nvPr>
            <p:ph type="title"/>
          </p:nvPr>
        </p:nvSpPr>
        <p:spPr>
          <a:xfrm>
            <a:off x="1142123" y="42714"/>
            <a:ext cx="10577390" cy="850392"/>
          </a:xfrm>
        </p:spPr>
        <p:txBody>
          <a:bodyPr/>
          <a:lstStyle/>
          <a:p>
            <a:r>
              <a:rPr lang="en-US" dirty="0"/>
              <a:t>Penbraya takes a slight lead over GSK’s </a:t>
            </a:r>
            <a:r>
              <a:rPr lang="en-US" dirty="0" err="1"/>
              <a:t>Penmenvy</a:t>
            </a:r>
            <a:r>
              <a:rPr lang="en-US" dirty="0"/>
              <a:t> on </a:t>
            </a:r>
            <a:r>
              <a:rPr lang="en-US" i="1" dirty="0"/>
              <a:t>clinical developmental data </a:t>
            </a:r>
            <a:r>
              <a:rPr lang="en-US" dirty="0"/>
              <a:t>– most important to HCPs while the reverse is true for </a:t>
            </a:r>
            <a:r>
              <a:rPr lang="en-US" i="1" dirty="0"/>
              <a:t>demonstrated coverage of </a:t>
            </a:r>
            <a:r>
              <a:rPr lang="en-US" i="1" dirty="0" err="1"/>
              <a:t>MenB</a:t>
            </a:r>
            <a:r>
              <a:rPr lang="en-US" i="1" dirty="0"/>
              <a:t> strains</a:t>
            </a:r>
            <a:r>
              <a:rPr lang="en-US" dirty="0"/>
              <a:t>; both </a:t>
            </a:r>
            <a:r>
              <a:rPr lang="en-US" dirty="0" err="1"/>
              <a:t>pentavalents</a:t>
            </a:r>
            <a:r>
              <a:rPr lang="en-US" dirty="0"/>
              <a:t> are nearly tied on all applicable attributes except needle-free reconstitution in which Penbraya has a strong lead</a:t>
            </a:r>
          </a:p>
        </p:txBody>
      </p:sp>
      <p:graphicFrame>
        <p:nvGraphicFramePr>
          <p:cNvPr id="10" name="Chart 9">
            <a:extLst>
              <a:ext uri="{FF2B5EF4-FFF2-40B4-BE49-F238E27FC236}">
                <a16:creationId xmlns:a16="http://schemas.microsoft.com/office/drawing/2014/main" id="{9C8C4B83-1183-A7E9-3041-E94EB56C7E0D}"/>
              </a:ext>
            </a:extLst>
          </p:cNvPr>
          <p:cNvGraphicFramePr/>
          <p:nvPr>
            <p:extLst>
              <p:ext uri="{D42A27DB-BD31-4B8C-83A1-F6EECF244321}">
                <p14:modId xmlns:p14="http://schemas.microsoft.com/office/powerpoint/2010/main" val="1407879836"/>
              </p:ext>
            </p:extLst>
          </p:nvPr>
        </p:nvGraphicFramePr>
        <p:xfrm>
          <a:off x="689081" y="1896385"/>
          <a:ext cx="11498160" cy="4742580"/>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Group 12">
            <a:extLst>
              <a:ext uri="{FF2B5EF4-FFF2-40B4-BE49-F238E27FC236}">
                <a16:creationId xmlns:a16="http://schemas.microsoft.com/office/drawing/2014/main" id="{E0D57A1B-A74A-6A3A-1793-F68EDE81EFA6}"/>
              </a:ext>
            </a:extLst>
          </p:cNvPr>
          <p:cNvGrpSpPr/>
          <p:nvPr/>
        </p:nvGrpSpPr>
        <p:grpSpPr>
          <a:xfrm>
            <a:off x="1157363" y="5248090"/>
            <a:ext cx="10615459" cy="154008"/>
            <a:chOff x="1153504" y="5254277"/>
            <a:chExt cx="10623757" cy="154008"/>
          </a:xfrm>
        </p:grpSpPr>
        <p:cxnSp>
          <p:nvCxnSpPr>
            <p:cNvPr id="14" name="Straight Connector 13">
              <a:extLst>
                <a:ext uri="{FF2B5EF4-FFF2-40B4-BE49-F238E27FC236}">
                  <a16:creationId xmlns:a16="http://schemas.microsoft.com/office/drawing/2014/main" id="{E45779C1-E0E7-E0E9-B220-47EA677C7DD4}"/>
                </a:ext>
              </a:extLst>
            </p:cNvPr>
            <p:cNvCxnSpPr>
              <a:cxnSpLocks/>
            </p:cNvCxnSpPr>
            <p:nvPr/>
          </p:nvCxnSpPr>
          <p:spPr>
            <a:xfrm>
              <a:off x="1153504" y="5346610"/>
              <a:ext cx="10623757" cy="0"/>
            </a:xfrm>
            <a:prstGeom prst="line">
              <a:avLst/>
            </a:prstGeom>
            <a:ln w="12700">
              <a:solidFill>
                <a:schemeClr val="tx1">
                  <a:lumMod val="40000"/>
                  <a:lumOff val="60000"/>
                </a:schemeClr>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BA76A07-330A-3E98-5DBD-809E139B8907}"/>
                </a:ext>
              </a:extLst>
            </p:cNvPr>
            <p:cNvSpPr txBox="1"/>
            <p:nvPr/>
          </p:nvSpPr>
          <p:spPr>
            <a:xfrm>
              <a:off x="4837128" y="5254277"/>
              <a:ext cx="3050011" cy="154008"/>
            </a:xfrm>
            <a:prstGeom prst="rect">
              <a:avLst/>
            </a:prstGeom>
            <a:solidFill>
              <a:schemeClr val="bg1"/>
            </a:solidFill>
            <a:ln>
              <a:noFill/>
            </a:ln>
          </p:spPr>
          <p:style>
            <a:lnRef idx="0">
              <a:scrgbClr r="0" g="0" b="0"/>
            </a:lnRef>
            <a:fillRef idx="0">
              <a:scrgbClr r="0" g="0" b="0"/>
            </a:fillRef>
            <a:effectRef idx="0">
              <a:scrgbClr r="0" g="0" b="0"/>
            </a:effectRef>
            <a:fontRef idx="minor">
              <a:schemeClr val="dk1"/>
            </a:fontRef>
          </p:style>
          <p:txBody>
            <a:bodyPr wrap="none" lIns="91440" tIns="0" rIns="9144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rPr>
                <a:t>Attributes shown in order of high to low importance</a:t>
              </a:r>
            </a:p>
          </p:txBody>
        </p:sp>
      </p:grpSp>
      <p:sp>
        <p:nvSpPr>
          <p:cNvPr id="16" name="TextBox 15">
            <a:extLst>
              <a:ext uri="{FF2B5EF4-FFF2-40B4-BE49-F238E27FC236}">
                <a16:creationId xmlns:a16="http://schemas.microsoft.com/office/drawing/2014/main" id="{A0B91E94-C68C-5F1E-1DD1-EA3BD0363676}"/>
              </a:ext>
            </a:extLst>
          </p:cNvPr>
          <p:cNvSpPr txBox="1"/>
          <p:nvPr/>
        </p:nvSpPr>
        <p:spPr>
          <a:xfrm>
            <a:off x="743621" y="5201586"/>
            <a:ext cx="476040" cy="26140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rPr>
              <a:t>High</a:t>
            </a:r>
          </a:p>
        </p:txBody>
      </p:sp>
      <p:sp>
        <p:nvSpPr>
          <p:cNvPr id="17" name="TextBox 16">
            <a:extLst>
              <a:ext uri="{FF2B5EF4-FFF2-40B4-BE49-F238E27FC236}">
                <a16:creationId xmlns:a16="http://schemas.microsoft.com/office/drawing/2014/main" id="{BD33F283-7332-856A-09AD-604AE07C2C57}"/>
              </a:ext>
            </a:extLst>
          </p:cNvPr>
          <p:cNvSpPr txBox="1"/>
          <p:nvPr/>
        </p:nvSpPr>
        <p:spPr>
          <a:xfrm>
            <a:off x="11719513" y="5201586"/>
            <a:ext cx="444004" cy="26140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rPr>
              <a:t>Low</a:t>
            </a:r>
          </a:p>
        </p:txBody>
      </p:sp>
      <p:graphicFrame>
        <p:nvGraphicFramePr>
          <p:cNvPr id="19" name="Table 18">
            <a:extLst>
              <a:ext uri="{FF2B5EF4-FFF2-40B4-BE49-F238E27FC236}">
                <a16:creationId xmlns:a16="http://schemas.microsoft.com/office/drawing/2014/main" id="{7AD5304B-A45E-9ED9-2833-EAD7AF9C7AD0}"/>
              </a:ext>
            </a:extLst>
          </p:cNvPr>
          <p:cNvGraphicFramePr>
            <a:graphicFrameLocks noGrp="1"/>
          </p:cNvGraphicFramePr>
          <p:nvPr>
            <p:extLst>
              <p:ext uri="{D42A27DB-BD31-4B8C-83A1-F6EECF244321}">
                <p14:modId xmlns:p14="http://schemas.microsoft.com/office/powerpoint/2010/main" val="117109186"/>
              </p:ext>
            </p:extLst>
          </p:nvPr>
        </p:nvGraphicFramePr>
        <p:xfrm>
          <a:off x="12701" y="5468572"/>
          <a:ext cx="12009739" cy="608508"/>
        </p:xfrm>
        <a:graphic>
          <a:graphicData uri="http://schemas.openxmlformats.org/drawingml/2006/table">
            <a:tbl>
              <a:tblPr>
                <a:tableStyleId>{5C22544A-7EE6-4342-B048-85BDC9FD1C3A}</a:tableStyleId>
              </a:tblPr>
              <a:tblGrid>
                <a:gridCol w="854059">
                  <a:extLst>
                    <a:ext uri="{9D8B030D-6E8A-4147-A177-3AD203B41FA5}">
                      <a16:colId xmlns:a16="http://schemas.microsoft.com/office/drawing/2014/main" val="907120210"/>
                    </a:ext>
                  </a:extLst>
                </a:gridCol>
                <a:gridCol w="1005840">
                  <a:extLst>
                    <a:ext uri="{9D8B030D-6E8A-4147-A177-3AD203B41FA5}">
                      <a16:colId xmlns:a16="http://schemas.microsoft.com/office/drawing/2014/main" val="4256066125"/>
                    </a:ext>
                  </a:extLst>
                </a:gridCol>
                <a:gridCol w="1014984">
                  <a:extLst>
                    <a:ext uri="{9D8B030D-6E8A-4147-A177-3AD203B41FA5}">
                      <a16:colId xmlns:a16="http://schemas.microsoft.com/office/drawing/2014/main" val="2342541914"/>
                    </a:ext>
                  </a:extLst>
                </a:gridCol>
                <a:gridCol w="1014984">
                  <a:extLst>
                    <a:ext uri="{9D8B030D-6E8A-4147-A177-3AD203B41FA5}">
                      <a16:colId xmlns:a16="http://schemas.microsoft.com/office/drawing/2014/main" val="835622267"/>
                    </a:ext>
                  </a:extLst>
                </a:gridCol>
                <a:gridCol w="1014984">
                  <a:extLst>
                    <a:ext uri="{9D8B030D-6E8A-4147-A177-3AD203B41FA5}">
                      <a16:colId xmlns:a16="http://schemas.microsoft.com/office/drawing/2014/main" val="3500938718"/>
                    </a:ext>
                  </a:extLst>
                </a:gridCol>
                <a:gridCol w="1014984">
                  <a:extLst>
                    <a:ext uri="{9D8B030D-6E8A-4147-A177-3AD203B41FA5}">
                      <a16:colId xmlns:a16="http://schemas.microsoft.com/office/drawing/2014/main" val="590829564"/>
                    </a:ext>
                  </a:extLst>
                </a:gridCol>
                <a:gridCol w="1014984">
                  <a:extLst>
                    <a:ext uri="{9D8B030D-6E8A-4147-A177-3AD203B41FA5}">
                      <a16:colId xmlns:a16="http://schemas.microsoft.com/office/drawing/2014/main" val="1680207257"/>
                    </a:ext>
                  </a:extLst>
                </a:gridCol>
                <a:gridCol w="1014984">
                  <a:extLst>
                    <a:ext uri="{9D8B030D-6E8A-4147-A177-3AD203B41FA5}">
                      <a16:colId xmlns:a16="http://schemas.microsoft.com/office/drawing/2014/main" val="2372931770"/>
                    </a:ext>
                  </a:extLst>
                </a:gridCol>
                <a:gridCol w="1014984">
                  <a:extLst>
                    <a:ext uri="{9D8B030D-6E8A-4147-A177-3AD203B41FA5}">
                      <a16:colId xmlns:a16="http://schemas.microsoft.com/office/drawing/2014/main" val="903047776"/>
                    </a:ext>
                  </a:extLst>
                </a:gridCol>
                <a:gridCol w="1014984">
                  <a:extLst>
                    <a:ext uri="{9D8B030D-6E8A-4147-A177-3AD203B41FA5}">
                      <a16:colId xmlns:a16="http://schemas.microsoft.com/office/drawing/2014/main" val="3714332576"/>
                    </a:ext>
                  </a:extLst>
                </a:gridCol>
                <a:gridCol w="1014984">
                  <a:extLst>
                    <a:ext uri="{9D8B030D-6E8A-4147-A177-3AD203B41FA5}">
                      <a16:colId xmlns:a16="http://schemas.microsoft.com/office/drawing/2014/main" val="2288699110"/>
                    </a:ext>
                  </a:extLst>
                </a:gridCol>
                <a:gridCol w="1014984">
                  <a:extLst>
                    <a:ext uri="{9D8B030D-6E8A-4147-A177-3AD203B41FA5}">
                      <a16:colId xmlns:a16="http://schemas.microsoft.com/office/drawing/2014/main" val="3439715228"/>
                    </a:ext>
                  </a:extLst>
                </a:gridCol>
              </a:tblGrid>
              <a:tr h="304254">
                <a:tc>
                  <a:txBody>
                    <a:bodyPr/>
                    <a:lstStyle/>
                    <a:p>
                      <a:pPr algn="ctr" fontAlgn="ctr"/>
                      <a:r>
                        <a:rPr lang="en-US" sz="1000" b="0" i="0" u="none" strike="noStrike" dirty="0">
                          <a:solidFill>
                            <a:srgbClr val="937DAD"/>
                          </a:solidFill>
                          <a:effectLst/>
                          <a:latin typeface="Arial" panose="020B0604020202020204" pitchFamily="34" charset="0"/>
                          <a:ea typeface="Calibri" panose="020F0502020204030204" pitchFamily="34" charset="0"/>
                          <a:cs typeface="Arial" panose="020B0604020202020204" pitchFamily="34" charset="0"/>
                        </a:rPr>
                        <a:t>Penbraya (P)</a:t>
                      </a:r>
                    </a:p>
                  </a:txBody>
                  <a:tcPr marL="0" marR="18273"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61%</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60%</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57%</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62%</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22%</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31%</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49%</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53%</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63%</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33%</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47%</a:t>
                      </a:r>
                      <a:r>
                        <a:rPr kumimoji="0" lang="en-US" sz="1100" b="1" i="0" u="none" strike="noStrike" kern="1200" cap="none" spc="0" normalizeH="0" baseline="30000">
                          <a:ln>
                            <a:noFill/>
                          </a:ln>
                          <a:solidFill>
                            <a:srgbClr val="000000">
                              <a:lumMod val="65000"/>
                              <a:lumOff val="35000"/>
                            </a:srgbClr>
                          </a:solidFill>
                          <a:effectLst/>
                          <a:uLnTx/>
                          <a:uFillTx/>
                          <a:latin typeface="Arial" panose="020B0604020202020204"/>
                          <a:ea typeface="+mn-ea"/>
                          <a:cs typeface="+mn-cs"/>
                        </a:rPr>
                        <a:t>X</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3FD"/>
                    </a:solidFill>
                  </a:tcPr>
                </a:tc>
                <a:extLst>
                  <a:ext uri="{0D108BD9-81ED-4DB2-BD59-A6C34878D82A}">
                    <a16:rowId xmlns:a16="http://schemas.microsoft.com/office/drawing/2014/main" val="1322068533"/>
                  </a:ext>
                </a:extLst>
              </a:tr>
              <a:tr h="304254">
                <a:tc>
                  <a:txBody>
                    <a:bodyPr/>
                    <a:lstStyle/>
                    <a:p>
                      <a:pPr algn="ctr" fontAlgn="ctr"/>
                      <a:r>
                        <a:rPr lang="en-US" sz="1000" u="none" strike="noStrike">
                          <a:solidFill>
                            <a:srgbClr val="D95776"/>
                          </a:solidFill>
                          <a:effectLst/>
                          <a:latin typeface="Arial" panose="020B0604020202020204" pitchFamily="34" charset="0"/>
                          <a:ea typeface="Calibri" panose="020F0502020204030204" pitchFamily="34" charset="0"/>
                          <a:cs typeface="Arial" panose="020B0604020202020204" pitchFamily="34" charset="0"/>
                        </a:rPr>
                        <a:t>Penmenvy (X)</a:t>
                      </a:r>
                      <a:endParaRPr lang="en-US" sz="1000" b="0" i="0" u="none" strike="noStrike">
                        <a:solidFill>
                          <a:srgbClr val="D95776"/>
                        </a:solidFill>
                        <a:effectLst/>
                        <a:latin typeface="Arial" panose="020B0604020202020204" pitchFamily="34" charset="0"/>
                        <a:ea typeface="Calibri" panose="020F0502020204030204" pitchFamily="34" charset="0"/>
                        <a:cs typeface="Arial" panose="020B0604020202020204" pitchFamily="34" charset="0"/>
                      </a:endParaRPr>
                    </a:p>
                  </a:txBody>
                  <a:tcPr marL="0" marR="18273"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55%</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63%</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n/a</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56%</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24%</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mn-lt"/>
                          <a:ea typeface="+mn-ea"/>
                          <a:cs typeface="+mn-cs"/>
                        </a:rPr>
                        <a:t>n/a</a:t>
                      </a:r>
                      <a:endPar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endParaRP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44%</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rPr>
                        <a:t>n/a</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rPr>
                        <a:t>n/a</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39%</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lumMod val="65000"/>
                              <a:lumOff val="35000"/>
                            </a:srgbClr>
                          </a:solidFill>
                          <a:effectLst/>
                          <a:uLnTx/>
                          <a:uFillTx/>
                          <a:latin typeface="Arial" panose="020B0604020202020204"/>
                          <a:ea typeface="+mn-ea"/>
                          <a:cs typeface="+mn-cs"/>
                        </a:rPr>
                        <a:t>31%</a:t>
                      </a:r>
                    </a:p>
                  </a:txBody>
                  <a:tcPr marL="7620" marR="7620" marT="762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5691636"/>
                  </a:ext>
                </a:extLst>
              </a:tr>
            </a:tbl>
          </a:graphicData>
        </a:graphic>
      </p:graphicFrame>
      <p:sp>
        <p:nvSpPr>
          <p:cNvPr id="92" name="TextBox 91">
            <a:extLst>
              <a:ext uri="{FF2B5EF4-FFF2-40B4-BE49-F238E27FC236}">
                <a16:creationId xmlns:a16="http://schemas.microsoft.com/office/drawing/2014/main" id="{651A7232-6D8E-8047-0329-3AA135114C52}"/>
              </a:ext>
            </a:extLst>
          </p:cNvPr>
          <p:cNvSpPr txBox="1"/>
          <p:nvPr/>
        </p:nvSpPr>
        <p:spPr bwMode="gray">
          <a:xfrm>
            <a:off x="2546986" y="1293542"/>
            <a:ext cx="7094854" cy="725327"/>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Association of Brands with Vaccine Attributes</a:t>
            </a:r>
            <a:br>
              <a:rPr kumimoji="0" lang="en-US" sz="1800" b="1" i="0" u="none" strike="noStrike" kern="1200" cap="none" spc="0" normalizeH="0" baseline="0" noProof="0">
                <a:ln>
                  <a:noFill/>
                </a:ln>
                <a:solidFill>
                  <a:schemeClr val="bg1">
                    <a:lumMod val="50000"/>
                  </a:schemeClr>
                </a:solidFill>
                <a:effectLst/>
                <a:uLnTx/>
                <a:uFillTx/>
                <a:latin typeface="Arial" panose="020B0604020202020204"/>
                <a:ea typeface="+mn-ea"/>
                <a:cs typeface="+mn-cs"/>
              </a:rPr>
            </a:br>
            <a:r>
              <a:rPr kumimoji="0" lang="en-US" sz="1400" b="0" u="none" strike="noStrike" kern="1200" cap="none" spc="0" normalizeH="0" baseline="0" noProof="0">
                <a:ln>
                  <a:noFill/>
                </a:ln>
                <a:solidFill>
                  <a:schemeClr val="bg1">
                    <a:lumMod val="50000"/>
                  </a:schemeClr>
                </a:solidFill>
                <a:effectLst/>
                <a:uLnTx/>
                <a:uFillTx/>
                <a:latin typeface="Arial" panose="020B0604020202020204"/>
                <a:ea typeface="+mn-ea"/>
                <a:cs typeface="+mn-cs"/>
              </a:rPr>
              <a:t>% Highly Important/Associated (T2B)</a:t>
            </a:r>
            <a:endParaRPr kumimoji="0" lang="en-US" sz="1000" b="0" u="none" strike="noStrike" kern="1200" cap="none" spc="0" normalizeH="0" baseline="0" noProof="0">
              <a:ln>
                <a:noFill/>
              </a:ln>
              <a:solidFill>
                <a:schemeClr val="bg1">
                  <a:lumMod val="50000"/>
                </a:schemeClr>
              </a:solidFill>
              <a:effectLst/>
              <a:uLnTx/>
              <a:uFillTx/>
              <a:latin typeface="Arial" panose="020B0604020202020204"/>
              <a:ea typeface="+mn-ea"/>
              <a:cs typeface="+mn-cs"/>
            </a:endParaRP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p>
        </p:txBody>
      </p:sp>
      <p:grpSp>
        <p:nvGrpSpPr>
          <p:cNvPr id="5" name="Group 4">
            <a:extLst>
              <a:ext uri="{FF2B5EF4-FFF2-40B4-BE49-F238E27FC236}">
                <a16:creationId xmlns:a16="http://schemas.microsoft.com/office/drawing/2014/main" id="{22EE7749-266C-1858-1A5B-2D2999F5255E}"/>
              </a:ext>
            </a:extLst>
          </p:cNvPr>
          <p:cNvGrpSpPr/>
          <p:nvPr/>
        </p:nvGrpSpPr>
        <p:grpSpPr>
          <a:xfrm>
            <a:off x="246872" y="1250119"/>
            <a:ext cx="650178" cy="539122"/>
            <a:chOff x="1686341" y="1600319"/>
            <a:chExt cx="650178" cy="539122"/>
          </a:xfrm>
        </p:grpSpPr>
        <p:cxnSp>
          <p:nvCxnSpPr>
            <p:cNvPr id="6" name="Straight Connector 5">
              <a:extLst>
                <a:ext uri="{FF2B5EF4-FFF2-40B4-BE49-F238E27FC236}">
                  <a16:creationId xmlns:a16="http://schemas.microsoft.com/office/drawing/2014/main" id="{037C6B96-FEE8-ED52-9A57-54C24D9CD8A4}"/>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7" name="TextBox 6">
              <a:extLst>
                <a:ext uri="{FF2B5EF4-FFF2-40B4-BE49-F238E27FC236}">
                  <a16:creationId xmlns:a16="http://schemas.microsoft.com/office/drawing/2014/main" id="{3460DB7D-81D2-01B2-3CCB-D9A666CB8486}"/>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8" name="TextBox 7">
            <a:extLst>
              <a:ext uri="{FF2B5EF4-FFF2-40B4-BE49-F238E27FC236}">
                <a16:creationId xmlns:a16="http://schemas.microsoft.com/office/drawing/2014/main" id="{AE57AE20-443C-24E5-46B4-8C34688AB7D1}"/>
              </a:ext>
            </a:extLst>
          </p:cNvPr>
          <p:cNvSpPr txBox="1"/>
          <p:nvPr/>
        </p:nvSpPr>
        <p:spPr bwMode="gray">
          <a:xfrm>
            <a:off x="158899" y="959348"/>
            <a:ext cx="826124" cy="338554"/>
          </a:xfrm>
          <a:prstGeom prst="rect">
            <a:avLst/>
          </a:prstGeom>
          <a:noFill/>
        </p:spPr>
        <p:txBody>
          <a:bodyPr wrap="none">
            <a:spAutoFit/>
          </a:bodyPr>
          <a:lstStyle/>
          <a:p>
            <a:r>
              <a:rPr lang="en-US" sz="1600"/>
              <a:t>TOTAL</a:t>
            </a:r>
          </a:p>
        </p:txBody>
      </p:sp>
      <p:graphicFrame>
        <p:nvGraphicFramePr>
          <p:cNvPr id="20" name="Table 19">
            <a:extLst>
              <a:ext uri="{FF2B5EF4-FFF2-40B4-BE49-F238E27FC236}">
                <a16:creationId xmlns:a16="http://schemas.microsoft.com/office/drawing/2014/main" id="{CB590122-DD03-D2F3-DD9D-E6F02CA0FB5C}"/>
              </a:ext>
            </a:extLst>
          </p:cNvPr>
          <p:cNvGraphicFramePr>
            <a:graphicFrameLocks noGrp="1"/>
          </p:cNvGraphicFramePr>
          <p:nvPr>
            <p:extLst>
              <p:ext uri="{D42A27DB-BD31-4B8C-83A1-F6EECF244321}">
                <p14:modId xmlns:p14="http://schemas.microsoft.com/office/powerpoint/2010/main" val="3008931447"/>
              </p:ext>
            </p:extLst>
          </p:nvPr>
        </p:nvGraphicFramePr>
        <p:xfrm>
          <a:off x="839747" y="4389913"/>
          <a:ext cx="11212828" cy="798132"/>
        </p:xfrm>
        <a:graphic>
          <a:graphicData uri="http://schemas.openxmlformats.org/drawingml/2006/table">
            <a:tbl>
              <a:tblPr>
                <a:tableStyleId>{5C22544A-7EE6-4342-B048-85BDC9FD1C3A}</a:tableStyleId>
              </a:tblPr>
              <a:tblGrid>
                <a:gridCol w="1019348">
                  <a:extLst>
                    <a:ext uri="{9D8B030D-6E8A-4147-A177-3AD203B41FA5}">
                      <a16:colId xmlns:a16="http://schemas.microsoft.com/office/drawing/2014/main" val="4096463611"/>
                    </a:ext>
                  </a:extLst>
                </a:gridCol>
                <a:gridCol w="1019348">
                  <a:extLst>
                    <a:ext uri="{9D8B030D-6E8A-4147-A177-3AD203B41FA5}">
                      <a16:colId xmlns:a16="http://schemas.microsoft.com/office/drawing/2014/main" val="2431692151"/>
                    </a:ext>
                  </a:extLst>
                </a:gridCol>
                <a:gridCol w="1019348">
                  <a:extLst>
                    <a:ext uri="{9D8B030D-6E8A-4147-A177-3AD203B41FA5}">
                      <a16:colId xmlns:a16="http://schemas.microsoft.com/office/drawing/2014/main" val="1940215311"/>
                    </a:ext>
                  </a:extLst>
                </a:gridCol>
                <a:gridCol w="1019348">
                  <a:extLst>
                    <a:ext uri="{9D8B030D-6E8A-4147-A177-3AD203B41FA5}">
                      <a16:colId xmlns:a16="http://schemas.microsoft.com/office/drawing/2014/main" val="1717036505"/>
                    </a:ext>
                  </a:extLst>
                </a:gridCol>
                <a:gridCol w="1019348">
                  <a:extLst>
                    <a:ext uri="{9D8B030D-6E8A-4147-A177-3AD203B41FA5}">
                      <a16:colId xmlns:a16="http://schemas.microsoft.com/office/drawing/2014/main" val="1889639986"/>
                    </a:ext>
                  </a:extLst>
                </a:gridCol>
                <a:gridCol w="1019348">
                  <a:extLst>
                    <a:ext uri="{9D8B030D-6E8A-4147-A177-3AD203B41FA5}">
                      <a16:colId xmlns:a16="http://schemas.microsoft.com/office/drawing/2014/main" val="836657806"/>
                    </a:ext>
                  </a:extLst>
                </a:gridCol>
                <a:gridCol w="1019348">
                  <a:extLst>
                    <a:ext uri="{9D8B030D-6E8A-4147-A177-3AD203B41FA5}">
                      <a16:colId xmlns:a16="http://schemas.microsoft.com/office/drawing/2014/main" val="2418390212"/>
                    </a:ext>
                  </a:extLst>
                </a:gridCol>
                <a:gridCol w="1019348">
                  <a:extLst>
                    <a:ext uri="{9D8B030D-6E8A-4147-A177-3AD203B41FA5}">
                      <a16:colId xmlns:a16="http://schemas.microsoft.com/office/drawing/2014/main" val="923179425"/>
                    </a:ext>
                  </a:extLst>
                </a:gridCol>
                <a:gridCol w="1019348">
                  <a:extLst>
                    <a:ext uri="{9D8B030D-6E8A-4147-A177-3AD203B41FA5}">
                      <a16:colId xmlns:a16="http://schemas.microsoft.com/office/drawing/2014/main" val="3108160381"/>
                    </a:ext>
                  </a:extLst>
                </a:gridCol>
                <a:gridCol w="1019348">
                  <a:extLst>
                    <a:ext uri="{9D8B030D-6E8A-4147-A177-3AD203B41FA5}">
                      <a16:colId xmlns:a16="http://schemas.microsoft.com/office/drawing/2014/main" val="3014113538"/>
                    </a:ext>
                  </a:extLst>
                </a:gridCol>
                <a:gridCol w="1019348">
                  <a:extLst>
                    <a:ext uri="{9D8B030D-6E8A-4147-A177-3AD203B41FA5}">
                      <a16:colId xmlns:a16="http://schemas.microsoft.com/office/drawing/2014/main" val="2156524599"/>
                    </a:ext>
                  </a:extLst>
                </a:gridCol>
              </a:tblGrid>
              <a:tr h="694170">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Robust </a:t>
                      </a:r>
                      <a:br>
                        <a:rPr lang="en-US" sz="1100" u="none" strike="noStrike" kern="1200">
                          <a:solidFill>
                            <a:schemeClr val="tx1"/>
                          </a:solidFill>
                          <a:effectLst/>
                          <a:latin typeface="Arial" panose="020B0604020202020204" pitchFamily="34" charset="0"/>
                          <a:ea typeface="+mn-ea"/>
                          <a:cs typeface="Arial" panose="020B0604020202020204" pitchFamily="34" charset="0"/>
                        </a:rPr>
                      </a:br>
                      <a:r>
                        <a:rPr lang="en-US" sz="1100" u="none" strike="noStrike" kern="1200">
                          <a:solidFill>
                            <a:schemeClr val="tx1"/>
                          </a:solidFill>
                          <a:effectLst/>
                          <a:latin typeface="Arial" panose="020B0604020202020204" pitchFamily="34" charset="0"/>
                          <a:ea typeface="+mn-ea"/>
                          <a:cs typeface="Arial" panose="020B0604020202020204" pitchFamily="34" charset="0"/>
                        </a:rPr>
                        <a:t>clinical development</a:t>
                      </a:r>
                      <a:br>
                        <a:rPr lang="en-US" sz="1100" u="none" strike="noStrike" kern="1200">
                          <a:solidFill>
                            <a:schemeClr val="tx1"/>
                          </a:solidFill>
                          <a:effectLst/>
                          <a:latin typeface="Arial" panose="020B0604020202020204" pitchFamily="34" charset="0"/>
                          <a:ea typeface="+mn-ea"/>
                          <a:cs typeface="Arial" panose="020B0604020202020204" pitchFamily="34" charset="0"/>
                        </a:rPr>
                      </a:br>
                      <a:r>
                        <a:rPr lang="en-US" sz="1100" u="none" strike="noStrike" kern="1200">
                          <a:solidFill>
                            <a:schemeClr val="tx1"/>
                          </a:solidFill>
                          <a:effectLst/>
                          <a:latin typeface="Arial" panose="020B0604020202020204" pitchFamily="34" charset="0"/>
                          <a:ea typeface="+mn-ea"/>
                          <a:cs typeface="Arial" panose="020B0604020202020204" pitchFamily="34" charset="0"/>
                        </a:rPr>
                        <a:t>data</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Clinically demonstrated coverage diverse</a:t>
                      </a:r>
                      <a:br>
                        <a:rPr lang="en-US" sz="1100" u="none" strike="noStrike" kern="1200">
                          <a:solidFill>
                            <a:schemeClr val="tx1"/>
                          </a:solidFill>
                          <a:effectLst/>
                          <a:latin typeface="Arial" panose="020B0604020202020204" pitchFamily="34" charset="0"/>
                          <a:ea typeface="+mn-ea"/>
                          <a:cs typeface="Arial" panose="020B0604020202020204" pitchFamily="34" charset="0"/>
                        </a:rPr>
                      </a:br>
                      <a:r>
                        <a:rPr lang="en-US" sz="1100" u="none" strike="noStrike" kern="1200">
                          <a:solidFill>
                            <a:schemeClr val="tx1"/>
                          </a:solidFill>
                          <a:effectLst/>
                          <a:latin typeface="Arial" panose="020B0604020202020204" pitchFamily="34" charset="0"/>
                          <a:ea typeface="+mn-ea"/>
                          <a:cs typeface="Arial" panose="020B0604020202020204" pitchFamily="34" charset="0"/>
                        </a:rPr>
                        <a:t>MenB strains</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Included in</a:t>
                      </a:r>
                      <a:br>
                        <a:rPr lang="en-US" sz="1100" u="none" strike="noStrike" kern="1200">
                          <a:solidFill>
                            <a:schemeClr val="tx1"/>
                          </a:solidFill>
                          <a:effectLst/>
                          <a:latin typeface="Arial" panose="020B0604020202020204" pitchFamily="34" charset="0"/>
                          <a:ea typeface="+mn-ea"/>
                          <a:cs typeface="Arial" panose="020B0604020202020204" pitchFamily="34" charset="0"/>
                        </a:rPr>
                      </a:br>
                      <a:r>
                        <a:rPr lang="en-US" sz="1100" u="none" strike="noStrike" kern="1200">
                          <a:solidFill>
                            <a:schemeClr val="tx1"/>
                          </a:solidFill>
                          <a:effectLst/>
                          <a:latin typeface="Arial" panose="020B0604020202020204" pitchFamily="34" charset="0"/>
                          <a:ea typeface="+mn-ea"/>
                          <a:cs typeface="Arial" panose="020B0604020202020204" pitchFamily="34" charset="0"/>
                        </a:rPr>
                        <a:t>VFC program</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Built on well-established meningococcal Vxs</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Positive net acquisition cost implications / lower list price</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Mfr. offers contracting</a:t>
                      </a:r>
                      <a:br>
                        <a:rPr lang="en-US" sz="1100" u="none" strike="noStrike" kern="1200">
                          <a:solidFill>
                            <a:schemeClr val="tx1"/>
                          </a:solidFill>
                          <a:effectLst/>
                          <a:latin typeface="Arial" panose="020B0604020202020204" pitchFamily="34" charset="0"/>
                          <a:ea typeface="+mn-ea"/>
                          <a:cs typeface="Arial" panose="020B0604020202020204" pitchFamily="34" charset="0"/>
                        </a:rPr>
                      </a:br>
                      <a:r>
                        <a:rPr lang="en-US" sz="1100" u="none" strike="noStrike" kern="1200">
                          <a:solidFill>
                            <a:schemeClr val="tx1"/>
                          </a:solidFill>
                          <a:effectLst/>
                          <a:latin typeface="Arial" panose="020B0604020202020204" pitchFamily="34" charset="0"/>
                          <a:ea typeface="+mn-ea"/>
                          <a:cs typeface="Arial" panose="020B0604020202020204" pitchFamily="34" charset="0"/>
                        </a:rPr>
                        <a:t>that supports my use</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High familiarity with Vx components</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Mfr. offers full meningococcal portfolio </a:t>
                      </a:r>
                      <a:br>
                        <a:rPr lang="en-US" sz="1100" u="none" strike="noStrike" kern="1200">
                          <a:solidFill>
                            <a:schemeClr val="tx1"/>
                          </a:solidFill>
                          <a:effectLst/>
                          <a:latin typeface="Arial" panose="020B0604020202020204" pitchFamily="34" charset="0"/>
                          <a:ea typeface="+mn-ea"/>
                          <a:cs typeface="Arial" panose="020B0604020202020204" pitchFamily="34" charset="0"/>
                        </a:rPr>
                      </a:br>
                      <a:r>
                        <a:rPr lang="en-US" sz="1100" u="none" strike="noStrike" kern="1200">
                          <a:solidFill>
                            <a:schemeClr val="tx1"/>
                          </a:solidFill>
                          <a:effectLst/>
                          <a:latin typeface="Arial" panose="020B0604020202020204" pitchFamily="34" charset="0"/>
                          <a:ea typeface="+mn-ea"/>
                          <a:cs typeface="Arial" panose="020B0604020202020204" pitchFamily="34" charset="0"/>
                        </a:rPr>
                        <a:t>of Vxs</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Mfr. trusted partner in pediatric and adolescent Vxs</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Aligns with manufacturer use most </a:t>
                      </a:r>
                      <a:br>
                        <a:rPr lang="en-US" sz="1100" u="none" strike="noStrike" kern="1200">
                          <a:solidFill>
                            <a:schemeClr val="tx1"/>
                          </a:solidFill>
                          <a:effectLst/>
                          <a:latin typeface="Arial" panose="020B0604020202020204" pitchFamily="34" charset="0"/>
                          <a:ea typeface="+mn-ea"/>
                          <a:cs typeface="Arial" panose="020B0604020202020204" pitchFamily="34" charset="0"/>
                        </a:rPr>
                      </a:br>
                      <a:r>
                        <a:rPr lang="en-US" sz="1100" u="none" strike="noStrike" kern="1200">
                          <a:solidFill>
                            <a:schemeClr val="tx1"/>
                          </a:solidFill>
                          <a:effectLst/>
                          <a:latin typeface="Arial" panose="020B0604020202020204" pitchFamily="34" charset="0"/>
                          <a:ea typeface="+mn-ea"/>
                          <a:cs typeface="Arial" panose="020B0604020202020204" pitchFamily="34" charset="0"/>
                        </a:rPr>
                        <a:t>for Vx purchases</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4000"/>
                        </a:lnSpc>
                        <a:spcBef>
                          <a:spcPts val="0"/>
                        </a:spcBef>
                        <a:spcAft>
                          <a:spcPts val="0"/>
                        </a:spcAft>
                        <a:buClrTx/>
                        <a:buSzTx/>
                        <a:buFontTx/>
                        <a:buNone/>
                        <a:tabLst/>
                        <a:defRPr/>
                      </a:pPr>
                      <a:r>
                        <a:rPr lang="en-US" sz="1100" u="none" strike="noStrike" kern="1200">
                          <a:solidFill>
                            <a:schemeClr val="tx1"/>
                          </a:solidFill>
                          <a:effectLst/>
                          <a:latin typeface="Arial" panose="020B0604020202020204" pitchFamily="34" charset="0"/>
                          <a:ea typeface="+mn-ea"/>
                          <a:cs typeface="Arial" panose="020B0604020202020204" pitchFamily="34" charset="0"/>
                        </a:rPr>
                        <a:t>Needle-free reconstitution</a:t>
                      </a:r>
                    </a:p>
                  </a:txBody>
                  <a:tcPr marL="7620" marR="7620" marT="762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17054992"/>
                  </a:ext>
                </a:extLst>
              </a:tr>
            </a:tbl>
          </a:graphicData>
        </a:graphic>
      </p:graphicFrame>
      <p:sp>
        <p:nvSpPr>
          <p:cNvPr id="32" name="Rectangle 31">
            <a:extLst>
              <a:ext uri="{FF2B5EF4-FFF2-40B4-BE49-F238E27FC236}">
                <a16:creationId xmlns:a16="http://schemas.microsoft.com/office/drawing/2014/main" id="{61AD0049-87AD-899F-D51A-1C9B4F55B447}"/>
              </a:ext>
            </a:extLst>
          </p:cNvPr>
          <p:cNvSpPr/>
          <p:nvPr/>
        </p:nvSpPr>
        <p:spPr bwMode="gray">
          <a:xfrm>
            <a:off x="839748" y="2288701"/>
            <a:ext cx="4107660" cy="2899344"/>
          </a:xfrm>
          <a:prstGeom prst="rect">
            <a:avLst/>
          </a:prstGeom>
          <a:noFill/>
          <a:ln w="19050" cap="flat" cmpd="sng" algn="ctr">
            <a:solidFill>
              <a:schemeClr val="tx1"/>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31" name="TextBox 30">
            <a:extLst>
              <a:ext uri="{FF2B5EF4-FFF2-40B4-BE49-F238E27FC236}">
                <a16:creationId xmlns:a16="http://schemas.microsoft.com/office/drawing/2014/main" id="{EFB0DC99-D681-E0F9-4D8C-3CAD4993F257}"/>
              </a:ext>
            </a:extLst>
          </p:cNvPr>
          <p:cNvSpPr txBox="1"/>
          <p:nvPr/>
        </p:nvSpPr>
        <p:spPr bwMode="gray">
          <a:xfrm>
            <a:off x="2005288" y="2159435"/>
            <a:ext cx="1783502" cy="258532"/>
          </a:xfrm>
          <a:prstGeom prst="rect">
            <a:avLst/>
          </a:prstGeom>
          <a:solidFill>
            <a:schemeClr val="bg1"/>
          </a:solidFill>
        </p:spPr>
        <p:txBody>
          <a:bodyPr wrap="none" lIns="45720" tIns="45720" rIns="45720" bIns="45720" rtlCol="0">
            <a:spAutoFit/>
          </a:bodyPr>
          <a:lstStyle/>
          <a:p>
            <a:pPr algn="l">
              <a:lnSpc>
                <a:spcPct val="90000"/>
              </a:lnSpc>
              <a:spcBef>
                <a:spcPts val="1000"/>
              </a:spcBef>
            </a:pPr>
            <a:r>
              <a:rPr lang="en-US" sz="1200" i="1"/>
              <a:t>Most important attributes</a:t>
            </a:r>
          </a:p>
        </p:txBody>
      </p:sp>
      <p:sp>
        <p:nvSpPr>
          <p:cNvPr id="3" name="Text Placeholder 2">
            <a:extLst>
              <a:ext uri="{FF2B5EF4-FFF2-40B4-BE49-F238E27FC236}">
                <a16:creationId xmlns:a16="http://schemas.microsoft.com/office/drawing/2014/main" id="{327ED6CA-2C92-D00E-DCAA-26D954F7C059}"/>
              </a:ext>
            </a:extLst>
          </p:cNvPr>
          <p:cNvSpPr>
            <a:spLocks noGrp="1"/>
          </p:cNvSpPr>
          <p:nvPr>
            <p:ph type="body" sz="quarter" idx="16"/>
          </p:nvPr>
        </p:nvSpPr>
        <p:spPr>
          <a:xfrm>
            <a:off x="1571625" y="6116139"/>
            <a:ext cx="9239250" cy="755591"/>
          </a:xfrm>
        </p:spPr>
        <p:txBody>
          <a:bodyPr/>
          <a:lstStyle/>
          <a:p>
            <a:pPr marL="630238" indent="-630238"/>
            <a:r>
              <a:rPr lang="en-US" baseline="30000">
                <a:solidFill>
                  <a:srgbClr val="FF0000"/>
                </a:solidFill>
              </a:rPr>
              <a:t>† </a:t>
            </a:r>
            <a:r>
              <a:rPr lang="en-US">
                <a:solidFill>
                  <a:srgbClr val="FF0000"/>
                </a:solidFill>
              </a:rPr>
              <a:t>Added in Sep‘25 </a:t>
            </a:r>
          </a:p>
          <a:p>
            <a:pPr marL="630238" indent="-630238"/>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Penmenvy s</a:t>
            </a:r>
            <a:r>
              <a:rPr lang="en-US">
                <a:solidFill>
                  <a:schemeClr val="tx1">
                    <a:lumMod val="50000"/>
                    <a:lumOff val="50000"/>
                  </a:schemeClr>
                </a:solidFill>
                <a:cs typeface="Arial" panose="020B0604020202020204" pitchFamily="34" charset="0"/>
              </a:rPr>
              <a:t>ignificantly higher/lower vs. unbranded (Vaccine X) perceptions in the prior wave </a:t>
            </a:r>
          </a:p>
          <a:p>
            <a:pPr marL="292100" indent="-292100"/>
            <a:r>
              <a:rPr lang="en-US"/>
              <a:t>X10.	If given a choice between two pentavalent vaccines for </a:t>
            </a:r>
            <a:r>
              <a:rPr lang="en-US" err="1"/>
              <a:t>MenABCWY</a:t>
            </a:r>
            <a:r>
              <a:rPr lang="en-US"/>
              <a:t>, how important would each of the following attributes be to your selection of a vaccine for patients 16-18 years of age? (7-pt scale: 1=Not at all important, 7=Extremely important)</a:t>
            </a:r>
          </a:p>
          <a:p>
            <a:pPr marL="292100" indent="-292100"/>
            <a:r>
              <a:rPr lang="en-US"/>
              <a:t>X11.	To what extent do you associate each </a:t>
            </a:r>
            <a:r>
              <a:rPr lang="en-US" err="1"/>
              <a:t>MenABCWY</a:t>
            </a:r>
            <a:r>
              <a:rPr lang="en-US"/>
              <a:t> pentavalent vaccine with the attribute below? (7-pt scale: 1=Not at all associated, 7=Extremely associated)</a:t>
            </a:r>
          </a:p>
        </p:txBody>
      </p:sp>
      <p:sp>
        <p:nvSpPr>
          <p:cNvPr id="9" name="TextBox 8">
            <a:extLst>
              <a:ext uri="{FF2B5EF4-FFF2-40B4-BE49-F238E27FC236}">
                <a16:creationId xmlns:a16="http://schemas.microsoft.com/office/drawing/2014/main" id="{CE6EB629-CAC3-B603-A9A4-3798F6995D3B}"/>
              </a:ext>
            </a:extLst>
          </p:cNvPr>
          <p:cNvSpPr txBox="1"/>
          <p:nvPr/>
        </p:nvSpPr>
        <p:spPr bwMode="gray">
          <a:xfrm>
            <a:off x="10786927" y="4956572"/>
            <a:ext cx="159659" cy="286232"/>
          </a:xfrm>
          <a:prstGeom prst="rect">
            <a:avLst/>
          </a:prstGeom>
        </p:spPr>
        <p:txBody>
          <a:bodyPr wrap="none" lIns="45720" tIns="45720" rIns="45720" bIns="45720" rtlCol="0">
            <a:spAutoFit/>
          </a:bodyPr>
          <a:lstStyle/>
          <a:p>
            <a:pPr algn="ctr">
              <a:lnSpc>
                <a:spcPct val="90000"/>
              </a:lnSpc>
              <a:spcAft>
                <a:spcPts val="400"/>
              </a:spcAft>
            </a:pPr>
            <a:r>
              <a:rPr lang="en-US" sz="1400" baseline="30000">
                <a:solidFill>
                  <a:srgbClr val="FF0000"/>
                </a:solidFill>
              </a:rPr>
              <a:t>†</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FB2C7087-FBDB-22BD-8F11-72011111F58B}"/>
              </a:ext>
            </a:extLst>
          </p:cNvPr>
          <p:cNvSpPr txBox="1"/>
          <p:nvPr/>
        </p:nvSpPr>
        <p:spPr bwMode="gray">
          <a:xfrm>
            <a:off x="5590108" y="5473753"/>
            <a:ext cx="392030" cy="3046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nSpc>
                <a:spcPct val="90000"/>
              </a:lnSpc>
            </a:pPr>
            <a:r>
              <a:rPr lang="en-US" sz="900">
                <a:solidFill>
                  <a:schemeClr val="tx1">
                    <a:lumMod val="50000"/>
                    <a:lumOff val="50000"/>
                  </a:schemeClr>
                </a:solidFill>
              </a:rPr>
              <a:t>PED &lt;</a:t>
            </a:r>
            <a:br>
              <a:rPr lang="en-US" sz="900">
                <a:solidFill>
                  <a:schemeClr val="tx1">
                    <a:lumMod val="50000"/>
                    <a:lumOff val="50000"/>
                  </a:schemeClr>
                </a:solidFill>
              </a:rPr>
            </a:br>
            <a:r>
              <a:rPr lang="en-US" sz="900">
                <a:solidFill>
                  <a:schemeClr val="tx1">
                    <a:lumMod val="50000"/>
                    <a:lumOff val="50000"/>
                  </a:schemeClr>
                </a:solidFill>
              </a:rPr>
              <a:t>PCP</a:t>
            </a:r>
          </a:p>
        </p:txBody>
      </p:sp>
      <p:sp>
        <p:nvSpPr>
          <p:cNvPr id="23" name="Text Placeholder 2">
            <a:extLst>
              <a:ext uri="{FF2B5EF4-FFF2-40B4-BE49-F238E27FC236}">
                <a16:creationId xmlns:a16="http://schemas.microsoft.com/office/drawing/2014/main" id="{89D32AD5-C1AE-1853-81CB-A6D2B18EA614}"/>
              </a:ext>
            </a:extLst>
          </p:cNvPr>
          <p:cNvSpPr txBox="1">
            <a:spLocks/>
          </p:cNvSpPr>
          <p:nvPr/>
        </p:nvSpPr>
        <p:spPr bwMode="gray">
          <a:xfrm flipV="1">
            <a:off x="1487004" y="5824104"/>
            <a:ext cx="12272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gn="ctr"/>
            <a:r>
              <a:rPr lang="en-US" altLang="en-US">
                <a:solidFill>
                  <a:srgbClr val="FF0000"/>
                </a:solidFill>
                <a:cs typeface="Arial" panose="020B0604020202020204" pitchFamily="34" charset="0"/>
                <a:sym typeface="Symbol" pitchFamily="18" charset="2"/>
              </a:rPr>
              <a:t></a:t>
            </a:r>
            <a:endParaRPr lang="en-US">
              <a:solidFill>
                <a:srgbClr val="FF0000"/>
              </a:solidFill>
            </a:endParaRPr>
          </a:p>
        </p:txBody>
      </p:sp>
      <p:sp>
        <p:nvSpPr>
          <p:cNvPr id="4" name="TextBox 3">
            <a:extLst>
              <a:ext uri="{FF2B5EF4-FFF2-40B4-BE49-F238E27FC236}">
                <a16:creationId xmlns:a16="http://schemas.microsoft.com/office/drawing/2014/main" id="{7B958C5F-1A17-7B7C-58C6-129B946F0D3E}"/>
              </a:ext>
            </a:extLst>
          </p:cNvPr>
          <p:cNvSpPr txBox="1"/>
          <p:nvPr/>
        </p:nvSpPr>
        <p:spPr bwMode="gray">
          <a:xfrm>
            <a:off x="8651310" y="1941023"/>
            <a:ext cx="159659" cy="286232"/>
          </a:xfrm>
          <a:prstGeom prst="rect">
            <a:avLst/>
          </a:prstGeom>
        </p:spPr>
        <p:txBody>
          <a:bodyPr wrap="none" lIns="45720" tIns="45720" rIns="45720" bIns="45720" rtlCol="0">
            <a:spAutoFit/>
          </a:bodyPr>
          <a:lstStyle/>
          <a:p>
            <a:pPr algn="ctr">
              <a:lnSpc>
                <a:spcPct val="90000"/>
              </a:lnSpc>
              <a:spcAft>
                <a:spcPts val="400"/>
              </a:spcAft>
            </a:pPr>
            <a:r>
              <a:rPr lang="en-US" sz="1400" baseline="30000">
                <a:solidFill>
                  <a:srgbClr val="FF0000"/>
                </a:solidFill>
              </a:rPr>
              <a:t>†</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47FD68C1-D9C8-FBCC-ED68-AD1F32390A7F}"/>
              </a:ext>
            </a:extLst>
          </p:cNvPr>
          <p:cNvSpPr txBox="1"/>
          <p:nvPr/>
        </p:nvSpPr>
        <p:spPr bwMode="gray">
          <a:xfrm>
            <a:off x="1121469" y="6014755"/>
            <a:ext cx="512961" cy="124650"/>
          </a:xfrm>
          <a:prstGeom prst="rect">
            <a:avLst/>
          </a:prstGeom>
          <a:solidFill>
            <a:schemeClr val="bg1"/>
          </a:solidFill>
        </p:spPr>
        <p:txBody>
          <a:bodyPr wrap="none" lIns="0" tIns="0" rIns="0" bIns="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(44% W4)</a:t>
            </a:r>
          </a:p>
        </p:txBody>
      </p:sp>
      <p:sp>
        <p:nvSpPr>
          <p:cNvPr id="26" name="TextBox 25">
            <a:extLst>
              <a:ext uri="{FF2B5EF4-FFF2-40B4-BE49-F238E27FC236}">
                <a16:creationId xmlns:a16="http://schemas.microsoft.com/office/drawing/2014/main" id="{8F708CEF-BB71-3DAC-97AE-9EBCF52DCE95}"/>
              </a:ext>
            </a:extLst>
          </p:cNvPr>
          <p:cNvSpPr txBox="1"/>
          <p:nvPr/>
        </p:nvSpPr>
        <p:spPr bwMode="gray">
          <a:xfrm>
            <a:off x="2103255" y="6014755"/>
            <a:ext cx="512961" cy="124650"/>
          </a:xfrm>
          <a:prstGeom prst="rect">
            <a:avLst/>
          </a:prstGeom>
          <a:solidFill>
            <a:schemeClr val="bg1"/>
          </a:solidFill>
        </p:spPr>
        <p:txBody>
          <a:bodyPr wrap="none" lIns="0" tIns="0" rIns="0" bIns="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(54% W4)</a:t>
            </a:r>
          </a:p>
        </p:txBody>
      </p:sp>
      <p:sp>
        <p:nvSpPr>
          <p:cNvPr id="27" name="TextBox 26">
            <a:extLst>
              <a:ext uri="{FF2B5EF4-FFF2-40B4-BE49-F238E27FC236}">
                <a16:creationId xmlns:a16="http://schemas.microsoft.com/office/drawing/2014/main" id="{F3462075-7E5B-F633-669A-2A1368C69155}"/>
              </a:ext>
            </a:extLst>
          </p:cNvPr>
          <p:cNvSpPr txBox="1"/>
          <p:nvPr/>
        </p:nvSpPr>
        <p:spPr bwMode="gray">
          <a:xfrm>
            <a:off x="4139319" y="6014755"/>
            <a:ext cx="512961" cy="124650"/>
          </a:xfrm>
          <a:prstGeom prst="rect">
            <a:avLst/>
          </a:prstGeom>
          <a:solidFill>
            <a:schemeClr val="bg1"/>
          </a:solidFill>
        </p:spPr>
        <p:txBody>
          <a:bodyPr wrap="none" lIns="0" tIns="0" rIns="0" bIns="0" rtlCol="0">
            <a:spAutoFit/>
          </a:bodyPr>
          <a:lstStyle/>
          <a:p>
            <a:pPr marL="0" marR="0" indent="0" algn="l" defTabSz="914400" rtl="0" eaLnBrk="1" fontAlgn="auto" latinLnBrk="0" hangingPunct="1">
              <a:lnSpc>
                <a:spcPct val="90000"/>
              </a:lnSpc>
              <a:spcBef>
                <a:spcPts val="0"/>
              </a:spcBef>
              <a:spcAft>
                <a:spcPts val="400"/>
              </a:spcAft>
              <a:buClrTx/>
              <a:buSzTx/>
              <a:buFontTx/>
              <a:buNone/>
              <a:tabLst/>
            </a:pPr>
            <a:r>
              <a:rPr kumimoji="0" lang="en-US" sz="90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rPr>
              <a:t>(47% W4)</a:t>
            </a:r>
          </a:p>
        </p:txBody>
      </p:sp>
    </p:spTree>
    <p:extLst>
      <p:ext uri="{BB962C8B-B14F-4D97-AF65-F5344CB8AC3E}">
        <p14:creationId xmlns:p14="http://schemas.microsoft.com/office/powerpoint/2010/main" val="104085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 name="Rectangle: Rounded Corners 94">
            <a:extLst>
              <a:ext uri="{FF2B5EF4-FFF2-40B4-BE49-F238E27FC236}">
                <a16:creationId xmlns:a16="http://schemas.microsoft.com/office/drawing/2014/main" id="{C85A2EC3-2262-60E4-1387-981ACC18AF3A}"/>
              </a:ext>
            </a:extLst>
          </p:cNvPr>
          <p:cNvSpPr/>
          <p:nvPr/>
        </p:nvSpPr>
        <p:spPr bwMode="gray">
          <a:xfrm>
            <a:off x="132079" y="1361438"/>
            <a:ext cx="11897847" cy="4704832"/>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 name="Title 1">
            <a:extLst>
              <a:ext uri="{FF2B5EF4-FFF2-40B4-BE49-F238E27FC236}">
                <a16:creationId xmlns:a16="http://schemas.microsoft.com/office/drawing/2014/main" id="{7DA77824-07A9-D5D7-AC5D-56418159929C}"/>
              </a:ext>
            </a:extLst>
          </p:cNvPr>
          <p:cNvSpPr>
            <a:spLocks noGrp="1"/>
          </p:cNvSpPr>
          <p:nvPr>
            <p:ph type="title"/>
          </p:nvPr>
        </p:nvSpPr>
        <p:spPr/>
        <p:txBody>
          <a:bodyPr/>
          <a:lstStyle/>
          <a:p>
            <a:r>
              <a:rPr lang="en-US" dirty="0"/>
              <a:t>Penbraya Stockers rate Penbraya significantly higher than Non-Stockers on several attributes including </a:t>
            </a:r>
            <a:r>
              <a:rPr lang="en-US" i="1" dirty="0"/>
              <a:t>robust clinical development data, cost, contracting, familiarity, Vx portfolio</a:t>
            </a:r>
          </a:p>
        </p:txBody>
      </p:sp>
      <p:sp>
        <p:nvSpPr>
          <p:cNvPr id="3" name="Text Placeholder 2">
            <a:extLst>
              <a:ext uri="{FF2B5EF4-FFF2-40B4-BE49-F238E27FC236}">
                <a16:creationId xmlns:a16="http://schemas.microsoft.com/office/drawing/2014/main" id="{EDC752AA-970B-CC84-0799-D7D0DC89C7F3}"/>
              </a:ext>
            </a:extLst>
          </p:cNvPr>
          <p:cNvSpPr>
            <a:spLocks noGrp="1"/>
          </p:cNvSpPr>
          <p:nvPr>
            <p:ph type="body" sz="quarter" idx="16"/>
          </p:nvPr>
        </p:nvSpPr>
        <p:spPr>
          <a:xfrm>
            <a:off x="1571625" y="6210308"/>
            <a:ext cx="8494395" cy="630942"/>
          </a:xfrm>
        </p:spPr>
        <p:txBody>
          <a:bodyPr/>
          <a:lstStyle/>
          <a:p>
            <a:r>
              <a:rPr lang="en-US" baseline="30000" dirty="0">
                <a:solidFill>
                  <a:srgbClr val="FF0000"/>
                </a:solidFill>
              </a:rPr>
              <a:t>† </a:t>
            </a:r>
            <a:r>
              <a:rPr lang="en-US" dirty="0">
                <a:solidFill>
                  <a:srgbClr val="FF0000"/>
                </a:solidFill>
              </a:rPr>
              <a:t>Added in Sep‘25 </a:t>
            </a:r>
          </a:p>
          <a:p>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sym typeface="Symbol" pitchFamily="18" charset="2"/>
              </a:rPr>
              <a:t>/</a:t>
            </a:r>
            <a:r>
              <a:rPr lang="en-US" altLang="en-US" dirty="0">
                <a:solidFill>
                  <a:srgbClr val="FF0000"/>
                </a:solidFill>
                <a:cs typeface="Arial" panose="020B0604020202020204" pitchFamily="34" charset="0"/>
                <a:sym typeface="Symbol" pitchFamily="18" charset="2"/>
              </a:rPr>
              <a:t></a:t>
            </a:r>
            <a:r>
              <a:rPr lang="en-US" altLang="en-US" dirty="0">
                <a:cs typeface="Arial" panose="020B0604020202020204" pitchFamily="34" charset="0"/>
              </a:rPr>
              <a:t> </a:t>
            </a:r>
            <a:r>
              <a:rPr lang="en-US" dirty="0">
                <a:cs typeface="Arial" panose="020B0604020202020204" pitchFamily="34" charset="0"/>
              </a:rPr>
              <a:t>= </a:t>
            </a:r>
            <a:r>
              <a:rPr lang="en-US" dirty="0">
                <a:solidFill>
                  <a:schemeClr val="tx1">
                    <a:lumMod val="50000"/>
                    <a:lumOff val="50000"/>
                  </a:schemeClr>
                </a:solidFill>
                <a:cs typeface="Arial" panose="020B0604020202020204" pitchFamily="34" charset="0"/>
              </a:rPr>
              <a:t>Significantly higher/lower vs. unbranded (Vaccine X) perceptions in the prior wave </a:t>
            </a:r>
          </a:p>
          <a:p>
            <a:r>
              <a:rPr lang="en-US" dirty="0">
                <a:solidFill>
                  <a:srgbClr val="FF0000"/>
                </a:solidFill>
                <a:sym typeface="Wingdings 3" panose="05040102010807070707" pitchFamily="18" charset="2"/>
              </a:rPr>
              <a:t></a:t>
            </a:r>
            <a:r>
              <a:rPr lang="en-US" dirty="0">
                <a:sym typeface="Wingdings 3" panose="05040102010807070707" pitchFamily="18" charset="2"/>
              </a:rPr>
              <a:t>/</a:t>
            </a:r>
            <a:r>
              <a:rPr lang="en-US" dirty="0">
                <a:solidFill>
                  <a:srgbClr val="FF0000"/>
                </a:solidFill>
                <a:sym typeface="Wingdings 3" panose="05040102010807070707" pitchFamily="18" charset="2"/>
              </a:rPr>
              <a:t></a:t>
            </a:r>
            <a:r>
              <a:rPr lang="en-US" dirty="0">
                <a:sym typeface="Wingdings 3" panose="05040102010807070707" pitchFamily="18" charset="2"/>
              </a:rPr>
              <a:t> = Penbraya significantly higher/lower than </a:t>
            </a:r>
            <a:r>
              <a:rPr lang="en-US" dirty="0" err="1">
                <a:sym typeface="Wingdings 3" panose="05040102010807070707" pitchFamily="18" charset="2"/>
              </a:rPr>
              <a:t>Penmenvy</a:t>
            </a:r>
            <a:endParaRPr lang="en-US" dirty="0">
              <a:sym typeface="Wingdings 3" panose="05040102010807070707" pitchFamily="18" charset="2"/>
            </a:endParaRPr>
          </a:p>
          <a:p>
            <a:r>
              <a:rPr lang="en-US" dirty="0"/>
              <a:t>X11. To what extent do you associate each </a:t>
            </a:r>
            <a:r>
              <a:rPr lang="en-US" dirty="0" err="1"/>
              <a:t>MenABCWY</a:t>
            </a:r>
            <a:r>
              <a:rPr lang="en-US" dirty="0"/>
              <a:t> pentavalent vaccine with the attribute below? (7-pt scale: 1=Not at all associated, 7=Extremely associated)</a:t>
            </a:r>
          </a:p>
        </p:txBody>
      </p:sp>
      <p:sp>
        <p:nvSpPr>
          <p:cNvPr id="92" name="TextBox 91">
            <a:extLst>
              <a:ext uri="{FF2B5EF4-FFF2-40B4-BE49-F238E27FC236}">
                <a16:creationId xmlns:a16="http://schemas.microsoft.com/office/drawing/2014/main" id="{0437B2D1-9F94-DA46-7B15-85818ABE0681}"/>
              </a:ext>
            </a:extLst>
          </p:cNvPr>
          <p:cNvSpPr txBox="1"/>
          <p:nvPr/>
        </p:nvSpPr>
        <p:spPr bwMode="gray">
          <a:xfrm>
            <a:off x="2546986" y="1416916"/>
            <a:ext cx="7094854" cy="725327"/>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Association of Brands with Vaccine Attributes</a:t>
            </a:r>
            <a:br>
              <a:rPr kumimoji="0" lang="en-US" sz="1800" b="1" i="0" u="none" strike="noStrike" kern="1200" cap="none" spc="0" normalizeH="0" baseline="0" noProof="0">
                <a:ln>
                  <a:noFill/>
                </a:ln>
                <a:solidFill>
                  <a:schemeClr val="bg1">
                    <a:lumMod val="50000"/>
                  </a:schemeClr>
                </a:solidFill>
                <a:effectLst/>
                <a:uLnTx/>
                <a:uFillTx/>
                <a:latin typeface="Arial" panose="020B0604020202020204"/>
                <a:ea typeface="+mn-ea"/>
                <a:cs typeface="+mn-cs"/>
              </a:rPr>
            </a:br>
            <a:r>
              <a:rPr kumimoji="0" lang="en-US" sz="1400" b="0" u="none" strike="noStrike" kern="1200" cap="none" spc="0" normalizeH="0" baseline="0" noProof="0">
                <a:ln>
                  <a:noFill/>
                </a:ln>
                <a:solidFill>
                  <a:schemeClr val="bg1">
                    <a:lumMod val="50000"/>
                  </a:schemeClr>
                </a:solidFill>
                <a:effectLst/>
                <a:uLnTx/>
                <a:uFillTx/>
                <a:latin typeface="Arial" panose="020B0604020202020204"/>
                <a:ea typeface="+mn-ea"/>
                <a:cs typeface="+mn-cs"/>
              </a:rPr>
              <a:t>% Highly Associated (T2B)</a:t>
            </a:r>
            <a:endParaRPr kumimoji="0" lang="en-US" sz="1000" b="0" u="none" strike="noStrike" kern="1200" cap="none" spc="0" normalizeH="0" baseline="0" noProof="0">
              <a:ln>
                <a:noFill/>
              </a:ln>
              <a:solidFill>
                <a:schemeClr val="bg1">
                  <a:lumMod val="50000"/>
                </a:schemeClr>
              </a:solidFill>
              <a:effectLst/>
              <a:uLnTx/>
              <a:uFillTx/>
              <a:latin typeface="Arial" panose="020B0604020202020204"/>
              <a:ea typeface="+mn-ea"/>
              <a:cs typeface="+mn-cs"/>
            </a:endParaRP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p>
        </p:txBody>
      </p:sp>
      <p:grpSp>
        <p:nvGrpSpPr>
          <p:cNvPr id="5" name="Group 4">
            <a:extLst>
              <a:ext uri="{FF2B5EF4-FFF2-40B4-BE49-F238E27FC236}">
                <a16:creationId xmlns:a16="http://schemas.microsoft.com/office/drawing/2014/main" id="{792E2108-EAB2-B105-F219-8047E4853045}"/>
              </a:ext>
            </a:extLst>
          </p:cNvPr>
          <p:cNvGrpSpPr/>
          <p:nvPr/>
        </p:nvGrpSpPr>
        <p:grpSpPr>
          <a:xfrm>
            <a:off x="246872" y="1415493"/>
            <a:ext cx="650178" cy="608372"/>
            <a:chOff x="1686341" y="1600319"/>
            <a:chExt cx="650178" cy="608372"/>
          </a:xfrm>
        </p:grpSpPr>
        <p:cxnSp>
          <p:nvCxnSpPr>
            <p:cNvPr id="6" name="Straight Connector 5">
              <a:extLst>
                <a:ext uri="{FF2B5EF4-FFF2-40B4-BE49-F238E27FC236}">
                  <a16:creationId xmlns:a16="http://schemas.microsoft.com/office/drawing/2014/main" id="{8DCFE18C-7EE1-D6D4-B5FA-F3A3ED7A097B}"/>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7" name="TextBox 6">
              <a:extLst>
                <a:ext uri="{FF2B5EF4-FFF2-40B4-BE49-F238E27FC236}">
                  <a16:creationId xmlns:a16="http://schemas.microsoft.com/office/drawing/2014/main" id="{228CCC90-9338-9AC0-1D0E-7AF1881F65D7}"/>
                </a:ext>
              </a:extLst>
            </p:cNvPr>
            <p:cNvSpPr txBox="1"/>
            <p:nvPr/>
          </p:nvSpPr>
          <p:spPr bwMode="gray">
            <a:xfrm>
              <a:off x="1686341" y="1600319"/>
              <a:ext cx="650178" cy="60837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graphicFrame>
        <p:nvGraphicFramePr>
          <p:cNvPr id="25" name="Table 24">
            <a:extLst>
              <a:ext uri="{FF2B5EF4-FFF2-40B4-BE49-F238E27FC236}">
                <a16:creationId xmlns:a16="http://schemas.microsoft.com/office/drawing/2014/main" id="{C1573EF3-7646-71D8-1609-47B1D007FE7F}"/>
              </a:ext>
            </a:extLst>
          </p:cNvPr>
          <p:cNvGraphicFramePr>
            <a:graphicFrameLocks noGrp="1"/>
          </p:cNvGraphicFramePr>
          <p:nvPr>
            <p:extLst>
              <p:ext uri="{D42A27DB-BD31-4B8C-83A1-F6EECF244321}">
                <p14:modId xmlns:p14="http://schemas.microsoft.com/office/powerpoint/2010/main" val="10453977"/>
              </p:ext>
            </p:extLst>
          </p:nvPr>
        </p:nvGraphicFramePr>
        <p:xfrm>
          <a:off x="204396" y="2498738"/>
          <a:ext cx="11737676" cy="3512668"/>
        </p:xfrm>
        <a:graphic>
          <a:graphicData uri="http://schemas.openxmlformats.org/drawingml/2006/table">
            <a:tbl>
              <a:tblPr firstRow="1" bandRow="1">
                <a:tableStyleId>{F5AB1C69-6EDB-4FF4-983F-18BD219EF322}</a:tableStyleId>
              </a:tblPr>
              <a:tblGrid>
                <a:gridCol w="3599516">
                  <a:extLst>
                    <a:ext uri="{9D8B030D-6E8A-4147-A177-3AD203B41FA5}">
                      <a16:colId xmlns:a16="http://schemas.microsoft.com/office/drawing/2014/main" val="3264863121"/>
                    </a:ext>
                  </a:extLst>
                </a:gridCol>
                <a:gridCol w="640080">
                  <a:extLst>
                    <a:ext uri="{9D8B030D-6E8A-4147-A177-3AD203B41FA5}">
                      <a16:colId xmlns:a16="http://schemas.microsoft.com/office/drawing/2014/main" val="1317157910"/>
                    </a:ext>
                  </a:extLst>
                </a:gridCol>
                <a:gridCol w="640080">
                  <a:extLst>
                    <a:ext uri="{9D8B030D-6E8A-4147-A177-3AD203B41FA5}">
                      <a16:colId xmlns:a16="http://schemas.microsoft.com/office/drawing/2014/main" val="1469452096"/>
                    </a:ext>
                  </a:extLst>
                </a:gridCol>
                <a:gridCol w="685800">
                  <a:extLst>
                    <a:ext uri="{9D8B030D-6E8A-4147-A177-3AD203B41FA5}">
                      <a16:colId xmlns:a16="http://schemas.microsoft.com/office/drawing/2014/main" val="3339639127"/>
                    </a:ext>
                  </a:extLst>
                </a:gridCol>
                <a:gridCol w="731520">
                  <a:extLst>
                    <a:ext uri="{9D8B030D-6E8A-4147-A177-3AD203B41FA5}">
                      <a16:colId xmlns:a16="http://schemas.microsoft.com/office/drawing/2014/main" val="1100190988"/>
                    </a:ext>
                  </a:extLst>
                </a:gridCol>
                <a:gridCol w="640080">
                  <a:extLst>
                    <a:ext uri="{9D8B030D-6E8A-4147-A177-3AD203B41FA5}">
                      <a16:colId xmlns:a16="http://schemas.microsoft.com/office/drawing/2014/main" val="3878499506"/>
                    </a:ext>
                  </a:extLst>
                </a:gridCol>
                <a:gridCol w="640080">
                  <a:extLst>
                    <a:ext uri="{9D8B030D-6E8A-4147-A177-3AD203B41FA5}">
                      <a16:colId xmlns:a16="http://schemas.microsoft.com/office/drawing/2014/main" val="1373900244"/>
                    </a:ext>
                  </a:extLst>
                </a:gridCol>
                <a:gridCol w="182880">
                  <a:extLst>
                    <a:ext uri="{9D8B030D-6E8A-4147-A177-3AD203B41FA5}">
                      <a16:colId xmlns:a16="http://schemas.microsoft.com/office/drawing/2014/main" val="848772654"/>
                    </a:ext>
                  </a:extLst>
                </a:gridCol>
                <a:gridCol w="640080">
                  <a:extLst>
                    <a:ext uri="{9D8B030D-6E8A-4147-A177-3AD203B41FA5}">
                      <a16:colId xmlns:a16="http://schemas.microsoft.com/office/drawing/2014/main" val="145118920"/>
                    </a:ext>
                  </a:extLst>
                </a:gridCol>
                <a:gridCol w="640080">
                  <a:extLst>
                    <a:ext uri="{9D8B030D-6E8A-4147-A177-3AD203B41FA5}">
                      <a16:colId xmlns:a16="http://schemas.microsoft.com/office/drawing/2014/main" val="1782731227"/>
                    </a:ext>
                  </a:extLst>
                </a:gridCol>
                <a:gridCol w="685800">
                  <a:extLst>
                    <a:ext uri="{9D8B030D-6E8A-4147-A177-3AD203B41FA5}">
                      <a16:colId xmlns:a16="http://schemas.microsoft.com/office/drawing/2014/main" val="3801513591"/>
                    </a:ext>
                  </a:extLst>
                </a:gridCol>
                <a:gridCol w="731520">
                  <a:extLst>
                    <a:ext uri="{9D8B030D-6E8A-4147-A177-3AD203B41FA5}">
                      <a16:colId xmlns:a16="http://schemas.microsoft.com/office/drawing/2014/main" val="1218080308"/>
                    </a:ext>
                  </a:extLst>
                </a:gridCol>
                <a:gridCol w="640080">
                  <a:extLst>
                    <a:ext uri="{9D8B030D-6E8A-4147-A177-3AD203B41FA5}">
                      <a16:colId xmlns:a16="http://schemas.microsoft.com/office/drawing/2014/main" val="2884562504"/>
                    </a:ext>
                  </a:extLst>
                </a:gridCol>
                <a:gridCol w="640080">
                  <a:extLst>
                    <a:ext uri="{9D8B030D-6E8A-4147-A177-3AD203B41FA5}">
                      <a16:colId xmlns:a16="http://schemas.microsoft.com/office/drawing/2014/main" val="310354275"/>
                    </a:ext>
                  </a:extLst>
                </a:gridCol>
              </a:tblGrid>
              <a:tr h="389556">
                <a:tc>
                  <a:txBody>
                    <a:bodyPr/>
                    <a:lstStyle/>
                    <a:p>
                      <a:pPr algn="l" defTabSz="936625">
                        <a:tabLst>
                          <a:tab pos="4630738" algn="ctr"/>
                        </a:tabLst>
                      </a:pPr>
                      <a:r>
                        <a:rPr lang="en-US" sz="1400" b="1">
                          <a:solidFill>
                            <a:schemeClr val="tx1"/>
                          </a:solidFill>
                          <a:latin typeface="+mn-lt"/>
                        </a:rPr>
                        <a:t>	</a:t>
                      </a:r>
                      <a:endParaRPr lang="en-US" sz="1400" b="0" baseline="55000">
                        <a:solidFill>
                          <a:schemeClr val="tx1"/>
                        </a:solidFill>
                        <a:latin typeface="+mn-lt"/>
                      </a:endParaRPr>
                    </a:p>
                  </a:txBody>
                  <a:tcPr marL="0" marR="0" marT="0" marB="0" anchor="b">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PED</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A</a:t>
                      </a:r>
                      <a:endParaRPr lang="en-US" sz="1000" b="0" baseline="35000">
                        <a:solidFill>
                          <a:srgbClr val="595959"/>
                        </a:solidFill>
                        <a:latin typeface="+mn-lt"/>
                      </a:endParaRPr>
                    </a:p>
                  </a:txBody>
                  <a:tcPr marL="0" marR="0" marT="0" marB="0" anchor="b">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PCP</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B</a:t>
                      </a:r>
                      <a:endParaRPr lang="en-US" sz="1800" b="0" baseline="3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90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PenbrayaStocker</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S</a:t>
                      </a:r>
                      <a:endParaRPr lang="en-US" sz="1000" b="0" baseline="35000">
                        <a:solidFill>
                          <a:srgbClr val="595959"/>
                        </a:solidFill>
                        <a:latin typeface="+mn-lt"/>
                      </a:endParaRPr>
                    </a:p>
                  </a:txBody>
                  <a:tcPr marL="0" marR="0" marT="0" marB="0" anchor="b">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Non-</a:t>
                      </a:r>
                      <a:br>
                        <a:rPr lang="en-US" sz="1100" b="1">
                          <a:solidFill>
                            <a:schemeClr val="tx1"/>
                          </a:solidFill>
                          <a:latin typeface="+mn-lt"/>
                        </a:rPr>
                      </a:br>
                      <a:r>
                        <a:rPr lang="en-US" sz="1100" b="1">
                          <a:solidFill>
                            <a:schemeClr val="tx1"/>
                          </a:solidFill>
                          <a:latin typeface="+mn-lt"/>
                        </a:rPr>
                        <a:t>Stocker</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N</a:t>
                      </a:r>
                      <a:endParaRPr lang="en-US" sz="1800" b="0" baseline="3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90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High Public</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P</a:t>
                      </a:r>
                      <a:endParaRPr lang="en-US" sz="1000" b="0" baseline="35000">
                        <a:solidFill>
                          <a:srgbClr val="595959"/>
                        </a:solidFill>
                        <a:latin typeface="+mn-lt"/>
                      </a:endParaRPr>
                    </a:p>
                  </a:txBody>
                  <a:tcPr marL="0" marR="0" marT="0" marB="0" anchor="b">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Others</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O</a:t>
                      </a:r>
                      <a:endParaRPr lang="en-US" sz="1800" b="0" baseline="3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90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endParaRPr lang="en-US" sz="1800" b="0" baseline="55000">
                        <a:solidFill>
                          <a:schemeClr val="accent2">
                            <a:lumMod val="50000"/>
                          </a:schemeClr>
                        </a:solidFill>
                        <a:latin typeface="+mn-lt"/>
                      </a:endParaRPr>
                    </a:p>
                  </a:txBody>
                  <a:tcPr marL="0" marR="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PED</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A</a:t>
                      </a:r>
                      <a:endParaRPr lang="en-US" sz="1000" b="0" baseline="35000">
                        <a:solidFill>
                          <a:srgbClr val="595959"/>
                        </a:solidFill>
                        <a:latin typeface="+mn-lt"/>
                      </a:endParaRPr>
                    </a:p>
                  </a:txBody>
                  <a:tcPr marL="0" marR="0" marT="0" marB="0" anchor="b">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PCP</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B</a:t>
                      </a:r>
                      <a:endParaRPr lang="en-US" sz="1800" b="0" baseline="3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PenbrayaStocker</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S</a:t>
                      </a:r>
                      <a:endParaRPr lang="en-US" sz="1000" b="0" baseline="35000">
                        <a:solidFill>
                          <a:srgbClr val="595959"/>
                        </a:solidFill>
                        <a:latin typeface="+mn-lt"/>
                      </a:endParaRPr>
                    </a:p>
                  </a:txBody>
                  <a:tcPr marL="0" marR="0" marT="0" marB="0" anchor="b">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Non-</a:t>
                      </a:r>
                      <a:br>
                        <a:rPr lang="en-US" sz="1100" b="1">
                          <a:solidFill>
                            <a:schemeClr val="tx1"/>
                          </a:solidFill>
                          <a:latin typeface="+mn-lt"/>
                        </a:rPr>
                      </a:br>
                      <a:r>
                        <a:rPr lang="en-US" sz="1100" b="1">
                          <a:solidFill>
                            <a:schemeClr val="tx1"/>
                          </a:solidFill>
                          <a:latin typeface="+mn-lt"/>
                        </a:rPr>
                        <a:t>Stocker</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N</a:t>
                      </a:r>
                      <a:endParaRPr lang="en-US" sz="1800" b="0" baseline="3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High Public</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P</a:t>
                      </a:r>
                      <a:endParaRPr lang="en-US" sz="1000" b="0" baseline="35000">
                        <a:solidFill>
                          <a:srgbClr val="595959"/>
                        </a:solidFill>
                        <a:latin typeface="+mn-lt"/>
                      </a:endParaRPr>
                    </a:p>
                  </a:txBody>
                  <a:tcPr marL="0" marR="0" marT="0" marB="0" anchor="b">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US" sz="1100" b="1">
                          <a:solidFill>
                            <a:schemeClr val="tx1"/>
                          </a:solidFill>
                          <a:latin typeface="+mn-lt"/>
                        </a:rPr>
                        <a:t>Others</a:t>
                      </a:r>
                      <a:r>
                        <a:rPr lang="en-US" sz="1000" baseline="20000">
                          <a:solidFill>
                            <a:srgbClr val="7F7F7F"/>
                          </a:solidFill>
                          <a:latin typeface="+mn-lt"/>
                          <a:cs typeface="Arial"/>
                        </a:rPr>
                        <a:t> </a:t>
                      </a:r>
                      <a:r>
                        <a:rPr kumimoji="0" lang="en-US" sz="1200" b="0" i="0" u="none" strike="noStrike" kern="1200" cap="none" spc="0" normalizeH="0" baseline="15000" noProof="0">
                          <a:ln>
                            <a:noFill/>
                          </a:ln>
                          <a:solidFill>
                            <a:srgbClr val="595959"/>
                          </a:solidFill>
                          <a:effectLst/>
                          <a:uLnTx/>
                          <a:uFillTx/>
                          <a:latin typeface="+mn-lt"/>
                          <a:ea typeface="+mn-ea"/>
                          <a:cs typeface="+mn-cs"/>
                        </a:rPr>
                        <a:t>|</a:t>
                      </a:r>
                      <a:r>
                        <a:rPr kumimoji="0" lang="en-US" sz="1000" b="0" i="0" u="none" strike="noStrike" kern="1200" cap="none" spc="0" normalizeH="0" baseline="20000" noProof="0">
                          <a:ln>
                            <a:noFill/>
                          </a:ln>
                          <a:solidFill>
                            <a:srgbClr val="000000">
                              <a:lumMod val="65000"/>
                              <a:lumOff val="35000"/>
                            </a:srgbClr>
                          </a:solidFill>
                          <a:effectLst/>
                          <a:uLnTx/>
                          <a:uFillTx/>
                          <a:latin typeface="+mn-lt"/>
                          <a:ea typeface="+mn-ea"/>
                          <a:cs typeface="+mn-cs"/>
                        </a:rPr>
                        <a:t> </a:t>
                      </a:r>
                      <a:r>
                        <a:rPr kumimoji="0" lang="en-US" sz="1000" b="0" i="0" u="none" strike="noStrike" kern="1200" cap="none" spc="0" normalizeH="0" baseline="35000" noProof="0">
                          <a:ln>
                            <a:noFill/>
                          </a:ln>
                          <a:solidFill>
                            <a:srgbClr val="595959"/>
                          </a:solidFill>
                          <a:effectLst/>
                          <a:uLnTx/>
                          <a:uFillTx/>
                          <a:latin typeface="+mn-lt"/>
                          <a:ea typeface="+mn-ea"/>
                          <a:cs typeface="+mn-cs"/>
                        </a:rPr>
                        <a:t>O</a:t>
                      </a:r>
                      <a:endParaRPr lang="en-US" sz="1800" b="0" baseline="35000">
                        <a:solidFill>
                          <a:schemeClr val="accent2">
                            <a:lumMod val="50000"/>
                          </a:schemeClr>
                        </a:solidFill>
                        <a:latin typeface="+mn-lt"/>
                      </a:endParaRPr>
                    </a:p>
                  </a:txBody>
                  <a:tcPr marL="0" marR="0" marT="0" marB="0" anchor="b">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9050" cap="flat" cmpd="sng" algn="ctr">
                      <a:solidFill>
                        <a:srgbClr val="937DAD"/>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785626216"/>
                  </a:ext>
                </a:extLst>
              </a:tr>
              <a:tr h="206176">
                <a:tc>
                  <a:txBody>
                    <a:bodyPr/>
                    <a:lstStyle/>
                    <a:p>
                      <a:pPr algn="l" defTabSz="936625">
                        <a:tabLst>
                          <a:tab pos="4630738" algn="ctr"/>
                        </a:tabLst>
                      </a:pPr>
                      <a:endParaRPr lang="en-US" sz="1400" b="0" baseline="55000">
                        <a:solidFill>
                          <a:schemeClr val="tx1"/>
                        </a:solidFill>
                        <a:latin typeface="+mn-lt"/>
                      </a:endParaRPr>
                    </a:p>
                  </a:txBody>
                  <a:tcPr marL="0" marR="0" marT="0" marB="0" anchor="b">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(n=160)</a:t>
                      </a:r>
                    </a:p>
                  </a:txBody>
                  <a:tcPr marL="0" marR="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(n=40)</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(n=34)</a:t>
                      </a:r>
                    </a:p>
                  </a:txBody>
                  <a:tcPr marL="0" marR="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(n=164)</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(n=43)</a:t>
                      </a:r>
                    </a:p>
                  </a:txBody>
                  <a:tcPr marL="0" marR="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(n=157)</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a:txBody>
                  <a:tcPr marL="0" marR="0" marT="0" marB="0" anchor="ctr">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(n=160)</a:t>
                      </a:r>
                    </a:p>
                  </a:txBody>
                  <a:tcPr marL="0" marR="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(n=40)</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(n=34)</a:t>
                      </a:r>
                    </a:p>
                  </a:txBody>
                  <a:tcPr marL="0" marR="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(n=164)</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(n=43)</a:t>
                      </a:r>
                    </a:p>
                  </a:txBody>
                  <a:tcPr marL="0" marR="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1000"/>
                        </a:spcBef>
                        <a:spcAft>
                          <a:spcPts val="0"/>
                        </a:spcAft>
                        <a:buClrTx/>
                        <a:buSzTx/>
                        <a:buFontTx/>
                        <a:buNone/>
                        <a:tabLst>
                          <a:tab pos="457063"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(n=157)</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98111506"/>
                  </a:ext>
                </a:extLst>
              </a:tr>
              <a:tr h="265176">
                <a:tc>
                  <a:txBody>
                    <a:bodyPr/>
                    <a:lstStyle/>
                    <a:p>
                      <a:pPr algn="r" fontAlgn="b"/>
                      <a:r>
                        <a:rPr lang="en-US" sz="1100" b="0" i="0" u="none" strike="noStrike">
                          <a:solidFill>
                            <a:schemeClr val="tx1"/>
                          </a:solidFill>
                          <a:effectLst/>
                          <a:latin typeface="+mn-lt"/>
                        </a:rPr>
                        <a:t>Robust clinical development data</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55%</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55%</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71%</a:t>
                      </a:r>
                      <a:r>
                        <a:rPr lang="en-US" sz="1100" b="1" i="0" u="none" strike="noStrike" kern="1200" baseline="10000">
                          <a:solidFill>
                            <a:schemeClr val="tx1"/>
                          </a:solidFill>
                          <a:effectLst/>
                          <a:latin typeface="Arial" panose="020B0604020202020204" pitchFamily="34" charset="0"/>
                          <a:ea typeface="+mn-ea"/>
                          <a:cs typeface="+mn-cs"/>
                        </a:rPr>
                        <a:t>N</a:t>
                      </a:r>
                      <a:endParaRPr lang="en-US" sz="1100" b="1" i="0" u="none" strike="noStrike" kern="1200">
                        <a:solidFill>
                          <a:schemeClr val="tx1"/>
                        </a:solidFill>
                        <a:effectLst/>
                        <a:latin typeface="Arial" panose="020B0604020202020204" pitchFamily="34" charset="0"/>
                        <a:ea typeface="+mn-ea"/>
                        <a:cs typeface="+mn-cs"/>
                      </a:endParaRP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52%</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51%</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56%</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fontAlgn="b">
                        <a:buNone/>
                      </a:pPr>
                      <a:endParaRPr lang="en-US" sz="1000" b="0" i="0" u="none" strike="noStrike">
                        <a:solidFill>
                          <a:srgbClr val="000000"/>
                        </a:solidFill>
                        <a:effectLst/>
                        <a:latin typeface="Arial" panose="020B0604020202020204" pitchFamily="34" charset="0"/>
                      </a:endParaRPr>
                    </a:p>
                  </a:txBody>
                  <a:tcPr marL="7620" marR="762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61%</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79%</a:t>
                      </a:r>
                      <a:r>
                        <a:rPr lang="en-US" sz="1100" b="1" i="0" u="none" strike="noStrike" kern="1200" baseline="10000">
                          <a:solidFill>
                            <a:schemeClr val="tx1"/>
                          </a:solidFill>
                          <a:effectLst/>
                          <a:latin typeface="Arial" panose="020B0604020202020204" pitchFamily="34" charset="0"/>
                          <a:ea typeface="+mn-ea"/>
                          <a:cs typeface="+mn-cs"/>
                        </a:rPr>
                        <a:t>N</a:t>
                      </a:r>
                      <a:endParaRPr lang="en-US" sz="1100" b="1" i="0" u="none" strike="noStrike" kern="1200">
                        <a:solidFill>
                          <a:schemeClr val="tx1"/>
                        </a:solidFill>
                        <a:effectLst/>
                        <a:latin typeface="Arial" panose="020B0604020202020204" pitchFamily="34" charset="0"/>
                        <a:ea typeface="+mn-ea"/>
                        <a:cs typeface="+mn-cs"/>
                      </a:endParaRP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57%</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60%</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61%</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49553244"/>
                  </a:ext>
                </a:extLst>
              </a:tr>
              <a:tr h="265176">
                <a:tc>
                  <a:txBody>
                    <a:bodyPr/>
                    <a:lstStyle/>
                    <a:p>
                      <a:pPr algn="r" fontAlgn="b"/>
                      <a:r>
                        <a:rPr lang="en-US" sz="1100" b="0" i="0" u="none" strike="noStrike">
                          <a:solidFill>
                            <a:schemeClr val="tx1"/>
                          </a:solidFill>
                          <a:effectLst/>
                          <a:latin typeface="+mn-lt"/>
                        </a:rPr>
                        <a:t>Clinically demonstrated coverage diverse MenB strains</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63%</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68%</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61%</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70%</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61%</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rial" panose="020B0604020202020204" pitchFamily="34" charset="0"/>
                      </a:endParaRPr>
                    </a:p>
                  </a:txBody>
                  <a:tcPr marL="7620" marR="762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59%</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74%</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57%</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53%</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62%</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00659004"/>
                  </a:ext>
                </a:extLst>
              </a:tr>
              <a:tr h="265176">
                <a:tc>
                  <a:txBody>
                    <a:bodyPr/>
                    <a:lstStyle/>
                    <a:p>
                      <a:pPr algn="r" fontAlgn="b"/>
                      <a:r>
                        <a:rPr lang="en-US" sz="1100" b="0" i="0" u="none" strike="noStrike">
                          <a:solidFill>
                            <a:schemeClr val="tx1"/>
                          </a:solidFill>
                          <a:effectLst/>
                          <a:latin typeface="+mn-lt"/>
                        </a:rPr>
                        <a:t>Included in VFC program</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fontAlgn="t">
                        <a:buNone/>
                      </a:pPr>
                      <a:endParaRPr lang="en-US" sz="1000" b="0" i="0" u="none" strike="noStrike">
                        <a:solidFill>
                          <a:srgbClr val="000000"/>
                        </a:solidFill>
                        <a:effectLst/>
                        <a:latin typeface="Arial" panose="020B0604020202020204" pitchFamily="34" charset="0"/>
                      </a:endParaRPr>
                    </a:p>
                  </a:txBody>
                  <a:tcPr marL="7620" marR="7620" marT="0" marB="0">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57%</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55%</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68%</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54%</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70%</a:t>
                      </a:r>
                      <a:r>
                        <a:rPr lang="en-US" sz="1100" b="1" i="0" u="none" strike="noStrike" kern="1200" baseline="10000">
                          <a:solidFill>
                            <a:schemeClr val="tx1"/>
                          </a:solidFill>
                          <a:effectLst/>
                          <a:latin typeface="Arial" panose="020B0604020202020204" pitchFamily="34" charset="0"/>
                          <a:ea typeface="+mn-ea"/>
                          <a:cs typeface="+mn-cs"/>
                        </a:rPr>
                        <a:t>O</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49236311"/>
                  </a:ext>
                </a:extLst>
              </a:tr>
              <a:tr h="265176">
                <a:tc>
                  <a:txBody>
                    <a:bodyPr/>
                    <a:lstStyle/>
                    <a:p>
                      <a:pPr algn="r" fontAlgn="b"/>
                      <a:r>
                        <a:rPr lang="en-US" sz="1100" b="0" i="0" u="none" strike="noStrike">
                          <a:solidFill>
                            <a:schemeClr val="tx1"/>
                          </a:solidFill>
                          <a:effectLst/>
                          <a:latin typeface="+mn-lt"/>
                        </a:rPr>
                        <a:t>Built on well-established meningococcal Vxs</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56%</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55%</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62%</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54%</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49%</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58%</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rial" panose="020B0604020202020204" pitchFamily="34" charset="0"/>
                      </a:endParaRPr>
                    </a:p>
                  </a:txBody>
                  <a:tcPr marL="7620" marR="762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63%</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58%</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71%</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60%</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53%</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64%</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10966140"/>
                  </a:ext>
                </a:extLst>
              </a:tr>
              <a:tr h="265176">
                <a:tc>
                  <a:txBody>
                    <a:bodyPr/>
                    <a:lstStyle/>
                    <a:p>
                      <a:pPr algn="r" fontAlgn="b"/>
                      <a:r>
                        <a:rPr lang="en-US" sz="1100" b="0" i="0" u="none" strike="noStrike">
                          <a:solidFill>
                            <a:schemeClr val="tx1"/>
                          </a:solidFill>
                          <a:effectLst/>
                          <a:latin typeface="+mn-lt"/>
                        </a:rPr>
                        <a:t>Positive net acquisition cost implications / lower list price</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23%</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28%</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35%</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21%</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23%</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24%</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fontAlgn="b">
                        <a:buNone/>
                      </a:pPr>
                      <a:endParaRPr lang="en-US" sz="1000" b="0" i="0" u="none" strike="noStrike">
                        <a:solidFill>
                          <a:srgbClr val="000000"/>
                        </a:solidFill>
                        <a:effectLst/>
                        <a:latin typeface="Arial" panose="020B0604020202020204" pitchFamily="34" charset="0"/>
                      </a:endParaRPr>
                    </a:p>
                  </a:txBody>
                  <a:tcPr marL="7620" marR="762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18%</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38%</a:t>
                      </a:r>
                      <a:r>
                        <a:rPr lang="en-US" sz="1100" b="1" i="0" u="none" strike="noStrike" kern="1200" baseline="10000">
                          <a:solidFill>
                            <a:schemeClr val="tx1"/>
                          </a:solidFill>
                          <a:effectLst/>
                          <a:latin typeface="Arial" panose="020B0604020202020204" pitchFamily="34" charset="0"/>
                          <a:ea typeface="+mn-ea"/>
                          <a:cs typeface="+mn-cs"/>
                        </a:rPr>
                        <a:t>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44%</a:t>
                      </a:r>
                      <a:r>
                        <a:rPr lang="en-US" sz="1100" b="1" i="0" u="none" strike="noStrike" kern="1200" baseline="10000">
                          <a:solidFill>
                            <a:schemeClr val="tx1"/>
                          </a:solidFill>
                          <a:effectLst/>
                          <a:latin typeface="Arial" panose="020B0604020202020204" pitchFamily="34" charset="0"/>
                          <a:ea typeface="+mn-ea"/>
                          <a:cs typeface="+mn-cs"/>
                        </a:rPr>
                        <a:t>N</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17%</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26%</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21%</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81783187"/>
                  </a:ext>
                </a:extLst>
              </a:tr>
              <a:tr h="265176">
                <a:tc>
                  <a:txBody>
                    <a:bodyPr/>
                    <a:lstStyle/>
                    <a:p>
                      <a:pPr algn="r" fontAlgn="b"/>
                      <a:r>
                        <a:rPr lang="en-US" sz="1100" b="0" i="0" u="none" strike="noStrike">
                          <a:solidFill>
                            <a:schemeClr val="tx1"/>
                          </a:solidFill>
                          <a:effectLst/>
                          <a:latin typeface="+mn-lt"/>
                        </a:rPr>
                        <a:t>Mfr. offers contracting that supports my use</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Arial" panose="020B0604020202020204" pitchFamily="34" charset="0"/>
                      </a:endParaRPr>
                    </a:p>
                  </a:txBody>
                  <a:tcPr marL="7620" marR="7620" marT="0" marB="0">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31%</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30%</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50%</a:t>
                      </a:r>
                      <a:r>
                        <a:rPr lang="en-US" sz="1100" b="1" i="0" u="none" strike="noStrike" kern="1200" baseline="10000">
                          <a:solidFill>
                            <a:schemeClr val="tx1"/>
                          </a:solidFill>
                          <a:effectLst/>
                          <a:latin typeface="Arial" panose="020B0604020202020204" pitchFamily="34" charset="0"/>
                          <a:ea typeface="+mn-ea"/>
                          <a:cs typeface="+mn-cs"/>
                        </a:rPr>
                        <a:t>N</a:t>
                      </a:r>
                      <a:endParaRPr lang="en-US" sz="1100" b="1" i="0" u="none" strike="noStrike" kern="1200">
                        <a:solidFill>
                          <a:schemeClr val="tx1"/>
                        </a:solidFill>
                        <a:effectLst/>
                        <a:latin typeface="Arial" panose="020B0604020202020204" pitchFamily="34" charset="0"/>
                        <a:ea typeface="+mn-ea"/>
                        <a:cs typeface="+mn-cs"/>
                      </a:endParaRP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27%</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37%</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29%</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35187661"/>
                  </a:ext>
                </a:extLst>
              </a:tr>
              <a:tr h="265176">
                <a:tc>
                  <a:txBody>
                    <a:bodyPr/>
                    <a:lstStyle/>
                    <a:p>
                      <a:pPr algn="r" fontAlgn="b"/>
                      <a:r>
                        <a:rPr lang="en-US" sz="1100" b="0" i="0" u="none" strike="noStrike">
                          <a:solidFill>
                            <a:schemeClr val="tx1"/>
                          </a:solidFill>
                          <a:effectLst/>
                          <a:latin typeface="+mn-lt"/>
                        </a:rPr>
                        <a:t>High familiarity with Vx components</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46%</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35%</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47%</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42%</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44%</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fontAlgn="b">
                        <a:buNone/>
                      </a:pPr>
                      <a:endParaRPr lang="en-US" sz="1000" b="0" i="0" u="none" strike="noStrike">
                        <a:solidFill>
                          <a:srgbClr val="000000"/>
                        </a:solidFill>
                        <a:effectLst/>
                        <a:latin typeface="Arial" panose="020B0604020202020204" pitchFamily="34" charset="0"/>
                      </a:endParaRPr>
                    </a:p>
                  </a:txBody>
                  <a:tcPr marL="7620" marR="762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49%</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48%</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65%</a:t>
                      </a:r>
                      <a:r>
                        <a:rPr lang="en-US" sz="1100" b="1" i="0" u="none" strike="noStrike" kern="1200" baseline="10000">
                          <a:solidFill>
                            <a:schemeClr val="tx1"/>
                          </a:solidFill>
                          <a:effectLst/>
                          <a:latin typeface="Arial" panose="020B0604020202020204" pitchFamily="34" charset="0"/>
                          <a:ea typeface="+mn-ea"/>
                          <a:cs typeface="+mn-cs"/>
                        </a:rPr>
                        <a:t>N</a:t>
                      </a:r>
                      <a:endParaRPr lang="en-US" sz="1100" b="1" i="0" u="none" strike="noStrike" kern="1200">
                        <a:solidFill>
                          <a:schemeClr val="tx1"/>
                        </a:solidFill>
                        <a:effectLst/>
                        <a:latin typeface="Arial" panose="020B0604020202020204" pitchFamily="34" charset="0"/>
                        <a:ea typeface="+mn-ea"/>
                        <a:cs typeface="+mn-cs"/>
                      </a:endParaRP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45%</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44%</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50%</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26741438"/>
                  </a:ext>
                </a:extLst>
              </a:tr>
              <a:tr h="265176">
                <a:tc>
                  <a:txBody>
                    <a:bodyPr/>
                    <a:lstStyle/>
                    <a:p>
                      <a:pPr algn="r" fontAlgn="b"/>
                      <a:r>
                        <a:rPr lang="en-US" sz="1100" b="0" i="0" u="none" strike="noStrike">
                          <a:solidFill>
                            <a:schemeClr val="tx1"/>
                          </a:solidFill>
                          <a:effectLst/>
                          <a:latin typeface="+mn-lt"/>
                        </a:rPr>
                        <a:t>Mfr. offers full meningococcal portfolio of Vxs</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Arial" panose="020B0604020202020204" pitchFamily="34" charset="0"/>
                      </a:endParaRPr>
                    </a:p>
                  </a:txBody>
                  <a:tcPr marL="7620" marR="7620" marT="0" marB="0">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55%</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45%</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68%</a:t>
                      </a:r>
                      <a:r>
                        <a:rPr lang="en-US" sz="1100" b="1" i="0" u="none" strike="noStrike" kern="1200" baseline="10000">
                          <a:solidFill>
                            <a:schemeClr val="tx1"/>
                          </a:solidFill>
                          <a:effectLst/>
                          <a:latin typeface="Arial" panose="020B0604020202020204" pitchFamily="34" charset="0"/>
                          <a:ea typeface="+mn-ea"/>
                          <a:cs typeface="+mn-cs"/>
                        </a:rPr>
                        <a:t>N</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50%</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53%</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62653248"/>
                  </a:ext>
                </a:extLst>
              </a:tr>
              <a:tr h="265176">
                <a:tc>
                  <a:txBody>
                    <a:bodyPr/>
                    <a:lstStyle/>
                    <a:p>
                      <a:pPr algn="r" fontAlgn="b"/>
                      <a:r>
                        <a:rPr lang="en-US" sz="1100" b="0" i="0" u="none" strike="noStrike">
                          <a:solidFill>
                            <a:schemeClr val="tx1"/>
                          </a:solidFill>
                          <a:effectLst/>
                          <a:latin typeface="+mn-lt"/>
                        </a:rPr>
                        <a:t>Mfr. trusted partner in pediatric and adolescent Vxs</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kern="1200" noProof="0">
                          <a:solidFill>
                            <a:schemeClr val="tx1">
                              <a:lumMod val="50000"/>
                              <a:lumOff val="50000"/>
                            </a:schemeClr>
                          </a:solidFill>
                          <a:effectLst/>
                          <a:latin typeface="Arial" panose="020B0604020202020204" pitchFamily="34" charset="0"/>
                          <a:ea typeface="+mn-ea"/>
                          <a:cs typeface="+mn-cs"/>
                        </a:rPr>
                        <a:t>n/a</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fontAlgn="t">
                        <a:buNone/>
                      </a:pPr>
                      <a:endParaRPr lang="en-US" sz="1000" b="0" i="0" u="none" strike="noStrike">
                        <a:solidFill>
                          <a:srgbClr val="000000"/>
                        </a:solidFill>
                        <a:effectLst/>
                        <a:latin typeface="Arial" panose="020B0604020202020204" pitchFamily="34" charset="0"/>
                      </a:endParaRPr>
                    </a:p>
                  </a:txBody>
                  <a:tcPr marL="7620" marR="7620" marT="0" marB="0">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64%</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58%</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68%</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62%</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56%</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64%</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0108236"/>
                  </a:ext>
                </a:extLst>
              </a:tr>
              <a:tr h="265176">
                <a:tc>
                  <a:txBody>
                    <a:bodyPr/>
                    <a:lstStyle/>
                    <a:p>
                      <a:pPr algn="r" fontAlgn="b"/>
                      <a:r>
                        <a:rPr lang="en-US" sz="1100" b="0" i="0" u="none" strike="noStrike">
                          <a:solidFill>
                            <a:schemeClr val="tx1"/>
                          </a:solidFill>
                          <a:effectLst/>
                          <a:latin typeface="+mn-lt"/>
                        </a:rPr>
                        <a:t>Aligns with manufacturer use most for Vx purchases</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40%</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47%</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37%</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35%</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39%</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rial" panose="020B0604020202020204" pitchFamily="34" charset="0"/>
                      </a:endParaRPr>
                    </a:p>
                  </a:txBody>
                  <a:tcPr marL="7620" marR="762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32%</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35%</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44%</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30%</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40%</a:t>
                      </a: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31%</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302731"/>
                  </a:ext>
                </a:extLst>
              </a:tr>
              <a:tr h="265176">
                <a:tc>
                  <a:txBody>
                    <a:bodyPr/>
                    <a:lstStyle/>
                    <a:p>
                      <a:pPr algn="r" fontAlgn="b"/>
                      <a:r>
                        <a:rPr lang="en-US" sz="1100" b="0" i="0" u="none" strike="noStrike">
                          <a:solidFill>
                            <a:schemeClr val="tx1"/>
                          </a:solidFill>
                          <a:effectLst/>
                          <a:latin typeface="+mn-lt"/>
                        </a:rPr>
                        <a:t>Needle-free reconstitution</a:t>
                      </a:r>
                    </a:p>
                  </a:txBody>
                  <a:tcPr marL="7620" marT="0" marB="0" anchor="ctr">
                    <a:lnL w="12700" cap="flat" cmpd="sng" algn="ctr">
                      <a:no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30%</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33%</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35%</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30%</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37%</a:t>
                      </a:r>
                    </a:p>
                  </a:txBody>
                  <a:tcPr marL="7620" marR="7620" marT="0" marB="0" anchor="ctr">
                    <a:lnL w="19050" cap="flat" cmpd="sng" algn="ctr">
                      <a:solidFill>
                        <a:schemeClr val="accent6"/>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29%</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accent6"/>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solidFill>
                      <a:prstDash val="solid"/>
                      <a:round/>
                      <a:headEnd type="none" w="med" len="med"/>
                      <a:tailEnd type="none" w="med" len="med"/>
                    </a:lnB>
                    <a:solidFill>
                      <a:schemeClr val="bg1">
                        <a:lumMod val="95000"/>
                      </a:schemeClr>
                    </a:solidFill>
                  </a:tcPr>
                </a:tc>
                <a:tc>
                  <a:txBody>
                    <a:bodyPr/>
                    <a:lstStyle/>
                    <a:p>
                      <a:pPr algn="l" fontAlgn="b">
                        <a:buNone/>
                      </a:pPr>
                      <a:endParaRPr lang="en-US" sz="1000" b="0" i="0" u="none" strike="noStrike">
                        <a:solidFill>
                          <a:srgbClr val="000000"/>
                        </a:solidFill>
                        <a:effectLst/>
                        <a:latin typeface="Arial" panose="020B0604020202020204" pitchFamily="34" charset="0"/>
                      </a:endParaRPr>
                    </a:p>
                  </a:txBody>
                  <a:tcPr marL="7620" marR="7620" marT="0" marB="0" anchor="b">
                    <a:lnL w="19050" cap="flat" cmpd="sng" algn="ctr">
                      <a:solidFill>
                        <a:schemeClr val="accent6"/>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49%</a:t>
                      </a:r>
                      <a:r>
                        <a:rPr lang="en-US" sz="1100">
                          <a:solidFill>
                            <a:srgbClr val="FF0000"/>
                          </a:solidFill>
                          <a:sym typeface="Wingdings 3" panose="05040102010807070707" pitchFamily="18" charset="2"/>
                        </a:rPr>
                        <a:t></a:t>
                      </a:r>
                      <a:endParaRPr lang="en-US" sz="1100" b="0" i="0" u="none" strike="noStrike" kern="1200">
                        <a:solidFill>
                          <a:schemeClr val="tx1">
                            <a:lumMod val="50000"/>
                            <a:lumOff val="50000"/>
                          </a:schemeClr>
                        </a:solidFill>
                        <a:effectLst/>
                        <a:latin typeface="Arial" panose="020B0604020202020204" pitchFamily="34" charset="0"/>
                        <a:ea typeface="+mn-ea"/>
                        <a:cs typeface="+mn-cs"/>
                      </a:endParaRP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937DAD"/>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0" i="0" u="none" strike="noStrike" kern="1200">
                          <a:solidFill>
                            <a:schemeClr val="tx1">
                              <a:lumMod val="50000"/>
                              <a:lumOff val="50000"/>
                            </a:schemeClr>
                          </a:solidFill>
                          <a:effectLst/>
                          <a:latin typeface="Arial" panose="020B0604020202020204" pitchFamily="34" charset="0"/>
                          <a:ea typeface="+mn-ea"/>
                          <a:cs typeface="+mn-cs"/>
                        </a:rPr>
                        <a:t>38%</a:t>
                      </a: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937DAD"/>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65%</a:t>
                      </a:r>
                      <a:r>
                        <a:rPr lang="en-US" sz="1100" b="1" i="0" u="none" strike="noStrike" kern="1200" baseline="10000">
                          <a:solidFill>
                            <a:schemeClr val="tx1"/>
                          </a:solidFill>
                          <a:effectLst/>
                          <a:latin typeface="Arial" panose="020B0604020202020204" pitchFamily="34" charset="0"/>
                          <a:ea typeface="+mn-ea"/>
                          <a:cs typeface="+mn-cs"/>
                        </a:rPr>
                        <a:t>N</a:t>
                      </a:r>
                      <a:r>
                        <a:rPr lang="en-US" sz="1100">
                          <a:solidFill>
                            <a:srgbClr val="FF0000"/>
                          </a:solidFill>
                          <a:sym typeface="Wingdings 3" panose="05040102010807070707" pitchFamily="18" charset="2"/>
                        </a:rPr>
                        <a:t></a:t>
                      </a:r>
                      <a:endParaRPr lang="en-US" sz="1100" b="0" i="0" u="none" strike="noStrike" kern="1200">
                        <a:solidFill>
                          <a:schemeClr val="tx1">
                            <a:lumMod val="50000"/>
                            <a:lumOff val="50000"/>
                          </a:schemeClr>
                        </a:solidFill>
                        <a:effectLst/>
                        <a:latin typeface="Arial" panose="020B0604020202020204" pitchFamily="34" charset="0"/>
                        <a:ea typeface="+mn-ea"/>
                        <a:cs typeface="+mn-cs"/>
                      </a:endParaRP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937DAD"/>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43%</a:t>
                      </a:r>
                      <a:r>
                        <a:rPr lang="en-US" sz="1100">
                          <a:solidFill>
                            <a:srgbClr val="FF0000"/>
                          </a:solidFill>
                          <a:sym typeface="Wingdings 3" panose="05040102010807070707" pitchFamily="18" charset="2"/>
                        </a:rPr>
                        <a:t></a:t>
                      </a:r>
                      <a:endParaRPr lang="en-US" sz="1100" b="0" i="0" u="none" strike="noStrike" kern="1200">
                        <a:solidFill>
                          <a:schemeClr val="tx1">
                            <a:lumMod val="50000"/>
                            <a:lumOff val="50000"/>
                          </a:schemeClr>
                        </a:solidFill>
                        <a:effectLst/>
                        <a:latin typeface="Arial" panose="020B0604020202020204" pitchFamily="34" charset="0"/>
                        <a:ea typeface="+mn-ea"/>
                        <a:cs typeface="+mn-cs"/>
                      </a:endParaRP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937DAD"/>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56%</a:t>
                      </a:r>
                      <a:endParaRPr lang="en-US" sz="1100" b="0" i="0" u="none" strike="noStrike" kern="1200">
                        <a:solidFill>
                          <a:schemeClr val="tx1">
                            <a:lumMod val="50000"/>
                            <a:lumOff val="50000"/>
                          </a:schemeClr>
                        </a:solidFill>
                        <a:effectLst/>
                        <a:latin typeface="Arial" panose="020B0604020202020204" pitchFamily="34" charset="0"/>
                        <a:ea typeface="+mn-ea"/>
                        <a:cs typeface="+mn-cs"/>
                      </a:endParaRPr>
                    </a:p>
                  </a:txBody>
                  <a:tcPr marL="7620" marR="7620" marT="0" marB="0" anchor="ctr">
                    <a:lnL w="19050" cap="flat" cmpd="sng" algn="ctr">
                      <a:solidFill>
                        <a:srgbClr val="937DAD"/>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937DAD"/>
                      </a:solidFill>
                      <a:prstDash val="solid"/>
                      <a:round/>
                      <a:headEnd type="none" w="med" len="med"/>
                      <a:tailEnd type="none" w="med" len="med"/>
                    </a:lnB>
                    <a:solidFill>
                      <a:schemeClr val="bg1">
                        <a:lumMod val="95000"/>
                      </a:schemeClr>
                    </a:solidFill>
                  </a:tcPr>
                </a:tc>
                <a:tc>
                  <a:txBody>
                    <a:bodyPr/>
                    <a:lstStyle/>
                    <a:p>
                      <a:pPr marL="0" algn="ctr" defTabSz="914400" rtl="0" eaLnBrk="1" fontAlgn="t" latinLnBrk="0" hangingPunct="1">
                        <a:buNone/>
                      </a:pPr>
                      <a:r>
                        <a:rPr lang="en-US" sz="1100" b="1" i="0" u="none" strike="noStrike" kern="1200">
                          <a:solidFill>
                            <a:schemeClr val="tx1"/>
                          </a:solidFill>
                          <a:effectLst/>
                          <a:latin typeface="Arial" panose="020B0604020202020204" pitchFamily="34" charset="0"/>
                          <a:ea typeface="+mn-ea"/>
                          <a:cs typeface="+mn-cs"/>
                        </a:rPr>
                        <a:t>44%</a:t>
                      </a:r>
                      <a:r>
                        <a:rPr lang="en-US" sz="1100">
                          <a:solidFill>
                            <a:srgbClr val="FF0000"/>
                          </a:solidFill>
                          <a:sym typeface="Wingdings 3" panose="05040102010807070707" pitchFamily="18" charset="2"/>
                        </a:rPr>
                        <a:t></a:t>
                      </a:r>
                      <a:endParaRPr lang="en-US" sz="1100" b="0" i="0" u="none" strike="noStrike" kern="1200">
                        <a:solidFill>
                          <a:schemeClr val="tx1">
                            <a:lumMod val="50000"/>
                            <a:lumOff val="50000"/>
                          </a:schemeClr>
                        </a:solidFill>
                        <a:effectLst/>
                        <a:latin typeface="Arial" panose="020B0604020202020204" pitchFamily="34" charset="0"/>
                        <a:ea typeface="+mn-ea"/>
                        <a:cs typeface="+mn-cs"/>
                      </a:endParaRPr>
                    </a:p>
                  </a:txBody>
                  <a:tcPr marL="7620" marR="7620" marT="0" marB="0" anchor="ctr">
                    <a:lnL w="12700" cap="flat" cmpd="sng" algn="ctr">
                      <a:solidFill>
                        <a:schemeClr val="bg1">
                          <a:lumMod val="85000"/>
                        </a:schemeClr>
                      </a:solidFill>
                      <a:prstDash val="solid"/>
                      <a:round/>
                      <a:headEnd type="none" w="med" len="med"/>
                      <a:tailEnd type="none" w="med" len="med"/>
                    </a:lnL>
                    <a:lnR w="19050" cap="flat" cmpd="sng" algn="ctr">
                      <a:solidFill>
                        <a:srgbClr val="937DAD"/>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rgbClr val="937DAD"/>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97168993"/>
                  </a:ext>
                </a:extLst>
              </a:tr>
            </a:tbl>
          </a:graphicData>
        </a:graphic>
      </p:graphicFrame>
      <p:pic>
        <p:nvPicPr>
          <p:cNvPr id="27" name="Picture 2" descr="Penbraya / Пенбрайя (вакцина против менингококковой инфекции)">
            <a:extLst>
              <a:ext uri="{FF2B5EF4-FFF2-40B4-BE49-F238E27FC236}">
                <a16:creationId xmlns:a16="http://schemas.microsoft.com/office/drawing/2014/main" id="{70107FD0-9FA9-F445-6E46-4A339D679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0027" y="1991419"/>
            <a:ext cx="2054572" cy="640080"/>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121C1C66-E815-E66D-E1C4-9312E9B77967}"/>
              </a:ext>
            </a:extLst>
          </p:cNvPr>
          <p:cNvSpPr txBox="1"/>
          <p:nvPr/>
        </p:nvSpPr>
        <p:spPr bwMode="gray">
          <a:xfrm>
            <a:off x="85061" y="1125274"/>
            <a:ext cx="1098378"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C9"/>
                </a:solidFill>
                <a:effectLst/>
                <a:uLnTx/>
                <a:uFillTx/>
                <a:latin typeface="Arial" panose="020B0604020202020204"/>
                <a:ea typeface="+mn-ea"/>
                <a:cs typeface="+mn-cs"/>
              </a:rPr>
              <a:t>By Segments</a:t>
            </a:r>
          </a:p>
        </p:txBody>
      </p:sp>
      <p:sp>
        <p:nvSpPr>
          <p:cNvPr id="4" name="TextBox 3">
            <a:extLst>
              <a:ext uri="{FF2B5EF4-FFF2-40B4-BE49-F238E27FC236}">
                <a16:creationId xmlns:a16="http://schemas.microsoft.com/office/drawing/2014/main" id="{DB4B1494-2157-D8DA-70FC-AB1A49EC6DEA}"/>
              </a:ext>
            </a:extLst>
          </p:cNvPr>
          <p:cNvSpPr txBox="1"/>
          <p:nvPr/>
        </p:nvSpPr>
        <p:spPr bwMode="gray">
          <a:xfrm>
            <a:off x="3657485" y="5475870"/>
            <a:ext cx="159659" cy="286232"/>
          </a:xfrm>
          <a:prstGeom prst="rect">
            <a:avLst/>
          </a:prstGeom>
        </p:spPr>
        <p:txBody>
          <a:bodyPr wrap="none" lIns="45720" tIns="45720" rIns="45720" bIns="45720" rtlCol="0">
            <a:spAutoFit/>
          </a:bodyPr>
          <a:lstStyle/>
          <a:p>
            <a:pPr algn="ctr">
              <a:lnSpc>
                <a:spcPct val="90000"/>
              </a:lnSpc>
              <a:spcAft>
                <a:spcPts val="400"/>
              </a:spcAft>
            </a:pPr>
            <a:r>
              <a:rPr lang="en-US" sz="1400" baseline="30000">
                <a:solidFill>
                  <a:srgbClr val="FF0000"/>
                </a:solidFill>
              </a:rPr>
              <a:t>†</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pic>
        <p:nvPicPr>
          <p:cNvPr id="10" name="Picture 9" descr="A close up of a sign&#10;&#10;AI-generated content may be incorrect.">
            <a:extLst>
              <a:ext uri="{FF2B5EF4-FFF2-40B4-BE49-F238E27FC236}">
                <a16:creationId xmlns:a16="http://schemas.microsoft.com/office/drawing/2014/main" id="{C7045235-4F92-E2BF-740D-A0DCA6DE5349}"/>
              </a:ext>
            </a:extLst>
          </p:cNvPr>
          <p:cNvPicPr>
            <a:picLocks noChangeAspect="1"/>
          </p:cNvPicPr>
          <p:nvPr/>
        </p:nvPicPr>
        <p:blipFill>
          <a:blip r:embed="rId4"/>
          <a:stretch>
            <a:fillRect/>
          </a:stretch>
        </p:blipFill>
        <p:spPr>
          <a:xfrm>
            <a:off x="5252439" y="2138386"/>
            <a:ext cx="1072003" cy="320040"/>
          </a:xfrm>
          <a:prstGeom prst="rect">
            <a:avLst/>
          </a:prstGeom>
        </p:spPr>
      </p:pic>
      <p:sp>
        <p:nvSpPr>
          <p:cNvPr id="9" name="Text Placeholder 2">
            <a:extLst>
              <a:ext uri="{FF2B5EF4-FFF2-40B4-BE49-F238E27FC236}">
                <a16:creationId xmlns:a16="http://schemas.microsoft.com/office/drawing/2014/main" id="{F9A66291-B8C9-95F4-303D-BF657A48E1FF}"/>
              </a:ext>
            </a:extLst>
          </p:cNvPr>
          <p:cNvSpPr txBox="1">
            <a:spLocks/>
          </p:cNvSpPr>
          <p:nvPr/>
        </p:nvSpPr>
        <p:spPr bwMode="gray">
          <a:xfrm>
            <a:off x="7553234" y="3148683"/>
            <a:ext cx="15875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p>
        </p:txBody>
      </p:sp>
      <p:sp>
        <p:nvSpPr>
          <p:cNvPr id="11" name="Text Placeholder 2">
            <a:extLst>
              <a:ext uri="{FF2B5EF4-FFF2-40B4-BE49-F238E27FC236}">
                <a16:creationId xmlns:a16="http://schemas.microsoft.com/office/drawing/2014/main" id="{A4B8EA80-38E4-D078-7918-D70A709948EC}"/>
              </a:ext>
            </a:extLst>
          </p:cNvPr>
          <p:cNvSpPr txBox="1">
            <a:spLocks/>
          </p:cNvSpPr>
          <p:nvPr/>
        </p:nvSpPr>
        <p:spPr bwMode="gray">
          <a:xfrm>
            <a:off x="4855688" y="3939258"/>
            <a:ext cx="158751" cy="180049"/>
          </a:xfrm>
          <a:prstGeom prst="rect">
            <a:avLst/>
          </a:prstGeom>
        </p:spPr>
        <p:txBody>
          <a:bodyPr vert="horz" wrap="square" lIns="45720" tIns="27432" rIns="45720" bIns="27432" rtlCol="0" anchor="b" anchorCtr="0">
            <a:spAutoFit/>
          </a:bodyPr>
          <a:lstStyle>
            <a:lvl1pPr marL="0" indent="0" algn="l" defTabSz="914400" rtl="0" eaLnBrk="1" latinLnBrk="0" hangingPunct="1">
              <a:lnSpc>
                <a:spcPct val="90000"/>
              </a:lnSpc>
              <a:spcBef>
                <a:spcPts val="200"/>
              </a:spcBef>
              <a:buClrTx/>
              <a:buSzPct val="100000"/>
              <a:buFont typeface="Arial" panose="020B0604020202020204" pitchFamily="34" charset="0"/>
              <a:buNone/>
              <a:defRPr lang="en-US" sz="900" kern="1200">
                <a:solidFill>
                  <a:schemeClr val="bg1">
                    <a:lumMod val="50000"/>
                  </a:schemeClr>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a:solidFill>
                  <a:srgbClr val="FF0000"/>
                </a:solidFill>
                <a:cs typeface="Arial" panose="020B0604020202020204" pitchFamily="34" charset="0"/>
                <a:sym typeface="Symbol" pitchFamily="18" charset="2"/>
              </a:rPr>
              <a:t></a:t>
            </a:r>
            <a:endParaRPr lang="en-US"/>
          </a:p>
        </p:txBody>
      </p:sp>
    </p:spTree>
    <p:extLst>
      <p:ext uri="{BB962C8B-B14F-4D97-AF65-F5344CB8AC3E}">
        <p14:creationId xmlns:p14="http://schemas.microsoft.com/office/powerpoint/2010/main" val="187666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1D1B1-27EA-2BD4-9789-4E19D9C2C09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2E8601-E37D-5577-6C44-46137E8CAD25}"/>
              </a:ext>
            </a:extLst>
          </p:cNvPr>
          <p:cNvSpPr/>
          <p:nvPr/>
        </p:nvSpPr>
        <p:spPr bwMode="gray">
          <a:xfrm>
            <a:off x="951002" y="1323827"/>
            <a:ext cx="10306278" cy="4467374"/>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6" name="Group 5">
            <a:extLst>
              <a:ext uri="{FF2B5EF4-FFF2-40B4-BE49-F238E27FC236}">
                <a16:creationId xmlns:a16="http://schemas.microsoft.com/office/drawing/2014/main" id="{8BF0AD38-C102-D387-A1BF-C80BE29CFCBB}"/>
              </a:ext>
            </a:extLst>
          </p:cNvPr>
          <p:cNvGrpSpPr/>
          <p:nvPr/>
        </p:nvGrpSpPr>
        <p:grpSpPr>
          <a:xfrm>
            <a:off x="1073723" y="1357248"/>
            <a:ext cx="650178" cy="539122"/>
            <a:chOff x="1686341" y="1600319"/>
            <a:chExt cx="650178" cy="539122"/>
          </a:xfrm>
        </p:grpSpPr>
        <p:cxnSp>
          <p:nvCxnSpPr>
            <p:cNvPr id="7" name="Straight Connector 6">
              <a:extLst>
                <a:ext uri="{FF2B5EF4-FFF2-40B4-BE49-F238E27FC236}">
                  <a16:creationId xmlns:a16="http://schemas.microsoft.com/office/drawing/2014/main" id="{7B613EB4-DFEB-5D40-81BF-6AC44D106DB1}"/>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8" name="TextBox 7">
              <a:extLst>
                <a:ext uri="{FF2B5EF4-FFF2-40B4-BE49-F238E27FC236}">
                  <a16:creationId xmlns:a16="http://schemas.microsoft.com/office/drawing/2014/main" id="{AEB7580E-C7A3-106C-68FB-4881EC2D85E4}"/>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12" name="TextBox 11">
            <a:extLst>
              <a:ext uri="{FF2B5EF4-FFF2-40B4-BE49-F238E27FC236}">
                <a16:creationId xmlns:a16="http://schemas.microsoft.com/office/drawing/2014/main" id="{86750ABE-4970-A08D-A010-61EB9A4FA730}"/>
              </a:ext>
            </a:extLst>
          </p:cNvPr>
          <p:cNvSpPr txBox="1"/>
          <p:nvPr/>
        </p:nvSpPr>
        <p:spPr bwMode="gray">
          <a:xfrm>
            <a:off x="985750" y="1066477"/>
            <a:ext cx="826124" cy="338554"/>
          </a:xfrm>
          <a:prstGeom prst="rect">
            <a:avLst/>
          </a:prstGeom>
          <a:noFill/>
        </p:spPr>
        <p:txBody>
          <a:bodyPr wrap="none">
            <a:spAutoFit/>
          </a:bodyPr>
          <a:lstStyle/>
          <a:p>
            <a:r>
              <a:rPr lang="en-US" sz="1600"/>
              <a:t>TOTAL</a:t>
            </a:r>
          </a:p>
        </p:txBody>
      </p:sp>
      <p:sp>
        <p:nvSpPr>
          <p:cNvPr id="10" name="Text Placeholder 2">
            <a:extLst>
              <a:ext uri="{FF2B5EF4-FFF2-40B4-BE49-F238E27FC236}">
                <a16:creationId xmlns:a16="http://schemas.microsoft.com/office/drawing/2014/main" id="{BDCEB25E-D7BC-29C9-04EB-774B4ED013A6}"/>
              </a:ext>
            </a:extLst>
          </p:cNvPr>
          <p:cNvSpPr>
            <a:spLocks noGrp="1"/>
          </p:cNvSpPr>
          <p:nvPr>
            <p:ph type="body" sz="quarter" idx="16"/>
          </p:nvPr>
        </p:nvSpPr>
        <p:spPr>
          <a:xfrm>
            <a:off x="1571625" y="6132746"/>
            <a:ext cx="8836399" cy="729943"/>
          </a:xfrm>
        </p:spPr>
        <p:txBody>
          <a:bodyPr/>
          <a:lstStyle/>
          <a:p>
            <a:pPr marL="285750" indent="-285750"/>
            <a:r>
              <a:rPr lang="en-US" baseline="30000" dirty="0">
                <a:solidFill>
                  <a:srgbClr val="FF0000"/>
                </a:solidFill>
              </a:rPr>
              <a:t>† </a:t>
            </a:r>
            <a:r>
              <a:rPr lang="en-US" dirty="0">
                <a:solidFill>
                  <a:srgbClr val="FF0000"/>
                </a:solidFill>
              </a:rPr>
              <a:t>Added in Sep‘25 </a:t>
            </a:r>
          </a:p>
          <a:p>
            <a:pPr marL="631825" indent="-631825"/>
            <a:r>
              <a:rPr lang="en-US" dirty="0"/>
              <a:t>P15.	In three months from now, what percent of your total stock of Meningococcal vaccines do you anticipate each brand will represent, given Penbraya and Trumenba dosing schedule and that Bexsero now has the same dosing schedule as Trumenba? </a:t>
            </a:r>
          </a:p>
          <a:p>
            <a:pPr marL="631825" indent="-631825"/>
            <a:r>
              <a:rPr lang="en-US" dirty="0">
                <a:solidFill>
                  <a:srgbClr val="FF0000"/>
                </a:solidFill>
              </a:rPr>
              <a:t>(New) </a:t>
            </a:r>
            <a:r>
              <a:rPr lang="en-US" dirty="0"/>
              <a:t>X12.	Now please consider again your future stock. In three months from now, what percent of your </a:t>
            </a:r>
            <a:r>
              <a:rPr lang="en-US" b="1" u="sng" dirty="0"/>
              <a:t>total stock</a:t>
            </a:r>
            <a:r>
              <a:rPr lang="en-US" dirty="0"/>
              <a:t> of Meningococcal vaccines do you anticipate each brand will represent, given Penbraya and Trumenba dosing schedule </a:t>
            </a:r>
            <a:r>
              <a:rPr lang="en-US" u="sng" dirty="0"/>
              <a:t>and</a:t>
            </a:r>
            <a:r>
              <a:rPr lang="en-US" dirty="0"/>
              <a:t> that Bexsero now has the same dosing schedule as Trumenba</a:t>
            </a:r>
            <a:r>
              <a:rPr lang="en-US" i="1" dirty="0"/>
              <a:t>?</a:t>
            </a:r>
            <a:endParaRPr lang="en-US" dirty="0"/>
          </a:p>
        </p:txBody>
      </p:sp>
      <p:graphicFrame>
        <p:nvGraphicFramePr>
          <p:cNvPr id="14" name="Chart 13">
            <a:extLst>
              <a:ext uri="{FF2B5EF4-FFF2-40B4-BE49-F238E27FC236}">
                <a16:creationId xmlns:a16="http://schemas.microsoft.com/office/drawing/2014/main" id="{64201183-9AE1-9B0C-386E-8BA95227EF62}"/>
              </a:ext>
            </a:extLst>
          </p:cNvPr>
          <p:cNvGraphicFramePr/>
          <p:nvPr/>
        </p:nvGraphicFramePr>
        <p:xfrm>
          <a:off x="2422187" y="3072582"/>
          <a:ext cx="7256834" cy="2753791"/>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3">
            <a:extLst>
              <a:ext uri="{FF2B5EF4-FFF2-40B4-BE49-F238E27FC236}">
                <a16:creationId xmlns:a16="http://schemas.microsoft.com/office/drawing/2014/main" id="{1F8B04F8-70C0-0A23-E667-FF1681BB5D21}"/>
              </a:ext>
            </a:extLst>
          </p:cNvPr>
          <p:cNvSpPr txBox="1"/>
          <p:nvPr/>
        </p:nvSpPr>
        <p:spPr bwMode="gray">
          <a:xfrm>
            <a:off x="6337189" y="5116988"/>
            <a:ext cx="1220206" cy="338554"/>
          </a:xfrm>
          <a:prstGeom prst="rect">
            <a:avLst/>
          </a:prstGeom>
          <a:noFill/>
        </p:spPr>
        <p:txBody>
          <a:bodyPr wrap="none">
            <a:spAutoFit/>
          </a:bodyPr>
          <a:lstStyle/>
          <a:p>
            <a:r>
              <a:rPr lang="en-US" sz="1600" b="1" i="0" u="none" strike="noStrike">
                <a:solidFill>
                  <a:srgbClr val="000000"/>
                </a:solidFill>
                <a:effectLst/>
                <a:latin typeface="+mj-lt"/>
              </a:rPr>
              <a:t>MenACWY</a:t>
            </a:r>
            <a:endParaRPr lang="en-US" sz="1600"/>
          </a:p>
        </p:txBody>
      </p:sp>
      <p:sp>
        <p:nvSpPr>
          <p:cNvPr id="37" name="TextBox 36">
            <a:extLst>
              <a:ext uri="{FF2B5EF4-FFF2-40B4-BE49-F238E27FC236}">
                <a16:creationId xmlns:a16="http://schemas.microsoft.com/office/drawing/2014/main" id="{8C55A3B4-B468-0537-3E58-962A5F8DDCFF}"/>
              </a:ext>
            </a:extLst>
          </p:cNvPr>
          <p:cNvSpPr txBox="1"/>
          <p:nvPr/>
        </p:nvSpPr>
        <p:spPr bwMode="gray">
          <a:xfrm>
            <a:off x="6337189" y="4254736"/>
            <a:ext cx="742511" cy="338554"/>
          </a:xfrm>
          <a:prstGeom prst="rect">
            <a:avLst/>
          </a:prstGeom>
          <a:noFill/>
        </p:spPr>
        <p:txBody>
          <a:bodyPr wrap="none">
            <a:spAutoFit/>
          </a:bodyPr>
          <a:lstStyle/>
          <a:p>
            <a:r>
              <a:rPr lang="en-US" sz="1600" b="1" i="0" u="none" strike="noStrike">
                <a:solidFill>
                  <a:srgbClr val="000000"/>
                </a:solidFill>
                <a:effectLst/>
                <a:latin typeface="+mj-lt"/>
              </a:rPr>
              <a:t>MenB</a:t>
            </a:r>
            <a:endParaRPr lang="en-US" sz="1600"/>
          </a:p>
        </p:txBody>
      </p:sp>
      <p:sp>
        <p:nvSpPr>
          <p:cNvPr id="38" name="TextBox 37">
            <a:extLst>
              <a:ext uri="{FF2B5EF4-FFF2-40B4-BE49-F238E27FC236}">
                <a16:creationId xmlns:a16="http://schemas.microsoft.com/office/drawing/2014/main" id="{5DD1F629-5658-365A-F1F0-CB03990F4557}"/>
              </a:ext>
            </a:extLst>
          </p:cNvPr>
          <p:cNvSpPr txBox="1"/>
          <p:nvPr/>
        </p:nvSpPr>
        <p:spPr bwMode="gray">
          <a:xfrm>
            <a:off x="6337189" y="3452451"/>
            <a:ext cx="1367682" cy="338554"/>
          </a:xfrm>
          <a:prstGeom prst="rect">
            <a:avLst/>
          </a:prstGeom>
          <a:noFill/>
        </p:spPr>
        <p:txBody>
          <a:bodyPr wrap="none">
            <a:spAutoFit/>
          </a:bodyPr>
          <a:lstStyle/>
          <a:p>
            <a:r>
              <a:rPr lang="en-US" sz="1600" b="1" i="0" u="none" strike="noStrike">
                <a:solidFill>
                  <a:srgbClr val="000000"/>
                </a:solidFill>
                <a:effectLst/>
                <a:latin typeface="+mj-lt"/>
              </a:rPr>
              <a:t>MenABCWY</a:t>
            </a:r>
            <a:endParaRPr lang="en-US" sz="1600"/>
          </a:p>
        </p:txBody>
      </p:sp>
      <p:grpSp>
        <p:nvGrpSpPr>
          <p:cNvPr id="39" name="Group 38">
            <a:extLst>
              <a:ext uri="{FF2B5EF4-FFF2-40B4-BE49-F238E27FC236}">
                <a16:creationId xmlns:a16="http://schemas.microsoft.com/office/drawing/2014/main" id="{E86917D5-BAB6-DA1E-3916-41A5032CBD5F}"/>
              </a:ext>
            </a:extLst>
          </p:cNvPr>
          <p:cNvGrpSpPr/>
          <p:nvPr/>
        </p:nvGrpSpPr>
        <p:grpSpPr>
          <a:xfrm>
            <a:off x="6191250" y="4070567"/>
            <a:ext cx="140970" cy="731520"/>
            <a:chOff x="6145530" y="3464632"/>
            <a:chExt cx="140970" cy="731520"/>
          </a:xfrm>
        </p:grpSpPr>
        <p:cxnSp>
          <p:nvCxnSpPr>
            <p:cNvPr id="40" name="Straight Connector 39">
              <a:extLst>
                <a:ext uri="{FF2B5EF4-FFF2-40B4-BE49-F238E27FC236}">
                  <a16:creationId xmlns:a16="http://schemas.microsoft.com/office/drawing/2014/main" id="{E0D368AA-3328-EA80-095B-497C0A7428D2}"/>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2599CAB-0D51-10DA-958A-C10DE23DA3F0}"/>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grpSp>
        <p:nvGrpSpPr>
          <p:cNvPr id="61" name="Group 60">
            <a:extLst>
              <a:ext uri="{FF2B5EF4-FFF2-40B4-BE49-F238E27FC236}">
                <a16:creationId xmlns:a16="http://schemas.microsoft.com/office/drawing/2014/main" id="{66C06292-C49F-0086-6A16-E6B92B12B18D}"/>
              </a:ext>
            </a:extLst>
          </p:cNvPr>
          <p:cNvGrpSpPr/>
          <p:nvPr/>
        </p:nvGrpSpPr>
        <p:grpSpPr>
          <a:xfrm>
            <a:off x="6191250" y="4920505"/>
            <a:ext cx="140970" cy="731520"/>
            <a:chOff x="6145530" y="3464632"/>
            <a:chExt cx="140970" cy="731520"/>
          </a:xfrm>
        </p:grpSpPr>
        <p:cxnSp>
          <p:nvCxnSpPr>
            <p:cNvPr id="62" name="Straight Connector 61">
              <a:extLst>
                <a:ext uri="{FF2B5EF4-FFF2-40B4-BE49-F238E27FC236}">
                  <a16:creationId xmlns:a16="http://schemas.microsoft.com/office/drawing/2014/main" id="{CDA5E03D-B904-E3AE-690B-AFC28C464EA8}"/>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96BC7B44-FF93-0FD1-D06E-9A630E77CCA8}"/>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65" name="TextBox 64">
            <a:extLst>
              <a:ext uri="{FF2B5EF4-FFF2-40B4-BE49-F238E27FC236}">
                <a16:creationId xmlns:a16="http://schemas.microsoft.com/office/drawing/2014/main" id="{DC5CA90D-4BF9-FFAE-A547-76F39C3913C8}"/>
              </a:ext>
            </a:extLst>
          </p:cNvPr>
          <p:cNvSpPr txBox="1"/>
          <p:nvPr/>
        </p:nvSpPr>
        <p:spPr bwMode="gray">
          <a:xfrm>
            <a:off x="3012367" y="1421974"/>
            <a:ext cx="6273513" cy="3416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Arial" panose="020B0604020202020204"/>
                <a:ea typeface="+mn-ea"/>
                <a:cs typeface="+mn-cs"/>
              </a:rPr>
              <a:t>Intent to Stock Following Penbraya and </a:t>
            </a:r>
            <a:r>
              <a:rPr kumimoji="0" lang="en-US" sz="1800" b="1" i="0" u="none" strike="noStrike" kern="1200" cap="none" spc="0" normalizeH="0" baseline="0" noProof="0" dirty="0" err="1">
                <a:ln>
                  <a:noFill/>
                </a:ln>
                <a:solidFill>
                  <a:schemeClr val="accent1"/>
                </a:solidFill>
                <a:effectLst/>
                <a:uLnTx/>
                <a:uFillTx/>
                <a:latin typeface="Arial" panose="020B0604020202020204"/>
                <a:ea typeface="+mn-ea"/>
                <a:cs typeface="+mn-cs"/>
              </a:rPr>
              <a:t>Penmenvy</a:t>
            </a:r>
            <a:r>
              <a:rPr kumimoji="0" lang="en-US" sz="1800" b="1" i="0" u="none" strike="noStrike" kern="1200" cap="none" spc="0" normalizeH="0" baseline="0" noProof="0" dirty="0">
                <a:ln>
                  <a:noFill/>
                </a:ln>
                <a:solidFill>
                  <a:schemeClr val="accent1"/>
                </a:solidFill>
                <a:effectLst/>
                <a:uLnTx/>
                <a:uFillTx/>
                <a:latin typeface="Arial" panose="020B0604020202020204"/>
                <a:ea typeface="+mn-ea"/>
                <a:cs typeface="+mn-cs"/>
              </a:rPr>
              <a:t> TPPs</a:t>
            </a:r>
            <a:endParaRPr kumimoji="0" lang="en-US" sz="1000" b="0" i="1" u="none" strike="noStrike" kern="1200" cap="none" spc="0" normalizeH="0" baseline="0" noProof="0" dirty="0">
              <a:ln>
                <a:noFill/>
              </a:ln>
              <a:solidFill>
                <a:schemeClr val="accent1"/>
              </a:solidFill>
              <a:effectLst/>
              <a:uLnTx/>
              <a:uFillTx/>
              <a:latin typeface="Arial" panose="020B0604020202020204"/>
              <a:ea typeface="+mn-ea"/>
              <a:cs typeface="+mn-cs"/>
            </a:endParaRPr>
          </a:p>
        </p:txBody>
      </p:sp>
      <p:grpSp>
        <p:nvGrpSpPr>
          <p:cNvPr id="28" name="Group 27">
            <a:extLst>
              <a:ext uri="{FF2B5EF4-FFF2-40B4-BE49-F238E27FC236}">
                <a16:creationId xmlns:a16="http://schemas.microsoft.com/office/drawing/2014/main" id="{0D8273AE-7F5E-B9CD-3349-C3AC47C82884}"/>
              </a:ext>
            </a:extLst>
          </p:cNvPr>
          <p:cNvGrpSpPr/>
          <p:nvPr/>
        </p:nvGrpSpPr>
        <p:grpSpPr>
          <a:xfrm>
            <a:off x="4882439" y="3287456"/>
            <a:ext cx="243191" cy="2431915"/>
            <a:chOff x="4882439" y="3102259"/>
            <a:chExt cx="243191" cy="2431915"/>
          </a:xfrm>
        </p:grpSpPr>
        <p:sp>
          <p:nvSpPr>
            <p:cNvPr id="15" name="Rectangle 14">
              <a:extLst>
                <a:ext uri="{FF2B5EF4-FFF2-40B4-BE49-F238E27FC236}">
                  <a16:creationId xmlns:a16="http://schemas.microsoft.com/office/drawing/2014/main" id="{36E33EC2-2E99-6275-4D09-AC0570002242}"/>
                </a:ext>
              </a:extLst>
            </p:cNvPr>
            <p:cNvSpPr/>
            <p:nvPr/>
          </p:nvSpPr>
          <p:spPr bwMode="gray">
            <a:xfrm>
              <a:off x="4882439" y="3102259"/>
              <a:ext cx="243191" cy="2431915"/>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6" name="Oval 15">
              <a:extLst>
                <a:ext uri="{FF2B5EF4-FFF2-40B4-BE49-F238E27FC236}">
                  <a16:creationId xmlns:a16="http://schemas.microsoft.com/office/drawing/2014/main" id="{03303FD6-D34C-9055-2BEC-6992F5407896}"/>
                </a:ext>
              </a:extLst>
            </p:cNvPr>
            <p:cNvSpPr/>
            <p:nvPr/>
          </p:nvSpPr>
          <p:spPr bwMode="gray">
            <a:xfrm>
              <a:off x="4887009" y="3135490"/>
              <a:ext cx="182880" cy="182880"/>
            </a:xfrm>
            <a:prstGeom prst="ellipse">
              <a:avLst/>
            </a:prstGeom>
            <a:solidFill>
              <a:srgbClr val="937DAD"/>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7" name="Oval 16">
              <a:extLst>
                <a:ext uri="{FF2B5EF4-FFF2-40B4-BE49-F238E27FC236}">
                  <a16:creationId xmlns:a16="http://schemas.microsoft.com/office/drawing/2014/main" id="{A1E8302D-279E-ECB4-0A04-8E4B5FF84A8C}"/>
                </a:ext>
              </a:extLst>
            </p:cNvPr>
            <p:cNvSpPr/>
            <p:nvPr/>
          </p:nvSpPr>
          <p:spPr bwMode="gray">
            <a:xfrm>
              <a:off x="4887009" y="3965562"/>
              <a:ext cx="182880" cy="182880"/>
            </a:xfrm>
            <a:prstGeom prst="ellipse">
              <a:avLst/>
            </a:prstGeom>
            <a:solidFill>
              <a:srgbClr val="009F54"/>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19" name="Oval 18">
              <a:extLst>
                <a:ext uri="{FF2B5EF4-FFF2-40B4-BE49-F238E27FC236}">
                  <a16:creationId xmlns:a16="http://schemas.microsoft.com/office/drawing/2014/main" id="{3242C119-4AD1-7530-151E-6CBF55C89BBC}"/>
                </a:ext>
              </a:extLst>
            </p:cNvPr>
            <p:cNvSpPr/>
            <p:nvPr/>
          </p:nvSpPr>
          <p:spPr bwMode="gray">
            <a:xfrm>
              <a:off x="4887009" y="4380598"/>
              <a:ext cx="182880" cy="182880"/>
            </a:xfrm>
            <a:prstGeom prst="ellipse">
              <a:avLst/>
            </a:prstGeom>
            <a:solidFill>
              <a:srgbClr val="6F002C"/>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1" name="Oval 20">
              <a:extLst>
                <a:ext uri="{FF2B5EF4-FFF2-40B4-BE49-F238E27FC236}">
                  <a16:creationId xmlns:a16="http://schemas.microsoft.com/office/drawing/2014/main" id="{D7BBF1A8-6BF1-E55E-173B-56C6734537FD}"/>
                </a:ext>
              </a:extLst>
            </p:cNvPr>
            <p:cNvSpPr/>
            <p:nvPr/>
          </p:nvSpPr>
          <p:spPr bwMode="gray">
            <a:xfrm>
              <a:off x="4887009" y="4795634"/>
              <a:ext cx="182880" cy="182880"/>
            </a:xfrm>
            <a:prstGeom prst="ellipse">
              <a:avLst/>
            </a:prstGeom>
            <a:solidFill>
              <a:srgbClr val="D80065"/>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2" name="Oval 21">
              <a:extLst>
                <a:ext uri="{FF2B5EF4-FFF2-40B4-BE49-F238E27FC236}">
                  <a16:creationId xmlns:a16="http://schemas.microsoft.com/office/drawing/2014/main" id="{79344219-2430-B1AD-19C0-DB2CFFBD8469}"/>
                </a:ext>
              </a:extLst>
            </p:cNvPr>
            <p:cNvSpPr/>
            <p:nvPr/>
          </p:nvSpPr>
          <p:spPr bwMode="gray">
            <a:xfrm>
              <a:off x="4887009" y="5210670"/>
              <a:ext cx="182880" cy="182880"/>
            </a:xfrm>
            <a:prstGeom prst="ellipse">
              <a:avLst/>
            </a:prstGeom>
            <a:solidFill>
              <a:srgbClr val="009CED"/>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20" name="Oval 19">
              <a:extLst>
                <a:ext uri="{FF2B5EF4-FFF2-40B4-BE49-F238E27FC236}">
                  <a16:creationId xmlns:a16="http://schemas.microsoft.com/office/drawing/2014/main" id="{D2454663-F7FE-9BFC-10F8-A5353E1E7A1A}"/>
                </a:ext>
              </a:extLst>
            </p:cNvPr>
            <p:cNvSpPr/>
            <p:nvPr/>
          </p:nvSpPr>
          <p:spPr bwMode="gray">
            <a:xfrm>
              <a:off x="4887009" y="3550526"/>
              <a:ext cx="182880" cy="182880"/>
            </a:xfrm>
            <a:prstGeom prst="ellipse">
              <a:avLst/>
            </a:prstGeom>
            <a:solidFill>
              <a:schemeClr val="accent6">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grpSp>
        <p:nvGrpSpPr>
          <p:cNvPr id="29" name="Group 28">
            <a:extLst>
              <a:ext uri="{FF2B5EF4-FFF2-40B4-BE49-F238E27FC236}">
                <a16:creationId xmlns:a16="http://schemas.microsoft.com/office/drawing/2014/main" id="{6CBD257F-4D38-8499-F3D8-3F719CBA7F51}"/>
              </a:ext>
            </a:extLst>
          </p:cNvPr>
          <p:cNvGrpSpPr/>
          <p:nvPr/>
        </p:nvGrpSpPr>
        <p:grpSpPr>
          <a:xfrm>
            <a:off x="6191250" y="3255968"/>
            <a:ext cx="140970" cy="731520"/>
            <a:chOff x="6145530" y="3464632"/>
            <a:chExt cx="140970" cy="731520"/>
          </a:xfrm>
        </p:grpSpPr>
        <p:cxnSp>
          <p:nvCxnSpPr>
            <p:cNvPr id="30" name="Straight Connector 29">
              <a:extLst>
                <a:ext uri="{FF2B5EF4-FFF2-40B4-BE49-F238E27FC236}">
                  <a16:creationId xmlns:a16="http://schemas.microsoft.com/office/drawing/2014/main" id="{953F59AE-459B-8700-A1C2-9D879D09265C}"/>
                </a:ext>
              </a:extLst>
            </p:cNvPr>
            <p:cNvCxnSpPr>
              <a:cxnSpLocks/>
            </p:cNvCxnSpPr>
            <p:nvPr/>
          </p:nvCxnSpPr>
          <p:spPr bwMode="gray">
            <a:xfrm>
              <a:off x="6146689" y="3464632"/>
              <a:ext cx="0" cy="73152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D612742D-E9A0-39D4-7FBB-D03E6A490322}"/>
                </a:ext>
              </a:extLst>
            </p:cNvPr>
            <p:cNvCxnSpPr>
              <a:cxnSpLocks/>
            </p:cNvCxnSpPr>
            <p:nvPr/>
          </p:nvCxnSpPr>
          <p:spPr bwMode="gray">
            <a:xfrm>
              <a:off x="6145530" y="3830392"/>
              <a:ext cx="140970" cy="0"/>
            </a:xfrm>
            <a:prstGeom prst="line">
              <a:avLst/>
            </a:prstGeom>
            <a:ln>
              <a:solidFill>
                <a:schemeClr val="bg1">
                  <a:lumMod val="65000"/>
                </a:schemeClr>
              </a:solidFill>
              <a:headEnd/>
              <a:tailEnd/>
            </a:ln>
          </p:spPr>
          <p:style>
            <a:lnRef idx="1">
              <a:schemeClr val="dk1"/>
            </a:lnRef>
            <a:fillRef idx="0">
              <a:schemeClr val="dk1"/>
            </a:fillRef>
            <a:effectRef idx="0">
              <a:schemeClr val="dk1"/>
            </a:effectRef>
            <a:fontRef idx="minor">
              <a:schemeClr val="tx1"/>
            </a:fontRef>
          </p:style>
        </p:cxnSp>
      </p:grpSp>
      <p:sp>
        <p:nvSpPr>
          <p:cNvPr id="4" name="TextBox 3">
            <a:extLst>
              <a:ext uri="{FF2B5EF4-FFF2-40B4-BE49-F238E27FC236}">
                <a16:creationId xmlns:a16="http://schemas.microsoft.com/office/drawing/2014/main" id="{ED20528F-26D8-4656-B4AD-CC0726D15C58}"/>
              </a:ext>
            </a:extLst>
          </p:cNvPr>
          <p:cNvSpPr txBox="1"/>
          <p:nvPr/>
        </p:nvSpPr>
        <p:spPr bwMode="gray">
          <a:xfrm>
            <a:off x="5932616" y="3680561"/>
            <a:ext cx="159659" cy="286232"/>
          </a:xfrm>
          <a:prstGeom prst="rect">
            <a:avLst/>
          </a:prstGeom>
        </p:spPr>
        <p:txBody>
          <a:bodyPr wrap="none" lIns="45720" tIns="45720" rIns="45720" bIns="45720" rtlCol="0">
            <a:spAutoFit/>
          </a:bodyPr>
          <a:lstStyle/>
          <a:p>
            <a:pPr algn="ctr">
              <a:lnSpc>
                <a:spcPct val="90000"/>
              </a:lnSpc>
              <a:spcAft>
                <a:spcPts val="400"/>
              </a:spcAft>
            </a:pPr>
            <a:r>
              <a:rPr lang="en-US" sz="1400" baseline="30000">
                <a:solidFill>
                  <a:srgbClr val="FF0000"/>
                </a:solidFill>
              </a:rPr>
              <a:t>†</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47" name="TextBox 46">
            <a:extLst>
              <a:ext uri="{FF2B5EF4-FFF2-40B4-BE49-F238E27FC236}">
                <a16:creationId xmlns:a16="http://schemas.microsoft.com/office/drawing/2014/main" id="{F02755CA-3C73-A425-A2A2-1A66029318EF}"/>
              </a:ext>
            </a:extLst>
          </p:cNvPr>
          <p:cNvSpPr txBox="1"/>
          <p:nvPr/>
        </p:nvSpPr>
        <p:spPr bwMode="gray">
          <a:xfrm>
            <a:off x="9187749" y="3314208"/>
            <a:ext cx="730585"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13% 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&lt;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29%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48" name="TextBox 47">
            <a:extLst>
              <a:ext uri="{FF2B5EF4-FFF2-40B4-BE49-F238E27FC236}">
                <a16:creationId xmlns:a16="http://schemas.microsoft.com/office/drawing/2014/main" id="{BEAE558D-B045-DE07-B701-C16C4A0E5E20}"/>
              </a:ext>
            </a:extLst>
          </p:cNvPr>
          <p:cNvSpPr txBox="1"/>
          <p:nvPr/>
        </p:nvSpPr>
        <p:spPr bwMode="gray">
          <a:xfrm>
            <a:off x="9187749" y="3641546"/>
            <a:ext cx="730585"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6% 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&lt;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20%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52" name="TextBox 51">
            <a:extLst>
              <a:ext uri="{FF2B5EF4-FFF2-40B4-BE49-F238E27FC236}">
                <a16:creationId xmlns:a16="http://schemas.microsoft.com/office/drawing/2014/main" id="{22C8F1C3-A8AB-3BF6-7589-4ED17EE0C4B8}"/>
              </a:ext>
            </a:extLst>
          </p:cNvPr>
          <p:cNvSpPr txBox="1"/>
          <p:nvPr/>
        </p:nvSpPr>
        <p:spPr bwMode="gray">
          <a:xfrm>
            <a:off x="9187749" y="5159858"/>
            <a:ext cx="730585"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36% PED &gt;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15%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109" name="TextBox 108">
            <a:extLst>
              <a:ext uri="{FF2B5EF4-FFF2-40B4-BE49-F238E27FC236}">
                <a16:creationId xmlns:a16="http://schemas.microsoft.com/office/drawing/2014/main" id="{BAF3AE51-5250-F2E3-DF7A-589CDD5BDE3B}"/>
              </a:ext>
            </a:extLst>
          </p:cNvPr>
          <p:cNvSpPr txBox="1"/>
          <p:nvPr/>
        </p:nvSpPr>
        <p:spPr bwMode="gray">
          <a:xfrm>
            <a:off x="2207793" y="5157021"/>
            <a:ext cx="730585"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rPr>
              <a:t>39%</a:t>
            </a:r>
            <a:r>
              <a:rPr lang="en-US" sz="900" noProof="0">
                <a:solidFill>
                  <a:srgbClr val="FF0000"/>
                </a:solidFill>
                <a:cs typeface="Arial" panose="020B0604020202020204" pitchFamily="34" charset="0"/>
                <a:sym typeface="Symbol" pitchFamily="18" charset="2"/>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rPr>
              <a:t> PED</a:t>
            </a:r>
            <a:r>
              <a:rPr kumimoji="0" lang="en-US" sz="800" b="0" i="0" u="none" strike="noStrike" kern="1200" cap="none" spc="0" normalizeH="0" baseline="0" noProof="0">
                <a:ln>
                  <a:noFill/>
                </a:ln>
                <a:solidFill>
                  <a:srgbClr val="FF0000"/>
                </a:solidFill>
                <a:effectLst/>
                <a:uLnTx/>
                <a:uFillTx/>
                <a:latin typeface="Arial" panose="020B0604020202020204"/>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sym typeface="Wingdings 3" panose="05040102010807070707" pitchFamily="18" charset="2"/>
              </a:rPr>
              <a:t>&gt;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sym typeface="Wingdings 3" panose="05040102010807070707" pitchFamily="18" charset="2"/>
              </a:rPr>
              <a:t>18%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rPr>
              <a:t>PCP</a:t>
            </a:r>
          </a:p>
        </p:txBody>
      </p:sp>
      <p:sp>
        <p:nvSpPr>
          <p:cNvPr id="110" name="TextBox 109">
            <a:extLst>
              <a:ext uri="{FF2B5EF4-FFF2-40B4-BE49-F238E27FC236}">
                <a16:creationId xmlns:a16="http://schemas.microsoft.com/office/drawing/2014/main" id="{47DD8918-5D3F-E787-FB7B-9412437B1B1C}"/>
              </a:ext>
            </a:extLst>
          </p:cNvPr>
          <p:cNvSpPr txBox="1"/>
          <p:nvPr/>
        </p:nvSpPr>
        <p:spPr bwMode="gray">
          <a:xfrm>
            <a:off x="2207793" y="4187886"/>
            <a:ext cx="730585"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rPr>
              <a:t>19%   PED</a:t>
            </a:r>
            <a:r>
              <a:rPr kumimoji="0" lang="en-US" sz="800" b="0" i="0" u="none" strike="noStrike" kern="1200" cap="none" spc="0" normalizeH="0" baseline="0" noProof="0">
                <a:ln>
                  <a:noFill/>
                </a:ln>
                <a:solidFill>
                  <a:srgbClr val="FF0000"/>
                </a:solidFill>
                <a:effectLst/>
                <a:uLnTx/>
                <a:uFillTx/>
                <a:latin typeface="Arial" panose="020B0604020202020204"/>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sym typeface="Wingdings 3" panose="05040102010807070707" pitchFamily="18" charset="2"/>
              </a:rPr>
              <a:t>&gt;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sym typeface="Wingdings 3" panose="05040102010807070707" pitchFamily="18" charset="2"/>
              </a:rPr>
              <a:t>  9%</a:t>
            </a:r>
            <a:r>
              <a:rPr lang="en-US" sz="900" noProof="0">
                <a:solidFill>
                  <a:srgbClr val="FF0000"/>
                </a:solidFill>
                <a:cs typeface="Arial" panose="020B0604020202020204" pitchFamily="34" charset="0"/>
                <a:sym typeface="Symbol" pitchFamily="18" charset="2"/>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rPr>
              <a:t>PCP</a:t>
            </a:r>
          </a:p>
        </p:txBody>
      </p:sp>
      <p:sp>
        <p:nvSpPr>
          <p:cNvPr id="111" name="TextBox 110">
            <a:extLst>
              <a:ext uri="{FF2B5EF4-FFF2-40B4-BE49-F238E27FC236}">
                <a16:creationId xmlns:a16="http://schemas.microsoft.com/office/drawing/2014/main" id="{57A0EEAC-0136-116E-39F0-387AF32DE146}"/>
              </a:ext>
            </a:extLst>
          </p:cNvPr>
          <p:cNvSpPr txBox="1"/>
          <p:nvPr/>
        </p:nvSpPr>
        <p:spPr bwMode="gray">
          <a:xfrm>
            <a:off x="2207793" y="3330134"/>
            <a:ext cx="730585" cy="304699"/>
          </a:xfrm>
          <a:prstGeom prst="rect">
            <a:avLst/>
          </a:prstGeom>
          <a:solidFill>
            <a:schemeClr val="bg1"/>
          </a:solidFill>
          <a:ln w="12700">
            <a:solidFill>
              <a:schemeClr val="tx1">
                <a:lumMod val="50000"/>
                <a:lumOff val="50000"/>
              </a:schemeClr>
            </a:solidFill>
            <a:prstDash val="sysDash"/>
          </a:ln>
        </p:spPr>
        <p:txBody>
          <a:bodyPr wrap="square" lIns="27432" tIns="27432" rIns="27432" bIns="27432" rtlCol="0" anchor="ctr" anchorCtr="0">
            <a:spAutoFit/>
          </a:bodyPr>
          <a:lstStyle/>
          <a:p>
            <a:pPr lvl="0">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14% PED</a:t>
            </a:r>
            <a:r>
              <a:rPr kumimoji="0" lang="en-US" sz="800" b="0" i="0" u="none" strike="noStrike" kern="1200" cap="none" spc="0" normalizeH="0" baseline="0" noProof="0">
                <a:ln>
                  <a:noFill/>
                </a:ln>
                <a:solidFill>
                  <a:srgbClr val="FF0000"/>
                </a:solidFill>
                <a:effectLst/>
                <a:uLnTx/>
                <a:uFillTx/>
                <a:latin typeface="Arial" panose="020B0604020202020204"/>
                <a:ea typeface="+mn-ea"/>
                <a:cs typeface="+mn-cs"/>
                <a:sym typeface="Wingdings 3" panose="05040102010807070707" pitchFamily="18" charset="2"/>
              </a:rPr>
              <a:t> </a:t>
            </a: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&lt;</a:t>
            </a:r>
            <a:b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br>
            <a:r>
              <a:rPr kumimoji="0" lang="en-US" sz="900" b="0" i="0" u="none" strike="noStrike" kern="1200" cap="none" spc="0" normalizeH="0" baseline="0" noProof="0">
                <a:ln>
                  <a:noFill/>
                </a:ln>
                <a:solidFill>
                  <a:schemeClr val="tx1">
                    <a:lumMod val="50000"/>
                    <a:lumOff val="50000"/>
                  </a:schemeClr>
                </a:solidFill>
                <a:effectLst/>
                <a:uLnTx/>
                <a:uFillTx/>
                <a:latin typeface="Arial" panose="020B0604020202020204"/>
                <a:ea typeface="+mn-ea"/>
                <a:cs typeface="+mn-cs"/>
                <a:sym typeface="Wingdings 3" panose="05040102010807070707" pitchFamily="18" charset="2"/>
              </a:rPr>
              <a:t>35%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PCP</a:t>
            </a:r>
          </a:p>
        </p:txBody>
      </p:sp>
      <p:sp>
        <p:nvSpPr>
          <p:cNvPr id="34" name="Title 4">
            <a:extLst>
              <a:ext uri="{FF2B5EF4-FFF2-40B4-BE49-F238E27FC236}">
                <a16:creationId xmlns:a16="http://schemas.microsoft.com/office/drawing/2014/main" id="{51003466-C873-8B52-8336-2BBD4C0C76D8}"/>
              </a:ext>
            </a:extLst>
          </p:cNvPr>
          <p:cNvSpPr>
            <a:spLocks noGrp="1"/>
          </p:cNvSpPr>
          <p:nvPr>
            <p:ph type="title"/>
          </p:nvPr>
        </p:nvSpPr>
        <p:spPr>
          <a:xfrm>
            <a:off x="1142123" y="170307"/>
            <a:ext cx="10411702" cy="850392"/>
          </a:xfrm>
        </p:spPr>
        <p:txBody>
          <a:bodyPr/>
          <a:lstStyle/>
          <a:p>
            <a:r>
              <a:rPr lang="en-US" dirty="0"/>
              <a:t>With Bexsero’s dosing schedule now aligning with Trumenba, HCPs anticipate a minimal uptick in </a:t>
            </a:r>
            <a:r>
              <a:rPr lang="en-US" dirty="0" err="1"/>
              <a:t>Penmenvy</a:t>
            </a:r>
            <a:r>
              <a:rPr lang="en-US" dirty="0"/>
              <a:t> stock three months from now – significantly higher among PCPs (20% with an original estimate of 5%)</a:t>
            </a:r>
          </a:p>
        </p:txBody>
      </p:sp>
      <p:pic>
        <p:nvPicPr>
          <p:cNvPr id="13" name="Picture 12">
            <a:extLst>
              <a:ext uri="{FF2B5EF4-FFF2-40B4-BE49-F238E27FC236}">
                <a16:creationId xmlns:a16="http://schemas.microsoft.com/office/drawing/2014/main" id="{57D5EFD0-6F7B-2CD6-EADD-568CB71F7CFB}"/>
              </a:ext>
            </a:extLst>
          </p:cNvPr>
          <p:cNvPicPr>
            <a:picLocks noChangeAspect="1"/>
          </p:cNvPicPr>
          <p:nvPr/>
        </p:nvPicPr>
        <p:blipFill>
          <a:blip r:embed="rId4"/>
          <a:stretch>
            <a:fillRect/>
          </a:stretch>
        </p:blipFill>
        <p:spPr>
          <a:xfrm>
            <a:off x="2410440" y="2407336"/>
            <a:ext cx="2009464" cy="356291"/>
          </a:xfrm>
          <a:prstGeom prst="rect">
            <a:avLst/>
          </a:prstGeom>
          <a:solidFill>
            <a:schemeClr val="bg1"/>
          </a:solidFill>
        </p:spPr>
      </p:pic>
      <p:pic>
        <p:nvPicPr>
          <p:cNvPr id="18" name="Picture 17" descr="A close up of a sign&#10;&#10;AI-generated content may be incorrect.">
            <a:extLst>
              <a:ext uri="{FF2B5EF4-FFF2-40B4-BE49-F238E27FC236}">
                <a16:creationId xmlns:a16="http://schemas.microsoft.com/office/drawing/2014/main" id="{3AC41336-2847-F736-2217-08D8D0B8661E}"/>
              </a:ext>
            </a:extLst>
          </p:cNvPr>
          <p:cNvPicPr>
            <a:picLocks noChangeAspect="1"/>
          </p:cNvPicPr>
          <p:nvPr/>
        </p:nvPicPr>
        <p:blipFill>
          <a:blip r:embed="rId5"/>
          <a:stretch>
            <a:fillRect/>
          </a:stretch>
        </p:blipFill>
        <p:spPr>
          <a:xfrm>
            <a:off x="7888806" y="2342393"/>
            <a:ext cx="1569519" cy="468570"/>
          </a:xfrm>
          <a:prstGeom prst="rect">
            <a:avLst/>
          </a:prstGeom>
        </p:spPr>
      </p:pic>
      <p:sp>
        <p:nvSpPr>
          <p:cNvPr id="3" name="TextBox 2">
            <a:extLst>
              <a:ext uri="{FF2B5EF4-FFF2-40B4-BE49-F238E27FC236}">
                <a16:creationId xmlns:a16="http://schemas.microsoft.com/office/drawing/2014/main" id="{12BFFF3F-9530-CFE8-FC6D-0168762B8F01}"/>
              </a:ext>
            </a:extLst>
          </p:cNvPr>
          <p:cNvSpPr txBox="1"/>
          <p:nvPr/>
        </p:nvSpPr>
        <p:spPr bwMode="gray">
          <a:xfrm>
            <a:off x="1211617" y="4691139"/>
            <a:ext cx="670523"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2 &lt; 3</a:t>
            </a:r>
          </a:p>
        </p:txBody>
      </p:sp>
      <p:sp>
        <p:nvSpPr>
          <p:cNvPr id="5" name="TextBox 4">
            <a:extLst>
              <a:ext uri="{FF2B5EF4-FFF2-40B4-BE49-F238E27FC236}">
                <a16:creationId xmlns:a16="http://schemas.microsoft.com/office/drawing/2014/main" id="{283F57B0-43DC-308E-354D-FB804DCD68F0}"/>
              </a:ext>
            </a:extLst>
          </p:cNvPr>
          <p:cNvSpPr txBox="1"/>
          <p:nvPr/>
        </p:nvSpPr>
        <p:spPr bwMode="gray">
          <a:xfrm>
            <a:off x="1211617" y="5233195"/>
            <a:ext cx="670523"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rPr>
              <a:t>Tier 1, 2 &gt; 3</a:t>
            </a:r>
          </a:p>
        </p:txBody>
      </p:sp>
      <p:sp>
        <p:nvSpPr>
          <p:cNvPr id="9" name="TextBox 8">
            <a:extLst>
              <a:ext uri="{FF2B5EF4-FFF2-40B4-BE49-F238E27FC236}">
                <a16:creationId xmlns:a16="http://schemas.microsoft.com/office/drawing/2014/main" id="{F1A5BB72-70F8-EFCF-B04A-5711DD5B7355}"/>
              </a:ext>
            </a:extLst>
          </p:cNvPr>
          <p:cNvSpPr txBox="1"/>
          <p:nvPr/>
        </p:nvSpPr>
        <p:spPr bwMode="gray">
          <a:xfrm>
            <a:off x="1211617" y="3825120"/>
            <a:ext cx="670523"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&gt;2 </a:t>
            </a:r>
          </a:p>
        </p:txBody>
      </p:sp>
      <p:sp>
        <p:nvSpPr>
          <p:cNvPr id="11" name="TextBox 10">
            <a:extLst>
              <a:ext uri="{FF2B5EF4-FFF2-40B4-BE49-F238E27FC236}">
                <a16:creationId xmlns:a16="http://schemas.microsoft.com/office/drawing/2014/main" id="{79638161-2ABB-5D1E-F6EE-A3675DB154A7}"/>
              </a:ext>
            </a:extLst>
          </p:cNvPr>
          <p:cNvSpPr txBox="1"/>
          <p:nvPr/>
        </p:nvSpPr>
        <p:spPr bwMode="gray">
          <a:xfrm>
            <a:off x="1211617" y="4263332"/>
            <a:ext cx="670523"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rPr>
              <a:t>Tier 1, 3 &lt;2</a:t>
            </a:r>
          </a:p>
        </p:txBody>
      </p:sp>
      <p:sp>
        <p:nvSpPr>
          <p:cNvPr id="25" name="TextBox 24">
            <a:extLst>
              <a:ext uri="{FF2B5EF4-FFF2-40B4-BE49-F238E27FC236}">
                <a16:creationId xmlns:a16="http://schemas.microsoft.com/office/drawing/2014/main" id="{C613F12D-CFAB-F274-3397-6B2565E07C35}"/>
              </a:ext>
            </a:extLst>
          </p:cNvPr>
          <p:cNvSpPr txBox="1"/>
          <p:nvPr/>
        </p:nvSpPr>
        <p:spPr bwMode="gray">
          <a:xfrm>
            <a:off x="1211617" y="3251706"/>
            <a:ext cx="795138" cy="410882"/>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18%</a:t>
            </a:r>
            <a:r>
              <a:rPr lang="en-US" altLang="en-US" sz="900" baseline="30000">
                <a:solidFill>
                  <a:srgbClr val="FF0000"/>
                </a:solidFill>
                <a:cs typeface="Arial" panose="020B0604020202020204" pitchFamily="34" charset="0"/>
                <a:sym typeface="Symbol" pitchFamily="18" charset="2"/>
              </a:rPr>
              <a:t> </a:t>
            </a:r>
            <a:r>
              <a:rPr lang="en-US" sz="900" baseline="300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a:t>
            </a:r>
          </a:p>
          <a:p>
            <a:pPr marL="457200" lvl="0" indent="-457200" defTabSz="914126">
              <a:lnSpc>
                <a:spcPct val="90000"/>
              </a:lnSpc>
              <a:defRPr/>
            </a:pPr>
            <a:r>
              <a:rPr lang="en-US" sz="900">
                <a:solidFill>
                  <a:srgbClr val="000000">
                    <a:lumMod val="50000"/>
                    <a:lumOff val="50000"/>
                  </a:srgbClr>
                </a:solidFill>
                <a:latin typeface="Arial" panose="020B0604020202020204"/>
              </a:rPr>
              <a:t>15%</a:t>
            </a:r>
            <a:r>
              <a:rPr lang="en-US" altLang="en-US" sz="900">
                <a:solidFill>
                  <a:srgbClr val="FF0000"/>
                </a:solidFill>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Tier 2 </a:t>
            </a:r>
          </a:p>
          <a:p>
            <a:pPr marL="457200" lvl="0" indent="-457200" defTabSz="914126">
              <a:lnSpc>
                <a:spcPct val="90000"/>
              </a:lnSpc>
              <a:defRPr/>
            </a:pPr>
            <a:r>
              <a:rPr lang="en-US" sz="900">
                <a:solidFill>
                  <a:srgbClr val="000000">
                    <a:lumMod val="50000"/>
                    <a:lumOff val="50000"/>
                  </a:srgbClr>
                </a:solidFill>
                <a:latin typeface="Arial" panose="020B0604020202020204"/>
              </a:rPr>
              <a:t>25%</a:t>
            </a:r>
            <a:r>
              <a:rPr lang="en-US" altLang="en-US" sz="900">
                <a:solidFill>
                  <a:srgbClr val="FF0000"/>
                </a:solidFill>
                <a:cs typeface="Arial" panose="020B0604020202020204" pitchFamily="34" charset="0"/>
                <a:sym typeface="Symbol" pitchFamily="18" charset="2"/>
              </a:rPr>
              <a:t> </a:t>
            </a:r>
            <a:r>
              <a:rPr lang="en-US" sz="900">
                <a:solidFill>
                  <a:srgbClr val="000000">
                    <a:lumMod val="50000"/>
                    <a:lumOff val="50000"/>
                  </a:srgbClr>
                </a:solidFill>
                <a:latin typeface="Arial" panose="020B0604020202020204"/>
              </a:rPr>
              <a:t>	</a:t>
            </a: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a:t>
            </a:r>
            <a:r>
              <a:rPr lang="en-US" sz="900">
                <a:solidFill>
                  <a:srgbClr val="000000">
                    <a:lumMod val="50000"/>
                    <a:lumOff val="50000"/>
                  </a:srgbClr>
                </a:solidFill>
                <a:latin typeface="Arial" panose="020B0604020202020204"/>
              </a:rPr>
              <a:t>3</a:t>
            </a: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28F6494B-6C56-9053-F45B-96A5CEEDA07F}"/>
              </a:ext>
            </a:extLst>
          </p:cNvPr>
          <p:cNvSpPr txBox="1"/>
          <p:nvPr/>
        </p:nvSpPr>
        <p:spPr bwMode="gray">
          <a:xfrm>
            <a:off x="9187749" y="4014223"/>
            <a:ext cx="705666"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&gt; 2</a:t>
            </a:r>
          </a:p>
        </p:txBody>
      </p:sp>
      <p:sp>
        <p:nvSpPr>
          <p:cNvPr id="50" name="TextBox 49">
            <a:extLst>
              <a:ext uri="{FF2B5EF4-FFF2-40B4-BE49-F238E27FC236}">
                <a16:creationId xmlns:a16="http://schemas.microsoft.com/office/drawing/2014/main" id="{55871D57-10FD-1EC2-0B19-4C23D2940CBA}"/>
              </a:ext>
            </a:extLst>
          </p:cNvPr>
          <p:cNvSpPr txBox="1"/>
          <p:nvPr/>
        </p:nvSpPr>
        <p:spPr bwMode="gray">
          <a:xfrm>
            <a:off x="9187749" y="4371019"/>
            <a:ext cx="705666"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3 &lt; 2</a:t>
            </a:r>
          </a:p>
        </p:txBody>
      </p:sp>
      <p:sp>
        <p:nvSpPr>
          <p:cNvPr id="51" name="TextBox 50">
            <a:extLst>
              <a:ext uri="{FF2B5EF4-FFF2-40B4-BE49-F238E27FC236}">
                <a16:creationId xmlns:a16="http://schemas.microsoft.com/office/drawing/2014/main" id="{BD7BCB47-50F9-831D-75EB-8CA070DBAFB1}"/>
              </a:ext>
            </a:extLst>
          </p:cNvPr>
          <p:cNvSpPr txBox="1"/>
          <p:nvPr/>
        </p:nvSpPr>
        <p:spPr bwMode="gray">
          <a:xfrm>
            <a:off x="9187749" y="4729269"/>
            <a:ext cx="705666"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2 &lt; 3</a:t>
            </a:r>
          </a:p>
        </p:txBody>
      </p:sp>
      <p:sp>
        <p:nvSpPr>
          <p:cNvPr id="53" name="TextBox 52">
            <a:extLst>
              <a:ext uri="{FF2B5EF4-FFF2-40B4-BE49-F238E27FC236}">
                <a16:creationId xmlns:a16="http://schemas.microsoft.com/office/drawing/2014/main" id="{DEAEE112-A7E8-36A8-BC51-97BBBEF3ADCD}"/>
              </a:ext>
            </a:extLst>
          </p:cNvPr>
          <p:cNvSpPr txBox="1"/>
          <p:nvPr/>
        </p:nvSpPr>
        <p:spPr bwMode="gray">
          <a:xfrm>
            <a:off x="9980505" y="5236032"/>
            <a:ext cx="795138"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57200" lvl="0" indent="-457200" defTabSz="914126">
              <a:lnSpc>
                <a:spcPct val="90000"/>
              </a:lnSpc>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Tier 1, 2 &gt; 3</a:t>
            </a:r>
          </a:p>
        </p:txBody>
      </p:sp>
    </p:spTree>
    <p:extLst>
      <p:ext uri="{BB962C8B-B14F-4D97-AF65-F5344CB8AC3E}">
        <p14:creationId xmlns:p14="http://schemas.microsoft.com/office/powerpoint/2010/main" val="46462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52" grpId="0" animBg="1"/>
      <p:bldP spid="109" grpId="0" animBg="1"/>
      <p:bldP spid="110" grpId="0" animBg="1"/>
      <p:bldP spid="1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924C5-A652-DFEB-6034-1A86A2EB32F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B88A220-3148-E3FB-FF3C-78CD3C37D6A0}"/>
              </a:ext>
            </a:extLst>
          </p:cNvPr>
          <p:cNvSpPr>
            <a:spLocks noGrp="1"/>
          </p:cNvSpPr>
          <p:nvPr>
            <p:ph type="body" sz="quarter" idx="10"/>
          </p:nvPr>
        </p:nvSpPr>
        <p:spPr>
          <a:xfrm>
            <a:off x="448056" y="4215384"/>
            <a:ext cx="4233672" cy="905256"/>
          </a:xfrm>
        </p:spPr>
        <p:txBody>
          <a:bodyPr/>
          <a:lstStyle/>
          <a:p>
            <a:r>
              <a:rPr lang="en-US"/>
              <a:t>Vaccine Manufacturer Interactions</a:t>
            </a:r>
          </a:p>
        </p:txBody>
      </p:sp>
      <p:sp>
        <p:nvSpPr>
          <p:cNvPr id="3" name="Title 2">
            <a:extLst>
              <a:ext uri="{FF2B5EF4-FFF2-40B4-BE49-F238E27FC236}">
                <a16:creationId xmlns:a16="http://schemas.microsoft.com/office/drawing/2014/main" id="{F122DBEF-0FB3-5046-C1FC-C6F879CEC99D}"/>
              </a:ext>
            </a:extLst>
          </p:cNvPr>
          <p:cNvSpPr>
            <a:spLocks noGrp="1"/>
          </p:cNvSpPr>
          <p:nvPr>
            <p:ph type="ctrTitle"/>
          </p:nvPr>
        </p:nvSpPr>
        <p:spPr>
          <a:xfrm>
            <a:off x="448056" y="2560320"/>
            <a:ext cx="4233672" cy="1508760"/>
          </a:xfrm>
        </p:spPr>
        <p:txBody>
          <a:bodyPr/>
          <a:lstStyle/>
          <a:p>
            <a:r>
              <a:rPr lang="en-US"/>
              <a:t>Detailed Findings</a:t>
            </a:r>
          </a:p>
        </p:txBody>
      </p:sp>
    </p:spTree>
    <p:extLst>
      <p:ext uri="{BB962C8B-B14F-4D97-AF65-F5344CB8AC3E}">
        <p14:creationId xmlns:p14="http://schemas.microsoft.com/office/powerpoint/2010/main" val="41065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CB4F9FD3-6BD3-45FF-7CE8-A8A75C00BD85}"/>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sp>
        <p:nvSpPr>
          <p:cNvPr id="6" name="Title 5">
            <a:extLst>
              <a:ext uri="{FF2B5EF4-FFF2-40B4-BE49-F238E27FC236}">
                <a16:creationId xmlns:a16="http://schemas.microsoft.com/office/drawing/2014/main" id="{13B7DA6E-BD38-A9F7-1255-EF0145D9015D}"/>
              </a:ext>
            </a:extLst>
          </p:cNvPr>
          <p:cNvSpPr>
            <a:spLocks noGrp="1"/>
          </p:cNvSpPr>
          <p:nvPr>
            <p:ph type="title"/>
          </p:nvPr>
        </p:nvSpPr>
        <p:spPr>
          <a:xfrm>
            <a:off x="1142123" y="170307"/>
            <a:ext cx="9922117" cy="850392"/>
          </a:xfrm>
        </p:spPr>
        <p:txBody>
          <a:bodyPr/>
          <a:lstStyle/>
          <a:p>
            <a:r>
              <a:rPr lang="en-US"/>
              <a:t>~4-in-10 HCPs were detailed by a Vaccine Sales Representative in the past three months, across all companies</a:t>
            </a:r>
          </a:p>
        </p:txBody>
      </p:sp>
      <p:sp>
        <p:nvSpPr>
          <p:cNvPr id="7" name="Text Placeholder 6">
            <a:extLst>
              <a:ext uri="{FF2B5EF4-FFF2-40B4-BE49-F238E27FC236}">
                <a16:creationId xmlns:a16="http://schemas.microsoft.com/office/drawing/2014/main" id="{3B0B4543-AE41-EA05-0528-BEC258FD2E2A}"/>
              </a:ext>
            </a:extLst>
          </p:cNvPr>
          <p:cNvSpPr>
            <a:spLocks noGrp="1"/>
          </p:cNvSpPr>
          <p:nvPr>
            <p:ph type="body" sz="quarter" idx="16"/>
          </p:nvPr>
        </p:nvSpPr>
        <p:spPr>
          <a:xfrm>
            <a:off x="1571625" y="6414383"/>
            <a:ext cx="9239250" cy="330347"/>
          </a:xfrm>
        </p:spPr>
        <p:txBody>
          <a:bodyPr/>
          <a:lstStyle/>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r>
              <a:rPr lang="en-US"/>
              <a:t>M1. How recently did you personally interact (in-person, telephone, zoom call, etc.) with a Vaccine Sales Representative from each of the following companies? </a:t>
            </a:r>
          </a:p>
        </p:txBody>
      </p:sp>
      <p:graphicFrame>
        <p:nvGraphicFramePr>
          <p:cNvPr id="10" name="Content Placeholder 8">
            <a:extLst>
              <a:ext uri="{FF2B5EF4-FFF2-40B4-BE49-F238E27FC236}">
                <a16:creationId xmlns:a16="http://schemas.microsoft.com/office/drawing/2014/main" id="{F06450C6-A5AA-27B6-D1D8-82B9D5DC38A7}"/>
              </a:ext>
            </a:extLst>
          </p:cNvPr>
          <p:cNvGraphicFramePr>
            <a:graphicFrameLocks/>
          </p:cNvGraphicFramePr>
          <p:nvPr>
            <p:extLst>
              <p:ext uri="{D42A27DB-BD31-4B8C-83A1-F6EECF244321}">
                <p14:modId xmlns:p14="http://schemas.microsoft.com/office/powerpoint/2010/main" val="2164241919"/>
              </p:ext>
            </p:extLst>
          </p:nvPr>
        </p:nvGraphicFramePr>
        <p:xfrm>
          <a:off x="2423161" y="2497228"/>
          <a:ext cx="8348236" cy="3246744"/>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DF34B62E-2909-9AF9-4824-A4F716F96A2F}"/>
              </a:ext>
            </a:extLst>
          </p:cNvPr>
          <p:cNvSpPr txBox="1"/>
          <p:nvPr/>
        </p:nvSpPr>
        <p:spPr bwMode="gray">
          <a:xfrm>
            <a:off x="2546986" y="1653469"/>
            <a:ext cx="7094854" cy="531428"/>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Most Recent Sales Rep Interaction</a:t>
            </a: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nvGrpSpPr>
          <p:cNvPr id="24" name="Group 23">
            <a:extLst>
              <a:ext uri="{FF2B5EF4-FFF2-40B4-BE49-F238E27FC236}">
                <a16:creationId xmlns:a16="http://schemas.microsoft.com/office/drawing/2014/main" id="{8A4390C8-42BB-5173-47FF-7FD14340771C}"/>
              </a:ext>
            </a:extLst>
          </p:cNvPr>
          <p:cNvGrpSpPr/>
          <p:nvPr/>
        </p:nvGrpSpPr>
        <p:grpSpPr>
          <a:xfrm>
            <a:off x="8757920" y="2731008"/>
            <a:ext cx="225552" cy="2432304"/>
            <a:chOff x="1737360" y="2731008"/>
            <a:chExt cx="225552" cy="2432304"/>
          </a:xfrm>
        </p:grpSpPr>
        <p:sp>
          <p:nvSpPr>
            <p:cNvPr id="17" name="Rectangle 16">
              <a:extLst>
                <a:ext uri="{FF2B5EF4-FFF2-40B4-BE49-F238E27FC236}">
                  <a16:creationId xmlns:a16="http://schemas.microsoft.com/office/drawing/2014/main" id="{2C2FBE11-F1A4-E6E7-BE72-03F1319185A7}"/>
                </a:ext>
              </a:extLst>
            </p:cNvPr>
            <p:cNvSpPr/>
            <p:nvPr/>
          </p:nvSpPr>
          <p:spPr bwMode="gray">
            <a:xfrm>
              <a:off x="1737360" y="2731008"/>
              <a:ext cx="225552" cy="2432304"/>
            </a:xfrm>
            <a:prstGeom prst="rect">
              <a:avLst/>
            </a:prstGeom>
            <a:solidFill>
              <a:schemeClr val="bg1"/>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18" name="Group 17">
              <a:extLst>
                <a:ext uri="{FF2B5EF4-FFF2-40B4-BE49-F238E27FC236}">
                  <a16:creationId xmlns:a16="http://schemas.microsoft.com/office/drawing/2014/main" id="{49ED750A-F8CF-FCD1-0E0B-E1ED85894782}"/>
                </a:ext>
              </a:extLst>
            </p:cNvPr>
            <p:cNvGrpSpPr/>
            <p:nvPr/>
          </p:nvGrpSpPr>
          <p:grpSpPr>
            <a:xfrm>
              <a:off x="1752837" y="2748278"/>
              <a:ext cx="185894" cy="2380488"/>
              <a:chOff x="1752837" y="2748278"/>
              <a:chExt cx="185894" cy="2380488"/>
            </a:xfrm>
          </p:grpSpPr>
          <p:sp>
            <p:nvSpPr>
              <p:cNvPr id="3" name="Oval 2">
                <a:extLst>
                  <a:ext uri="{FF2B5EF4-FFF2-40B4-BE49-F238E27FC236}">
                    <a16:creationId xmlns:a16="http://schemas.microsoft.com/office/drawing/2014/main" id="{BD49C883-4C33-43E1-EC84-BA2CD25F6BA8}"/>
                  </a:ext>
                </a:extLst>
              </p:cNvPr>
              <p:cNvSpPr/>
              <p:nvPr/>
            </p:nvSpPr>
            <p:spPr bwMode="gray">
              <a:xfrm>
                <a:off x="1752837" y="2748278"/>
                <a:ext cx="185894" cy="182880"/>
              </a:xfrm>
              <a:prstGeom prst="ellipse">
                <a:avLst/>
              </a:prstGeom>
              <a:solidFill>
                <a:schemeClr val="accent1"/>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4" name="Oval 3">
                <a:extLst>
                  <a:ext uri="{FF2B5EF4-FFF2-40B4-BE49-F238E27FC236}">
                    <a16:creationId xmlns:a16="http://schemas.microsoft.com/office/drawing/2014/main" id="{7B30968E-CB9F-E07A-02AE-A2C80602A1E7}"/>
                  </a:ext>
                </a:extLst>
              </p:cNvPr>
              <p:cNvSpPr/>
              <p:nvPr/>
            </p:nvSpPr>
            <p:spPr bwMode="gray">
              <a:xfrm>
                <a:off x="1752837" y="3187800"/>
                <a:ext cx="185894" cy="182880"/>
              </a:xfrm>
              <a:prstGeom prst="ellipse">
                <a:avLst/>
              </a:prstGeom>
              <a:solidFill>
                <a:schemeClr val="accent2"/>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5" name="Oval 4">
                <a:extLst>
                  <a:ext uri="{FF2B5EF4-FFF2-40B4-BE49-F238E27FC236}">
                    <a16:creationId xmlns:a16="http://schemas.microsoft.com/office/drawing/2014/main" id="{A930C627-A49A-485C-771A-857CC1EC1F9D}"/>
                  </a:ext>
                </a:extLst>
              </p:cNvPr>
              <p:cNvSpPr/>
              <p:nvPr/>
            </p:nvSpPr>
            <p:spPr bwMode="gray">
              <a:xfrm>
                <a:off x="1752837" y="3627322"/>
                <a:ext cx="185894" cy="182880"/>
              </a:xfrm>
              <a:prstGeom prst="ellipse">
                <a:avLst/>
              </a:prstGeom>
              <a:solidFill>
                <a:schemeClr val="accent3"/>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8" name="Oval 7">
                <a:extLst>
                  <a:ext uri="{FF2B5EF4-FFF2-40B4-BE49-F238E27FC236}">
                    <a16:creationId xmlns:a16="http://schemas.microsoft.com/office/drawing/2014/main" id="{B73EC02D-124D-F7EF-CED2-B5BD0A088042}"/>
                  </a:ext>
                </a:extLst>
              </p:cNvPr>
              <p:cNvSpPr/>
              <p:nvPr/>
            </p:nvSpPr>
            <p:spPr bwMode="gray">
              <a:xfrm>
                <a:off x="1752837" y="4066844"/>
                <a:ext cx="185894" cy="182880"/>
              </a:xfrm>
              <a:prstGeom prst="ellipse">
                <a:avLst/>
              </a:prstGeom>
              <a:solidFill>
                <a:schemeClr val="accent4"/>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9" name="Oval 8">
                <a:extLst>
                  <a:ext uri="{FF2B5EF4-FFF2-40B4-BE49-F238E27FC236}">
                    <a16:creationId xmlns:a16="http://schemas.microsoft.com/office/drawing/2014/main" id="{103CB9F6-F95D-0073-5649-47CB204A2692}"/>
                  </a:ext>
                </a:extLst>
              </p:cNvPr>
              <p:cNvSpPr/>
              <p:nvPr/>
            </p:nvSpPr>
            <p:spPr bwMode="gray">
              <a:xfrm>
                <a:off x="1752837" y="4506366"/>
                <a:ext cx="185894" cy="182880"/>
              </a:xfrm>
              <a:prstGeom prst="ellipse">
                <a:avLst/>
              </a:prstGeom>
              <a:solidFill>
                <a:schemeClr val="accent5"/>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sp>
            <p:nvSpPr>
              <p:cNvPr id="15" name="Oval 14">
                <a:extLst>
                  <a:ext uri="{FF2B5EF4-FFF2-40B4-BE49-F238E27FC236}">
                    <a16:creationId xmlns:a16="http://schemas.microsoft.com/office/drawing/2014/main" id="{F6CF9F83-BEFE-2CC8-9C9F-754FF14FC5EB}"/>
                  </a:ext>
                </a:extLst>
              </p:cNvPr>
              <p:cNvSpPr/>
              <p:nvPr/>
            </p:nvSpPr>
            <p:spPr bwMode="gray">
              <a:xfrm>
                <a:off x="1752837" y="4945886"/>
                <a:ext cx="185894" cy="182880"/>
              </a:xfrm>
              <a:prstGeom prst="ellipse">
                <a:avLst/>
              </a:prstGeom>
              <a:solidFill>
                <a:schemeClr val="bg1">
                  <a:lumMod val="65000"/>
                </a:schemeClr>
              </a:solidFill>
              <a:ln w="19050"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sz="1400" b="1">
                  <a:solidFill>
                    <a:schemeClr val="accent1"/>
                  </a:solidFill>
                  <a:latin typeface="+mj-lt"/>
                </a:endParaRPr>
              </a:p>
            </p:txBody>
          </p:sp>
        </p:grpSp>
      </p:grpSp>
      <p:grpSp>
        <p:nvGrpSpPr>
          <p:cNvPr id="19" name="Group 18">
            <a:extLst>
              <a:ext uri="{FF2B5EF4-FFF2-40B4-BE49-F238E27FC236}">
                <a16:creationId xmlns:a16="http://schemas.microsoft.com/office/drawing/2014/main" id="{CDABF1ED-BC17-B896-E0E2-F332A470827E}"/>
              </a:ext>
            </a:extLst>
          </p:cNvPr>
          <p:cNvGrpSpPr/>
          <p:nvPr/>
        </p:nvGrpSpPr>
        <p:grpSpPr>
          <a:xfrm>
            <a:off x="1073723" y="1600319"/>
            <a:ext cx="650178" cy="539122"/>
            <a:chOff x="1686341" y="1600319"/>
            <a:chExt cx="650178" cy="539122"/>
          </a:xfrm>
        </p:grpSpPr>
        <p:cxnSp>
          <p:nvCxnSpPr>
            <p:cNvPr id="20" name="Straight Connector 19">
              <a:extLst>
                <a:ext uri="{FF2B5EF4-FFF2-40B4-BE49-F238E27FC236}">
                  <a16:creationId xmlns:a16="http://schemas.microsoft.com/office/drawing/2014/main" id="{6CC85458-3254-D02B-0E35-5F14E6689FF0}"/>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21" name="TextBox 20">
              <a:extLst>
                <a:ext uri="{FF2B5EF4-FFF2-40B4-BE49-F238E27FC236}">
                  <a16:creationId xmlns:a16="http://schemas.microsoft.com/office/drawing/2014/main" id="{784139F6-3019-2BA2-B32D-20324031A0E2}"/>
                </a:ext>
              </a:extLst>
            </p:cNvPr>
            <p:cNvSpPr txBox="1"/>
            <p:nvPr/>
          </p:nvSpPr>
          <p:spPr bwMode="gray">
            <a:xfrm>
              <a:off x="1686341" y="1600319"/>
              <a:ext cx="650178" cy="53912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t>(n=200)</a:t>
              </a:r>
              <a:endParaRPr kumimoji="0" lang="en-US" sz="14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sp>
        <p:nvSpPr>
          <p:cNvPr id="22" name="TextBox 21">
            <a:extLst>
              <a:ext uri="{FF2B5EF4-FFF2-40B4-BE49-F238E27FC236}">
                <a16:creationId xmlns:a16="http://schemas.microsoft.com/office/drawing/2014/main" id="{68C5F930-2FAB-77EB-F32B-99BD567C9A3A}"/>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sp>
        <p:nvSpPr>
          <p:cNvPr id="2" name="Rectangle 1">
            <a:extLst>
              <a:ext uri="{FF2B5EF4-FFF2-40B4-BE49-F238E27FC236}">
                <a16:creationId xmlns:a16="http://schemas.microsoft.com/office/drawing/2014/main" id="{C409189F-1710-A470-D75B-A7134558EE60}"/>
              </a:ext>
            </a:extLst>
          </p:cNvPr>
          <p:cNvSpPr/>
          <p:nvPr/>
        </p:nvSpPr>
        <p:spPr bwMode="gray">
          <a:xfrm>
            <a:off x="2868526" y="2622571"/>
            <a:ext cx="719998" cy="1087581"/>
          </a:xfrm>
          <a:prstGeom prst="rect">
            <a:avLst/>
          </a:prstGeom>
          <a:noFill/>
          <a:ln w="28575" cap="flat" cmpd="sng" algn="ctr">
            <a:solidFill>
              <a:schemeClr val="tx1"/>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126"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F73DF99B-D750-1BDF-0127-BB8EB6ED9734}"/>
              </a:ext>
            </a:extLst>
          </p:cNvPr>
          <p:cNvSpPr txBox="1"/>
          <p:nvPr/>
        </p:nvSpPr>
        <p:spPr bwMode="gray">
          <a:xfrm>
            <a:off x="2487006" y="3037107"/>
            <a:ext cx="398483" cy="258508"/>
          </a:xfrm>
          <a:prstGeom prst="rect">
            <a:avLst/>
          </a:prstGeom>
          <a:solidFill>
            <a:srgbClr val="F2F2F2"/>
          </a:solidFill>
        </p:spPr>
        <p:txBody>
          <a:bodyPr wrap="none" lIns="45708" tIns="45708" rIns="45708" bIns="45708" rtlCol="0">
            <a:spAutoFit/>
          </a:bodyPr>
          <a:lstStyle/>
          <a:p>
            <a:pPr marL="0" marR="0" lvl="0" indent="0" algn="l" defTabSz="914126" rtl="0" eaLnBrk="1" fontAlgn="auto" latinLnBrk="0" hangingPunct="1">
              <a:lnSpc>
                <a:spcPct val="90000"/>
              </a:lnSpc>
              <a:spcBef>
                <a:spcPts val="100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a:ea typeface="+mn-ea"/>
                <a:cs typeface="+mn-cs"/>
              </a:rPr>
              <a:t>41%</a:t>
            </a:r>
            <a:endParaRPr kumimoji="0" lang="en-US" sz="1200" i="0" u="none" strike="noStrike" kern="1200" cap="none" spc="0" normalizeH="0" baseline="40000" noProof="0">
              <a:ln>
                <a:noFill/>
              </a:ln>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E96A4908-E1B4-D679-C533-EABA98828DA8}"/>
              </a:ext>
            </a:extLst>
          </p:cNvPr>
          <p:cNvSpPr/>
          <p:nvPr/>
        </p:nvSpPr>
        <p:spPr bwMode="gray">
          <a:xfrm>
            <a:off x="4361364" y="2622571"/>
            <a:ext cx="719998" cy="987552"/>
          </a:xfrm>
          <a:prstGeom prst="rect">
            <a:avLst/>
          </a:prstGeom>
          <a:noFill/>
          <a:ln w="28575" cap="flat" cmpd="sng" algn="ctr">
            <a:solidFill>
              <a:schemeClr val="tx1"/>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126"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52BE0D2A-E7FD-86E0-7BF8-580B268335DD}"/>
              </a:ext>
            </a:extLst>
          </p:cNvPr>
          <p:cNvSpPr txBox="1"/>
          <p:nvPr/>
        </p:nvSpPr>
        <p:spPr bwMode="gray">
          <a:xfrm>
            <a:off x="4000389" y="2987093"/>
            <a:ext cx="398483" cy="258508"/>
          </a:xfrm>
          <a:prstGeom prst="rect">
            <a:avLst/>
          </a:prstGeom>
          <a:solidFill>
            <a:srgbClr val="F2F2F2"/>
          </a:solidFill>
        </p:spPr>
        <p:txBody>
          <a:bodyPr wrap="none" lIns="45708" tIns="45708" rIns="45708" bIns="45708" rtlCol="0">
            <a:spAutoFit/>
          </a:bodyPr>
          <a:lstStyle/>
          <a:p>
            <a:pPr marL="0" marR="0" lvl="0" indent="0" algn="l" defTabSz="914126" rtl="0" eaLnBrk="1" fontAlgn="auto" latinLnBrk="0" hangingPunct="1">
              <a:lnSpc>
                <a:spcPct val="90000"/>
              </a:lnSpc>
              <a:spcBef>
                <a:spcPts val="100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a:ea typeface="+mn-ea"/>
                <a:cs typeface="+mn-cs"/>
              </a:rPr>
              <a:t>39%</a:t>
            </a:r>
          </a:p>
        </p:txBody>
      </p:sp>
      <p:sp>
        <p:nvSpPr>
          <p:cNvPr id="26" name="Rectangle 25">
            <a:extLst>
              <a:ext uri="{FF2B5EF4-FFF2-40B4-BE49-F238E27FC236}">
                <a16:creationId xmlns:a16="http://schemas.microsoft.com/office/drawing/2014/main" id="{51F402BF-C0AE-0C09-8699-3EE89E631145}"/>
              </a:ext>
            </a:extLst>
          </p:cNvPr>
          <p:cNvSpPr/>
          <p:nvPr/>
        </p:nvSpPr>
        <p:spPr bwMode="gray">
          <a:xfrm>
            <a:off x="7340079" y="2622571"/>
            <a:ext cx="719998" cy="987552"/>
          </a:xfrm>
          <a:prstGeom prst="rect">
            <a:avLst/>
          </a:prstGeom>
          <a:noFill/>
          <a:ln w="28575" cap="flat" cmpd="sng" algn="ctr">
            <a:solidFill>
              <a:schemeClr val="tx1"/>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126"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27" name="TextBox 26">
            <a:extLst>
              <a:ext uri="{FF2B5EF4-FFF2-40B4-BE49-F238E27FC236}">
                <a16:creationId xmlns:a16="http://schemas.microsoft.com/office/drawing/2014/main" id="{7A62BC70-B18D-9E04-A988-7BF7937A89EF}"/>
              </a:ext>
            </a:extLst>
          </p:cNvPr>
          <p:cNvSpPr txBox="1"/>
          <p:nvPr/>
        </p:nvSpPr>
        <p:spPr bwMode="gray">
          <a:xfrm>
            <a:off x="6979104" y="2987093"/>
            <a:ext cx="398483" cy="258508"/>
          </a:xfrm>
          <a:prstGeom prst="rect">
            <a:avLst/>
          </a:prstGeom>
          <a:solidFill>
            <a:srgbClr val="F2F2F2"/>
          </a:solidFill>
        </p:spPr>
        <p:txBody>
          <a:bodyPr wrap="none" lIns="45708" tIns="45708" rIns="45708" bIns="45708" rtlCol="0">
            <a:spAutoFit/>
          </a:bodyPr>
          <a:lstStyle/>
          <a:p>
            <a:pPr marL="0" marR="0" lvl="0" indent="0" algn="l" defTabSz="914126" rtl="0" eaLnBrk="1" fontAlgn="auto" latinLnBrk="0" hangingPunct="1">
              <a:lnSpc>
                <a:spcPct val="90000"/>
              </a:lnSpc>
              <a:spcBef>
                <a:spcPts val="100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a:ea typeface="+mn-ea"/>
                <a:cs typeface="+mn-cs"/>
              </a:rPr>
              <a:t>38%</a:t>
            </a:r>
          </a:p>
        </p:txBody>
      </p:sp>
      <p:sp>
        <p:nvSpPr>
          <p:cNvPr id="12" name="TextBox 11">
            <a:extLst>
              <a:ext uri="{FF2B5EF4-FFF2-40B4-BE49-F238E27FC236}">
                <a16:creationId xmlns:a16="http://schemas.microsoft.com/office/drawing/2014/main" id="{B2F0FE26-AADF-34FC-9D95-E06717B22028}"/>
              </a:ext>
            </a:extLst>
          </p:cNvPr>
          <p:cNvSpPr txBox="1"/>
          <p:nvPr/>
        </p:nvSpPr>
        <p:spPr bwMode="gray">
          <a:xfrm>
            <a:off x="7898206" y="2559110"/>
            <a:ext cx="686983" cy="3046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nSpc>
                <a:spcPct val="90000"/>
              </a:lnSpc>
            </a:pPr>
            <a:r>
              <a:rPr lang="en-US" sz="900">
                <a:solidFill>
                  <a:schemeClr val="tx1">
                    <a:lumMod val="50000"/>
                    <a:lumOff val="50000"/>
                  </a:schemeClr>
                </a:solidFill>
              </a:rPr>
              <a:t>13% PED &gt; </a:t>
            </a:r>
          </a:p>
          <a:p>
            <a:pPr>
              <a:lnSpc>
                <a:spcPct val="90000"/>
              </a:lnSpc>
            </a:pPr>
            <a:r>
              <a:rPr lang="en-US" sz="900">
                <a:solidFill>
                  <a:schemeClr val="tx1">
                    <a:lumMod val="50000"/>
                    <a:lumOff val="50000"/>
                  </a:schemeClr>
                </a:solidFill>
              </a:rPr>
              <a:t>  3% PCP</a:t>
            </a:r>
          </a:p>
        </p:txBody>
      </p:sp>
      <p:grpSp>
        <p:nvGrpSpPr>
          <p:cNvPr id="52" name="Group 51">
            <a:extLst>
              <a:ext uri="{FF2B5EF4-FFF2-40B4-BE49-F238E27FC236}">
                <a16:creationId xmlns:a16="http://schemas.microsoft.com/office/drawing/2014/main" id="{087ACF98-9EBC-4714-420B-E40A0E374D5B}"/>
              </a:ext>
            </a:extLst>
          </p:cNvPr>
          <p:cNvGrpSpPr/>
          <p:nvPr/>
        </p:nvGrpSpPr>
        <p:grpSpPr>
          <a:xfrm>
            <a:off x="2569422" y="5313189"/>
            <a:ext cx="1366074" cy="428523"/>
            <a:chOff x="2569422" y="5313189"/>
            <a:chExt cx="1366074" cy="428523"/>
          </a:xfrm>
        </p:grpSpPr>
        <p:pic>
          <p:nvPicPr>
            <p:cNvPr id="32" name="Google Shape;53;p7">
              <a:extLst>
                <a:ext uri="{FF2B5EF4-FFF2-40B4-BE49-F238E27FC236}">
                  <a16:creationId xmlns:a16="http://schemas.microsoft.com/office/drawing/2014/main" id="{11B805FB-E49E-2244-3FB8-34A39AEEBA91}"/>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rcRect t="787" b="787"/>
            <a:stretch/>
          </p:blipFill>
          <p:spPr bwMode="gray">
            <a:xfrm>
              <a:off x="2569422" y="5313189"/>
              <a:ext cx="1053872" cy="428523"/>
            </a:xfrm>
            <a:prstGeom prst="rect">
              <a:avLst/>
            </a:prstGeom>
            <a:solidFill>
              <a:schemeClr val="bg1"/>
            </a:solidFill>
            <a:ln>
              <a:noFill/>
            </a:ln>
          </p:spPr>
        </p:pic>
        <p:sp>
          <p:nvSpPr>
            <p:cNvPr id="36" name="TextBox 35">
              <a:extLst>
                <a:ext uri="{FF2B5EF4-FFF2-40B4-BE49-F238E27FC236}">
                  <a16:creationId xmlns:a16="http://schemas.microsoft.com/office/drawing/2014/main" id="{CBABD5E7-92C9-E361-4057-1C99B3349992}"/>
                </a:ext>
              </a:extLst>
            </p:cNvPr>
            <p:cNvSpPr txBox="1"/>
            <p:nvPr/>
          </p:nvSpPr>
          <p:spPr bwMode="gray">
            <a:xfrm>
              <a:off x="3604956" y="5420643"/>
              <a:ext cx="330540" cy="25648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20000" noProof="0">
                  <a:ln>
                    <a:noFill/>
                  </a:ln>
                  <a:solidFill>
                    <a:srgbClr val="000000"/>
                  </a:solidFill>
                  <a:effectLst/>
                  <a:uLnTx/>
                  <a:uFillTx/>
                  <a:latin typeface="Arial" panose="020B0604020202020204"/>
                  <a:ea typeface="+mn-ea"/>
                  <a:cs typeface="Arial"/>
                </a:rPr>
                <a:t>|</a:t>
              </a:r>
              <a:r>
                <a:rPr kumimoji="0" lang="en-US" sz="800" b="0" i="0" u="none" strike="noStrike" kern="1200" cap="none" spc="0" normalizeH="0" baseline="20000" noProof="0">
                  <a:ln>
                    <a:noFill/>
                  </a:ln>
                  <a:solidFill>
                    <a:srgbClr val="000000"/>
                  </a:solidFill>
                  <a:effectLst/>
                  <a:uLnTx/>
                  <a:uFillTx/>
                  <a:latin typeface="Arial" panose="020B0604020202020204"/>
                  <a:ea typeface="+mn-ea"/>
                  <a:cs typeface="Arial"/>
                </a:rPr>
                <a:t> </a:t>
              </a:r>
              <a:r>
                <a:rPr kumimoji="0" lang="en-US" sz="1600" b="0" i="0" u="none" strike="noStrike" kern="1200" cap="none" spc="0" normalizeH="0" baseline="25000" noProof="0">
                  <a:ln>
                    <a:noFill/>
                  </a:ln>
                  <a:solidFill>
                    <a:srgbClr val="000000"/>
                  </a:solidFill>
                  <a:effectLst/>
                  <a:uLnTx/>
                  <a:uFillTx/>
                  <a:latin typeface="Arial" panose="020B0604020202020204"/>
                  <a:ea typeface="+mn-ea"/>
                  <a:cs typeface="Arial"/>
                </a:rPr>
                <a:t>P</a:t>
              </a:r>
              <a:endParaRPr kumimoji="0" lang="en-US" sz="1600" b="0" i="0" u="none" strike="noStrike" kern="1200" cap="none" spc="0" normalizeH="0" baseline="25000" noProof="0">
                <a:ln>
                  <a:noFill/>
                </a:ln>
                <a:solidFill>
                  <a:srgbClr val="000000"/>
                </a:solidFill>
                <a:effectLst/>
                <a:uLnTx/>
                <a:uFillTx/>
                <a:latin typeface="Arial" panose="020B0604020202020204"/>
                <a:ea typeface="+mn-ea"/>
                <a:cs typeface="+mn-cs"/>
              </a:endParaRPr>
            </a:p>
          </p:txBody>
        </p:sp>
      </p:grpSp>
      <p:grpSp>
        <p:nvGrpSpPr>
          <p:cNvPr id="51" name="Group 50">
            <a:extLst>
              <a:ext uri="{FF2B5EF4-FFF2-40B4-BE49-F238E27FC236}">
                <a16:creationId xmlns:a16="http://schemas.microsoft.com/office/drawing/2014/main" id="{409FA3B3-0D89-4BC5-0B97-266CEC16C928}"/>
              </a:ext>
            </a:extLst>
          </p:cNvPr>
          <p:cNvGrpSpPr/>
          <p:nvPr/>
        </p:nvGrpSpPr>
        <p:grpSpPr>
          <a:xfrm>
            <a:off x="4287735" y="5410750"/>
            <a:ext cx="1061937" cy="266373"/>
            <a:chOff x="4287735" y="5410750"/>
            <a:chExt cx="1061937" cy="266373"/>
          </a:xfrm>
        </p:grpSpPr>
        <p:pic>
          <p:nvPicPr>
            <p:cNvPr id="31" name="Picture 30">
              <a:extLst>
                <a:ext uri="{FF2B5EF4-FFF2-40B4-BE49-F238E27FC236}">
                  <a16:creationId xmlns:a16="http://schemas.microsoft.com/office/drawing/2014/main" id="{082A3CD4-9E48-8BA2-099F-80F32A03965D}"/>
                </a:ext>
              </a:extLst>
            </p:cNvPr>
            <p:cNvPicPr>
              <a:picLocks noChangeAspect="1"/>
            </p:cNvPicPr>
            <p:nvPr/>
          </p:nvPicPr>
          <p:blipFill>
            <a:blip r:embed="rId5"/>
            <a:stretch>
              <a:fillRect/>
            </a:stretch>
          </p:blipFill>
          <p:spPr>
            <a:xfrm>
              <a:off x="4287735" y="5410750"/>
              <a:ext cx="734274" cy="233400"/>
            </a:xfrm>
            <a:prstGeom prst="rect">
              <a:avLst/>
            </a:prstGeom>
          </p:spPr>
        </p:pic>
        <p:sp>
          <p:nvSpPr>
            <p:cNvPr id="37" name="TextBox 36">
              <a:extLst>
                <a:ext uri="{FF2B5EF4-FFF2-40B4-BE49-F238E27FC236}">
                  <a16:creationId xmlns:a16="http://schemas.microsoft.com/office/drawing/2014/main" id="{1777EFA5-544A-3F11-5A63-2F98B6A69130}"/>
                </a:ext>
              </a:extLst>
            </p:cNvPr>
            <p:cNvSpPr txBox="1"/>
            <p:nvPr/>
          </p:nvSpPr>
          <p:spPr bwMode="gray">
            <a:xfrm>
              <a:off x="5004706" y="5420643"/>
              <a:ext cx="344966" cy="25648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20000" noProof="0">
                  <a:ln>
                    <a:noFill/>
                  </a:ln>
                  <a:solidFill>
                    <a:srgbClr val="000000"/>
                  </a:solidFill>
                  <a:effectLst/>
                  <a:uLnTx/>
                  <a:uFillTx/>
                  <a:latin typeface="Arial" panose="020B0604020202020204"/>
                  <a:ea typeface="+mn-ea"/>
                  <a:cs typeface="Arial"/>
                </a:rPr>
                <a:t>|</a:t>
              </a:r>
              <a:r>
                <a:rPr kumimoji="0" lang="en-US" sz="800" b="0" i="0" u="none" strike="noStrike" kern="1200" cap="none" spc="0" normalizeH="0" baseline="20000" noProof="0">
                  <a:ln>
                    <a:noFill/>
                  </a:ln>
                  <a:solidFill>
                    <a:srgbClr val="000000"/>
                  </a:solidFill>
                  <a:effectLst/>
                  <a:uLnTx/>
                  <a:uFillTx/>
                  <a:latin typeface="Arial" panose="020B0604020202020204"/>
                  <a:ea typeface="+mn-ea"/>
                  <a:cs typeface="Arial"/>
                </a:rPr>
                <a:t> </a:t>
              </a:r>
              <a:r>
                <a:rPr kumimoji="0" lang="en-US" sz="1600" b="0" i="0" u="none" strike="noStrike" kern="1200" cap="none" spc="0" normalizeH="0" baseline="25000" noProof="0">
                  <a:ln>
                    <a:noFill/>
                  </a:ln>
                  <a:solidFill>
                    <a:srgbClr val="000000"/>
                  </a:solidFill>
                  <a:effectLst/>
                  <a:uLnTx/>
                  <a:uFillTx/>
                  <a:latin typeface="Arial" panose="020B0604020202020204"/>
                  <a:ea typeface="+mn-ea"/>
                  <a:cs typeface="Arial"/>
                </a:rPr>
                <a:t>G</a:t>
              </a:r>
              <a:endParaRPr kumimoji="0" lang="en-US" sz="1600" b="0" i="0" u="none" strike="noStrike" kern="1200" cap="none" spc="0" normalizeH="0" baseline="25000" noProof="0">
                <a:ln>
                  <a:noFill/>
                </a:ln>
                <a:solidFill>
                  <a:srgbClr val="000000"/>
                </a:solidFill>
                <a:effectLst/>
                <a:uLnTx/>
                <a:uFillTx/>
                <a:latin typeface="Arial" panose="020B0604020202020204"/>
                <a:ea typeface="+mn-ea"/>
                <a:cs typeface="+mn-cs"/>
              </a:endParaRPr>
            </a:p>
          </p:txBody>
        </p:sp>
      </p:grpSp>
      <p:grpSp>
        <p:nvGrpSpPr>
          <p:cNvPr id="50" name="Group 49">
            <a:extLst>
              <a:ext uri="{FF2B5EF4-FFF2-40B4-BE49-F238E27FC236}">
                <a16:creationId xmlns:a16="http://schemas.microsoft.com/office/drawing/2014/main" id="{D3542F2E-70DC-8295-1A10-0D6E5499C60C}"/>
              </a:ext>
            </a:extLst>
          </p:cNvPr>
          <p:cNvGrpSpPr/>
          <p:nvPr/>
        </p:nvGrpSpPr>
        <p:grpSpPr>
          <a:xfrm>
            <a:off x="5521448" y="5362593"/>
            <a:ext cx="1478425" cy="329715"/>
            <a:chOff x="5521448" y="5362593"/>
            <a:chExt cx="1478425" cy="329715"/>
          </a:xfrm>
        </p:grpSpPr>
        <p:pic>
          <p:nvPicPr>
            <p:cNvPr id="34" name="Picture 33">
              <a:extLst>
                <a:ext uri="{FF2B5EF4-FFF2-40B4-BE49-F238E27FC236}">
                  <a16:creationId xmlns:a16="http://schemas.microsoft.com/office/drawing/2014/main" id="{C9CFC749-93F4-AE28-A141-789864AE2F24}"/>
                </a:ext>
              </a:extLst>
            </p:cNvPr>
            <p:cNvPicPr>
              <a:picLocks noChangeAspect="1"/>
            </p:cNvPicPr>
            <p:nvPr/>
          </p:nvPicPr>
          <p:blipFill>
            <a:blip r:embed="rId6"/>
            <a:stretch>
              <a:fillRect/>
            </a:stretch>
          </p:blipFill>
          <p:spPr>
            <a:xfrm>
              <a:off x="5521448" y="5362593"/>
              <a:ext cx="1139541" cy="329715"/>
            </a:xfrm>
            <a:prstGeom prst="rect">
              <a:avLst/>
            </a:prstGeom>
          </p:spPr>
        </p:pic>
        <p:sp>
          <p:nvSpPr>
            <p:cNvPr id="39" name="TextBox 38">
              <a:extLst>
                <a:ext uri="{FF2B5EF4-FFF2-40B4-BE49-F238E27FC236}">
                  <a16:creationId xmlns:a16="http://schemas.microsoft.com/office/drawing/2014/main" id="{32788755-FAF3-028D-2BED-0B2AD1292323}"/>
                </a:ext>
              </a:extLst>
            </p:cNvPr>
            <p:cNvSpPr txBox="1"/>
            <p:nvPr/>
          </p:nvSpPr>
          <p:spPr bwMode="gray">
            <a:xfrm>
              <a:off x="6646891" y="5420643"/>
              <a:ext cx="352982" cy="25648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20000" noProof="0">
                  <a:ln>
                    <a:noFill/>
                  </a:ln>
                  <a:solidFill>
                    <a:srgbClr val="000000"/>
                  </a:solidFill>
                  <a:effectLst/>
                  <a:uLnTx/>
                  <a:uFillTx/>
                  <a:latin typeface="Arial" panose="020B0604020202020204"/>
                  <a:ea typeface="+mn-ea"/>
                  <a:cs typeface="Arial"/>
                </a:rPr>
                <a:t>|</a:t>
              </a:r>
              <a:r>
                <a:rPr kumimoji="0" lang="en-US" sz="800" b="0" i="0" u="none" strike="noStrike" kern="1200" cap="none" spc="0" normalizeH="0" baseline="20000" noProof="0">
                  <a:ln>
                    <a:noFill/>
                  </a:ln>
                  <a:solidFill>
                    <a:srgbClr val="000000"/>
                  </a:solidFill>
                  <a:effectLst/>
                  <a:uLnTx/>
                  <a:uFillTx/>
                  <a:latin typeface="Arial" panose="020B0604020202020204"/>
                  <a:ea typeface="+mn-ea"/>
                  <a:cs typeface="Arial"/>
                </a:rPr>
                <a:t> </a:t>
              </a:r>
              <a:r>
                <a:rPr kumimoji="0" lang="en-US" sz="1600" b="0" i="0" u="none" strike="noStrike" kern="1200" cap="none" spc="0" normalizeH="0" baseline="25000" noProof="0">
                  <a:ln>
                    <a:noFill/>
                  </a:ln>
                  <a:solidFill>
                    <a:srgbClr val="000000"/>
                  </a:solidFill>
                  <a:effectLst/>
                  <a:uLnTx/>
                  <a:uFillTx/>
                  <a:latin typeface="Arial" panose="020B0604020202020204"/>
                  <a:ea typeface="+mn-ea"/>
                  <a:cs typeface="Arial"/>
                </a:rPr>
                <a:t>M</a:t>
              </a:r>
              <a:endParaRPr kumimoji="0" lang="en-US" sz="1600" b="0" i="0" u="none" strike="noStrike" kern="1200" cap="none" spc="0" normalizeH="0" baseline="25000" noProof="0">
                <a:ln>
                  <a:noFill/>
                </a:ln>
                <a:solidFill>
                  <a:srgbClr val="000000"/>
                </a:solidFill>
                <a:effectLst/>
                <a:uLnTx/>
                <a:uFillTx/>
                <a:latin typeface="Arial" panose="020B0604020202020204"/>
                <a:ea typeface="+mn-ea"/>
                <a:cs typeface="+mn-cs"/>
              </a:endParaRPr>
            </a:p>
          </p:txBody>
        </p:sp>
      </p:grpSp>
      <p:sp>
        <p:nvSpPr>
          <p:cNvPr id="29" name="TextBox 28">
            <a:extLst>
              <a:ext uri="{FF2B5EF4-FFF2-40B4-BE49-F238E27FC236}">
                <a16:creationId xmlns:a16="http://schemas.microsoft.com/office/drawing/2014/main" id="{C0DE5CEC-5C3C-3314-D3EB-0206AB7BDD8E}"/>
              </a:ext>
            </a:extLst>
          </p:cNvPr>
          <p:cNvSpPr txBox="1"/>
          <p:nvPr/>
        </p:nvSpPr>
        <p:spPr bwMode="gray">
          <a:xfrm>
            <a:off x="6854195" y="2570458"/>
            <a:ext cx="594149"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00050" lvl="0" indent="-400050" defTabSz="914126">
              <a:lnSpc>
                <a:spcPct val="90000"/>
              </a:lnSpc>
              <a:defRPr/>
            </a:pPr>
            <a:r>
              <a:rPr kumimoji="0" lang="en-US" sz="900" b="0" i="0" u="none" kern="1200" cap="none" spc="0" normalizeH="0" baseline="0" noProof="0">
                <a:ln>
                  <a:noFill/>
                </a:ln>
                <a:solidFill>
                  <a:srgbClr val="000000">
                    <a:lumMod val="50000"/>
                    <a:lumOff val="50000"/>
                  </a:srgbClr>
                </a:solidFill>
                <a:effectLst/>
                <a:uLnTx/>
                <a:uFillTx/>
                <a:latin typeface="Arial" panose="020B0604020202020204"/>
                <a:ea typeface="+mn-ea"/>
                <a:cs typeface="+mn-cs"/>
              </a:rPr>
              <a:t>Tier 3 &lt; 2</a:t>
            </a:r>
          </a:p>
        </p:txBody>
      </p:sp>
      <p:sp>
        <p:nvSpPr>
          <p:cNvPr id="41" name="Rectangle 40">
            <a:extLst>
              <a:ext uri="{FF2B5EF4-FFF2-40B4-BE49-F238E27FC236}">
                <a16:creationId xmlns:a16="http://schemas.microsoft.com/office/drawing/2014/main" id="{8680141F-B83B-2F07-A0AD-9E929D704DFB}"/>
              </a:ext>
            </a:extLst>
          </p:cNvPr>
          <p:cNvSpPr/>
          <p:nvPr/>
        </p:nvSpPr>
        <p:spPr bwMode="gray">
          <a:xfrm>
            <a:off x="5842049" y="2622571"/>
            <a:ext cx="719998" cy="987552"/>
          </a:xfrm>
          <a:prstGeom prst="rect">
            <a:avLst/>
          </a:prstGeom>
          <a:noFill/>
          <a:ln w="28575" cap="flat" cmpd="sng" algn="ctr">
            <a:solidFill>
              <a:schemeClr val="tx1"/>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marL="0" marR="0" lvl="0" indent="0" algn="ctr" defTabSz="914126" rtl="0" eaLnBrk="1" fontAlgn="base" latinLnBrk="0" hangingPunct="1">
              <a:lnSpc>
                <a:spcPct val="90000"/>
              </a:lnSpc>
              <a:spcBef>
                <a:spcPts val="0"/>
              </a:spcBef>
              <a:spcAft>
                <a:spcPct val="0"/>
              </a:spcAft>
              <a:buClr>
                <a:srgbClr val="0095FF"/>
              </a:buClr>
              <a:buSzPct val="90000"/>
              <a:buFontTx/>
              <a:buNone/>
              <a:tabLst/>
              <a:defRPr/>
            </a:pPr>
            <a:endParaRPr kumimoji="0" lang="en-US" sz="1799" b="1" i="0" u="none" strike="noStrike" kern="1200" cap="none" spc="0" normalizeH="0" baseline="0" noProof="0">
              <a:ln>
                <a:noFill/>
              </a:ln>
              <a:solidFill>
                <a:srgbClr val="0000C9"/>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F1B6F2FD-E13E-9E39-46FD-C228AFE8A719}"/>
              </a:ext>
            </a:extLst>
          </p:cNvPr>
          <p:cNvSpPr txBox="1"/>
          <p:nvPr/>
        </p:nvSpPr>
        <p:spPr bwMode="gray">
          <a:xfrm>
            <a:off x="5481074" y="2987093"/>
            <a:ext cx="398483" cy="258508"/>
          </a:xfrm>
          <a:prstGeom prst="rect">
            <a:avLst/>
          </a:prstGeom>
          <a:solidFill>
            <a:srgbClr val="F2F2F2"/>
          </a:solidFill>
        </p:spPr>
        <p:txBody>
          <a:bodyPr wrap="none" lIns="45708" tIns="45708" rIns="45708" bIns="45708" rtlCol="0">
            <a:spAutoFit/>
          </a:bodyPr>
          <a:lstStyle/>
          <a:p>
            <a:pPr marL="0" marR="0" lvl="0" indent="0" algn="l" defTabSz="914126" rtl="0" eaLnBrk="1" fontAlgn="auto" latinLnBrk="0" hangingPunct="1">
              <a:lnSpc>
                <a:spcPct val="90000"/>
              </a:lnSpc>
              <a:spcBef>
                <a:spcPts val="100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a:ea typeface="+mn-ea"/>
                <a:cs typeface="+mn-cs"/>
              </a:rPr>
              <a:t>39%</a:t>
            </a:r>
          </a:p>
        </p:txBody>
      </p:sp>
      <p:sp>
        <p:nvSpPr>
          <p:cNvPr id="43" name="TextBox 42">
            <a:extLst>
              <a:ext uri="{FF2B5EF4-FFF2-40B4-BE49-F238E27FC236}">
                <a16:creationId xmlns:a16="http://schemas.microsoft.com/office/drawing/2014/main" id="{6F239BA1-EB14-7F79-325F-FA1417EF0BCB}"/>
              </a:ext>
            </a:extLst>
          </p:cNvPr>
          <p:cNvSpPr txBox="1"/>
          <p:nvPr/>
        </p:nvSpPr>
        <p:spPr bwMode="gray">
          <a:xfrm>
            <a:off x="5280584" y="2703112"/>
            <a:ext cx="751398" cy="152349"/>
          </a:xfrm>
          <a:prstGeom prst="rect">
            <a:avLst/>
          </a:prstGeom>
          <a:solidFill>
            <a:schemeClr val="bg1"/>
          </a:solidFill>
          <a:ln w="6350">
            <a:solidFill>
              <a:schemeClr val="tx1">
                <a:lumMod val="50000"/>
                <a:lumOff val="50000"/>
              </a:schemeClr>
            </a:solidFill>
            <a:prstDash val="solid"/>
          </a:ln>
        </p:spPr>
        <p:txBody>
          <a:bodyPr wrap="square" lIns="27432" tIns="27432" rIns="0" bIns="0" rtlCol="0" anchor="ctr" anchorCtr="0">
            <a:spAutoFit/>
          </a:bodyPr>
          <a:lstStyle/>
          <a:p>
            <a:pPr marL="400050" lvl="0" indent="-400050" defTabSz="914126">
              <a:lnSpc>
                <a:spcPct val="90000"/>
              </a:lnSpc>
              <a:defRPr/>
            </a:pPr>
            <a:r>
              <a:rPr kumimoji="0" lang="en-US" sz="900" b="0" i="0" u="none" kern="1200" cap="none" spc="0" normalizeH="0" baseline="0" noProof="0">
                <a:ln>
                  <a:noFill/>
                </a:ln>
                <a:solidFill>
                  <a:srgbClr val="000000">
                    <a:lumMod val="50000"/>
                    <a:lumOff val="50000"/>
                  </a:srgbClr>
                </a:solidFill>
                <a:effectLst/>
                <a:uLnTx/>
                <a:uFillTx/>
                <a:latin typeface="Arial" panose="020B0604020202020204"/>
                <a:ea typeface="+mn-ea"/>
                <a:cs typeface="+mn-cs"/>
              </a:rPr>
              <a:t>Tier 1, 2 &gt; </a:t>
            </a:r>
            <a:r>
              <a:rPr lang="en-US" sz="900">
                <a:solidFill>
                  <a:srgbClr val="000000">
                    <a:lumMod val="50000"/>
                    <a:lumOff val="50000"/>
                  </a:srgbClr>
                </a:solidFill>
                <a:latin typeface="Arial" panose="020B0604020202020204"/>
              </a:rPr>
              <a:t>3</a:t>
            </a:r>
            <a:endParaRPr kumimoji="0" lang="en-US" sz="900" b="0" i="0" u="non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44" name="TextBox 43">
            <a:extLst>
              <a:ext uri="{FF2B5EF4-FFF2-40B4-BE49-F238E27FC236}">
                <a16:creationId xmlns:a16="http://schemas.microsoft.com/office/drawing/2014/main" id="{ADF41EDD-7127-2517-D7E4-45C7EC9504B6}"/>
              </a:ext>
            </a:extLst>
          </p:cNvPr>
          <p:cNvSpPr txBox="1"/>
          <p:nvPr/>
        </p:nvSpPr>
        <p:spPr bwMode="gray">
          <a:xfrm>
            <a:off x="6436463" y="4901728"/>
            <a:ext cx="686983" cy="304699"/>
          </a:xfrm>
          <a:prstGeom prst="rect">
            <a:avLst/>
          </a:prstGeom>
          <a:solidFill>
            <a:schemeClr val="bg1"/>
          </a:solidFill>
          <a:ln w="12700">
            <a:solidFill>
              <a:schemeClr val="tx1">
                <a:lumMod val="50000"/>
                <a:lumOff val="50000"/>
              </a:schemeClr>
            </a:solidFill>
            <a:prstDash val="sysDash"/>
          </a:ln>
        </p:spPr>
        <p:txBody>
          <a:bodyPr wrap="none" lIns="27432" tIns="27432" rIns="27432" bIns="27432" rtlCol="0" anchor="ctr" anchorCtr="0">
            <a:spAutoFit/>
          </a:bodyPr>
          <a:lstStyle/>
          <a:p>
            <a:pPr>
              <a:lnSpc>
                <a:spcPct val="90000"/>
              </a:lnSpc>
            </a:pPr>
            <a:r>
              <a:rPr lang="en-US" sz="900">
                <a:solidFill>
                  <a:schemeClr val="tx1">
                    <a:lumMod val="50000"/>
                    <a:lumOff val="50000"/>
                  </a:schemeClr>
                </a:solidFill>
              </a:rPr>
              <a:t>13% PED &lt; </a:t>
            </a:r>
          </a:p>
          <a:p>
            <a:pPr>
              <a:lnSpc>
                <a:spcPct val="90000"/>
              </a:lnSpc>
            </a:pPr>
            <a:r>
              <a:rPr lang="en-US" sz="900">
                <a:solidFill>
                  <a:schemeClr val="tx1">
                    <a:lumMod val="50000"/>
                    <a:lumOff val="50000"/>
                  </a:schemeClr>
                </a:solidFill>
              </a:rPr>
              <a:t>28% PCP</a:t>
            </a:r>
          </a:p>
        </p:txBody>
      </p:sp>
      <p:grpSp>
        <p:nvGrpSpPr>
          <p:cNvPr id="49" name="Group 48">
            <a:extLst>
              <a:ext uri="{FF2B5EF4-FFF2-40B4-BE49-F238E27FC236}">
                <a16:creationId xmlns:a16="http://schemas.microsoft.com/office/drawing/2014/main" id="{B45C04CB-2E89-4566-44FA-2E7F1295ED3B}"/>
              </a:ext>
            </a:extLst>
          </p:cNvPr>
          <p:cNvGrpSpPr/>
          <p:nvPr/>
        </p:nvGrpSpPr>
        <p:grpSpPr>
          <a:xfrm>
            <a:off x="7183831" y="5411447"/>
            <a:ext cx="1205201" cy="265676"/>
            <a:chOff x="7162382" y="5411447"/>
            <a:chExt cx="1205201" cy="265676"/>
          </a:xfrm>
        </p:grpSpPr>
        <p:pic>
          <p:nvPicPr>
            <p:cNvPr id="47" name="Picture 4" descr="LobbyMap Sanofi">
              <a:extLst>
                <a:ext uri="{FF2B5EF4-FFF2-40B4-BE49-F238E27FC236}">
                  <a16:creationId xmlns:a16="http://schemas.microsoft.com/office/drawing/2014/main" id="{2563834E-6C1C-52C9-CC86-6CFED315B21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4221" b="24036"/>
            <a:stretch/>
          </p:blipFill>
          <p:spPr bwMode="auto">
            <a:xfrm>
              <a:off x="7162382" y="5411447"/>
              <a:ext cx="896748" cy="232007"/>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FA59AA1-D654-5F26-1C3F-CABA81617703}"/>
                </a:ext>
              </a:extLst>
            </p:cNvPr>
            <p:cNvSpPr txBox="1"/>
            <p:nvPr/>
          </p:nvSpPr>
          <p:spPr bwMode="gray">
            <a:xfrm>
              <a:off x="8037043" y="5420643"/>
              <a:ext cx="330540" cy="25648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20000" noProof="0">
                  <a:ln>
                    <a:noFill/>
                  </a:ln>
                  <a:solidFill>
                    <a:srgbClr val="000000"/>
                  </a:solidFill>
                  <a:effectLst/>
                  <a:uLnTx/>
                  <a:uFillTx/>
                  <a:latin typeface="Arial" panose="020B0604020202020204"/>
                  <a:ea typeface="+mn-ea"/>
                  <a:cs typeface="Arial"/>
                </a:rPr>
                <a:t>|</a:t>
              </a:r>
              <a:r>
                <a:rPr kumimoji="0" lang="en-US" sz="800" b="0" i="0" u="none" strike="noStrike" kern="1200" cap="none" spc="0" normalizeH="0" baseline="20000" noProof="0">
                  <a:ln>
                    <a:noFill/>
                  </a:ln>
                  <a:solidFill>
                    <a:srgbClr val="000000"/>
                  </a:solidFill>
                  <a:effectLst/>
                  <a:uLnTx/>
                  <a:uFillTx/>
                  <a:latin typeface="Arial" panose="020B0604020202020204"/>
                  <a:ea typeface="+mn-ea"/>
                  <a:cs typeface="Arial"/>
                </a:rPr>
                <a:t> </a:t>
              </a:r>
              <a:r>
                <a:rPr kumimoji="0" lang="en-US" sz="1600" b="0" i="0" u="none" strike="noStrike" kern="1200" cap="none" spc="0" normalizeH="0" baseline="25000" noProof="0">
                  <a:ln>
                    <a:noFill/>
                  </a:ln>
                  <a:solidFill>
                    <a:srgbClr val="000000"/>
                  </a:solidFill>
                  <a:effectLst/>
                  <a:uLnTx/>
                  <a:uFillTx/>
                  <a:latin typeface="Arial" panose="020B0604020202020204"/>
                  <a:ea typeface="+mn-ea"/>
                  <a:cs typeface="Arial"/>
                </a:rPr>
                <a:t>S</a:t>
              </a:r>
              <a:endParaRPr kumimoji="0" lang="en-US" sz="1600" b="0" i="0" u="none" strike="noStrike" kern="1200" cap="none" spc="0" normalizeH="0" baseline="25000" noProof="0">
                <a:ln>
                  <a:noFill/>
                </a:ln>
                <a:solidFill>
                  <a:srgbClr val="000000"/>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324214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7F62619-9413-2394-A510-563F2A80569E}"/>
              </a:ext>
            </a:extLst>
          </p:cNvPr>
          <p:cNvSpPr/>
          <p:nvPr/>
        </p:nvSpPr>
        <p:spPr bwMode="gray">
          <a:xfrm>
            <a:off x="951002" y="1543281"/>
            <a:ext cx="10306278" cy="4247919"/>
          </a:xfrm>
          <a:prstGeom prst="roundRect">
            <a:avLst>
              <a:gd name="adj" fmla="val 0"/>
            </a:avLst>
          </a:prstGeom>
          <a:noFill/>
          <a:ln w="28575" cap="flat" cmpd="sng" algn="ctr">
            <a:solidFill>
              <a:schemeClr val="bg1">
                <a:lumMod val="95000"/>
              </a:schemeClr>
            </a:solid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a:solidFill>
                <a:schemeClr val="accent1"/>
              </a:solidFill>
              <a:latin typeface="+mj-lt"/>
            </a:endParaRPr>
          </a:p>
        </p:txBody>
      </p:sp>
      <p:grpSp>
        <p:nvGrpSpPr>
          <p:cNvPr id="5" name="Group 4">
            <a:extLst>
              <a:ext uri="{FF2B5EF4-FFF2-40B4-BE49-F238E27FC236}">
                <a16:creationId xmlns:a16="http://schemas.microsoft.com/office/drawing/2014/main" id="{DFB15EE9-B441-4D78-A64F-D700628ABB28}"/>
              </a:ext>
            </a:extLst>
          </p:cNvPr>
          <p:cNvGrpSpPr/>
          <p:nvPr/>
        </p:nvGrpSpPr>
        <p:grpSpPr>
          <a:xfrm>
            <a:off x="1073723" y="1600319"/>
            <a:ext cx="650178" cy="289396"/>
            <a:chOff x="1686341" y="1600319"/>
            <a:chExt cx="650178" cy="289396"/>
          </a:xfrm>
        </p:grpSpPr>
        <p:cxnSp>
          <p:nvCxnSpPr>
            <p:cNvPr id="8" name="Straight Connector 7">
              <a:extLst>
                <a:ext uri="{FF2B5EF4-FFF2-40B4-BE49-F238E27FC236}">
                  <a16:creationId xmlns:a16="http://schemas.microsoft.com/office/drawing/2014/main" id="{76002B9D-00C8-A0E4-B582-75F598EF3BEF}"/>
                </a:ext>
              </a:extLst>
            </p:cNvPr>
            <p:cNvCxnSpPr>
              <a:cxnSpLocks/>
            </p:cNvCxnSpPr>
            <p:nvPr/>
          </p:nvCxnSpPr>
          <p:spPr bwMode="gray">
            <a:xfrm>
              <a:off x="1737110" y="1889715"/>
              <a:ext cx="548640" cy="0"/>
            </a:xfrm>
            <a:prstGeom prst="line">
              <a:avLst/>
            </a:prstGeom>
            <a:noFill/>
            <a:ln w="57150" cap="sq">
              <a:solidFill>
                <a:schemeClr val="accent3"/>
              </a:solidFill>
              <a:prstDash val="solid"/>
              <a:round/>
              <a:headEnd/>
              <a:tailEnd/>
            </a:ln>
            <a:effectLst/>
          </p:spPr>
        </p:cxnSp>
        <p:sp>
          <p:nvSpPr>
            <p:cNvPr id="10" name="TextBox 9">
              <a:extLst>
                <a:ext uri="{FF2B5EF4-FFF2-40B4-BE49-F238E27FC236}">
                  <a16:creationId xmlns:a16="http://schemas.microsoft.com/office/drawing/2014/main" id="{B26D9579-D150-AADF-55F3-29B9602FA727}"/>
                </a:ext>
              </a:extLst>
            </p:cNvPr>
            <p:cNvSpPr txBox="1"/>
            <p:nvPr/>
          </p:nvSpPr>
          <p:spPr bwMode="gray">
            <a:xfrm>
              <a:off x="1686341" y="1600319"/>
              <a:ext cx="650178" cy="286232"/>
            </a:xfrm>
            <a:prstGeom prst="rect">
              <a:avLst/>
            </a:prstGeom>
          </p:spPr>
          <p:txBody>
            <a:bodyPr wrap="none" lIns="45720" tIns="45720" rIns="45720" bIns="45720" rtlCol="0">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Sep’25</a:t>
              </a:r>
            </a:p>
          </p:txBody>
        </p:sp>
      </p:grpSp>
      <p:sp>
        <p:nvSpPr>
          <p:cNvPr id="12" name="TextBox 11">
            <a:extLst>
              <a:ext uri="{FF2B5EF4-FFF2-40B4-BE49-F238E27FC236}">
                <a16:creationId xmlns:a16="http://schemas.microsoft.com/office/drawing/2014/main" id="{03853E09-5D3E-C5C4-3F65-65D98E7F29F1}"/>
              </a:ext>
            </a:extLst>
          </p:cNvPr>
          <p:cNvSpPr txBox="1"/>
          <p:nvPr/>
        </p:nvSpPr>
        <p:spPr bwMode="gray">
          <a:xfrm>
            <a:off x="985750" y="1309548"/>
            <a:ext cx="826124" cy="338554"/>
          </a:xfrm>
          <a:prstGeom prst="rect">
            <a:avLst/>
          </a:prstGeom>
          <a:noFill/>
        </p:spPr>
        <p:txBody>
          <a:bodyPr wrap="none">
            <a:spAutoFit/>
          </a:bodyPr>
          <a:lstStyle/>
          <a:p>
            <a:r>
              <a:rPr lang="en-US" sz="1600"/>
              <a:t>TOTAL</a:t>
            </a:r>
          </a:p>
        </p:txBody>
      </p:sp>
      <p:sp>
        <p:nvSpPr>
          <p:cNvPr id="6" name="Title 5">
            <a:extLst>
              <a:ext uri="{FF2B5EF4-FFF2-40B4-BE49-F238E27FC236}">
                <a16:creationId xmlns:a16="http://schemas.microsoft.com/office/drawing/2014/main" id="{13B7DA6E-BD38-A9F7-1255-EF0145D9015D}"/>
              </a:ext>
            </a:extLst>
          </p:cNvPr>
          <p:cNvSpPr>
            <a:spLocks noGrp="1"/>
          </p:cNvSpPr>
          <p:nvPr>
            <p:ph type="title"/>
          </p:nvPr>
        </p:nvSpPr>
        <p:spPr/>
        <p:txBody>
          <a:bodyPr/>
          <a:lstStyle/>
          <a:p>
            <a:r>
              <a:rPr lang="en-US" dirty="0"/>
              <a:t>Prevnar 20 is most recently discussed by Pfizer reps, followed by Penbraya and Trumenba, whereas Bexsero discussions are still most prevalent among GSK reps followed by </a:t>
            </a:r>
            <a:r>
              <a:rPr lang="en-US" dirty="0" err="1"/>
              <a:t>Penmenvy</a:t>
            </a:r>
            <a:endParaRPr lang="en-US" dirty="0"/>
          </a:p>
        </p:txBody>
      </p:sp>
      <p:sp>
        <p:nvSpPr>
          <p:cNvPr id="7" name="Text Placeholder 6">
            <a:extLst>
              <a:ext uri="{FF2B5EF4-FFF2-40B4-BE49-F238E27FC236}">
                <a16:creationId xmlns:a16="http://schemas.microsoft.com/office/drawing/2014/main" id="{3B0B4543-AE41-EA05-0528-BEC258FD2E2A}"/>
              </a:ext>
            </a:extLst>
          </p:cNvPr>
          <p:cNvSpPr>
            <a:spLocks noGrp="1"/>
          </p:cNvSpPr>
          <p:nvPr>
            <p:ph type="body" sz="quarter" idx="16"/>
          </p:nvPr>
        </p:nvSpPr>
        <p:spPr>
          <a:xfrm>
            <a:off x="1571625" y="6264086"/>
            <a:ext cx="9239250" cy="480644"/>
          </a:xfrm>
        </p:spPr>
        <p:txBody>
          <a:bodyPr/>
          <a:lstStyle/>
          <a:p>
            <a:r>
              <a:rPr lang="en-US" baseline="30000">
                <a:solidFill>
                  <a:srgbClr val="FF0000"/>
                </a:solidFill>
              </a:rPr>
              <a:t>† </a:t>
            </a:r>
            <a:r>
              <a:rPr lang="en-US">
                <a:solidFill>
                  <a:srgbClr val="FF0000"/>
                </a:solidFill>
              </a:rPr>
              <a:t>Added in Sep‘25 </a:t>
            </a:r>
          </a:p>
          <a:p>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sym typeface="Symbol" pitchFamily="18" charset="2"/>
              </a:rPr>
              <a:t>/</a:t>
            </a:r>
            <a:r>
              <a:rPr lang="en-US" altLang="en-US">
                <a:solidFill>
                  <a:srgbClr val="FF0000"/>
                </a:solidFill>
                <a:cs typeface="Arial" panose="020B0604020202020204" pitchFamily="34" charset="0"/>
                <a:sym typeface="Symbol" pitchFamily="18" charset="2"/>
              </a:rPr>
              <a:t></a:t>
            </a:r>
            <a:r>
              <a:rPr lang="en-US" altLang="en-US">
                <a:cs typeface="Arial" panose="020B0604020202020204" pitchFamily="34" charset="0"/>
              </a:rPr>
              <a:t> </a:t>
            </a:r>
            <a:r>
              <a:rPr lang="en-US">
                <a:cs typeface="Arial" panose="020B0604020202020204" pitchFamily="34" charset="0"/>
              </a:rPr>
              <a:t>= </a:t>
            </a:r>
            <a:r>
              <a:rPr lang="en-US">
                <a:solidFill>
                  <a:schemeClr val="tx1">
                    <a:lumMod val="50000"/>
                    <a:lumOff val="50000"/>
                  </a:schemeClr>
                </a:solidFill>
                <a:cs typeface="Arial" panose="020B0604020202020204" pitchFamily="34" charset="0"/>
              </a:rPr>
              <a:t>Significantly higher/lower vs. prior wave </a:t>
            </a:r>
          </a:p>
          <a:p>
            <a:r>
              <a:rPr lang="en-US"/>
              <a:t>M2. Which of the following vaccines did the [Pfizer/GSK] Rep talk about? </a:t>
            </a:r>
          </a:p>
        </p:txBody>
      </p:sp>
      <p:sp>
        <p:nvSpPr>
          <p:cNvPr id="14" name="TextBox 13">
            <a:extLst>
              <a:ext uri="{FF2B5EF4-FFF2-40B4-BE49-F238E27FC236}">
                <a16:creationId xmlns:a16="http://schemas.microsoft.com/office/drawing/2014/main" id="{DF34B62E-2909-9AF9-4824-A4F716F96A2F}"/>
              </a:ext>
            </a:extLst>
          </p:cNvPr>
          <p:cNvSpPr txBox="1"/>
          <p:nvPr/>
        </p:nvSpPr>
        <p:spPr bwMode="gray">
          <a:xfrm>
            <a:off x="2546986" y="1653469"/>
            <a:ext cx="7094854" cy="531428"/>
          </a:xfrm>
          <a:prstGeom prst="rect">
            <a:avLst/>
          </a:prstGeom>
        </p:spPr>
        <p:txBody>
          <a:bodyPr wrap="square" lIns="45720" tIns="45720" rIns="45720" bIns="45720" rtlCol="0">
            <a:spAutoFit/>
          </a:bodyPr>
          <a:lstStyle/>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0C9"/>
                </a:solidFill>
                <a:effectLst/>
                <a:uLnTx/>
                <a:uFillTx/>
                <a:latin typeface="Arial" panose="020B0604020202020204"/>
                <a:ea typeface="+mn-ea"/>
                <a:cs typeface="+mn-cs"/>
              </a:rPr>
              <a:t>Vaccine Sales Rep Discussed</a:t>
            </a:r>
          </a:p>
          <a:p>
            <a:pPr marL="0" marR="0" lvl="0" indent="0" algn="ctr" defTabSz="914400" rtl="0" eaLnBrk="1" fontAlgn="auto" latinLnBrk="0" hangingPunct="1">
              <a:lnSpc>
                <a:spcPct val="90000"/>
              </a:lnSpc>
              <a:spcBef>
                <a:spcPts val="0"/>
              </a:spcBef>
              <a:spcAft>
                <a:spcPts val="400"/>
              </a:spcAft>
              <a:buClrTx/>
              <a:buSzTx/>
              <a:buFontTx/>
              <a:buNone/>
              <a:tabLst/>
              <a:defRPr/>
            </a:pPr>
            <a:r>
              <a:rPr kumimoji="0" lang="en-US" sz="1000" b="0" i="1" u="none" strike="noStrike" kern="1200" cap="none" spc="0" normalizeH="0" baseline="0" noProof="0">
                <a:ln>
                  <a:noFill/>
                </a:ln>
                <a:solidFill>
                  <a:schemeClr val="bg1">
                    <a:lumMod val="50000"/>
                  </a:schemeClr>
                </a:solidFill>
                <a:effectLst/>
                <a:uLnTx/>
                <a:uFillTx/>
                <a:latin typeface="Arial" panose="020B0604020202020204"/>
                <a:ea typeface="+mn-ea"/>
                <a:cs typeface="+mn-cs"/>
              </a:rPr>
              <a:t>% HCPs</a:t>
            </a:r>
            <a:endParaRPr kumimoji="0" lang="en-US" sz="10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aphicFrame>
        <p:nvGraphicFramePr>
          <p:cNvPr id="4" name="Chart 3">
            <a:extLst>
              <a:ext uri="{FF2B5EF4-FFF2-40B4-BE49-F238E27FC236}">
                <a16:creationId xmlns:a16="http://schemas.microsoft.com/office/drawing/2014/main" id="{EC4AC145-AB99-AFB1-A368-B5B78A24351E}"/>
              </a:ext>
            </a:extLst>
          </p:cNvPr>
          <p:cNvGraphicFramePr/>
          <p:nvPr>
            <p:extLst>
              <p:ext uri="{D42A27DB-BD31-4B8C-83A1-F6EECF244321}">
                <p14:modId xmlns:p14="http://schemas.microsoft.com/office/powerpoint/2010/main" val="749746848"/>
              </p:ext>
            </p:extLst>
          </p:nvPr>
        </p:nvGraphicFramePr>
        <p:xfrm>
          <a:off x="1596269" y="2773679"/>
          <a:ext cx="3905061" cy="28152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a:extLst>
              <a:ext uri="{FF2B5EF4-FFF2-40B4-BE49-F238E27FC236}">
                <a16:creationId xmlns:a16="http://schemas.microsoft.com/office/drawing/2014/main" id="{199E6B81-EB96-F426-E9A2-46219CBDBE76}"/>
              </a:ext>
            </a:extLst>
          </p:cNvPr>
          <p:cNvGraphicFramePr/>
          <p:nvPr>
            <p:extLst>
              <p:ext uri="{D42A27DB-BD31-4B8C-83A1-F6EECF244321}">
                <p14:modId xmlns:p14="http://schemas.microsoft.com/office/powerpoint/2010/main" val="4164605393"/>
              </p:ext>
            </p:extLst>
          </p:nvPr>
        </p:nvGraphicFramePr>
        <p:xfrm>
          <a:off x="6465946" y="2773679"/>
          <a:ext cx="4019577" cy="2815283"/>
        </p:xfrm>
        <a:graphic>
          <a:graphicData uri="http://schemas.openxmlformats.org/drawingml/2006/chart">
            <c:chart xmlns:c="http://schemas.openxmlformats.org/drawingml/2006/chart" xmlns:r="http://schemas.openxmlformats.org/officeDocument/2006/relationships" r:id="rId4"/>
          </a:graphicData>
        </a:graphic>
      </p:graphicFrame>
      <p:pic>
        <p:nvPicPr>
          <p:cNvPr id="1032" name="Picture 8" descr="Home - Boven Group">
            <a:extLst>
              <a:ext uri="{FF2B5EF4-FFF2-40B4-BE49-F238E27FC236}">
                <a16:creationId xmlns:a16="http://schemas.microsoft.com/office/drawing/2014/main" id="{F216F35F-6CD9-0796-A28F-138B07BB85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3668" y="1935480"/>
            <a:ext cx="1254125" cy="9144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71471A6-8D9F-941C-4943-EAA92DCC1AF2}"/>
              </a:ext>
            </a:extLst>
          </p:cNvPr>
          <p:cNvSpPr txBox="1"/>
          <p:nvPr/>
        </p:nvSpPr>
        <p:spPr bwMode="gray">
          <a:xfrm>
            <a:off x="5105169" y="2678785"/>
            <a:ext cx="2053767" cy="246221"/>
          </a:xfrm>
          <a:prstGeom prst="rect">
            <a:avLst/>
          </a:prstGeom>
          <a:noFill/>
        </p:spPr>
        <p:txBody>
          <a:bodyPr wrap="none" anchor="b">
            <a:spAutoFit/>
          </a:bodyPr>
          <a:lstStyle/>
          <a:p>
            <a:pPr algn="ctr">
              <a:defRPr/>
            </a:pPr>
            <a:r>
              <a:rPr lang="en-US" sz="1000" i="1">
                <a:solidFill>
                  <a:srgbClr val="000000">
                    <a:lumMod val="50000"/>
                    <a:lumOff val="50000"/>
                  </a:srgbClr>
                </a:solidFill>
                <a:latin typeface="Arial" panose="020B0604020202020204"/>
              </a:rPr>
              <a:t>Base: Detailed in past 3 months</a:t>
            </a:r>
            <a:endParaRPr lang="en-US" sz="1000" i="1">
              <a:solidFill>
                <a:srgbClr val="000000"/>
              </a:solidFill>
              <a:latin typeface="Arial" panose="020B0604020202020204"/>
            </a:endParaRPr>
          </a:p>
        </p:txBody>
      </p:sp>
      <p:sp>
        <p:nvSpPr>
          <p:cNvPr id="15" name="TextBox 14">
            <a:extLst>
              <a:ext uri="{FF2B5EF4-FFF2-40B4-BE49-F238E27FC236}">
                <a16:creationId xmlns:a16="http://schemas.microsoft.com/office/drawing/2014/main" id="{B5F958D6-883B-9DAB-65EC-649182FF6531}"/>
              </a:ext>
            </a:extLst>
          </p:cNvPr>
          <p:cNvSpPr txBox="1"/>
          <p:nvPr/>
        </p:nvSpPr>
        <p:spPr bwMode="gray">
          <a:xfrm>
            <a:off x="3526990" y="2678849"/>
            <a:ext cx="558166" cy="246221"/>
          </a:xfrm>
          <a:prstGeom prst="rect">
            <a:avLst/>
          </a:prstGeom>
          <a:noFill/>
        </p:spPr>
        <p:txBody>
          <a:bodyPr wrap="none">
            <a:spAutoFit/>
          </a:bodyPr>
          <a:lstStyle/>
          <a:p>
            <a:pPr algn="ctr">
              <a:defRPr/>
            </a:pPr>
            <a:r>
              <a:rPr lang="en-US" sz="1000">
                <a:solidFill>
                  <a:srgbClr val="000000">
                    <a:lumMod val="50000"/>
                    <a:lumOff val="50000"/>
                  </a:srgbClr>
                </a:solidFill>
                <a:latin typeface="Arial" panose="020B0604020202020204"/>
              </a:rPr>
              <a:t>(n=82)</a:t>
            </a:r>
            <a:endParaRPr lang="en-US" sz="1000">
              <a:solidFill>
                <a:srgbClr val="000000"/>
              </a:solidFill>
              <a:latin typeface="Arial" panose="020B0604020202020204"/>
            </a:endParaRPr>
          </a:p>
        </p:txBody>
      </p:sp>
      <p:sp>
        <p:nvSpPr>
          <p:cNvPr id="16" name="TextBox 15">
            <a:extLst>
              <a:ext uri="{FF2B5EF4-FFF2-40B4-BE49-F238E27FC236}">
                <a16:creationId xmlns:a16="http://schemas.microsoft.com/office/drawing/2014/main" id="{C30DE003-0287-4E5C-3A51-0E64FB01B67A}"/>
              </a:ext>
            </a:extLst>
          </p:cNvPr>
          <p:cNvSpPr txBox="1"/>
          <p:nvPr/>
        </p:nvSpPr>
        <p:spPr bwMode="gray">
          <a:xfrm>
            <a:off x="8567175" y="2678849"/>
            <a:ext cx="558166" cy="246221"/>
          </a:xfrm>
          <a:prstGeom prst="rect">
            <a:avLst/>
          </a:prstGeom>
          <a:noFill/>
        </p:spPr>
        <p:txBody>
          <a:bodyPr wrap="none">
            <a:spAutoFit/>
          </a:bodyPr>
          <a:lstStyle/>
          <a:p>
            <a:pPr algn="ctr">
              <a:defRPr/>
            </a:pPr>
            <a:r>
              <a:rPr lang="en-US" sz="1000">
                <a:solidFill>
                  <a:srgbClr val="000000">
                    <a:lumMod val="50000"/>
                    <a:lumOff val="50000"/>
                  </a:srgbClr>
                </a:solidFill>
                <a:latin typeface="Arial" panose="020B0604020202020204"/>
              </a:rPr>
              <a:t>(n=78)</a:t>
            </a:r>
            <a:endParaRPr lang="en-US" sz="1000">
              <a:solidFill>
                <a:srgbClr val="000000"/>
              </a:solidFill>
              <a:latin typeface="Arial" panose="020B0604020202020204"/>
            </a:endParaRPr>
          </a:p>
        </p:txBody>
      </p:sp>
      <p:pic>
        <p:nvPicPr>
          <p:cNvPr id="2" name="Picture 1">
            <a:extLst>
              <a:ext uri="{FF2B5EF4-FFF2-40B4-BE49-F238E27FC236}">
                <a16:creationId xmlns:a16="http://schemas.microsoft.com/office/drawing/2014/main" id="{1BD45FD2-4488-6311-8B7C-80809CE72B71}"/>
              </a:ext>
            </a:extLst>
          </p:cNvPr>
          <p:cNvPicPr>
            <a:picLocks noChangeAspect="1"/>
          </p:cNvPicPr>
          <p:nvPr/>
        </p:nvPicPr>
        <p:blipFill>
          <a:blip r:embed="rId6"/>
          <a:stretch>
            <a:fillRect/>
          </a:stretch>
        </p:blipFill>
        <p:spPr>
          <a:xfrm>
            <a:off x="8413074" y="2309692"/>
            <a:ext cx="828203" cy="263257"/>
          </a:xfrm>
          <a:prstGeom prst="rect">
            <a:avLst/>
          </a:prstGeom>
        </p:spPr>
      </p:pic>
      <p:sp>
        <p:nvSpPr>
          <p:cNvPr id="17" name="TextBox 16">
            <a:extLst>
              <a:ext uri="{FF2B5EF4-FFF2-40B4-BE49-F238E27FC236}">
                <a16:creationId xmlns:a16="http://schemas.microsoft.com/office/drawing/2014/main" id="{5221E9FB-2CF2-DEEC-9699-F276AE208960}"/>
              </a:ext>
            </a:extLst>
          </p:cNvPr>
          <p:cNvSpPr txBox="1"/>
          <p:nvPr/>
        </p:nvSpPr>
        <p:spPr bwMode="gray">
          <a:xfrm>
            <a:off x="8034020" y="3396734"/>
            <a:ext cx="242374" cy="276999"/>
          </a:xfrm>
          <a:prstGeom prst="rect">
            <a:avLst/>
          </a:prstGeom>
          <a:noFill/>
        </p:spPr>
        <p:txBody>
          <a:bodyPr wrap="none">
            <a:spAutoFit/>
          </a:bodyPr>
          <a:lstStyle/>
          <a:p>
            <a:r>
              <a:rPr lang="en-US" sz="1200" baseline="30000">
                <a:solidFill>
                  <a:srgbClr val="FF0000"/>
                </a:solidFill>
              </a:rPr>
              <a:t>†</a:t>
            </a:r>
            <a:endParaRPr lang="en-US" sz="1200"/>
          </a:p>
        </p:txBody>
      </p:sp>
    </p:spTree>
    <p:extLst>
      <p:ext uri="{BB962C8B-B14F-4D97-AF65-F5344CB8AC3E}">
        <p14:creationId xmlns:p14="http://schemas.microsoft.com/office/powerpoint/2010/main" val="23553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21AC5-177A-C5E0-852A-AD48B62F3B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4275BF-DA8C-B2F3-0304-0FED044D12EB}"/>
              </a:ext>
            </a:extLst>
          </p:cNvPr>
          <p:cNvSpPr>
            <a:spLocks noGrp="1"/>
          </p:cNvSpPr>
          <p:nvPr>
            <p:ph type="ctrTitle"/>
          </p:nvPr>
        </p:nvSpPr>
        <p:spPr>
          <a:xfrm>
            <a:off x="448056" y="2560320"/>
            <a:ext cx="5133594" cy="1508760"/>
          </a:xfrm>
        </p:spPr>
        <p:txBody>
          <a:bodyPr/>
          <a:lstStyle/>
          <a:p>
            <a:r>
              <a:rPr lang="en-US" dirty="0"/>
              <a:t>Penbraya HCP and Consumer</a:t>
            </a:r>
            <a:br>
              <a:rPr lang="en-US" dirty="0"/>
            </a:br>
            <a:r>
              <a:rPr lang="en-US" dirty="0"/>
              <a:t>Insights Comparison</a:t>
            </a:r>
          </a:p>
        </p:txBody>
      </p:sp>
      <p:sp>
        <p:nvSpPr>
          <p:cNvPr id="2" name="Subtitle 2">
            <a:extLst>
              <a:ext uri="{FF2B5EF4-FFF2-40B4-BE49-F238E27FC236}">
                <a16:creationId xmlns:a16="http://schemas.microsoft.com/office/drawing/2014/main" id="{4562C58D-0E3F-7E7B-5B6C-38D26B46D8D6}"/>
              </a:ext>
            </a:extLst>
          </p:cNvPr>
          <p:cNvSpPr txBox="1">
            <a:spLocks/>
          </p:cNvSpPr>
          <p:nvPr/>
        </p:nvSpPr>
        <p:spPr bwMode="gray">
          <a:xfrm>
            <a:off x="448056" y="4396740"/>
            <a:ext cx="4232569" cy="905256"/>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600"/>
              </a:spcBef>
              <a:buClrTx/>
              <a:buSzPct val="100000"/>
              <a:buFont typeface="Arial" panose="020B0604020202020204" pitchFamily="34" charset="0"/>
              <a:buNone/>
              <a:defRPr lang="en-US" sz="1800" kern="1200">
                <a:solidFill>
                  <a:schemeClr val="tx1"/>
                </a:solidFill>
                <a:latin typeface="+mn-lt"/>
                <a:ea typeface="+mn-ea"/>
                <a:cs typeface="+mn-cs"/>
              </a:defRPr>
            </a:lvl1pPr>
            <a:lvl2pPr marL="400050" indent="0" algn="l" defTabSz="914400" rtl="0" eaLnBrk="1" latinLnBrk="0" hangingPunct="1">
              <a:lnSpc>
                <a:spcPct val="90000"/>
              </a:lnSpc>
              <a:spcBef>
                <a:spcPts val="1000"/>
              </a:spcBef>
              <a:buClrTx/>
              <a:buFont typeface="Arial" panose="020B0604020202020204" pitchFamily="34" charset="0"/>
              <a:buNone/>
              <a:defRPr sz="1800" kern="1200">
                <a:solidFill>
                  <a:schemeClr val="tx1"/>
                </a:solidFill>
                <a:latin typeface="+mn-lt"/>
                <a:ea typeface="+mn-ea"/>
                <a:cs typeface="+mn-cs"/>
              </a:defRPr>
            </a:lvl2pPr>
            <a:lvl3pPr marL="742950" indent="0" algn="l" defTabSz="914400" rtl="0" eaLnBrk="1" latinLnBrk="0" hangingPunct="1">
              <a:lnSpc>
                <a:spcPct val="90000"/>
              </a:lnSpc>
              <a:spcBef>
                <a:spcPts val="500"/>
              </a:spcBef>
              <a:buClrTx/>
              <a:buFont typeface="Arial" panose="020B0604020202020204" pitchFamily="34" charset="0"/>
              <a:buNone/>
              <a:defRPr sz="1600" kern="1200">
                <a:solidFill>
                  <a:schemeClr val="tx1"/>
                </a:solidFill>
                <a:latin typeface="+mn-lt"/>
                <a:ea typeface="+mn-ea"/>
                <a:cs typeface="+mn-cs"/>
              </a:defRPr>
            </a:lvl3pPr>
            <a:lvl4pPr marL="1095375" indent="0" algn="l" defTabSz="914400" rtl="0" eaLnBrk="1" latinLnBrk="0" hangingPunct="1">
              <a:lnSpc>
                <a:spcPct val="90000"/>
              </a:lnSpc>
              <a:spcBef>
                <a:spcPts val="200"/>
              </a:spcBef>
              <a:buClrTx/>
              <a:buFont typeface="Arial" panose="020B0604020202020204" pitchFamily="34" charset="0"/>
              <a:buNone/>
              <a:defRPr sz="1400" kern="1200">
                <a:solidFill>
                  <a:schemeClr val="tx1"/>
                </a:solidFill>
                <a:latin typeface="+mn-lt"/>
                <a:ea typeface="+mn-ea"/>
                <a:cs typeface="+mn-cs"/>
              </a:defRPr>
            </a:lvl4pPr>
            <a:lvl5pPr marL="1370012" indent="0" algn="l" defTabSz="914400" rtl="0" eaLnBrk="1" latinLnBrk="0" hangingPunct="1">
              <a:lnSpc>
                <a:spcPct val="90000"/>
              </a:lnSpc>
              <a:spcBef>
                <a:spcPts val="100"/>
              </a:spcBef>
              <a:buClrTx/>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a:t>Fielding:</a:t>
            </a:r>
          </a:p>
          <a:p>
            <a:r>
              <a:rPr lang="en-US" sz="1400"/>
              <a:t>Consumer Pulse ATU: August 15 – 28, 2025</a:t>
            </a:r>
          </a:p>
          <a:p>
            <a:r>
              <a:rPr lang="en-US" sz="1400"/>
              <a:t>HCP ATU: August 22 – October 1, 2025</a:t>
            </a:r>
            <a:br>
              <a:rPr lang="en-US" sz="1400">
                <a:latin typeface="+mj-lt"/>
              </a:rPr>
            </a:br>
            <a:br>
              <a:rPr lang="en-US" sz="1400">
                <a:latin typeface="+mj-lt"/>
              </a:rPr>
            </a:br>
            <a:br>
              <a:rPr lang="en-US" sz="1400">
                <a:latin typeface="+mj-lt"/>
              </a:rPr>
            </a:br>
            <a:endParaRPr lang="en-US" sz="1400">
              <a:latin typeface="+mj-lt"/>
            </a:endParaRPr>
          </a:p>
        </p:txBody>
      </p:sp>
    </p:spTree>
    <p:extLst>
      <p:ext uri="{BB962C8B-B14F-4D97-AF65-F5344CB8AC3E}">
        <p14:creationId xmlns:p14="http://schemas.microsoft.com/office/powerpoint/2010/main" val="903890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4369B-4995-87A6-6B5D-CEAB90018501}"/>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6788ECD1-BC14-1AF3-D7A6-C2DC3EED50F7}"/>
              </a:ext>
            </a:extLst>
          </p:cNvPr>
          <p:cNvSpPr/>
          <p:nvPr/>
        </p:nvSpPr>
        <p:spPr bwMode="gray">
          <a:xfrm>
            <a:off x="13834" y="1645468"/>
            <a:ext cx="4308131" cy="4579508"/>
          </a:xfrm>
          <a:prstGeom prst="rect">
            <a:avLst/>
          </a:prstGeom>
          <a:solidFill>
            <a:schemeClr val="bg1">
              <a:lumMod val="95000"/>
            </a:schemeClr>
          </a:solidFill>
          <a:ln w="19050" cap="flat" cmpd="sng" algn="ctr">
            <a:solidFill>
              <a:schemeClr val="bg1">
                <a:lumMod val="95000"/>
              </a:schemeClr>
            </a:solidFill>
            <a:prstDash val="solid"/>
            <a:miter lim="800000"/>
            <a:headEnd type="none" w="med" len="med"/>
            <a:tailEnd type="none" w="med" len="med"/>
          </a:ln>
          <a:effectLst/>
        </p:spPr>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pPr>
            <a:endParaRPr lang="en-US" sz="1799" b="1">
              <a:solidFill>
                <a:srgbClr val="0000C9"/>
              </a:solidFill>
              <a:latin typeface="Arial" panose="020B0604020202020204"/>
            </a:endParaRPr>
          </a:p>
        </p:txBody>
      </p:sp>
      <p:sp>
        <p:nvSpPr>
          <p:cNvPr id="2" name="Title 1">
            <a:extLst>
              <a:ext uri="{FF2B5EF4-FFF2-40B4-BE49-F238E27FC236}">
                <a16:creationId xmlns:a16="http://schemas.microsoft.com/office/drawing/2014/main" id="{0FD4B797-FECE-89CD-AC84-C8A70A6EF631}"/>
              </a:ext>
            </a:extLst>
          </p:cNvPr>
          <p:cNvSpPr>
            <a:spLocks noGrp="1"/>
          </p:cNvSpPr>
          <p:nvPr>
            <p:ph type="title"/>
          </p:nvPr>
        </p:nvSpPr>
        <p:spPr>
          <a:xfrm>
            <a:off x="1074178" y="124224"/>
            <a:ext cx="11226375" cy="400006"/>
          </a:xfrm>
        </p:spPr>
        <p:txBody>
          <a:bodyPr/>
          <a:lstStyle/>
          <a:p>
            <a:r>
              <a:rPr lang="en-US" sz="1999"/>
              <a:t>Insights across HCP and Caregiver ATUs, identifying areas of alignment and disconnect</a:t>
            </a:r>
          </a:p>
        </p:txBody>
      </p:sp>
      <p:pic>
        <p:nvPicPr>
          <p:cNvPr id="46" name="Picture 45">
            <a:extLst>
              <a:ext uri="{FF2B5EF4-FFF2-40B4-BE49-F238E27FC236}">
                <a16:creationId xmlns:a16="http://schemas.microsoft.com/office/drawing/2014/main" id="{CF00D446-EB59-7AC5-B66B-A5847A1C624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1453" y="1999180"/>
            <a:ext cx="408334" cy="408334"/>
          </a:xfrm>
          <a:prstGeom prst="rect">
            <a:avLst/>
          </a:prstGeom>
        </p:spPr>
      </p:pic>
      <p:graphicFrame>
        <p:nvGraphicFramePr>
          <p:cNvPr id="4" name="Table 3">
            <a:extLst>
              <a:ext uri="{FF2B5EF4-FFF2-40B4-BE49-F238E27FC236}">
                <a16:creationId xmlns:a16="http://schemas.microsoft.com/office/drawing/2014/main" id="{BEF9EBCF-1438-9255-C284-8FCB4B4F9F24}"/>
              </a:ext>
            </a:extLst>
          </p:cNvPr>
          <p:cNvGraphicFramePr>
            <a:graphicFrameLocks noGrp="1"/>
          </p:cNvGraphicFramePr>
          <p:nvPr/>
        </p:nvGraphicFramePr>
        <p:xfrm>
          <a:off x="498349" y="1645470"/>
          <a:ext cx="3823621" cy="4668855"/>
        </p:xfrm>
        <a:graphic>
          <a:graphicData uri="http://schemas.openxmlformats.org/drawingml/2006/table">
            <a:tbl>
              <a:tblPr>
                <a:tableStyleId>{5C22544A-7EE6-4342-B048-85BDC9FD1C3A}</a:tableStyleId>
              </a:tblPr>
              <a:tblGrid>
                <a:gridCol w="3823621">
                  <a:extLst>
                    <a:ext uri="{9D8B030D-6E8A-4147-A177-3AD203B41FA5}">
                      <a16:colId xmlns:a16="http://schemas.microsoft.com/office/drawing/2014/main" val="820913124"/>
                    </a:ext>
                  </a:extLst>
                </a:gridCol>
              </a:tblGrid>
              <a:tr h="933771">
                <a:tc>
                  <a:txBody>
                    <a:bodyPr/>
                    <a:lstStyle/>
                    <a:p>
                      <a:pPr marL="0" marR="0" lvl="0" indent="0" algn="l" defTabSz="914400" rtl="0" eaLnBrk="1" fontAlgn="t" latinLnBrk="0" hangingPunct="1">
                        <a:lnSpc>
                          <a:spcPct val="100000"/>
                        </a:lnSpc>
                        <a:spcBef>
                          <a:spcPts val="600"/>
                        </a:spcBef>
                        <a:spcAft>
                          <a:spcPts val="600"/>
                        </a:spcAft>
                        <a:buClrTx/>
                        <a:buSzTx/>
                        <a:buFontTx/>
                        <a:buNone/>
                        <a:tabLst/>
                        <a:defRPr/>
                      </a:pPr>
                      <a:r>
                        <a:rPr lang="en-US" sz="1400" b="0" kern="1200">
                          <a:solidFill>
                            <a:schemeClr val="tx1">
                              <a:lumMod val="65000"/>
                              <a:lumOff val="35000"/>
                            </a:schemeClr>
                          </a:solidFill>
                          <a:latin typeface="+mn-lt"/>
                          <a:ea typeface="+mn-ea"/>
                          <a:cs typeface="+mn-cs"/>
                        </a:rPr>
                        <a:t>Meningococcal disease is recognized as </a:t>
                      </a:r>
                      <a:r>
                        <a:rPr lang="en-US" sz="1400" b="1" kern="1200">
                          <a:solidFill>
                            <a:schemeClr val="tx1">
                              <a:lumMod val="65000"/>
                              <a:lumOff val="35000"/>
                            </a:schemeClr>
                          </a:solidFill>
                          <a:latin typeface="+mn-lt"/>
                          <a:ea typeface="+mn-ea"/>
                          <a:cs typeface="+mn-cs"/>
                        </a:rPr>
                        <a:t>serious</a:t>
                      </a:r>
                      <a:r>
                        <a:rPr lang="en-US" sz="1400" b="0" kern="1200">
                          <a:solidFill>
                            <a:schemeClr val="tx1">
                              <a:lumMod val="65000"/>
                              <a:lumOff val="35000"/>
                            </a:schemeClr>
                          </a:solidFill>
                          <a:latin typeface="+mn-lt"/>
                          <a:ea typeface="+mn-ea"/>
                          <a:cs typeface="+mn-cs"/>
                        </a:rPr>
                        <a:t>, </a:t>
                      </a:r>
                      <a:r>
                        <a:rPr lang="en-US" sz="1400" b="1" kern="1200">
                          <a:solidFill>
                            <a:schemeClr val="tx1">
                              <a:lumMod val="65000"/>
                              <a:lumOff val="35000"/>
                            </a:schemeClr>
                          </a:solidFill>
                          <a:latin typeface="+mn-lt"/>
                          <a:ea typeface="+mn-ea"/>
                          <a:cs typeface="+mn-cs"/>
                        </a:rPr>
                        <a:t>potentially life-threatening,  </a:t>
                      </a:r>
                      <a:r>
                        <a:rPr lang="en-US" sz="1400" b="0" kern="1200">
                          <a:solidFill>
                            <a:schemeClr val="tx1">
                              <a:lumMod val="65000"/>
                              <a:lumOff val="35000"/>
                            </a:schemeClr>
                          </a:solidFill>
                          <a:latin typeface="+mn-lt"/>
                          <a:ea typeface="+mn-ea"/>
                          <a:cs typeface="+mn-cs"/>
                        </a:rPr>
                        <a:t>and is the </a:t>
                      </a:r>
                      <a:r>
                        <a:rPr lang="en-US" sz="1400" b="1" kern="1200">
                          <a:solidFill>
                            <a:schemeClr val="tx1">
                              <a:lumMod val="65000"/>
                              <a:lumOff val="35000"/>
                            </a:schemeClr>
                          </a:solidFill>
                          <a:latin typeface="+mn-lt"/>
                          <a:ea typeface="+mn-ea"/>
                          <a:cs typeface="+mn-cs"/>
                        </a:rPr>
                        <a:t>most concerning disease </a:t>
                      </a:r>
                      <a:r>
                        <a:rPr lang="en-US" sz="1400" b="0" kern="1200">
                          <a:solidFill>
                            <a:schemeClr val="tx1">
                              <a:lumMod val="65000"/>
                              <a:lumOff val="35000"/>
                            </a:schemeClr>
                          </a:solidFill>
                          <a:latin typeface="+mn-lt"/>
                          <a:ea typeface="+mn-ea"/>
                          <a:cs typeface="+mn-cs"/>
                        </a:rPr>
                        <a:t>measured</a:t>
                      </a:r>
                      <a:endParaRPr lang="en-US" sz="1400" b="0" kern="1200">
                        <a:solidFill>
                          <a:schemeClr val="tx1">
                            <a:lumMod val="65000"/>
                            <a:lumOff val="35000"/>
                          </a:schemeClr>
                        </a:solidFill>
                        <a:highlight>
                          <a:srgbClr val="FF0000"/>
                        </a:highlight>
                        <a:latin typeface="+mn-lt"/>
                        <a:ea typeface="+mn-ea"/>
                        <a:cs typeface="+mn-cs"/>
                      </a:endParaRP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6243170"/>
                  </a:ext>
                </a:extLst>
              </a:tr>
              <a:tr h="933771">
                <a:tc>
                  <a:txBody>
                    <a:bodyPr/>
                    <a:lstStyle/>
                    <a:p>
                      <a:pPr marL="0" marR="0" lvl="0" indent="0" algn="l" defTabSz="914126" rtl="0" eaLnBrk="1" fontAlgn="t" latinLnBrk="0" hangingPunct="1">
                        <a:lnSpc>
                          <a:spcPct val="100000"/>
                        </a:lnSpc>
                        <a:spcBef>
                          <a:spcPts val="600"/>
                        </a:spcBef>
                        <a:spcAft>
                          <a:spcPts val="600"/>
                        </a:spcAft>
                        <a:buClrTx/>
                        <a:buSzTx/>
                        <a:buFontTx/>
                        <a:buNone/>
                        <a:tabLst/>
                        <a:defRPr/>
                      </a:pPr>
                      <a:r>
                        <a:rPr lang="en-US" sz="1400" b="1" kern="1200">
                          <a:solidFill>
                            <a:schemeClr val="tx1">
                              <a:lumMod val="65000"/>
                              <a:lumOff val="35000"/>
                            </a:schemeClr>
                          </a:solidFill>
                          <a:latin typeface="+mn-lt"/>
                          <a:ea typeface="+mn-ea"/>
                          <a:cs typeface="+mn-cs"/>
                        </a:rPr>
                        <a:t>Prioritize </a:t>
                      </a:r>
                      <a:r>
                        <a:rPr lang="en-US" sz="1400" b="0" i="1">
                          <a:solidFill>
                            <a:schemeClr val="tx1">
                              <a:lumMod val="65000"/>
                              <a:lumOff val="35000"/>
                            </a:schemeClr>
                          </a:solidFill>
                          <a:latin typeface="+mn-lt"/>
                        </a:rPr>
                        <a:t>meningococcal meningitis </a:t>
                      </a:r>
                      <a:r>
                        <a:rPr lang="en-US" sz="1400" b="1" kern="1200">
                          <a:solidFill>
                            <a:schemeClr val="tx1">
                              <a:lumMod val="65000"/>
                              <a:lumOff val="35000"/>
                            </a:schemeClr>
                          </a:solidFill>
                          <a:latin typeface="+mn-lt"/>
                          <a:ea typeface="+mn-ea"/>
                          <a:cs typeface="+mn-cs"/>
                        </a:rPr>
                        <a:t>discussions </a:t>
                      </a:r>
                      <a:r>
                        <a:rPr lang="en-US" sz="1400" b="0" kern="1200">
                          <a:solidFill>
                            <a:schemeClr val="tx1">
                              <a:lumMod val="65000"/>
                              <a:lumOff val="35000"/>
                            </a:schemeClr>
                          </a:solidFill>
                          <a:latin typeface="+mn-lt"/>
                          <a:ea typeface="+mn-ea"/>
                          <a:cs typeface="+mn-cs"/>
                        </a:rPr>
                        <a:t>for 16–18-year-olds over other diseases</a:t>
                      </a:r>
                      <a:endParaRPr lang="en-US" sz="1400" b="0" kern="1200">
                        <a:solidFill>
                          <a:schemeClr val="tx1">
                            <a:lumMod val="65000"/>
                            <a:lumOff val="35000"/>
                          </a:schemeClr>
                        </a:solidFill>
                        <a:highlight>
                          <a:srgbClr val="FF0000"/>
                        </a:highlight>
                        <a:latin typeface="+mn-lt"/>
                        <a:ea typeface="+mn-ea"/>
                        <a:cs typeface="+mn-cs"/>
                      </a:endParaRP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5049935"/>
                  </a:ext>
                </a:extLst>
              </a:tr>
              <a:tr h="933771">
                <a:tc>
                  <a:txBody>
                    <a:bodyPr/>
                    <a:lstStyle/>
                    <a:p>
                      <a:pPr marL="0" marR="0" lvl="0" indent="0" algn="l" defTabSz="914126" rtl="0" eaLnBrk="1" fontAlgn="t" latinLnBrk="0" hangingPunct="1">
                        <a:lnSpc>
                          <a:spcPct val="100000"/>
                        </a:lnSpc>
                        <a:spcBef>
                          <a:spcPts val="600"/>
                        </a:spcBef>
                        <a:spcAft>
                          <a:spcPts val="600"/>
                        </a:spcAft>
                        <a:buClrTx/>
                        <a:buSzTx/>
                        <a:buFontTx/>
                        <a:buNone/>
                        <a:tabLst/>
                        <a:defRPr/>
                      </a:pPr>
                      <a:r>
                        <a:rPr kumimoji="0" lang="en-US" sz="1400" b="0" i="0" u="none" strike="noStrike" kern="1200" cap="none" spc="0" normalizeH="0" baseline="0" noProof="0">
                          <a:ln>
                            <a:noFill/>
                          </a:ln>
                          <a:solidFill>
                            <a:schemeClr val="tx1">
                              <a:lumMod val="65000"/>
                              <a:lumOff val="35000"/>
                            </a:schemeClr>
                          </a:solidFill>
                          <a:effectLst/>
                          <a:uLnTx/>
                          <a:uFillTx/>
                          <a:latin typeface="+mn-lt"/>
                          <a:ea typeface="+mn-ea"/>
                          <a:cs typeface="+mn-cs"/>
                        </a:rPr>
                        <a:t>Agree </a:t>
                      </a:r>
                      <a:r>
                        <a:rPr kumimoji="0" lang="en-US" sz="1400" b="1" i="0" u="none" strike="noStrike" kern="1200" cap="none" spc="0" normalizeH="0" baseline="0" noProof="0">
                          <a:ln>
                            <a:noFill/>
                          </a:ln>
                          <a:solidFill>
                            <a:schemeClr val="tx1">
                              <a:lumMod val="65000"/>
                              <a:lumOff val="35000"/>
                            </a:schemeClr>
                          </a:solidFill>
                          <a:effectLst/>
                          <a:uLnTx/>
                          <a:uFillTx/>
                          <a:latin typeface="+mn-lt"/>
                          <a:ea typeface="+mn-ea"/>
                          <a:cs typeface="+mn-cs"/>
                        </a:rPr>
                        <a:t>full</a:t>
                      </a:r>
                      <a:r>
                        <a:rPr kumimoji="0" lang="en-US" sz="1400" b="0" i="0" u="none" strike="noStrike" kern="1200" cap="none" spc="0" normalizeH="0" baseline="0" noProof="0">
                          <a:ln>
                            <a:noFill/>
                          </a:ln>
                          <a:solidFill>
                            <a:schemeClr val="tx1">
                              <a:lumMod val="65000"/>
                              <a:lumOff val="35000"/>
                            </a:schemeClr>
                          </a:solidFill>
                          <a:effectLst/>
                          <a:uLnTx/>
                          <a:uFillTx/>
                          <a:latin typeface="+mn-lt"/>
                          <a:ea typeface="+mn-ea"/>
                          <a:cs typeface="+mn-cs"/>
                        </a:rPr>
                        <a:t> </a:t>
                      </a:r>
                      <a:r>
                        <a:rPr kumimoji="0" lang="en-US" sz="1400" b="1" i="0" u="none" strike="noStrike" kern="1200" cap="none" spc="0" normalizeH="0" baseline="0" noProof="0">
                          <a:ln>
                            <a:noFill/>
                          </a:ln>
                          <a:solidFill>
                            <a:schemeClr val="tx1">
                              <a:lumMod val="65000"/>
                              <a:lumOff val="35000"/>
                            </a:schemeClr>
                          </a:solidFill>
                          <a:effectLst/>
                          <a:uLnTx/>
                          <a:uFillTx/>
                          <a:latin typeface="+mn-lt"/>
                          <a:ea typeface="+mn-ea"/>
                          <a:cs typeface="+mn-cs"/>
                        </a:rPr>
                        <a:t>vaccination</a:t>
                      </a:r>
                      <a:r>
                        <a:rPr kumimoji="0" lang="en-US" sz="1400" b="0" i="0" u="none" strike="noStrike" kern="1200" cap="none" spc="0" normalizeH="0" baseline="0" noProof="0">
                          <a:ln>
                            <a:noFill/>
                          </a:ln>
                          <a:solidFill>
                            <a:schemeClr val="tx1">
                              <a:lumMod val="65000"/>
                              <a:lumOff val="35000"/>
                            </a:schemeClr>
                          </a:solidFill>
                          <a:effectLst/>
                          <a:uLnTx/>
                          <a:uFillTx/>
                          <a:latin typeface="+mn-lt"/>
                          <a:ea typeface="+mn-ea"/>
                          <a:cs typeface="+mn-cs"/>
                        </a:rPr>
                        <a:t> is important </a:t>
                      </a:r>
                      <a:r>
                        <a:rPr kumimoji="0" lang="en-US" sz="1400" b="1" i="0" u="none" strike="noStrike" kern="1200" cap="none" spc="0" normalizeH="0" baseline="0" noProof="0">
                          <a:ln>
                            <a:noFill/>
                          </a:ln>
                          <a:solidFill>
                            <a:schemeClr val="tx1">
                              <a:lumMod val="65000"/>
                              <a:lumOff val="35000"/>
                            </a:schemeClr>
                          </a:solidFill>
                          <a:effectLst/>
                          <a:uLnTx/>
                          <a:uFillTx/>
                          <a:latin typeface="+mn-lt"/>
                          <a:ea typeface="+mn-ea"/>
                          <a:cs typeface="+mn-cs"/>
                        </a:rPr>
                        <a:t>to protect</a:t>
                      </a:r>
                      <a:r>
                        <a:rPr kumimoji="0" lang="en-US" sz="1400" b="0" i="0" u="none" strike="noStrike" kern="1200" cap="none" spc="0" normalizeH="0" baseline="0" noProof="0">
                          <a:ln>
                            <a:noFill/>
                          </a:ln>
                          <a:solidFill>
                            <a:schemeClr val="tx1">
                              <a:lumMod val="65000"/>
                              <a:lumOff val="35000"/>
                            </a:schemeClr>
                          </a:solidFill>
                          <a:effectLst/>
                          <a:uLnTx/>
                          <a:uFillTx/>
                          <a:latin typeface="+mn-lt"/>
                          <a:ea typeface="+mn-ea"/>
                          <a:cs typeface="+mn-cs"/>
                        </a:rPr>
                        <a:t> against </a:t>
                      </a:r>
                      <a:r>
                        <a:rPr kumimoji="0" lang="en-US" sz="1400" b="0" i="1" u="none" strike="noStrike" kern="1200" cap="none" spc="0" normalizeH="0" baseline="0" noProof="0">
                          <a:ln>
                            <a:noFill/>
                          </a:ln>
                          <a:solidFill>
                            <a:schemeClr val="tx1">
                              <a:lumMod val="65000"/>
                              <a:lumOff val="35000"/>
                            </a:schemeClr>
                          </a:solidFill>
                          <a:effectLst/>
                          <a:uLnTx/>
                          <a:uFillTx/>
                          <a:latin typeface="+mn-lt"/>
                          <a:ea typeface="+mn-ea"/>
                          <a:cs typeface="+mn-cs"/>
                        </a:rPr>
                        <a:t>all 5 meningococcal strains</a:t>
                      </a:r>
                      <a:endParaRPr lang="en-US" sz="1400" b="0">
                        <a:solidFill>
                          <a:schemeClr val="tx1">
                            <a:lumMod val="65000"/>
                            <a:lumOff val="35000"/>
                          </a:schemeClr>
                        </a:solidFill>
                        <a:highlight>
                          <a:srgbClr val="00FFFF"/>
                        </a:highlight>
                        <a:latin typeface="+mn-lt"/>
                      </a:endParaRP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007309"/>
                  </a:ext>
                </a:extLst>
              </a:tr>
              <a:tr h="933771">
                <a:tc>
                  <a:txBody>
                    <a:bodyPr/>
                    <a:lstStyle/>
                    <a:p>
                      <a:pPr marL="0" marR="0" lvl="0" indent="0" algn="l" defTabSz="914400" rtl="0" eaLnBrk="1" fontAlgn="t" latinLnBrk="0" hangingPunct="1">
                        <a:lnSpc>
                          <a:spcPct val="100000"/>
                        </a:lnSpc>
                        <a:spcBef>
                          <a:spcPts val="600"/>
                        </a:spcBef>
                        <a:spcAft>
                          <a:spcPts val="600"/>
                        </a:spcAft>
                        <a:buClrTx/>
                        <a:buSzTx/>
                        <a:buFontTx/>
                        <a:buNone/>
                        <a:tabLst/>
                        <a:defRPr/>
                      </a:pPr>
                      <a:r>
                        <a:rPr lang="en-US" sz="1400" b="0" i="0">
                          <a:solidFill>
                            <a:schemeClr val="tx1">
                              <a:lumMod val="65000"/>
                              <a:lumOff val="35000"/>
                            </a:schemeClr>
                          </a:solidFill>
                          <a:latin typeface="+mn-lt"/>
                        </a:rPr>
                        <a:t>Over half </a:t>
                      </a:r>
                      <a:r>
                        <a:rPr lang="en-US" sz="1400" b="1" i="0">
                          <a:solidFill>
                            <a:schemeClr val="tx1">
                              <a:lumMod val="65000"/>
                              <a:lumOff val="35000"/>
                            </a:schemeClr>
                          </a:solidFill>
                          <a:latin typeface="+mn-lt"/>
                        </a:rPr>
                        <a:t>respond favorably to a pentavalent</a:t>
                      </a:r>
                      <a:r>
                        <a:rPr lang="en-US" sz="1400" b="0" i="0">
                          <a:solidFill>
                            <a:schemeClr val="tx1">
                              <a:lumMod val="65000"/>
                              <a:lumOff val="35000"/>
                            </a:schemeClr>
                          </a:solidFill>
                          <a:latin typeface="+mn-lt"/>
                        </a:rPr>
                        <a:t> when clearly explained, due to </a:t>
                      </a:r>
                      <a:r>
                        <a:rPr lang="en-US" sz="1400" b="0" i="1">
                          <a:solidFill>
                            <a:schemeClr val="tx1">
                              <a:lumMod val="65000"/>
                              <a:lumOff val="35000"/>
                            </a:schemeClr>
                          </a:solidFill>
                          <a:latin typeface="+mn-lt"/>
                        </a:rPr>
                        <a:t>complete coverage and fewer injections; </a:t>
                      </a:r>
                      <a:r>
                        <a:rPr lang="en-US" sz="1400" b="0" i="0">
                          <a:solidFill>
                            <a:schemeClr val="tx1">
                              <a:lumMod val="65000"/>
                              <a:lumOff val="35000"/>
                            </a:schemeClr>
                          </a:solidFill>
                          <a:latin typeface="+mn-lt"/>
                        </a:rPr>
                        <a:t>opportunity to strengthen the depth and breadth of perceptions</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0976025"/>
                  </a:ext>
                </a:extLst>
              </a:tr>
              <a:tr h="933771">
                <a:tc>
                  <a:txBody>
                    <a:bodyPr/>
                    <a:lstStyle/>
                    <a:p>
                      <a:pPr marL="0" marR="0" lvl="0" indent="0" algn="l" defTabSz="914126" rtl="0" eaLnBrk="1" fontAlgn="t" latinLnBrk="0" hangingPunct="1">
                        <a:lnSpc>
                          <a:spcPct val="100000"/>
                        </a:lnSpc>
                        <a:spcBef>
                          <a:spcPts val="600"/>
                        </a:spcBef>
                        <a:spcAft>
                          <a:spcPts val="600"/>
                        </a:spcAft>
                        <a:buClrTx/>
                        <a:buSzTx/>
                        <a:buFontTx/>
                        <a:buNone/>
                        <a:tabLst/>
                        <a:defRPr/>
                      </a:pPr>
                      <a:r>
                        <a:rPr lang="en-US" sz="1400" b="0">
                          <a:solidFill>
                            <a:schemeClr val="tx1">
                              <a:lumMod val="65000"/>
                              <a:lumOff val="35000"/>
                            </a:schemeClr>
                          </a:solidFill>
                          <a:latin typeface="+mn-lt"/>
                        </a:rPr>
                        <a:t>Would benefit from </a:t>
                      </a:r>
                      <a:r>
                        <a:rPr lang="en-US" sz="1400" b="1" i="1">
                          <a:solidFill>
                            <a:schemeClr val="tx1">
                              <a:lumMod val="65000"/>
                              <a:lumOff val="35000"/>
                            </a:schemeClr>
                          </a:solidFill>
                          <a:latin typeface="+mn-lt"/>
                        </a:rPr>
                        <a:t>clear, simple information</a:t>
                      </a:r>
                      <a:r>
                        <a:rPr lang="en-US" sz="1400" b="0" i="1">
                          <a:solidFill>
                            <a:schemeClr val="tx1">
                              <a:lumMod val="65000"/>
                              <a:lumOff val="35000"/>
                            </a:schemeClr>
                          </a:solidFill>
                          <a:latin typeface="+mn-lt"/>
                        </a:rPr>
                        <a:t> </a:t>
                      </a:r>
                      <a:r>
                        <a:rPr lang="en-US" sz="1400" b="0" i="0">
                          <a:solidFill>
                            <a:schemeClr val="tx1">
                              <a:lumMod val="65000"/>
                              <a:lumOff val="35000"/>
                            </a:schemeClr>
                          </a:solidFill>
                          <a:latin typeface="+mn-lt"/>
                        </a:rPr>
                        <a:t>regarding </a:t>
                      </a:r>
                      <a:r>
                        <a:rPr lang="en-US" sz="1400" b="0" i="1">
                          <a:solidFill>
                            <a:schemeClr val="tx1">
                              <a:lumMod val="65000"/>
                              <a:lumOff val="35000"/>
                            </a:schemeClr>
                          </a:solidFill>
                          <a:latin typeface="+mn-lt"/>
                        </a:rPr>
                        <a:t>general pentavalent knowledge, recommendations </a:t>
                      </a:r>
                      <a:r>
                        <a:rPr lang="en-US" sz="1400" b="0" i="0">
                          <a:solidFill>
                            <a:schemeClr val="tx1">
                              <a:lumMod val="65000"/>
                              <a:lumOff val="35000"/>
                            </a:schemeClr>
                          </a:solidFill>
                          <a:latin typeface="+mn-lt"/>
                        </a:rPr>
                        <a:t>and </a:t>
                      </a:r>
                      <a:r>
                        <a:rPr lang="en-US" sz="1400" b="0" i="1">
                          <a:solidFill>
                            <a:schemeClr val="tx1">
                              <a:lumMod val="65000"/>
                              <a:lumOff val="35000"/>
                            </a:schemeClr>
                          </a:solidFill>
                          <a:latin typeface="+mn-lt"/>
                        </a:rPr>
                        <a:t>dosing schedule</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3950578"/>
                  </a:ext>
                </a:extLst>
              </a:tr>
            </a:tbl>
          </a:graphicData>
        </a:graphic>
      </p:graphicFrame>
      <p:pic>
        <p:nvPicPr>
          <p:cNvPr id="49" name="Picture 48">
            <a:extLst>
              <a:ext uri="{FF2B5EF4-FFF2-40B4-BE49-F238E27FC236}">
                <a16:creationId xmlns:a16="http://schemas.microsoft.com/office/drawing/2014/main" id="{EE570E22-28C1-2DA0-DF99-080632FAEED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1453" y="2860062"/>
            <a:ext cx="408334" cy="408334"/>
          </a:xfrm>
          <a:prstGeom prst="rect">
            <a:avLst/>
          </a:prstGeom>
        </p:spPr>
      </p:pic>
      <p:pic>
        <p:nvPicPr>
          <p:cNvPr id="51" name="Picture 50">
            <a:extLst>
              <a:ext uri="{FF2B5EF4-FFF2-40B4-BE49-F238E27FC236}">
                <a16:creationId xmlns:a16="http://schemas.microsoft.com/office/drawing/2014/main" id="{FA0EB222-7F4B-373A-2A14-7784647A9C3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1453" y="4703714"/>
            <a:ext cx="408334" cy="408334"/>
          </a:xfrm>
          <a:prstGeom prst="rect">
            <a:avLst/>
          </a:prstGeom>
        </p:spPr>
      </p:pic>
      <p:graphicFrame>
        <p:nvGraphicFramePr>
          <p:cNvPr id="55" name="Table 54">
            <a:extLst>
              <a:ext uri="{FF2B5EF4-FFF2-40B4-BE49-F238E27FC236}">
                <a16:creationId xmlns:a16="http://schemas.microsoft.com/office/drawing/2014/main" id="{47491158-C350-E936-8C9A-0B11E7424F6A}"/>
              </a:ext>
            </a:extLst>
          </p:cNvPr>
          <p:cNvGraphicFramePr>
            <a:graphicFrameLocks noGrp="1"/>
          </p:cNvGraphicFramePr>
          <p:nvPr>
            <p:extLst>
              <p:ext uri="{D42A27DB-BD31-4B8C-83A1-F6EECF244321}">
                <p14:modId xmlns:p14="http://schemas.microsoft.com/office/powerpoint/2010/main" val="1355110670"/>
              </p:ext>
            </p:extLst>
          </p:nvPr>
        </p:nvGraphicFramePr>
        <p:xfrm>
          <a:off x="4524625" y="1645469"/>
          <a:ext cx="7613412" cy="4768822"/>
        </p:xfrm>
        <a:graphic>
          <a:graphicData uri="http://schemas.openxmlformats.org/drawingml/2006/table">
            <a:tbl>
              <a:tblPr>
                <a:tableStyleId>{5C22544A-7EE6-4342-B048-85BDC9FD1C3A}</a:tableStyleId>
              </a:tblPr>
              <a:tblGrid>
                <a:gridCol w="3443044">
                  <a:extLst>
                    <a:ext uri="{9D8B030D-6E8A-4147-A177-3AD203B41FA5}">
                      <a16:colId xmlns:a16="http://schemas.microsoft.com/office/drawing/2014/main" val="820913124"/>
                    </a:ext>
                  </a:extLst>
                </a:gridCol>
                <a:gridCol w="597502">
                  <a:extLst>
                    <a:ext uri="{9D8B030D-6E8A-4147-A177-3AD203B41FA5}">
                      <a16:colId xmlns:a16="http://schemas.microsoft.com/office/drawing/2014/main" val="1548298631"/>
                    </a:ext>
                  </a:extLst>
                </a:gridCol>
                <a:gridCol w="3572866">
                  <a:extLst>
                    <a:ext uri="{9D8B030D-6E8A-4147-A177-3AD203B41FA5}">
                      <a16:colId xmlns:a16="http://schemas.microsoft.com/office/drawing/2014/main" val="663531009"/>
                    </a:ext>
                  </a:extLst>
                </a:gridCol>
              </a:tblGrid>
              <a:tr h="1237795">
                <a:tc>
                  <a:txBody>
                    <a:bodyPr/>
                    <a:lstStyle/>
                    <a:p>
                      <a:pPr marL="0" marR="0" lvl="0" indent="0" algn="l" defTabSz="914400" rtl="0" eaLnBrk="1" fontAlgn="t" latinLnBrk="0" hangingPunct="1">
                        <a:lnSpc>
                          <a:spcPct val="100000"/>
                        </a:lnSpc>
                        <a:spcBef>
                          <a:spcPts val="600"/>
                        </a:spcBef>
                        <a:spcAft>
                          <a:spcPts val="600"/>
                        </a:spcAft>
                        <a:buClrTx/>
                        <a:buSzTx/>
                        <a:buFontTx/>
                        <a:buNone/>
                        <a:tabLst/>
                        <a:defRPr/>
                      </a:pPr>
                      <a:r>
                        <a:rPr lang="en-US" sz="1400" b="0">
                          <a:solidFill>
                            <a:schemeClr val="tx1">
                              <a:lumMod val="65000"/>
                              <a:lumOff val="35000"/>
                            </a:schemeClr>
                          </a:solidFill>
                          <a:latin typeface="+mn-lt"/>
                        </a:rPr>
                        <a:t>Prioritize </a:t>
                      </a:r>
                      <a:r>
                        <a:rPr lang="en-US" sz="1400" b="1">
                          <a:solidFill>
                            <a:schemeClr val="tx1">
                              <a:lumMod val="65000"/>
                              <a:lumOff val="35000"/>
                            </a:schemeClr>
                          </a:solidFill>
                          <a:latin typeface="+mn-lt"/>
                        </a:rPr>
                        <a:t>broad, clinical protection, long-term data and efficacy </a:t>
                      </a:r>
                      <a:r>
                        <a:rPr lang="en-US" sz="1400" b="0">
                          <a:solidFill>
                            <a:schemeClr val="tx1">
                              <a:lumMod val="65000"/>
                              <a:lumOff val="35000"/>
                            </a:schemeClr>
                          </a:solidFill>
                          <a:latin typeface="+mn-lt"/>
                        </a:rPr>
                        <a:t>as Penbraya’s main value messages; encourage HCPs to relay </a:t>
                      </a:r>
                      <a:r>
                        <a:rPr lang="en-US" sz="1400" b="0" i="0">
                          <a:solidFill>
                            <a:schemeClr val="tx1">
                              <a:lumMod val="65000"/>
                              <a:lumOff val="35000"/>
                            </a:schemeClr>
                          </a:solidFill>
                          <a:latin typeface="+mn-lt"/>
                        </a:rPr>
                        <a:t>convenience and safety to </a:t>
                      </a:r>
                      <a:r>
                        <a:rPr lang="en-US" sz="1400" b="0">
                          <a:solidFill>
                            <a:schemeClr val="tx1">
                              <a:lumMod val="65000"/>
                              <a:lumOff val="35000"/>
                            </a:schemeClr>
                          </a:solidFill>
                          <a:latin typeface="+mn-lt"/>
                        </a:rPr>
                        <a:t>Caregivers</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lnSpc>
                          <a:spcPct val="100000"/>
                        </a:lnSpc>
                        <a:spcBef>
                          <a:spcPts val="600"/>
                        </a:spcBef>
                        <a:spcAft>
                          <a:spcPts val="600"/>
                        </a:spcAft>
                      </a:pPr>
                      <a:endParaRPr lang="en-US" sz="1400" b="0" kern="1200">
                        <a:solidFill>
                          <a:schemeClr val="tx1">
                            <a:lumMod val="65000"/>
                            <a:lumOff val="35000"/>
                          </a:schemeClr>
                        </a:solidFill>
                        <a:latin typeface="+mn-lt"/>
                        <a:ea typeface="+mn-ea"/>
                        <a:cs typeface="+mn-cs"/>
                      </a:endParaRPr>
                    </a:p>
                  </a:txBody>
                  <a:tcPr marL="7618" marR="7618" marT="7618" marB="0"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t" latinLnBrk="0" hangingPunct="1">
                        <a:lnSpc>
                          <a:spcPct val="100000"/>
                        </a:lnSpc>
                        <a:spcBef>
                          <a:spcPts val="600"/>
                        </a:spcBef>
                        <a:spcAft>
                          <a:spcPts val="600"/>
                        </a:spcAft>
                        <a:buClrTx/>
                        <a:buSzTx/>
                        <a:buFontTx/>
                        <a:buNone/>
                        <a:tabLst/>
                        <a:defRPr/>
                      </a:pPr>
                      <a:r>
                        <a:rPr lang="en-US" sz="1400" b="1">
                          <a:solidFill>
                            <a:schemeClr val="tx1">
                              <a:lumMod val="65000"/>
                              <a:lumOff val="35000"/>
                            </a:schemeClr>
                          </a:solidFill>
                          <a:latin typeface="Arial" panose="020B0604020202020204" pitchFamily="34" charset="0"/>
                        </a:rPr>
                        <a:t>Convenience</a:t>
                      </a:r>
                      <a:r>
                        <a:rPr lang="en-US" sz="1400">
                          <a:solidFill>
                            <a:schemeClr val="tx1">
                              <a:lumMod val="65000"/>
                              <a:lumOff val="35000"/>
                            </a:schemeClr>
                          </a:solidFill>
                          <a:latin typeface="Arial" panose="020B0604020202020204" pitchFamily="34" charset="0"/>
                        </a:rPr>
                        <a:t>, such as fewer shots and appointments, are top drivers to pentavalent use; communicate </a:t>
                      </a:r>
                      <a:r>
                        <a:rPr lang="en-US" sz="1400" b="1">
                          <a:solidFill>
                            <a:schemeClr val="tx1">
                              <a:lumMod val="65000"/>
                              <a:lumOff val="35000"/>
                            </a:schemeClr>
                          </a:solidFill>
                          <a:latin typeface="Arial" panose="020B0604020202020204" pitchFamily="34" charset="0"/>
                        </a:rPr>
                        <a:t>safety </a:t>
                      </a:r>
                      <a:r>
                        <a:rPr lang="en-US" sz="1400">
                          <a:solidFill>
                            <a:schemeClr val="tx1">
                              <a:lumMod val="65000"/>
                              <a:lumOff val="35000"/>
                            </a:schemeClr>
                          </a:solidFill>
                          <a:latin typeface="Arial" panose="020B0604020202020204" pitchFamily="34" charset="0"/>
                        </a:rPr>
                        <a:t>of an all-in-one vaccine, which is a top concern among some</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1967681"/>
                  </a:ext>
                </a:extLst>
              </a:tr>
              <a:tr h="1287445">
                <a:tc>
                  <a:txBody>
                    <a:bodyPr/>
                    <a:lstStyle/>
                    <a:p>
                      <a:pPr marL="0" marR="0" lvl="0" indent="0" algn="l" defTabSz="914400" rtl="0" eaLnBrk="1" fontAlgn="t" latinLnBrk="0" hangingPunct="1">
                        <a:lnSpc>
                          <a:spcPct val="100000"/>
                        </a:lnSpc>
                        <a:spcBef>
                          <a:spcPts val="600"/>
                        </a:spcBef>
                        <a:spcAft>
                          <a:spcPts val="600"/>
                        </a:spcAft>
                        <a:buClrTx/>
                        <a:buSzTx/>
                        <a:buFontTx/>
                        <a:buNone/>
                        <a:tabLst/>
                        <a:defRPr/>
                      </a:pPr>
                      <a:r>
                        <a:rPr lang="en-US" sz="1400" b="1" i="0">
                          <a:solidFill>
                            <a:schemeClr val="tx1">
                              <a:lumMod val="65000"/>
                              <a:lumOff val="35000"/>
                            </a:schemeClr>
                          </a:solidFill>
                          <a:latin typeface="+mn-lt"/>
                        </a:rPr>
                        <a:t>Strong awareness </a:t>
                      </a:r>
                      <a:r>
                        <a:rPr lang="en-US" sz="1400" b="0" i="0">
                          <a:solidFill>
                            <a:schemeClr val="tx1">
                              <a:lumMod val="65000"/>
                              <a:lumOff val="35000"/>
                            </a:schemeClr>
                          </a:solidFill>
                          <a:latin typeface="+mn-lt"/>
                        </a:rPr>
                        <a:t>of meningococcal vaccine ACIP recommendations overall, though lower awareness that second </a:t>
                      </a:r>
                      <a:r>
                        <a:rPr lang="en-US" sz="1400" b="0" i="0" err="1">
                          <a:solidFill>
                            <a:schemeClr val="tx1">
                              <a:lumMod val="65000"/>
                              <a:lumOff val="35000"/>
                            </a:schemeClr>
                          </a:solidFill>
                          <a:latin typeface="+mn-lt"/>
                        </a:rPr>
                        <a:t>MenB</a:t>
                      </a:r>
                      <a:r>
                        <a:rPr lang="en-US" sz="1400" b="0" i="0">
                          <a:solidFill>
                            <a:schemeClr val="tx1">
                              <a:lumMod val="65000"/>
                              <a:lumOff val="35000"/>
                            </a:schemeClr>
                          </a:solidFill>
                          <a:latin typeface="+mn-lt"/>
                        </a:rPr>
                        <a:t> dose must be from the same manufacturer as the pentavalent vaccine</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lnSpc>
                          <a:spcPct val="100000"/>
                        </a:lnSpc>
                        <a:spcBef>
                          <a:spcPts val="600"/>
                        </a:spcBef>
                        <a:spcAft>
                          <a:spcPts val="600"/>
                        </a:spcAft>
                      </a:pPr>
                      <a:r>
                        <a:rPr lang="en-US" sz="1400" b="0" kern="1200">
                          <a:solidFill>
                            <a:schemeClr val="tx1">
                              <a:lumMod val="65000"/>
                              <a:lumOff val="35000"/>
                            </a:schemeClr>
                          </a:solidFill>
                          <a:latin typeface="+mn-lt"/>
                          <a:ea typeface="+mn-ea"/>
                          <a:cs typeface="+mn-cs"/>
                        </a:rPr>
                        <a:t>  </a:t>
                      </a:r>
                    </a:p>
                  </a:txBody>
                  <a:tcPr marL="7618" marR="7618" marT="7618" marB="0"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t" latinLnBrk="0" hangingPunct="1">
                        <a:lnSpc>
                          <a:spcPct val="100000"/>
                        </a:lnSpc>
                        <a:spcBef>
                          <a:spcPts val="600"/>
                        </a:spcBef>
                        <a:spcAft>
                          <a:spcPts val="600"/>
                        </a:spcAft>
                        <a:buClrTx/>
                        <a:buSzTx/>
                        <a:buFontTx/>
                        <a:buNone/>
                        <a:tabLst/>
                        <a:defRPr/>
                      </a:pPr>
                      <a:r>
                        <a:rPr lang="en-US" sz="1400" b="1" i="0">
                          <a:solidFill>
                            <a:schemeClr val="tx1">
                              <a:lumMod val="65000"/>
                              <a:lumOff val="35000"/>
                            </a:schemeClr>
                          </a:solidFill>
                          <a:latin typeface="Arial" panose="020B0604020202020204" pitchFamily="34" charset="0"/>
                        </a:rPr>
                        <a:t>Low awareness </a:t>
                      </a:r>
                      <a:r>
                        <a:rPr lang="en-US" sz="1400" b="0" i="0">
                          <a:solidFill>
                            <a:schemeClr val="tx1">
                              <a:lumMod val="65000"/>
                              <a:lumOff val="35000"/>
                            </a:schemeClr>
                          </a:solidFill>
                          <a:latin typeface="Arial" panose="020B0604020202020204" pitchFamily="34" charset="0"/>
                        </a:rPr>
                        <a:t>meningococcal serogroups or which vaccines their child received,</a:t>
                      </a:r>
                      <a:r>
                        <a:rPr lang="en-US" sz="1400" b="0">
                          <a:solidFill>
                            <a:schemeClr val="tx1">
                              <a:lumMod val="65000"/>
                              <a:lumOff val="35000"/>
                            </a:schemeClr>
                          </a:solidFill>
                          <a:latin typeface="Arial" panose="020B0604020202020204" pitchFamily="34" charset="0"/>
                        </a:rPr>
                        <a:t> reinforcing the need for Caregiver education, particularly regarding the second </a:t>
                      </a:r>
                      <a:r>
                        <a:rPr lang="en-US" sz="1400" b="0" err="1">
                          <a:solidFill>
                            <a:schemeClr val="tx1">
                              <a:lumMod val="65000"/>
                              <a:lumOff val="35000"/>
                            </a:schemeClr>
                          </a:solidFill>
                          <a:latin typeface="Arial" panose="020B0604020202020204" pitchFamily="34" charset="0"/>
                        </a:rPr>
                        <a:t>MenB</a:t>
                      </a:r>
                      <a:r>
                        <a:rPr lang="en-US" sz="1400" b="0">
                          <a:solidFill>
                            <a:schemeClr val="tx1">
                              <a:lumMod val="65000"/>
                              <a:lumOff val="35000"/>
                            </a:schemeClr>
                          </a:solidFill>
                          <a:latin typeface="Arial" panose="020B0604020202020204" pitchFamily="34" charset="0"/>
                        </a:rPr>
                        <a:t> dose, to encourage compliance and increase vaccination rates</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5049935"/>
                  </a:ext>
                </a:extLst>
              </a:tr>
              <a:tr h="1287445">
                <a:tc>
                  <a:txBody>
                    <a:bodyPr/>
                    <a:lstStyle/>
                    <a:p>
                      <a:pPr marL="0" marR="0" lvl="0" indent="0" algn="l" defTabSz="914126" rtl="0" eaLnBrk="1" fontAlgn="t" latinLnBrk="0" hangingPunct="1">
                        <a:lnSpc>
                          <a:spcPct val="100000"/>
                        </a:lnSpc>
                        <a:spcBef>
                          <a:spcPts val="600"/>
                        </a:spcBef>
                        <a:spcAft>
                          <a:spcPts val="600"/>
                        </a:spcAft>
                        <a:buClrTx/>
                        <a:buSzTx/>
                        <a:buFontTx/>
                        <a:buNone/>
                        <a:tabLst/>
                        <a:defRPr/>
                      </a:pPr>
                      <a:r>
                        <a:rPr lang="en-US" sz="1400" b="1" i="0" dirty="0">
                          <a:solidFill>
                            <a:schemeClr val="tx1">
                              <a:lumMod val="65000"/>
                              <a:lumOff val="35000"/>
                            </a:schemeClr>
                          </a:solidFill>
                        </a:rPr>
                        <a:t>Penbraya use and recommendations is low overall </a:t>
                      </a:r>
                      <a:r>
                        <a:rPr lang="en-US" sz="1400" b="0" i="0" dirty="0">
                          <a:solidFill>
                            <a:schemeClr val="tx1">
                              <a:lumMod val="65000"/>
                              <a:lumOff val="35000"/>
                            </a:schemeClr>
                          </a:solidFill>
                        </a:rPr>
                        <a:t>and highly dependent on stocking, costs and logistics</a:t>
                      </a:r>
                      <a:endParaRPr lang="en-US" sz="1400" b="0" i="0" strike="sngStrike" dirty="0">
                        <a:solidFill>
                          <a:schemeClr val="tx1">
                            <a:lumMod val="65000"/>
                            <a:lumOff val="35000"/>
                          </a:schemeClr>
                        </a:solidFill>
                      </a:endParaRPr>
                    </a:p>
                  </a:txBody>
                  <a:tcPr marL="7618" marR="7618" marT="7618" marB="0" anchor="ctr">
                    <a:lnL w="12700" cmpd="sng">
                      <a:noFill/>
                    </a:lnL>
                    <a:lnR w="12700" cmpd="sng">
                      <a:noFill/>
                    </a:lnR>
                    <a:lnT w="6350" cap="flat" cmpd="sng" algn="ctr">
                      <a:solidFill>
                        <a:schemeClr val="bg1">
                          <a:lumMod val="6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defTabSz="914126" fontAlgn="t">
                        <a:lnSpc>
                          <a:spcPct val="100000"/>
                        </a:lnSpc>
                        <a:spcBef>
                          <a:spcPts val="600"/>
                        </a:spcBef>
                        <a:spcAft>
                          <a:spcPts val="600"/>
                        </a:spcAft>
                        <a:defRPr/>
                      </a:pPr>
                      <a:endParaRPr lang="en-US" sz="1400" b="0">
                        <a:solidFill>
                          <a:schemeClr val="tx1">
                            <a:lumMod val="65000"/>
                            <a:lumOff val="35000"/>
                          </a:schemeClr>
                        </a:solidFill>
                        <a:latin typeface="+mn-lt"/>
                      </a:endParaRPr>
                    </a:p>
                  </a:txBody>
                  <a:tcPr marL="7618" marR="7618" marT="7618" marB="0"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126" rtl="0" eaLnBrk="1" fontAlgn="t" latinLnBrk="0" hangingPunct="1">
                        <a:lnSpc>
                          <a:spcPct val="100000"/>
                        </a:lnSpc>
                        <a:spcBef>
                          <a:spcPts val="600"/>
                        </a:spcBef>
                        <a:spcAft>
                          <a:spcPts val="600"/>
                        </a:spcAft>
                        <a:buClrTx/>
                        <a:buSzTx/>
                        <a:buFontTx/>
                        <a:buNone/>
                        <a:tabLst/>
                        <a:defRPr/>
                      </a:pPr>
                      <a:r>
                        <a:rPr lang="en-US" sz="1400" b="1" i="0">
                          <a:solidFill>
                            <a:schemeClr val="tx1">
                              <a:lumMod val="65000"/>
                              <a:lumOff val="35000"/>
                            </a:schemeClr>
                          </a:solidFill>
                          <a:latin typeface="Arial" panose="020B0604020202020204" pitchFamily="34" charset="0"/>
                        </a:rPr>
                        <a:t>Trust in HCP guidance </a:t>
                      </a:r>
                      <a:r>
                        <a:rPr lang="en-US" sz="1400" b="0" i="0">
                          <a:solidFill>
                            <a:schemeClr val="tx1">
                              <a:lumMod val="65000"/>
                              <a:lumOff val="35000"/>
                            </a:schemeClr>
                          </a:solidFill>
                          <a:latin typeface="Arial" panose="020B0604020202020204" pitchFamily="34" charset="0"/>
                        </a:rPr>
                        <a:t>is a key driver of vaccination and </a:t>
                      </a:r>
                      <a:r>
                        <a:rPr lang="en-US" sz="1400" b="0" i="0">
                          <a:solidFill>
                            <a:schemeClr val="tx1">
                              <a:lumMod val="65000"/>
                              <a:lumOff val="35000"/>
                            </a:schemeClr>
                          </a:solidFill>
                        </a:rPr>
                        <a:t>majority of Caregivers accept the pentavalent vaccine when recommended</a:t>
                      </a:r>
                      <a:r>
                        <a:rPr lang="en-US" sz="1400" b="0" i="0">
                          <a:solidFill>
                            <a:schemeClr val="tx1">
                              <a:lumMod val="65000"/>
                              <a:lumOff val="35000"/>
                            </a:schemeClr>
                          </a:solidFill>
                          <a:latin typeface="Arial" panose="020B0604020202020204" pitchFamily="34" charset="0"/>
                        </a:rPr>
                        <a:t>; additionally, majority of Caregivers are likely to request a Pfizer MM vaccine and willing to have teen receive it</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2007309"/>
                  </a:ext>
                </a:extLst>
              </a:tr>
              <a:tr h="955471">
                <a:tc>
                  <a:txBody>
                    <a:bodyPr/>
                    <a:lstStyle/>
                    <a:p>
                      <a:pPr marL="0" marR="0" lvl="0" indent="0" algn="l" defTabSz="914126" rtl="0" eaLnBrk="1" fontAlgn="t"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Arial" panose="020B0604020202020204" pitchFamily="34" charset="0"/>
                        </a:rPr>
                        <a:t>PCPs are more likely to adopt and recommend Penbraya sooner and are more likely to recommend it than PEDs</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defTabSz="914126" fontAlgn="t">
                        <a:lnSpc>
                          <a:spcPct val="100000"/>
                        </a:lnSpc>
                        <a:spcBef>
                          <a:spcPts val="600"/>
                        </a:spcBef>
                        <a:spcAft>
                          <a:spcPts val="600"/>
                        </a:spcAft>
                        <a:defRPr/>
                      </a:pPr>
                      <a:endParaRPr lang="en-US" sz="1400" b="0" i="0">
                        <a:solidFill>
                          <a:schemeClr val="tx1">
                            <a:lumMod val="65000"/>
                            <a:lumOff val="35000"/>
                          </a:schemeClr>
                        </a:solidFill>
                        <a:latin typeface="+mn-lt"/>
                      </a:endParaRPr>
                    </a:p>
                  </a:txBody>
                  <a:tcPr marL="7618" marR="7618" marT="7618" marB="0"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126" rtl="0" eaLnBrk="1" fontAlgn="t" latinLnBrk="0" hangingPunct="1">
                        <a:lnSpc>
                          <a:spcPct val="100000"/>
                        </a:lnSpc>
                        <a:spcBef>
                          <a:spcPts val="0"/>
                        </a:spcBef>
                        <a:spcAft>
                          <a:spcPts val="0"/>
                        </a:spcAft>
                        <a:buClrTx/>
                        <a:buSzTx/>
                        <a:buFontTx/>
                        <a:buNone/>
                        <a:tabLst/>
                        <a:defRPr/>
                      </a:pPr>
                      <a:r>
                        <a:rPr lang="en-US" sz="1400" b="0">
                          <a:solidFill>
                            <a:schemeClr val="tx1">
                              <a:lumMod val="65000"/>
                              <a:lumOff val="35000"/>
                            </a:schemeClr>
                          </a:solidFill>
                          <a:latin typeface="Arial" panose="020B0604020202020204" pitchFamily="34" charset="0"/>
                        </a:rPr>
                        <a:t>Caregivers of younger teens - who see PEDs at a higher rate, prefer a pentavalent significantly more than older teens</a:t>
                      </a:r>
                    </a:p>
                  </a:txBody>
                  <a:tcPr marL="7618" marR="7618" marT="7618"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0976025"/>
                  </a:ext>
                </a:extLst>
              </a:tr>
            </a:tbl>
          </a:graphicData>
        </a:graphic>
      </p:graphicFrame>
      <p:cxnSp>
        <p:nvCxnSpPr>
          <p:cNvPr id="57" name="Straight Connector 56">
            <a:extLst>
              <a:ext uri="{FF2B5EF4-FFF2-40B4-BE49-F238E27FC236}">
                <a16:creationId xmlns:a16="http://schemas.microsoft.com/office/drawing/2014/main" id="{14215CBF-4ABC-CE89-7897-494F0E4F9626}"/>
              </a:ext>
            </a:extLst>
          </p:cNvPr>
          <p:cNvCxnSpPr>
            <a:cxnSpLocks/>
          </p:cNvCxnSpPr>
          <p:nvPr/>
        </p:nvCxnSpPr>
        <p:spPr bwMode="gray">
          <a:xfrm>
            <a:off x="4413393" y="778320"/>
            <a:ext cx="0" cy="5828612"/>
          </a:xfrm>
          <a:prstGeom prst="line">
            <a:avLst/>
          </a:prstGeom>
          <a:ln>
            <a:headEnd/>
            <a:tailEnd/>
          </a:ln>
        </p:spPr>
        <p:style>
          <a:lnRef idx="2">
            <a:schemeClr val="accent1"/>
          </a:lnRef>
          <a:fillRef idx="0">
            <a:schemeClr val="accent1"/>
          </a:fillRef>
          <a:effectRef idx="1">
            <a:schemeClr val="accent1"/>
          </a:effectRef>
          <a:fontRef idx="minor">
            <a:schemeClr val="tx1"/>
          </a:fontRef>
        </p:style>
      </p:cxnSp>
      <p:pic>
        <p:nvPicPr>
          <p:cNvPr id="59" name="Picture 58">
            <a:extLst>
              <a:ext uri="{FF2B5EF4-FFF2-40B4-BE49-F238E27FC236}">
                <a16:creationId xmlns:a16="http://schemas.microsoft.com/office/drawing/2014/main" id="{CE3FB726-20C9-79FA-EDC4-0A73E4944B4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1453" y="5635698"/>
            <a:ext cx="408334" cy="408334"/>
          </a:xfrm>
          <a:prstGeom prst="rect">
            <a:avLst/>
          </a:prstGeom>
        </p:spPr>
      </p:pic>
      <p:pic>
        <p:nvPicPr>
          <p:cNvPr id="62" name="Picture 61">
            <a:extLst>
              <a:ext uri="{FF2B5EF4-FFF2-40B4-BE49-F238E27FC236}">
                <a16:creationId xmlns:a16="http://schemas.microsoft.com/office/drawing/2014/main" id="{47BFE125-F70C-5755-4760-B15F40A6445B}"/>
              </a:ext>
            </a:extLst>
          </p:cNvPr>
          <p:cNvPicPr>
            <a:picLocks noChangeAspect="1"/>
          </p:cNvPicPr>
          <p:nvPr/>
        </p:nvPicPr>
        <p:blipFill>
          <a:blip r:embed="rId4">
            <a:clrChange>
              <a:clrFrom>
                <a:srgbClr val="FFFFFF"/>
              </a:clrFrom>
              <a:clrTo>
                <a:srgbClr val="FFFFFF">
                  <a:alpha val="0"/>
                </a:srgbClr>
              </a:clrTo>
            </a:clrChange>
            <a:alphaModFix amt="35000"/>
          </a:blip>
          <a:stretch>
            <a:fillRect/>
          </a:stretch>
        </p:blipFill>
        <p:spPr>
          <a:xfrm>
            <a:off x="8103598" y="2120980"/>
            <a:ext cx="315487" cy="310023"/>
          </a:xfrm>
          <a:prstGeom prst="rect">
            <a:avLst/>
          </a:prstGeom>
        </p:spPr>
      </p:pic>
      <p:pic>
        <p:nvPicPr>
          <p:cNvPr id="1024" name="Picture 1023">
            <a:extLst>
              <a:ext uri="{FF2B5EF4-FFF2-40B4-BE49-F238E27FC236}">
                <a16:creationId xmlns:a16="http://schemas.microsoft.com/office/drawing/2014/main" id="{ABAE43E9-FA4F-9F3B-A2A6-8ABF364BCCD5}"/>
              </a:ext>
            </a:extLst>
          </p:cNvPr>
          <p:cNvPicPr>
            <a:picLocks noChangeAspect="1"/>
          </p:cNvPicPr>
          <p:nvPr/>
        </p:nvPicPr>
        <p:blipFill>
          <a:blip r:embed="rId4">
            <a:clrChange>
              <a:clrFrom>
                <a:srgbClr val="FFFFFF"/>
              </a:clrFrom>
              <a:clrTo>
                <a:srgbClr val="FFFFFF">
                  <a:alpha val="0"/>
                </a:srgbClr>
              </a:clrTo>
            </a:clrChange>
            <a:alphaModFix amt="35000"/>
          </a:blip>
          <a:stretch>
            <a:fillRect/>
          </a:stretch>
        </p:blipFill>
        <p:spPr>
          <a:xfrm>
            <a:off x="8103598" y="3340728"/>
            <a:ext cx="315487" cy="310023"/>
          </a:xfrm>
          <a:prstGeom prst="rect">
            <a:avLst/>
          </a:prstGeom>
        </p:spPr>
      </p:pic>
      <p:pic>
        <p:nvPicPr>
          <p:cNvPr id="1025" name="Picture 1024">
            <a:extLst>
              <a:ext uri="{FF2B5EF4-FFF2-40B4-BE49-F238E27FC236}">
                <a16:creationId xmlns:a16="http://schemas.microsoft.com/office/drawing/2014/main" id="{50BB13C4-2381-093C-69BC-AF2E3203571A}"/>
              </a:ext>
            </a:extLst>
          </p:cNvPr>
          <p:cNvPicPr>
            <a:picLocks noChangeAspect="1"/>
          </p:cNvPicPr>
          <p:nvPr/>
        </p:nvPicPr>
        <p:blipFill>
          <a:blip r:embed="rId4">
            <a:clrChange>
              <a:clrFrom>
                <a:srgbClr val="FFFFFF"/>
              </a:clrFrom>
              <a:clrTo>
                <a:srgbClr val="FFFFFF">
                  <a:alpha val="0"/>
                </a:srgbClr>
              </a:clrTo>
            </a:clrChange>
            <a:alphaModFix amt="35000"/>
          </a:blip>
          <a:stretch>
            <a:fillRect/>
          </a:stretch>
        </p:blipFill>
        <p:spPr>
          <a:xfrm>
            <a:off x="8103598" y="4621421"/>
            <a:ext cx="315487" cy="310023"/>
          </a:xfrm>
          <a:prstGeom prst="rect">
            <a:avLst/>
          </a:prstGeom>
        </p:spPr>
      </p:pic>
      <p:pic>
        <p:nvPicPr>
          <p:cNvPr id="1027" name="Picture 1026">
            <a:extLst>
              <a:ext uri="{FF2B5EF4-FFF2-40B4-BE49-F238E27FC236}">
                <a16:creationId xmlns:a16="http://schemas.microsoft.com/office/drawing/2014/main" id="{D6CC2B09-3B13-CDDB-A1EF-F460EBDF0914}"/>
              </a:ext>
            </a:extLst>
          </p:cNvPr>
          <p:cNvPicPr>
            <a:picLocks noChangeAspect="1"/>
          </p:cNvPicPr>
          <p:nvPr/>
        </p:nvPicPr>
        <p:blipFill>
          <a:blip r:embed="rId4">
            <a:clrChange>
              <a:clrFrom>
                <a:srgbClr val="FFFFFF"/>
              </a:clrFrom>
              <a:clrTo>
                <a:srgbClr val="FFFFFF">
                  <a:alpha val="0"/>
                </a:srgbClr>
              </a:clrTo>
            </a:clrChange>
            <a:alphaModFix amt="35000"/>
          </a:blip>
          <a:stretch>
            <a:fillRect/>
          </a:stretch>
        </p:blipFill>
        <p:spPr>
          <a:xfrm>
            <a:off x="8103598" y="5719281"/>
            <a:ext cx="315487" cy="310023"/>
          </a:xfrm>
          <a:prstGeom prst="rect">
            <a:avLst/>
          </a:prstGeom>
        </p:spPr>
      </p:pic>
      <p:sp>
        <p:nvSpPr>
          <p:cNvPr id="1034" name="Rectangle: Rounded Corners 1033">
            <a:extLst>
              <a:ext uri="{FF2B5EF4-FFF2-40B4-BE49-F238E27FC236}">
                <a16:creationId xmlns:a16="http://schemas.microsoft.com/office/drawing/2014/main" id="{C6075FA6-0641-DF6D-0133-95193EF027A3}"/>
              </a:ext>
            </a:extLst>
          </p:cNvPr>
          <p:cNvSpPr/>
          <p:nvPr/>
        </p:nvSpPr>
        <p:spPr bwMode="gray">
          <a:xfrm>
            <a:off x="5304711" y="1062865"/>
            <a:ext cx="1919240" cy="506218"/>
          </a:xfrm>
          <a:prstGeom prst="roundRect">
            <a:avLst/>
          </a:prstGeom>
          <a:solidFill>
            <a:srgbClr val="0070BF">
              <a:alpha val="10196"/>
            </a:srgbClr>
          </a:solidFill>
          <a:ln w="12700">
            <a:solidFill>
              <a:srgbClr val="0070BF"/>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381" tIns="45691" rIns="91381" bIns="45691" numCol="1" rtlCol="0" anchor="ctr" anchorCtr="0" compatLnSpc="1">
            <a:prstTxWarp prst="textNoShape">
              <a:avLst/>
            </a:prstTxWarp>
            <a:noAutofit/>
          </a:bodyPr>
          <a:lstStyle/>
          <a:p>
            <a:pPr marL="233223" fontAlgn="base">
              <a:lnSpc>
                <a:spcPct val="90000"/>
              </a:lnSpc>
              <a:spcAft>
                <a:spcPct val="0"/>
              </a:spcAft>
              <a:buClr>
                <a:srgbClr val="0095FF"/>
              </a:buClr>
              <a:buSzPct val="90000"/>
            </a:pPr>
            <a:r>
              <a:rPr lang="en-US" sz="1798" b="1">
                <a:solidFill>
                  <a:srgbClr val="000000">
                    <a:lumMod val="75000"/>
                    <a:lumOff val="25000"/>
                  </a:srgbClr>
                </a:solidFill>
              </a:rPr>
              <a:t>HCPs</a:t>
            </a:r>
          </a:p>
        </p:txBody>
      </p:sp>
      <p:grpSp>
        <p:nvGrpSpPr>
          <p:cNvPr id="1036" name="Group 1035">
            <a:extLst>
              <a:ext uri="{FF2B5EF4-FFF2-40B4-BE49-F238E27FC236}">
                <a16:creationId xmlns:a16="http://schemas.microsoft.com/office/drawing/2014/main" id="{A5B1CA45-9441-B694-910A-D87D32C45895}"/>
              </a:ext>
            </a:extLst>
          </p:cNvPr>
          <p:cNvGrpSpPr/>
          <p:nvPr/>
        </p:nvGrpSpPr>
        <p:grpSpPr>
          <a:xfrm>
            <a:off x="6557458" y="1083932"/>
            <a:ext cx="4769338" cy="506218"/>
            <a:chOff x="5206304" y="1732844"/>
            <a:chExt cx="4771827" cy="506482"/>
          </a:xfrm>
        </p:grpSpPr>
        <p:sp>
          <p:nvSpPr>
            <p:cNvPr id="1037" name="Rectangle: Rounded Corners 1036">
              <a:extLst>
                <a:ext uri="{FF2B5EF4-FFF2-40B4-BE49-F238E27FC236}">
                  <a16:creationId xmlns:a16="http://schemas.microsoft.com/office/drawing/2014/main" id="{6ACB8604-71AA-3DAF-9549-AFFF4CDD00E1}"/>
                </a:ext>
              </a:extLst>
            </p:cNvPr>
            <p:cNvSpPr/>
            <p:nvPr/>
          </p:nvSpPr>
          <p:spPr bwMode="gray">
            <a:xfrm>
              <a:off x="8057891" y="1732844"/>
              <a:ext cx="1920240" cy="506482"/>
            </a:xfrm>
            <a:prstGeom prst="roundRect">
              <a:avLst/>
            </a:prstGeom>
            <a:solidFill>
              <a:srgbClr val="0A8E8B">
                <a:alpha val="10196"/>
              </a:srgbClr>
            </a:solidFill>
            <a:ln w="12700">
              <a:solidFill>
                <a:srgbClr val="0A8E8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381" tIns="45691" rIns="91381" bIns="45691" numCol="1" rtlCol="0" anchor="ctr" anchorCtr="0" compatLnSpc="1">
              <a:prstTxWarp prst="textNoShape">
                <a:avLst/>
              </a:prstTxWarp>
              <a:noAutofit/>
            </a:bodyPr>
            <a:lstStyle/>
            <a:p>
              <a:pPr fontAlgn="base">
                <a:lnSpc>
                  <a:spcPct val="90000"/>
                </a:lnSpc>
                <a:spcAft>
                  <a:spcPct val="0"/>
                </a:spcAft>
                <a:buClr>
                  <a:srgbClr val="0095FF"/>
                </a:buClr>
                <a:buSzPct val="90000"/>
              </a:pPr>
              <a:r>
                <a:rPr lang="en-US" sz="1798" b="1">
                  <a:solidFill>
                    <a:srgbClr val="000000">
                      <a:lumMod val="75000"/>
                      <a:lumOff val="25000"/>
                    </a:srgbClr>
                  </a:solidFill>
                </a:rPr>
                <a:t>Parents/ Caregivers</a:t>
              </a:r>
            </a:p>
          </p:txBody>
        </p:sp>
        <p:pic>
          <p:nvPicPr>
            <p:cNvPr id="1038" name="Graphic 1037">
              <a:extLst>
                <a:ext uri="{FF2B5EF4-FFF2-40B4-BE49-F238E27FC236}">
                  <a16:creationId xmlns:a16="http://schemas.microsoft.com/office/drawing/2014/main" id="{0291B914-C606-71E7-4ECA-7155162C33C0}"/>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b="18715"/>
            <a:stretch/>
          </p:blipFill>
          <p:spPr>
            <a:xfrm>
              <a:off x="5206304" y="1757485"/>
              <a:ext cx="342042" cy="457200"/>
            </a:xfrm>
            <a:prstGeom prst="rect">
              <a:avLst/>
            </a:prstGeom>
          </p:spPr>
        </p:pic>
      </p:grpSp>
      <p:sp>
        <p:nvSpPr>
          <p:cNvPr id="1039" name="Rectangle: Rounded Corners 1038">
            <a:extLst>
              <a:ext uri="{FF2B5EF4-FFF2-40B4-BE49-F238E27FC236}">
                <a16:creationId xmlns:a16="http://schemas.microsoft.com/office/drawing/2014/main" id="{E8D22FE7-FE00-064D-1A44-51D4809BF4F1}"/>
              </a:ext>
            </a:extLst>
          </p:cNvPr>
          <p:cNvSpPr/>
          <p:nvPr/>
        </p:nvSpPr>
        <p:spPr bwMode="gray">
          <a:xfrm>
            <a:off x="1528304" y="666105"/>
            <a:ext cx="1183546" cy="504974"/>
          </a:xfrm>
          <a:prstGeom prst="roundRect">
            <a:avLst/>
          </a:prstGeom>
          <a:noFill/>
          <a:ln>
            <a:noFill/>
            <a:headEnd type="none" w="med" len="med"/>
            <a:tailEnd type="none" w="med" len="med"/>
          </a:ln>
          <a:effectLst/>
        </p:spPr>
        <p:style>
          <a:lnRef idx="2">
            <a:schemeClr val="accent2"/>
          </a:lnRef>
          <a:fillRef idx="1">
            <a:schemeClr val="lt1"/>
          </a:fillRef>
          <a:effectRef idx="0">
            <a:schemeClr val="accent2"/>
          </a:effectRef>
          <a:fontRef idx="minor">
            <a:schemeClr val="dk1"/>
          </a:fontRef>
        </p:style>
        <p:txBody>
          <a:bodyPr vert="horz" wrap="square" lIns="91405" tIns="45703" rIns="91405" bIns="45703" numCol="1" rtlCol="0" anchor="ctr" anchorCtr="0" compatLnSpc="1">
            <a:prstTxWarp prst="textNoShape">
              <a:avLst/>
            </a:prstTxWarp>
            <a:noAutofit/>
          </a:bodyPr>
          <a:lstStyle/>
          <a:p>
            <a:pPr fontAlgn="base">
              <a:lnSpc>
                <a:spcPct val="90000"/>
              </a:lnSpc>
              <a:spcAft>
                <a:spcPct val="0"/>
              </a:spcAft>
              <a:buClr>
                <a:srgbClr val="0095FF"/>
              </a:buClr>
              <a:buSzPct val="90000"/>
            </a:pPr>
            <a:r>
              <a:rPr lang="en-US" sz="1999" b="1" cap="small">
                <a:solidFill>
                  <a:srgbClr val="00B050"/>
                </a:solidFill>
                <a:latin typeface="Arial" panose="020B0604020202020204"/>
              </a:rPr>
              <a:t>Aligned</a:t>
            </a:r>
            <a:endParaRPr lang="en-US" sz="1400" b="1" cap="small">
              <a:solidFill>
                <a:srgbClr val="00B050"/>
              </a:solidFill>
              <a:latin typeface="Arial" panose="020B0604020202020204"/>
            </a:endParaRPr>
          </a:p>
        </p:txBody>
      </p:sp>
      <p:sp>
        <p:nvSpPr>
          <p:cNvPr id="1040" name="Rectangle: Rounded Corners 1039">
            <a:extLst>
              <a:ext uri="{FF2B5EF4-FFF2-40B4-BE49-F238E27FC236}">
                <a16:creationId xmlns:a16="http://schemas.microsoft.com/office/drawing/2014/main" id="{676900DD-8BB3-8BD8-5617-614B729EA4EE}"/>
              </a:ext>
            </a:extLst>
          </p:cNvPr>
          <p:cNvSpPr/>
          <p:nvPr/>
        </p:nvSpPr>
        <p:spPr bwMode="gray">
          <a:xfrm>
            <a:off x="7283652" y="644415"/>
            <a:ext cx="1919240" cy="548353"/>
          </a:xfrm>
          <a:prstGeom prst="roundRect">
            <a:avLst/>
          </a:prstGeom>
          <a:solidFill>
            <a:schemeClr val="bg1"/>
          </a:solidFill>
          <a:ln>
            <a:solidFill>
              <a:schemeClr val="bg1"/>
            </a:solidFill>
            <a:headEnd type="none" w="med" len="med"/>
            <a:tailEnd type="none" w="med" len="med"/>
          </a:ln>
          <a:effectLst/>
        </p:spPr>
        <p:style>
          <a:lnRef idx="2">
            <a:schemeClr val="accent2"/>
          </a:lnRef>
          <a:fillRef idx="1">
            <a:schemeClr val="lt1"/>
          </a:fillRef>
          <a:effectRef idx="0">
            <a:schemeClr val="accent2"/>
          </a:effectRef>
          <a:fontRef idx="minor">
            <a:schemeClr val="dk1"/>
          </a:fontRef>
        </p:style>
        <p:txBody>
          <a:bodyPr vert="horz" wrap="square" lIns="91405" tIns="45703" rIns="91405" bIns="45703"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1999" b="1" cap="small">
                <a:solidFill>
                  <a:srgbClr val="FF0000"/>
                </a:solidFill>
                <a:latin typeface="Arial" panose="020B0604020202020204"/>
              </a:rPr>
              <a:t>Areas of Disconnect</a:t>
            </a:r>
            <a:endParaRPr lang="en-US" sz="1400" b="1" cap="small">
              <a:solidFill>
                <a:srgbClr val="FF0000"/>
              </a:solidFill>
              <a:latin typeface="Arial" panose="020B0604020202020204"/>
            </a:endParaRPr>
          </a:p>
        </p:txBody>
      </p:sp>
      <p:grpSp>
        <p:nvGrpSpPr>
          <p:cNvPr id="1041" name="Group 1040">
            <a:extLst>
              <a:ext uri="{FF2B5EF4-FFF2-40B4-BE49-F238E27FC236}">
                <a16:creationId xmlns:a16="http://schemas.microsoft.com/office/drawing/2014/main" id="{3EFD14FF-4B41-8BD6-050B-6AE82ED26AD6}"/>
              </a:ext>
            </a:extLst>
          </p:cNvPr>
          <p:cNvGrpSpPr/>
          <p:nvPr/>
        </p:nvGrpSpPr>
        <p:grpSpPr>
          <a:xfrm>
            <a:off x="1352965" y="1083800"/>
            <a:ext cx="2684088" cy="506350"/>
            <a:chOff x="7293344" y="1732844"/>
            <a:chExt cx="2684787" cy="506482"/>
          </a:xfrm>
        </p:grpSpPr>
        <p:sp>
          <p:nvSpPr>
            <p:cNvPr id="1042" name="Rectangle: Rounded Corners 1041">
              <a:extLst>
                <a:ext uri="{FF2B5EF4-FFF2-40B4-BE49-F238E27FC236}">
                  <a16:creationId xmlns:a16="http://schemas.microsoft.com/office/drawing/2014/main" id="{CB4F4F83-5D49-7B7A-C91C-E6019B1B15DE}"/>
                </a:ext>
              </a:extLst>
            </p:cNvPr>
            <p:cNvSpPr/>
            <p:nvPr/>
          </p:nvSpPr>
          <p:spPr bwMode="gray">
            <a:xfrm>
              <a:off x="8057891" y="1732844"/>
              <a:ext cx="1920240" cy="506482"/>
            </a:xfrm>
            <a:prstGeom prst="roundRect">
              <a:avLst/>
            </a:prstGeom>
            <a:solidFill>
              <a:srgbClr val="0A8E8B">
                <a:alpha val="10196"/>
              </a:srgbClr>
            </a:solidFill>
            <a:ln w="12700">
              <a:solidFill>
                <a:srgbClr val="0A8E8B"/>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05" tIns="45703" rIns="91405" bIns="45703" numCol="1" rtlCol="0" anchor="ctr" anchorCtr="0" compatLnSpc="1">
              <a:prstTxWarp prst="textNoShape">
                <a:avLst/>
              </a:prstTxWarp>
              <a:noAutofit/>
            </a:bodyPr>
            <a:lstStyle/>
            <a:p>
              <a:pPr fontAlgn="base">
                <a:lnSpc>
                  <a:spcPct val="90000"/>
                </a:lnSpc>
                <a:spcAft>
                  <a:spcPct val="0"/>
                </a:spcAft>
                <a:buClr>
                  <a:srgbClr val="0095FF"/>
                </a:buClr>
                <a:buSzPct val="90000"/>
              </a:pPr>
              <a:r>
                <a:rPr lang="en-US" sz="1799" b="1">
                  <a:solidFill>
                    <a:srgbClr val="000000">
                      <a:lumMod val="75000"/>
                      <a:lumOff val="25000"/>
                    </a:srgbClr>
                  </a:solidFill>
                </a:rPr>
                <a:t>Parents/ Caregivers</a:t>
              </a:r>
            </a:p>
          </p:txBody>
        </p:sp>
        <p:pic>
          <p:nvPicPr>
            <p:cNvPr id="1043" name="Graphic 1042">
              <a:extLst>
                <a:ext uri="{FF2B5EF4-FFF2-40B4-BE49-F238E27FC236}">
                  <a16:creationId xmlns:a16="http://schemas.microsoft.com/office/drawing/2014/main" id="{615AA5E4-1D8B-6E47-B32C-8B2A893560AA}"/>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b="18715"/>
            <a:stretch/>
          </p:blipFill>
          <p:spPr>
            <a:xfrm>
              <a:off x="7293344" y="1757485"/>
              <a:ext cx="342042" cy="457200"/>
            </a:xfrm>
            <a:prstGeom prst="rect">
              <a:avLst/>
            </a:prstGeom>
          </p:spPr>
        </p:pic>
      </p:grpSp>
      <p:sp>
        <p:nvSpPr>
          <p:cNvPr id="1045" name="Rectangle: Rounded Corners 1044">
            <a:extLst>
              <a:ext uri="{FF2B5EF4-FFF2-40B4-BE49-F238E27FC236}">
                <a16:creationId xmlns:a16="http://schemas.microsoft.com/office/drawing/2014/main" id="{60F8B1EB-3CCA-3307-0DB2-9D8464945B84}"/>
              </a:ext>
            </a:extLst>
          </p:cNvPr>
          <p:cNvSpPr/>
          <p:nvPr/>
        </p:nvSpPr>
        <p:spPr bwMode="gray">
          <a:xfrm>
            <a:off x="166271" y="1083800"/>
            <a:ext cx="1919740" cy="506350"/>
          </a:xfrm>
          <a:prstGeom prst="roundRect">
            <a:avLst/>
          </a:prstGeom>
          <a:solidFill>
            <a:srgbClr val="0070BF">
              <a:alpha val="10196"/>
            </a:srgbClr>
          </a:solidFill>
          <a:ln w="12700">
            <a:solidFill>
              <a:srgbClr val="0070BF"/>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05" tIns="45703" rIns="91405" bIns="45703" numCol="1" rtlCol="0" anchor="ctr" anchorCtr="0" compatLnSpc="1">
            <a:prstTxWarp prst="textNoShape">
              <a:avLst/>
            </a:prstTxWarp>
            <a:noAutofit/>
          </a:bodyPr>
          <a:lstStyle/>
          <a:p>
            <a:pPr marL="233223" fontAlgn="base">
              <a:lnSpc>
                <a:spcPct val="90000"/>
              </a:lnSpc>
              <a:spcAft>
                <a:spcPct val="0"/>
              </a:spcAft>
              <a:buClr>
                <a:srgbClr val="0095FF"/>
              </a:buClr>
              <a:buSzPct val="90000"/>
            </a:pPr>
            <a:r>
              <a:rPr lang="en-US" sz="1798" b="1">
                <a:solidFill>
                  <a:srgbClr val="000000">
                    <a:lumMod val="75000"/>
                    <a:lumOff val="25000"/>
                  </a:srgbClr>
                </a:solidFill>
              </a:rPr>
              <a:t>HCPs</a:t>
            </a:r>
          </a:p>
        </p:txBody>
      </p:sp>
      <p:pic>
        <p:nvPicPr>
          <p:cNvPr id="5" name="Picture 4">
            <a:extLst>
              <a:ext uri="{FF2B5EF4-FFF2-40B4-BE49-F238E27FC236}">
                <a16:creationId xmlns:a16="http://schemas.microsoft.com/office/drawing/2014/main" id="{B6D952C9-D530-5B0A-3406-2DC5A39FECA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1453" y="3751416"/>
            <a:ext cx="408334" cy="408334"/>
          </a:xfrm>
          <a:prstGeom prst="rect">
            <a:avLst/>
          </a:prstGeom>
        </p:spPr>
      </p:pic>
      <p:pic>
        <p:nvPicPr>
          <p:cNvPr id="6" name="Graphic 5" descr="Woman with kid with solid fill">
            <a:extLst>
              <a:ext uri="{FF2B5EF4-FFF2-40B4-BE49-F238E27FC236}">
                <a16:creationId xmlns:a16="http://schemas.microsoft.com/office/drawing/2014/main" id="{90ED484B-6110-CE5A-C60A-2A7CFC41D22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54614" y="1082277"/>
            <a:ext cx="516021" cy="516021"/>
          </a:xfrm>
          <a:prstGeom prst="rect">
            <a:avLst/>
          </a:prstGeom>
        </p:spPr>
      </p:pic>
      <p:pic>
        <p:nvPicPr>
          <p:cNvPr id="8" name="Graphic 7" descr="Woman with kid with solid fill">
            <a:extLst>
              <a:ext uri="{FF2B5EF4-FFF2-40B4-BE49-F238E27FC236}">
                <a16:creationId xmlns:a16="http://schemas.microsoft.com/office/drawing/2014/main" id="{DDED8BBF-19A5-27E7-A660-0A5FE3992C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725282" y="1074130"/>
            <a:ext cx="516021" cy="516021"/>
          </a:xfrm>
          <a:prstGeom prst="rect">
            <a:avLst/>
          </a:prstGeom>
        </p:spPr>
      </p:pic>
    </p:spTree>
    <p:extLst>
      <p:ext uri="{BB962C8B-B14F-4D97-AF65-F5344CB8AC3E}">
        <p14:creationId xmlns:p14="http://schemas.microsoft.com/office/powerpoint/2010/main" val="32707269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42BC08B-F861-020A-57DC-1B4CC24111A1}"/>
              </a:ext>
            </a:extLst>
          </p:cNvPr>
          <p:cNvSpPr>
            <a:spLocks noGrp="1"/>
          </p:cNvSpPr>
          <p:nvPr>
            <p:ph idx="1"/>
          </p:nvPr>
        </p:nvSpPr>
        <p:spPr>
          <a:xfrm>
            <a:off x="881720" y="752911"/>
            <a:ext cx="10595466" cy="4735647"/>
          </a:xfrm>
        </p:spPr>
        <p:txBody>
          <a:bodyPr/>
          <a:lstStyle/>
          <a:p>
            <a:pPr marL="457063" indent="-457063">
              <a:lnSpc>
                <a:spcPct val="100000"/>
              </a:lnSpc>
              <a:spcBef>
                <a:spcPts val="1799"/>
              </a:spcBef>
            </a:pPr>
            <a:r>
              <a:rPr lang="en-US" sz="1799" b="1" dirty="0">
                <a:solidFill>
                  <a:schemeClr val="tx1">
                    <a:lumMod val="85000"/>
                    <a:lumOff val="15000"/>
                  </a:schemeClr>
                </a:solidFill>
              </a:rPr>
              <a:t>Reinforce</a:t>
            </a:r>
            <a:r>
              <a:rPr lang="en-US" sz="1799" dirty="0">
                <a:solidFill>
                  <a:schemeClr val="tx1">
                    <a:lumMod val="85000"/>
                    <a:lumOff val="15000"/>
                  </a:schemeClr>
                </a:solidFill>
              </a:rPr>
              <a:t> the </a:t>
            </a:r>
            <a:r>
              <a:rPr lang="en-US" sz="1799" i="1" dirty="0">
                <a:solidFill>
                  <a:schemeClr val="tx1">
                    <a:lumMod val="85000"/>
                    <a:lumOff val="15000"/>
                  </a:schemeClr>
                </a:solidFill>
              </a:rPr>
              <a:t>seriousness and relevance of meningococcal disease at ages 16-18</a:t>
            </a:r>
            <a:r>
              <a:rPr lang="en-US" sz="1799" dirty="0">
                <a:solidFill>
                  <a:schemeClr val="tx1">
                    <a:lumMod val="85000"/>
                    <a:lumOff val="15000"/>
                  </a:schemeClr>
                </a:solidFill>
              </a:rPr>
              <a:t>; Continue grounding the conversation in </a:t>
            </a:r>
            <a:r>
              <a:rPr lang="en-US" sz="1799" i="1" dirty="0">
                <a:solidFill>
                  <a:schemeClr val="tx1">
                    <a:lumMod val="85000"/>
                    <a:lumOff val="15000"/>
                  </a:schemeClr>
                </a:solidFill>
              </a:rPr>
              <a:t>teen risk elevation </a:t>
            </a:r>
            <a:r>
              <a:rPr lang="en-US" sz="1799" dirty="0">
                <a:solidFill>
                  <a:schemeClr val="tx1">
                    <a:lumMod val="85000"/>
                    <a:lumOff val="15000"/>
                  </a:schemeClr>
                </a:solidFill>
              </a:rPr>
              <a:t>and the </a:t>
            </a:r>
            <a:r>
              <a:rPr lang="en-US" sz="1799" i="1" dirty="0">
                <a:solidFill>
                  <a:schemeClr val="tx1">
                    <a:lumMod val="85000"/>
                    <a:lumOff val="15000"/>
                  </a:schemeClr>
                </a:solidFill>
              </a:rPr>
              <a:t>importance of timely protection </a:t>
            </a:r>
            <a:r>
              <a:rPr lang="en-US" sz="1799" dirty="0">
                <a:solidFill>
                  <a:schemeClr val="tx1">
                    <a:lumMod val="85000"/>
                    <a:lumOff val="15000"/>
                  </a:schemeClr>
                </a:solidFill>
              </a:rPr>
              <a:t>while emphasizing </a:t>
            </a:r>
            <a:r>
              <a:rPr lang="en-US" sz="1799" dirty="0" err="1">
                <a:solidFill>
                  <a:schemeClr val="tx1">
                    <a:lumMod val="85000"/>
                    <a:lumOff val="15000"/>
                  </a:schemeClr>
                </a:solidFill>
              </a:rPr>
              <a:t>MenB</a:t>
            </a:r>
            <a:r>
              <a:rPr lang="en-US" sz="1799" dirty="0">
                <a:solidFill>
                  <a:schemeClr val="tx1">
                    <a:lumMod val="85000"/>
                    <a:lumOff val="15000"/>
                  </a:schemeClr>
                </a:solidFill>
              </a:rPr>
              <a:t> causes a </a:t>
            </a:r>
            <a:r>
              <a:rPr lang="en-US" sz="1799" i="1" dirty="0">
                <a:solidFill>
                  <a:schemeClr val="tx1">
                    <a:lumMod val="85000"/>
                    <a:lumOff val="15000"/>
                  </a:schemeClr>
                </a:solidFill>
              </a:rPr>
              <a:t>significant share of cases </a:t>
            </a:r>
            <a:r>
              <a:rPr lang="en-US" sz="1799" dirty="0">
                <a:solidFill>
                  <a:schemeClr val="tx1">
                    <a:lumMod val="85000"/>
                    <a:lumOff val="15000"/>
                  </a:schemeClr>
                </a:solidFill>
              </a:rPr>
              <a:t>and a </a:t>
            </a:r>
            <a:r>
              <a:rPr lang="en-US" sz="1799" i="1" dirty="0">
                <a:solidFill>
                  <a:schemeClr val="tx1">
                    <a:lumMod val="85000"/>
                    <a:lumOff val="15000"/>
                  </a:schemeClr>
                </a:solidFill>
              </a:rPr>
              <a:t>second dose is highly recommended</a:t>
            </a:r>
          </a:p>
          <a:p>
            <a:pPr marL="457063" indent="-457063">
              <a:lnSpc>
                <a:spcPct val="100000"/>
              </a:lnSpc>
              <a:spcBef>
                <a:spcPts val="1799"/>
              </a:spcBef>
            </a:pPr>
            <a:r>
              <a:rPr lang="en-US" sz="1799" b="1" dirty="0">
                <a:solidFill>
                  <a:schemeClr val="tx1">
                    <a:lumMod val="85000"/>
                    <a:lumOff val="15000"/>
                  </a:schemeClr>
                </a:solidFill>
              </a:rPr>
              <a:t>Clearly communicate</a:t>
            </a:r>
            <a:r>
              <a:rPr lang="en-US" sz="1799" dirty="0">
                <a:solidFill>
                  <a:schemeClr val="tx1">
                    <a:lumMod val="85000"/>
                    <a:lumOff val="15000"/>
                  </a:schemeClr>
                </a:solidFill>
              </a:rPr>
              <a:t> that Penbraya (</a:t>
            </a:r>
            <a:r>
              <a:rPr lang="en-US" sz="1799" dirty="0" err="1">
                <a:solidFill>
                  <a:schemeClr val="tx1">
                    <a:lumMod val="85000"/>
                    <a:lumOff val="15000"/>
                  </a:schemeClr>
                </a:solidFill>
              </a:rPr>
              <a:t>MenABCWY</a:t>
            </a:r>
            <a:r>
              <a:rPr lang="en-US" sz="1799" dirty="0">
                <a:solidFill>
                  <a:schemeClr val="tx1">
                    <a:lumMod val="85000"/>
                    <a:lumOff val="15000"/>
                  </a:schemeClr>
                </a:solidFill>
              </a:rPr>
              <a:t>) provides </a:t>
            </a:r>
            <a:r>
              <a:rPr lang="en-US" sz="1799" i="1" dirty="0">
                <a:solidFill>
                  <a:schemeClr val="tx1">
                    <a:lumMod val="85000"/>
                    <a:lumOff val="15000"/>
                  </a:schemeClr>
                </a:solidFill>
              </a:rPr>
              <a:t>protection against all five meningococcal types in one vaccine</a:t>
            </a:r>
            <a:r>
              <a:rPr lang="en-US" sz="1799" dirty="0">
                <a:solidFill>
                  <a:schemeClr val="tx1">
                    <a:lumMod val="85000"/>
                    <a:lumOff val="15000"/>
                  </a:schemeClr>
                </a:solidFill>
              </a:rPr>
              <a:t> – using simplified framing to reduce confusion among parents/caregivers and </a:t>
            </a:r>
            <a:r>
              <a:rPr lang="en-US" sz="1799" i="1" dirty="0">
                <a:solidFill>
                  <a:schemeClr val="tx1">
                    <a:lumMod val="85000"/>
                    <a:lumOff val="15000"/>
                  </a:schemeClr>
                </a:solidFill>
              </a:rPr>
              <a:t>strengthen their likelihood </a:t>
            </a:r>
            <a:r>
              <a:rPr lang="en-US" sz="1799" dirty="0">
                <a:solidFill>
                  <a:schemeClr val="tx1">
                    <a:lumMod val="85000"/>
                    <a:lumOff val="15000"/>
                  </a:schemeClr>
                </a:solidFill>
              </a:rPr>
              <a:t>to </a:t>
            </a:r>
            <a:r>
              <a:rPr lang="en-US" sz="1799" b="1" dirty="0">
                <a:solidFill>
                  <a:schemeClr val="tx1">
                    <a:lumMod val="85000"/>
                    <a:lumOff val="15000"/>
                  </a:schemeClr>
                </a:solidFill>
              </a:rPr>
              <a:t>request</a:t>
            </a:r>
            <a:r>
              <a:rPr lang="en-US" sz="1799" dirty="0">
                <a:solidFill>
                  <a:schemeClr val="tx1">
                    <a:lumMod val="85000"/>
                    <a:lumOff val="15000"/>
                  </a:schemeClr>
                </a:solidFill>
              </a:rPr>
              <a:t> the vaccine </a:t>
            </a:r>
          </a:p>
          <a:p>
            <a:pPr marL="457063" indent="-457063">
              <a:lnSpc>
                <a:spcPct val="100000"/>
              </a:lnSpc>
              <a:spcBef>
                <a:spcPts val="1799"/>
              </a:spcBef>
            </a:pPr>
            <a:r>
              <a:rPr lang="en-US" sz="1799" b="1" dirty="0">
                <a:solidFill>
                  <a:schemeClr val="tx1">
                    <a:lumMod val="85000"/>
                    <a:lumOff val="15000"/>
                  </a:schemeClr>
                </a:solidFill>
              </a:rPr>
              <a:t>Equip</a:t>
            </a:r>
            <a:r>
              <a:rPr lang="en-US" sz="1799" dirty="0">
                <a:solidFill>
                  <a:schemeClr val="tx1">
                    <a:lumMod val="85000"/>
                    <a:lumOff val="15000"/>
                  </a:schemeClr>
                </a:solidFill>
              </a:rPr>
              <a:t> HCPs wit</a:t>
            </a:r>
            <a:r>
              <a:rPr lang="en-US" sz="1799" dirty="0">
                <a:solidFill>
                  <a:schemeClr val="tx1">
                    <a:lumMod val="75000"/>
                    <a:lumOff val="25000"/>
                  </a:schemeClr>
                </a:solidFill>
              </a:rPr>
              <a:t>h brief, evidence-based support to educate </a:t>
            </a:r>
            <a:r>
              <a:rPr lang="en-US" sz="1799" i="1" dirty="0">
                <a:solidFill>
                  <a:schemeClr val="tx1">
                    <a:lumMod val="85000"/>
                    <a:lumOff val="15000"/>
                  </a:schemeClr>
                </a:solidFill>
              </a:rPr>
              <a:t>different Parent/Caregiver segments</a:t>
            </a:r>
          </a:p>
          <a:p>
            <a:pPr marL="971259" lvl="3" indent="-285664">
              <a:lnSpc>
                <a:spcPct val="100000"/>
              </a:lnSpc>
              <a:spcBef>
                <a:spcPts val="1799"/>
              </a:spcBef>
            </a:pPr>
            <a:r>
              <a:rPr lang="en-US" sz="1600" dirty="0">
                <a:solidFill>
                  <a:schemeClr val="tx1">
                    <a:lumMod val="85000"/>
                    <a:lumOff val="15000"/>
                  </a:schemeClr>
                </a:solidFill>
              </a:rPr>
              <a:t>Proactive/Questioners: Emphasize strong clinical rationale including completeness and full protection</a:t>
            </a:r>
          </a:p>
          <a:p>
            <a:pPr marL="971259" lvl="3" indent="-285664">
              <a:lnSpc>
                <a:spcPct val="100000"/>
              </a:lnSpc>
              <a:spcBef>
                <a:spcPts val="1799"/>
              </a:spcBef>
            </a:pPr>
            <a:r>
              <a:rPr lang="en-US" sz="1600" dirty="0">
                <a:solidFill>
                  <a:schemeClr val="tx1">
                    <a:lumMod val="85000"/>
                    <a:lumOff val="15000"/>
                  </a:schemeClr>
                </a:solidFill>
              </a:rPr>
              <a:t>Doctor Driven: Use direct recommendation language (i.e., “we recommend this now because it protects against all forms of meningitis teens are at risk for”)</a:t>
            </a:r>
          </a:p>
          <a:p>
            <a:pPr marL="457063" indent="-457063">
              <a:lnSpc>
                <a:spcPct val="100000"/>
              </a:lnSpc>
              <a:spcBef>
                <a:spcPts val="1799"/>
              </a:spcBef>
            </a:pPr>
            <a:r>
              <a:rPr lang="en-US" sz="1799" b="1" dirty="0">
                <a:solidFill>
                  <a:schemeClr val="tx1">
                    <a:lumMod val="85000"/>
                    <a:lumOff val="15000"/>
                  </a:schemeClr>
                </a:solidFill>
              </a:rPr>
              <a:t>Address operational barriers </a:t>
            </a:r>
            <a:r>
              <a:rPr lang="en-US" sz="1799" dirty="0">
                <a:solidFill>
                  <a:schemeClr val="tx1">
                    <a:lumMod val="85000"/>
                    <a:lumOff val="15000"/>
                  </a:schemeClr>
                </a:solidFill>
              </a:rPr>
              <a:t>that influence HCP recommendations, including </a:t>
            </a:r>
            <a:r>
              <a:rPr lang="en-US" sz="1799" i="1" dirty="0">
                <a:solidFill>
                  <a:schemeClr val="tx1">
                    <a:lumMod val="85000"/>
                    <a:lumOff val="15000"/>
                  </a:schemeClr>
                </a:solidFill>
              </a:rPr>
              <a:t>stocking support </a:t>
            </a:r>
            <a:r>
              <a:rPr lang="en-US" sz="1799" dirty="0">
                <a:solidFill>
                  <a:schemeClr val="tx1">
                    <a:lumMod val="85000"/>
                    <a:lumOff val="15000"/>
                  </a:schemeClr>
                </a:solidFill>
              </a:rPr>
              <a:t>and </a:t>
            </a:r>
            <a:r>
              <a:rPr lang="en-US" sz="1799" i="1" dirty="0">
                <a:solidFill>
                  <a:schemeClr val="tx1">
                    <a:lumMod val="85000"/>
                    <a:lumOff val="15000"/>
                  </a:schemeClr>
                </a:solidFill>
              </a:rPr>
              <a:t>reimbursement clarity </a:t>
            </a:r>
            <a:r>
              <a:rPr lang="en-US" sz="1799" dirty="0">
                <a:solidFill>
                  <a:schemeClr val="tx1">
                    <a:lumMod val="85000"/>
                    <a:lumOff val="15000"/>
                  </a:schemeClr>
                </a:solidFill>
              </a:rPr>
              <a:t>to make pentavalent the easy default</a:t>
            </a:r>
          </a:p>
          <a:p>
            <a:pPr marL="457063" indent="-457063">
              <a:lnSpc>
                <a:spcPct val="100000"/>
              </a:lnSpc>
              <a:spcBef>
                <a:spcPts val="1799"/>
              </a:spcBef>
            </a:pPr>
            <a:r>
              <a:rPr lang="en-US" sz="1799" b="1" dirty="0">
                <a:solidFill>
                  <a:schemeClr val="tx1">
                    <a:lumMod val="85000"/>
                    <a:lumOff val="15000"/>
                  </a:schemeClr>
                </a:solidFill>
              </a:rPr>
              <a:t>Provide branded visuals and infographics </a:t>
            </a:r>
            <a:r>
              <a:rPr lang="en-US" sz="1799" dirty="0">
                <a:solidFill>
                  <a:schemeClr val="tx1">
                    <a:lumMod val="85000"/>
                    <a:lumOff val="15000"/>
                  </a:schemeClr>
                </a:solidFill>
              </a:rPr>
              <a:t>in both HCP and Patient/Caregiver materials to make </a:t>
            </a:r>
            <a:r>
              <a:rPr lang="en-US" sz="1799" i="1" dirty="0">
                <a:solidFill>
                  <a:schemeClr val="tx1">
                    <a:lumMod val="85000"/>
                    <a:lumOff val="15000"/>
                  </a:schemeClr>
                </a:solidFill>
              </a:rPr>
              <a:t>Vx. timing clear and simplified </a:t>
            </a:r>
            <a:r>
              <a:rPr lang="en-US" sz="1799" dirty="0">
                <a:solidFill>
                  <a:schemeClr val="tx1">
                    <a:lumMod val="85000"/>
                    <a:lumOff val="15000"/>
                  </a:schemeClr>
                </a:solidFill>
              </a:rPr>
              <a:t>and </a:t>
            </a:r>
            <a:r>
              <a:rPr lang="en-US" sz="1799" i="1" dirty="0">
                <a:solidFill>
                  <a:schemeClr val="tx1">
                    <a:lumMod val="85000"/>
                    <a:lumOff val="15000"/>
                  </a:schemeClr>
                </a:solidFill>
              </a:rPr>
              <a:t>drive faster benefit comprehension </a:t>
            </a:r>
            <a:r>
              <a:rPr lang="en-US" sz="1799" dirty="0">
                <a:solidFill>
                  <a:schemeClr val="tx1">
                    <a:lumMod val="85000"/>
                    <a:lumOff val="15000"/>
                  </a:schemeClr>
                </a:solidFill>
              </a:rPr>
              <a:t>while </a:t>
            </a:r>
            <a:r>
              <a:rPr lang="en-US" sz="1799" i="1" dirty="0">
                <a:solidFill>
                  <a:schemeClr val="tx1">
                    <a:lumMod val="85000"/>
                    <a:lumOff val="15000"/>
                  </a:schemeClr>
                </a:solidFill>
              </a:rPr>
              <a:t>capitalizing on current Parent/Caregiver awareness</a:t>
            </a:r>
            <a:r>
              <a:rPr lang="en-US" sz="1799" dirty="0">
                <a:solidFill>
                  <a:schemeClr val="tx1">
                    <a:lumMod val="85000"/>
                    <a:lumOff val="15000"/>
                  </a:schemeClr>
                </a:solidFill>
              </a:rPr>
              <a:t> and </a:t>
            </a:r>
            <a:r>
              <a:rPr lang="en-US" sz="1799" b="1" dirty="0">
                <a:solidFill>
                  <a:schemeClr val="tx1">
                    <a:lumMod val="85000"/>
                    <a:lumOff val="15000"/>
                  </a:schemeClr>
                </a:solidFill>
              </a:rPr>
              <a:t>trust of Pfizer</a:t>
            </a:r>
          </a:p>
        </p:txBody>
      </p:sp>
      <p:sp>
        <p:nvSpPr>
          <p:cNvPr id="2" name="Title 1">
            <a:extLst>
              <a:ext uri="{FF2B5EF4-FFF2-40B4-BE49-F238E27FC236}">
                <a16:creationId xmlns:a16="http://schemas.microsoft.com/office/drawing/2014/main" id="{42469CD5-1C30-8524-C189-2FFFE22DD3AB}"/>
              </a:ext>
            </a:extLst>
          </p:cNvPr>
          <p:cNvSpPr>
            <a:spLocks noGrp="1"/>
          </p:cNvSpPr>
          <p:nvPr>
            <p:ph type="title"/>
          </p:nvPr>
        </p:nvSpPr>
        <p:spPr>
          <a:xfrm>
            <a:off x="1142702" y="79971"/>
            <a:ext cx="10595466" cy="461545"/>
          </a:xfrm>
        </p:spPr>
        <p:txBody>
          <a:bodyPr/>
          <a:lstStyle/>
          <a:p>
            <a:r>
              <a:rPr lang="en-US" sz="2399"/>
              <a:t>Recommendations/Considerations for HCPs and Parents/Caregivers</a:t>
            </a:r>
          </a:p>
        </p:txBody>
      </p:sp>
      <p:sp>
        <p:nvSpPr>
          <p:cNvPr id="14" name="Oval 13">
            <a:extLst>
              <a:ext uri="{FF2B5EF4-FFF2-40B4-BE49-F238E27FC236}">
                <a16:creationId xmlns:a16="http://schemas.microsoft.com/office/drawing/2014/main" id="{08E37468-EF6C-6AF5-F8F7-21CA579EC06E}"/>
              </a:ext>
            </a:extLst>
          </p:cNvPr>
          <p:cNvSpPr/>
          <p:nvPr/>
        </p:nvSpPr>
        <p:spPr bwMode="gray">
          <a:xfrm>
            <a:off x="741626" y="799735"/>
            <a:ext cx="518978" cy="518978"/>
          </a:xfrm>
          <a:prstGeom prst="ellipse">
            <a:avLst/>
          </a:prstGeom>
          <a:solidFill>
            <a:schemeClr val="accent2"/>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05" tIns="45703" rIns="91405" bIns="45703" numCol="1" rtlCol="0" anchor="ctr" anchorCtr="0" compatLnSpc="1">
            <a:prstTxWarp prst="textNoShape">
              <a:avLst/>
            </a:prstTxWarp>
            <a:noAutofit/>
          </a:bodyPr>
          <a:lstStyle/>
          <a:p>
            <a:pPr algn="ctr" fontAlgn="base">
              <a:lnSpc>
                <a:spcPct val="90000"/>
              </a:lnSpc>
              <a:spcBef>
                <a:spcPts val="1799"/>
              </a:spcBef>
              <a:spcAft>
                <a:spcPct val="0"/>
              </a:spcAft>
              <a:buClr>
                <a:srgbClr val="0095FF"/>
              </a:buClr>
              <a:buSzPct val="90000"/>
            </a:pPr>
            <a:r>
              <a:rPr lang="en-US" sz="2399">
                <a:solidFill>
                  <a:srgbClr val="FFFFFF"/>
                </a:solidFill>
                <a:latin typeface="Arial" panose="020B0604020202020204"/>
              </a:rPr>
              <a:t>1</a:t>
            </a:r>
          </a:p>
        </p:txBody>
      </p:sp>
      <p:sp>
        <p:nvSpPr>
          <p:cNvPr id="15" name="Oval 14">
            <a:extLst>
              <a:ext uri="{FF2B5EF4-FFF2-40B4-BE49-F238E27FC236}">
                <a16:creationId xmlns:a16="http://schemas.microsoft.com/office/drawing/2014/main" id="{DBE14F9D-30F9-ECB7-490C-833778A9E7EA}"/>
              </a:ext>
            </a:extLst>
          </p:cNvPr>
          <p:cNvSpPr/>
          <p:nvPr/>
        </p:nvSpPr>
        <p:spPr bwMode="gray">
          <a:xfrm>
            <a:off x="741626" y="1863658"/>
            <a:ext cx="518978" cy="518978"/>
          </a:xfrm>
          <a:prstGeom prst="ellipse">
            <a:avLst/>
          </a:prstGeom>
          <a:solidFill>
            <a:schemeClr val="accent3"/>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05" tIns="45703" rIns="91405" bIns="45703" numCol="1" rtlCol="0" anchor="ctr" anchorCtr="0" compatLnSpc="1">
            <a:prstTxWarp prst="textNoShape">
              <a:avLst/>
            </a:prstTxWarp>
            <a:noAutofit/>
          </a:bodyPr>
          <a:lstStyle/>
          <a:p>
            <a:pPr algn="ctr" fontAlgn="base">
              <a:lnSpc>
                <a:spcPct val="90000"/>
              </a:lnSpc>
              <a:spcBef>
                <a:spcPts val="1799"/>
              </a:spcBef>
              <a:spcAft>
                <a:spcPct val="0"/>
              </a:spcAft>
              <a:buClr>
                <a:srgbClr val="0095FF"/>
              </a:buClr>
              <a:buSzPct val="90000"/>
            </a:pPr>
            <a:r>
              <a:rPr lang="en-US" sz="2399">
                <a:solidFill>
                  <a:srgbClr val="FFFFFF"/>
                </a:solidFill>
                <a:latin typeface="Arial" panose="020B0604020202020204"/>
              </a:rPr>
              <a:t>2</a:t>
            </a:r>
          </a:p>
        </p:txBody>
      </p:sp>
      <p:sp>
        <p:nvSpPr>
          <p:cNvPr id="16" name="Oval 15">
            <a:extLst>
              <a:ext uri="{FF2B5EF4-FFF2-40B4-BE49-F238E27FC236}">
                <a16:creationId xmlns:a16="http://schemas.microsoft.com/office/drawing/2014/main" id="{7EAC421F-D0B2-B9D3-770D-58EAED1680F1}"/>
              </a:ext>
            </a:extLst>
          </p:cNvPr>
          <p:cNvSpPr/>
          <p:nvPr/>
        </p:nvSpPr>
        <p:spPr bwMode="gray">
          <a:xfrm>
            <a:off x="741626" y="2780386"/>
            <a:ext cx="518978" cy="518978"/>
          </a:xfrm>
          <a:prstGeom prst="ellipse">
            <a:avLst/>
          </a:prstGeom>
          <a:solidFill>
            <a:schemeClr val="accent4"/>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05" tIns="45703" rIns="91405" bIns="45703" numCol="1" rtlCol="0" anchor="ctr" anchorCtr="0" compatLnSpc="1">
            <a:prstTxWarp prst="textNoShape">
              <a:avLst/>
            </a:prstTxWarp>
            <a:noAutofit/>
          </a:bodyPr>
          <a:lstStyle/>
          <a:p>
            <a:pPr algn="ctr" fontAlgn="base">
              <a:lnSpc>
                <a:spcPct val="90000"/>
              </a:lnSpc>
              <a:spcBef>
                <a:spcPts val="1799"/>
              </a:spcBef>
              <a:spcAft>
                <a:spcPct val="0"/>
              </a:spcAft>
              <a:buClr>
                <a:srgbClr val="0095FF"/>
              </a:buClr>
              <a:buSzPct val="90000"/>
            </a:pPr>
            <a:r>
              <a:rPr lang="en-US" sz="2399">
                <a:solidFill>
                  <a:srgbClr val="FFFFFF"/>
                </a:solidFill>
                <a:latin typeface="Arial" panose="020B0604020202020204"/>
              </a:rPr>
              <a:t>3</a:t>
            </a:r>
          </a:p>
        </p:txBody>
      </p:sp>
      <p:sp>
        <p:nvSpPr>
          <p:cNvPr id="41" name="Oval 40">
            <a:extLst>
              <a:ext uri="{FF2B5EF4-FFF2-40B4-BE49-F238E27FC236}">
                <a16:creationId xmlns:a16="http://schemas.microsoft.com/office/drawing/2014/main" id="{5010E986-15FF-8472-180B-F9D756127F34}"/>
              </a:ext>
            </a:extLst>
          </p:cNvPr>
          <p:cNvSpPr/>
          <p:nvPr/>
        </p:nvSpPr>
        <p:spPr bwMode="gray">
          <a:xfrm>
            <a:off x="741626" y="4491488"/>
            <a:ext cx="518978" cy="518978"/>
          </a:xfrm>
          <a:prstGeom prst="ellipse">
            <a:avLst/>
          </a:prstGeom>
          <a:solidFill>
            <a:schemeClr val="accent5"/>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05" tIns="45703" rIns="91405" bIns="45703" numCol="1" rtlCol="0" anchor="ctr" anchorCtr="0" compatLnSpc="1">
            <a:prstTxWarp prst="textNoShape">
              <a:avLst/>
            </a:prstTxWarp>
            <a:noAutofit/>
          </a:bodyPr>
          <a:lstStyle/>
          <a:p>
            <a:pPr algn="ctr" fontAlgn="base">
              <a:lnSpc>
                <a:spcPct val="90000"/>
              </a:lnSpc>
              <a:spcBef>
                <a:spcPts val="1799"/>
              </a:spcBef>
              <a:spcAft>
                <a:spcPct val="0"/>
              </a:spcAft>
              <a:buClr>
                <a:srgbClr val="0095FF"/>
              </a:buClr>
              <a:buSzPct val="90000"/>
            </a:pPr>
            <a:r>
              <a:rPr lang="en-US" sz="2399">
                <a:solidFill>
                  <a:srgbClr val="FFFFFF"/>
                </a:solidFill>
                <a:latin typeface="Arial" panose="020B0604020202020204"/>
              </a:rPr>
              <a:t>4</a:t>
            </a:r>
          </a:p>
        </p:txBody>
      </p:sp>
      <p:sp>
        <p:nvSpPr>
          <p:cNvPr id="3" name="Oval 2">
            <a:extLst>
              <a:ext uri="{FF2B5EF4-FFF2-40B4-BE49-F238E27FC236}">
                <a16:creationId xmlns:a16="http://schemas.microsoft.com/office/drawing/2014/main" id="{5817D38B-4CA9-3543-29A8-2F5DF0FAEE04}"/>
              </a:ext>
            </a:extLst>
          </p:cNvPr>
          <p:cNvSpPr/>
          <p:nvPr/>
        </p:nvSpPr>
        <p:spPr bwMode="gray">
          <a:xfrm>
            <a:off x="741626" y="5267269"/>
            <a:ext cx="518978" cy="518978"/>
          </a:xfrm>
          <a:prstGeom prst="ellipse">
            <a:avLst/>
          </a:prstGeom>
          <a:solidFill>
            <a:schemeClr val="accent6"/>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05" tIns="45703" rIns="91405" bIns="45703" numCol="1" rtlCol="0" anchor="ctr" anchorCtr="0" compatLnSpc="1">
            <a:prstTxWarp prst="textNoShape">
              <a:avLst/>
            </a:prstTxWarp>
            <a:noAutofit/>
          </a:bodyPr>
          <a:lstStyle/>
          <a:p>
            <a:pPr algn="ctr" fontAlgn="base">
              <a:lnSpc>
                <a:spcPct val="90000"/>
              </a:lnSpc>
              <a:spcBef>
                <a:spcPts val="1799"/>
              </a:spcBef>
              <a:spcAft>
                <a:spcPct val="0"/>
              </a:spcAft>
              <a:buClr>
                <a:srgbClr val="0095FF"/>
              </a:buClr>
              <a:buSzPct val="90000"/>
            </a:pPr>
            <a:r>
              <a:rPr lang="en-US" sz="2399">
                <a:solidFill>
                  <a:srgbClr val="FFFFFF"/>
                </a:solidFill>
                <a:latin typeface="Arial" panose="020B0604020202020204"/>
              </a:rPr>
              <a:t>5</a:t>
            </a:r>
          </a:p>
        </p:txBody>
      </p:sp>
    </p:spTree>
    <p:extLst>
      <p:ext uri="{BB962C8B-B14F-4D97-AF65-F5344CB8AC3E}">
        <p14:creationId xmlns:p14="http://schemas.microsoft.com/office/powerpoint/2010/main" val="20525397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D5AA9-2691-1A3E-4AAB-A613C342EB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CB0C976-58A5-B7A3-D353-13070C42185D}"/>
              </a:ext>
            </a:extLst>
          </p:cNvPr>
          <p:cNvSpPr>
            <a:spLocks noGrp="1"/>
          </p:cNvSpPr>
          <p:nvPr>
            <p:ph type="ctrTitle"/>
          </p:nvPr>
        </p:nvSpPr>
        <p:spPr>
          <a:xfrm>
            <a:off x="448056" y="2560320"/>
            <a:ext cx="4233672" cy="1508760"/>
          </a:xfrm>
        </p:spPr>
        <p:txBody>
          <a:bodyPr/>
          <a:lstStyle/>
          <a:p>
            <a:r>
              <a:rPr lang="en-US"/>
              <a:t>Appendix</a:t>
            </a:r>
          </a:p>
        </p:txBody>
      </p:sp>
    </p:spTree>
    <p:extLst>
      <p:ext uri="{BB962C8B-B14F-4D97-AF65-F5344CB8AC3E}">
        <p14:creationId xmlns:p14="http://schemas.microsoft.com/office/powerpoint/2010/main" val="807530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E3881-4F54-E947-2D51-47608391EE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A5C9A7-2A69-B48D-59EC-E53C472C7D40}"/>
              </a:ext>
            </a:extLst>
          </p:cNvPr>
          <p:cNvSpPr>
            <a:spLocks noGrp="1"/>
          </p:cNvSpPr>
          <p:nvPr>
            <p:ph type="title"/>
          </p:nvPr>
        </p:nvSpPr>
        <p:spPr/>
        <p:txBody>
          <a:bodyPr/>
          <a:lstStyle/>
          <a:p>
            <a:r>
              <a:rPr lang="en-US" sz="2800"/>
              <a:t>Penmenvy Wave 4 Unbranded TPP</a:t>
            </a:r>
            <a:endParaRPr lang="en-US"/>
          </a:p>
        </p:txBody>
      </p:sp>
      <p:sp>
        <p:nvSpPr>
          <p:cNvPr id="2" name="Text Placeholder 2">
            <a:extLst>
              <a:ext uri="{FF2B5EF4-FFF2-40B4-BE49-F238E27FC236}">
                <a16:creationId xmlns:a16="http://schemas.microsoft.com/office/drawing/2014/main" id="{A6B88F47-77CF-1FF7-738C-35CB568A5A31}"/>
              </a:ext>
            </a:extLst>
          </p:cNvPr>
          <p:cNvSpPr>
            <a:spLocks noGrp="1"/>
          </p:cNvSpPr>
          <p:nvPr>
            <p:ph type="body" sz="quarter" idx="16"/>
          </p:nvPr>
        </p:nvSpPr>
        <p:spPr>
          <a:xfrm>
            <a:off x="1571624" y="6565239"/>
            <a:ext cx="9360535" cy="180049"/>
          </a:xfrm>
        </p:spPr>
        <p:txBody>
          <a:bodyPr/>
          <a:lstStyle/>
          <a:p>
            <a:r>
              <a:rPr lang="en-US"/>
              <a:t>*Unblinded TPP shown this wave</a:t>
            </a:r>
          </a:p>
        </p:txBody>
      </p:sp>
      <p:pic>
        <p:nvPicPr>
          <p:cNvPr id="3" name="Picture 2" descr="A screenshot of a computer&#10;&#10;Description automatically generated">
            <a:extLst>
              <a:ext uri="{FF2B5EF4-FFF2-40B4-BE49-F238E27FC236}">
                <a16:creationId xmlns:a16="http://schemas.microsoft.com/office/drawing/2014/main" id="{3DAE8DEA-4247-B922-2A58-F94277C5FCAF}"/>
              </a:ext>
            </a:extLst>
          </p:cNvPr>
          <p:cNvPicPr>
            <a:picLocks noChangeAspect="1"/>
          </p:cNvPicPr>
          <p:nvPr/>
        </p:nvPicPr>
        <p:blipFill>
          <a:blip r:embed="rId3"/>
          <a:stretch>
            <a:fillRect/>
          </a:stretch>
        </p:blipFill>
        <p:spPr>
          <a:xfrm>
            <a:off x="959485" y="817648"/>
            <a:ext cx="10269853" cy="5222703"/>
          </a:xfrm>
          <a:prstGeom prst="rect">
            <a:avLst/>
          </a:prstGeom>
        </p:spPr>
      </p:pic>
    </p:spTree>
    <p:extLst>
      <p:ext uri="{BB962C8B-B14F-4D97-AF65-F5344CB8AC3E}">
        <p14:creationId xmlns:p14="http://schemas.microsoft.com/office/powerpoint/2010/main" val="274608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6"/>
  <p:tag name="THINKCELLPRESENTATIONDONOTDELETE" val="&lt;?xml version=&quot;1.0&quot; encoding=&quot;UTF-16&quot; standalone=&quot;yes&quot;?&gt;&lt;root reqver=&quot;28224&quot;&gt;&lt;version val=&quot;3580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5&quot;&gt;&lt;elem m_fUsage=&quot;1.00000000000000000000E+00&quot;&gt;&lt;m_msothmcolidx val=&quot;0&quot;/&gt;&lt;m_rgb r=&quot;C3&quot; g=&quot;E9&quot; b=&quot;C6&quot;/&gt;&lt;/elem&gt;&lt;elem m_fUsage=&quot;9.00000000000000022204E-01&quot;&gt;&lt;m_msothmcolidx val=&quot;0&quot;/&gt;&lt;m_rgb r=&quot;A9&quot; g=&quot;E0&quot; b=&quot;AD&quot;/&gt;&lt;/elem&gt;&lt;elem m_fUsage=&quot;8.10000000000000053291E-01&quot;&gt;&lt;m_msothmcolidx val=&quot;0&quot;/&gt;&lt;m_rgb r=&quot;44&quot; g=&quot;7C&quot; b=&quot;48&quot;/&gt;&lt;/elem&gt;&lt;elem m_fUsage=&quot;7.29000000000000092371E-01&quot;&gt;&lt;m_msothmcolidx val=&quot;0&quot;/&gt;&lt;m_rgb r=&quot;F6&quot; g=&quot;D9&quot; b=&quot;DC&quot;/&gt;&lt;/elem&gt;&lt;elem m_fUsage=&quot;6.56100000000000127542E-01&quot;&gt;&lt;m_msothmcolidx val=&quot;0&quot;/&gt;&lt;m_rgb r=&quot;EE&quot; g=&quot;AE&quot; b=&quot;BF&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PFE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lumMod val="95000"/>
          </a:schemeClr>
        </a:solidFill>
        <a:ln w="28575" cap="flat" cmpd="sng" algn="ctr">
          <a:noFill/>
          <a:prstDash val="solid"/>
          <a:miter lim="800000"/>
          <a:headEnd type="none" w="med" len="med"/>
          <a:tailEnd type="none" w="med" len="med"/>
        </a:ln>
        <a:effectLst/>
      </a:spPr>
      <a:bodyPr vert="horz" wrap="square" lIns="91429" tIns="45715" rIns="91429" bIns="45715" numCol="1" rtlCol="0" anchor="ctr" anchorCtr="0" compatLnSpc="1">
        <a:prstTxWarp prst="textNoShape">
          <a:avLst/>
        </a:prstTxWarp>
        <a:noAutofit/>
      </a:bodyPr>
      <a:lstStyle>
        <a:defPPr algn="ctr" fontAlgn="base">
          <a:lnSpc>
            <a:spcPct val="90000"/>
          </a:lnSpc>
          <a:spcAft>
            <a:spcPct val="0"/>
          </a:spcAft>
          <a:buClr>
            <a:schemeClr val="accent2"/>
          </a:buClr>
          <a:buSzPct val="90000"/>
          <a:defRPr b="1" dirty="0">
            <a:solidFill>
              <a:schemeClr val="accent1"/>
            </a:solidFill>
            <a:latin typeface="+mj-lt"/>
          </a:defRPr>
        </a:defPPr>
      </a:lstStyle>
    </a:spDef>
    <a:lnDef>
      <a:spPr bwMode="gray">
        <a:noFill/>
        <a:ln w="12700" cap="rnd">
          <a:solidFill>
            <a:schemeClr val="bg1">
              <a:lumMod val="75000"/>
            </a:schemeClr>
          </a:solidFill>
          <a:prstDash val="solid"/>
          <a:round/>
          <a:headEnd/>
          <a:tailEnd/>
        </a:ln>
        <a:effectLst/>
      </a:spPr>
      <a:bodyPr/>
      <a:lstStyle/>
    </a:lnDef>
    <a:txDef>
      <a:spPr bwMode="gray">
        <a:solidFill>
          <a:schemeClr val="accent6"/>
        </a:solidFill>
      </a:spPr>
      <a:bodyPr wrap="none" lIns="45720" tIns="45720" rIns="45720" bIns="45720" rtlCol="0">
        <a:spAutoFit/>
      </a:bodyPr>
      <a:lstStyle>
        <a:defPPr marL="0" marR="0" indent="0" algn="l" defTabSz="914400" rtl="0" eaLnBrk="1" fontAlgn="auto" latinLnBrk="0" hangingPunct="1">
          <a:lnSpc>
            <a:spcPct val="90000"/>
          </a:lnSpc>
          <a:spcBef>
            <a:spcPts val="0"/>
          </a:spcBef>
          <a:spcAft>
            <a:spcPts val="400"/>
          </a:spcAft>
          <a:buClrTx/>
          <a:buSzTx/>
          <a:buFontTx/>
          <a:buNone/>
          <a:tabLst/>
          <a:defRPr kumimoji="0" sz="1400" i="0" u="none" strike="noStrike" kern="1200" cap="none" spc="0" normalizeH="0" baseline="0" noProof="0" dirty="0" smtClean="0">
            <a:ln>
              <a:noFill/>
            </a:ln>
            <a:effectLst/>
            <a:uLnTx/>
            <a:uFillTx/>
            <a:latin typeface="Arial" panose="020B0604020202020204"/>
            <a:ea typeface="+mn-ea"/>
            <a:cs typeface="+mn-cs"/>
          </a:defRPr>
        </a:defPPr>
      </a:lstStyle>
    </a:txDef>
  </a:objectDefaults>
  <a:extraClrSchemeLst/>
  <a:extLst>
    <a:ext uri="{05A4C25C-085E-4340-85A3-A5531E510DB2}">
      <thm15:themeFamily xmlns:thm15="http://schemas.microsoft.com/office/thememl/2012/main" name="P113901_Pfizer PowerPoint Template_Logo_Confidential_16x9_011421_1130am.pptx" id="{89FC0598-B349-48E3-9A8B-72BFBCB98DF8}" vid="{0EBF093D-583F-46B6-8995-C451C08539D8}"/>
    </a:ext>
  </a:extLst>
</a:theme>
</file>

<file path=ppt/theme/theme2.xml><?xml version="1.0" encoding="utf-8"?>
<a:theme xmlns:a="http://schemas.openxmlformats.org/drawingml/2006/main" name="1_Office Theme">
  <a:themeElements>
    <a:clrScheme name="PFE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lumMod val="95000"/>
          </a:schemeClr>
        </a:solidFill>
        <a:ln w="28575" cap="flat" cmpd="sng" algn="ctr">
          <a:noFill/>
          <a:prstDash val="solid"/>
          <a:miter lim="800000"/>
          <a:headEnd type="none" w="med" len="med"/>
          <a:tailEnd type="none" w="med" len="med"/>
        </a:ln>
        <a:effectLst/>
      </a:spPr>
      <a:bodyPr vert="horz" wrap="square" lIns="91429" tIns="45715" rIns="91429" bIns="45715" numCol="1" rtlCol="0" anchor="ctr" anchorCtr="0" compatLnSpc="1">
        <a:prstTxWarp prst="textNoShape">
          <a:avLst/>
        </a:prstTxWarp>
        <a:noAutofit/>
      </a:bodyPr>
      <a:lstStyle>
        <a:defPPr algn="ctr" fontAlgn="base">
          <a:lnSpc>
            <a:spcPct val="90000"/>
          </a:lnSpc>
          <a:spcAft>
            <a:spcPct val="0"/>
          </a:spcAft>
          <a:buClr>
            <a:schemeClr val="accent2"/>
          </a:buClr>
          <a:buSzPct val="90000"/>
          <a:defRPr b="1" dirty="0">
            <a:solidFill>
              <a:schemeClr val="accent1"/>
            </a:solidFill>
            <a:latin typeface="+mj-lt"/>
          </a:defRPr>
        </a:defPPr>
      </a:lstStyle>
    </a:spDef>
    <a:lnDef>
      <a:spPr bwMode="gray">
        <a:noFill/>
        <a:ln w="12700" cap="rnd">
          <a:solidFill>
            <a:schemeClr val="bg1">
              <a:lumMod val="75000"/>
            </a:schemeClr>
          </a:solidFill>
          <a:prstDash val="solid"/>
          <a:round/>
          <a:headEnd/>
          <a:tailEnd/>
        </a:ln>
        <a:effectLst/>
      </a:spPr>
      <a:bodyPr/>
      <a:lstStyle/>
    </a:lnDef>
    <a:txDef>
      <a:spPr bwMode="gray"/>
      <a:bodyPr wrap="square" lIns="45720" tIns="45720" rIns="45720" bIns="45720" rtlCol="0">
        <a:spAutoFit/>
      </a:bodyPr>
      <a:lstStyle>
        <a:defPPr algn="l">
          <a:lnSpc>
            <a:spcPct val="90000"/>
          </a:lnSpc>
          <a:spcBef>
            <a:spcPts val="1000"/>
          </a:spcBef>
          <a:defRPr sz="1600" dirty="0" smtClean="0"/>
        </a:defPPr>
      </a:lstStyle>
    </a:txDef>
  </a:objectDefaults>
  <a:extraClrSchemeLst/>
  <a:extLst>
    <a:ext uri="{05A4C25C-085E-4340-85A3-A5531E510DB2}">
      <thm15:themeFamily xmlns:thm15="http://schemas.microsoft.com/office/thememl/2012/main" name="P113901_Pfizer PowerPoint Template_Logo_Confidential_16x9_011421_1130am.pptx" id="{89FC0598-B349-48E3-9A8B-72BFBCB98DF8}" vid="{0EBF093D-583F-46B6-8995-C451C08539D8}"/>
    </a:ext>
  </a:extLst>
</a:theme>
</file>

<file path=ppt/theme/theme3.xml><?xml version="1.0" encoding="utf-8"?>
<a:theme xmlns:a="http://schemas.openxmlformats.org/drawingml/2006/main" name="2_Office Theme">
  <a:themeElements>
    <a:clrScheme name="PFE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lumMod val="95000"/>
          </a:schemeClr>
        </a:solidFill>
        <a:ln w="28575" cap="flat" cmpd="sng" algn="ctr">
          <a:noFill/>
          <a:prstDash val="solid"/>
          <a:miter lim="800000"/>
          <a:headEnd type="none" w="med" len="med"/>
          <a:tailEnd type="none" w="med" len="med"/>
        </a:ln>
        <a:effectLst/>
      </a:spPr>
      <a:bodyPr vert="horz" wrap="square" lIns="91429" tIns="45715" rIns="91429" bIns="45715" numCol="1" rtlCol="0" anchor="ctr" anchorCtr="0" compatLnSpc="1">
        <a:prstTxWarp prst="textNoShape">
          <a:avLst/>
        </a:prstTxWarp>
        <a:noAutofit/>
      </a:bodyPr>
      <a:lstStyle>
        <a:defPPr algn="ctr" fontAlgn="base">
          <a:lnSpc>
            <a:spcPct val="90000"/>
          </a:lnSpc>
          <a:spcAft>
            <a:spcPct val="0"/>
          </a:spcAft>
          <a:buClr>
            <a:schemeClr val="accent2"/>
          </a:buClr>
          <a:buSzPct val="90000"/>
          <a:defRPr b="1" dirty="0">
            <a:solidFill>
              <a:schemeClr val="accent1"/>
            </a:solidFill>
            <a:latin typeface="+mj-lt"/>
          </a:defRPr>
        </a:defPPr>
      </a:lstStyle>
    </a:spDef>
    <a:lnDef>
      <a:spPr bwMode="gray">
        <a:noFill/>
        <a:ln w="12700" cap="rnd">
          <a:solidFill>
            <a:schemeClr val="bg1">
              <a:lumMod val="75000"/>
            </a:schemeClr>
          </a:solidFill>
          <a:prstDash val="solid"/>
          <a:round/>
          <a:headEnd/>
          <a:tailEnd/>
        </a:ln>
        <a:effectLst/>
      </a:spPr>
      <a:bodyPr/>
      <a:lstStyle/>
    </a:lnDef>
    <a:txDef>
      <a:spPr bwMode="gray"/>
      <a:bodyPr wrap="square" lIns="45720" tIns="45720" rIns="45720" bIns="45720" rtlCol="0">
        <a:spAutoFit/>
      </a:bodyPr>
      <a:lstStyle>
        <a:defPPr algn="l">
          <a:lnSpc>
            <a:spcPct val="90000"/>
          </a:lnSpc>
          <a:spcBef>
            <a:spcPts val="1000"/>
          </a:spcBef>
          <a:defRPr sz="1600" dirty="0" smtClean="0"/>
        </a:defPPr>
      </a:lstStyle>
    </a:txDef>
  </a:objectDefaults>
  <a:extraClrSchemeLst/>
  <a:extLst>
    <a:ext uri="{05A4C25C-085E-4340-85A3-A5531E510DB2}">
      <thm15:themeFamily xmlns:thm15="http://schemas.microsoft.com/office/thememl/2012/main" name="P113901_Pfizer PowerPoint Template_Logo_Confidential_16x9_011421_1130am.pptx" id="{89FC0598-B349-48E3-9A8B-72BFBCB98DF8}" vid="{0EBF093D-583F-46B6-8995-C451C08539D8}"/>
    </a:ext>
  </a:extLst>
</a:theme>
</file>

<file path=ppt/theme/theme4.xml><?xml version="1.0" encoding="utf-8"?>
<a:theme xmlns:a="http://schemas.openxmlformats.org/drawingml/2006/main" name="3_Office Theme">
  <a:themeElements>
    <a:clrScheme name="PFE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lumMod val="95000"/>
          </a:schemeClr>
        </a:solidFill>
        <a:ln w="28575" cap="flat" cmpd="sng" algn="ctr">
          <a:noFill/>
          <a:prstDash val="solid"/>
          <a:miter lim="800000"/>
          <a:headEnd type="none" w="med" len="med"/>
          <a:tailEnd type="none" w="med" len="med"/>
        </a:ln>
        <a:effectLst/>
      </a:spPr>
      <a:bodyPr vert="horz" wrap="square" lIns="91429" tIns="45715" rIns="91429" bIns="45715" numCol="1" rtlCol="0" anchor="ctr" anchorCtr="0" compatLnSpc="1">
        <a:prstTxWarp prst="textNoShape">
          <a:avLst/>
        </a:prstTxWarp>
        <a:noAutofit/>
      </a:bodyPr>
      <a:lstStyle>
        <a:defPPr algn="ctr" fontAlgn="base">
          <a:lnSpc>
            <a:spcPct val="90000"/>
          </a:lnSpc>
          <a:spcAft>
            <a:spcPct val="0"/>
          </a:spcAft>
          <a:buClr>
            <a:schemeClr val="accent2"/>
          </a:buClr>
          <a:buSzPct val="90000"/>
          <a:defRPr b="1" dirty="0">
            <a:solidFill>
              <a:schemeClr val="accent1"/>
            </a:solidFill>
            <a:latin typeface="+mj-lt"/>
          </a:defRPr>
        </a:defPPr>
      </a:lstStyle>
    </a:spDef>
    <a:lnDef>
      <a:spPr bwMode="gray">
        <a:noFill/>
        <a:ln w="12700" cap="rnd">
          <a:solidFill>
            <a:schemeClr val="bg1">
              <a:lumMod val="75000"/>
            </a:schemeClr>
          </a:solidFill>
          <a:prstDash val="solid"/>
          <a:round/>
          <a:headEnd/>
          <a:tailEnd/>
        </a:ln>
        <a:effectLst/>
      </a:spPr>
      <a:bodyPr/>
      <a:lstStyle/>
    </a:lnDef>
    <a:txDef>
      <a:spPr bwMode="gray">
        <a:solidFill>
          <a:schemeClr val="bg1"/>
        </a:solidFill>
      </a:spPr>
      <a:bodyPr wrap="square" lIns="45720" tIns="45720" rIns="45720" bIns="45720" rtlCol="0">
        <a:spAutoFit/>
      </a:bodyPr>
      <a:lstStyle>
        <a:defPPr marL="0" marR="0" indent="0" algn="l" defTabSz="914400" rtl="0" eaLnBrk="1" fontAlgn="auto" latinLnBrk="0" hangingPunct="1">
          <a:lnSpc>
            <a:spcPct val="90000"/>
          </a:lnSpc>
          <a:spcBef>
            <a:spcPts val="0"/>
          </a:spcBef>
          <a:spcAft>
            <a:spcPts val="400"/>
          </a:spcAft>
          <a:buClrTx/>
          <a:buSzTx/>
          <a:buFontTx/>
          <a:buNone/>
          <a:tabLst/>
          <a:defRPr kumimoji="0" sz="1400" i="0" u="none" strike="noStrike" kern="1200" cap="none" spc="0" normalizeH="0" baseline="0" noProof="0" dirty="0" smtClean="0">
            <a:ln>
              <a:noFill/>
            </a:ln>
            <a:solidFill>
              <a:srgbClr val="FF0000"/>
            </a:solidFill>
            <a:effectLst/>
            <a:uLnTx/>
            <a:uFillTx/>
            <a:latin typeface="Arial" panose="020B0604020202020204"/>
            <a:ea typeface="+mn-ea"/>
            <a:cs typeface="+mn-cs"/>
          </a:defRPr>
        </a:defPPr>
      </a:lstStyle>
    </a:txDef>
  </a:objectDefaults>
  <a:extraClrSchemeLst/>
  <a:extLst>
    <a:ext uri="{05A4C25C-085E-4340-85A3-A5531E510DB2}">
      <thm15:themeFamily xmlns:thm15="http://schemas.microsoft.com/office/thememl/2012/main" name="P113901_Pfizer PowerPoint Template_Logo_Confidential_16x9_011421_1130am.pptx" id="{89FC0598-B349-48E3-9A8B-72BFBCB98DF8}" vid="{0EBF093D-583F-46B6-8995-C451C08539D8}"/>
    </a:ext>
  </a:extLst>
</a:theme>
</file>

<file path=ppt/theme/theme5.xml><?xml version="1.0" encoding="utf-8"?>
<a:theme xmlns:a="http://schemas.openxmlformats.org/drawingml/2006/main" name="4_Office Theme">
  <a:themeElements>
    <a:clrScheme name="PFE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lumMod val="95000"/>
          </a:schemeClr>
        </a:solidFill>
        <a:ln w="28575" cap="flat" cmpd="sng" algn="ctr">
          <a:noFill/>
          <a:prstDash val="solid"/>
          <a:miter lim="800000"/>
          <a:headEnd type="none" w="med" len="med"/>
          <a:tailEnd type="none" w="med" len="med"/>
        </a:ln>
        <a:effectLst/>
      </a:spPr>
      <a:bodyPr vert="horz" wrap="square" lIns="91429" tIns="45715" rIns="91429" bIns="45715" numCol="1" rtlCol="0" anchor="ctr" anchorCtr="0" compatLnSpc="1">
        <a:prstTxWarp prst="textNoShape">
          <a:avLst/>
        </a:prstTxWarp>
        <a:noAutofit/>
      </a:bodyPr>
      <a:lstStyle>
        <a:defPPr algn="ctr" fontAlgn="base">
          <a:lnSpc>
            <a:spcPct val="90000"/>
          </a:lnSpc>
          <a:spcAft>
            <a:spcPct val="0"/>
          </a:spcAft>
          <a:buClr>
            <a:schemeClr val="accent2"/>
          </a:buClr>
          <a:buSzPct val="90000"/>
          <a:defRPr b="1" dirty="0">
            <a:solidFill>
              <a:schemeClr val="accent1"/>
            </a:solidFill>
            <a:latin typeface="+mj-lt"/>
          </a:defRPr>
        </a:defPPr>
      </a:lstStyle>
    </a:spDef>
    <a:lnDef>
      <a:spPr bwMode="gray">
        <a:noFill/>
        <a:ln w="12700" cap="rnd">
          <a:solidFill>
            <a:schemeClr val="bg1">
              <a:lumMod val="75000"/>
            </a:schemeClr>
          </a:solidFill>
          <a:prstDash val="solid"/>
          <a:round/>
          <a:headEnd/>
          <a:tailEnd/>
        </a:ln>
        <a:effectLst/>
      </a:spPr>
      <a:bodyPr/>
      <a:lstStyle/>
    </a:lnDef>
    <a:txDef>
      <a:spPr bwMode="gray"/>
      <a:bodyPr wrap="square" lIns="45720" tIns="45720" rIns="45720" bIns="45720" rtlCol="0">
        <a:spAutoFit/>
      </a:bodyPr>
      <a:lstStyle>
        <a:defPPr algn="l">
          <a:lnSpc>
            <a:spcPct val="90000"/>
          </a:lnSpc>
          <a:spcBef>
            <a:spcPts val="1000"/>
          </a:spcBef>
          <a:defRPr sz="1600" dirty="0" smtClean="0"/>
        </a:defPPr>
      </a:lstStyle>
    </a:txDef>
  </a:objectDefaults>
  <a:extraClrSchemeLst/>
  <a:extLst>
    <a:ext uri="{05A4C25C-085E-4340-85A3-A5531E510DB2}">
      <thm15:themeFamily xmlns:thm15="http://schemas.microsoft.com/office/thememl/2012/main" name="P113901_Pfizer PowerPoint Template_Logo_Confidential_16x9_011421_1130am.pptx" id="{89FC0598-B349-48E3-9A8B-72BFBCB98DF8}" vid="{0EBF093D-583F-46B6-8995-C451C08539D8}"/>
    </a:ext>
  </a:extLst>
</a:theme>
</file>

<file path=ppt/theme/theme6.xml><?xml version="1.0" encoding="utf-8"?>
<a:theme xmlns:a="http://schemas.openxmlformats.org/drawingml/2006/main" name="5_Office Theme">
  <a:themeElements>
    <a:clrScheme name="PFE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lumMod val="95000"/>
          </a:schemeClr>
        </a:solidFill>
        <a:ln w="28575" cap="flat" cmpd="sng" algn="ctr">
          <a:noFill/>
          <a:prstDash val="solid"/>
          <a:miter lim="800000"/>
          <a:headEnd type="none" w="med" len="med"/>
          <a:tailEnd type="none" w="med" len="med"/>
        </a:ln>
        <a:effectLst/>
      </a:spPr>
      <a:bodyPr vert="horz" wrap="square" lIns="91429" tIns="45715" rIns="91429" bIns="45715" numCol="1" rtlCol="0" anchor="ctr" anchorCtr="0" compatLnSpc="1">
        <a:prstTxWarp prst="textNoShape">
          <a:avLst/>
        </a:prstTxWarp>
        <a:noAutofit/>
      </a:bodyPr>
      <a:lstStyle>
        <a:defPPr algn="ctr" fontAlgn="base">
          <a:lnSpc>
            <a:spcPct val="90000"/>
          </a:lnSpc>
          <a:spcAft>
            <a:spcPct val="0"/>
          </a:spcAft>
          <a:buClr>
            <a:schemeClr val="accent2"/>
          </a:buClr>
          <a:buSzPct val="90000"/>
          <a:defRPr b="1" dirty="0">
            <a:solidFill>
              <a:schemeClr val="accent1"/>
            </a:solidFill>
            <a:latin typeface="+mj-lt"/>
          </a:defRPr>
        </a:defPPr>
      </a:lstStyle>
    </a:spDef>
    <a:lnDef>
      <a:spPr bwMode="gray">
        <a:noFill/>
        <a:ln w="12700" cap="rnd">
          <a:solidFill>
            <a:schemeClr val="bg1">
              <a:lumMod val="75000"/>
            </a:schemeClr>
          </a:solidFill>
          <a:prstDash val="solid"/>
          <a:round/>
          <a:headEnd/>
          <a:tailEnd/>
        </a:ln>
        <a:effectLst/>
      </a:spPr>
      <a:bodyPr/>
      <a:lstStyle/>
    </a:lnDef>
    <a:txDef>
      <a:spPr bwMode="gray">
        <a:solidFill>
          <a:schemeClr val="accent6">
            <a:lumMod val="60000"/>
            <a:lumOff val="40000"/>
          </a:schemeClr>
        </a:solidFill>
      </a:spPr>
      <a:bodyPr wrap="none" lIns="45720" tIns="45720" rIns="45720" bIns="45720" rtlCol="0">
        <a:spAutoFit/>
      </a:bodyPr>
      <a:lstStyle>
        <a:defPPr marL="0" marR="0" indent="0" algn="ctr" defTabSz="914400" rtl="0" eaLnBrk="1" fontAlgn="auto" latinLnBrk="0" hangingPunct="1">
          <a:lnSpc>
            <a:spcPct val="90000"/>
          </a:lnSpc>
          <a:spcBef>
            <a:spcPts val="0"/>
          </a:spcBef>
          <a:spcAft>
            <a:spcPts val="400"/>
          </a:spcAft>
          <a:buClrTx/>
          <a:buSzTx/>
          <a:buFontTx/>
          <a:buNone/>
          <a:tabLst/>
          <a:defRPr kumimoji="0" sz="1200" i="0" u="none" strike="noStrike" kern="1200" cap="none" spc="0" normalizeH="0" baseline="0" noProof="0" dirty="0" smtClean="0">
            <a:ln>
              <a:noFill/>
            </a:ln>
            <a:effectLst/>
            <a:uLnTx/>
            <a:uFillTx/>
            <a:latin typeface="Arial" panose="020B0604020202020204"/>
            <a:ea typeface="+mn-ea"/>
            <a:cs typeface="+mn-cs"/>
          </a:defRPr>
        </a:defPPr>
      </a:lstStyle>
    </a:txDef>
  </a:objectDefaults>
  <a:extraClrSchemeLst/>
  <a:extLst>
    <a:ext uri="{05A4C25C-085E-4340-85A3-A5531E510DB2}">
      <thm15:themeFamily xmlns:thm15="http://schemas.microsoft.com/office/thememl/2012/main" name="P113901_Pfizer PowerPoint Template_Logo_Confidential_16x9_011421_1130am.pptx" id="{89FC0598-B349-48E3-9A8B-72BFBCB98DF8}" vid="{0EBF093D-583F-46B6-8995-C451C08539D8}"/>
    </a:ext>
  </a:extLst>
</a:theme>
</file>

<file path=ppt/theme/theme7.xml><?xml version="1.0" encoding="utf-8"?>
<a:theme xmlns:a="http://schemas.openxmlformats.org/drawingml/2006/main" name="Office Theme">
  <a:themeElements>
    <a:clrScheme name="PFE New Brand 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PFE New Brand 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5D39138238E3428482F9AC847CC3B1" ma:contentTypeVersion="26" ma:contentTypeDescription="Create a new document." ma:contentTypeScope="" ma:versionID="dd5192036d17513511aa768119511b92">
  <xsd:schema xmlns:xsd="http://www.w3.org/2001/XMLSchema" xmlns:xs="http://www.w3.org/2001/XMLSchema" xmlns:p="http://schemas.microsoft.com/office/2006/metadata/properties" xmlns:ns1="http://schemas.microsoft.com/sharepoint/v3" xmlns:ns2="457c7519-65f4-4311-98ff-710488d5099d" xmlns:ns3="4c31d0a7-7d65-4455-b0b7-66f65b242358" targetNamespace="http://schemas.microsoft.com/office/2006/metadata/properties" ma:root="true" ma:fieldsID="7f3f13722d454f803d093c8998983f6c" ns1:_="" ns2:_="" ns3:_="">
    <xsd:import namespace="http://schemas.microsoft.com/sharepoint/v3"/>
    <xsd:import namespace="457c7519-65f4-4311-98ff-710488d5099d"/>
    <xsd:import namespace="4c31d0a7-7d65-4455-b0b7-66f65b2423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3:SharedWithUsers" minOccurs="0"/>
                <xsd:element ref="ns3:SharedWithDetails" minOccurs="0"/>
                <xsd:element ref="ns2:MediaServiceOCR" minOccurs="0"/>
                <xsd:element ref="ns2:Link" minOccurs="0"/>
                <xsd:element ref="ns2:MediaServiceSearchProperties" minOccurs="0"/>
                <xsd:element ref="ns2:MediaServiceLocation" minOccurs="0"/>
                <xsd:element ref="ns2:MediaServiceBillingMetadata" minOccurs="0"/>
                <xsd:element ref="ns1:AverageRating" minOccurs="0"/>
                <xsd:element ref="ns1:RatingCount" minOccurs="0"/>
                <xsd:element ref="ns1:RatedBy" minOccurs="0"/>
                <xsd:element ref="ns1:Ratings" minOccurs="0"/>
                <xsd:element ref="ns1:LikesCount" minOccurs="0"/>
                <xsd:element ref="ns1:LikedB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25" nillable="true" ma:displayName="Rating (0-5)" ma:decimals="2" ma:description="Average value of all the ratings that have been submitted" ma:internalName="AverageRating" ma:readOnly="true">
      <xsd:simpleType>
        <xsd:restriction base="dms:Number"/>
      </xsd:simpleType>
    </xsd:element>
    <xsd:element name="RatingCount" ma:index="26" nillable="true" ma:displayName="Number of Ratings" ma:decimals="0" ma:description="Number of ratings submitted" ma:internalName="RatingCount" ma:readOnly="true">
      <xsd:simpleType>
        <xsd:restriction base="dms:Number"/>
      </xsd:simpleType>
    </xsd:element>
    <xsd:element name="RatedBy" ma:index="27"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28" nillable="true" ma:displayName="User ratings" ma:description="User ratings for the item" ma:hidden="true" ma:internalName="Ratings">
      <xsd:simpleType>
        <xsd:restriction base="dms:Note"/>
      </xsd:simpleType>
    </xsd:element>
    <xsd:element name="LikesCount" ma:index="29" nillable="true" ma:displayName="Number of Likes" ma:internalName="LikesCount">
      <xsd:simpleType>
        <xsd:restriction base="dms:Unknown"/>
      </xsd:simpleType>
    </xsd:element>
    <xsd:element name="LikedBy" ma:index="30"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57c7519-65f4-4311-98ff-710488d509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fdb820a-fbe5-49ec-8492-f23f1cc1e7d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Link" ma:index="21"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descrip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31d0a7-7d65-4455-b0b7-66f65b24235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4b33b4c-756c-484c-a535-e67165055b61}" ma:internalName="TaxCatchAll" ma:showField="CatchAllData" ma:web="4c31d0a7-7d65-4455-b0b7-66f65b24235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57c7519-65f4-4311-98ff-710488d5099d">
      <Terms xmlns="http://schemas.microsoft.com/office/infopath/2007/PartnerControls"/>
    </lcf76f155ced4ddcb4097134ff3c332f>
    <TaxCatchAll xmlns="4c31d0a7-7d65-4455-b0b7-66f65b242358" xsi:nil="true"/>
    <Link xmlns="457c7519-65f4-4311-98ff-710488d5099d">
      <Url xsi:nil="true"/>
      <Description xsi:nil="true"/>
    </Link>
    <LikesCount xmlns="http://schemas.microsoft.com/sharepoint/v3" xsi:nil="true"/>
    <Ratings xmlns="http://schemas.microsoft.com/sharepoint/v3" xsi:nil="true"/>
    <LikedBy xmlns="http://schemas.microsoft.com/sharepoint/v3">
      <UserInfo>
        <DisplayName/>
        <AccountId xsi:nil="true"/>
        <AccountType/>
      </UserInfo>
    </LikedBy>
    <RatedBy xmlns="http://schemas.microsoft.com/sharepoint/v3">
      <UserInfo>
        <DisplayName/>
        <AccountId xsi:nil="true"/>
        <AccountType/>
      </UserInfo>
    </RatedB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906532-53F9-46B6-B602-14C943DDF67D}"/>
</file>

<file path=customXml/itemProps2.xml><?xml version="1.0" encoding="utf-8"?>
<ds:datastoreItem xmlns:ds="http://schemas.openxmlformats.org/officeDocument/2006/customXml" ds:itemID="{A8D243EB-C6CC-400C-BC58-BCD79CFA0F71}">
  <ds:schemaRefs>
    <ds:schemaRef ds:uri="http://purl.org/dc/dcmitype/"/>
    <ds:schemaRef ds:uri="http://schemas.microsoft.com/office/infopath/2007/PartnerControls"/>
    <ds:schemaRef ds:uri="http://schemas.openxmlformats.org/package/2006/metadata/core-properties"/>
    <ds:schemaRef ds:uri="http://purl.org/dc/elements/1.1/"/>
    <ds:schemaRef ds:uri="http://schemas.microsoft.com/office/2006/documentManagement/types"/>
    <ds:schemaRef ds:uri="3a7244a7-e8e5-4349-8ca0-3f75a022c57c"/>
    <ds:schemaRef ds:uri="http://purl.org/dc/terms/"/>
    <ds:schemaRef ds:uri="http://www.w3.org/XML/1998/namespace"/>
    <ds:schemaRef ds:uri="http://schemas.microsoft.com/office/2006/metadata/properties"/>
    <ds:schemaRef ds:uri="6ebe6769-19ef-4e0c-8557-54397102f96b"/>
    <ds:schemaRef ds:uri="64ff131d-97dd-4700-a44d-6e23073e06c6"/>
  </ds:schemaRefs>
</ds:datastoreItem>
</file>

<file path=customXml/itemProps3.xml><?xml version="1.0" encoding="utf-8"?>
<ds:datastoreItem xmlns:ds="http://schemas.openxmlformats.org/officeDocument/2006/customXml" ds:itemID="{C1934128-E9B5-4A81-8FC6-0FFF4F83F5C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2925</TotalTime>
  <Words>16341</Words>
  <Application>Microsoft Office PowerPoint</Application>
  <PresentationFormat>Custom</PresentationFormat>
  <Paragraphs>2382</Paragraphs>
  <Slides>75</Slides>
  <Notes>67</Notes>
  <HiddenSlides>10</HiddenSlides>
  <MMClips>0</MMClips>
  <ScaleCrop>false</ScaleCrop>
  <HeadingPairs>
    <vt:vector size="4" baseType="variant">
      <vt:variant>
        <vt:lpstr>Theme</vt:lpstr>
      </vt:variant>
      <vt:variant>
        <vt:i4>6</vt:i4>
      </vt:variant>
      <vt:variant>
        <vt:lpstr>Slide Titles</vt:lpstr>
      </vt:variant>
      <vt:variant>
        <vt:i4>75</vt:i4>
      </vt:variant>
    </vt:vector>
  </HeadingPairs>
  <TitlesOfParts>
    <vt:vector size="81" baseType="lpstr">
      <vt:lpstr>Office Theme</vt:lpstr>
      <vt:lpstr>1_Office Theme</vt:lpstr>
      <vt:lpstr>2_Office Theme</vt:lpstr>
      <vt:lpstr>3_Office Theme</vt:lpstr>
      <vt:lpstr>4_Office Theme</vt:lpstr>
      <vt:lpstr>5_Office Theme</vt:lpstr>
      <vt:lpstr>Penbraya HCP ATU Wave 5 (Sep’25)  </vt:lpstr>
      <vt:lpstr>Table of Contents</vt:lpstr>
      <vt:lpstr>Business Needs and Research Objectives | Wave 5 (Full) Sep‘25</vt:lpstr>
      <vt:lpstr>Research Roadmap</vt:lpstr>
      <vt:lpstr>Study Design | Wave 5 (Full) Sep‘25</vt:lpstr>
      <vt:lpstr>Segment Definition Comparison | Wave 5 vs. Wave 4</vt:lpstr>
      <vt:lpstr>Notes on Reading this Report | Wave 5 (Full) Sep’25</vt:lpstr>
      <vt:lpstr>Respondent Demographics | N=200: 160 PEDs and 40 PCPs</vt:lpstr>
      <vt:lpstr>Vaccine Demographics | N=200: 160 PEDs and 40 PCPs</vt:lpstr>
      <vt:lpstr>Executive Summary</vt:lpstr>
      <vt:lpstr>W5 Key Findings</vt:lpstr>
      <vt:lpstr>Summary and Implications</vt:lpstr>
      <vt:lpstr>Key Metric Summary</vt:lpstr>
      <vt:lpstr>PowerPoint Presentation</vt:lpstr>
      <vt:lpstr>PowerPoint Presentation</vt:lpstr>
      <vt:lpstr>Detailed Findings</vt:lpstr>
      <vt:lpstr>HCPs continue to express strongest concern and discussion priority for MenACWY and MenB, while knowledge trails other diseases</vt:lpstr>
      <vt:lpstr>Most HCPs continue to co-administer other vaccines with the MenACWY booster dose, two-thirds doing so with the first MenB dose (higher among PEDs than PCPs)</vt:lpstr>
      <vt:lpstr>Unaided awareness of GSK and Pfizer as manufacturers of a meningococcal Vx under development or recently launched remains highest; PEDs are twice as likely to mention Pfizer than PCPs </vt:lpstr>
      <vt:lpstr>Unaided, nearly half of HCPs (46%) are aware that a pentavalent Vx is under development or recently launched for meningococcal disease; Penbraya is mentioned most often, despite a decrease this wave (driven by PEDs and Tier 1)</vt:lpstr>
      <vt:lpstr>Aided, most HCPs are aware of a recently approved MenABCWY Vx; unaided, 3 in 10 cite awareness of Pfizer and/or Penbraya and half as many cite GSK and/or Penmenvy</vt:lpstr>
      <vt:lpstr>Nearly half of HCPs (44%) express familiarity with Penbraya, while significantly fewer (30%) are familiar with Penmenvy </vt:lpstr>
      <vt:lpstr>Penbraya stockers more often recommend the pentavalent vaccine vs. two separate shots to eligible patients16-18 years old; majority accepting the pentavalent, most often without question</vt:lpstr>
      <vt:lpstr>Most Penbraya Stockers are discussing the MenABCWY vaccine, focusing on its broad coverage, safety and effectiveness (up this wave), one shot instead of two, and education</vt:lpstr>
      <vt:lpstr>Majority of HCPs are aware of ACIP Meningococcal Vx recommendations, though room to increase, especially the second MenB Vx requirement to be from the same pentavalent manufacturer and administered 6-months after the initial Vx</vt:lpstr>
      <vt:lpstr>Most HCPs agree that all adolescents should be vaccinated against all five key meningococcal serogroups, though fewer PCPs report actively convincing hesitant parents/patients to accept</vt:lpstr>
      <vt:lpstr>Detailed Findings</vt:lpstr>
      <vt:lpstr>HCPs report GSK’s Menveo and Bexsero stock are significantly down this wave; conversly, MenQuadfi has seen a significant increase in stocking with Tier 1 driving shifts</vt:lpstr>
      <vt:lpstr>HCPs anticipate a significant gain in stock of Penbraya within the next three months and a decrease in Bexsero and MenQuadfi; minimal intent to stock Penmenvy in this timeframe</vt:lpstr>
      <vt:lpstr>Detailed Findings</vt:lpstr>
      <vt:lpstr>Penbraya Stimuli</vt:lpstr>
      <vt:lpstr>Despite lower intent to stock Penbraya among Non-Stockers this wave (driven by PEDs and Tier 1),  ~2 in 10 plan to stock within six months, while two-thirds of Current Stockers expect to be fully incorporated in that timeframe</vt:lpstr>
      <vt:lpstr>Nearly 3-in-4 PCPs are highly likely to recommend Penbraya for eligible 16–18-year-old patients driven by fewer required shots and broad coverage; HCPs unlikely to recommend Penbraya cite stocking barriers and preference to stay with status-quo</vt:lpstr>
      <vt:lpstr>Verbatims: Likelihood to Recommend Penbraya</vt:lpstr>
      <vt:lpstr>After reviewing the Penbraya TPP, current Penbraya stockers anticipate a slight uptake in their intent to recommend Penbraya vs. 2 separate vaccines in the next three months</vt:lpstr>
      <vt:lpstr>After review of the stimuli, half of HCPs continue to report moderate familiarity with Penbraya’s dosing schedule and ~two-thirds find the Trumenba requirement very clear</vt:lpstr>
      <vt:lpstr>6-in-10 HCPs continue to prefer Penbraya’s needle-free kit over standard reconstitution, while a third have no preference</vt:lpstr>
      <vt:lpstr>Considering their total stock and existing contracts, and given the recommended dosing schedule with Penbraya, ~a third of Trumenba Non-Stockers are likely to adopt Trumenba to some degree</vt:lpstr>
      <vt:lpstr>Bexsero stockers who have a low likelihood to continue stocking have: greater familiarity and preference for Trumenba &amp; Penbraya, a greater focus on pentavalent use, more concern and knowledge about MenB, and less awareness of Bexsero’s updated dosing alignment </vt:lpstr>
      <vt:lpstr>Awareness that Bexsero has the same two-dose schedule as Trumenba (0 and 6 months) is up significantly from Sep’24, with two-thirds of Trumenba Non-Stockers likely to reconsider their MenB Vx to some degree; those unlikely to reconsider cite no compelling reason to switch, disruption to practice, and manufacturer discounts</vt:lpstr>
      <vt:lpstr>Two-thirds of HCPs perceive Bexsero and Trumenba are clinically interchangeable while a quarter believe Trumenba has some level of clinical advantage over Bexsero – steered by Penbraya and Trumenba stockers</vt:lpstr>
      <vt:lpstr>~One-third of HCPs are highly likely to revisit their overall approach to meningococcal disease protection, and consider Penbraya + Trumenba vs. separate MenACWY and MenB vaccines – with cost being the top driving factor</vt:lpstr>
      <vt:lpstr>Verbatims: Information / Data which would Encourage Revisiting Overall Approach  to Meningococcal Disease Protection and Stocking Decisions</vt:lpstr>
      <vt:lpstr>Overall, half of HCPs continue to believe the Trumenba requirement has no impact on the complexity of their current meningococcal vaccine protocols, however, Penbraya Stockers tend to find it easier in comparison</vt:lpstr>
      <vt:lpstr>HCPs anticipate a significant gain in stock of Penbraya within the next three months and a decrease in Bexsero and MenQuadfi; minimal intent to stock Penmenvy in this timeframe</vt:lpstr>
      <vt:lpstr>Significant growth in future share of Penbraya stock expected in all 3 Tiers – resulting in declining shares of MenQuadfi in Tier 1 and Bexsero in Tiers 2 and 3</vt:lpstr>
      <vt:lpstr>Penbraya Stockers anticipate a slight uptake in share of stock in three months (28%-39%), and 13% of Non-Stockers plan to adopt (depleting some share of Bexsero and MenQuadfi)</vt:lpstr>
      <vt:lpstr>Detailed Findings</vt:lpstr>
      <vt:lpstr>PEDs continue to anticipate more barriers to administering Penbraya than PCPs, mostly stocking barriers and not wanting to change their current practices, while PCPs are most concerned about patient refusals</vt:lpstr>
      <vt:lpstr>Verbatims: Reasons May Not Administer Penbraya to Eligible Patients</vt:lpstr>
      <vt:lpstr>Operational complexity and costs of stocking multiple Vx brands are the leading challenges to stocking Penbraya among HCPs, followed by staff training</vt:lpstr>
      <vt:lpstr>While Penbraya requests are low, Trumenba is second highest requested brand by patients/caregivers; HCPs are most willing to administer Penbraya when requested</vt:lpstr>
      <vt:lpstr>Overall, half of HCPs report high comfort administering Penbraya, and speculate lower comfort among parents; significantly higher comfort levels reported among Penbraya Stockers vs.  Non-Stockers</vt:lpstr>
      <vt:lpstr>HCPs remain least willing to coadminister Penbraya with a COVID-19 vaccine, otherwise, high willingness is reported for others; PEDs are more willing to coadminister Penbraya than PCPs overall</vt:lpstr>
      <vt:lpstr>Majority of Penbraya Non-Stockers lack confidence in receiving full reimbursement from insurers, primarily due to unknown reimbursement amount prior to purchase, unclear insurance coverage policies, and challenges in determining coverage (up this year)</vt:lpstr>
      <vt:lpstr>Detailed Findings</vt:lpstr>
      <vt:lpstr>Penmenvy TPP</vt:lpstr>
      <vt:lpstr>One third of HCPs are highly likely to stock Penmenvy, with 7 in 10 estimating adoption within  6 months after MMWR publication and inclusion in the VFC program</vt:lpstr>
      <vt:lpstr>Just over a third of HCPs are highly likely to recommend Penmenvy given one fewer shot in the meningococcal Vx. series; PEDs are significantly less likely to recommend Penmenvy due to stocking barriers, not wanting to change practice and the Vx. being too new</vt:lpstr>
      <vt:lpstr>At least one-quarter of HCPs perceive Penmenvy to be a significant improvement over Penbraya or MenACWY + MenB vaccines; PEDs are more likely to report little to no improvement over other meningococcal Vx. options</vt:lpstr>
      <vt:lpstr>While half of HCPs have no preference for either pentavalent vaccine, the other half is virtually split between recommending Penbraya (28%) over Penmenvy (22%)</vt:lpstr>
      <vt:lpstr>Current MenB Vx stocked tends to drive preference for either pentavalent Vx, as well as effective/safe for Penbraya (up this wave); Vx similarity/non-superiority drives no preference</vt:lpstr>
      <vt:lpstr>Preference largely switches to Penmenvy (from no preference) if it offers protection against gonorrhea, with about 2 in 10 still favoring Penbraya</vt:lpstr>
      <vt:lpstr>Clinical developmental data and demonstrated coverage of diverse MenB strains are the most important attributes driving the selection of a pentavalent vaccine, followed by VFC inclusion and built on well-established vaccines (the latter driven by PEDs)</vt:lpstr>
      <vt:lpstr>Penbraya takes a slight lead over GSK’s Penmenvy on clinical developmental data – most important to HCPs while the reverse is true for demonstrated coverage of MenB strains; both pentavalents are nearly tied on all applicable attributes except needle-free reconstitution in which Penbraya has a strong lead</vt:lpstr>
      <vt:lpstr>Penbraya Stockers rate Penbraya significantly higher than Non-Stockers on several attributes including robust clinical development data, cost, contracting, familiarity, Vx portfolio</vt:lpstr>
      <vt:lpstr>With Bexsero’s dosing schedule now aligning with Trumenba, HCPs anticipate a minimal uptick in Penmenvy stock three months from now – significantly higher among PCPs (20% with an original estimate of 5%)</vt:lpstr>
      <vt:lpstr>Detailed Findings</vt:lpstr>
      <vt:lpstr>~4-in-10 HCPs were detailed by a Vaccine Sales Representative in the past three months, across all companies</vt:lpstr>
      <vt:lpstr>Prevnar 20 is most recently discussed by Pfizer reps, followed by Penbraya and Trumenba, whereas Bexsero discussions are still most prevalent among GSK reps followed by Penmenvy</vt:lpstr>
      <vt:lpstr>Penbraya HCP and Consumer Insights Comparison</vt:lpstr>
      <vt:lpstr>Insights across HCP and Caregiver ATUs, identifying areas of alignment and disconnect</vt:lpstr>
      <vt:lpstr>Recommendations/Considerations for HCPs and Parents/Caregivers</vt:lpstr>
      <vt:lpstr>Appendix</vt:lpstr>
      <vt:lpstr>Penmenvy Wave 4 Unbranded TPP</vt:lpstr>
    </vt:vector>
  </TitlesOfParts>
  <Company>OCS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v365</dc:subject>
  <dc:creator>Dixon, Lisa</dc:creator>
  <dc:description>P113901_Pfizer PowerPoint Template _Logo_Confidential_16x9</dc:description>
  <cp:lastModifiedBy>Gonzalez, Gabriela L</cp:lastModifiedBy>
  <cp:revision>6</cp:revision>
  <cp:lastPrinted>2025-03-20T12:22:57Z</cp:lastPrinted>
  <dcterms:created xsi:type="dcterms:W3CDTF">2021-07-14T20:45:57Z</dcterms:created>
  <dcterms:modified xsi:type="dcterms:W3CDTF">2026-01-08T08:12:13Z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BD1316AA-ADAB-409D-BAE3-6BC0F6AF696D</vt:lpwstr>
  </property>
  <property fmtid="{D5CDD505-2E9C-101B-9397-08002B2CF9AE}" pid="3" name="ArticulatePath">
    <vt:lpwstr>Template-Template_v2007-10_2Dcharts_FLAT BOX_111213_445pm</vt:lpwstr>
  </property>
  <property fmtid="{D5CDD505-2E9C-101B-9397-08002B2CF9AE}" pid="4" name="ContentTypeId">
    <vt:lpwstr>0x0101000C5D39138238E3428482F9AC847CC3B1</vt:lpwstr>
  </property>
  <property fmtid="{D5CDD505-2E9C-101B-9397-08002B2CF9AE}" pid="5" name="TaxKeyword">
    <vt:lpwstr/>
  </property>
  <property fmtid="{D5CDD505-2E9C-101B-9397-08002B2CF9AE}" pid="6" name="Proposal/Project#">
    <vt:lpwstr/>
  </property>
  <property fmtid="{D5CDD505-2E9C-101B-9397-08002B2CF9AE}" pid="7" name="Therapeutic Cat/Area">
    <vt:lpwstr/>
  </property>
  <property fmtid="{D5CDD505-2E9C-101B-9397-08002B2CF9AE}" pid="8" name="Doc Type">
    <vt:lpwstr/>
  </property>
  <property fmtid="{D5CDD505-2E9C-101B-9397-08002B2CF9AE}" pid="9" name="Client">
    <vt:lpwstr/>
  </property>
  <property fmtid="{D5CDD505-2E9C-101B-9397-08002B2CF9AE}" pid="10" name="MediaServiceImageTags">
    <vt:lpwstr/>
  </property>
  <property fmtid="{D5CDD505-2E9C-101B-9397-08002B2CF9AE}" pid="11" name="MSIP_Label_4791b42f-c435-42ca-9531-75a3f42aae3d_Enabled">
    <vt:lpwstr>true</vt:lpwstr>
  </property>
  <property fmtid="{D5CDD505-2E9C-101B-9397-08002B2CF9AE}" pid="12" name="MSIP_Label_4791b42f-c435-42ca-9531-75a3f42aae3d_SetDate">
    <vt:lpwstr>2024-02-15T15:03:20Z</vt:lpwstr>
  </property>
  <property fmtid="{D5CDD505-2E9C-101B-9397-08002B2CF9AE}" pid="13" name="MSIP_Label_4791b42f-c435-42ca-9531-75a3f42aae3d_Method">
    <vt:lpwstr>Privileged</vt:lpwstr>
  </property>
  <property fmtid="{D5CDD505-2E9C-101B-9397-08002B2CF9AE}" pid="14" name="MSIP_Label_4791b42f-c435-42ca-9531-75a3f42aae3d_Name">
    <vt:lpwstr>4791b42f-c435-42ca-9531-75a3f42aae3d</vt:lpwstr>
  </property>
  <property fmtid="{D5CDD505-2E9C-101B-9397-08002B2CF9AE}" pid="15" name="MSIP_Label_4791b42f-c435-42ca-9531-75a3f42aae3d_SiteId">
    <vt:lpwstr>7a916015-20ae-4ad1-9170-eefd915e9272</vt:lpwstr>
  </property>
  <property fmtid="{D5CDD505-2E9C-101B-9397-08002B2CF9AE}" pid="16" name="MSIP_Label_4791b42f-c435-42ca-9531-75a3f42aae3d_ActionId">
    <vt:lpwstr>c2a23405-80fe-4d4c-b47a-120f3c7db3a5</vt:lpwstr>
  </property>
  <property fmtid="{D5CDD505-2E9C-101B-9397-08002B2CF9AE}" pid="17" name="MSIP_Label_4791b42f-c435-42ca-9531-75a3f42aae3d_ContentBits">
    <vt:lpwstr>0</vt:lpwstr>
  </property>
  <property fmtid="{D5CDD505-2E9C-101B-9397-08002B2CF9AE}" pid="18" name="xd_ProgID">
    <vt:lpwstr/>
  </property>
  <property fmtid="{D5CDD505-2E9C-101B-9397-08002B2CF9AE}" pid="19" name="ComplianceAssetId">
    <vt:lpwstr/>
  </property>
  <property fmtid="{D5CDD505-2E9C-101B-9397-08002B2CF9AE}" pid="20" name="TemplateUrl">
    <vt:lpwstr/>
  </property>
  <property fmtid="{D5CDD505-2E9C-101B-9397-08002B2CF9AE}" pid="21" name="_ExtendedDescription">
    <vt:lpwstr/>
  </property>
  <property fmtid="{D5CDD505-2E9C-101B-9397-08002B2CF9AE}" pid="22" name="TriggerFlowInfo">
    <vt:lpwstr/>
  </property>
  <property fmtid="{D5CDD505-2E9C-101B-9397-08002B2CF9AE}" pid="23" name="xd_Signature">
    <vt:bool>false</vt:bool>
  </property>
  <property fmtid="{D5CDD505-2E9C-101B-9397-08002B2CF9AE}" pid="24" name="GUID">
    <vt:lpwstr>e9c0e947-e867-41e3-bb85-303c0da40cbb</vt:lpwstr>
  </property>
</Properties>
</file>