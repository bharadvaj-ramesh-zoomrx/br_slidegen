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4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5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D1A9_835AE1DA.xml" ContentType="application/vnd.ms-powerpoint.comment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7FFFFE9D_2ECC9592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5.xml" ContentType="application/vnd.openxmlformats-officedocument.presentationml.tags+xml"/>
  <Override PartName="/ppt/notesSlides/notesSlide7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7FFFFE64_A7CFB328.xml" ContentType="application/vnd.ms-powerpoint.comments+xml"/>
  <Override PartName="/ppt/charts/chart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8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0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1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17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2.xml" ContentType="application/vnd.openxmlformats-officedocument.drawingml.chartshapes+xml"/>
  <Override PartName="/ppt/charts/chart18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2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3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93.xml" ContentType="application/vnd.openxmlformats-officedocument.presentationml.tags+xml"/>
  <Override PartName="/ppt/notesSlides/notesSlide15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6.xml" ContentType="application/vnd.openxmlformats-officedocument.presentationml.notesSlide+xml"/>
  <Override PartName="/ppt/comments/modernComment_7FFFFECB_62ABD351.xml" ContentType="application/vnd.ms-powerpoint.comments+xml"/>
  <Override PartName="/ppt/charts/chart22.xml" ContentType="application/vnd.openxmlformats-officedocument.drawingml.chart+xml"/>
  <Override PartName="/ppt/notesSlides/notesSlide17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18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25.xml" ContentType="application/vnd.openxmlformats-officedocument.drawingml.chart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22.xml" ContentType="application/vnd.openxmlformats-officedocument.presentationml.notesSlide+xml"/>
  <Override PartName="/ppt/charts/chartEx1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Ex2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28.xml" ContentType="application/vnd.openxmlformats-officedocument.drawingml.chart+xml"/>
  <Override PartName="/ppt/drawings/drawing3.xml" ContentType="application/vnd.openxmlformats-officedocument.drawingml.chartshapes+xml"/>
  <Override PartName="/ppt/charts/chart29.xml" ContentType="application/vnd.openxmlformats-officedocument.drawingml.chart+xml"/>
  <Override PartName="/ppt/notesSlides/notesSlide24.xml" ContentType="application/vnd.openxmlformats-officedocument.presentationml.notesSlide+xml"/>
  <Override PartName="/ppt/charts/chart30.xml" ContentType="application/vnd.openxmlformats-officedocument.drawingml.chart+xml"/>
  <Override PartName="/ppt/notesSlides/notesSlide25.xml" ContentType="application/vnd.openxmlformats-officedocument.presentationml.notesSlide+xml"/>
  <Override PartName="/ppt/charts/chart31.xml" ContentType="application/vnd.openxmlformats-officedocument.drawingml.chart+xml"/>
  <Override PartName="/ppt/tags/tag115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32.xml" ContentType="application/vnd.openxmlformats-officedocument.drawingml.chart+xml"/>
  <Override PartName="/ppt/tags/tag116.xml" ContentType="application/vnd.openxmlformats-officedocument.presentationml.tags+xml"/>
  <Override PartName="/ppt/notesSlides/notesSlide27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28.xml" ContentType="application/vnd.openxmlformats-officedocument.presentationml.notesSlide+xml"/>
  <Override PartName="/ppt/charts/chart35.xml" ContentType="application/vnd.openxmlformats-officedocument.drawingml.chart+xml"/>
  <Override PartName="/ppt/drawings/drawing4.xml" ContentType="application/vnd.openxmlformats-officedocument.drawingml.chartshape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29.xml" ContentType="application/vnd.openxmlformats-officedocument.presentationml.notesSlide+xml"/>
  <Override PartName="/ppt/charts/chart3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37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38.xml" ContentType="application/vnd.openxmlformats-officedocument.drawingml.chart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30.xml" ContentType="application/vnd.openxmlformats-officedocument.presentationml.notesSlide+xml"/>
  <Override PartName="/ppt/charts/chart39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4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31.xml" ContentType="application/vnd.openxmlformats-officedocument.presentationml.notesSlide+xml"/>
  <Override PartName="/ppt/charts/chart41.xml" ContentType="application/vnd.openxmlformats-officedocument.drawingml.chart+xml"/>
  <Override PartName="/ppt/drawings/drawing5.xml" ContentType="application/vnd.openxmlformats-officedocument.drawingml.chartshape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32.xml" ContentType="application/vnd.openxmlformats-officedocument.presentationml.notesSlide+xml"/>
  <Override PartName="/ppt/charts/chart42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43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33.xml" ContentType="application/vnd.openxmlformats-officedocument.presentationml.notesSlide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34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35.xml" ContentType="application/vnd.openxmlformats-officedocument.presentationml.notesSlide+xml"/>
  <Override PartName="/ppt/charts/chart49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5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5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5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36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37.xml" ContentType="application/vnd.openxmlformats-officedocument.presentationml.notesSlide+xml"/>
  <Override PartName="/ppt/charts/chart5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58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59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60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61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62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notesSlides/notesSlide38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39.xml" ContentType="application/vnd.openxmlformats-officedocument.presentationml.notesSlide+xml"/>
  <Override PartName="/ppt/charts/chart63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64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65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66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67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68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69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70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71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72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40.xml" ContentType="application/vnd.openxmlformats-officedocument.presentationml.notesSlide+xml"/>
  <Override PartName="/ppt/charts/chart73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74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75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76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77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78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79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80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81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82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41.xml" ContentType="application/vnd.openxmlformats-officedocument.presentationml.notesSlide+xml"/>
  <Override PartName="/ppt/charts/chart83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84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85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86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87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88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89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90.xml" ContentType="application/vnd.openxmlformats-officedocument.drawingml.chart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42.xml" ContentType="application/vnd.openxmlformats-officedocument.presentationml.notesSlide+xml"/>
  <Override PartName="/ppt/charts/chart91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drawings/drawing6.xml" ContentType="application/vnd.openxmlformats-officedocument.drawingml.chartshapes+xml"/>
  <Override PartName="/ppt/charts/chart92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drawings/drawing7.xml" ContentType="application/vnd.openxmlformats-officedocument.drawingml.chartshapes+xml"/>
  <Override PartName="/ppt/charts/chart93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drawings/drawing8.xml" ContentType="application/vnd.openxmlformats-officedocument.drawingml.chartshapes+xml"/>
  <Override PartName="/ppt/charts/chart94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drawings/drawing9.xml" ContentType="application/vnd.openxmlformats-officedocument.drawingml.chartshape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43.xml" ContentType="application/vnd.openxmlformats-officedocument.presentationml.notesSlide+xml"/>
  <Override PartName="/ppt/charts/chart95.xml" ContentType="application/vnd.openxmlformats-officedocument.drawingml.chart+xml"/>
  <Override PartName="/ppt/tags/tag219.xml" ContentType="application/vnd.openxmlformats-officedocument.presentationml.tags+xml"/>
  <Override PartName="/ppt/notesSlides/notesSlide44.xml" ContentType="application/vnd.openxmlformats-officedocument.presentationml.notesSlide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notesSlides/notesSlide45.xml" ContentType="application/vnd.openxmlformats-officedocument.presentationml.notesSlide+xml"/>
  <Override PartName="/ppt/charts/chart96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97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drawings/drawing10.xml" ContentType="application/vnd.openxmlformats-officedocument.drawingml.chartshape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notesSlides/notesSlide46.xml" ContentType="application/vnd.openxmlformats-officedocument.presentationml.notesSlide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charts/chart100.xml" ContentType="application/vnd.openxmlformats-officedocument.drawingml.chart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notesSlides/notesSlide47.xml" ContentType="application/vnd.openxmlformats-officedocument.presentationml.notesSlide+xml"/>
  <Override PartName="/ppt/charts/chart101.xml" ContentType="application/vnd.openxmlformats-officedocument.drawingml.chart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notesSlides/notesSlide48.xml" ContentType="application/vnd.openxmlformats-officedocument.presentationml.notesSlide+xml"/>
  <Override PartName="/ppt/charts/chart102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103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notesSlides/notesSlide49.xml" ContentType="application/vnd.openxmlformats-officedocument.presentationml.notesSlide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  <p:sldMasterId id="2147483866" r:id="rId5"/>
    <p:sldMasterId id="2147483914" r:id="rId6"/>
    <p:sldMasterId id="2147483963" r:id="rId7"/>
    <p:sldMasterId id="2147484155" r:id="rId8"/>
    <p:sldMasterId id="2147484161" r:id="rId9"/>
  </p:sldMasterIdLst>
  <p:notesMasterIdLst>
    <p:notesMasterId r:id="rId68"/>
  </p:notesMasterIdLst>
  <p:sldIdLst>
    <p:sldId id="2147474973" r:id="rId10"/>
    <p:sldId id="2147479123" r:id="rId11"/>
    <p:sldId id="9283" r:id="rId12"/>
    <p:sldId id="2147471785" r:id="rId13"/>
    <p:sldId id="2147475002" r:id="rId14"/>
    <p:sldId id="2147483293" r:id="rId15"/>
    <p:sldId id="2147483101" r:id="rId16"/>
    <p:sldId id="2147483360" r:id="rId17"/>
    <p:sldId id="2147483361" r:id="rId18"/>
    <p:sldId id="2147483103" r:id="rId19"/>
    <p:sldId id="2147483344" r:id="rId20"/>
    <p:sldId id="2147483236" r:id="rId21"/>
    <p:sldId id="2147483311" r:id="rId22"/>
    <p:sldId id="2147483349" r:id="rId23"/>
    <p:sldId id="2147483294" r:id="rId24"/>
    <p:sldId id="2147483363" r:id="rId25"/>
    <p:sldId id="2147483370" r:id="rId26"/>
    <p:sldId id="2147483304" r:id="rId27"/>
    <p:sldId id="2147483365" r:id="rId28"/>
    <p:sldId id="2147483339" r:id="rId29"/>
    <p:sldId id="2147483343" r:id="rId30"/>
    <p:sldId id="2147483283" r:id="rId31"/>
    <p:sldId id="2147472186" r:id="rId32"/>
    <p:sldId id="2147483340" r:id="rId33"/>
    <p:sldId id="2147483352" r:id="rId34"/>
    <p:sldId id="2147483251" r:id="rId35"/>
    <p:sldId id="2147483350" r:id="rId36"/>
    <p:sldId id="2147483358" r:id="rId37"/>
    <p:sldId id="2147483353" r:id="rId38"/>
    <p:sldId id="2147483354" r:id="rId39"/>
    <p:sldId id="2147483355" r:id="rId40"/>
    <p:sldId id="2147483356" r:id="rId41"/>
    <p:sldId id="2147483364" r:id="rId42"/>
    <p:sldId id="2147483104" r:id="rId43"/>
    <p:sldId id="2147483312" r:id="rId44"/>
    <p:sldId id="2147483357" r:id="rId45"/>
    <p:sldId id="2147483299" r:id="rId46"/>
    <p:sldId id="2147483351" r:id="rId47"/>
    <p:sldId id="2147483180" r:id="rId48"/>
    <p:sldId id="2147483318" r:id="rId49"/>
    <p:sldId id="2147483314" r:id="rId50"/>
    <p:sldId id="2147483301" r:id="rId51"/>
    <p:sldId id="2147483367" r:id="rId52"/>
    <p:sldId id="2147483174" r:id="rId53"/>
    <p:sldId id="2147483369" r:id="rId54"/>
    <p:sldId id="2147483229" r:id="rId55"/>
    <p:sldId id="2147483333" r:id="rId56"/>
    <p:sldId id="2147483332" r:id="rId57"/>
    <p:sldId id="2147483348" r:id="rId58"/>
    <p:sldId id="2147483319" r:id="rId59"/>
    <p:sldId id="2147483317" r:id="rId60"/>
    <p:sldId id="2147483346" r:id="rId61"/>
    <p:sldId id="2147483298" r:id="rId62"/>
    <p:sldId id="2147483305" r:id="rId63"/>
    <p:sldId id="2147483316" r:id="rId64"/>
    <p:sldId id="2147483309" r:id="rId65"/>
    <p:sldId id="2147483272" r:id="rId66"/>
    <p:sldId id="2147483359" r:id="rId67"/>
  </p:sldIdLst>
  <p:sldSz cx="12192000" cy="6858000"/>
  <p:notesSz cx="6858000" cy="9144000"/>
  <p:embeddedFontLst>
    <p:embeddedFont>
      <p:font typeface="Abadi" panose="020B0604020104020204" pitchFamily="34" charset="0"/>
      <p:regular r:id="rId69"/>
      <p:bold r:id="rId70"/>
      <p:italic r:id="rId71"/>
      <p:boldItalic r:id="rId72"/>
    </p:embeddedFont>
    <p:embeddedFont>
      <p:font typeface="Johnson Display" panose="020B0604020202020204" charset="0"/>
      <p:regular r:id="rId73"/>
      <p:bold r:id="rId74"/>
      <p:italic r:id="rId75"/>
      <p:boldItalic r:id="rId76"/>
    </p:embeddedFont>
    <p:embeddedFont>
      <p:font typeface="Johnson Text" panose="020B0604020202020204" charset="0"/>
      <p:regular r:id="rId77"/>
      <p:bold r:id="rId78"/>
      <p:italic r:id="rId79"/>
      <p:boldItalic r:id="rId80"/>
    </p:embeddedFont>
    <p:embeddedFont>
      <p:font typeface="Roboto" panose="02000000000000000000" pitchFamily="2" charset="0"/>
      <p:regular r:id="rId81"/>
      <p:bold r:id="rId82"/>
      <p:italic r:id="rId83"/>
      <p:boldItalic r:id="rId84"/>
    </p:embeddedFont>
    <p:embeddedFont>
      <p:font typeface="Segoe UI" panose="020B0502040204020203" pitchFamily="34" charset="0"/>
      <p:regular r:id="rId85"/>
      <p:bold r:id="rId86"/>
      <p:italic r:id="rId87"/>
      <p:boldItalic r:id="rId88"/>
    </p:embeddedFont>
    <p:embeddedFont>
      <p:font typeface="SourceSansPro-Regular" panose="020B0503030403020204" charset="0"/>
      <p:regular r:id="rId89"/>
    </p:embeddedFont>
    <p:embeddedFont>
      <p:font typeface="Verdana" panose="020B0604030504040204" pitchFamily="34" charset="0"/>
      <p:regular r:id="rId90"/>
      <p:bold r:id="rId91"/>
      <p:italic r:id="rId92"/>
      <p:boldItalic r:id="rId93"/>
    </p:embeddedFont>
  </p:embeddedFontLst>
  <p:custDataLst>
    <p:tags r:id="rId94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725724-36B1-4E9C-9F38-C17ABFDEC5BD}">
          <p14:sldIdLst>
            <p14:sldId id="2147474973"/>
            <p14:sldId id="2147479123"/>
            <p14:sldId id="9283"/>
            <p14:sldId id="2147471785"/>
            <p14:sldId id="2147475002"/>
            <p14:sldId id="2147483293"/>
            <p14:sldId id="2147483101"/>
            <p14:sldId id="2147483360"/>
            <p14:sldId id="2147483361"/>
            <p14:sldId id="2147483103"/>
          </p14:sldIdLst>
        </p14:section>
        <p14:section name="Where J&amp;J stands" id="{65134301-36CD-4884-9B7F-FB2636562A9C}">
          <p14:sldIdLst>
            <p14:sldId id="2147483344"/>
            <p14:sldId id="2147483236"/>
            <p14:sldId id="2147483311"/>
            <p14:sldId id="2147483349"/>
            <p14:sldId id="2147483294"/>
            <p14:sldId id="2147483363"/>
            <p14:sldId id="2147483370"/>
            <p14:sldId id="2147483304"/>
            <p14:sldId id="2147483365"/>
            <p14:sldId id="2147483339"/>
            <p14:sldId id="2147483343"/>
            <p14:sldId id="2147483283"/>
            <p14:sldId id="2147472186"/>
          </p14:sldIdLst>
        </p14:section>
        <p14:section name="How to drive J&amp;J High Impact" id="{4B91ACA3-AB31-44BC-A776-C0A80AC7D160}">
          <p14:sldIdLst>
            <p14:sldId id="2147483340"/>
            <p14:sldId id="2147483352"/>
            <p14:sldId id="2147483251"/>
          </p14:sldIdLst>
        </p14:section>
        <p14:section name="Where can J&amp;J team act?" id="{58ECAD61-9B99-4C78-8F0C-6CEA192FFC11}">
          <p14:sldIdLst>
            <p14:sldId id="2147483350"/>
          </p14:sldIdLst>
        </p14:section>
        <p14:section name="Key Findings –  Brand Perception &amp; Rep Visit Impact" id="{C02ECE44-BBDE-4AA2-A402-E705AE96E386}">
          <p14:sldIdLst>
            <p14:sldId id="2147483358"/>
            <p14:sldId id="2147483353"/>
            <p14:sldId id="2147483354"/>
            <p14:sldId id="2147483355"/>
            <p14:sldId id="2147483356"/>
            <p14:sldId id="2147483364"/>
          </p14:sldIdLst>
        </p14:section>
        <p14:section name="Key Findings - Non-Sales Rep Promotions" id="{52A4E8C8-A134-4566-8BBD-D66C0CE0CD5D}">
          <p14:sldIdLst>
            <p14:sldId id="2147483104"/>
            <p14:sldId id="2147483312"/>
            <p14:sldId id="2147483357"/>
            <p14:sldId id="2147483299"/>
            <p14:sldId id="2147483351"/>
            <p14:sldId id="2147483180"/>
            <p14:sldId id="2147483318"/>
            <p14:sldId id="2147483314"/>
            <p14:sldId id="2147483301"/>
            <p14:sldId id="2147483367"/>
            <p14:sldId id="2147483174"/>
            <p14:sldId id="2147483369"/>
          </p14:sldIdLst>
        </p14:section>
        <p14:section name="Appendix" id="{F788485B-2038-4DF7-A732-FC9B60D8D45E}">
          <p14:sldIdLst>
            <p14:sldId id="2147483229"/>
            <p14:sldId id="2147483333"/>
            <p14:sldId id="2147483332"/>
            <p14:sldId id="2147483348"/>
            <p14:sldId id="2147483319"/>
            <p14:sldId id="2147483317"/>
            <p14:sldId id="2147483346"/>
            <p14:sldId id="2147483298"/>
            <p14:sldId id="2147483305"/>
            <p14:sldId id="2147483316"/>
            <p14:sldId id="2147483309"/>
            <p14:sldId id="2147483272"/>
            <p14:sldId id="2147483359"/>
          </p14:sldIdLst>
        </p14:section>
      </p14:sectionLst>
    </p:ext>
    <p:ext uri="{EFAFB233-063F-42B5-8137-9DF3F51BA10A}">
      <p15:sldGuideLst xmlns:p15="http://schemas.microsoft.com/office/powerpoint/2012/main">
        <p15:guide id="1" pos="52" userDrawn="1">
          <p15:clr>
            <a:srgbClr val="A4A3A4"/>
          </p15:clr>
        </p15:guide>
        <p15:guide id="2" orient="horz" pos="27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3B5C03-E79A-9304-5639-331CC367027E}" name="Titikshya Pradhan" initials="TP" userId="S::titikshya.pradhan@zoomrx.com::0d10fcd5-3495-425b-a75a-ebd111268fb6" providerId="AD"/>
  <p188:author id="{C7E0A812-E777-D68B-00AF-0AB677866650}" name="Anna Chubaeva" initials="AC" userId="S::anna.chubaeva@zoomrx.com::cfe6bdd3-10fb-4586-98fb-cbc5e4385873" providerId="AD"/>
  <p188:author id="{71F35619-AFF2-F111-95A3-3A53662A91F7}" name="Pranay Jain" initials="PJ" userId="S::pranay.jain@zoomrx.com::350835f8-4e32-4094-aad0-b6c0017d4c4c" providerId="AD"/>
  <p188:author id="{7D590234-DFA0-F970-0F77-198FB15C2116}" name="Vinoth Rajapandian" initials="VR" userId="S::vinoth.rajapandian@zoomrx.com::cb59a650-4bc7-4838-937d-61c581d343b6" providerId="AD"/>
  <p188:author id="{C7EBEF4F-5466-7AB1-2DCC-131D4E933E65}" name="Anshu Shukla" initials="AS" userId="S::anshu.shukla@zoomrx.com::576d5df6-cb63-4970-9471-c16ad7229918" providerId="AD"/>
  <p188:author id="{E1CD1C70-F760-7DF7-541A-6D28627EF9BA}" name="Yash Rajoria" initials="YR" userId="S::yash.rajoria@zoomrx.com::29fe6244-d977-4c5b-89cf-d638f14b4a06" providerId="AD"/>
  <p188:author id="{0707AC8B-A4D3-9828-1491-0875382BDA53}" name="Akash Singh" initials="AS" userId="S::akash.singh@zoomrx.com::b05a12e5-0c4c-4fb1-b021-ecd2c560f106" providerId="AD"/>
  <p188:author id="{7C039F97-DF7D-E20F-23F0-AFF4FD78983A}" name="Aryan Rathore" initials="AR" userId="S::aryan.rathore@zoomrx.com::b56118d5-e441-493a-89d0-9ef452424683" providerId="AD"/>
  <p188:author id="{2D4FEFB9-0BB6-9026-0122-D9245A587286}" name="Mayank Gupta" initials="MG" userId="S::mayank.gupta@zoomrx.com::51394dd1-6024-4f0e-958c-528df4833663" providerId="AD"/>
  <p188:author id="{636BF2BA-DF7A-66A8-D25A-A7666F3C3630}" name="Sara Bell" initials="SB" userId="S::sara.bell@zoomrx.com::20225463-dda4-4cd8-94f8-2c0b9568c7eb" providerId="AD"/>
  <p188:author id="{240355BE-2AA2-584A-A9FD-9BD3ABEC1DBA}" name="Maloney, Christina [MCCUS]" initials="CM" userId="S::CMalon12@its.jnj.com::bbe373c4-1471-4d63-bc27-f81b8442a2e9" providerId="AD"/>
  <p188:author id="{4966F1C2-C0E5-7A4A-22DA-DBB55DBE2DDA}" name="Austino Paul" initials="AP" userId="S::austino.paul@zoomrx.com::dbbd3ec9-d4e0-45fa-8dd2-b74e50cd5dbb" providerId="AD"/>
  <p188:author id="{50F356C4-F7B8-9965-F873-06C2D740D41A}" name="Vidhya Hariharan" initials="VH" userId="S::vidhya.hariharan@zoomrx.com::6a8a1e33-2a97-4da9-b395-27b48fbbb666" providerId="AD"/>
  <p188:author id="{67C6E5D8-27F5-5A42-2B10-A86105AE1A7E}" name="Vinoth Rajapandian" initials="VR" userId="S::vinoth.rajapandian@zoomrxinc.onmicrosoft.com::cb59a650-4bc7-4838-937d-61c581d343b6" providerId="AD"/>
  <p188:author id="{76B3F5E5-DA6B-5B75-C78E-1FD83AF07C31}" name="Scott, James [JANUS]" initials="JS" userId="S::JScott46@its.jnj.com::5407a674-8920-4133-86f0-4fdbacdda6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C282"/>
    <a:srgbClr val="D86344"/>
    <a:srgbClr val="76A797"/>
    <a:srgbClr val="F75824"/>
    <a:srgbClr val="FF6A5A"/>
    <a:srgbClr val="D2F1FF"/>
    <a:srgbClr val="BFF9D9"/>
    <a:srgbClr val="7030A0"/>
    <a:srgbClr val="F3F2F0"/>
    <a:srgbClr val="DCF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E5ACF-AF8E-C3CA-DA7C-F2FF54438CCF}" v="2" dt="2026-03-10T10:49:48.9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38319" autoAdjust="0"/>
  </p:normalViewPr>
  <p:slideViewPr>
    <p:cSldViewPr snapToGrid="0">
      <p:cViewPr varScale="1">
        <p:scale>
          <a:sx n="78" d="100"/>
          <a:sy n="78" d="100"/>
        </p:scale>
        <p:origin x="5" y="115"/>
      </p:cViewPr>
      <p:guideLst>
        <p:guide pos="52"/>
        <p:guide orient="horz"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notesMaster" Target="notesMasters/notesMaster1.xml"/><Relationship Id="rId84" Type="http://schemas.openxmlformats.org/officeDocument/2006/relationships/font" Target="fonts/font16.fntdata"/><Relationship Id="rId89" Type="http://schemas.openxmlformats.org/officeDocument/2006/relationships/font" Target="fonts/font21.fntdata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Master" Target="slideMasters/slideMaster2.xml"/><Relationship Id="rId90" Type="http://schemas.openxmlformats.org/officeDocument/2006/relationships/font" Target="fonts/font22.fntdata"/><Relationship Id="rId95" Type="http://schemas.openxmlformats.org/officeDocument/2006/relationships/presProps" Target="presProps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font" Target="fonts/font1.fntdata"/><Relationship Id="rId80" Type="http://schemas.openxmlformats.org/officeDocument/2006/relationships/font" Target="fonts/font12.fntdata"/><Relationship Id="rId85" Type="http://schemas.openxmlformats.org/officeDocument/2006/relationships/font" Target="fonts/font17.fntdata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font" Target="fonts/font15.fntdata"/><Relationship Id="rId88" Type="http://schemas.openxmlformats.org/officeDocument/2006/relationships/font" Target="fonts/font20.fntdata"/><Relationship Id="rId91" Type="http://schemas.openxmlformats.org/officeDocument/2006/relationships/font" Target="fonts/font23.fntdata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font" Target="fonts/font13.fntdata"/><Relationship Id="rId86" Type="http://schemas.openxmlformats.org/officeDocument/2006/relationships/font" Target="fonts/font18.fntdata"/><Relationship Id="rId94" Type="http://schemas.openxmlformats.org/officeDocument/2006/relationships/tags" Target="tags/tag1.xml"/><Relationship Id="rId99" Type="http://schemas.microsoft.com/office/2016/11/relationships/changesInfo" Target="changesInfos/changesInfo1.xml"/><Relationship Id="rId10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font" Target="fonts/font8.fntdata"/><Relationship Id="rId97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71" Type="http://schemas.openxmlformats.org/officeDocument/2006/relationships/font" Target="fonts/font3.fntdata"/><Relationship Id="rId92" Type="http://schemas.openxmlformats.org/officeDocument/2006/relationships/font" Target="fonts/font24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font" Target="fonts/font19.fntdata"/><Relationship Id="rId61" Type="http://schemas.openxmlformats.org/officeDocument/2006/relationships/slide" Target="slides/slide52.xml"/><Relationship Id="rId82" Type="http://schemas.openxmlformats.org/officeDocument/2006/relationships/font" Target="fonts/font14.fntdata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font" Target="fonts/font9.fntdata"/><Relationship Id="rId100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font" Target="fonts/font4.fntdata"/><Relationship Id="rId93" Type="http://schemas.openxmlformats.org/officeDocument/2006/relationships/font" Target="fonts/font25.fntdata"/><Relationship Id="rId98" Type="http://schemas.openxmlformats.org/officeDocument/2006/relationships/tableStyles" Target="tableStyle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oth Rajapandian" userId="S::vinoth.rajapandian@zoomrx.com::cb59a650-4bc7-4838-937d-61c581d343b6" providerId="AD" clId="Web-{23D8FC4E-C916-6A1C-F54B-F5B91F5EBBC0}"/>
    <pc:docChg chg="modSld">
      <pc:chgData name="Vinoth Rajapandian" userId="S::vinoth.rajapandian@zoomrx.com::cb59a650-4bc7-4838-937d-61c581d343b6" providerId="AD" clId="Web-{23D8FC4E-C916-6A1C-F54B-F5B91F5EBBC0}" dt="2026-02-20T16:59:00.411" v="41"/>
      <pc:docMkLst>
        <pc:docMk/>
      </pc:docMkLst>
      <pc:sldChg chg="modSp">
        <pc:chgData name="Vinoth Rajapandian" userId="S::vinoth.rajapandian@zoomrx.com::cb59a650-4bc7-4838-937d-61c581d343b6" providerId="AD" clId="Web-{23D8FC4E-C916-6A1C-F54B-F5B91F5EBBC0}" dt="2026-02-20T16:58:12.427" v="5"/>
        <pc:sldMkLst>
          <pc:docMk/>
          <pc:sldMk cId="2814846628" sldId="2147472186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12.427" v="5"/>
          <ac:graphicFrameMkLst>
            <pc:docMk/>
            <pc:sldMk cId="2814846628" sldId="2147472186"/>
            <ac:graphicFrameMk id="4" creationId="{1A84D595-8483-FAE4-3182-88293838D3A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4.521" v="9"/>
        <pc:sldMkLst>
          <pc:docMk/>
          <pc:sldMk cId="458286755" sldId="214748329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2.177" v="7"/>
          <ac:graphicFrameMkLst>
            <pc:docMk/>
            <pc:sldMk cId="458286755" sldId="2147483299"/>
            <ac:graphicFrameMk id="2" creationId="{FFF7B567-5B52-2CA7-C75A-968040000706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4.521" v="9"/>
          <ac:graphicFrameMkLst>
            <pc:docMk/>
            <pc:sldMk cId="458286755" sldId="2147483299"/>
            <ac:graphicFrameMk id="77" creationId="{9906AF3D-C03C-5F3B-91D9-AB4E45B3722E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01.474" v="3"/>
        <pc:sldMkLst>
          <pc:docMk/>
          <pc:sldMk cId="3272488039" sldId="214748330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01.474" v="3"/>
          <ac:graphicFrameMkLst>
            <pc:docMk/>
            <pc:sldMk cId="3272488039" sldId="2147483304"/>
            <ac:graphicFrameMk id="4" creationId="{D36B65E9-0291-D682-332E-2EC719B5CB85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9:00.411" v="41"/>
        <pc:sldMkLst>
          <pc:docMk/>
          <pc:sldMk cId="181875716" sldId="214748331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6.989" v="33"/>
          <ac:graphicFrameMkLst>
            <pc:docMk/>
            <pc:sldMk cId="181875716" sldId="2147483314"/>
            <ac:graphicFrameMk id="8" creationId="{132BB4AE-5375-2E8F-78FE-9C1018A1DC8E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7.489" v="35"/>
          <ac:graphicFrameMkLst>
            <pc:docMk/>
            <pc:sldMk cId="181875716" sldId="2147483314"/>
            <ac:graphicFrameMk id="9" creationId="{739CA09F-B349-EBAA-BD8E-7A22FE2564F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255" v="37"/>
          <ac:graphicFrameMkLst>
            <pc:docMk/>
            <pc:sldMk cId="181875716" sldId="2147483314"/>
            <ac:graphicFrameMk id="10" creationId="{F8E8A0E8-001F-D7B1-C0D8-5D6BA147857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849" v="39"/>
          <ac:graphicFrameMkLst>
            <pc:docMk/>
            <pc:sldMk cId="181875716" sldId="2147483314"/>
            <ac:graphicFrameMk id="12" creationId="{DF40CE53-5793-E1BB-52BB-61C63B859AC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9:00.411" v="41"/>
          <ac:graphicFrameMkLst>
            <pc:docMk/>
            <pc:sldMk cId="181875716" sldId="2147483314"/>
            <ac:graphicFrameMk id="17" creationId="{474C442F-E70B-28B9-392A-2DC554455EF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56.489" v="31"/>
        <pc:sldMkLst>
          <pc:docMk/>
          <pc:sldMk cId="3296733540" sldId="2147483318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2.802" v="21"/>
          <ac:graphicFrameMkLst>
            <pc:docMk/>
            <pc:sldMk cId="3296733540" sldId="2147483318"/>
            <ac:graphicFrameMk id="4" creationId="{A141E383-6080-34B5-689F-64FF531ECE5A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2.411" v="19"/>
          <ac:graphicFrameMkLst>
            <pc:docMk/>
            <pc:sldMk cId="3296733540" sldId="2147483318"/>
            <ac:graphicFrameMk id="5" creationId="{098D2E3F-0E64-ACDF-7452-7C3D82E2A46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193" v="29"/>
          <ac:graphicFrameMkLst>
            <pc:docMk/>
            <pc:sldMk cId="3296733540" sldId="2147483318"/>
            <ac:graphicFrameMk id="12" creationId="{5F9B21D4-EEF5-1316-4CF5-6972F2F024E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489" v="31"/>
          <ac:graphicFrameMkLst>
            <pc:docMk/>
            <pc:sldMk cId="3296733540" sldId="2147483318"/>
            <ac:graphicFrameMk id="13" creationId="{5DF55041-5E7D-A820-C52A-852342EB624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3.224" v="23"/>
          <ac:graphicFrameMkLst>
            <pc:docMk/>
            <pc:sldMk cId="3296733540" sldId="2147483318"/>
            <ac:graphicFrameMk id="16" creationId="{1E924840-81C9-400B-7970-70E876364ADF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318" v="25"/>
          <ac:graphicFrameMkLst>
            <pc:docMk/>
            <pc:sldMk cId="3296733540" sldId="2147483318"/>
            <ac:graphicFrameMk id="21" creationId="{E1B08638-338D-836A-81FE-33133BA8699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646" v="27"/>
          <ac:graphicFrameMkLst>
            <pc:docMk/>
            <pc:sldMk cId="3296733540" sldId="2147483318"/>
            <ac:graphicFrameMk id="33" creationId="{CE990F57-ABF0-98B2-DA07-9B22214C5BE3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7:42.552" v="1"/>
        <pc:sldMkLst>
          <pc:docMk/>
          <pc:sldMk cId="4191505788" sldId="214748334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7:42.552" v="1"/>
          <ac:graphicFrameMkLst>
            <pc:docMk/>
            <pc:sldMk cId="4191505788" sldId="2147483349"/>
            <ac:graphicFrameMk id="16" creationId="{689FC9F5-2DBD-3B32-FABA-FF7D87B35070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8.552" v="17"/>
        <pc:sldMkLst>
          <pc:docMk/>
          <pc:sldMk cId="1738277211" sldId="2147483351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7.833" v="13"/>
          <ac:graphicFrameMkLst>
            <pc:docMk/>
            <pc:sldMk cId="1738277211" sldId="2147483351"/>
            <ac:graphicFrameMk id="4" creationId="{79F5701D-D439-1D21-4BDD-29CEF93AE58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7.646" v="11"/>
          <ac:graphicFrameMkLst>
            <pc:docMk/>
            <pc:sldMk cId="1738277211" sldId="2147483351"/>
            <ac:graphicFrameMk id="5" creationId="{05F76C20-CB59-2AE4-CEDC-B79D6BA0F90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318" v="15"/>
          <ac:graphicFrameMkLst>
            <pc:docMk/>
            <pc:sldMk cId="1738277211" sldId="2147483351"/>
            <ac:graphicFrameMk id="26" creationId="{FBE58843-8078-6F19-75EA-3C5DE63F355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552" v="17"/>
          <ac:graphicFrameMkLst>
            <pc:docMk/>
            <pc:sldMk cId="1738277211" sldId="2147483351"/>
            <ac:graphicFrameMk id="33" creationId="{5B36F4CF-E812-1139-9A41-532F08E7F458}"/>
          </ac:graphicFrameMkLst>
        </pc:graphicFrameChg>
      </pc:sldChg>
    </pc:docChg>
  </pc:docChgLst>
  <pc:docChgLst>
    <pc:chgData name="Rajeshkumar Animuthu" userId="S::rajeshkumar.animuthu@zoomrx.com::94c6a675-1e07-4fc2-a2a5-6fafff732d25" providerId="AD" clId="Web-{B27E5ACF-AF8E-C3CA-DA7C-F2FF54438CCF}"/>
    <pc:docChg chg="modSld">
      <pc:chgData name="Rajeshkumar Animuthu" userId="S::rajeshkumar.animuthu@zoomrx.com::94c6a675-1e07-4fc2-a2a5-6fafff732d25" providerId="AD" clId="Web-{B27E5ACF-AF8E-C3CA-DA7C-F2FF54438CCF}" dt="2026-03-10T10:49:48.999" v="1"/>
      <pc:docMkLst>
        <pc:docMk/>
      </pc:docMkLst>
      <pc:sldChg chg="modSp">
        <pc:chgData name="Rajeshkumar Animuthu" userId="S::rajeshkumar.animuthu@zoomrx.com::94c6a675-1e07-4fc2-a2a5-6fafff732d25" providerId="AD" clId="Web-{B27E5ACF-AF8E-C3CA-DA7C-F2FF54438CCF}" dt="2026-03-10T10:49:48.999" v="1"/>
        <pc:sldMkLst>
          <pc:docMk/>
          <pc:sldMk cId="2657569506" sldId="2147483174"/>
        </pc:sldMkLst>
        <pc:graphicFrameChg chg="modGraphic">
          <ac:chgData name="Rajeshkumar Animuthu" userId="S::rajeshkumar.animuthu@zoomrx.com::94c6a675-1e07-4fc2-a2a5-6fafff732d25" providerId="AD" clId="Web-{B27E5ACF-AF8E-C3CA-DA7C-F2FF54438CCF}" dt="2026-03-10T10:49:48.999" v="1"/>
          <ac:graphicFrameMkLst>
            <pc:docMk/>
            <pc:sldMk cId="2657569506" sldId="2147483174"/>
            <ac:graphicFrameMk id="19" creationId="{F284EF40-5567-D4E3-2B3B-D34C62FBF28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2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9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36.xlsx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4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Microsoft_Excel_Worksheet42.xlsx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9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0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1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2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3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4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5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6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7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8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9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8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0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9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2.xlsx"/><Relationship Id="rId2" Type="http://schemas.microsoft.com/office/2011/relationships/chartColorStyle" Target="colors59.xml"/><Relationship Id="rId1" Type="http://schemas.microsoft.com/office/2011/relationships/chartStyle" Target="style59.xml"/><Relationship Id="rId4" Type="http://schemas.openxmlformats.org/officeDocument/2006/relationships/chartUserShapes" Target="../drawings/drawing6.xml"/></Relationships>
</file>

<file path=ppt/charts/_rels/chart9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3.xlsx"/><Relationship Id="rId2" Type="http://schemas.microsoft.com/office/2011/relationships/chartColorStyle" Target="colors60.xml"/><Relationship Id="rId1" Type="http://schemas.microsoft.com/office/2011/relationships/chartStyle" Target="style60.xml"/><Relationship Id="rId4" Type="http://schemas.openxmlformats.org/officeDocument/2006/relationships/chartUserShapes" Target="../drawings/drawing7.xml"/></Relationships>
</file>

<file path=ppt/charts/_rels/chart9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4.xlsx"/><Relationship Id="rId2" Type="http://schemas.microsoft.com/office/2011/relationships/chartColorStyle" Target="colors61.xml"/><Relationship Id="rId1" Type="http://schemas.microsoft.com/office/2011/relationships/chartStyle" Target="style61.xml"/><Relationship Id="rId4" Type="http://schemas.openxmlformats.org/officeDocument/2006/relationships/chartUserShapes" Target="../drawings/drawing8.xml"/></Relationships>
</file>

<file path=ppt/charts/_rels/chart9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5.xlsx"/><Relationship Id="rId2" Type="http://schemas.microsoft.com/office/2011/relationships/chartColorStyle" Target="colors62.xml"/><Relationship Id="rId1" Type="http://schemas.microsoft.com/office/2011/relationships/chartStyle" Target="style62.xml"/><Relationship Id="rId4" Type="http://schemas.openxmlformats.org/officeDocument/2006/relationships/chartUserShapes" Target="../drawings/drawing9.xml"/></Relationships>
</file>

<file path=ppt/charts/_rels/chart9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_rels/chart9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7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9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8.xlsx"/><Relationship Id="rId2" Type="http://schemas.microsoft.com/office/2011/relationships/chartColorStyle" Target="colors64.xml"/><Relationship Id="rId1" Type="http://schemas.microsoft.com/office/2011/relationships/chartStyle" Target="style64.xml"/><Relationship Id="rId4" Type="http://schemas.openxmlformats.org/officeDocument/2006/relationships/chartUserShapes" Target="../drawings/drawing10.xml"/></Relationships>
</file>

<file path=ppt/charts/_rels/chart9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_rels/chart9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_rels/chart10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_rels/chart10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_rels/chart10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3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10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4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10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_rels/chart10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Microsoft_Excel_Worksheet27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Microsoft_Excel_Work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780542176590258E-2"/>
          <c:y val="0"/>
          <c:w val="0.96043891564681949"/>
          <c:h val="1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Medical Oncology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993412698412702"/>
                      <c:h val="0.149369939707149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4BC1-4B3D-847B-099163A27B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Q2'25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C1-4B3D-847B-099163A27B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Hematologic Oncology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C1-4B3D-847B-099163A27BF1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C1-4B3D-847B-099163A27BF1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BC1-4B3D-847B-099163A27BF1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BC1-4B3D-847B-099163A27BF1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BC1-4B3D-847B-099163A27BF1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993412698412702"/>
                      <c:h val="0.149369939707149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BC1-4B3D-847B-099163A27B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Q2'25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BC1-4B3D-847B-099163A27BF1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Ims</c:v>
                </c:pt>
              </c:strCache>
            </c:strRef>
          </c:tx>
          <c:spPr>
            <a:solidFill>
              <a:srgbClr val="25390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BC1-4B3D-847B-099163A27BF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4BC1-4B3D-847B-099163A27BF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BC1-4B3D-847B-099163A27BF1}"/>
              </c:ext>
            </c:extLst>
          </c:dPt>
          <c:dPt>
            <c:idx val="4"/>
            <c:invertIfNegative val="0"/>
            <c:bubble3D val="0"/>
            <c:spPr>
              <a:solidFill>
                <a:srgbClr val="25390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BC1-4B3D-847B-099163A27BF1}"/>
              </c:ext>
            </c:extLst>
          </c:dPt>
          <c:dPt>
            <c:idx val="5"/>
            <c:invertIfNegative val="0"/>
            <c:bubble3D val="0"/>
            <c:spPr>
              <a:solidFill>
                <a:srgbClr val="25390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BC1-4B3D-847B-099163A27BF1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Q2'25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BC1-4B3D-847B-099163A27BF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650410608"/>
        <c:axId val="650411024"/>
      </c:barChart>
      <c:catAx>
        <c:axId val="6504106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50411024"/>
        <c:crosses val="autoZero"/>
        <c:auto val="1"/>
        <c:lblAlgn val="ctr"/>
        <c:lblOffset val="100"/>
        <c:noMultiLvlLbl val="0"/>
      </c:catAx>
      <c:valAx>
        <c:axId val="650411024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65041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780542176590258E-2"/>
          <c:y val="0"/>
          <c:w val="0.96043891564681949"/>
          <c:h val="1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Medical Oncology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1A-4520-A4C5-5DF7657D62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Hematology Oncology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81A-4520-A4C5-5DF7657D629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81A-4520-A4C5-5DF7657D629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81A-4520-A4C5-5DF7657D629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81A-4520-A4C5-5DF7657D629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81A-4520-A4C5-5DF7657D629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81A-4520-A4C5-5DF7657D6297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Ims</c:v>
                </c:pt>
              </c:strCache>
            </c:strRef>
          </c:tx>
          <c:spPr>
            <a:solidFill>
              <a:srgbClr val="25390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81A-4520-A4C5-5DF7657D629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A81A-4520-A4C5-5DF7657D629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81A-4520-A4C5-5DF7657D629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81A-4520-A4C5-5DF7657D629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A81A-4520-A4C5-5DF7657D6297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81A-4520-A4C5-5DF7657D62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650410608"/>
        <c:axId val="650411024"/>
      </c:barChart>
      <c:catAx>
        <c:axId val="6504106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50411024"/>
        <c:crosses val="autoZero"/>
        <c:auto val="1"/>
        <c:lblAlgn val="ctr"/>
        <c:lblOffset val="100"/>
        <c:noMultiLvlLbl val="0"/>
      </c:catAx>
      <c:valAx>
        <c:axId val="650411024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65041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85418098510882"/>
          <c:h val="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SOUTHEAST</c:v>
                </c:pt>
              </c:strCache>
            </c:strRef>
          </c:tx>
          <c:spPr>
            <a:solidFill>
              <a:srgbClr val="CC33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4EE-4E15-AE3D-BC4BD6E5ACA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4EE-4E15-AE3D-BC4BD6E5ACA1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4EE-4E15-AE3D-BC4BD6E5AC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Q2'25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EE-4E15-AE3D-BC4BD6E5ACA1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E085C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046792668957618"/>
                      <c:h val="0.1716791652474639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B4EE-4E15-AE3D-BC4BD6E5AC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Q2'25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4EE-4E15-AE3D-BC4BD6E5ACA1}"/>
            </c:ext>
          </c:extLst>
        </c:ser>
        <c:ser>
          <c:idx val="1"/>
          <c:order val="2"/>
          <c:tx>
            <c:strRef>
              <c:f>Sheet1!$C$1</c:f>
              <c:strCache>
                <c:ptCount val="1"/>
                <c:pt idx="0">
                  <c:v>NORTHEAST</c:v>
                </c:pt>
              </c:strCache>
            </c:strRef>
          </c:tx>
          <c:spPr>
            <a:solidFill>
              <a:srgbClr val="F5D6EB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7445589919815"/>
                      <c:h val="0.1716791652474639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4EE-4E15-AE3D-BC4BD6E5AC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Q2'25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EE-4E15-AE3D-BC4BD6E5AC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4648568"/>
        <c:axId val="514646328"/>
      </c:barChart>
      <c:catAx>
        <c:axId val="5146485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4646328"/>
        <c:crosses val="autoZero"/>
        <c:auto val="1"/>
        <c:lblAlgn val="ctr"/>
        <c:lblOffset val="100"/>
        <c:noMultiLvlLbl val="0"/>
      </c:catAx>
      <c:valAx>
        <c:axId val="514646328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514648568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57966485810357E-3"/>
          <c:y val="0"/>
          <c:w val="0.9985418098510882"/>
          <c:h val="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SOUTHEAST</c:v>
                </c:pt>
              </c:strCache>
            </c:strRef>
          </c:tx>
          <c:spPr>
            <a:solidFill>
              <a:srgbClr val="CC33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88-4AB2-BC7B-60FB348D9E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F88-4AB2-BC7B-60FB348D9E4F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88-4AB2-BC7B-60FB348D9E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88-4AB2-BC7B-60FB348D9E4F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E085C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046792668957618"/>
                      <c:h val="0.1716791652474639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B59-4330-A6B7-0C2547111F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E59-4B1C-A298-A86F2FA64263}"/>
            </c:ext>
          </c:extLst>
        </c:ser>
        <c:ser>
          <c:idx val="1"/>
          <c:order val="2"/>
          <c:tx>
            <c:strRef>
              <c:f>Sheet1!$C$1</c:f>
              <c:strCache>
                <c:ptCount val="1"/>
                <c:pt idx="0">
                  <c:v>NORTHEAST</c:v>
                </c:pt>
              </c:strCache>
            </c:strRef>
          </c:tx>
          <c:spPr>
            <a:solidFill>
              <a:srgbClr val="F5D6EB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7445589919815"/>
                      <c:h val="0.1716791652474639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B59-4330-A6B7-0C2547111F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0E59-4B1C-A298-A86F2FA6426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4648568"/>
        <c:axId val="514646328"/>
      </c:barChart>
      <c:catAx>
        <c:axId val="5146485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4646328"/>
        <c:crosses val="autoZero"/>
        <c:auto val="1"/>
        <c:lblAlgn val="ctr"/>
        <c:lblOffset val="100"/>
        <c:noMultiLvlLbl val="0"/>
      </c:catAx>
      <c:valAx>
        <c:axId val="514646328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514648568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7762697711471E-2"/>
          <c:y val="0"/>
          <c:w val="0.95884288647216309"/>
          <c:h val="1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Commuity</c:v>
                </c:pt>
              </c:strCache>
            </c:strRef>
          </c:tx>
          <c:spPr>
            <a:solidFill>
              <a:srgbClr val="1F698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03-438A-97B8-A8177B1FA37B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Academic</c:v>
                </c:pt>
              </c:strCache>
            </c:strRef>
          </c:tx>
          <c:spPr>
            <a:solidFill>
              <a:srgbClr val="77BEE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003-438A-97B8-A8177B1FA37B}"/>
              </c:ext>
            </c:extLst>
          </c:dPt>
          <c:dLbls>
            <c:dLbl>
              <c:idx val="1"/>
              <c:layout>
                <c:manualLayout>
                  <c:x val="6.6196912947709451E-3"/>
                  <c:y val="-5.822165396257952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413858273298045"/>
                      <c:h val="0.1660481571012767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003-438A-97B8-A8177B1FA37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03-438A-97B8-A8177B1FA3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09901312"/>
        <c:axId val="809906408"/>
      </c:barChart>
      <c:catAx>
        <c:axId val="8099013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809906408"/>
        <c:crosses val="autoZero"/>
        <c:auto val="1"/>
        <c:lblAlgn val="ctr"/>
        <c:lblOffset val="100"/>
        <c:noMultiLvlLbl val="0"/>
      </c:catAx>
      <c:valAx>
        <c:axId val="809906408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80990131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7762697711471E-2"/>
          <c:y val="0"/>
          <c:w val="0.95884288647216309"/>
          <c:h val="1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Community</c:v>
                </c:pt>
              </c:strCache>
            </c:strRef>
          </c:tx>
          <c:spPr>
            <a:solidFill>
              <a:srgbClr val="1F698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C-45C5-A425-E75077C55758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Academic</c:v>
                </c:pt>
              </c:strCache>
            </c:strRef>
          </c:tx>
          <c:spPr>
            <a:solidFill>
              <a:srgbClr val="77BEE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FDC-45C5-A425-E75077C55758}"/>
              </c:ext>
            </c:extLst>
          </c:dPt>
          <c:dLbls>
            <c:dLbl>
              <c:idx val="1"/>
              <c:layout>
                <c:manualLayout>
                  <c:x val="6.6196912947709451E-3"/>
                  <c:y val="-5.822165396257952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413858273298045"/>
                      <c:h val="0.1660481571012767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FDC-45C5-A425-E75077C557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Q3'25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C-45C5-A425-E75077C557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09901312"/>
        <c:axId val="809906408"/>
      </c:barChart>
      <c:catAx>
        <c:axId val="8099013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809906408"/>
        <c:crosses val="autoZero"/>
        <c:auto val="1"/>
        <c:lblAlgn val="ctr"/>
        <c:lblOffset val="100"/>
        <c:noMultiLvlLbl val="0"/>
      </c:catAx>
      <c:valAx>
        <c:axId val="809906408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80990131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667714541685205E-2"/>
          <c:y val="8.2239999999999994E-2"/>
          <c:w val="0.98216470669943157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RYBREVANT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5448293303909033E-2"/>
                  <c:y val="2.822222222222222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D1-479B-9C4C-E7EECEC54E06}"/>
                </c:ext>
              </c:extLst>
            </c:dLbl>
            <c:dLbl>
              <c:idx val="1"/>
              <c:layout>
                <c:manualLayout>
                  <c:x val="-2.9307993447372522E-2"/>
                  <c:y val="0.1835366666666666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0D5-4C42-8A4D-7D149FB5E7B4}"/>
                </c:ext>
              </c:extLst>
            </c:dLbl>
            <c:dLbl>
              <c:idx val="2"/>
              <c:layout>
                <c:manualLayout>
                  <c:x val="-2.6140424563972919E-2"/>
                  <c:y val="0.1745444444444444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BD1-479B-9C4C-E7EECEC54E06}"/>
                </c:ext>
              </c:extLst>
            </c:dLbl>
            <c:dLbl>
              <c:idx val="3"/>
              <c:layout>
                <c:manualLayout>
                  <c:x val="-2.6140424563972919E-2"/>
                  <c:y val="0.2099733333333332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B9-4757-811F-BBD13D70E952}"/>
                </c:ext>
              </c:extLst>
            </c:dLbl>
            <c:dLbl>
              <c:idx val="4"/>
              <c:layout>
                <c:manualLayout>
                  <c:x val="-1.1614285069919449E-16"/>
                  <c:y val="-0.155222222222222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A8-4A4B-86A4-A761178B73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0.59</c:v>
                </c:pt>
                <c:pt idx="1">
                  <c:v>0.55000000000000004</c:v>
                </c:pt>
                <c:pt idx="2">
                  <c:v>0.53</c:v>
                </c:pt>
                <c:pt idx="3">
                  <c:v>0.56999999999999995</c:v>
                </c:pt>
                <c:pt idx="4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BD1-479B-9C4C-E7EECEC54E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 + Chemo</c:v>
                </c:pt>
              </c:strCache>
            </c:strRef>
          </c:tx>
          <c:spPr>
            <a:ln w="28575" cap="rnd">
              <a:solidFill>
                <a:srgbClr val="3B868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B8686"/>
              </a:solidFill>
              <a:ln w="9525">
                <a:solidFill>
                  <a:srgbClr val="3B8686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7816113397968369E-2"/>
                  <c:y val="-0.1835855555555555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B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BD1-479B-9C4C-E7EECEC54E06}"/>
                </c:ext>
              </c:extLst>
            </c:dLbl>
            <c:dLbl>
              <c:idx val="1"/>
              <c:layout>
                <c:manualLayout>
                  <c:x val="-4.9897191189469503E-2"/>
                  <c:y val="-0.2305511111111111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B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BD1-479B-9C4C-E7EECEC54E06}"/>
                </c:ext>
              </c:extLst>
            </c:dLbl>
            <c:dLbl>
              <c:idx val="2"/>
              <c:layout>
                <c:manualLayout>
                  <c:x val="-1.0302580146975254E-2"/>
                  <c:y val="-0.1450577777777777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B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BD1-479B-9C4C-E7EECEC54E06}"/>
                </c:ext>
              </c:extLst>
            </c:dLbl>
            <c:dLbl>
              <c:idx val="3"/>
              <c:layout>
                <c:manualLayout>
                  <c:x val="-5.5512268218758792E-3"/>
                  <c:y val="-0.1720344444444444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B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BD1-479B-9C4C-E7EECEC54E06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B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A8-4A4B-86A4-A761178B73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3B8686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0.59</c:v>
                </c:pt>
                <c:pt idx="1">
                  <c:v>0.61</c:v>
                </c:pt>
                <c:pt idx="2">
                  <c:v>0.6</c:v>
                </c:pt>
                <c:pt idx="3">
                  <c:v>0.57999999999999996</c:v>
                </c:pt>
                <c:pt idx="4">
                  <c:v>0.57999999999999996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ABD1-479B-9C4C-E7EECEC54E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TAG Mono</c:v>
                </c:pt>
              </c:strCache>
            </c:strRef>
          </c:tx>
          <c:spPr>
            <a:ln w="28575" cap="rnd">
              <a:solidFill>
                <a:srgbClr val="0B486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B486B"/>
              </a:solidFill>
              <a:ln w="9525">
                <a:solidFill>
                  <a:srgbClr val="0B486B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5448293303909033E-2"/>
                  <c:y val="0.1693333333333333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EE-4EC1-9564-85E4D4C4874F}"/>
                </c:ext>
              </c:extLst>
            </c:dLbl>
            <c:dLbl>
              <c:idx val="1"/>
              <c:layout>
                <c:manualLayout>
                  <c:x val="-3.9674423801761066E-3"/>
                  <c:y val="-0.1799166666666666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6EE-4EC1-9564-85E4D4C4874F}"/>
                </c:ext>
              </c:extLst>
            </c:dLbl>
            <c:dLbl>
              <c:idx val="2"/>
              <c:layout>
                <c:manualLayout>
                  <c:x val="-4.8238208163648141E-2"/>
                  <c:y val="-0.1788466666666666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EE-4EC1-9564-85E4D4C4874F}"/>
                </c:ext>
              </c:extLst>
            </c:dLbl>
            <c:dLbl>
              <c:idx val="3"/>
              <c:layout>
                <c:manualLayout>
                  <c:x val="-5.9324699255546606E-2"/>
                  <c:y val="-0.2319766666666666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6EE-4EC1-9564-85E4D4C4874F}"/>
                </c:ext>
              </c:extLst>
            </c:dLbl>
            <c:dLbl>
              <c:idx val="4"/>
              <c:layout>
                <c:manualLayout>
                  <c:x val="-1.1614285069919449E-16"/>
                  <c:y val="0.1975555555555556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EE-4EC1-9564-85E4D4C487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B486B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0.53</c:v>
                </c:pt>
                <c:pt idx="1">
                  <c:v>0.67</c:v>
                </c:pt>
                <c:pt idx="2">
                  <c:v>0.56000000000000005</c:v>
                </c:pt>
                <c:pt idx="3">
                  <c:v>0.52</c:v>
                </c:pt>
                <c:pt idx="4">
                  <c:v>0.56999999999999995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EE-4EC1-9564-85E4D4C4874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25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156532543191293E-2"/>
          <c:y val="0.12457353405396343"/>
          <c:w val="0.97036598924357875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Rybrevant - Average of reach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863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7184734513274334E-2"/>
                  <c:y val="-5.92588888888888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664-4E5F-A6BC-30D1904A85DC}"/>
                </c:ext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664-4E5F-A6BC-30D1904A85DC}"/>
                </c:ext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64-4E5F-A6BC-30D1904A85DC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664-4E5F-A6BC-30D1904A85DC}"/>
                </c:ext>
              </c:extLst>
            </c:dLbl>
            <c:dLbl>
              <c:idx val="4"/>
              <c:layout>
                <c:manualLayout>
                  <c:x val="3.1193695533073937E-3"/>
                  <c:y val="-5.6624333660892472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54%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1FC-4A9D-BC14-2391E57BF0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959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Q4'24</c:v>
                </c:pt>
                <c:pt idx="1">
                  <c:v>Q1'25</c:v>
                </c:pt>
                <c:pt idx="2">
                  <c:v>Q2'25</c:v>
                </c:pt>
                <c:pt idx="3">
                  <c:v>Q3'25</c:v>
                </c:pt>
                <c:pt idx="4">
                  <c:v>Q4'25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0.52</c:v>
                </c:pt>
                <c:pt idx="1">
                  <c:v>0.56000000000000005</c:v>
                </c:pt>
                <c:pt idx="2">
                  <c:v>0.57999999999999996</c:v>
                </c:pt>
                <c:pt idx="3">
                  <c:v>0.51</c:v>
                </c:pt>
                <c:pt idx="4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64-4E5F-A6BC-30D1904A85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Tagrisso - Average of reach</c:v>
                </c:pt>
              </c:strCache>
            </c:strRef>
          </c:tx>
          <c:spPr>
            <a:ln w="28575" cap="rnd">
              <a:solidFill>
                <a:srgbClr val="7030A0">
                  <a:alpha val="90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7788962635201585E-2"/>
                  <c:y val="9.81088888888888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64-4E5F-A6BC-30D1904A85DC}"/>
                </c:ext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664-4E5F-A6BC-30D1904A85DC}"/>
                </c:ext>
              </c:extLst>
            </c:dLbl>
            <c:dLbl>
              <c:idx val="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664-4E5F-A6BC-30D1904A85DC}"/>
                </c:ext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664-4E5F-A6BC-30D1904A85DC}"/>
                </c:ext>
              </c:extLst>
            </c:dLbl>
            <c:dLbl>
              <c:idx val="4"/>
              <c:layout>
                <c:manualLayout>
                  <c:x val="3.1193695533073937E-3"/>
                  <c:y val="4.5299466928713977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46%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1FC-4A9D-BC14-2391E57BF0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rgbClr val="7030A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Q4'24</c:v>
                </c:pt>
                <c:pt idx="1">
                  <c:v>Q1'25</c:v>
                </c:pt>
                <c:pt idx="2">
                  <c:v>Q2'25</c:v>
                </c:pt>
                <c:pt idx="3">
                  <c:v>Q3'25</c:v>
                </c:pt>
                <c:pt idx="4">
                  <c:v>Q4'25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0.48</c:v>
                </c:pt>
                <c:pt idx="1">
                  <c:v>0.44</c:v>
                </c:pt>
                <c:pt idx="2">
                  <c:v>0.42</c:v>
                </c:pt>
                <c:pt idx="3">
                  <c:v>0.49</c:v>
                </c:pt>
                <c:pt idx="4">
                  <c:v>0.45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664-4E5F-A6BC-30D1904A85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25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310387136833468E-2"/>
          <c:y val="9.635111111111111E-2"/>
          <c:w val="0.98268961286316658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LTIP_RYB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7446880220918706E-2"/>
                  <c:y val="0.1017311111111110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931197220821676E-2"/>
                      <c:h val="0.218722222222222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664-4E5F-A6BC-30D1904A85DC}"/>
                </c:ext>
              </c:extLst>
            </c:dLbl>
            <c:dLbl>
              <c:idx val="1"/>
              <c:layout>
                <c:manualLayout>
                  <c:x val="-5.4299475149557713E-2"/>
                  <c:y val="0.133724444444444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664-4E5F-A6BC-30D1904A85DC}"/>
                </c:ext>
              </c:extLst>
            </c:dLbl>
            <c:dLbl>
              <c:idx val="2"/>
              <c:layout>
                <c:manualLayout>
                  <c:x val="-8.6629999706331739E-3"/>
                  <c:y val="0.148307777777777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64-4E5F-A6BC-30D1904A85DC}"/>
                </c:ext>
              </c:extLst>
            </c:dLbl>
            <c:dLbl>
              <c:idx val="3"/>
              <c:layout>
                <c:manualLayout>
                  <c:x val="-2.1252372433784788E-2"/>
                  <c:y val="0.1928311111111111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664-4E5F-A6BC-30D1904A85DC}"/>
                </c:ext>
              </c:extLst>
            </c:dLbl>
            <c:dLbl>
              <c:idx val="4"/>
              <c:layout>
                <c:manualLayout>
                  <c:x val="-1.1540124778716111E-16"/>
                  <c:y val="-5.644444444444444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BEE-4639-AB51-94D9ED883E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0.63</c:v>
                </c:pt>
                <c:pt idx="1">
                  <c:v>0.65</c:v>
                </c:pt>
                <c:pt idx="2">
                  <c:v>0.63</c:v>
                </c:pt>
                <c:pt idx="3">
                  <c:v>0.66</c:v>
                </c:pt>
                <c:pt idx="4">
                  <c:v>0.71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64-4E5F-A6BC-30D1904A85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LTIP_TAG_CHEMO</c:v>
                </c:pt>
              </c:strCache>
            </c:strRef>
          </c:tx>
          <c:spPr>
            <a:ln w="28575" cap="rnd">
              <a:solidFill>
                <a:srgbClr val="3A868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A8686"/>
              </a:solidFill>
              <a:ln w="9525">
                <a:noFill/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rgbClr val="3A8686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3A868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B664-4E5F-A6BC-30D1904A85D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3A8686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3A868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B664-4E5F-A6BC-30D1904A85D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64-4E5F-A6BC-30D1904A85DC}"/>
                </c:ext>
              </c:extLst>
            </c:dLbl>
            <c:dLbl>
              <c:idx val="1"/>
              <c:layout>
                <c:manualLayout>
                  <c:x val="-2.6752416484197176E-2"/>
                  <c:y val="-0.1390966666666666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664-4E5F-A6BC-30D1904A85DC}"/>
                </c:ext>
              </c:extLst>
            </c:dLbl>
            <c:dLbl>
              <c:idx val="2"/>
              <c:layout>
                <c:manualLayout>
                  <c:x val="-2.0457730252621313E-2"/>
                  <c:y val="-0.12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664-4E5F-A6BC-30D1904A85DC}"/>
                </c:ext>
              </c:extLst>
            </c:dLbl>
            <c:dLbl>
              <c:idx val="3"/>
              <c:layout>
                <c:manualLayout>
                  <c:x val="-2.5178744926303225E-2"/>
                  <c:y val="-0.155222222222222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664-4E5F-A6BC-30D1904A85DC}"/>
                </c:ext>
              </c:extLst>
            </c:dLbl>
            <c:dLbl>
              <c:idx val="4"/>
              <c:layout>
                <c:manualLayout>
                  <c:x val="-1.1540124778716111E-16"/>
                  <c:y val="4.233333333333333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BEE-4639-AB51-94D9ED883E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0.84</c:v>
                </c:pt>
                <c:pt idx="1">
                  <c:v>0.75</c:v>
                </c:pt>
                <c:pt idx="2">
                  <c:v>0.7</c:v>
                </c:pt>
                <c:pt idx="3">
                  <c:v>0.68</c:v>
                </c:pt>
                <c:pt idx="4">
                  <c:v>0.66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664-4E5F-A6BC-30D1904A85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LTIP_TAG_Mono</c:v>
                </c:pt>
              </c:strCache>
            </c:strRef>
          </c:tx>
          <c:spPr>
            <a:ln w="28575" cap="rnd">
              <a:solidFill>
                <a:srgbClr val="0B486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B486B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570-4CF2-A75D-B190163AC5FD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C570-4CF2-A75D-B190163AC5FD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C570-4CF2-A75D-B190163AC5FD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570-4CF2-A75D-B190163AC5FD}"/>
              </c:ext>
            </c:extLst>
          </c:dPt>
          <c:dLbls>
            <c:dLbl>
              <c:idx val="0"/>
              <c:layout>
                <c:manualLayout>
                  <c:x val="-5.6667912799761196E-2"/>
                  <c:y val="-5.644444444444444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70-4CF2-A75D-B190163AC5FD}"/>
                </c:ext>
              </c:extLst>
            </c:dLbl>
            <c:dLbl>
              <c:idx val="1"/>
              <c:layout>
                <c:manualLayout>
                  <c:x val="-1.6531357760102817E-2"/>
                  <c:y val="0.217972222222222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570-4CF2-A75D-B190163AC5FD}"/>
                </c:ext>
              </c:extLst>
            </c:dLbl>
            <c:dLbl>
              <c:idx val="2"/>
              <c:layout>
                <c:manualLayout>
                  <c:x val="-4.9578460475875857E-2"/>
                  <c:y val="0.1375833333333333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570-4CF2-A75D-B190163AC5FD}"/>
                </c:ext>
              </c:extLst>
            </c:dLbl>
            <c:dLbl>
              <c:idx val="3"/>
              <c:layout>
                <c:manualLayout>
                  <c:x val="-5.7446818265345562E-2"/>
                  <c:y val="0.1536800000000000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70-4CF2-A75D-B190163AC5FD}"/>
                </c:ext>
              </c:extLst>
            </c:dLbl>
            <c:dLbl>
              <c:idx val="4"/>
              <c:layout>
                <c:manualLayout>
                  <c:x val="1.5736715578939515E-3"/>
                  <c:y val="0.112888888888888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BEE-4639-AB51-94D9ED883E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0.64</c:v>
                </c:pt>
                <c:pt idx="1">
                  <c:v>0.72</c:v>
                </c:pt>
                <c:pt idx="2">
                  <c:v>0.63</c:v>
                </c:pt>
                <c:pt idx="3">
                  <c:v>0.62</c:v>
                </c:pt>
                <c:pt idx="4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70-4CF2-A75D-B190163AC5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25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310387136833468E-2"/>
          <c:y val="0"/>
          <c:w val="0.98268961286316658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Closing_Rates_RYB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4299475149557672E-2"/>
                  <c:y val="0.111892222222222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D6A-4C32-982B-08899495B83A}"/>
                </c:ext>
              </c:extLst>
            </c:dLbl>
            <c:dLbl>
              <c:idx val="1"/>
              <c:layout>
                <c:manualLayout>
                  <c:x val="-1.1810343086421019E-2"/>
                  <c:y val="0.135902859395091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D6A-4C32-982B-08899495B83A}"/>
                </c:ext>
              </c:extLst>
            </c:dLbl>
            <c:dLbl>
              <c:idx val="2"/>
              <c:layout>
                <c:manualLayout>
                  <c:x val="-4.9578460475875857E-2"/>
                  <c:y val="0.1027201081480186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D6A-4C32-982B-08899495B83A}"/>
                </c:ext>
              </c:extLst>
            </c:dLbl>
            <c:dLbl>
              <c:idx val="3"/>
              <c:layout>
                <c:manualLayout>
                  <c:x val="-2.912073022325443E-2"/>
                  <c:y val="0.1529989495517314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6A-4C32-982B-08899495B83A}"/>
                </c:ext>
              </c:extLst>
            </c:dLbl>
            <c:dLbl>
              <c:idx val="4"/>
              <c:layout>
                <c:manualLayout>
                  <c:x val="-2.368313739057252E-3"/>
                  <c:y val="0.1137066666666666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D6A-4C32-982B-08899495B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0.38</c:v>
                </c:pt>
                <c:pt idx="1">
                  <c:v>0.44</c:v>
                </c:pt>
                <c:pt idx="2">
                  <c:v>0.41</c:v>
                </c:pt>
                <c:pt idx="3">
                  <c:v>0.5</c:v>
                </c:pt>
                <c:pt idx="4">
                  <c:v>0.46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D6A-4C32-982B-08899495B8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Closing_Rates_TAG_Chemo</c:v>
                </c:pt>
              </c:strCache>
            </c:strRef>
          </c:tx>
          <c:spPr>
            <a:ln w="28575" cap="rnd">
              <a:solidFill>
                <a:srgbClr val="3A868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A8686"/>
              </a:solidFill>
              <a:ln w="9525">
                <a:noFill/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rgbClr val="3A8686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3A868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6D6A-4C32-982B-08899495B83A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3A8686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3A868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6D6A-4C32-982B-08899495B83A}"/>
              </c:ext>
            </c:extLst>
          </c:dPt>
          <c:dLbls>
            <c:dLbl>
              <c:idx val="0"/>
              <c:layout>
                <c:manualLayout>
                  <c:x val="-5.4299475149557672E-2"/>
                  <c:y val="2.117928423275365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D6A-4C32-982B-08899495B83A}"/>
                </c:ext>
              </c:extLst>
            </c:dLbl>
            <c:dLbl>
              <c:idx val="1"/>
              <c:layout>
                <c:manualLayout>
                  <c:x val="-2.912073022325443E-2"/>
                  <c:y val="-0.1570750098535257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D6A-4C32-982B-08899495B83A}"/>
                </c:ext>
              </c:extLst>
            </c:dLbl>
            <c:dLbl>
              <c:idx val="2"/>
              <c:layout>
                <c:manualLayout>
                  <c:x val="-2.4399715549572633E-2"/>
                  <c:y val="-0.155582222222222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D6A-4C32-982B-08899495B83A}"/>
                </c:ext>
              </c:extLst>
            </c:dLbl>
            <c:dLbl>
              <c:idx val="3"/>
              <c:layout>
                <c:manualLayout>
                  <c:x val="-1.1810343086420962E-2"/>
                  <c:y val="-0.1341978873327352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D6A-4C32-982B-08899495B83A}"/>
                </c:ext>
              </c:extLst>
            </c:dLbl>
            <c:dLbl>
              <c:idx val="4"/>
              <c:layout>
                <c:manualLayout>
                  <c:x val="-7.946421811633001E-4"/>
                  <c:y val="5.58333764332198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3A8686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D6A-4C32-982B-08899495B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0.44</c:v>
                </c:pt>
                <c:pt idx="1">
                  <c:v>0.51</c:v>
                </c:pt>
                <c:pt idx="2">
                  <c:v>0.56999999999999995</c:v>
                </c:pt>
                <c:pt idx="3">
                  <c:v>0.57999999999999996</c:v>
                </c:pt>
                <c:pt idx="4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6D6A-4C32-982B-08899495B8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Closing_Rates_TAG_Mono</c:v>
                </c:pt>
              </c:strCache>
            </c:strRef>
          </c:tx>
          <c:spPr>
            <a:ln w="28575" cap="rnd">
              <a:solidFill>
                <a:srgbClr val="0B486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B486B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6D6A-4C32-982B-08899495B83A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1-6D6A-4C32-982B-08899495B83A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3-6D6A-4C32-982B-08899495B83A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B486B"/>
                </a:solidFill>
                <a:ln w="952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B486B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5-6D6A-4C32-982B-08899495B83A}"/>
              </c:ext>
            </c:extLst>
          </c:dPt>
          <c:dLbls>
            <c:dLbl>
              <c:idx val="0"/>
              <c:layout>
                <c:manualLayout>
                  <c:x val="-5.4299475149557672E-2"/>
                  <c:y val="-0.1628733333333333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D6A-4C32-982B-08899495B83A}"/>
                </c:ext>
              </c:extLst>
            </c:dLbl>
            <c:dLbl>
              <c:idx val="1"/>
              <c:layout>
                <c:manualLayout>
                  <c:x val="-5.1152132033769809E-2"/>
                  <c:y val="0.127494444444444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D6A-4C32-982B-08899495B83A}"/>
                </c:ext>
              </c:extLst>
            </c:dLbl>
            <c:dLbl>
              <c:idx val="2"/>
              <c:layout>
                <c:manualLayout>
                  <c:x val="-5.5156568548452708E-3"/>
                  <c:y val="0.140085926311678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D6A-4C32-982B-08899495B83A}"/>
                </c:ext>
              </c:extLst>
            </c:dLbl>
            <c:dLbl>
              <c:idx val="3"/>
              <c:layout>
                <c:manualLayout>
                  <c:x val="-4.9578460475875913E-2"/>
                  <c:y val="-0.1484672194152802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D6A-4C32-982B-08899495B83A}"/>
                </c:ext>
              </c:extLst>
            </c:dLbl>
            <c:dLbl>
              <c:idx val="4"/>
              <c:layout>
                <c:manualLayout>
                  <c:x val="-7.946421811633001E-4"/>
                  <c:y val="-0.114107777777777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B486B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D6A-4C32-982B-08899495B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0.44</c:v>
                </c:pt>
                <c:pt idx="1">
                  <c:v>0.44</c:v>
                </c:pt>
                <c:pt idx="2">
                  <c:v>0.44</c:v>
                </c:pt>
                <c:pt idx="3">
                  <c:v>0.56999999999999995</c:v>
                </c:pt>
                <c:pt idx="4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6D6A-4C32-982B-08899495B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25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667714541685205E-2"/>
          <c:y val="0.24914666666666666"/>
          <c:w val="0.98216470669943157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RYBREVANT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4151251164767456E-2"/>
                  <c:y val="-7.791508311738805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E78-439E-B871-97BACD916814}"/>
                </c:ext>
              </c:extLst>
            </c:dLbl>
            <c:dLbl>
              <c:idx val="1"/>
              <c:layout>
                <c:manualLayout>
                  <c:x val="-2.9307993447372522E-2"/>
                  <c:y val="0.205094444444444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78-439E-B871-97BACD916814}"/>
                </c:ext>
              </c:extLst>
            </c:dLbl>
            <c:dLbl>
              <c:idx val="2"/>
              <c:layout>
                <c:manualLayout>
                  <c:x val="-2.9307993447372463E-2"/>
                  <c:y val="0.162582222222222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E78-439E-B871-97BACD916814}"/>
                </c:ext>
              </c:extLst>
            </c:dLbl>
            <c:dLbl>
              <c:idx val="3"/>
              <c:layout>
                <c:manualLayout>
                  <c:x val="-2.9307993447372463E-2"/>
                  <c:y val="-0.145186574950108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78-439E-B871-97BACD916814}"/>
                </c:ext>
              </c:extLst>
            </c:dLbl>
            <c:dLbl>
              <c:idx val="4"/>
              <c:layout>
                <c:manualLayout>
                  <c:x val="7.8391094492321017E-4"/>
                  <c:y val="-4.2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E78-439E-B871-97BACD916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0.77</c:v>
                </c:pt>
                <c:pt idx="1">
                  <c:v>0.74</c:v>
                </c:pt>
                <c:pt idx="2">
                  <c:v>0.72</c:v>
                </c:pt>
                <c:pt idx="3">
                  <c:v>0.8</c:v>
                </c:pt>
                <c:pt idx="4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E78-439E-B871-97BACD9168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TAGRISSO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0983682281367912E-2"/>
                  <c:y val="-1.27970994073616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E78-439E-B871-97BACD916814}"/>
                </c:ext>
              </c:extLst>
            </c:dLbl>
            <c:dLbl>
              <c:idx val="1"/>
              <c:layout>
                <c:manualLayout>
                  <c:x val="-2.9307993447372522E-2"/>
                  <c:y val="-0.1661133333333333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78-439E-B871-97BACD916814}"/>
                </c:ext>
              </c:extLst>
            </c:dLbl>
            <c:dLbl>
              <c:idx val="2"/>
              <c:layout>
                <c:manualLayout>
                  <c:x val="-2.9307993447372463E-2"/>
                  <c:y val="-0.145296256730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E78-439E-B871-97BACD916814}"/>
                </c:ext>
              </c:extLst>
            </c:dLbl>
            <c:dLbl>
              <c:idx val="3"/>
              <c:layout>
                <c:manualLayout>
                  <c:x val="-2.9307993447372463E-2"/>
                  <c:y val="0.168400768307494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E78-439E-B871-97BACD916814}"/>
                </c:ext>
              </c:extLst>
            </c:dLbl>
            <c:dLbl>
              <c:idx val="4"/>
              <c:layout>
                <c:manualLayout>
                  <c:x val="-7.9987349677667838E-4"/>
                  <c:y val="5.811777777777777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E78-439E-B871-97BACD916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Q4 2024</c:v>
                </c:pt>
                <c:pt idx="1">
                  <c:v>Q1 2025</c:v>
                </c:pt>
                <c:pt idx="2">
                  <c:v>Q2 2025</c:v>
                </c:pt>
                <c:pt idx="3">
                  <c:v>Q3 2025</c:v>
                </c:pt>
                <c:pt idx="4">
                  <c:v>Q4 2025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0.67</c:v>
                </c:pt>
                <c:pt idx="1">
                  <c:v>0.78</c:v>
                </c:pt>
                <c:pt idx="2">
                  <c:v>0.81</c:v>
                </c:pt>
                <c:pt idx="3">
                  <c:v>0.7</c:v>
                </c:pt>
                <c:pt idx="4">
                  <c:v>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FE78-439E-B871-97BACD91681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25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 - Average of reach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solidFill>
                  <a:srgbClr val="F9592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1840673086000192"/>
                  <c:y val="4.597526966587740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A3F-4B45-BED7-C067FAEF5E4B}"/>
                </c:ext>
              </c:extLst>
            </c:dLbl>
            <c:dLbl>
              <c:idx val="1"/>
              <c:layout>
                <c:manualLayout>
                  <c:x val="4.4810252053242711E-3"/>
                  <c:y val="5.26577216521967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3F-4B45-BED7-C067FAEF5E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0.72</c:v>
                </c:pt>
                <c:pt idx="1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3F-4B45-BED7-C067FAEF5E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 - Average of reach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1540946851694515"/>
                  <c:y val="-3.760694554064719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3F-4B45-BED7-C067FAEF5E4B}"/>
                </c:ext>
              </c:extLst>
            </c:dLbl>
            <c:dLbl>
              <c:idx val="1"/>
              <c:layout>
                <c:manualLayout>
                  <c:x val="7.4782875483810065E-3"/>
                  <c:y val="-4.42893975269665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A3F-4B45-BED7-C067FAEF5E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0.75</c:v>
                </c:pt>
                <c:pt idx="1">
                  <c:v>0.72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A3F-4B45-BED7-C067FAEF5E4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30000000000000004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8.4891728656951975E-3"/>
          <c:w val="1"/>
          <c:h val="0.99100472921969951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RYB - Average of SOV</c:v>
                </c:pt>
              </c:strCache>
            </c:strRef>
          </c:tx>
          <c:spPr>
            <a:solidFill>
              <a:srgbClr val="F9592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0.51</c:v>
                </c:pt>
                <c:pt idx="1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F6-4C03-8618-F6B8EAE362BA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TAG - Average of SOV</c:v>
                </c:pt>
              </c:strCache>
            </c:strRef>
          </c:tx>
          <c:spPr>
            <a:solidFill>
              <a:srgbClr val="7638A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0.49</c:v>
                </c:pt>
                <c:pt idx="1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F6-4C03-8618-F6B8EAE362B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902752911"/>
        <c:axId val="407653487"/>
      </c:barChart>
      <c:catAx>
        <c:axId val="9027529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7653487"/>
        <c:crosses val="autoZero"/>
        <c:auto val="1"/>
        <c:lblAlgn val="ctr"/>
        <c:lblOffset val="100"/>
        <c:noMultiLvlLbl val="0"/>
      </c:catAx>
      <c:valAx>
        <c:axId val="407653487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902752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146370244501086E-2"/>
          <c:y val="0.14752335988634033"/>
          <c:w val="0.90971842099650957"/>
          <c:h val="0.852476640113659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 - Average of frequency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solidFill>
                  <a:srgbClr val="F9592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9.7261163032191067E-2"/>
                  <c:y val="-5.47538877415961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7B4-4243-9A1D-9E5441D28D8D}"/>
                </c:ext>
              </c:extLst>
            </c:dLbl>
            <c:dLbl>
              <c:idx val="1"/>
              <c:layout>
                <c:manualLayout>
                  <c:x val="-7.3432927404890021E-3"/>
                  <c:y val="-1.82512959138653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0B9-4715-964D-1E4551B4F7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</c:v>
                </c:pt>
                <c:pt idx="1">
                  <c:v>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B4-4243-9A1D-9E5441D28D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 - Average of frequency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9.4263900689134358E-2"/>
                  <c:y val="4.335856419306517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B4-4243-9A1D-9E5441D28D8D}"/>
                </c:ext>
              </c:extLst>
            </c:dLbl>
            <c:dLbl>
              <c:idx val="1"/>
              <c:layout>
                <c:manualLayout>
                  <c:x val="-4.3460303974322666E-3"/>
                  <c:y val="-6.874654794222570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7B4-4243-9A1D-9E5441D28D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2.2999999999999998</c:v>
                </c:pt>
                <c:pt idx="1">
                  <c:v>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7B4-4243-9A1D-9E5441D28D8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8.4891728656951975E-3"/>
          <c:w val="1"/>
          <c:h val="0.99100472921969951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RYBL_1L</c:v>
                </c:pt>
              </c:strCache>
            </c:strRef>
          </c:tx>
          <c:spPr>
            <a:solidFill>
              <a:srgbClr val="0B48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Q4 2025</c:v>
                </c:pt>
                <c:pt idx="1">
                  <c:v>Q3 2025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0.49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EE-47B3-A1EB-C5AA4894D2C3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RYB_WL</c:v>
                </c:pt>
              </c:strCache>
            </c:strRef>
          </c:tx>
          <c:spPr>
            <a:solidFill>
              <a:srgbClr val="3B868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Q4 2025</c:v>
                </c:pt>
                <c:pt idx="1">
                  <c:v>Q3 2025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0.28000000000000003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EE-47B3-A1EB-C5AA4894D2C3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EGFR</c:v>
                </c:pt>
              </c:strCache>
            </c:strRef>
          </c:tx>
          <c:spPr>
            <a:solidFill>
              <a:srgbClr val="A8DBA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chemeClr val="tx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Q4 2025</c:v>
                </c:pt>
                <c:pt idx="1">
                  <c:v>Q3 2025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0.23</c:v>
                </c:pt>
                <c:pt idx="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EE-47B3-A1EB-C5AA4894D2C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902752911"/>
        <c:axId val="407653487"/>
      </c:barChart>
      <c:catAx>
        <c:axId val="902752911"/>
        <c:scaling>
          <c:orientation val="maxMin"/>
        </c:scaling>
        <c:delete val="1"/>
        <c:axPos val="t"/>
        <c:numFmt formatCode="General" sourceLinked="1"/>
        <c:majorTickMark val="out"/>
        <c:minorTickMark val="none"/>
        <c:tickLblPos val="nextTo"/>
        <c:crossAx val="407653487"/>
        <c:crosses val="autoZero"/>
        <c:auto val="1"/>
        <c:lblAlgn val="ctr"/>
        <c:lblOffset val="100"/>
        <c:noMultiLvlLbl val="0"/>
      </c:catAx>
      <c:valAx>
        <c:axId val="407653487"/>
        <c:scaling>
          <c:orientation val="maxMin"/>
          <c:max val="1"/>
        </c:scaling>
        <c:delete val="1"/>
        <c:axPos val="r"/>
        <c:numFmt formatCode="0%" sourceLinked="1"/>
        <c:majorTickMark val="out"/>
        <c:minorTickMark val="none"/>
        <c:tickLblPos val="nextTo"/>
        <c:crossAx val="902752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425096715269746E-3"/>
          <c:y val="1.4573481178288838E-3"/>
          <c:w val="0.94459454176484592"/>
          <c:h val="0.9985428118654979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Discussed 1st</c:v>
                </c:pt>
              </c:strCache>
            </c:strRef>
          </c:tx>
          <c:spPr>
            <a:solidFill>
              <a:srgbClr val="FF6A5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Arial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RYBL_1L</c:v>
                </c:pt>
                <c:pt idx="1">
                  <c:v>RYB_WL</c:v>
                </c:pt>
                <c:pt idx="2">
                  <c:v>EGFR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0.59</c:v>
                </c:pt>
                <c:pt idx="1">
                  <c:v>0.28000000000000003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93-430B-B610-2A356DFD8D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Discussed 2nd</c:v>
                </c:pt>
              </c:strCache>
            </c:strRef>
          </c:tx>
          <c:spPr>
            <a:solidFill>
              <a:srgbClr val="FFCDC8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5780671655905465E-3"/>
                  <c:y val="1.621609163211238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93-430B-B610-2A356DFD8D13}"/>
                </c:ext>
              </c:extLst>
            </c:dLbl>
            <c:dLbl>
              <c:idx val="2"/>
              <c:layout>
                <c:manualLayout>
                  <c:x val="4.0268363996742674E-3"/>
                  <c:y val="-3.537261457027440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993-430B-B610-2A356DFD8D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Arial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RYBL_1L</c:v>
                </c:pt>
                <c:pt idx="1">
                  <c:v>RYB_WL</c:v>
                </c:pt>
                <c:pt idx="2">
                  <c:v>EGFR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0.27</c:v>
                </c:pt>
                <c:pt idx="1">
                  <c:v>0.34</c:v>
                </c:pt>
                <c:pt idx="2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93-430B-B610-2A356DFD8D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Discussed 3rd</c:v>
                </c:pt>
              </c:strCache>
            </c:strRef>
          </c:tx>
          <c:spPr>
            <a:solidFill>
              <a:srgbClr val="C4BDB6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993-430B-B610-2A356DFD8D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</a:schemeClr>
                    </a:solidFill>
                    <a:latin typeface="Johnson Text" panose="020B0604020202020204" charset="0"/>
                    <a:ea typeface="Arial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RYBL_1L</c:v>
                </c:pt>
                <c:pt idx="1">
                  <c:v>RYB_WL</c:v>
                </c:pt>
                <c:pt idx="2">
                  <c:v>EGFR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0.01</c:v>
                </c:pt>
                <c:pt idx="1">
                  <c:v>0.1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93-430B-B610-2A356DFD8D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Discussed 4th</c:v>
                </c:pt>
              </c:strCache>
            </c:strRef>
          </c:tx>
          <c:spPr>
            <a:solidFill>
              <a:srgbClr val="E1DEDA"/>
            </a:solidFill>
            <a:ln>
              <a:noFill/>
            </a:ln>
            <a:effectLst/>
          </c:spPr>
          <c:invertIfNegative val="0"/>
          <c:dLbls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993-430B-B610-2A356DFD8D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tx1">
                        <a:lumMod val="75000"/>
                      </a:schemeClr>
                    </a:solidFill>
                    <a:latin typeface="Johnson Text" panose="020B0604020202020204" charset="0"/>
                    <a:ea typeface="Arial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RYBL_1L</c:v>
                </c:pt>
                <c:pt idx="1">
                  <c:v>RYB_WL</c:v>
                </c:pt>
                <c:pt idx="2">
                  <c:v>EGFR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7-E993-430B-B610-2A356DFD8D1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Discussed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6801887038491299E-2"/>
                  <c:y val="2.7859033293166392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993-430B-B610-2A356DFD8D13}"/>
                </c:ext>
              </c:extLst>
            </c:dLbl>
            <c:dLbl>
              <c:idx val="1"/>
              <c:layout>
                <c:manualLayout>
                  <c:x val="-0.16979676059762785"/>
                  <c:y val="2.785903329154478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93-430B-B610-2A356DFD8D13}"/>
                </c:ext>
              </c:extLst>
            </c:dLbl>
            <c:dLbl>
              <c:idx val="2"/>
              <c:layout>
                <c:manualLayout>
                  <c:x val="-0.18543499198572722"/>
                  <c:y val="2.785903330451765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993-430B-B610-2A356DFD8D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Arial"/>
                    <a:cs typeface="Johnson Text" panose="020B0604020202020204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RYBL_1L</c:v>
                </c:pt>
                <c:pt idx="1">
                  <c:v>RYB_WL</c:v>
                </c:pt>
                <c:pt idx="2">
                  <c:v>EGFR</c:v>
                </c:pt>
              </c:strCache>
            </c:strRef>
          </c:cat>
          <c:val>
            <c:numRef>
              <c:f>Sheet1!$F$2:$F$4</c:f>
              <c:numCache>
                <c:formatCode>0%</c:formatCode>
                <c:ptCount val="3"/>
                <c:pt idx="0">
                  <c:v>0.87</c:v>
                </c:pt>
                <c:pt idx="1">
                  <c:v>0.72</c:v>
                </c:pt>
                <c:pt idx="2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993-430B-B610-2A356DFD8D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437253736"/>
        <c:axId val="403620512"/>
      </c:barChart>
      <c:catAx>
        <c:axId val="437253736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03620512"/>
        <c:crosses val="autoZero"/>
        <c:auto val="1"/>
        <c:lblAlgn val="ctr"/>
        <c:lblOffset val="100"/>
        <c:noMultiLvlLbl val="0"/>
      </c:catAx>
      <c:valAx>
        <c:axId val="403620512"/>
        <c:scaling>
          <c:orientation val="minMax"/>
          <c:max val="1"/>
          <c:min val="0"/>
        </c:scaling>
        <c:delete val="1"/>
        <c:axPos val="t"/>
        <c:numFmt formatCode="0%" sourceLinked="0"/>
        <c:majorTickMark val="out"/>
        <c:minorTickMark val="none"/>
        <c:tickLblPos val="nextTo"/>
        <c:crossAx val="437253736"/>
        <c:crosses val="autoZero"/>
        <c:crossBetween val="between"/>
        <c:majorUnit val="0.1"/>
        <c:minorUnit val="0.02"/>
      </c:valAx>
      <c:spPr>
        <a:noFill/>
        <a:ln w="12700">
          <a:noFill/>
        </a:ln>
        <a:effectLst/>
        <a:extLst>
          <a:ext uri="{91240B29-F687-4F45-9708-019B960494DF}">
            <a14:hiddenLine xmlns:a14="http://schemas.microsoft.com/office/drawing/2010/main" w="12700">
              <a:solidFill>
                <a:prstClr val="white">
                  <a:lumMod val="75000"/>
                </a:prstClr>
              </a:solidFill>
            </a14:hiddenLine>
          </a:ext>
        </a:ex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 b="0" i="0">
          <a:solidFill>
            <a:srgbClr val="636466"/>
          </a:solidFill>
          <a:latin typeface="Arial"/>
          <a:ea typeface="Arial"/>
          <a:cs typeface="Arial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39408496092287E-2"/>
          <c:y val="2.224778256301423E-4"/>
          <c:w val="0.92931388934005887"/>
          <c:h val="0.99977754190882273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Message Recall - Q4 2025 - Average of decimal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NCCN - NSCLC</c:v>
                </c:pt>
                <c:pt idx="1">
                  <c:v>Efficacy – mPFS</c:v>
                </c:pt>
                <c:pt idx="2">
                  <c:v>Indication</c:v>
                </c:pt>
                <c:pt idx="3">
                  <c:v>Safety – Prophylaxis protocol</c:v>
                </c:pt>
                <c:pt idx="4">
                  <c:v>Median OS Not Reached</c:v>
                </c:pt>
                <c:pt idx="5">
                  <c:v>MOA – inhibition</c:v>
                </c:pt>
                <c:pt idx="6">
                  <c:v>OS Headline</c:v>
                </c:pt>
                <c:pt idx="7">
                  <c:v>Efficacy – CNS</c:v>
                </c:pt>
                <c:pt idx="8">
                  <c:v>NCCN - CNS</c:v>
                </c:pt>
                <c:pt idx="9">
                  <c:v>Safety – ARs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0.49</c:v>
                </c:pt>
                <c:pt idx="1">
                  <c:v>0.44</c:v>
                </c:pt>
                <c:pt idx="2">
                  <c:v>0.4</c:v>
                </c:pt>
                <c:pt idx="3">
                  <c:v>0.39</c:v>
                </c:pt>
                <c:pt idx="4">
                  <c:v>0.37</c:v>
                </c:pt>
                <c:pt idx="5">
                  <c:v>0.36</c:v>
                </c:pt>
                <c:pt idx="6">
                  <c:v>0.36</c:v>
                </c:pt>
                <c:pt idx="7">
                  <c:v>0.35</c:v>
                </c:pt>
                <c:pt idx="8">
                  <c:v>0.31</c:v>
                </c:pt>
                <c:pt idx="9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11-4F66-B4E5-5A22BA6E63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638711"/>
        <c:axId val="99643959"/>
      </c:barChart>
      <c:catAx>
        <c:axId val="99638711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99643959"/>
        <c:crosses val="autoZero"/>
        <c:auto val="1"/>
        <c:lblAlgn val="ctr"/>
        <c:lblOffset val="100"/>
        <c:noMultiLvlLbl val="0"/>
      </c:catAx>
      <c:valAx>
        <c:axId val="99643959"/>
        <c:scaling>
          <c:orientation val="minMax"/>
          <c:max val="1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99638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051380727409403E-2"/>
          <c:y val="2.2247023809523811E-4"/>
          <c:w val="0.92931388934005887"/>
          <c:h val="0.99977754190882273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Message Effectiveness - Q4 2025 - Average of ME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3.269495423809719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50-4E69-9505-5963E55E36E7}"/>
                </c:ext>
              </c:extLst>
            </c:dLbl>
            <c:dLbl>
              <c:idx val="4"/>
              <c:layout>
                <c:manualLayout>
                  <c:x val="1.2739586602751936E-2"/>
                  <c:y val="2.480158730158730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350-4E69-9505-5963E55E36E7}"/>
                </c:ext>
              </c:extLst>
            </c:dLbl>
            <c:dLbl>
              <c:idx val="6"/>
              <c:layout>
                <c:manualLayout>
                  <c:x val="-2.3353538741498026E-2"/>
                  <c:y val="1.1549139070132422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531-4002-9DB5-68AD34FEE6F1}"/>
                </c:ext>
              </c:extLst>
            </c:dLbl>
            <c:dLbl>
              <c:idx val="7"/>
              <c:layout>
                <c:manualLayout>
                  <c:x val="-4.6707077482997759E-3"/>
                  <c:y val="4.960317460317460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8AF-42A1-8023-43A505A067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NCCN - NSCLC</c:v>
                </c:pt>
                <c:pt idx="1">
                  <c:v>Efficacy – mPFS</c:v>
                </c:pt>
                <c:pt idx="2">
                  <c:v>Indication</c:v>
                </c:pt>
                <c:pt idx="3">
                  <c:v>Safety – Prophylaxis protocol</c:v>
                </c:pt>
                <c:pt idx="4">
                  <c:v>Median OS Not Reached</c:v>
                </c:pt>
                <c:pt idx="5">
                  <c:v>MOA – inhibition</c:v>
                </c:pt>
                <c:pt idx="6">
                  <c:v>OS Headline</c:v>
                </c:pt>
                <c:pt idx="7">
                  <c:v>Efficacy – CNS</c:v>
                </c:pt>
                <c:pt idx="8">
                  <c:v>NCCN - CNS</c:v>
                </c:pt>
                <c:pt idx="9">
                  <c:v>Safety – ARs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0.71</c:v>
                </c:pt>
                <c:pt idx="1">
                  <c:v>0.66</c:v>
                </c:pt>
                <c:pt idx="2">
                  <c:v>0.62</c:v>
                </c:pt>
                <c:pt idx="3">
                  <c:v>0.54</c:v>
                </c:pt>
                <c:pt idx="4">
                  <c:v>0.71</c:v>
                </c:pt>
                <c:pt idx="5">
                  <c:v>0.69</c:v>
                </c:pt>
                <c:pt idx="6">
                  <c:v>0.73</c:v>
                </c:pt>
                <c:pt idx="7">
                  <c:v>0.73</c:v>
                </c:pt>
                <c:pt idx="8">
                  <c:v>0.72</c:v>
                </c:pt>
                <c:pt idx="9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7D-4A26-970A-84C2A79CA3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638711"/>
        <c:axId val="99643959"/>
      </c:barChart>
      <c:catAx>
        <c:axId val="99638711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99643959"/>
        <c:crosses val="autoZero"/>
        <c:auto val="1"/>
        <c:lblAlgn val="ctr"/>
        <c:lblOffset val="100"/>
        <c:noMultiLvlLbl val="0"/>
      </c:catAx>
      <c:valAx>
        <c:axId val="99643959"/>
        <c:scaling>
          <c:orientation val="minMax"/>
          <c:max val="1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99638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461947119432918E-3"/>
          <c:y val="7.093981842289046E-2"/>
          <c:w val="0.99685360758476604"/>
          <c:h val="0.86271773565044885"/>
        </c:manualLayout>
      </c:layout>
      <c:scatterChart>
        <c:scatterStyle val="lineMarker"/>
        <c:varyColors val="0"/>
        <c:ser>
          <c:idx val="1"/>
          <c:order val="0"/>
          <c:tx>
            <c:v>Q3 2025 - Options  - Believable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noFill/>
              <a:ln w="9525">
                <a:solidFill>
                  <a:srgbClr val="F7582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25957591827383064"/>
                  <c:y val="-4.7399570854546005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C9E-4CD2-9A19-90A4E6A2C7FD}"/>
                </c:ext>
              </c:extLst>
            </c:dLbl>
            <c:dLbl>
              <c:idx val="1"/>
              <c:layout>
                <c:manualLayout>
                  <c:x val="-1.7889976386175264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80%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C9E-4CD2-9A19-90A4E6A2C7FD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872-41A1-A5C1-D0EA183E3514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C9E-4CD2-9A19-90A4E6A2C7FD}"/>
                </c:ext>
              </c:extLst>
            </c:dLbl>
            <c:dLbl>
              <c:idx val="4"/>
              <c:layout>
                <c:manualLayout>
                  <c:x val="-0.23764303864216485"/>
                  <c:y val="-4.41860406271192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751-4CBA-99DC-F6E1CD053107}"/>
                </c:ext>
              </c:extLst>
            </c:dLbl>
            <c:dLbl>
              <c:idx val="5"/>
              <c:layout>
                <c:manualLayout>
                  <c:x val="-0.215710159010499"/>
                  <c:y val="-4.41860406271192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C9E-4CD2-9A19-90A4E6A2C7FD}"/>
                </c:ext>
              </c:extLst>
            </c:dLbl>
            <c:dLbl>
              <c:idx val="6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C9E-4CD2-9A19-90A4E6A2C7FD}"/>
                </c:ext>
              </c:extLst>
            </c:dLbl>
            <c:dLbl>
              <c:idx val="7"/>
              <c:layout>
                <c:manualLayout>
                  <c:x val="-0.2522649583966087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751-4CBA-99DC-F6E1CD053107}"/>
                </c:ext>
              </c:extLst>
            </c:dLbl>
            <c:dLbl>
              <c:idx val="8"/>
              <c:layout>
                <c:manualLayout>
                  <c:x val="-2.785821112900793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751-4CBA-99DC-F6E1CD053107}"/>
                </c:ext>
              </c:extLst>
            </c:dLbl>
            <c:dLbl>
              <c:idx val="9"/>
              <c:layout>
                <c:manualLayout>
                  <c:x val="2.0470687656221394E-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751-4CBA-99DC-F6E1CD0531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Sheet1!$B$2:$B$11</c:f>
              <c:numCache>
                <c:formatCode>0%</c:formatCode>
                <c:ptCount val="10"/>
                <c:pt idx="0">
                  <c:v>0.76</c:v>
                </c:pt>
                <c:pt idx="1">
                  <c:v>0.8</c:v>
                </c:pt>
                <c:pt idx="4">
                  <c:v>0.74</c:v>
                </c:pt>
                <c:pt idx="5">
                  <c:v>0.69</c:v>
                </c:pt>
                <c:pt idx="6">
                  <c:v>0.74</c:v>
                </c:pt>
                <c:pt idx="7">
                  <c:v>0.76</c:v>
                </c:pt>
                <c:pt idx="8">
                  <c:v>0.7</c:v>
                </c:pt>
                <c:pt idx="9">
                  <c:v>0.63</c:v>
                </c:pt>
              </c:numCache>
            </c:numRef>
          </c:xVal>
          <c:yVal>
            <c:numRef>
              <c:f>Sheet1!$D$2:$D$11</c:f>
              <c:numCache>
                <c:formatCode>0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8872-41A1-A5C1-D0EA183E3514}"/>
            </c:ext>
          </c:extLst>
        </c:ser>
        <c:ser>
          <c:idx val="0"/>
          <c:order val="1"/>
          <c:tx>
            <c:v>Q4 2025 - Options  - Believable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95924"/>
              </a:solidFill>
              <a:ln>
                <a:solidFill>
                  <a:srgbClr val="F75824"/>
                </a:solidFill>
              </a:ln>
            </c:spPr>
          </c:marker>
          <c:dLbls>
            <c:dLbl>
              <c:idx val="0"/>
              <c:layout>
                <c:manualLayout>
                  <c:x val="-4.41887079634198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86%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C9E-4CD2-9A19-90A4E6A2C7FD}"/>
                </c:ext>
              </c:extLst>
            </c:dLbl>
            <c:dLbl>
              <c:idx val="1"/>
              <c:layout>
                <c:manualLayout>
                  <c:x val="-0.19733892573791764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C9E-4CD2-9A19-90A4E6A2C7FD}"/>
                </c:ext>
              </c:extLst>
            </c:dLbl>
            <c:dLbl>
              <c:idx val="2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751-4CBA-99DC-F6E1CD053107}"/>
                </c:ext>
              </c:extLst>
            </c:dLbl>
            <c:dLbl>
              <c:idx val="3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751-4CBA-99DC-F6E1CD053107}"/>
                </c:ext>
              </c:extLst>
            </c:dLbl>
            <c:dLbl>
              <c:idx val="4"/>
              <c:layout>
                <c:manualLayout>
                  <c:x val="-5.776464235590213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80%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751-4CBA-99DC-F6E1CD053107}"/>
                </c:ext>
              </c:extLst>
            </c:dLbl>
            <c:dLbl>
              <c:idx val="5"/>
              <c:layout>
                <c:manualLayout>
                  <c:x val="-1.7889976386175264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751-4CBA-99DC-F6E1CD053107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751-4CBA-99DC-F6E1CD053107}"/>
                </c:ext>
              </c:extLst>
            </c:dLbl>
            <c:dLbl>
              <c:idx val="7"/>
              <c:layout>
                <c:manualLayout>
                  <c:x val="-1.7889976386175264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C9E-4CD2-9A19-90A4E6A2C7FD}"/>
                </c:ext>
              </c:extLst>
            </c:dLbl>
            <c:dLbl>
              <c:idx val="8"/>
              <c:layout>
                <c:manualLayout>
                  <c:x val="-0.24495399851938676"/>
                  <c:y val="-4.7399570854546005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751-4CBA-99DC-F6E1CD053107}"/>
                </c:ext>
              </c:extLst>
            </c:dLbl>
            <c:dLbl>
              <c:idx val="9"/>
              <c:layout>
                <c:manualLayout>
                  <c:x val="-0.223021118887721"/>
                  <c:y val="-4.418604062711927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959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751-4CBA-99DC-F6E1CD0531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Sheet1!$C$2:$C$11</c:f>
              <c:numCache>
                <c:formatCode>0%</c:formatCode>
                <c:ptCount val="10"/>
                <c:pt idx="0">
                  <c:v>0.86</c:v>
                </c:pt>
                <c:pt idx="1">
                  <c:v>0.78</c:v>
                </c:pt>
                <c:pt idx="2">
                  <c:v>0.71</c:v>
                </c:pt>
                <c:pt idx="3">
                  <c:v>0.71</c:v>
                </c:pt>
                <c:pt idx="4">
                  <c:v>0.8</c:v>
                </c:pt>
                <c:pt idx="5">
                  <c:v>0.71</c:v>
                </c:pt>
                <c:pt idx="6">
                  <c:v>0.61</c:v>
                </c:pt>
                <c:pt idx="7">
                  <c:v>0.78</c:v>
                </c:pt>
                <c:pt idx="8">
                  <c:v>0.67</c:v>
                </c:pt>
                <c:pt idx="9">
                  <c:v>0.63</c:v>
                </c:pt>
              </c:numCache>
            </c:numRef>
          </c:xVal>
          <c:yVal>
            <c:numRef>
              <c:f>Sheet1!$D$2:$D$11</c:f>
              <c:numCache>
                <c:formatCode>0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8872-41A1-A5C1-D0EA183E351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93827168"/>
        <c:axId val="393832656"/>
        <c:extLst/>
      </c:scatterChart>
      <c:valAx>
        <c:axId val="393827168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393832656"/>
        <c:crosses val="autoZero"/>
        <c:crossBetween val="midCat"/>
      </c:valAx>
      <c:valAx>
        <c:axId val="393832656"/>
        <c:scaling>
          <c:orientation val="minMax"/>
          <c:max val="10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39382716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461947119432918E-3"/>
          <c:y val="7.093981842289046E-2"/>
          <c:w val="0.99685360758476604"/>
          <c:h val="0.86271773565044885"/>
        </c:manualLayout>
      </c:layout>
      <c:scatterChart>
        <c:scatterStyle val="lineMarker"/>
        <c:varyColors val="0"/>
        <c:ser>
          <c:idx val="1"/>
          <c:order val="0"/>
          <c:tx>
            <c:v>Q3 2025 - Options  - Differentiated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noFill/>
              <a:ln w="9525">
                <a:solidFill>
                  <a:srgbClr val="F7582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7.5337426703311079E-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8157-4906-9101-D4DF72AC1995}"/>
                </c:ext>
              </c:extLst>
            </c:dLbl>
            <c:dLbl>
              <c:idx val="1"/>
              <c:layout>
                <c:manualLayout>
                  <c:x val="-0.186466319501611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8157-4906-9101-D4DF72AC1995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157-4906-9101-D4DF72AC1995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B19-44F1-9DD9-D1B4CEEB5EA3}"/>
                </c:ext>
              </c:extLst>
            </c:dLbl>
            <c:dLbl>
              <c:idx val="4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B19-44F1-9DD9-D1B4CEEB5EA3}"/>
                </c:ext>
              </c:extLst>
            </c:dLbl>
            <c:dLbl>
              <c:idx val="5"/>
              <c:layout>
                <c:manualLayout>
                  <c:x val="-7.9211659772105286E-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B19-44F1-9DD9-D1B4CEEB5EA3}"/>
                </c:ext>
              </c:extLst>
            </c:dLbl>
            <c:dLbl>
              <c:idx val="6"/>
              <c:layout>
                <c:manualLayout>
                  <c:x val="-2.785821112900793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C75-4D31-9322-43ACD3A33384}"/>
                </c:ext>
              </c:extLst>
            </c:dLbl>
            <c:dLbl>
              <c:idx val="7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B19-44F1-9DD9-D1B4CEEB5EA3}"/>
                </c:ext>
              </c:extLst>
            </c:dLbl>
            <c:dLbl>
              <c:idx val="8"/>
              <c:layout>
                <c:manualLayout>
                  <c:x val="2.0470687656221394E-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57%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B19-44F1-9DD9-D1B4CEEB5EA3}"/>
                </c:ext>
              </c:extLst>
            </c:dLbl>
            <c:dLbl>
              <c:idx val="9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B19-44F1-9DD9-D1B4CEEB5E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Sheet1!$B$2:$B$11</c:f>
              <c:numCache>
                <c:formatCode>0%</c:formatCode>
                <c:ptCount val="10"/>
                <c:pt idx="0">
                  <c:v>0.74</c:v>
                </c:pt>
                <c:pt idx="1">
                  <c:v>0.72</c:v>
                </c:pt>
                <c:pt idx="4">
                  <c:v>0.76</c:v>
                </c:pt>
                <c:pt idx="5">
                  <c:v>0.7</c:v>
                </c:pt>
                <c:pt idx="6">
                  <c:v>0.7</c:v>
                </c:pt>
                <c:pt idx="7">
                  <c:v>0.65</c:v>
                </c:pt>
                <c:pt idx="8">
                  <c:v>0.56999999999999995</c:v>
                </c:pt>
                <c:pt idx="9">
                  <c:v>0.69</c:v>
                </c:pt>
              </c:numCache>
            </c:numRef>
          </c:xVal>
          <c:yVal>
            <c:numRef>
              <c:f>Sheet1!$D$2:$D$11</c:f>
              <c:numCache>
                <c:formatCode>0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8157-4906-9101-D4DF72AC1995}"/>
            </c:ext>
          </c:extLst>
        </c:ser>
        <c:ser>
          <c:idx val="0"/>
          <c:order val="1"/>
          <c:tx>
            <c:v>Q4 2025 - Options  - Differentiated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95924"/>
              </a:solidFill>
              <a:ln>
                <a:solidFill>
                  <a:srgbClr val="F75824"/>
                </a:solidFill>
              </a:ln>
            </c:spPr>
          </c:marker>
          <c:dLbls>
            <c:dLbl>
              <c:idx val="0"/>
              <c:layout>
                <c:manualLayout>
                  <c:x val="-0.21571015901049914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157-4906-9101-D4DF72AC1995}"/>
                </c:ext>
              </c:extLst>
            </c:dLbl>
            <c:dLbl>
              <c:idx val="1"/>
              <c:layout>
                <c:manualLayout>
                  <c:x val="-2.7858786795140131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B19-44F1-9DD9-D1B4CEEB5EA3}"/>
                </c:ext>
              </c:extLst>
            </c:dLbl>
            <c:dLbl>
              <c:idx val="2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157-4906-9101-D4DF72AC1995}"/>
                </c:ext>
              </c:extLst>
            </c:dLbl>
            <c:dLbl>
              <c:idx val="3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157-4906-9101-D4DF72AC1995}"/>
                </c:ext>
              </c:extLst>
            </c:dLbl>
            <c:dLbl>
              <c:idx val="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157-4906-9101-D4DF72AC1995}"/>
                </c:ext>
              </c:extLst>
            </c:dLbl>
            <c:dLbl>
              <c:idx val="5"/>
              <c:layout>
                <c:manualLayout>
                  <c:x val="-0.19377727937883321"/>
                  <c:y val="-4.41860406271192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157-4906-9101-D4DF72AC1995}"/>
                </c:ext>
              </c:extLst>
            </c:dLbl>
            <c:dLbl>
              <c:idx val="6"/>
              <c:layout>
                <c:manualLayout>
                  <c:x val="-0.186466319501611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8157-4906-9101-D4DF72AC1995}"/>
                </c:ext>
              </c:extLst>
            </c:dLbl>
            <c:dLbl>
              <c:idx val="7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49%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8157-4906-9101-D4DF72AC1995}"/>
                </c:ext>
              </c:extLst>
            </c:dLbl>
            <c:dLbl>
              <c:idx val="8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57%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B19-44F1-9DD9-D1B4CEEB5EA3}"/>
                </c:ext>
              </c:extLst>
            </c:dLbl>
            <c:dLbl>
              <c:idx val="9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51%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B19-44F1-9DD9-D1B4CEEB5E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Sheet1!$C$2:$C$11</c:f>
              <c:numCache>
                <c:formatCode>0%</c:formatCode>
                <c:ptCount val="10"/>
                <c:pt idx="0">
                  <c:v>0.71</c:v>
                </c:pt>
                <c:pt idx="1">
                  <c:v>0.75</c:v>
                </c:pt>
                <c:pt idx="2">
                  <c:v>0.79</c:v>
                </c:pt>
                <c:pt idx="3">
                  <c:v>0.76</c:v>
                </c:pt>
                <c:pt idx="4">
                  <c:v>0.61</c:v>
                </c:pt>
                <c:pt idx="5">
                  <c:v>0.69</c:v>
                </c:pt>
                <c:pt idx="6">
                  <c:v>0.67</c:v>
                </c:pt>
                <c:pt idx="7">
                  <c:v>0.49</c:v>
                </c:pt>
                <c:pt idx="8">
                  <c:v>0.56999999999999995</c:v>
                </c:pt>
                <c:pt idx="9">
                  <c:v>0.51</c:v>
                </c:pt>
              </c:numCache>
            </c:numRef>
          </c:xVal>
          <c:yVal>
            <c:numRef>
              <c:f>Sheet1!$D$2:$D$11</c:f>
              <c:numCache>
                <c:formatCode>0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8157-4906-9101-D4DF72AC199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93827168"/>
        <c:axId val="393832656"/>
        <c:extLst>
          <c:ext xmlns:c15="http://schemas.microsoft.com/office/drawing/2012/chart" uri="{02D57815-91ED-43cb-92C2-25804820EDAC}">
            <c15:filteredScatte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Y-Value</c:v>
                      </c:pt>
                    </c:strCache>
                  </c:strRef>
                </c:tx>
                <c:spPr>
                  <a:ln w="28575">
                    <a:noFill/>
                  </a:ln>
                </c:spPr>
                <c:marker>
                  <c:symbol val="circle"/>
                  <c:size val="7"/>
                  <c:spPr>
                    <a:solidFill>
                      <a:srgbClr val="1D428A"/>
                    </a:solidFill>
                    <a:ln>
                      <a:solidFill>
                        <a:srgbClr val="1D428A"/>
                      </a:solidFill>
                    </a:ln>
                  </c:spPr>
                </c:marker>
                <c:dPt>
                  <c:idx val="5"/>
                  <c:bubble3D val="0"/>
                  <c:extLst>
                    <c:ext xmlns:c16="http://schemas.microsoft.com/office/drawing/2014/chart" uri="{C3380CC4-5D6E-409C-BE32-E72D297353CC}">
                      <c16:uniqueId val="{00000001-8C75-4D31-9322-43ACD3A33384}"/>
                    </c:ext>
                  </c:extLst>
                </c:dPt>
                <c:dPt>
                  <c:idx val="7"/>
                  <c:bubble3D val="0"/>
                  <c:extLst>
                    <c:ext xmlns:c16="http://schemas.microsoft.com/office/drawing/2014/chart" uri="{C3380CC4-5D6E-409C-BE32-E72D297353CC}">
                      <c16:uniqueId val="{00000013-8157-4906-9101-D4DF72AC1995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xVal>
                  <c:numRef>
                    <c:extLst>
                      <c:ext uri="{02D57815-91ED-43cb-92C2-25804820EDAC}">
                        <c15:formulaRef>
                          <c15:sqref>Sheet1!$D$2:$D$9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10</c:v>
                      </c:pt>
                      <c:pt idx="1">
                        <c:v>9</c:v>
                      </c:pt>
                      <c:pt idx="2">
                        <c:v>8</c:v>
                      </c:pt>
                      <c:pt idx="3">
                        <c:v>7</c:v>
                      </c:pt>
                      <c:pt idx="4">
                        <c:v>6</c:v>
                      </c:pt>
                      <c:pt idx="5">
                        <c:v>5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Sheet1!$I$2:$I$9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15-8157-4906-9101-D4DF72AC1995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>
                    <a:noFill/>
                  </a:ln>
                </c:spPr>
                <c:marker>
                  <c:symbol val="circle"/>
                  <c:size val="7"/>
                  <c:spPr>
                    <a:solidFill>
                      <a:srgbClr val="3B1B53"/>
                    </a:solidFill>
                    <a:ln>
                      <a:noFill/>
                    </a:ln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Sheet1!$J$2:$J$9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8157-4906-9101-D4DF72AC1995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rgbClr val="256B94"/>
                    </a:solidFill>
                    <a:ln w="9525">
                      <a:solidFill>
                        <a:srgbClr val="256B94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wrap="square" lIns="38100" tIns="19050" rIns="38100" bIns="19050" anchor="ctr">
                      <a:spAutoFit/>
                    </a:bodyPr>
                    <a:lstStyle/>
                    <a:p>
                      <a:pPr>
                        <a:defRPr>
                          <a:solidFill>
                            <a:srgbClr val="256B94"/>
                          </a:solidFill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0"/>
                  <c:showCatName val="1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Sheet1!$K$2:$K$9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8157-4906-9101-D4DF72AC1995}"/>
                  </c:ext>
                </c:extLst>
              </c15:ser>
            </c15:filteredScatterSeries>
          </c:ext>
        </c:extLst>
      </c:scatterChart>
      <c:valAx>
        <c:axId val="393827168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393832656"/>
        <c:crosses val="autoZero"/>
        <c:crossBetween val="midCat"/>
      </c:valAx>
      <c:valAx>
        <c:axId val="393832656"/>
        <c:scaling>
          <c:orientation val="minMax"/>
          <c:max val="10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39382716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461947119432918E-3"/>
          <c:y val="7.4153348650317322E-2"/>
          <c:w val="0.99685360758476604"/>
          <c:h val="0.85950420542302208"/>
        </c:manualLayout>
      </c:layout>
      <c:scatterChart>
        <c:scatterStyle val="lineMarker"/>
        <c:varyColors val="0"/>
        <c:ser>
          <c:idx val="1"/>
          <c:order val="0"/>
          <c:tx>
            <c:v>Q3 2025 - Options  - Motivating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noFill/>
              <a:ln w="9525">
                <a:solidFill>
                  <a:srgbClr val="F7582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7344878125723179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708D-41EE-B612-195C765A4E9A}"/>
                </c:ext>
              </c:extLst>
            </c:dLbl>
            <c:dLbl>
              <c:idx val="1"/>
              <c:layout>
                <c:manualLayout>
                  <c:x val="-8.9778587292285397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708D-41EE-B612-195C765A4E9A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08D-41EE-B612-195C765A4E9A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08D-41EE-B612-195C765A4E9A}"/>
                </c:ext>
              </c:extLst>
            </c:dLbl>
            <c:dLbl>
              <c:idx val="4"/>
              <c:layout>
                <c:manualLayout>
                  <c:x val="-2.7858786795139995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08D-41EE-B612-195C765A4E9A}"/>
                </c:ext>
              </c:extLst>
            </c:dLbl>
            <c:dLbl>
              <c:idx val="5"/>
              <c:layout>
                <c:manualLayout>
                  <c:x val="-0.20108823925605515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08D-41EE-B612-195C765A4E9A}"/>
                </c:ext>
              </c:extLst>
            </c:dLbl>
            <c:dLbl>
              <c:idx val="6"/>
              <c:layout>
                <c:manualLayout>
                  <c:x val="-0.21571015901049906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08D-41EE-B612-195C765A4E9A}"/>
                </c:ext>
              </c:extLst>
            </c:dLbl>
            <c:dLbl>
              <c:idx val="7"/>
              <c:layout>
                <c:manualLayout>
                  <c:x val="-0.18646631950161136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59%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08D-41EE-B612-195C765A4E9A}"/>
                </c:ext>
              </c:extLst>
            </c:dLbl>
            <c:dLbl>
              <c:idx val="8"/>
              <c:layout>
                <c:manualLayout>
                  <c:x val="-8.9778587292285272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9AE-4D48-80EB-CD8B8C7BE1BE}"/>
                </c:ext>
              </c:extLst>
            </c:dLbl>
            <c:dLbl>
              <c:idx val="9"/>
              <c:layout>
                <c:manualLayout>
                  <c:x val="-7.7701687507699541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57%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9AE-4D48-80EB-CD8B8C7BE1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Sheet1!$B$2:$B$11</c:f>
              <c:numCache>
                <c:formatCode>0%</c:formatCode>
                <c:ptCount val="10"/>
                <c:pt idx="0">
                  <c:v>0.74</c:v>
                </c:pt>
                <c:pt idx="1">
                  <c:v>0.78</c:v>
                </c:pt>
                <c:pt idx="4">
                  <c:v>0.78</c:v>
                </c:pt>
                <c:pt idx="5">
                  <c:v>0.65</c:v>
                </c:pt>
                <c:pt idx="6">
                  <c:v>0.72</c:v>
                </c:pt>
                <c:pt idx="7">
                  <c:v>0.59</c:v>
                </c:pt>
                <c:pt idx="8">
                  <c:v>0.61</c:v>
                </c:pt>
                <c:pt idx="9">
                  <c:v>0.56999999999999995</c:v>
                </c:pt>
              </c:numCache>
            </c:numRef>
          </c:xVal>
          <c:yVal>
            <c:numRef>
              <c:f>Sheet1!$D$2:$D$11</c:f>
              <c:numCache>
                <c:formatCode>0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08D-41EE-B612-195C765A4E9A}"/>
            </c:ext>
          </c:extLst>
        </c:ser>
        <c:ser>
          <c:idx val="0"/>
          <c:order val="1"/>
          <c:tx>
            <c:v>Q4 2025 - Options  - Motivating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75824"/>
              </a:solidFill>
              <a:ln>
                <a:solidFill>
                  <a:srgbClr val="F75824"/>
                </a:solidFill>
              </a:ln>
            </c:spPr>
          </c:marker>
          <c:dLbls>
            <c:dLbl>
              <c:idx val="0"/>
              <c:layout>
                <c:manualLayout>
                  <c:x val="-0.17915535962438936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9AE-4D48-80EB-CD8B8C7BE1BE}"/>
                </c:ext>
              </c:extLst>
            </c:dLbl>
            <c:dLbl>
              <c:idx val="1"/>
              <c:layout>
                <c:manualLayout>
                  <c:x val="-0.17915535962438942"/>
                  <c:y val="-4.418604062711917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08D-41EE-B612-195C765A4E9A}"/>
                </c:ext>
              </c:extLst>
            </c:dLbl>
            <c:dLbl>
              <c:idx val="2"/>
              <c:layout>
                <c:manualLayout>
                  <c:x val="-8.9778587292285397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08D-41EE-B612-195C765A4E9A}"/>
                </c:ext>
              </c:extLst>
            </c:dLbl>
            <c:dLbl>
              <c:idx val="3"/>
              <c:layout>
                <c:manualLayout>
                  <c:x val="-8.9778587292285397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08D-41EE-B612-195C765A4E9A}"/>
                </c:ext>
              </c:extLst>
            </c:dLbl>
            <c:dLbl>
              <c:idx val="4"/>
              <c:layout>
                <c:manualLayout>
                  <c:x val="-0.21571015901049906"/>
                  <c:y val="-4.41860406271192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08D-41EE-B612-195C765A4E9A}"/>
                </c:ext>
              </c:extLst>
            </c:dLbl>
            <c:dLbl>
              <c:idx val="5"/>
              <c:layout>
                <c:manualLayout>
                  <c:x val="-1.7889976386175396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708D-41EE-B612-195C765A4E9A}"/>
                </c:ext>
              </c:extLst>
            </c:dLbl>
            <c:dLbl>
              <c:idx val="6"/>
              <c:layout>
                <c:manualLayout>
                  <c:x val="-7.9217416433427276E-3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73%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08D-41EE-B612-195C765A4E9A}"/>
                </c:ext>
              </c:extLst>
            </c:dLbl>
            <c:dLbl>
              <c:idx val="7"/>
              <c:layout>
                <c:manualLayout>
                  <c:x val="-1.7889976386175264E-2"/>
                  <c:y val="-4.418604062711915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08D-41EE-B612-195C765A4E9A}"/>
                </c:ext>
              </c:extLst>
            </c:dLbl>
            <c:dLbl>
              <c:idx val="8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45%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9AE-4D48-80EB-CD8B8C7BE1BE}"/>
                </c:ext>
              </c:extLst>
            </c:dLbl>
            <c:dLbl>
              <c:idx val="9"/>
              <c:layout>
                <c:manualLayout>
                  <c:x val="-0.215710159010499"/>
                  <c:y val="-4.418604062711927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F75824"/>
                        </a:solidFill>
                        <a:latin typeface="Johnson Text" panose="020B0604020202020204" charset="0"/>
                        <a:ea typeface="Johnson Text"/>
                        <a:cs typeface="Johnson Text" panose="020B0604020202020204" charset="0"/>
                      </a:defRPr>
                    </a:pPr>
                    <a:r>
                      <a:rPr lang="en-US">
                        <a:latin typeface="Johnson Text" panose="020B0604020202020204" charset="0"/>
                        <a:cs typeface="Johnson Text" panose="020B0604020202020204" charset="0"/>
                      </a:rPr>
                      <a:t>49%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9AE-4D48-80EB-CD8B8C7BE1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Sheet1!$C$2:$C$11</c:f>
              <c:numCache>
                <c:formatCode>0%</c:formatCode>
                <c:ptCount val="10"/>
                <c:pt idx="0">
                  <c:v>0.65</c:v>
                </c:pt>
                <c:pt idx="1">
                  <c:v>0.67</c:v>
                </c:pt>
                <c:pt idx="2">
                  <c:v>0.68</c:v>
                </c:pt>
                <c:pt idx="3">
                  <c:v>0.68</c:v>
                </c:pt>
                <c:pt idx="4">
                  <c:v>0.75</c:v>
                </c:pt>
                <c:pt idx="5">
                  <c:v>0.67</c:v>
                </c:pt>
                <c:pt idx="6">
                  <c:v>0.73</c:v>
                </c:pt>
                <c:pt idx="7">
                  <c:v>0.61</c:v>
                </c:pt>
                <c:pt idx="8">
                  <c:v>0.45</c:v>
                </c:pt>
                <c:pt idx="9">
                  <c:v>0.49</c:v>
                </c:pt>
              </c:numCache>
            </c:numRef>
          </c:xVal>
          <c:yVal>
            <c:numRef>
              <c:f>Sheet1!$D$2:$D$11</c:f>
              <c:numCache>
                <c:formatCode>0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708D-41EE-B612-195C765A4E9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93827168"/>
        <c:axId val="393832656"/>
        <c:extLst>
          <c:ext xmlns:c15="http://schemas.microsoft.com/office/drawing/2012/chart" uri="{02D57815-91ED-43cb-92C2-25804820EDAC}">
            <c15:filteredScatte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Y-Value</c:v>
                      </c:pt>
                    </c:strCache>
                  </c:strRef>
                </c:tx>
                <c:spPr>
                  <a:ln w="28575">
                    <a:noFill/>
                  </a:ln>
                </c:spPr>
                <c:marker>
                  <c:symbol val="circle"/>
                  <c:size val="7"/>
                  <c:spPr>
                    <a:solidFill>
                      <a:srgbClr val="1D428A"/>
                    </a:solidFill>
                    <a:ln>
                      <a:solidFill>
                        <a:srgbClr val="1D428A"/>
                      </a:solidFill>
                    </a:ln>
                  </c:spPr>
                </c:marker>
                <c:dPt>
                  <c:idx val="5"/>
                  <c:bubble3D val="0"/>
                  <c:extLst>
                    <c:ext xmlns:c16="http://schemas.microsoft.com/office/drawing/2014/chart" uri="{C3380CC4-5D6E-409C-BE32-E72D297353CC}">
                      <c16:uniqueId val="{00000000-4D5B-4315-84F0-A08C3A8881D7}"/>
                    </c:ext>
                  </c:extLst>
                </c:dPt>
                <c:dPt>
                  <c:idx val="7"/>
                  <c:bubble3D val="0"/>
                  <c:extLst>
                    <c:ext xmlns:c16="http://schemas.microsoft.com/office/drawing/2014/chart" uri="{C3380CC4-5D6E-409C-BE32-E72D297353CC}">
                      <c16:uniqueId val="{00000013-708D-41EE-B612-195C765A4E9A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xVal>
                  <c:numRef>
                    <c:extLst>
                      <c:ext uri="{02D57815-91ED-43cb-92C2-25804820EDAC}">
                        <c15:formulaRef>
                          <c15:sqref>Sheet1!$D$2:$D$9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10</c:v>
                      </c:pt>
                      <c:pt idx="1">
                        <c:v>9</c:v>
                      </c:pt>
                      <c:pt idx="2">
                        <c:v>8</c:v>
                      </c:pt>
                      <c:pt idx="3">
                        <c:v>7</c:v>
                      </c:pt>
                      <c:pt idx="4">
                        <c:v>6</c:v>
                      </c:pt>
                      <c:pt idx="5">
                        <c:v>5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Sheet1!$I$2:$I$9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15-708D-41EE-B612-195C765A4E9A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>
                    <a:noFill/>
                  </a:ln>
                </c:spPr>
                <c:marker>
                  <c:symbol val="circle"/>
                  <c:size val="7"/>
                  <c:spPr>
                    <a:solidFill>
                      <a:srgbClr val="3B1B53"/>
                    </a:solidFill>
                    <a:ln>
                      <a:noFill/>
                    </a:ln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Sheet1!$J$2:$J$9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708D-41EE-B612-195C765A4E9A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rgbClr val="256B94"/>
                    </a:solidFill>
                    <a:ln w="9525">
                      <a:solidFill>
                        <a:srgbClr val="256B94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wrap="square" lIns="38100" tIns="19050" rIns="38100" bIns="19050" anchor="ctr">
                      <a:spAutoFit/>
                    </a:bodyPr>
                    <a:lstStyle/>
                    <a:p>
                      <a:pPr>
                        <a:defRPr>
                          <a:solidFill>
                            <a:srgbClr val="256B94"/>
                          </a:solidFill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0"/>
                  <c:showCatName val="1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Sheet1!$K$2:$K$9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708D-41EE-B612-195C765A4E9A}"/>
                  </c:ext>
                </c:extLst>
              </c15:ser>
            </c15:filteredScatterSeries>
          </c:ext>
        </c:extLst>
      </c:scatterChart>
      <c:valAx>
        <c:axId val="393827168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393832656"/>
        <c:crosses val="autoZero"/>
        <c:crossBetween val="midCat"/>
      </c:valAx>
      <c:valAx>
        <c:axId val="393832656"/>
        <c:scaling>
          <c:orientation val="minMax"/>
          <c:max val="10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39382716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933672906211664E-2"/>
          <c:y val="6.0592992464134555E-2"/>
          <c:w val="0.92681417677949018"/>
          <c:h val="0.89826814701340874"/>
        </c:manualLayout>
      </c:layout>
      <c:scatterChart>
        <c:scatterStyle val="lineMarker"/>
        <c:varyColors val="0"/>
        <c:ser>
          <c:idx val="0"/>
          <c:order val="0"/>
          <c:tx>
            <c:v>RYB_Rep_Per_2025 - Q4 2025</c:v>
          </c:tx>
          <c:spPr>
            <a:ln w="28575">
              <a:noFill/>
            </a:ln>
          </c:spPr>
          <c:marker>
            <c:symbol val="circle"/>
            <c:size val="7"/>
            <c:spPr>
              <a:solidFill>
                <a:srgbClr val="F75824"/>
              </a:solidFill>
              <a:ln>
                <a:noFill/>
              </a:ln>
            </c:spPr>
          </c:marker>
          <c:dLbls>
            <c:dLbl>
              <c:idx val="1"/>
              <c:layout>
                <c:manualLayout>
                  <c:x val="-4.674415899474875E-2"/>
                  <c:y val="-3.0301712055054233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5D9-43DD-ABB1-96772E0F94AF}"/>
                </c:ext>
              </c:extLst>
            </c:dLbl>
            <c:dLbl>
              <c:idx val="2"/>
              <c:layout>
                <c:manualLayout>
                  <c:x val="-8.2341671653588633E-2"/>
                  <c:y val="-3.0301712055054258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AE-474E-B7A1-539E479F9D47}"/>
                </c:ext>
              </c:extLst>
            </c:dLbl>
            <c:dLbl>
              <c:idx val="3"/>
              <c:layout>
                <c:manualLayout>
                  <c:x val="-7.3442293488878749E-2"/>
                  <c:y val="-2.7482948142956164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D9-43DD-ABB1-96772E0F94AF}"/>
                </c:ext>
              </c:extLst>
            </c:dLbl>
            <c:dLbl>
              <c:idx val="4"/>
              <c:layout>
                <c:manualLayout>
                  <c:x val="-0.1268385624771384"/>
                  <c:y val="-3.8758003791348486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D9-43DD-ABB1-96772E0F94AF}"/>
                </c:ext>
              </c:extLst>
            </c:dLbl>
            <c:dLbl>
              <c:idx val="6"/>
              <c:layout>
                <c:manualLayout>
                  <c:x val="-6.0093226241813708E-2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5D9-43DD-ABB1-96772E0F94AF}"/>
                </c:ext>
              </c:extLst>
            </c:dLbl>
            <c:dLbl>
              <c:idx val="7"/>
              <c:layout>
                <c:manualLayout>
                  <c:x val="-6.0093226241813624E-2"/>
                  <c:y val="-3.8758003791348486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5D9-43DD-ABB1-96772E0F94AF}"/>
                </c:ext>
              </c:extLst>
            </c:dLbl>
            <c:dLbl>
              <c:idx val="8"/>
              <c:layout>
                <c:manualLayout>
                  <c:x val="-6.0093226241813708E-2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5D9-43DD-ABB1-96772E0F94AF}"/>
                </c:ext>
              </c:extLst>
            </c:dLbl>
            <c:dLbl>
              <c:idx val="12"/>
              <c:layout>
                <c:manualLayout>
                  <c:x val="-0.11348949523007346"/>
                  <c:y val="-3.8758003791348541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5D9-43DD-ABB1-96772E0F94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F75824"/>
                    </a:solidFill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Sheet1!$B$2:$B$16</c:f>
              <c:numCache>
                <c:formatCode>0%</c:formatCode>
                <c:ptCount val="15"/>
                <c:pt idx="0">
                  <c:v>0.82</c:v>
                </c:pt>
                <c:pt idx="1">
                  <c:v>0.76</c:v>
                </c:pt>
                <c:pt idx="2">
                  <c:v>0.81</c:v>
                </c:pt>
                <c:pt idx="3">
                  <c:v>0.79</c:v>
                </c:pt>
                <c:pt idx="4">
                  <c:v>0.7</c:v>
                </c:pt>
                <c:pt idx="5">
                  <c:v>0.7</c:v>
                </c:pt>
                <c:pt idx="6">
                  <c:v>0.78</c:v>
                </c:pt>
                <c:pt idx="7">
                  <c:v>0.77</c:v>
                </c:pt>
                <c:pt idx="8">
                  <c:v>0.76</c:v>
                </c:pt>
                <c:pt idx="9">
                  <c:v>0.79</c:v>
                </c:pt>
                <c:pt idx="10">
                  <c:v>0.8</c:v>
                </c:pt>
                <c:pt idx="11">
                  <c:v>0.78</c:v>
                </c:pt>
                <c:pt idx="12">
                  <c:v>0.74</c:v>
                </c:pt>
                <c:pt idx="13">
                  <c:v>0.77</c:v>
                </c:pt>
                <c:pt idx="14">
                  <c:v>0.69</c:v>
                </c:pt>
              </c:numCache>
            </c:numRef>
          </c:xVal>
          <c:yVal>
            <c:numRef>
              <c:f>Sheet1!$E$2:$E$16</c:f>
              <c:numCache>
                <c:formatCode>0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F598-4B85-A1E6-7E270D7D28DE}"/>
            </c:ext>
          </c:extLst>
        </c:ser>
        <c:ser>
          <c:idx val="1"/>
          <c:order val="1"/>
          <c:tx>
            <c:v>TAG_REP_PERF_2025 - Q4 2025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7030A0"/>
              </a:solidFill>
              <a:ln>
                <a:noFill/>
              </a:ln>
            </c:spPr>
          </c:marker>
          <c:dLbls>
            <c:dLbl>
              <c:idx val="1"/>
              <c:layout>
                <c:manualLayout>
                  <c:x val="-0.11793918431242843"/>
                  <c:y val="-3.3120475967152299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D9-43DD-ABB1-96772E0F94AF}"/>
                </c:ext>
              </c:extLst>
            </c:dLbl>
            <c:dLbl>
              <c:idx val="2"/>
              <c:layout>
                <c:manualLayout>
                  <c:x val="-8.679136073594354E-2"/>
                  <c:y val="-3.0301712055054258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8AE-474E-B7A1-539E479F9D47}"/>
                </c:ext>
              </c:extLst>
            </c:dLbl>
            <c:dLbl>
              <c:idx val="3"/>
              <c:layout>
                <c:manualLayout>
                  <c:x val="-7.7891982571233573E-2"/>
                  <c:y val="-2.7482948142956164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8AE-474E-B7A1-539E479F9D47}"/>
                </c:ext>
              </c:extLst>
            </c:dLbl>
            <c:dLbl>
              <c:idx val="4"/>
              <c:layout>
                <c:manualLayout>
                  <c:x val="-4.674415899474875E-2"/>
                  <c:y val="-3.8758003791348486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D9-43DD-ABB1-96772E0F94AF}"/>
                </c:ext>
              </c:extLst>
            </c:dLbl>
            <c:dLbl>
              <c:idx val="6"/>
              <c:layout>
                <c:manualLayout>
                  <c:x val="-0.13128825155949339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5D9-43DD-ABB1-96772E0F94AF}"/>
                </c:ext>
              </c:extLst>
            </c:dLbl>
            <c:dLbl>
              <c:idx val="8"/>
              <c:layout>
                <c:manualLayout>
                  <c:x val="-0.1268385624771384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5D9-43DD-ABB1-96772E0F94AF}"/>
                </c:ext>
              </c:extLst>
            </c:dLbl>
            <c:dLbl>
              <c:idx val="12"/>
              <c:layout>
                <c:manualLayout>
                  <c:x val="-3.7844780830038692E-2"/>
                  <c:y val="-3.8758003791348541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5D9-43DD-ABB1-96772E0F94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>
                    <a:solidFill>
                      <a:srgbClr val="7030A0"/>
                    </a:solidFill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Sheet1!$C$2:$C$16</c:f>
              <c:numCache>
                <c:formatCode>0%</c:formatCode>
                <c:ptCount val="15"/>
                <c:pt idx="0">
                  <c:v>0.73</c:v>
                </c:pt>
                <c:pt idx="1">
                  <c:v>0.74</c:v>
                </c:pt>
                <c:pt idx="2">
                  <c:v>0.64</c:v>
                </c:pt>
                <c:pt idx="3">
                  <c:v>0.75</c:v>
                </c:pt>
                <c:pt idx="4">
                  <c:v>0.71</c:v>
                </c:pt>
                <c:pt idx="5">
                  <c:v>0.63</c:v>
                </c:pt>
                <c:pt idx="6">
                  <c:v>0.77</c:v>
                </c:pt>
                <c:pt idx="7">
                  <c:v>0.74</c:v>
                </c:pt>
                <c:pt idx="8">
                  <c:v>0.74</c:v>
                </c:pt>
                <c:pt idx="9">
                  <c:v>0.73</c:v>
                </c:pt>
                <c:pt idx="10">
                  <c:v>0.73</c:v>
                </c:pt>
                <c:pt idx="11">
                  <c:v>0.67</c:v>
                </c:pt>
                <c:pt idx="12">
                  <c:v>0.75</c:v>
                </c:pt>
                <c:pt idx="13">
                  <c:v>0.7</c:v>
                </c:pt>
                <c:pt idx="14">
                  <c:v>0.75</c:v>
                </c:pt>
              </c:numCache>
            </c:numRef>
          </c:xVal>
          <c:yVal>
            <c:numRef>
              <c:f>Sheet1!$E$2:$E$16</c:f>
              <c:numCache>
                <c:formatCode>0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F598-4B85-A1E6-7E270D7D28DE}"/>
            </c:ext>
          </c:extLst>
        </c:ser>
        <c:ser>
          <c:idx val="2"/>
          <c:order val="2"/>
          <c:tx>
            <c:v>IA</c:v>
          </c:tx>
          <c:spPr>
            <a:ln w="19050">
              <a:noFill/>
            </a:ln>
          </c:spPr>
          <c:marker>
            <c:symbol val="diamond"/>
            <c:size val="6"/>
            <c:spPr>
              <a:solidFill>
                <a:srgbClr val="BFBFBF"/>
              </a:solidFill>
              <a:ln cap="rnd">
                <a:solidFill>
                  <a:srgbClr val="BFBFBF"/>
                </a:solidFill>
              </a:ln>
            </c:spPr>
          </c:marker>
          <c:dLbls>
            <c:delete val="1"/>
          </c:dLbls>
          <c:xVal>
            <c:numRef>
              <c:f>Sheet1!$D$2:$D$16</c:f>
              <c:numCache>
                <c:formatCode>0%</c:formatCode>
                <c:ptCount val="15"/>
                <c:pt idx="0">
                  <c:v>0.73</c:v>
                </c:pt>
                <c:pt idx="1">
                  <c:v>0.66</c:v>
                </c:pt>
                <c:pt idx="2">
                  <c:v>0.7</c:v>
                </c:pt>
                <c:pt idx="3">
                  <c:v>0.69</c:v>
                </c:pt>
                <c:pt idx="4">
                  <c:v>0.7</c:v>
                </c:pt>
                <c:pt idx="5">
                  <c:v>0.66</c:v>
                </c:pt>
                <c:pt idx="6">
                  <c:v>0.69</c:v>
                </c:pt>
                <c:pt idx="7">
                  <c:v>0.67</c:v>
                </c:pt>
                <c:pt idx="8">
                  <c:v>0.67</c:v>
                </c:pt>
                <c:pt idx="9">
                  <c:v>0.7</c:v>
                </c:pt>
                <c:pt idx="10">
                  <c:v>0.71</c:v>
                </c:pt>
                <c:pt idx="11">
                  <c:v>0.67</c:v>
                </c:pt>
                <c:pt idx="14">
                  <c:v>0.62</c:v>
                </c:pt>
              </c:numCache>
            </c:numRef>
          </c:xVal>
          <c:yVal>
            <c:numRef>
              <c:f>Sheet1!$E$2:$E$16</c:f>
              <c:numCache>
                <c:formatCode>0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F598-4B85-A1E6-7E270D7D28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405609696"/>
        <c:axId val="405610872"/>
        <c:extLst/>
      </c:scatterChart>
      <c:valAx>
        <c:axId val="405609696"/>
        <c:scaling>
          <c:orientation val="minMax"/>
          <c:max val="0.9"/>
          <c:min val="0.5"/>
        </c:scaling>
        <c:delete val="1"/>
        <c:axPos val="b"/>
        <c:numFmt formatCode="0%" sourceLinked="1"/>
        <c:majorTickMark val="out"/>
        <c:minorTickMark val="none"/>
        <c:tickLblPos val="nextTo"/>
        <c:crossAx val="405610872"/>
        <c:crosses val="autoZero"/>
        <c:crossBetween val="midCat"/>
      </c:valAx>
      <c:valAx>
        <c:axId val="405610872"/>
        <c:scaling>
          <c:orientation val="minMax"/>
          <c:max val="15"/>
          <c:min val="1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0" sourceLinked="1"/>
        <c:majorTickMark val="out"/>
        <c:minorTickMark val="none"/>
        <c:tickLblPos val="nextTo"/>
        <c:crossAx val="40560969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2025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Compelling Reason</c:v>
                </c:pt>
                <c:pt idx="1">
                  <c:v>Changed Opinion</c:v>
                </c:pt>
                <c:pt idx="2">
                  <c:v>Closing Rates</c:v>
                </c:pt>
                <c:pt idx="3">
                  <c:v>Staff Education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0.49</c:v>
                </c:pt>
                <c:pt idx="1">
                  <c:v>0.56999999999999995</c:v>
                </c:pt>
                <c:pt idx="2">
                  <c:v>0.46</c:v>
                </c:pt>
                <c:pt idx="3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12-4F96-87E8-D0E02D6551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8"/>
        <c:axId val="198475648"/>
        <c:axId val="198476896"/>
      </c:barChart>
      <c:catAx>
        <c:axId val="19847564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98476896"/>
        <c:crosses val="autoZero"/>
        <c:auto val="1"/>
        <c:lblAlgn val="ctr"/>
        <c:lblOffset val="100"/>
        <c:noMultiLvlLbl val="0"/>
      </c:catAx>
      <c:valAx>
        <c:axId val="198476896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198475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4515828924162257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2025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Compelling Reason</c:v>
                </c:pt>
                <c:pt idx="1">
                  <c:v>Changed Opinion</c:v>
                </c:pt>
                <c:pt idx="2">
                  <c:v>Closing Rates</c:v>
                </c:pt>
                <c:pt idx="3">
                  <c:v>Staff Education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0.59</c:v>
                </c:pt>
                <c:pt idx="1">
                  <c:v>0.53</c:v>
                </c:pt>
                <c:pt idx="2">
                  <c:v>0.55000000000000004</c:v>
                </c:pt>
                <c:pt idx="3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E7-454B-8B87-10C4A45156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8"/>
        <c:axId val="198475648"/>
        <c:axId val="198476896"/>
      </c:barChart>
      <c:catAx>
        <c:axId val="19847564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98476896"/>
        <c:crosses val="autoZero"/>
        <c:auto val="1"/>
        <c:lblAlgn val="ctr"/>
        <c:lblOffset val="100"/>
        <c:noMultiLvlLbl val="0"/>
      </c:catAx>
      <c:valAx>
        <c:axId val="198476896"/>
        <c:scaling>
          <c:orientation val="minMax"/>
          <c:max val="1"/>
        </c:scaling>
        <c:delete val="1"/>
        <c:axPos val="t"/>
        <c:numFmt formatCode="0%" sourceLinked="1"/>
        <c:majorTickMark val="none"/>
        <c:minorTickMark val="none"/>
        <c:tickLblPos val="nextTo"/>
        <c:crossAx val="198475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9.6107783540277478E-2"/>
          <c:w val="1"/>
          <c:h val="0.796454256138082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Quality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12C-4BB4-880E-54A15767D3E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1A-490B-B3CA-5BFE8C730BE7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75824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A70-4E35-B65C-CC2A02C6A64B}"/>
                </c:ext>
              </c:extLst>
            </c:dLbl>
            <c:dLbl>
              <c:idx val="1"/>
              <c:layout>
                <c:manualLayout>
                  <c:x val="1.5194356715966602E-3"/>
                  <c:y val="5.39835847395632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12C-4BB4-880E-54A15767D3EB}"/>
                </c:ext>
              </c:extLst>
            </c:dLbl>
            <c:dLbl>
              <c:idx val="5"/>
              <c:layout>
                <c:manualLayout>
                  <c:x val="-3.2253008191112189E-4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01A-490B-B3CA-5BFE8C730BE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Rep led Narrative</c:v>
                </c:pt>
                <c:pt idx="1">
                  <c:v>Patient Starter Kits</c:v>
                </c:pt>
                <c:pt idx="2">
                  <c:v>Product Brochure</c:v>
                </c:pt>
                <c:pt idx="3">
                  <c:v>Patient Profile</c:v>
                </c:pt>
                <c:pt idx="4">
                  <c:v>Branded Closing</c:v>
                </c:pt>
                <c:pt idx="5">
                  <c:v>NCCN Guidelines</c:v>
                </c:pt>
                <c:pt idx="6">
                  <c:v>Safety / side effects</c:v>
                </c:pt>
                <c:pt idx="7">
                  <c:v>Median OS Not Reached</c:v>
                </c:pt>
                <c:pt idx="8">
                  <c:v>Efficacy - CNS</c:v>
                </c:pt>
                <c:pt idx="9">
                  <c:v>OS Headline</c:v>
                </c:pt>
                <c:pt idx="10">
                  <c:v>NCCN-CNS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0.59</c:v>
                </c:pt>
                <c:pt idx="1">
                  <c:v>0.52</c:v>
                </c:pt>
                <c:pt idx="2">
                  <c:v>0.59</c:v>
                </c:pt>
                <c:pt idx="3">
                  <c:v>0.31</c:v>
                </c:pt>
                <c:pt idx="4">
                  <c:v>0.51</c:v>
                </c:pt>
                <c:pt idx="5">
                  <c:v>0.46</c:v>
                </c:pt>
                <c:pt idx="6">
                  <c:v>0.37</c:v>
                </c:pt>
                <c:pt idx="7">
                  <c:v>0.46</c:v>
                </c:pt>
                <c:pt idx="8">
                  <c:v>0.41</c:v>
                </c:pt>
                <c:pt idx="9">
                  <c:v>0.41</c:v>
                </c:pt>
                <c:pt idx="1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12C-4BB4-880E-54A15767D3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</c:spPr>
          <c:invertIfNegative val="0"/>
          <c:dLbls>
            <c:dLbl>
              <c:idx val="0"/>
              <c:layout>
                <c:manualLayout>
                  <c:x val="-3.5442866144079328E-6"/>
                  <c:y val="1.1051757505737349E-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A70-4E35-B65C-CC2A02C6A64B}"/>
                </c:ext>
              </c:extLst>
            </c:dLbl>
            <c:dLbl>
              <c:idx val="1"/>
              <c:layout>
                <c:manualLayout>
                  <c:x val="1.1206148203104281E-3"/>
                  <c:y val="2.15709053132174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2C-4BB4-880E-54A15767D3EB}"/>
                </c:ext>
              </c:extLst>
            </c:dLbl>
            <c:dLbl>
              <c:idx val="3"/>
              <c:layout>
                <c:manualLayout>
                  <c:x val="1.1183110340109805E-3"/>
                  <c:y val="-5.392832595203451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1A-490B-B3CA-5BFE8C730BE7}"/>
                </c:ext>
              </c:extLst>
            </c:dLbl>
            <c:dLbl>
              <c:idx val="4"/>
              <c:layout>
                <c:manualLayout>
                  <c:x val="4.4953959273843014E-3"/>
                  <c:y val="2.9754731745226253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02A-4C69-B74D-8D1FCF1C0CCA}"/>
                </c:ext>
              </c:extLst>
            </c:dLbl>
            <c:dLbl>
              <c:idx val="5"/>
              <c:layout>
                <c:manualLayout>
                  <c:x val="7.9117337950121078E-4"/>
                  <c:y val="1.07911910691597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70-4E35-B65C-CC2A02C6A64B}"/>
                </c:ext>
              </c:extLst>
            </c:dLbl>
            <c:dLbl>
              <c:idx val="7"/>
              <c:layout>
                <c:manualLayout>
                  <c:x val="3.375933000223555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01A-490B-B3CA-5BFE8C730BE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rgbClr val="7F7F7F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Rep led Narrative</c:v>
                </c:pt>
                <c:pt idx="1">
                  <c:v>Patient Starter Kits</c:v>
                </c:pt>
                <c:pt idx="2">
                  <c:v>Product Brochure</c:v>
                </c:pt>
                <c:pt idx="3">
                  <c:v>Patient Profile</c:v>
                </c:pt>
                <c:pt idx="4">
                  <c:v>Branded Closing</c:v>
                </c:pt>
                <c:pt idx="5">
                  <c:v>NCCN Guidelines</c:v>
                </c:pt>
                <c:pt idx="6">
                  <c:v>Safety / side effects</c:v>
                </c:pt>
                <c:pt idx="7">
                  <c:v>Median OS Not Reached</c:v>
                </c:pt>
                <c:pt idx="8">
                  <c:v>Efficacy - CNS</c:v>
                </c:pt>
                <c:pt idx="9">
                  <c:v>OS Headline</c:v>
                </c:pt>
                <c:pt idx="10">
                  <c:v>NCCN-CNS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0.3</c:v>
                </c:pt>
                <c:pt idx="1">
                  <c:v>0.35</c:v>
                </c:pt>
                <c:pt idx="2">
                  <c:v>0.2</c:v>
                </c:pt>
                <c:pt idx="3">
                  <c:v>0.2</c:v>
                </c:pt>
                <c:pt idx="4">
                  <c:v>0.38</c:v>
                </c:pt>
                <c:pt idx="5">
                  <c:v>0.24</c:v>
                </c:pt>
                <c:pt idx="6">
                  <c:v>0.27</c:v>
                </c:pt>
                <c:pt idx="7">
                  <c:v>0.22</c:v>
                </c:pt>
                <c:pt idx="8">
                  <c:v>0.24</c:v>
                </c:pt>
                <c:pt idx="9">
                  <c:v>0.27</c:v>
                </c:pt>
                <c:pt idx="1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12C-4BB4-880E-54A15767D3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449991800"/>
        <c:axId val="449994680"/>
        <c:extLst/>
      </c:barChart>
      <c:catAx>
        <c:axId val="4499918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9994680"/>
        <c:crosses val="autoZero"/>
        <c:auto val="1"/>
        <c:lblAlgn val="ctr"/>
        <c:lblOffset val="100"/>
        <c:noMultiLvlLbl val="0"/>
      </c:catAx>
      <c:valAx>
        <c:axId val="44999468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44999180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933629007158417E-2"/>
          <c:y val="6.9049284200428759E-2"/>
          <c:w val="0.92681417677949018"/>
          <c:h val="0.89826814701340874"/>
        </c:manualLayout>
      </c:layout>
      <c:scatterChart>
        <c:scatterStyle val="lineMarker"/>
        <c:varyColors val="0"/>
        <c:ser>
          <c:idx val="0"/>
          <c:order val="0"/>
          <c:tx>
            <c:v>MARIPOSA Discussed Most  - Discussed Most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chemeClr val="accent2">
                  <a:lumMod val="75000"/>
                  <a:lumOff val="25000"/>
                </a:schemeClr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6.0080869605730024E-2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65E-43F4-A4F5-91CADAC0099F}"/>
                </c:ext>
              </c:extLst>
            </c:dLbl>
            <c:dLbl>
              <c:idx val="11"/>
              <c:layout>
                <c:manualLayout>
                  <c:x val="-6.8978417840775227E-2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65E-43F4-A4F5-91CADAC0099F}"/>
                </c:ext>
              </c:extLst>
            </c:dLbl>
            <c:dLbl>
              <c:idx val="12"/>
              <c:layout>
                <c:manualLayout>
                  <c:x val="-9.6371770930594555E-2"/>
                  <c:y val="-3.0301712055054334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DCF-44E0-AB03-693073EE248B}"/>
                </c:ext>
              </c:extLst>
            </c:dLbl>
            <c:dLbl>
              <c:idx val="13"/>
              <c:layout>
                <c:manualLayout>
                  <c:x val="-4.0809601618425145E-2"/>
                  <c:y val="-2.4664184230858095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65E-43F4-A4F5-91CADAC0099F}"/>
                </c:ext>
              </c:extLst>
            </c:dLbl>
            <c:dLbl>
              <c:idx val="14"/>
              <c:layout>
                <c:manualLayout>
                  <c:x val="-7.3427191958297819E-2"/>
                  <c:y val="-3.8758003791348541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65E-43F4-A4F5-91CADAC009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baseline="0">
                    <a:solidFill>
                      <a:schemeClr val="accent2">
                        <a:lumMod val="75000"/>
                        <a:lumOff val="25000"/>
                      </a:schemeClr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Sheet1!$B$2:$B$16</c:f>
              <c:numCache>
                <c:formatCode>0%</c:formatCode>
                <c:ptCount val="15"/>
                <c:pt idx="0">
                  <c:v>0.83</c:v>
                </c:pt>
                <c:pt idx="1">
                  <c:v>0.78</c:v>
                </c:pt>
                <c:pt idx="2">
                  <c:v>0.83</c:v>
                </c:pt>
                <c:pt idx="3">
                  <c:v>0.84</c:v>
                </c:pt>
                <c:pt idx="4">
                  <c:v>0.74</c:v>
                </c:pt>
                <c:pt idx="5">
                  <c:v>0.69</c:v>
                </c:pt>
                <c:pt idx="6">
                  <c:v>0.81</c:v>
                </c:pt>
                <c:pt idx="7">
                  <c:v>0.76</c:v>
                </c:pt>
                <c:pt idx="8">
                  <c:v>0.83</c:v>
                </c:pt>
                <c:pt idx="9">
                  <c:v>0.81</c:v>
                </c:pt>
                <c:pt idx="10">
                  <c:v>0.83</c:v>
                </c:pt>
                <c:pt idx="11">
                  <c:v>0.79</c:v>
                </c:pt>
                <c:pt idx="12">
                  <c:v>0.79</c:v>
                </c:pt>
                <c:pt idx="13">
                  <c:v>0.78</c:v>
                </c:pt>
                <c:pt idx="14">
                  <c:v>0.7</c:v>
                </c:pt>
              </c:numCache>
            </c:numRef>
          </c:xVal>
          <c:yVal>
            <c:numRef>
              <c:f>Sheet1!$D$2:$D$16</c:f>
              <c:numCache>
                <c:formatCode>0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96F-4495-89A1-92933A2E7EEB}"/>
            </c:ext>
          </c:extLst>
        </c:ser>
        <c:ser>
          <c:idx val="1"/>
          <c:order val="1"/>
          <c:tx>
            <c:v>MARIPOSA Discussed Most  - Discussed Less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A6A6A6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0.1090173848984787"/>
                  <c:y val="-3.87580037913484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80%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65E-43F4-A4F5-91CADAC0099F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70%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65E-43F4-A4F5-91CADAC0099F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75%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65E-43F4-A4F5-91CADAC0099F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60%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65E-43F4-A4F5-91CADAC0099F}"/>
                </c:ext>
              </c:extLst>
            </c:dLbl>
            <c:dLbl>
              <c:idx val="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55%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65E-43F4-A4F5-91CADAC0099F}"/>
                </c:ext>
              </c:extLst>
            </c:dLbl>
            <c:dLbl>
              <c:idx val="5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75%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65E-43F4-A4F5-91CADAC0099F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65E-43F4-A4F5-91CADAC0099F}"/>
                </c:ext>
              </c:extLst>
            </c:dLbl>
            <c:dLbl>
              <c:idx val="7"/>
              <c:layout>
                <c:manualLayout>
                  <c:x val="-6.0080869605730183E-2"/>
                  <c:y val="-3.875800379134848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80%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65E-43F4-A4F5-91CADAC0099F}"/>
                </c:ext>
              </c:extLst>
            </c:dLbl>
            <c:dLbl>
              <c:idx val="8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50%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65E-43F4-A4F5-91CADAC0099F}"/>
                </c:ext>
              </c:extLst>
            </c:dLbl>
            <c:dLbl>
              <c:idx val="9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70%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65E-43F4-A4F5-91CADAC0099F}"/>
                </c:ext>
              </c:extLst>
            </c:dLbl>
            <c:dLbl>
              <c:idx val="1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70%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65E-43F4-A4F5-91CADAC0099F}"/>
                </c:ext>
              </c:extLst>
            </c:dLbl>
            <c:dLbl>
              <c:idx val="1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75%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96F-4495-89A1-92933A2E7EEB}"/>
                </c:ext>
              </c:extLst>
            </c:dLbl>
            <c:dLbl>
              <c:idx val="12"/>
              <c:layout>
                <c:manualLayout>
                  <c:x val="-9.6371770930594458E-2"/>
                  <c:y val="-3.0301712055054334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55%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65E-43F4-A4F5-91CADAC0099F}"/>
                </c:ext>
              </c:extLst>
            </c:dLbl>
            <c:dLbl>
              <c:idx val="13"/>
              <c:layout>
                <c:manualLayout>
                  <c:x val="-0.10950941487706194"/>
                  <c:y val="-2.466418423085799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75%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96F-4495-89A1-92933A2E7EEB}"/>
                </c:ext>
              </c:extLst>
            </c:dLbl>
            <c:dLbl>
              <c:idx val="1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A6A6A6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A6A6A6"/>
                        </a:solidFill>
                      </a:rPr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E65E-43F4-A4F5-91CADAC009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A6A6A6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Sheet1!$C$2:$C$16</c:f>
              <c:numCache>
                <c:formatCode>0%</c:formatCode>
                <c:ptCount val="15"/>
                <c:pt idx="0">
                  <c:v>0.8</c:v>
                </c:pt>
                <c:pt idx="1">
                  <c:v>0.7</c:v>
                </c:pt>
                <c:pt idx="2">
                  <c:v>0.75</c:v>
                </c:pt>
                <c:pt idx="3">
                  <c:v>0.6</c:v>
                </c:pt>
                <c:pt idx="4">
                  <c:v>0.55000000000000004</c:v>
                </c:pt>
                <c:pt idx="5">
                  <c:v>0.75</c:v>
                </c:pt>
                <c:pt idx="6">
                  <c:v>0.65</c:v>
                </c:pt>
                <c:pt idx="7">
                  <c:v>0.8</c:v>
                </c:pt>
                <c:pt idx="8">
                  <c:v>0.5</c:v>
                </c:pt>
                <c:pt idx="9">
                  <c:v>0.7</c:v>
                </c:pt>
                <c:pt idx="10">
                  <c:v>0.7</c:v>
                </c:pt>
                <c:pt idx="11">
                  <c:v>0.75</c:v>
                </c:pt>
                <c:pt idx="12">
                  <c:v>0.55000000000000004</c:v>
                </c:pt>
                <c:pt idx="13">
                  <c:v>0.75</c:v>
                </c:pt>
                <c:pt idx="14">
                  <c:v>0.65</c:v>
                </c:pt>
              </c:numCache>
            </c:numRef>
          </c:xVal>
          <c:yVal>
            <c:numRef>
              <c:f>Sheet1!$D$2:$D$16</c:f>
              <c:numCache>
                <c:formatCode>0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96F-4495-89A1-92933A2E7EE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405609696"/>
        <c:axId val="405610872"/>
        <c:extLst/>
      </c:scatterChart>
      <c:valAx>
        <c:axId val="405609696"/>
        <c:scaling>
          <c:orientation val="minMax"/>
          <c:max val="0.9"/>
          <c:min val="0.4"/>
        </c:scaling>
        <c:delete val="1"/>
        <c:axPos val="b"/>
        <c:numFmt formatCode="0%" sourceLinked="1"/>
        <c:majorTickMark val="out"/>
        <c:minorTickMark val="none"/>
        <c:tickLblPos val="nextTo"/>
        <c:crossAx val="405610872"/>
        <c:crosses val="autoZero"/>
        <c:crossBetween val="midCat"/>
      </c:valAx>
      <c:valAx>
        <c:axId val="405610872"/>
        <c:scaling>
          <c:orientation val="minMax"/>
          <c:max val="15"/>
          <c:min val="1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0" sourceLinked="1"/>
        <c:majorTickMark val="out"/>
        <c:minorTickMark val="none"/>
        <c:tickLblPos val="nextTo"/>
        <c:crossAx val="40560969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933672906211664E-2"/>
          <c:y val="6.0592992464134555E-2"/>
          <c:w val="0.92681417677949018"/>
          <c:h val="0.89826814701340874"/>
        </c:manualLayout>
      </c:layout>
      <c:scatterChart>
        <c:scatterStyle val="lineMarker"/>
        <c:varyColors val="0"/>
        <c:ser>
          <c:idx val="0"/>
          <c:order val="0"/>
          <c:tx>
            <c:v>MARIPOSA Discussed 1st  - Discussed first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F6A5A"/>
              </a:solidFill>
              <a:ln>
                <a:noFill/>
              </a:ln>
            </c:spPr>
          </c:marker>
          <c:dLbls>
            <c:dLbl>
              <c:idx val="4"/>
              <c:layout>
                <c:manualLayout>
                  <c:x val="-6.0080869605730024E-2"/>
                  <c:y val="-3.8758003791348486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E834-41E5-AD79-8EE411E884A3}"/>
                </c:ext>
              </c:extLst>
            </c:dLbl>
            <c:dLbl>
              <c:idx val="5"/>
              <c:layout>
                <c:manualLayout>
                  <c:x val="-0.12681248136856901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E834-41E5-AD79-8EE411E884A3}"/>
                </c:ext>
              </c:extLst>
            </c:dLbl>
            <c:dLbl>
              <c:idx val="11"/>
              <c:layout>
                <c:manualLayout>
                  <c:x val="-4.6734547253162305E-2"/>
                  <c:y val="-3.875800379134843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E834-41E5-AD79-8EE411E884A3}"/>
                </c:ext>
              </c:extLst>
            </c:dLbl>
            <c:dLbl>
              <c:idx val="12"/>
              <c:layout>
                <c:manualLayout>
                  <c:x val="-9.6431571710748107E-2"/>
                  <c:y val="-2.4664184230858199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7A-460F-8CEA-3FB97A431BA1}"/>
                </c:ext>
              </c:extLst>
            </c:dLbl>
            <c:dLbl>
              <c:idx val="13"/>
              <c:layout>
                <c:manualLayout>
                  <c:x val="-3.5856347267952414E-2"/>
                  <c:y val="-2.7482948142956164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E834-41E5-AD79-8EE411E884A3}"/>
                </c:ext>
              </c:extLst>
            </c:dLbl>
            <c:dLbl>
              <c:idx val="14"/>
              <c:layout>
                <c:manualLayout>
                  <c:x val="-0.11346615901600123"/>
                  <c:y val="-3.8758003791348541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834-41E5-AD79-8EE411E884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baseline="0">
                    <a:solidFill>
                      <a:srgbClr val="FF6A5A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Sheet1!$B$2:$B$16</c:f>
              <c:numCache>
                <c:formatCode>0%</c:formatCode>
                <c:ptCount val="15"/>
                <c:pt idx="0">
                  <c:v>0.86</c:v>
                </c:pt>
                <c:pt idx="1">
                  <c:v>0.77</c:v>
                </c:pt>
                <c:pt idx="2">
                  <c:v>0.84</c:v>
                </c:pt>
                <c:pt idx="3">
                  <c:v>0.81</c:v>
                </c:pt>
                <c:pt idx="4">
                  <c:v>0.71</c:v>
                </c:pt>
                <c:pt idx="5">
                  <c:v>0.7</c:v>
                </c:pt>
                <c:pt idx="6">
                  <c:v>0.8</c:v>
                </c:pt>
                <c:pt idx="7">
                  <c:v>0.76</c:v>
                </c:pt>
                <c:pt idx="8">
                  <c:v>0.8</c:v>
                </c:pt>
                <c:pt idx="9">
                  <c:v>0.84</c:v>
                </c:pt>
                <c:pt idx="10">
                  <c:v>0.86</c:v>
                </c:pt>
                <c:pt idx="11">
                  <c:v>0.78</c:v>
                </c:pt>
                <c:pt idx="12">
                  <c:v>0.78</c:v>
                </c:pt>
                <c:pt idx="13">
                  <c:v>0.77</c:v>
                </c:pt>
                <c:pt idx="14">
                  <c:v>0.68</c:v>
                </c:pt>
              </c:numCache>
            </c:numRef>
          </c:xVal>
          <c:yVal>
            <c:numRef>
              <c:f>Sheet1!$D$2:$D$16</c:f>
              <c:numCache>
                <c:formatCode>0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834-41E5-AD79-8EE411E884A3}"/>
            </c:ext>
          </c:extLst>
        </c:ser>
        <c:ser>
          <c:idx val="1"/>
          <c:order val="1"/>
          <c:tx>
            <c:v>MARIPOSA Discussed 1st  - Discussed Later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FCDC8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67%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834-41E5-AD79-8EE411E884A3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834-41E5-AD79-8EE411E884A3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834-41E5-AD79-8EE411E884A3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834-41E5-AD79-8EE411E884A3}"/>
                </c:ext>
              </c:extLst>
            </c:dLbl>
            <c:dLbl>
              <c:idx val="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67%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E834-41E5-AD79-8EE411E884A3}"/>
                </c:ext>
              </c:extLst>
            </c:dLbl>
            <c:dLbl>
              <c:idx val="5"/>
              <c:layout>
                <c:manualLayout>
                  <c:x val="-4.6734547253162222E-2"/>
                  <c:y val="-3.87580037913484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E834-41E5-AD79-8EE411E884A3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E834-41E5-AD79-8EE411E884A3}"/>
                </c:ext>
              </c:extLst>
            </c:dLbl>
            <c:dLbl>
              <c:idx val="7"/>
              <c:layout>
                <c:manualLayout>
                  <c:x val="-7.171191596407038E-2"/>
                  <c:y val="-3.875800379134848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81%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E834-41E5-AD79-8EE411E884A3}"/>
                </c:ext>
              </c:extLst>
            </c:dLbl>
            <c:dLbl>
              <c:idx val="8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62%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E834-41E5-AD79-8EE411E884A3}"/>
                </c:ext>
              </c:extLst>
            </c:dLbl>
            <c:dLbl>
              <c:idx val="9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62%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E834-41E5-AD79-8EE411E884A3}"/>
                </c:ext>
              </c:extLst>
            </c:dLbl>
            <c:dLbl>
              <c:idx val="1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57%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E834-41E5-AD79-8EE411E884A3}"/>
                </c:ext>
              </c:extLst>
            </c:dLbl>
            <c:dLbl>
              <c:idx val="11"/>
              <c:layout>
                <c:manualLayout>
                  <c:x val="-0.12681248136856901"/>
                  <c:y val="-3.87580037913484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E834-41E5-AD79-8EE411E884A3}"/>
                </c:ext>
              </c:extLst>
            </c:dLbl>
            <c:dLbl>
              <c:idx val="12"/>
              <c:layout>
                <c:manualLayout>
                  <c:x val="-9.6431571710748107E-2"/>
                  <c:y val="-2.466418423085819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57%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E834-41E5-AD79-8EE411E884A3}"/>
                </c:ext>
              </c:extLst>
            </c:dLbl>
            <c:dLbl>
              <c:idx val="13"/>
              <c:layout>
                <c:manualLayout>
                  <c:x val="-0.15499068438799971"/>
                  <c:y val="-2.466418423085799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E834-41E5-AD79-8EE411E884A3}"/>
                </c:ext>
              </c:extLst>
            </c:dLbl>
            <c:dLbl>
              <c:idx val="14"/>
              <c:layout>
                <c:manualLayout>
                  <c:x val="-5.5632095488207418E-2"/>
                  <c:y val="-3.875800379134854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 baseline="0">
                        <a:solidFill>
                          <a:srgbClr val="FFCDC8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FCDC8"/>
                        </a:solidFill>
                      </a:rPr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E834-41E5-AD79-8EE411E884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aseline="0">
                    <a:solidFill>
                      <a:srgbClr val="FFCDC8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Sheet1!$C$2:$C$16</c:f>
              <c:numCache>
                <c:formatCode>0%</c:formatCode>
                <c:ptCount val="15"/>
                <c:pt idx="0">
                  <c:v>0.67</c:v>
                </c:pt>
                <c:pt idx="1">
                  <c:v>0.71</c:v>
                </c:pt>
                <c:pt idx="2">
                  <c:v>0.71</c:v>
                </c:pt>
                <c:pt idx="3">
                  <c:v>0.71</c:v>
                </c:pt>
                <c:pt idx="4">
                  <c:v>0.67</c:v>
                </c:pt>
                <c:pt idx="5">
                  <c:v>0.71</c:v>
                </c:pt>
                <c:pt idx="6">
                  <c:v>0.71</c:v>
                </c:pt>
                <c:pt idx="7">
                  <c:v>0.81</c:v>
                </c:pt>
                <c:pt idx="8">
                  <c:v>0.62</c:v>
                </c:pt>
                <c:pt idx="9">
                  <c:v>0.62</c:v>
                </c:pt>
                <c:pt idx="10">
                  <c:v>0.56999999999999995</c:v>
                </c:pt>
                <c:pt idx="11">
                  <c:v>0.76</c:v>
                </c:pt>
                <c:pt idx="12">
                  <c:v>0.56999999999999995</c:v>
                </c:pt>
                <c:pt idx="13">
                  <c:v>0.76</c:v>
                </c:pt>
                <c:pt idx="14">
                  <c:v>0.71</c:v>
                </c:pt>
              </c:numCache>
            </c:numRef>
          </c:xVal>
          <c:yVal>
            <c:numRef>
              <c:f>Sheet1!$D$2:$D$16</c:f>
              <c:numCache>
                <c:formatCode>0</c:formatCode>
                <c:ptCount val="15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834-41E5-AD79-8EE411E884A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405609696"/>
        <c:axId val="405610872"/>
        <c:extLst/>
      </c:scatterChart>
      <c:valAx>
        <c:axId val="405609696"/>
        <c:scaling>
          <c:orientation val="minMax"/>
          <c:max val="0.9"/>
          <c:min val="0.4"/>
        </c:scaling>
        <c:delete val="1"/>
        <c:axPos val="b"/>
        <c:numFmt formatCode="0%" sourceLinked="1"/>
        <c:majorTickMark val="out"/>
        <c:minorTickMark val="none"/>
        <c:tickLblPos val="nextTo"/>
        <c:crossAx val="405610872"/>
        <c:crosses val="autoZero"/>
        <c:crossBetween val="midCat"/>
      </c:valAx>
      <c:valAx>
        <c:axId val="405610872"/>
        <c:scaling>
          <c:orientation val="minMax"/>
          <c:max val="15"/>
          <c:min val="1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0" sourceLinked="1"/>
        <c:majorTickMark val="out"/>
        <c:minorTickMark val="none"/>
        <c:tickLblPos val="nextTo"/>
        <c:crossAx val="40560969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65499039676063664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Academic</c:v>
                </c:pt>
              </c:strCache>
            </c:strRef>
          </c:tx>
          <c:spPr>
            <a:solidFill>
              <a:srgbClr val="77BEE3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baseline="0">
                      <a:solidFill>
                        <a:srgbClr val="77BEE3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568869347724937"/>
                      <c:h val="5.74114352729658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271-4EB0-AF06-613B0B5FF19F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baseline="0">
                        <a:solidFill>
                          <a:schemeClr val="accent5"/>
                        </a:solidFill>
                      </a:defRPr>
                    </a:pPr>
                    <a:fld id="{9F9F65C3-981F-41D3-B6A4-1EFF2B4FAC5C}" type="VALUE">
                      <a:rPr lang="en-US" baseline="0">
                        <a:solidFill>
                          <a:srgbClr val="77BEE3"/>
                        </a:solidFill>
                      </a:rPr>
                      <a:pPr>
                        <a:defRPr baseline="0">
                          <a:solidFill>
                            <a:schemeClr val="accent5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26679971969937"/>
                      <c:h val="7.108082462367201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271-4EB0-AF06-613B0B5FF1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77BEE3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HII</c:v>
                </c:pt>
                <c:pt idx="1">
                  <c:v>Mariposa Discussed 1st</c:v>
                </c:pt>
                <c:pt idx="2">
                  <c:v>Time Spent Mariposa</c:v>
                </c:pt>
                <c:pt idx="3">
                  <c:v>Rep Led Narrative</c:v>
                </c:pt>
                <c:pt idx="4">
                  <c:v>Visual Aid Usage</c:v>
                </c:pt>
                <c:pt idx="5">
                  <c:v>Patient Starter Kits</c:v>
                </c:pt>
                <c:pt idx="6">
                  <c:v>Branded Closing</c:v>
                </c:pt>
                <c:pt idx="7">
                  <c:v>NCCN Guidelines</c:v>
                </c:pt>
                <c:pt idx="8">
                  <c:v>Safety / side effects</c:v>
                </c:pt>
                <c:pt idx="9">
                  <c:v>Efficacy – CNS</c:v>
                </c:pt>
                <c:pt idx="10">
                  <c:v>Efficacy - mOS Not Reached</c:v>
                </c:pt>
                <c:pt idx="11">
                  <c:v>NCCN-CNS</c:v>
                </c:pt>
                <c:pt idx="12">
                  <c:v>Efficacy - OS Headline</c:v>
                </c:pt>
                <c:pt idx="13">
                  <c:v>Rep providing a compelling reason to prescribe</c:v>
                </c:pt>
                <c:pt idx="14">
                  <c:v>Rep knowledge about [PRODUCT]</c:v>
                </c:pt>
                <c:pt idx="15">
                  <c:v>Intent to Increase Rx </c:v>
                </c:pt>
              </c:strCache>
            </c:strRef>
          </c:cat>
          <c:val>
            <c:numRef>
              <c:f>Sheet1!$B$2:$B$17</c:f>
              <c:numCache>
                <c:formatCode>0%</c:formatCode>
                <c:ptCount val="16"/>
                <c:pt idx="0">
                  <c:v>0.67</c:v>
                </c:pt>
                <c:pt idx="1">
                  <c:v>0.78</c:v>
                </c:pt>
                <c:pt idx="2">
                  <c:v>0.63</c:v>
                </c:pt>
                <c:pt idx="3">
                  <c:v>0.55000000000000004</c:v>
                </c:pt>
                <c:pt idx="4">
                  <c:v>0.52</c:v>
                </c:pt>
                <c:pt idx="5">
                  <c:v>0.59</c:v>
                </c:pt>
                <c:pt idx="6">
                  <c:v>0.52</c:v>
                </c:pt>
                <c:pt idx="7">
                  <c:v>0.41</c:v>
                </c:pt>
                <c:pt idx="8">
                  <c:v>0.41</c:v>
                </c:pt>
                <c:pt idx="9">
                  <c:v>0.48</c:v>
                </c:pt>
                <c:pt idx="10">
                  <c:v>0.44</c:v>
                </c:pt>
                <c:pt idx="11">
                  <c:v>0.4</c:v>
                </c:pt>
                <c:pt idx="12">
                  <c:v>0.37</c:v>
                </c:pt>
                <c:pt idx="13">
                  <c:v>0.93</c:v>
                </c:pt>
                <c:pt idx="14">
                  <c:v>0.85</c:v>
                </c:pt>
                <c:pt idx="15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81-4137-A1AF-91C8C2010A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66767743"/>
        <c:axId val="766763423"/>
      </c:barChart>
      <c:catAx>
        <c:axId val="766767743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766763423"/>
        <c:crosses val="autoZero"/>
        <c:auto val="1"/>
        <c:lblAlgn val="ctr"/>
        <c:lblOffset val="100"/>
        <c:noMultiLvlLbl val="0"/>
      </c:catAx>
      <c:valAx>
        <c:axId val="766763423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766767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6262032229560944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Community</c:v>
                </c:pt>
              </c:strCache>
            </c:strRef>
          </c:tx>
          <c:spPr>
            <a:solidFill>
              <a:srgbClr val="1F698F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baseline="0">
                      <a:solidFill>
                        <a:srgbClr val="1F698F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340743097221603"/>
                      <c:h val="6.014531314310709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C38-4E41-B8CE-5BEB5336AFF8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/>
                    </a:pPr>
                    <a:fld id="{A130A52E-02BA-4BED-9442-A7269BB3F0FB}" type="VALUE">
                      <a:rPr lang="en-US" baseline="0">
                        <a:solidFill>
                          <a:srgbClr val="1F698F"/>
                        </a:solidFill>
                      </a:rPr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15949393089049"/>
                      <c:h val="7.108082462367201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C38-4E41-B8CE-5BEB5336AF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F698F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HII</c:v>
                </c:pt>
                <c:pt idx="1">
                  <c:v>Mariposa Discussed 1st</c:v>
                </c:pt>
                <c:pt idx="2">
                  <c:v>Time Spent Mariposa</c:v>
                </c:pt>
                <c:pt idx="3">
                  <c:v>Rep Led Narrative</c:v>
                </c:pt>
                <c:pt idx="4">
                  <c:v>Visual Aid Usage</c:v>
                </c:pt>
                <c:pt idx="5">
                  <c:v>Patient Starter Kits</c:v>
                </c:pt>
                <c:pt idx="6">
                  <c:v>Branded Closing</c:v>
                </c:pt>
                <c:pt idx="7">
                  <c:v>NCCN Guidelines</c:v>
                </c:pt>
                <c:pt idx="8">
                  <c:v>Safety / side effects</c:v>
                </c:pt>
                <c:pt idx="9">
                  <c:v>Efficacy – CNS</c:v>
                </c:pt>
                <c:pt idx="10">
                  <c:v>Efficacy - mOS Not Reached</c:v>
                </c:pt>
                <c:pt idx="11">
                  <c:v>NCCN-CNS</c:v>
                </c:pt>
                <c:pt idx="12">
                  <c:v>Efficacy - OS Headline</c:v>
                </c:pt>
                <c:pt idx="13">
                  <c:v>Rep providing a compelling reason to prescribe</c:v>
                </c:pt>
                <c:pt idx="14">
                  <c:v>Rep knowledge about [PRODUCT]</c:v>
                </c:pt>
                <c:pt idx="15">
                  <c:v>Intent to Increase Rx </c:v>
                </c:pt>
              </c:strCache>
            </c:strRef>
          </c:cat>
          <c:val>
            <c:numRef>
              <c:f>Sheet1!$B$2:$B$17</c:f>
              <c:numCache>
                <c:formatCode>0%</c:formatCode>
                <c:ptCount val="16"/>
                <c:pt idx="0">
                  <c:v>0.62</c:v>
                </c:pt>
                <c:pt idx="1">
                  <c:v>0.79</c:v>
                </c:pt>
                <c:pt idx="2">
                  <c:v>0.86</c:v>
                </c:pt>
                <c:pt idx="3">
                  <c:v>0.44999999999999996</c:v>
                </c:pt>
                <c:pt idx="4">
                  <c:v>0.41</c:v>
                </c:pt>
                <c:pt idx="5">
                  <c:v>0.41</c:v>
                </c:pt>
                <c:pt idx="6">
                  <c:v>0.44</c:v>
                </c:pt>
                <c:pt idx="7">
                  <c:v>0.37</c:v>
                </c:pt>
                <c:pt idx="8">
                  <c:v>0.3</c:v>
                </c:pt>
                <c:pt idx="9">
                  <c:v>0.3</c:v>
                </c:pt>
                <c:pt idx="10">
                  <c:v>0.34</c:v>
                </c:pt>
                <c:pt idx="11">
                  <c:v>0.27</c:v>
                </c:pt>
                <c:pt idx="12">
                  <c:v>0.36</c:v>
                </c:pt>
                <c:pt idx="13">
                  <c:v>0.74</c:v>
                </c:pt>
                <c:pt idx="14">
                  <c:v>0.79</c:v>
                </c:pt>
                <c:pt idx="15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04-4C14-AF41-A45C0F4371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66767743"/>
        <c:axId val="766763423"/>
      </c:barChart>
      <c:catAx>
        <c:axId val="766767743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766763423"/>
        <c:crosses val="autoZero"/>
        <c:auto val="1"/>
        <c:lblAlgn val="ctr"/>
        <c:lblOffset val="100"/>
        <c:noMultiLvlLbl val="0"/>
      </c:catAx>
      <c:valAx>
        <c:axId val="766763423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766767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125E-2"/>
          <c:y val="0.10038280632487658"/>
          <c:w val="0.91249999999999998"/>
          <c:h val="0.796492200018934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Derived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A8-439B-B184-D56DBC067936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73A8-439B-B184-D56DBC067936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73A8-439B-B184-D56DBC067936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73A8-439B-B184-D56DBC067936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5-73A8-439B-B184-D56DBC067936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73A8-439B-B184-D56DBC067936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7-73A8-439B-B184-D56DBC067936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8-73A8-439B-B184-D56DBC067936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9-73A8-439B-B184-D56DBC067936}"/>
              </c:ext>
            </c:extLst>
          </c:dPt>
          <c:dPt>
            <c:idx val="10"/>
            <c:marker>
              <c:symbol val="diamond"/>
              <c:size val="10"/>
              <c:spPr>
                <a:solidFill>
                  <a:srgbClr val="C00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3A8-439B-B184-D56DBC067936}"/>
              </c:ext>
            </c:extLst>
          </c:dPt>
          <c:xVal>
            <c:numRef>
              <c:f>Sheet1!$C$2:$C$12</c:f>
              <c:numCache>
                <c:formatCode>0%</c:formatCode>
                <c:ptCount val="11"/>
                <c:pt idx="0">
                  <c:v>0.2</c:v>
                </c:pt>
                <c:pt idx="1">
                  <c:v>0.12</c:v>
                </c:pt>
                <c:pt idx="2">
                  <c:v>0.05</c:v>
                </c:pt>
                <c:pt idx="3">
                  <c:v>-0.01</c:v>
                </c:pt>
                <c:pt idx="4">
                  <c:v>-0.02</c:v>
                </c:pt>
                <c:pt idx="5">
                  <c:v>-0.03</c:v>
                </c:pt>
                <c:pt idx="6">
                  <c:v>-0.08</c:v>
                </c:pt>
                <c:pt idx="7">
                  <c:v>-0.1</c:v>
                </c:pt>
                <c:pt idx="8">
                  <c:v>-0.12</c:v>
                </c:pt>
                <c:pt idx="10">
                  <c:v>1.1111111111111029E-3</c:v>
                </c:pt>
              </c:numCache>
            </c:numRef>
          </c:xVal>
          <c:yVal>
            <c:numRef>
              <c:f>Sheet1!$D$2:$D$12</c:f>
              <c:numCache>
                <c:formatCode>0%</c:formatCode>
                <c:ptCount val="11"/>
                <c:pt idx="0">
                  <c:v>0.38</c:v>
                </c:pt>
                <c:pt idx="1">
                  <c:v>0.36</c:v>
                </c:pt>
                <c:pt idx="2">
                  <c:v>0.54</c:v>
                </c:pt>
                <c:pt idx="3">
                  <c:v>0.32</c:v>
                </c:pt>
                <c:pt idx="4">
                  <c:v>0.34</c:v>
                </c:pt>
                <c:pt idx="5">
                  <c:v>0.01</c:v>
                </c:pt>
                <c:pt idx="6">
                  <c:v>0.41</c:v>
                </c:pt>
                <c:pt idx="7">
                  <c:v>0.35</c:v>
                </c:pt>
                <c:pt idx="8">
                  <c:v>0.38</c:v>
                </c:pt>
                <c:pt idx="10">
                  <c:v>0.34333333333333338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73A8-439B-B184-D56DBC0679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9839152"/>
        <c:axId val="1199841072"/>
      </c:scatterChart>
      <c:valAx>
        <c:axId val="1199839152"/>
        <c:scaling>
          <c:orientation val="minMax"/>
          <c:max val="0.30000000000000004"/>
        </c:scaling>
        <c:delete val="0"/>
        <c:axPos val="b"/>
        <c:numFmt formatCode="0%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bg1">
                <a:lumMod val="85000"/>
                <a:alpha val="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9841072"/>
        <c:crosses val="autoZero"/>
        <c:crossBetween val="midCat"/>
      </c:valAx>
      <c:valAx>
        <c:axId val="1199841072"/>
        <c:scaling>
          <c:orientation val="minMax"/>
          <c:max val="0.70000000000000007"/>
          <c:min val="-5.000000000000001E-2"/>
        </c:scaling>
        <c:delete val="1"/>
        <c:axPos val="l"/>
        <c:numFmt formatCode="0%" sourceLinked="1"/>
        <c:majorTickMark val="out"/>
        <c:minorTickMark val="none"/>
        <c:tickLblPos val="nextTo"/>
        <c:crossAx val="1199839152"/>
        <c:crosses val="autoZero"/>
        <c:crossBetween val="midCat"/>
      </c:valAx>
      <c:spPr>
        <a:noFill/>
        <a:ln>
          <a:solidFill>
            <a:schemeClr val="tx1">
              <a:lumMod val="50000"/>
              <a:lumOff val="5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309383722837289E-2"/>
          <c:y val="4.3966737605125192E-2"/>
          <c:w val="0.95538123255432539"/>
          <c:h val="0.91206652478974959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070C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1.3247766968811088E-3"/>
                  <c:y val="-3.1894409216243827E-2"/>
                </c:manualLayout>
              </c:layout>
              <c:tx>
                <c:rich>
                  <a:bodyPr/>
                  <a:lstStyle/>
                  <a:p>
                    <a:fld id="{10D35EBB-BA92-47F7-A44D-4ADE69E0125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0E49-4144-8BAF-995E56E39AA3}"/>
                </c:ext>
              </c:extLst>
            </c:dLbl>
            <c:dLbl>
              <c:idx val="1"/>
              <c:layout>
                <c:manualLayout>
                  <c:x val="-1.3247766968811088E-3"/>
                  <c:y val="-1.131822165803723E-2"/>
                </c:manualLayout>
              </c:layout>
              <c:tx>
                <c:rich>
                  <a:bodyPr/>
                  <a:lstStyle/>
                  <a:p>
                    <a:fld id="{6B2DB6D3-B357-410C-ABBC-C2407C1203F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0E49-4144-8BAF-995E56E39AA3}"/>
                </c:ext>
              </c:extLst>
            </c:dLbl>
            <c:dLbl>
              <c:idx val="2"/>
              <c:layout>
                <c:manualLayout>
                  <c:x val="-3.6441217677955699E-3"/>
                  <c:y val="-5.7513014649460244E-2"/>
                </c:manualLayout>
              </c:layout>
              <c:tx>
                <c:rich>
                  <a:bodyPr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000" b="1">
                        <a:solidFill>
                          <a:srgbClr val="0070C0"/>
                        </a:solidFill>
                        <a:latin typeface="Johnson Text" panose="020B0604020202020204" charset="0"/>
                        <a:cs typeface="Johnson Text" panose="020B0604020202020204" charset="0"/>
                      </a:defRPr>
                    </a:pPr>
                    <a:fld id="{5BFD52F4-0E50-4945-B74E-8B050B8DE6F7}" type="CELLRANGE">
                      <a:rPr lang="en-US"/>
                      <a:pPr algn="l">
                        <a:defRPr sz="1000" b="1">
                          <a:solidFill>
                            <a:srgbClr val="0070C0"/>
                          </a:solidFill>
                          <a:latin typeface="Johnson Text" panose="020B0604020202020204" charset="0"/>
                          <a:cs typeface="Johnson Text" panose="020B060402020202020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99366585304526"/>
                      <c:h val="0.10507878761611621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0E49-4144-8BAF-995E56E39AA3}"/>
                </c:ext>
              </c:extLst>
            </c:dLbl>
            <c:dLbl>
              <c:idx val="3"/>
              <c:layout>
                <c:manualLayout>
                  <c:x val="1.3110266645814613E-3"/>
                  <c:y val="3.5784639959144805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1000" b="1">
                        <a:solidFill>
                          <a:srgbClr val="0070C0"/>
                        </a:solidFill>
                        <a:latin typeface="Johnson Text" panose="020B0604020202020204" charset="0"/>
                        <a:cs typeface="Johnson Text" panose="020B0604020202020204" charset="0"/>
                      </a:defRPr>
                    </a:pPr>
                    <a:fld id="{2A2CE57A-DD58-4154-A67A-5EDE3A32E9DB}" type="CELLRANGE">
                      <a:rPr lang="en-US"/>
                      <a:pPr>
                        <a:defRPr sz="1000" b="1">
                          <a:solidFill>
                            <a:srgbClr val="0070C0"/>
                          </a:solidFill>
                          <a:latin typeface="Johnson Text" panose="020B0604020202020204" charset="0"/>
                          <a:cs typeface="Johnson Text" panose="020B060402020202020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082146325041839"/>
                      <c:h val="0.11719829237146638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0E49-4144-8BAF-995E56E39AA3}"/>
                </c:ext>
              </c:extLst>
            </c:dLbl>
            <c:dLbl>
              <c:idx val="4"/>
              <c:layout>
                <c:manualLayout>
                  <c:x val="-9.0281363019428254E-2"/>
                  <c:y val="-2.7098720740699935E-2"/>
                </c:manualLayout>
              </c:layout>
              <c:tx>
                <c:rich>
                  <a:bodyPr/>
                  <a:lstStyle/>
                  <a:p>
                    <a:fld id="{4CA5A286-410E-4E43-A8D7-2E51B67EABA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0E49-4144-8BAF-995E56E39AA3}"/>
                </c:ext>
              </c:extLst>
            </c:dLbl>
            <c:dLbl>
              <c:idx val="5"/>
              <c:layout>
                <c:manualLayout>
                  <c:x val="-4.7732847976218358E-3"/>
                  <c:y val="-4.8661825896769983E-3"/>
                </c:manualLayout>
              </c:layout>
              <c:tx>
                <c:rich>
                  <a:bodyPr/>
                  <a:lstStyle/>
                  <a:p>
                    <a:fld id="{92088DF1-65AE-4607-B7E2-5D9C1B113D6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0E49-4144-8BAF-995E56E39AA3}"/>
                </c:ext>
              </c:extLst>
            </c:dLbl>
            <c:dLbl>
              <c:idx val="6"/>
              <c:layout>
                <c:manualLayout>
                  <c:x val="-7.3151624667495682E-2"/>
                  <c:y val="-4.3677892027559603E-2"/>
                </c:manualLayout>
              </c:layout>
              <c:tx>
                <c:rich>
                  <a:bodyPr/>
                  <a:lstStyle/>
                  <a:p>
                    <a:fld id="{C78D133D-03A3-48CF-A1A4-31DD57236AC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0E49-4144-8BAF-995E56E39AA3}"/>
                </c:ext>
              </c:extLst>
            </c:dLbl>
            <c:dLbl>
              <c:idx val="7"/>
              <c:layout>
                <c:manualLayout>
                  <c:x val="-0.18311047730668725"/>
                  <c:y val="-3.5210243473615753E-2"/>
                </c:manualLayout>
              </c:layout>
              <c:tx>
                <c:rich>
                  <a:bodyPr/>
                  <a:lstStyle/>
                  <a:p>
                    <a:fld id="{6A12BE15-AEBC-4FBC-B6FD-7AD483438F4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0E49-4144-8BAF-995E56E39A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rgbClr val="0070C0"/>
                    </a:solidFill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Sheet1!$C$2:$C$9</c:f>
              <c:numCache>
                <c:formatCode>0%</c:formatCode>
                <c:ptCount val="8"/>
                <c:pt idx="0">
                  <c:v>0.32</c:v>
                </c:pt>
                <c:pt idx="1">
                  <c:v>0.17</c:v>
                </c:pt>
                <c:pt idx="2">
                  <c:v>0.14000000000000001</c:v>
                </c:pt>
                <c:pt idx="3">
                  <c:v>7.0000000000000007E-2</c:v>
                </c:pt>
                <c:pt idx="4">
                  <c:v>0.05</c:v>
                </c:pt>
                <c:pt idx="5">
                  <c:v>0.13</c:v>
                </c:pt>
                <c:pt idx="6">
                  <c:v>7.0000000000000007E-2</c:v>
                </c:pt>
                <c:pt idx="7">
                  <c:v>0.06</c:v>
                </c:pt>
              </c:numCache>
            </c:numRef>
          </c:xVal>
          <c:yVal>
            <c:numRef>
              <c:f>Sheet1!$D$2:$D$9</c:f>
              <c:numCache>
                <c:formatCode>0%</c:formatCode>
                <c:ptCount val="8"/>
                <c:pt idx="0">
                  <c:v>0.69500000000000006</c:v>
                </c:pt>
                <c:pt idx="1">
                  <c:v>0.625</c:v>
                </c:pt>
                <c:pt idx="2">
                  <c:v>0.65</c:v>
                </c:pt>
                <c:pt idx="3">
                  <c:v>0.58000000000000007</c:v>
                </c:pt>
                <c:pt idx="4">
                  <c:v>0.55500000000000005</c:v>
                </c:pt>
                <c:pt idx="5">
                  <c:v>0.54499999999999993</c:v>
                </c:pt>
                <c:pt idx="6">
                  <c:v>0.625</c:v>
                </c:pt>
                <c:pt idx="7">
                  <c:v>0.6100000000000001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Sheet1!$B$2:$B$9</c15:f>
                <c15:dlblRangeCache>
                  <c:ptCount val="8"/>
                  <c:pt idx="0">
                    <c:v>A1 - Efficacy</c:v>
                  </c:pt>
                  <c:pt idx="1">
                    <c:v>A2 - Safety / Tolerability</c:v>
                  </c:pt>
                  <c:pt idx="2">
                    <c:v>A3 - Guideline Recommendations (NCCN)</c:v>
                  </c:pt>
                  <c:pt idx="3">
                    <c:v>A4 - Route of administration</c:v>
                  </c:pt>
                  <c:pt idx="4">
                    <c:v>A5 - Dosing</c:v>
                  </c:pt>
                  <c:pt idx="5">
                    <c:v>A6 - Effect on Quality of Life</c:v>
                  </c:pt>
                  <c:pt idx="6">
                    <c:v>A7 - Mechanism of Action</c:v>
                  </c:pt>
                  <c:pt idx="7">
                    <c:v>A8 - Access and Coverage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0E49-4144-8BAF-995E56E39AA3}"/>
            </c:ext>
          </c:extLst>
        </c:ser>
        <c:ser>
          <c:idx val="2"/>
          <c:order val="1"/>
          <c:tx>
            <c:strRef>
              <c:f>Sheet1!$A$11</c:f>
              <c:strCache>
                <c:ptCount val="1"/>
              </c:strCache>
            </c:strRef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378395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5683932724352632E-3"/>
                  <c:y val="-6.8955706580407512E-4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0E49-4144-8BAF-995E56E39AA3}"/>
                </c:ext>
              </c:extLst>
            </c:dLbl>
            <c:dLbl>
              <c:idx val="1"/>
              <c:layout>
                <c:manualLayout>
                  <c:x val="-5.1214168646484734E-4"/>
                  <c:y val="-1.2680485503565491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A-0E49-4144-8BAF-995E56E39AA3}"/>
                </c:ext>
              </c:extLst>
            </c:dLbl>
            <c:dLbl>
              <c:idx val="2"/>
              <c:layout>
                <c:manualLayout>
                  <c:x val="-6.5965190654204715E-3"/>
                  <c:y val="-2.8668390087247381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B-0E49-4144-8BAF-995E56E39AA3}"/>
                </c:ext>
              </c:extLst>
            </c:dLbl>
            <c:dLbl>
              <c:idx val="3"/>
              <c:layout>
                <c:manualLayout>
                  <c:x val="-2.5402674794500926E-3"/>
                  <c:y val="-4.6865332117245473E-3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C-0E49-4144-8BAF-995E56E39AA3}"/>
                </c:ext>
              </c:extLst>
            </c:dLbl>
            <c:dLbl>
              <c:idx val="4"/>
              <c:layout>
                <c:manualLayout>
                  <c:x val="-5.7299663890050707E-2"/>
                  <c:y val="-8.6835093576450566E-3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D-0E49-4144-8BAF-995E56E39AA3}"/>
                </c:ext>
              </c:extLst>
            </c:dLbl>
            <c:dLbl>
              <c:idx val="5"/>
              <c:layout>
                <c:manualLayout>
                  <c:x val="-8.6246448584056789E-3"/>
                  <c:y val="2.3292299809718756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E-0E49-4144-8BAF-995E56E39AA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0E49-4144-8BAF-995E56E39AA3}"/>
                </c:ext>
              </c:extLst>
            </c:dLbl>
            <c:dLbl>
              <c:idx val="7"/>
              <c:layout>
                <c:manualLayout>
                  <c:x val="-5.5271538097065497E-2"/>
                  <c:y val="-2.467141394132690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10-0E49-4144-8BAF-995E56E39A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rgbClr val="37839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Sheet1!$C$11:$C$18</c:f>
              <c:numCache>
                <c:formatCode>General</c:formatCode>
                <c:ptCount val="8"/>
              </c:numCache>
            </c:numRef>
          </c:xVal>
          <c:yVal>
            <c:numRef>
              <c:f>Sheet1!$D$11:$D$18</c:f>
              <c:numCache>
                <c:formatCode>General</c:formatCode>
                <c:ptCount val="8"/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Sheet1!$B$11:$B$18</c15:f>
                <c15:dlblRangeCache>
                  <c:ptCount val="8"/>
                </c15:dlblRangeCache>
              </c15:datalabelsRange>
            </c:ext>
            <c:ext xmlns:c16="http://schemas.microsoft.com/office/drawing/2014/chart" uri="{C3380CC4-5D6E-409C-BE32-E72D297353CC}">
              <c16:uniqueId val="{00000011-0E49-4144-8BAF-995E56E39AA3}"/>
            </c:ext>
          </c:extLst>
        </c:ser>
        <c:ser>
          <c:idx val="1"/>
          <c:order val="2"/>
          <c:tx>
            <c:strRef>
              <c:f>Sheet1!$B$22</c:f>
              <c:strCache>
                <c:ptCount val="1"/>
                <c:pt idx="0">
                  <c:v>SA</c:v>
                </c:pt>
              </c:strCache>
            </c:strRef>
          </c:tx>
          <c:spPr>
            <a:ln w="19050">
              <a:noFill/>
            </a:ln>
          </c:spPr>
          <c:marker>
            <c:symbol val="diamond"/>
            <c:size val="7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marker>
          <c:xVal>
            <c:numRef>
              <c:f>Sheet1!$C$22</c:f>
              <c:numCache>
                <c:formatCode>0%</c:formatCode>
                <c:ptCount val="1"/>
                <c:pt idx="0">
                  <c:v>0.12625</c:v>
                </c:pt>
              </c:numCache>
            </c:numRef>
          </c:xVal>
          <c:yVal>
            <c:numRef>
              <c:f>Sheet1!$D$22</c:f>
              <c:numCache>
                <c:formatCode>0%</c:formatCode>
                <c:ptCount val="1"/>
                <c:pt idx="0">
                  <c:v>0.61062499999999997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0E49-4144-8BAF-995E56E39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11521759"/>
        <c:axId val="1611523679"/>
        <c:extLst/>
      </c:scatterChart>
      <c:valAx>
        <c:axId val="1611521759"/>
        <c:scaling>
          <c:orientation val="minMax"/>
          <c:max val="0.4"/>
          <c:min val="-5.000000000000001E-2"/>
        </c:scaling>
        <c:delete val="1"/>
        <c:axPos val="b"/>
        <c:numFmt formatCode="0%" sourceLinked="1"/>
        <c:majorTickMark val="out"/>
        <c:minorTickMark val="none"/>
        <c:tickLblPos val="nextTo"/>
        <c:crossAx val="1611523679"/>
        <c:crosses val="autoZero"/>
        <c:crossBetween val="midCat"/>
        <c:majorUnit val="0.4"/>
      </c:valAx>
      <c:valAx>
        <c:axId val="1611523679"/>
        <c:scaling>
          <c:orientation val="minMax"/>
          <c:max val="0.8"/>
          <c:min val="0.45"/>
        </c:scaling>
        <c:delete val="1"/>
        <c:axPos val="l"/>
        <c:numFmt formatCode="0%" sourceLinked="1"/>
        <c:majorTickMark val="out"/>
        <c:minorTickMark val="none"/>
        <c:tickLblPos val="nextTo"/>
        <c:crossAx val="1611521759"/>
        <c:crosses val="autoZero"/>
        <c:crossBetween val="midCat"/>
        <c:majorUnit val="0.60000000000000009"/>
      </c:valAx>
      <c:spPr>
        <a:noFill/>
        <a:ln>
          <a:solidFill>
            <a:schemeClr val="bg1">
              <a:lumMod val="5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309383722837289E-2"/>
          <c:y val="4.3966737605125192E-2"/>
          <c:w val="0.95538123255432539"/>
          <c:h val="0.91206652478974959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RYBREVANT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5965190654206198E-3"/>
                  <c:y val="-8.6835093576450566E-3"/>
                </c:manualLayout>
              </c:layout>
              <c:tx>
                <c:rich>
                  <a:bodyPr/>
                  <a:lstStyle/>
                  <a:p>
                    <a:fld id="{A6FC648D-0D4F-446D-B05A-C6802A49CCE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4A94-4FB9-91E4-D4665916690A}"/>
                </c:ext>
              </c:extLst>
            </c:dLbl>
            <c:dLbl>
              <c:idx val="1"/>
              <c:layout>
                <c:manualLayout>
                  <c:x val="-6.5965190654205452E-3"/>
                  <c:y val="-4.6865332117245473E-3"/>
                </c:manualLayout>
              </c:layout>
              <c:tx>
                <c:rich>
                  <a:bodyPr/>
                  <a:lstStyle/>
                  <a:p>
                    <a:fld id="{93F7DD80-A477-46B7-8DFA-CAD66EF2E32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A94-4FB9-91E4-D4665916690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528429B-F4D4-4711-896A-AA5E36D68C5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4A94-4FB9-91E4-D4665916690A}"/>
                </c:ext>
              </c:extLst>
            </c:dLbl>
            <c:dLbl>
              <c:idx val="3"/>
              <c:layout>
                <c:manualLayout>
                  <c:x val="-6.5965190654204715E-3"/>
                  <c:y val="-6.8955706580414841E-4"/>
                </c:manualLayout>
              </c:layout>
              <c:tx>
                <c:rich>
                  <a:bodyPr/>
                  <a:lstStyle/>
                  <a:p>
                    <a:fld id="{C0CC1CCE-8CB7-4FC4-8561-7849FB8568E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A94-4FB9-91E4-D4665916690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469696D9-F956-4740-BDEB-F3C2DD997E2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4A94-4FB9-91E4-D4665916690A}"/>
                </c:ext>
              </c:extLst>
            </c:dLbl>
            <c:dLbl>
              <c:idx val="5"/>
              <c:layout>
                <c:manualLayout>
                  <c:x val="-1.2680896444376095E-2"/>
                  <c:y val="-4.4656294670929339E-2"/>
                </c:manualLayout>
              </c:layout>
              <c:tx>
                <c:rich>
                  <a:bodyPr/>
                  <a:lstStyle/>
                  <a:p>
                    <a:fld id="{92627CFA-D8FA-45B8-A7D3-33BA7B555BF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A94-4FB9-91E4-D4665916690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95A9B5D2-F735-45D1-A165-088559E771D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4A94-4FB9-91E4-D4665916690A}"/>
                </c:ext>
              </c:extLst>
            </c:dLbl>
            <c:dLbl>
              <c:idx val="7"/>
              <c:layout>
                <c:manualLayout>
                  <c:x val="-5.5271538097065497E-2"/>
                  <c:y val="-8.6835093576450202E-3"/>
                </c:manualLayout>
              </c:layout>
              <c:tx>
                <c:rich>
                  <a:bodyPr/>
                  <a:lstStyle/>
                  <a:p>
                    <a:fld id="{E376BD48-2882-45EF-AC52-76456BD181F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4A94-4FB9-91E4-D466591669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rgbClr val="F75824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</c:ext>
            </c:extLst>
          </c:dLbls>
          <c:xVal>
            <c:numRef>
              <c:f>Sheet1!$C$2:$C$9</c:f>
              <c:numCache>
                <c:formatCode>0%</c:formatCode>
                <c:ptCount val="8"/>
                <c:pt idx="0">
                  <c:v>0.32</c:v>
                </c:pt>
                <c:pt idx="1">
                  <c:v>0.17</c:v>
                </c:pt>
                <c:pt idx="2">
                  <c:v>0.14000000000000001</c:v>
                </c:pt>
                <c:pt idx="3">
                  <c:v>7.0000000000000007E-2</c:v>
                </c:pt>
                <c:pt idx="4">
                  <c:v>0.05</c:v>
                </c:pt>
                <c:pt idx="5">
                  <c:v>0.13</c:v>
                </c:pt>
                <c:pt idx="6">
                  <c:v>7.0000000000000007E-2</c:v>
                </c:pt>
                <c:pt idx="7">
                  <c:v>0.06</c:v>
                </c:pt>
              </c:numCache>
            </c:numRef>
          </c:xVal>
          <c:yVal>
            <c:numRef>
              <c:f>Sheet1!$D$2:$D$9</c:f>
              <c:numCache>
                <c:formatCode>0%</c:formatCode>
                <c:ptCount val="8"/>
                <c:pt idx="0">
                  <c:v>0.63</c:v>
                </c:pt>
                <c:pt idx="1">
                  <c:v>0.57999999999999996</c:v>
                </c:pt>
                <c:pt idx="2">
                  <c:v>0.67</c:v>
                </c:pt>
                <c:pt idx="3">
                  <c:v>0.49</c:v>
                </c:pt>
                <c:pt idx="4">
                  <c:v>0.46</c:v>
                </c:pt>
                <c:pt idx="5">
                  <c:v>0.49</c:v>
                </c:pt>
                <c:pt idx="6">
                  <c:v>0.55000000000000004</c:v>
                </c:pt>
                <c:pt idx="7">
                  <c:v>0.54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Sheet1!$B$2:$B$9</c15:f>
                <c15:dlblRangeCache>
                  <c:ptCount val="8"/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A5</c:v>
                  </c:pt>
                  <c:pt idx="5">
                    <c:v>A6</c:v>
                  </c:pt>
                  <c:pt idx="6">
                    <c:v>A7</c:v>
                  </c:pt>
                  <c:pt idx="7">
                    <c:v>A8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4A94-4FB9-91E4-D4665916690A}"/>
            </c:ext>
          </c:extLst>
        </c:ser>
        <c:ser>
          <c:idx val="2"/>
          <c:order val="1"/>
          <c:tx>
            <c:strRef>
              <c:f>Sheet1!$A$11</c:f>
              <c:strCache>
                <c:ptCount val="1"/>
                <c:pt idx="0">
                  <c:v>TAGRISSO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7638A4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5683932724352632E-3"/>
                  <c:y val="-6.8955706580407512E-4"/>
                </c:manualLayout>
              </c:layout>
              <c:tx>
                <c:rich>
                  <a:bodyPr/>
                  <a:lstStyle/>
                  <a:p>
                    <a:fld id="{5884C9BF-2845-4F5F-9107-851BDC01CA9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0FCD-4BD7-A386-671D70B0471C}"/>
                </c:ext>
              </c:extLst>
            </c:dLbl>
            <c:dLbl>
              <c:idx val="1"/>
              <c:layout>
                <c:manualLayout>
                  <c:x val="-5.1214168646484734E-4"/>
                  <c:y val="-1.2680485503565491E-2"/>
                </c:manualLayout>
              </c:layout>
              <c:tx>
                <c:rich>
                  <a:bodyPr/>
                  <a:lstStyle/>
                  <a:p>
                    <a:fld id="{17E90602-DD37-45B0-81DD-C81E8975A85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0FCD-4BD7-A386-671D70B0471C}"/>
                </c:ext>
              </c:extLst>
            </c:dLbl>
            <c:dLbl>
              <c:idx val="2"/>
              <c:layout>
                <c:manualLayout>
                  <c:x val="-6.5965190654204715E-3"/>
                  <c:y val="-2.8668390087247381E-2"/>
                </c:manualLayout>
              </c:layout>
              <c:tx>
                <c:rich>
                  <a:bodyPr/>
                  <a:lstStyle/>
                  <a:p>
                    <a:fld id="{2AC81665-8151-45A0-B35A-E2939804D37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0FCD-4BD7-A386-671D70B0471C}"/>
                </c:ext>
              </c:extLst>
            </c:dLbl>
            <c:dLbl>
              <c:idx val="3"/>
              <c:layout>
                <c:manualLayout>
                  <c:x val="-2.5402674794500926E-3"/>
                  <c:y val="-4.6865332117245473E-3"/>
                </c:manualLayout>
              </c:layout>
              <c:tx>
                <c:rich>
                  <a:bodyPr/>
                  <a:lstStyle/>
                  <a:p>
                    <a:fld id="{801BF292-E6AB-4BF9-87AF-AED2BECFB91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0FCD-4BD7-A386-671D70B0471C}"/>
                </c:ext>
              </c:extLst>
            </c:dLbl>
            <c:dLbl>
              <c:idx val="4"/>
              <c:layout>
                <c:manualLayout>
                  <c:x val="-5.7299663890050707E-2"/>
                  <c:y val="-8.6835093576450566E-3"/>
                </c:manualLayout>
              </c:layout>
              <c:tx>
                <c:rich>
                  <a:bodyPr/>
                  <a:lstStyle/>
                  <a:p>
                    <a:fld id="{6F44B449-6C2B-4E92-9904-EF9BB83BFE0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0FCD-4BD7-A386-671D70B0471C}"/>
                </c:ext>
              </c:extLst>
            </c:dLbl>
            <c:dLbl>
              <c:idx val="5"/>
              <c:layout>
                <c:manualLayout>
                  <c:x val="-8.6246448584056789E-3"/>
                  <c:y val="2.3292299809718756E-2"/>
                </c:manualLayout>
              </c:layout>
              <c:tx>
                <c:rich>
                  <a:bodyPr/>
                  <a:lstStyle/>
                  <a:p>
                    <a:fld id="{C63C47C7-6103-4793-9B84-01F27C40FE1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0FCD-4BD7-A386-671D70B0471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06A64E34-8012-4A61-A3E8-E6894DBE32F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99B6-4AFF-B6FA-74EE0342D309}"/>
                </c:ext>
              </c:extLst>
            </c:dLbl>
            <c:dLbl>
              <c:idx val="7"/>
              <c:layout>
                <c:manualLayout>
                  <c:x val="-5.5271538097065497E-2"/>
                  <c:y val="-2.4671413941326908E-2"/>
                </c:manualLayout>
              </c:layout>
              <c:tx>
                <c:rich>
                  <a:bodyPr/>
                  <a:lstStyle/>
                  <a:p>
                    <a:fld id="{8ECB24E3-7959-4E25-A6F3-5A738548673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0FCD-4BD7-A386-671D70B047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rgbClr val="7638A4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Sheet1!$C$11:$C$18</c:f>
              <c:numCache>
                <c:formatCode>0%</c:formatCode>
                <c:ptCount val="8"/>
                <c:pt idx="0">
                  <c:v>0.32</c:v>
                </c:pt>
                <c:pt idx="1">
                  <c:v>0.17</c:v>
                </c:pt>
                <c:pt idx="2">
                  <c:v>0.14000000000000001</c:v>
                </c:pt>
                <c:pt idx="3">
                  <c:v>7.0000000000000007E-2</c:v>
                </c:pt>
                <c:pt idx="4">
                  <c:v>0.05</c:v>
                </c:pt>
                <c:pt idx="5">
                  <c:v>0.13</c:v>
                </c:pt>
                <c:pt idx="6">
                  <c:v>7.0000000000000007E-2</c:v>
                </c:pt>
                <c:pt idx="7">
                  <c:v>0.06</c:v>
                </c:pt>
              </c:numCache>
            </c:numRef>
          </c:xVal>
          <c:yVal>
            <c:numRef>
              <c:f>Sheet1!$D$11:$D$18</c:f>
              <c:numCache>
                <c:formatCode>0%</c:formatCode>
                <c:ptCount val="8"/>
                <c:pt idx="0">
                  <c:v>0.76</c:v>
                </c:pt>
                <c:pt idx="1">
                  <c:v>0.67</c:v>
                </c:pt>
                <c:pt idx="2">
                  <c:v>0.63</c:v>
                </c:pt>
                <c:pt idx="3">
                  <c:v>0.67</c:v>
                </c:pt>
                <c:pt idx="4">
                  <c:v>0.65</c:v>
                </c:pt>
                <c:pt idx="5">
                  <c:v>0.6</c:v>
                </c:pt>
                <c:pt idx="6">
                  <c:v>0.7</c:v>
                </c:pt>
                <c:pt idx="7">
                  <c:v>0.68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Sheet1!$B$11:$B$18</c15:f>
                <c15:dlblRangeCache>
                  <c:ptCount val="8"/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A5</c:v>
                  </c:pt>
                  <c:pt idx="5">
                    <c:v>A6</c:v>
                  </c:pt>
                  <c:pt idx="6">
                    <c:v>A7</c:v>
                  </c:pt>
                  <c:pt idx="7">
                    <c:v>A8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0FCD-4BD7-A386-671D70B0471C}"/>
            </c:ext>
          </c:extLst>
        </c:ser>
        <c:ser>
          <c:idx val="1"/>
          <c:order val="2"/>
          <c:tx>
            <c:strRef>
              <c:f>Sheet1!$B$22</c:f>
              <c:strCache>
                <c:ptCount val="1"/>
                <c:pt idx="0">
                  <c:v>SA</c:v>
                </c:pt>
              </c:strCache>
            </c:strRef>
          </c:tx>
          <c:spPr>
            <a:ln w="19050">
              <a:noFill/>
            </a:ln>
          </c:spPr>
          <c:marker>
            <c:symbol val="diamond"/>
            <c:size val="7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marker>
          <c:xVal>
            <c:numRef>
              <c:f>Sheet1!$C$22</c:f>
              <c:numCache>
                <c:formatCode>0%</c:formatCode>
                <c:ptCount val="1"/>
                <c:pt idx="0">
                  <c:v>0.12625</c:v>
                </c:pt>
              </c:numCache>
            </c:numRef>
          </c:xVal>
          <c:yVal>
            <c:numRef>
              <c:f>Sheet1!$D$22</c:f>
              <c:numCache>
                <c:formatCode>0%</c:formatCode>
                <c:ptCount val="1"/>
                <c:pt idx="0">
                  <c:v>0.61062499999999997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27C-4217-A208-B21306FF6A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11521759"/>
        <c:axId val="1611523679"/>
        <c:extLst/>
      </c:scatterChart>
      <c:valAx>
        <c:axId val="1611521759"/>
        <c:scaling>
          <c:orientation val="minMax"/>
          <c:max val="0.4"/>
          <c:min val="-5.000000000000001E-2"/>
        </c:scaling>
        <c:delete val="1"/>
        <c:axPos val="b"/>
        <c:numFmt formatCode="0%" sourceLinked="1"/>
        <c:majorTickMark val="out"/>
        <c:minorTickMark val="none"/>
        <c:tickLblPos val="nextTo"/>
        <c:crossAx val="1611523679"/>
        <c:crosses val="autoZero"/>
        <c:crossBetween val="midCat"/>
        <c:majorUnit val="0.4"/>
      </c:valAx>
      <c:valAx>
        <c:axId val="1611523679"/>
        <c:scaling>
          <c:orientation val="minMax"/>
          <c:max val="0.8"/>
          <c:min val="0.45"/>
        </c:scaling>
        <c:delete val="1"/>
        <c:axPos val="l"/>
        <c:numFmt formatCode="0%" sourceLinked="1"/>
        <c:majorTickMark val="out"/>
        <c:minorTickMark val="none"/>
        <c:tickLblPos val="nextTo"/>
        <c:crossAx val="1611521759"/>
        <c:crosses val="autoZero"/>
        <c:crossBetween val="midCat"/>
        <c:majorUnit val="0.60000000000000009"/>
      </c:valAx>
      <c:spPr>
        <a:noFill/>
        <a:ln>
          <a:solidFill>
            <a:schemeClr val="bg1">
              <a:lumMod val="5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172855611983414E-2"/>
          <c:y val="8.6535054646546317E-2"/>
          <c:w val="0.93564904982509223"/>
          <c:h val="0.84548685242555566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Detailed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9525">
                <a:solidFill>
                  <a:srgbClr val="F7582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baseline="0">
                    <a:solidFill>
                      <a:srgbClr val="F75824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Sheet1!$C$2:$C$9</c:f>
              <c:numCache>
                <c:formatCode>0%</c:formatCode>
                <c:ptCount val="8"/>
                <c:pt idx="0">
                  <c:v>0.83</c:v>
                </c:pt>
                <c:pt idx="1">
                  <c:v>0.81</c:v>
                </c:pt>
                <c:pt idx="2">
                  <c:v>0.8</c:v>
                </c:pt>
                <c:pt idx="3">
                  <c:v>0.63</c:v>
                </c:pt>
                <c:pt idx="4">
                  <c:v>0.61</c:v>
                </c:pt>
                <c:pt idx="5">
                  <c:v>0.6</c:v>
                </c:pt>
                <c:pt idx="6">
                  <c:v>0.56999999999999995</c:v>
                </c:pt>
                <c:pt idx="7">
                  <c:v>0.49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EFB-47D2-9740-49C3646521E7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Not Detailed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0.15806845041126982"/>
                  <c:y val="-3.499990767740888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0" tIns="0" rIns="0" bIns="0" anchor="ctr">
                  <a:noAutofit/>
                </a:bodyPr>
                <a:lstStyle/>
                <a:p>
                  <a:pPr>
                    <a:defRPr sz="800" b="0">
                      <a:solidFill>
                        <a:schemeClr val="bg1">
                          <a:lumMod val="50000"/>
                        </a:schemeClr>
                      </a:solidFill>
                      <a:latin typeface="Johnson Text" panose="020B060402020202020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10603731366802181"/>
                      <c:h val="4.649668837487712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6B8-4520-A162-763874C18F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0" tIns="0" rIns="0" bIns="0" anchor="ctr">
                <a:spAutoFit/>
              </a:bodyPr>
              <a:lstStyle/>
              <a:p>
                <a:pPr>
                  <a:defRPr sz="800" b="0">
                    <a:solidFill>
                      <a:schemeClr val="bg1">
                        <a:lumMod val="50000"/>
                      </a:schemeClr>
                    </a:solidFill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l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Sheet1!$D$2:$D$9</c:f>
              <c:numCache>
                <c:formatCode>0%</c:formatCode>
                <c:ptCount val="8"/>
                <c:pt idx="0">
                  <c:v>0.61</c:v>
                </c:pt>
                <c:pt idx="1">
                  <c:v>0.63</c:v>
                </c:pt>
                <c:pt idx="2">
                  <c:v>0.62</c:v>
                </c:pt>
                <c:pt idx="3">
                  <c:v>0.41</c:v>
                </c:pt>
                <c:pt idx="4">
                  <c:v>0.45</c:v>
                </c:pt>
                <c:pt idx="5">
                  <c:v>0.37</c:v>
                </c:pt>
                <c:pt idx="6">
                  <c:v>0.4</c:v>
                </c:pt>
                <c:pt idx="7">
                  <c:v>0.42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5EFB-47D2-9740-49C3646521E7}"/>
            </c:ext>
          </c:extLst>
        </c:ser>
        <c:ser>
          <c:idx val="7"/>
          <c:order val="2"/>
          <c:tx>
            <c:strRef>
              <c:f>Sheet1!$G$1</c:f>
              <c:strCache>
                <c:ptCount val="1"/>
                <c:pt idx="0">
                  <c:v>DUPE</c:v>
                </c:pt>
              </c:strCache>
            </c:strRef>
          </c:tx>
          <c:spPr>
            <a:ln w="12700" cap="rnd">
              <a:noFill/>
              <a:round/>
            </a:ln>
            <a:effectLst/>
          </c:spPr>
          <c:marker>
            <c:symbol val="none"/>
          </c:marker>
          <c:dLbls>
            <c:spPr>
              <a:solidFill>
                <a:srgbClr val="FFFFFF"/>
              </a:solidFill>
              <a:ln>
                <a:noFill/>
              </a:ln>
              <a:effectLst/>
            </c:spPr>
            <c:txPr>
              <a:bodyPr wrap="square" lIns="0" tIns="0" rIns="0" bIns="0" anchor="ctr">
                <a:spAutoFit/>
              </a:bodyPr>
              <a:lstStyle/>
              <a:p>
                <a:pPr>
                  <a:defRPr sz="900" baseline="0">
                    <a:solidFill>
                      <a:srgbClr val="F75824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errBars>
            <c:errDir val="x"/>
            <c:errBarType val="plus"/>
            <c:errValType val="cust"/>
            <c:noEndCap val="1"/>
            <c:plus>
              <c:numRef>
                <c:f>Sheet1!$H$2:$H$9</c:f>
                <c:numCache>
                  <c:formatCode>General</c:formatCode>
                  <c:ptCount val="8"/>
                  <c:pt idx="0">
                    <c:v>0.14000000000000001</c:v>
                  </c:pt>
                  <c:pt idx="1">
                    <c:v>0.1100000000000001</c:v>
                  </c:pt>
                  <c:pt idx="2">
                    <c:v>0.12</c:v>
                  </c:pt>
                  <c:pt idx="3">
                    <c:v>0.14000000000000001</c:v>
                  </c:pt>
                  <c:pt idx="4">
                    <c:v>9.9999999999999978E-2</c:v>
                  </c:pt>
                  <c:pt idx="5">
                    <c:v>0.14999999999999997</c:v>
                  </c:pt>
                  <c:pt idx="6">
                    <c:v>0.10999999999999993</c:v>
                  </c:pt>
                  <c:pt idx="7">
                    <c:v>3.999999999999998E-2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2700" cap="flat" cmpd="sng" algn="ctr">
                <a:solidFill>
                  <a:schemeClr val="bg1">
                    <a:lumMod val="65000"/>
                  </a:schemeClr>
                </a:solidFill>
                <a:round/>
              </a:ln>
              <a:effectLst/>
            </c:spPr>
          </c:errBars>
          <c:xVal>
            <c:numRef>
              <c:f>Sheet1!$G$2:$G$9</c:f>
              <c:numCache>
                <c:formatCode>0%</c:formatCode>
                <c:ptCount val="8"/>
                <c:pt idx="0">
                  <c:v>0.69</c:v>
                </c:pt>
                <c:pt idx="1">
                  <c:v>0.7</c:v>
                </c:pt>
                <c:pt idx="2">
                  <c:v>0.68</c:v>
                </c:pt>
                <c:pt idx="3">
                  <c:v>0.49</c:v>
                </c:pt>
                <c:pt idx="4">
                  <c:v>0.51</c:v>
                </c:pt>
                <c:pt idx="5">
                  <c:v>0.45</c:v>
                </c:pt>
                <c:pt idx="6">
                  <c:v>0.46</c:v>
                </c:pt>
                <c:pt idx="7">
                  <c:v>0.45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5EFB-47D2-9740-49C3646521E7}"/>
            </c:ext>
          </c:extLst>
        </c:ser>
        <c:ser>
          <c:idx val="0"/>
          <c:order val="3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ln w="9525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errBars>
            <c:errDir val="x"/>
            <c:errBarType val="minus"/>
            <c:errValType val="cust"/>
            <c:noEndCap val="1"/>
            <c:plus>
              <c:numLit>
                <c:formatCode>General</c:formatCode>
                <c:ptCount val="1"/>
                <c:pt idx="0">
                  <c:v>1</c:v>
                </c:pt>
              </c:numLit>
            </c:plus>
            <c:minus>
              <c:numRef>
                <c:f>Sheet1!$I$2:$I$9</c:f>
                <c:numCache>
                  <c:formatCode>General</c:formatCode>
                  <c:ptCount val="8"/>
                  <c:pt idx="0">
                    <c:v>7.999999999999996E-2</c:v>
                  </c:pt>
                  <c:pt idx="1">
                    <c:v>6.9999999999999951E-2</c:v>
                  </c:pt>
                  <c:pt idx="2">
                    <c:v>6.0000000000000053E-2</c:v>
                  </c:pt>
                  <c:pt idx="3">
                    <c:v>8.0000000000000016E-2</c:v>
                  </c:pt>
                  <c:pt idx="4">
                    <c:v>0.06</c:v>
                  </c:pt>
                  <c:pt idx="5">
                    <c:v>8.0000000000000016E-2</c:v>
                  </c:pt>
                  <c:pt idx="6">
                    <c:v>0.06</c:v>
                  </c:pt>
                  <c:pt idx="7">
                    <c:v>3.0000000000000027E-2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bg1">
                    <a:lumMod val="65000"/>
                  </a:schemeClr>
                </a:solidFill>
                <a:round/>
              </a:ln>
              <a:effectLst/>
            </c:spPr>
          </c:errBars>
          <c:xVal>
            <c:numRef>
              <c:f>Sheet1!$B$2:$B$9</c:f>
              <c:numCache>
                <c:formatCode>0%</c:formatCode>
                <c:ptCount val="8"/>
                <c:pt idx="0">
                  <c:v>0.69</c:v>
                </c:pt>
                <c:pt idx="1">
                  <c:v>0.7</c:v>
                </c:pt>
                <c:pt idx="2">
                  <c:v>0.68</c:v>
                </c:pt>
                <c:pt idx="3">
                  <c:v>0.49</c:v>
                </c:pt>
                <c:pt idx="4">
                  <c:v>0.51</c:v>
                </c:pt>
                <c:pt idx="5">
                  <c:v>0.45</c:v>
                </c:pt>
                <c:pt idx="6">
                  <c:v>0.46</c:v>
                </c:pt>
                <c:pt idx="7">
                  <c:v>0.45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FB-47D2-9740-49C364652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1354335"/>
        <c:axId val="2091361535"/>
      </c:scatterChart>
      <c:valAx>
        <c:axId val="2091354335"/>
        <c:scaling>
          <c:orientation val="minMax"/>
          <c:max val="0.9"/>
          <c:min val="0.1"/>
        </c:scaling>
        <c:delete val="1"/>
        <c:axPos val="b"/>
        <c:numFmt formatCode="0%" sourceLinked="1"/>
        <c:majorTickMark val="out"/>
        <c:minorTickMark val="none"/>
        <c:tickLblPos val="nextTo"/>
        <c:crossAx val="2091361535"/>
        <c:crosses val="autoZero"/>
        <c:crossBetween val="midCat"/>
        <c:majorUnit val="1"/>
      </c:valAx>
      <c:valAx>
        <c:axId val="2091361535"/>
        <c:scaling>
          <c:orientation val="minMax"/>
          <c:max val="8.1999999999999993"/>
          <c:min val="0.8"/>
        </c:scaling>
        <c:delete val="1"/>
        <c:axPos val="l"/>
        <c:numFmt formatCode="#,##0" sourceLinked="1"/>
        <c:majorTickMark val="out"/>
        <c:minorTickMark val="none"/>
        <c:tickLblPos val="nextTo"/>
        <c:crossAx val="2091354335"/>
        <c:crossesAt val="0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172855611983414E-2"/>
          <c:y val="8.6535054646546317E-2"/>
          <c:w val="0.93564904982509223"/>
          <c:h val="0.8454868524255556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ln w="9525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7638A4"/>
              </a:solidFill>
              <a:ln w="9525">
                <a:solidFill>
                  <a:srgbClr val="7638A4"/>
                </a:solidFill>
              </a:ln>
              <a:effectLst/>
            </c:spPr>
          </c:marker>
          <c:errBars>
            <c:errDir val="x"/>
            <c:errBarType val="minus"/>
            <c:errValType val="cust"/>
            <c:noEndCap val="1"/>
            <c:plus>
              <c:numLit>
                <c:formatCode>General</c:formatCode>
                <c:ptCount val="1"/>
                <c:pt idx="0">
                  <c:v>1</c:v>
                </c:pt>
              </c:numLit>
            </c:plus>
            <c:minus>
              <c:numRef>
                <c:f>Sheet1!$I$2:$I$9</c:f>
                <c:numCache>
                  <c:formatCode>General</c:formatCode>
                  <c:ptCount val="8"/>
                  <c:pt idx="0">
                    <c:v>1.0000000000000009E-2</c:v>
                  </c:pt>
                  <c:pt idx="1">
                    <c:v>4.0000000000000036E-2</c:v>
                  </c:pt>
                  <c:pt idx="2">
                    <c:v>4.9999999999999933E-2</c:v>
                  </c:pt>
                  <c:pt idx="3">
                    <c:v>5.0000000000000044E-2</c:v>
                  </c:pt>
                  <c:pt idx="4">
                    <c:v>3.0000000000000027E-2</c:v>
                  </c:pt>
                  <c:pt idx="5">
                    <c:v>3.9999999999999925E-2</c:v>
                  </c:pt>
                  <c:pt idx="6">
                    <c:v>4.0000000000000036E-2</c:v>
                  </c:pt>
                  <c:pt idx="7">
                    <c:v>5.0000000000000044E-2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bg1">
                    <a:lumMod val="65000"/>
                  </a:schemeClr>
                </a:solidFill>
                <a:round/>
              </a:ln>
              <a:effectLst/>
            </c:spPr>
          </c:errBars>
          <c:xVal>
            <c:numRef>
              <c:f>Sheet1!$B$2:$B$9</c:f>
              <c:numCache>
                <c:formatCode>0%</c:formatCode>
                <c:ptCount val="8"/>
                <c:pt idx="0">
                  <c:v>0.78</c:v>
                </c:pt>
                <c:pt idx="1">
                  <c:v>0.75</c:v>
                </c:pt>
                <c:pt idx="2">
                  <c:v>0.72</c:v>
                </c:pt>
                <c:pt idx="3">
                  <c:v>0.74</c:v>
                </c:pt>
                <c:pt idx="4">
                  <c:v>0.73</c:v>
                </c:pt>
                <c:pt idx="5">
                  <c:v>0.71</c:v>
                </c:pt>
                <c:pt idx="6">
                  <c:v>0.75</c:v>
                </c:pt>
                <c:pt idx="7">
                  <c:v>0.67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FB-47D2-9740-49C3646521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Detailed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9525">
                <a:solidFill>
                  <a:srgbClr val="7638A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7638A4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Sheet1!$C$2:$C$9</c:f>
              <c:numCache>
                <c:formatCode>0%</c:formatCode>
                <c:ptCount val="8"/>
                <c:pt idx="0">
                  <c:v>0.81</c:v>
                </c:pt>
                <c:pt idx="1">
                  <c:v>0.85</c:v>
                </c:pt>
                <c:pt idx="2">
                  <c:v>0.82</c:v>
                </c:pt>
                <c:pt idx="3">
                  <c:v>0.85</c:v>
                </c:pt>
                <c:pt idx="4">
                  <c:v>0.81</c:v>
                </c:pt>
                <c:pt idx="5">
                  <c:v>0.79</c:v>
                </c:pt>
                <c:pt idx="6">
                  <c:v>0.84</c:v>
                </c:pt>
                <c:pt idx="7">
                  <c:v>0.78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EFB-47D2-9740-49C3646521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Detailed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0" tIns="0" rIns="0" bIns="0" anchor="ctr">
                <a:spAutoFit/>
              </a:bodyPr>
              <a:lstStyle/>
              <a:p>
                <a:pPr>
                  <a:defRPr sz="800" b="0">
                    <a:solidFill>
                      <a:schemeClr val="bg1">
                        <a:lumMod val="50000"/>
                      </a:schemeClr>
                    </a:solidFill>
                    <a:latin typeface="Johnson Text" panose="020B060402020202020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l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xVal>
            <c:numRef>
              <c:f>Sheet1!$D$2:$D$9</c:f>
              <c:numCache>
                <c:formatCode>0%</c:formatCode>
                <c:ptCount val="8"/>
                <c:pt idx="0">
                  <c:v>0.77</c:v>
                </c:pt>
                <c:pt idx="1">
                  <c:v>0.71</c:v>
                </c:pt>
                <c:pt idx="2">
                  <c:v>0.67</c:v>
                </c:pt>
                <c:pt idx="3">
                  <c:v>0.69</c:v>
                </c:pt>
                <c:pt idx="4">
                  <c:v>0.7</c:v>
                </c:pt>
                <c:pt idx="5">
                  <c:v>0.67</c:v>
                </c:pt>
                <c:pt idx="6">
                  <c:v>0.71</c:v>
                </c:pt>
                <c:pt idx="7">
                  <c:v>0.62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5EFB-47D2-9740-49C3646521E7}"/>
            </c:ext>
          </c:extLst>
        </c:ser>
        <c:ser>
          <c:idx val="7"/>
          <c:order val="3"/>
          <c:tx>
            <c:strRef>
              <c:f>Sheet1!$G$1</c:f>
              <c:strCache>
                <c:ptCount val="1"/>
                <c:pt idx="0">
                  <c:v>DUPE</c:v>
                </c:pt>
              </c:strCache>
            </c:strRef>
          </c:tx>
          <c:spPr>
            <a:ln w="12700" cap="rnd">
              <a:noFill/>
              <a:round/>
            </a:ln>
            <a:effectLst/>
          </c:spPr>
          <c:marker>
            <c:symbol val="none"/>
          </c:marker>
          <c:dLbls>
            <c:spPr>
              <a:solidFill>
                <a:srgbClr val="FFFFFF"/>
              </a:solidFill>
              <a:ln>
                <a:noFill/>
              </a:ln>
              <a:effectLst/>
            </c:spPr>
            <c:txPr>
              <a:bodyPr wrap="square" lIns="0" tIns="0" rIns="0" bIns="0" anchor="ctr">
                <a:spAutoFit/>
              </a:bodyPr>
              <a:lstStyle/>
              <a:p>
                <a:pPr>
                  <a:defRPr sz="900">
                    <a:solidFill>
                      <a:srgbClr val="7638A4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errBars>
            <c:errDir val="x"/>
            <c:errBarType val="plus"/>
            <c:errValType val="cust"/>
            <c:noEndCap val="1"/>
            <c:plus>
              <c:numRef>
                <c:f>Sheet1!$H$2:$H$9</c:f>
                <c:numCache>
                  <c:formatCode>General</c:formatCode>
                  <c:ptCount val="8"/>
                  <c:pt idx="0">
                    <c:v>3.0000000000000027E-2</c:v>
                  </c:pt>
                  <c:pt idx="1">
                    <c:v>9.9999999999999978E-2</c:v>
                  </c:pt>
                  <c:pt idx="2">
                    <c:v>9.9999999999999978E-2</c:v>
                  </c:pt>
                  <c:pt idx="3">
                    <c:v>0.10999999999999999</c:v>
                  </c:pt>
                  <c:pt idx="4">
                    <c:v>8.0000000000000071E-2</c:v>
                  </c:pt>
                  <c:pt idx="5">
                    <c:v>8.0000000000000071E-2</c:v>
                  </c:pt>
                  <c:pt idx="6">
                    <c:v>8.9999999999999969E-2</c:v>
                  </c:pt>
                  <c:pt idx="7">
                    <c:v>0.10999999999999999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2700" cap="flat" cmpd="sng" algn="ctr">
                <a:solidFill>
                  <a:schemeClr val="bg1">
                    <a:lumMod val="65000"/>
                  </a:schemeClr>
                </a:solidFill>
                <a:round/>
              </a:ln>
              <a:effectLst/>
            </c:spPr>
          </c:errBars>
          <c:xVal>
            <c:numRef>
              <c:f>Sheet1!$G$2:$G$9</c:f>
              <c:numCache>
                <c:formatCode>0%</c:formatCode>
                <c:ptCount val="8"/>
                <c:pt idx="0">
                  <c:v>0.78</c:v>
                </c:pt>
                <c:pt idx="1">
                  <c:v>0.75</c:v>
                </c:pt>
                <c:pt idx="2">
                  <c:v>0.72</c:v>
                </c:pt>
                <c:pt idx="3">
                  <c:v>0.74</c:v>
                </c:pt>
                <c:pt idx="4">
                  <c:v>0.73</c:v>
                </c:pt>
                <c:pt idx="5">
                  <c:v>0.71</c:v>
                </c:pt>
                <c:pt idx="6">
                  <c:v>0.75</c:v>
                </c:pt>
                <c:pt idx="7">
                  <c:v>0.67</c:v>
                </c:pt>
              </c:numCache>
            </c:numRef>
          </c:xVal>
          <c:yVal>
            <c:numRef>
              <c:f>Sheet1!$E$2:$E$9</c:f>
              <c:numCache>
                <c:formatCode>#,##0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5EFB-47D2-9740-49C364652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1354335"/>
        <c:axId val="2091361535"/>
      </c:scatterChart>
      <c:valAx>
        <c:axId val="2091354335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2091361535"/>
        <c:crosses val="autoZero"/>
        <c:crossBetween val="midCat"/>
        <c:majorUnit val="1"/>
      </c:valAx>
      <c:valAx>
        <c:axId val="2091361535"/>
        <c:scaling>
          <c:orientation val="minMax"/>
          <c:max val="8.1999999999999993"/>
          <c:min val="0.8"/>
        </c:scaling>
        <c:delete val="1"/>
        <c:axPos val="l"/>
        <c:numFmt formatCode="#,##0" sourceLinked="1"/>
        <c:majorTickMark val="out"/>
        <c:minorTickMark val="none"/>
        <c:tickLblPos val="nextTo"/>
        <c:crossAx val="2091354335"/>
        <c:crossesAt val="0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933672906211664E-2"/>
          <c:y val="6.0592992464134555E-2"/>
          <c:w val="0.92681417677949018"/>
          <c:h val="0.89826814701340874"/>
        </c:manualLayout>
      </c:layout>
      <c:scatterChart>
        <c:scatterStyle val="lineMarker"/>
        <c:varyColors val="0"/>
        <c:ser>
          <c:idx val="1"/>
          <c:order val="0"/>
          <c:tx>
            <c:v>RYB - Q4 2025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75824"/>
              </a:solidFill>
              <a:ln>
                <a:noFill/>
              </a:ln>
            </c:spPr>
          </c:marker>
          <c:dLbls>
            <c:dLbl>
              <c:idx val="2"/>
              <c:layout>
                <c:manualLayout>
                  <c:x val="-0.10459011706536356"/>
                  <c:y val="-4.7555827886710242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D6-4F06-A1EC-6A7F8AB81D28}"/>
                </c:ext>
              </c:extLst>
            </c:dLbl>
            <c:dLbl>
              <c:idx val="3"/>
              <c:layout>
                <c:manualLayout>
                  <c:x val="-0.1001404279830085"/>
                  <c:y val="-4.7555827886710304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FD6-4F06-A1EC-6A7F8AB81D28}"/>
                </c:ext>
              </c:extLst>
            </c:dLbl>
            <c:dLbl>
              <c:idx val="5"/>
              <c:layout>
                <c:manualLayout>
                  <c:x val="-0.11348949523007354"/>
                  <c:y val="-4.7555827886710242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3B-4CC7-8627-DA463B1F4C35}"/>
                </c:ext>
              </c:extLst>
            </c:dLbl>
            <c:dLbl>
              <c:idx val="7"/>
              <c:layout>
                <c:manualLayout>
                  <c:x val="-0.10459011706536352"/>
                  <c:y val="-4.755582788671036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FD6-4F06-A1EC-6A7F8AB81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F75824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Sheet1!$B$2:$B$9</c:f>
              <c:numCache>
                <c:formatCode>0%</c:formatCode>
                <c:ptCount val="8"/>
                <c:pt idx="0">
                  <c:v>0.7</c:v>
                </c:pt>
                <c:pt idx="1">
                  <c:v>0.41</c:v>
                </c:pt>
                <c:pt idx="2">
                  <c:v>0.71</c:v>
                </c:pt>
                <c:pt idx="3">
                  <c:v>0.4</c:v>
                </c:pt>
                <c:pt idx="4">
                  <c:v>0.38</c:v>
                </c:pt>
                <c:pt idx="5">
                  <c:v>0.64</c:v>
                </c:pt>
                <c:pt idx="6">
                  <c:v>0.45</c:v>
                </c:pt>
                <c:pt idx="7">
                  <c:v>0.45</c:v>
                </c:pt>
              </c:numCache>
            </c:numRef>
          </c:xVal>
          <c:yVal>
            <c:numRef>
              <c:f>Sheet1!$D$2:$D$9</c:f>
              <c:numCache>
                <c:formatCode>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F598-4B85-A1E6-7E270D7D28DE}"/>
            </c:ext>
          </c:extLst>
        </c:ser>
        <c:ser>
          <c:idx val="2"/>
          <c:order val="1"/>
          <c:tx>
            <c:v>TAG2 - Q4 2025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7030A0"/>
              </a:solidFill>
              <a:ln cap="rnd">
                <a:noFill/>
              </a:ln>
            </c:spPr>
          </c:marker>
          <c:dLbls>
            <c:dLbl>
              <c:idx val="2"/>
              <c:layout>
                <c:manualLayout>
                  <c:x val="-5.5643537159458641E-2"/>
                  <c:y val="-4.7555827886710242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99-43F6-9059-13B77B4CAD47}"/>
                </c:ext>
              </c:extLst>
            </c:dLbl>
            <c:dLbl>
              <c:idx val="5"/>
              <c:layout>
                <c:manualLayout>
                  <c:x val="-4.6744158994748666E-2"/>
                  <c:y val="-4.7555827886710242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FD6-4F06-A1EC-6A7F8AB81D28}"/>
                </c:ext>
              </c:extLst>
            </c:dLbl>
            <c:dLbl>
              <c:idx val="7"/>
              <c:layout>
                <c:manualLayout>
                  <c:x val="-5.119384807710365E-2"/>
                  <c:y val="-4.7555827886710367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D6-4F06-A1EC-6A7F8AB81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7030A0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Sheet1!$C$2:$C$9</c:f>
              <c:numCache>
                <c:formatCode>0%</c:formatCode>
                <c:ptCount val="8"/>
                <c:pt idx="0">
                  <c:v>0.78</c:v>
                </c:pt>
                <c:pt idx="1">
                  <c:v>0.48</c:v>
                </c:pt>
                <c:pt idx="2">
                  <c:v>0.75</c:v>
                </c:pt>
                <c:pt idx="3">
                  <c:v>0.46</c:v>
                </c:pt>
                <c:pt idx="4">
                  <c:v>0.46</c:v>
                </c:pt>
                <c:pt idx="5">
                  <c:v>0.67</c:v>
                </c:pt>
                <c:pt idx="6">
                  <c:v>0.65</c:v>
                </c:pt>
                <c:pt idx="7">
                  <c:v>0.49</c:v>
                </c:pt>
              </c:numCache>
            </c:numRef>
          </c:xVal>
          <c:yVal>
            <c:numRef>
              <c:f>Sheet1!$D$2:$D$9</c:f>
              <c:numCache>
                <c:formatCode>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F598-4B85-A1E6-7E270D7D28DE}"/>
            </c:ext>
          </c:extLst>
        </c:ser>
        <c:ser>
          <c:idx val="0"/>
          <c:order val="2"/>
          <c:tx>
            <c:strRef>
              <c:f>Sheet1!$E$1</c:f>
              <c:strCache>
                <c:ptCount val="1"/>
                <c:pt idx="0">
                  <c:v>RYB- Q1'2025</c:v>
                </c:pt>
              </c:strCache>
            </c:strRef>
          </c:tx>
          <c:spPr>
            <a:ln w="19050">
              <a:noFill/>
            </a:ln>
          </c:spPr>
          <c:marker>
            <c:symbol val="diamond"/>
            <c:size val="7"/>
            <c:spPr>
              <a:noFill/>
              <a:ln cap="rnd">
                <a:solidFill>
                  <a:srgbClr val="F75824"/>
                </a:solidFill>
              </a:ln>
            </c:spPr>
          </c:marker>
          <c:dLbls>
            <c:delete val="1"/>
          </c:dLbls>
          <c:xVal>
            <c:numRef>
              <c:f>Sheet1!$E$2:$E$9</c:f>
              <c:numCache>
                <c:formatCode>0%</c:formatCode>
                <c:ptCount val="8"/>
                <c:pt idx="0">
                  <c:v>0.57145000000000001</c:v>
                </c:pt>
                <c:pt idx="1">
                  <c:v>0.33329999999999999</c:v>
                </c:pt>
                <c:pt idx="2">
                  <c:v>0.50795000000000001</c:v>
                </c:pt>
                <c:pt idx="3">
                  <c:v>0.36504999999999999</c:v>
                </c:pt>
                <c:pt idx="4">
                  <c:v>0.35714999999999997</c:v>
                </c:pt>
                <c:pt idx="5">
                  <c:v>0.53174999999999994</c:v>
                </c:pt>
                <c:pt idx="6">
                  <c:v>0.38890000000000002</c:v>
                </c:pt>
                <c:pt idx="7">
                  <c:v>0.34919999999999995</c:v>
                </c:pt>
              </c:numCache>
            </c:numRef>
          </c:xVal>
          <c:yVal>
            <c:numRef>
              <c:f>Sheet1!$D$2:$D$9</c:f>
              <c:numCache>
                <c:formatCode>0</c:formatCode>
                <c:ptCount val="8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7B8-419C-B744-7403BA2278D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405609696"/>
        <c:axId val="405610872"/>
        <c:extLst/>
      </c:scatterChart>
      <c:valAx>
        <c:axId val="405609696"/>
        <c:scaling>
          <c:orientation val="minMax"/>
          <c:min val="0.25"/>
        </c:scaling>
        <c:delete val="1"/>
        <c:axPos val="b"/>
        <c:numFmt formatCode="0%" sourceLinked="1"/>
        <c:majorTickMark val="out"/>
        <c:minorTickMark val="none"/>
        <c:tickLblPos val="nextTo"/>
        <c:crossAx val="405610872"/>
        <c:crosses val="autoZero"/>
        <c:crossBetween val="midCat"/>
      </c:valAx>
      <c:valAx>
        <c:axId val="405610872"/>
        <c:scaling>
          <c:orientation val="minMax"/>
          <c:max val="8"/>
          <c:min val="1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0" sourceLinked="1"/>
        <c:majorTickMark val="out"/>
        <c:minorTickMark val="none"/>
        <c:tickLblPos val="nextTo"/>
        <c:crossAx val="40560969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146370244501086E-2"/>
          <c:y val="0.14752335988634033"/>
          <c:w val="0.90971842099650957"/>
          <c:h val="0.852476640113659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 - Average of frequency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solidFill>
                  <a:srgbClr val="F9592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1224747474747475"/>
                  <c:y val="-6.692142476240290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A3-45E9-A5E3-86AAA3D1F4F9}"/>
                </c:ext>
              </c:extLst>
            </c:dLbl>
            <c:dLbl>
              <c:idx val="1"/>
              <c:layout>
                <c:manualLayout>
                  <c:x val="1.6484942886812045E-3"/>
                  <c:y val="-1.3384284952480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0A3-45E9-A5E3-86AAA3D1F4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5.5</c:v>
                </c:pt>
                <c:pt idx="1">
                  <c:v>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A3-45E9-A5E3-86AAA3D1F4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 - Average of frequency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1524473709053148"/>
                  <c:y val="3.259073385929006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A3-45E9-A5E3-86AAA3D1F4F9}"/>
                </c:ext>
              </c:extLst>
            </c:dLbl>
            <c:dLbl>
              <c:idx val="1"/>
              <c:layout>
                <c:manualLayout>
                  <c:x val="-3.8364957991127314E-3"/>
                  <c:y val="-7.562120998151554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A3-45E9-A5E3-86AAA3D1F4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4.0999999999999996</c:v>
                </c:pt>
                <c:pt idx="1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0A3-45E9-A5E3-86AAA3D1F4F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 - Average of reach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95924"/>
              </a:solidFill>
              <a:ln w="28575">
                <a:solidFill>
                  <a:srgbClr val="F95924"/>
                </a:solidFill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92-4827-A0A6-965B25B8408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92-4827-A0A6-965B25B840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0.68</c:v>
                </c:pt>
                <c:pt idx="1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92-4827-A0A6-965B25B840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 - Average of reach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92-4827-A0A6-965B25B8408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B92-4827-A0A6-965B25B840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0.76</c:v>
                </c:pt>
                <c:pt idx="1">
                  <c:v>0.76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B92-4827-A0A6-965B25B840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30000000000000004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8.4891728656951975E-3"/>
          <c:w val="1"/>
          <c:h val="0.99100472921969951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RYB - Average of SOV</c:v>
                </c:pt>
              </c:strCache>
            </c:strRef>
          </c:tx>
          <c:spPr>
            <a:solidFill>
              <a:srgbClr val="F9592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0.55000000000000004</c:v>
                </c:pt>
                <c:pt idx="1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68-4BB3-9C84-FA315E8855CF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TAG - Average of SOV</c:v>
                </c:pt>
              </c:strCache>
            </c:strRef>
          </c:tx>
          <c:spPr>
            <a:solidFill>
              <a:srgbClr val="7638A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>
                    <a:latin typeface="+mn-lt"/>
                    <a:ea typeface="Verdana" panose="020B060403050404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Q3 2025</c:v>
                </c:pt>
                <c:pt idx="1">
                  <c:v>Q4 2025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0.45</c:v>
                </c:pt>
                <c:pt idx="1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68-4BB3-9C84-FA315E8855C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902752911"/>
        <c:axId val="407653487"/>
      </c:barChart>
      <c:catAx>
        <c:axId val="9027529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7653487"/>
        <c:crosses val="autoZero"/>
        <c:auto val="1"/>
        <c:lblAlgn val="ctr"/>
        <c:lblOffset val="100"/>
        <c:noMultiLvlLbl val="0"/>
      </c:catAx>
      <c:valAx>
        <c:axId val="407653487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902752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117314115965498E-2"/>
          <c:y val="0.23608826136140584"/>
          <c:w val="0.97804576494555739"/>
          <c:h val="0.6875302423157864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 or Direct Communication</c:v>
                </c:pt>
              </c:strCache>
            </c:strRef>
          </c:tx>
          <c:spPr>
            <a:solidFill>
              <a:srgbClr val="9EDC7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RYB</c:v>
                </c:pt>
                <c:pt idx="1">
                  <c:v>TAG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0.28000000000000003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3-4E5A-AEC5-ADCC89AF15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Advertisements</c:v>
                </c:pt>
              </c:strCache>
            </c:strRef>
          </c:tx>
          <c:spPr>
            <a:solidFill>
              <a:srgbClr val="77BEE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RYB</c:v>
                </c:pt>
                <c:pt idx="1">
                  <c:v>TAG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0.25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63-4E5A-AEC5-ADCC89AF15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Medical Resources</c:v>
                </c:pt>
              </c:strCache>
            </c:strRef>
          </c:tx>
          <c:spPr>
            <a:solidFill>
              <a:srgbClr val="F084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RYB</c:v>
                </c:pt>
                <c:pt idx="1">
                  <c:v>TAG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0.24</c:v>
                </c:pt>
                <c:pt idx="1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63-4E5A-AEC5-ADCC89AF15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Event or Communication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RYB</c:v>
                </c:pt>
                <c:pt idx="1">
                  <c:v>TAG</c:v>
                </c:pt>
              </c:strCache>
            </c:strRef>
          </c:cat>
          <c:val>
            <c:numRef>
              <c:f>Sheet1!$E$2:$E$3</c:f>
              <c:numCache>
                <c:formatCode>0%</c:formatCode>
                <c:ptCount val="2"/>
                <c:pt idx="0">
                  <c:v>0.23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A63-4E5A-AEC5-ADCC89AF15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650410608"/>
        <c:axId val="650411024"/>
      </c:barChart>
      <c:catAx>
        <c:axId val="65041060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650411024"/>
        <c:crosses val="autoZero"/>
        <c:auto val="1"/>
        <c:lblAlgn val="ctr"/>
        <c:lblOffset val="100"/>
        <c:noMultiLvlLbl val="0"/>
      </c:catAx>
      <c:valAx>
        <c:axId val="650411024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65041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780542176590258E-2"/>
          <c:y val="0.20458611967175702"/>
          <c:w val="0.96043891564681949"/>
          <c:h val="0.7418318013665922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RYBREVANT</c:v>
                </c:pt>
              </c:strCache>
            </c:strRef>
          </c:tx>
          <c:spPr>
            <a:solidFill>
              <a:srgbClr val="F959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34-4CC6-9B7D-BD647F5548B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34-4CC6-9B7D-BD647F5548B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234-4CC6-9B7D-BD647F5548B1}"/>
              </c:ext>
            </c:extLst>
          </c:dPt>
          <c:dPt>
            <c:idx val="4"/>
            <c:invertIfNegative val="0"/>
            <c:bubble3D val="0"/>
            <c:spPr>
              <a:solidFill>
                <a:srgbClr val="F959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34-4CC6-9B7D-BD647F5548B1}"/>
              </c:ext>
            </c:extLst>
          </c:dPt>
          <c:dPt>
            <c:idx val="5"/>
            <c:invertIfNegative val="0"/>
            <c:bubble3D val="0"/>
            <c:spPr>
              <a:solidFill>
                <a:srgbClr val="F959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234-4CC6-9B7D-BD647F5548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Advertisments</c:v>
                </c:pt>
                <c:pt idx="1">
                  <c:v>Email &amp; direct communication</c:v>
                </c:pt>
                <c:pt idx="2">
                  <c:v>Medical Resources</c:v>
                </c:pt>
                <c:pt idx="3">
                  <c:v>Events or communications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0.59</c:v>
                </c:pt>
                <c:pt idx="1">
                  <c:v>0.59</c:v>
                </c:pt>
                <c:pt idx="2">
                  <c:v>0.62</c:v>
                </c:pt>
                <c:pt idx="3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234-4CC6-9B7D-BD647F5548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TAGRISSO</c:v>
                </c:pt>
              </c:strCache>
            </c:strRef>
          </c:tx>
          <c:spPr>
            <a:solidFill>
              <a:srgbClr val="BF311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F234-4CC6-9B7D-BD647F5548B1}"/>
              </c:ext>
            </c:extLst>
          </c:dPt>
          <c:dPt>
            <c:idx val="1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234-4CC6-9B7D-BD647F5548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F234-4CC6-9B7D-BD647F5548B1}"/>
              </c:ext>
            </c:extLst>
          </c:dPt>
          <c:dPt>
            <c:idx val="3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F234-4CC6-9B7D-BD647F5548B1}"/>
              </c:ext>
            </c:extLst>
          </c:dPt>
          <c:dPt>
            <c:idx val="4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F234-4CC6-9B7D-BD647F5548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Advertisments</c:v>
                </c:pt>
                <c:pt idx="1">
                  <c:v>Email &amp; direct communication</c:v>
                </c:pt>
                <c:pt idx="2">
                  <c:v>Medical Resources</c:v>
                </c:pt>
                <c:pt idx="3">
                  <c:v>Events or communications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0.41</c:v>
                </c:pt>
                <c:pt idx="1">
                  <c:v>0.41</c:v>
                </c:pt>
                <c:pt idx="2">
                  <c:v>0.38</c:v>
                </c:pt>
                <c:pt idx="3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F234-4CC6-9B7D-BD647F5548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rgbClr val="DC008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Advertisments</c:v>
                </c:pt>
                <c:pt idx="1">
                  <c:v>Email &amp; direct communication</c:v>
                </c:pt>
                <c:pt idx="2">
                  <c:v>Medical Resources</c:v>
                </c:pt>
                <c:pt idx="3">
                  <c:v>Events or communications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17-F234-4CC6-9B7D-BD647F5548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650410608"/>
        <c:axId val="650411024"/>
      </c:barChart>
      <c:catAx>
        <c:axId val="65041060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50411024"/>
        <c:crosses val="autoZero"/>
        <c:auto val="1"/>
        <c:lblAlgn val="ctr"/>
        <c:lblOffset val="100"/>
        <c:noMultiLvlLbl val="0"/>
      </c:catAx>
      <c:valAx>
        <c:axId val="650411024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65041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724241098407498E-2"/>
          <c:y val="4.7771876720529509E-2"/>
          <c:w val="0.88628430090096322"/>
          <c:h val="0.90409489028281009"/>
        </c:manualLayout>
      </c:layout>
      <c:scatterChart>
        <c:scatterStyle val="lineMarker"/>
        <c:varyColors val="0"/>
        <c:ser>
          <c:idx val="1"/>
          <c:order val="0"/>
          <c:tx>
            <c:v>Q4 2025 - RYB_Reach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75824"/>
              </a:solidFill>
              <a:ln>
                <a:solidFill>
                  <a:srgbClr val="F75824"/>
                </a:solidFill>
              </a:ln>
            </c:spPr>
          </c:marker>
          <c:dLbls>
            <c:dLbl>
              <c:idx val="0"/>
              <c:layout>
                <c:manualLayout>
                  <c:x val="-4.3977607202631733E-2"/>
                  <c:y val="-2.563489792827210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31%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4A6-4013-806C-1E34C8436778}"/>
                </c:ext>
              </c:extLst>
            </c:dLbl>
            <c:dLbl>
              <c:idx val="1"/>
              <c:layout>
                <c:manualLayout>
                  <c:x val="-4.3977607202631733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27%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4A6-4013-806C-1E34C8436778}"/>
                </c:ext>
              </c:extLst>
            </c:dLbl>
            <c:dLbl>
              <c:idx val="2"/>
              <c:layout>
                <c:manualLayout>
                  <c:x val="-4.3977607202631837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44%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4A6-4013-806C-1E34C8436778}"/>
                </c:ext>
              </c:extLst>
            </c:dLbl>
            <c:dLbl>
              <c:idx val="3"/>
              <c:layout>
                <c:manualLayout>
                  <c:x val="-4.3977607202631733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33%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4A6-4013-806C-1E34C8436778}"/>
                </c:ext>
              </c:extLst>
            </c:dLbl>
            <c:dLbl>
              <c:idx val="4"/>
              <c:layout>
                <c:manualLayout>
                  <c:x val="-4.3977607202631733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48%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4A6-4013-806C-1E34C8436778}"/>
                </c:ext>
              </c:extLst>
            </c:dLbl>
            <c:dLbl>
              <c:idx val="5"/>
              <c:layout>
                <c:manualLayout>
                  <c:x val="-3.5859562845173817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25%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4A6-4013-806C-1E34C8436778}"/>
                </c:ext>
              </c:extLst>
            </c:dLbl>
            <c:dLbl>
              <c:idx val="6"/>
              <c:layout>
                <c:manualLayout>
                  <c:x val="-3.5859562845173817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21%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4A6-4013-806C-1E34C8436778}"/>
                </c:ext>
              </c:extLst>
            </c:dLbl>
            <c:dLbl>
              <c:idx val="7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4A6-4013-806C-1E34C8436778}"/>
                </c:ext>
              </c:extLst>
            </c:dLbl>
            <c:dLbl>
              <c:idx val="8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35%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4A6-4013-806C-1E34C8436778}"/>
                </c:ext>
              </c:extLst>
            </c:dLbl>
            <c:dLbl>
              <c:idx val="9"/>
              <c:layout>
                <c:manualLayout>
                  <c:x val="-3.5859562845173817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21%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4A6-4013-806C-1E34C8436778}"/>
                </c:ext>
              </c:extLst>
            </c:dLbl>
            <c:dLbl>
              <c:idx val="10"/>
              <c:layout>
                <c:manualLayout>
                  <c:x val="-3.5859562845173866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17%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4A6-4013-806C-1E34C8436778}"/>
                </c:ext>
              </c:extLst>
            </c:dLbl>
            <c:dLbl>
              <c:idx val="11"/>
              <c:layout>
                <c:manualLayout>
                  <c:x val="-3.5859562845173866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94A6-4013-806C-1E34C8436778}"/>
                </c:ext>
              </c:extLst>
            </c:dLbl>
            <c:dLbl>
              <c:idx val="12"/>
              <c:layout>
                <c:manualLayout>
                  <c:x val="-3.5859562845173866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17%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94A6-4013-806C-1E34C8436778}"/>
                </c:ext>
              </c:extLst>
            </c:dLbl>
            <c:dLbl>
              <c:idx val="13"/>
              <c:layout>
                <c:manualLayout>
                  <c:x val="-3.5859562845173866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F75824"/>
                        </a:solidFill>
                      </a:rPr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4A6-4013-806C-1E34C84367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F75824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Sheet1!$B$2:$B$15</c:f>
              <c:numCache>
                <c:formatCode>0%</c:formatCode>
                <c:ptCount val="14"/>
                <c:pt idx="0">
                  <c:v>0.31</c:v>
                </c:pt>
                <c:pt idx="1">
                  <c:v>0.27</c:v>
                </c:pt>
                <c:pt idx="2">
                  <c:v>0.44</c:v>
                </c:pt>
                <c:pt idx="3">
                  <c:v>0.33</c:v>
                </c:pt>
                <c:pt idx="4">
                  <c:v>0.48</c:v>
                </c:pt>
                <c:pt idx="5">
                  <c:v>0.25</c:v>
                </c:pt>
                <c:pt idx="6">
                  <c:v>0.21</c:v>
                </c:pt>
                <c:pt idx="7">
                  <c:v>0.06</c:v>
                </c:pt>
                <c:pt idx="8">
                  <c:v>0.35</c:v>
                </c:pt>
                <c:pt idx="9">
                  <c:v>0.21</c:v>
                </c:pt>
                <c:pt idx="10">
                  <c:v>0.17</c:v>
                </c:pt>
                <c:pt idx="11">
                  <c:v>0.13</c:v>
                </c:pt>
                <c:pt idx="12">
                  <c:v>0.17</c:v>
                </c:pt>
                <c:pt idx="13">
                  <c:v>0.13</c:v>
                </c:pt>
              </c:numCache>
            </c:numRef>
          </c:xVal>
          <c:yVal>
            <c:numRef>
              <c:f>Sheet1!$E$2:$E$15</c:f>
              <c:numCache>
                <c:formatCode>0</c:formatCode>
                <c:ptCount val="14"/>
                <c:pt idx="0">
                  <c:v>14</c:v>
                </c:pt>
                <c:pt idx="1">
                  <c:v>13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9</c:v>
                </c:pt>
                <c:pt idx="6">
                  <c:v>8</c:v>
                </c:pt>
                <c:pt idx="7">
                  <c:v>7</c:v>
                </c:pt>
                <c:pt idx="8">
                  <c:v>6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</c:numCache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23-7E9F-4BA0-A3CF-CFAC1F4596F5}"/>
            </c:ext>
          </c:extLst>
        </c:ser>
        <c:ser>
          <c:idx val="2"/>
          <c:order val="1"/>
          <c:tx>
            <c:v>IA</c:v>
          </c:tx>
          <c:spPr>
            <a:ln w="19050">
              <a:noFill/>
            </a:ln>
          </c:spPr>
          <c:marker>
            <c:symbol val="diamond"/>
            <c:size val="7"/>
            <c:spPr>
              <a:solidFill>
                <a:srgbClr val="8C8C8C"/>
              </a:solidFill>
              <a:ln>
                <a:noFill/>
              </a:ln>
            </c:spPr>
          </c:marker>
          <c:xVal>
            <c:numRef>
              <c:f>Sheet1!$C$2:$C$15</c:f>
              <c:numCache>
                <c:formatCode>0%</c:formatCode>
                <c:ptCount val="14"/>
                <c:pt idx="0">
                  <c:v>0.34</c:v>
                </c:pt>
                <c:pt idx="1">
                  <c:v>0.16</c:v>
                </c:pt>
                <c:pt idx="2">
                  <c:v>0.17</c:v>
                </c:pt>
                <c:pt idx="3">
                  <c:v>0.15</c:v>
                </c:pt>
                <c:pt idx="4">
                  <c:v>0.19</c:v>
                </c:pt>
                <c:pt idx="5">
                  <c:v>0.21</c:v>
                </c:pt>
                <c:pt idx="6">
                  <c:v>0.23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0.08</c:v>
                </c:pt>
                <c:pt idx="11">
                  <c:v>0.13</c:v>
                </c:pt>
                <c:pt idx="13">
                  <c:v>0.05</c:v>
                </c:pt>
              </c:numCache>
            </c:numRef>
          </c:xVal>
          <c:yVal>
            <c:numRef>
              <c:f>Sheet1!$E$2:$E$15</c:f>
              <c:numCache>
                <c:formatCode>0</c:formatCode>
                <c:ptCount val="14"/>
                <c:pt idx="0">
                  <c:v>14</c:v>
                </c:pt>
                <c:pt idx="1">
                  <c:v>13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9</c:v>
                </c:pt>
                <c:pt idx="6">
                  <c:v>8</c:v>
                </c:pt>
                <c:pt idx="7">
                  <c:v>7</c:v>
                </c:pt>
                <c:pt idx="8">
                  <c:v>6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3-7E9F-4BA0-A3CF-CFAC1F4596F5}"/>
            </c:ext>
          </c:extLst>
        </c:ser>
        <c:ser>
          <c:idx val="0"/>
          <c:order val="2"/>
          <c:tx>
            <c:v>Q4 2025 - TAG_Reach - Average of decimal</c:v>
          </c:tx>
          <c:spPr>
            <a:ln w="28575">
              <a:noFill/>
            </a:ln>
          </c:spPr>
          <c:marker>
            <c:symbol val="circle"/>
            <c:size val="7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dLbls>
            <c:dLbl>
              <c:idx val="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17%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F8-4447-B617-C9C36CC18145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19%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5F8-4447-B617-C9C36CC18145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34%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F8-4447-B617-C9C36CC18145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5F8-4447-B617-C9C36CC18145}"/>
                </c:ext>
              </c:extLst>
            </c:dLbl>
            <c:dLbl>
              <c:idx val="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23%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F8-4447-B617-C9C36CC18145}"/>
                </c:ext>
              </c:extLst>
            </c:dLbl>
            <c:dLbl>
              <c:idx val="5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17%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86F-4F12-875A-72C43687032F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11%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5F8-4447-B617-C9C36CC18145}"/>
                </c:ext>
              </c:extLst>
            </c:dLbl>
            <c:dLbl>
              <c:idx val="7"/>
              <c:layout>
                <c:manualLayout>
                  <c:x val="-3.5859562845173817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F8-4447-B617-C9C36CC18145}"/>
                </c:ext>
              </c:extLst>
            </c:dLbl>
            <c:dLbl>
              <c:idx val="8"/>
              <c:layout>
                <c:manualLayout>
                  <c:x val="-3.5859562845173922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40%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E9F-4BA0-A3CF-CFAC1F4596F5}"/>
                </c:ext>
              </c:extLst>
            </c:dLbl>
            <c:dLbl>
              <c:idx val="9"/>
              <c:layout>
                <c:manualLayout>
                  <c:x val="-7.7398951547650224E-2"/>
                  <c:y val="-4.1983925295660598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19%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86F-4F12-875A-72C43687032F}"/>
                </c:ext>
              </c:extLst>
            </c:dLbl>
            <c:dLbl>
              <c:idx val="1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5F8-4447-B617-C9C36CC18145}"/>
                </c:ext>
              </c:extLst>
            </c:dLbl>
            <c:dLbl>
              <c:idx val="1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85F8-4447-B617-C9C36CC18145}"/>
                </c:ext>
              </c:extLst>
            </c:dLbl>
            <c:dLbl>
              <c:idx val="1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85F8-4447-B617-C9C36CC18145}"/>
                </c:ext>
              </c:extLst>
            </c:dLbl>
            <c:dLbl>
              <c:idx val="1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>
                        <a:solidFill>
                          <a:srgbClr val="7030A0"/>
                        </a:solidFill>
                      </a:rPr>
                      <a:t>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85F8-4447-B617-C9C36CC181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7030A0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Sheet1!$D$2:$D$15</c:f>
              <c:numCache>
                <c:formatCode>0%</c:formatCode>
                <c:ptCount val="14"/>
                <c:pt idx="0">
                  <c:v>0.17</c:v>
                </c:pt>
                <c:pt idx="1">
                  <c:v>0.19</c:v>
                </c:pt>
                <c:pt idx="2">
                  <c:v>0.34</c:v>
                </c:pt>
                <c:pt idx="3">
                  <c:v>0.13</c:v>
                </c:pt>
                <c:pt idx="4">
                  <c:v>0.23</c:v>
                </c:pt>
                <c:pt idx="5">
                  <c:v>0.17</c:v>
                </c:pt>
                <c:pt idx="6">
                  <c:v>0.11</c:v>
                </c:pt>
                <c:pt idx="7">
                  <c:v>0.09</c:v>
                </c:pt>
                <c:pt idx="8">
                  <c:v>0.4</c:v>
                </c:pt>
                <c:pt idx="9">
                  <c:v>0.19</c:v>
                </c:pt>
                <c:pt idx="10">
                  <c:v>0.09</c:v>
                </c:pt>
                <c:pt idx="11">
                  <c:v>0.08</c:v>
                </c:pt>
                <c:pt idx="12">
                  <c:v>0.13</c:v>
                </c:pt>
                <c:pt idx="13">
                  <c:v>0.06</c:v>
                </c:pt>
              </c:numCache>
            </c:numRef>
          </c:xVal>
          <c:yVal>
            <c:numRef>
              <c:f>Sheet1!$E$2:$E$15</c:f>
              <c:numCache>
                <c:formatCode>0</c:formatCode>
                <c:ptCount val="14"/>
                <c:pt idx="0">
                  <c:v>14</c:v>
                </c:pt>
                <c:pt idx="1">
                  <c:v>13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9</c:v>
                </c:pt>
                <c:pt idx="6">
                  <c:v>8</c:v>
                </c:pt>
                <c:pt idx="7">
                  <c:v>7</c:v>
                </c:pt>
                <c:pt idx="8">
                  <c:v>6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7E9F-4BA0-A3CF-CFAC1F459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5609696"/>
        <c:axId val="405610872"/>
        <c:extLst/>
      </c:scatterChart>
      <c:valAx>
        <c:axId val="405609696"/>
        <c:scaling>
          <c:orientation val="minMax"/>
          <c:max val="0.5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405610872"/>
        <c:crosses val="autoZero"/>
        <c:crossBetween val="midCat"/>
      </c:valAx>
      <c:valAx>
        <c:axId val="405610872"/>
        <c:scaling>
          <c:orientation val="minMax"/>
          <c:max val="14"/>
          <c:min val="1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0" sourceLinked="1"/>
        <c:majorTickMark val="out"/>
        <c:minorTickMark val="none"/>
        <c:tickLblPos val="nextTo"/>
        <c:crossAx val="40560969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754511433335438E-2"/>
          <c:y val="3.2652377976050299E-2"/>
          <c:w val="0.88700878683083417"/>
          <c:h val="0.929376172291416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2025 - RYB_Overall</c:v>
                </c:pt>
              </c:strCache>
            </c:strRef>
          </c:tx>
          <c:spPr>
            <a:solidFill>
              <a:srgbClr val="F959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337-473A-89C3-5CC490C811B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37-473A-89C3-5CC490C811B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337-473A-89C3-5CC490C811B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337-473A-89C3-5CC490C811B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8337-473A-89C3-5CC490C811B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337-473A-89C3-5CC490C811BF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8337-473A-89C3-5CC490C811BF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337-473A-89C3-5CC490C811BF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B430-4A6E-AE6C-44580BC8C4A2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 panose="020B0604020202020204" charset="0"/>
                      <a:ea typeface="Johnson Text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B430-4A6E-AE6C-44580BC8C4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959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Overall effectiveness of channel</c:v>
                </c:pt>
                <c:pt idx="1">
                  <c:v>Relevance / Usefulness of information in channel</c:v>
                </c:pt>
                <c:pt idx="2">
                  <c:v>Clarity of information in channel</c:v>
                </c:pt>
                <c:pt idx="3">
                  <c:v>Credibility of information in channel</c:v>
                </c:pt>
                <c:pt idx="4">
                  <c:v>Motivating to take action</c:v>
                </c:pt>
                <c:pt idx="5">
                  <c:v>Differentiation of information in channel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0.67</c:v>
                </c:pt>
                <c:pt idx="1">
                  <c:v>0.68</c:v>
                </c:pt>
                <c:pt idx="2">
                  <c:v>0.67</c:v>
                </c:pt>
                <c:pt idx="3">
                  <c:v>0.64</c:v>
                </c:pt>
                <c:pt idx="4">
                  <c:v>0.62</c:v>
                </c:pt>
                <c:pt idx="5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37-473A-89C3-5CC490C811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72712730921535E-2"/>
          <c:y val="3.2652241154506614E-2"/>
          <c:w val="0.88700878683083417"/>
          <c:h val="0.929376172291416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2025 - TAG_overall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B4F-4AD2-8069-B4A0C81BF1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4F-4AD2-8069-B4A0C81BF1B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B4F-4AD2-8069-B4A0C81BF1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7030A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Overall effectiveness of channel</c:v>
                </c:pt>
                <c:pt idx="1">
                  <c:v>Relevance / Usefulness of information in channel</c:v>
                </c:pt>
                <c:pt idx="2">
                  <c:v>Clarity of information in channel</c:v>
                </c:pt>
                <c:pt idx="3">
                  <c:v>Credibility of information in channel</c:v>
                </c:pt>
                <c:pt idx="4">
                  <c:v>Motivating to take action</c:v>
                </c:pt>
                <c:pt idx="5">
                  <c:v>Differentiation of information in channel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0.66</c:v>
                </c:pt>
                <c:pt idx="1">
                  <c:v>0.69</c:v>
                </c:pt>
                <c:pt idx="2">
                  <c:v>0.73</c:v>
                </c:pt>
                <c:pt idx="3">
                  <c:v>0.7</c:v>
                </c:pt>
                <c:pt idx="4">
                  <c:v>0.62</c:v>
                </c:pt>
                <c:pt idx="5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4F-4AD2-8069-B4A0C81BF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754511433335438E-2"/>
          <c:y val="3.2652377976050299E-2"/>
          <c:w val="0.7988143518518519"/>
          <c:h val="0.929376172291416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RYB_Emails - Q4 2025</c:v>
                </c:pt>
              </c:strCache>
            </c:strRef>
          </c:tx>
          <c:spPr>
            <a:solidFill>
              <a:srgbClr val="F084C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310-4C88-BE1E-008A5F4DCBD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10-4C88-BE1E-008A5F4DCBD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310-4C88-BE1E-008A5F4DCBD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310-4C88-BE1E-008A5F4DCB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Overall effectiveness of channel</c:v>
                </c:pt>
                <c:pt idx="1">
                  <c:v>Relevance / Usefulness of information in channel</c:v>
                </c:pt>
                <c:pt idx="2">
                  <c:v>Clarity of information in channel</c:v>
                </c:pt>
                <c:pt idx="3">
                  <c:v>Credibility of information in channel</c:v>
                </c:pt>
                <c:pt idx="4">
                  <c:v>Motivating to take action</c:v>
                </c:pt>
                <c:pt idx="5">
                  <c:v>Differentiation of information in channel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0.72</c:v>
                </c:pt>
                <c:pt idx="1">
                  <c:v>0.66</c:v>
                </c:pt>
                <c:pt idx="2">
                  <c:v>0.75</c:v>
                </c:pt>
                <c:pt idx="3">
                  <c:v>0.71</c:v>
                </c:pt>
                <c:pt idx="4">
                  <c:v>0.65</c:v>
                </c:pt>
                <c:pt idx="5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10-4C88-BE1E-008A5F4DC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754511433335438E-2"/>
          <c:y val="3.2652377976050299E-2"/>
          <c:w val="0.78117546296296303"/>
          <c:h val="0.929376172291416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RYB_Online_Ads - Q4 2025</c:v>
                </c:pt>
              </c:strCache>
            </c:strRef>
          </c:tx>
          <c:spPr>
            <a:solidFill>
              <a:srgbClr val="77BEE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310-4C88-BE1E-008A5F4DCBD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10-4C88-BE1E-008A5F4DCBD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310-4C88-BE1E-008A5F4DCBD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310-4C88-BE1E-008A5F4DCB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Overall effectiveness of channel</c:v>
                </c:pt>
                <c:pt idx="1">
                  <c:v>Relevance / Usefulness of information in channel</c:v>
                </c:pt>
                <c:pt idx="2">
                  <c:v>Clarity of information in channel</c:v>
                </c:pt>
                <c:pt idx="3">
                  <c:v>Credibility of information in channel</c:v>
                </c:pt>
                <c:pt idx="4">
                  <c:v>Motivating to take action</c:v>
                </c:pt>
                <c:pt idx="5">
                  <c:v>Differentiation of information in channel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0.5</c:v>
                </c:pt>
                <c:pt idx="1">
                  <c:v>0.56000000000000005</c:v>
                </c:pt>
                <c:pt idx="2">
                  <c:v>0.53</c:v>
                </c:pt>
                <c:pt idx="3">
                  <c:v>0.56000000000000005</c:v>
                </c:pt>
                <c:pt idx="4">
                  <c:v>0.53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10-4C88-BE1E-008A5F4DC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754511433335438E-2"/>
          <c:y val="3.2652377976050299E-2"/>
          <c:w val="0.78123333333333345"/>
          <c:h val="0.929376172291416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RYB_Pharma_Websites - Q4 2025</c:v>
                </c:pt>
              </c:strCache>
            </c:strRef>
          </c:tx>
          <c:spPr>
            <a:solidFill>
              <a:srgbClr val="9EDC7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DAD-4234-AEAA-A8E5875C48E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AD-4234-AEAA-A8E5875C48E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DAD-4234-AEAA-A8E5875C48E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DAD-4234-AEAA-A8E5875C48E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Overall effectiveness of channel</c:v>
                </c:pt>
                <c:pt idx="1">
                  <c:v>Relevance / Usefulness of information in channel</c:v>
                </c:pt>
                <c:pt idx="2">
                  <c:v>Clarity of information in channel</c:v>
                </c:pt>
                <c:pt idx="3">
                  <c:v>Credibility of information in channel</c:v>
                </c:pt>
                <c:pt idx="4">
                  <c:v>Motivating to take action</c:v>
                </c:pt>
                <c:pt idx="5">
                  <c:v>Differentiation of information in channel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0.79</c:v>
                </c:pt>
                <c:pt idx="1">
                  <c:v>0.79</c:v>
                </c:pt>
                <c:pt idx="2">
                  <c:v>0.68</c:v>
                </c:pt>
                <c:pt idx="3">
                  <c:v>0.68</c:v>
                </c:pt>
                <c:pt idx="4">
                  <c:v>0.68</c:v>
                </c:pt>
                <c:pt idx="5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AD-4234-AEAA-A8E5875C4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179402389892557E-2"/>
          <c:y val="2.8607817227940539E-2"/>
          <c:w val="0.72131160371691494"/>
          <c:h val="0.929376172291416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RYB_Seminars - Q4 2025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310-4C88-BE1E-008A5F4DCBD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10-4C88-BE1E-008A5F4DCBD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310-4C88-BE1E-008A5F4DCBD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310-4C88-BE1E-008A5F4DCBD5}"/>
              </c:ext>
            </c:extLst>
          </c:dPt>
          <c:dLbls>
            <c:dLbl>
              <c:idx val="4"/>
              <c:layout>
                <c:manualLayout>
                  <c:x val="0"/>
                  <c:y val="9.5544109371252886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73063645210993"/>
                      <c:h val="0.105162216381292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B05-420D-A797-C0278717D4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Overall effectiveness of channel</c:v>
                </c:pt>
                <c:pt idx="1">
                  <c:v>Relevance / Usefulness of information in channel</c:v>
                </c:pt>
                <c:pt idx="2">
                  <c:v>Clarity of information in channel</c:v>
                </c:pt>
                <c:pt idx="3">
                  <c:v>Credibility of information in channel</c:v>
                </c:pt>
                <c:pt idx="4">
                  <c:v>Motivating to take action</c:v>
                </c:pt>
                <c:pt idx="5">
                  <c:v>Differentiation of information in channel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0.53</c:v>
                </c:pt>
                <c:pt idx="1">
                  <c:v>0.65</c:v>
                </c:pt>
                <c:pt idx="2">
                  <c:v>0.59</c:v>
                </c:pt>
                <c:pt idx="3">
                  <c:v>0.65</c:v>
                </c:pt>
                <c:pt idx="4">
                  <c:v>0.47</c:v>
                </c:pt>
                <c:pt idx="5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10-4C88-BE1E-008A5F4DC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496977770131091"/>
          <c:y val="3.265251785799024E-2"/>
          <c:w val="0.77722361111111116"/>
          <c:h val="0.929376172291416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RYB_Conferences - Q4 2025</c:v>
                </c:pt>
              </c:strCache>
            </c:strRef>
          </c:tx>
          <c:spPr>
            <a:solidFill>
              <a:srgbClr val="C33B3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310-4C88-BE1E-008A5F4DCBD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10-4C88-BE1E-008A5F4DCBD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310-4C88-BE1E-008A5F4DCBD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310-4C88-BE1E-008A5F4DCBD5}"/>
              </c:ext>
            </c:extLst>
          </c:dPt>
          <c:dLbls>
            <c:dLbl>
              <c:idx val="1"/>
              <c:layout>
                <c:manualLayout>
                  <c:x val="1.3229513888888727E-2"/>
                  <c:y val="-3.389998836006101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11698194444444443"/>
                      <c:h val="4.28616737378408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310-4C88-BE1E-008A5F4DCB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Overall effectiveness of channel</c:v>
                </c:pt>
                <c:pt idx="1">
                  <c:v>Relevance / Usefulness of information in channel</c:v>
                </c:pt>
                <c:pt idx="2">
                  <c:v>Clarity of information in channel</c:v>
                </c:pt>
                <c:pt idx="3">
                  <c:v>Credibility of information in channel</c:v>
                </c:pt>
                <c:pt idx="4">
                  <c:v>Motivating to take action</c:v>
                </c:pt>
                <c:pt idx="5">
                  <c:v>Differentiation of information in channel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0.81</c:v>
                </c:pt>
                <c:pt idx="1">
                  <c:v>0.88</c:v>
                </c:pt>
                <c:pt idx="2">
                  <c:v>0.69</c:v>
                </c:pt>
                <c:pt idx="3">
                  <c:v>0.5</c:v>
                </c:pt>
                <c:pt idx="4">
                  <c:v>0.75</c:v>
                </c:pt>
                <c:pt idx="5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10-4C88-BE1E-008A5F4DC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57753817760476E-2"/>
          <c:y val="0.22303038931209146"/>
          <c:w val="0.91188449236447899"/>
          <c:h val="0.68917135191214629"/>
        </c:manualLayout>
      </c:layout>
      <c:scatterChart>
        <c:scatterStyle val="lineMarker"/>
        <c:varyColors val="0"/>
        <c:ser>
          <c:idx val="0"/>
          <c:order val="0"/>
          <c:tx>
            <c:v>Topics_Online_ads_RYB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9274853182486773E-2"/>
                  <c:y val="-6.321003818631536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F57-48EB-AA85-B2B856980F90}"/>
                </c:ext>
              </c:extLst>
            </c:dLbl>
            <c:dLbl>
              <c:idx val="1"/>
              <c:layout>
                <c:manualLayout>
                  <c:x val="-7.6200593432326033E-2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F57-48EB-AA85-B2B856980F90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31%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F57-48EB-AA85-B2B856980F90}"/>
                </c:ext>
              </c:extLst>
            </c:dLbl>
            <c:dLbl>
              <c:idx val="3"/>
              <c:layout>
                <c:manualLayout>
                  <c:x val="-4.5461213400598451E-2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31%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F57-48EB-AA85-B2B856980F90}"/>
                </c:ext>
              </c:extLst>
            </c:dLbl>
            <c:dLbl>
              <c:idx val="4"/>
              <c:layout>
                <c:manualLayout>
                  <c:x val="-7.6200593432325978E-2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31%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F57-48EB-AA85-B2B856980F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Sheet1!$B$2:$B$6</c:f>
              <c:numCache>
                <c:formatCode>0%</c:formatCode>
                <c:ptCount val="5"/>
                <c:pt idx="0">
                  <c:v>0.59</c:v>
                </c:pt>
                <c:pt idx="1">
                  <c:v>0.44</c:v>
                </c:pt>
                <c:pt idx="2">
                  <c:v>0.31</c:v>
                </c:pt>
                <c:pt idx="3">
                  <c:v>0.31</c:v>
                </c:pt>
                <c:pt idx="4">
                  <c:v>0.31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F57-48EB-AA85-B2B856980F90}"/>
            </c:ext>
          </c:extLst>
        </c:ser>
        <c:ser>
          <c:idx val="1"/>
          <c:order val="1"/>
          <c:tx>
            <c:v>Topics_Online_Ads_TAG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0.12123535574037526"/>
                  <c:y val="-6.529226571577344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32%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F57-48EB-AA85-B2B856980F90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F57-48EB-AA85-B2B856980F90}"/>
                </c:ext>
              </c:extLst>
            </c:dLbl>
            <c:dLbl>
              <c:idx val="2"/>
              <c:layout>
                <c:manualLayout>
                  <c:x val="-7.6200593432325978E-2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F57-48EB-AA85-B2B856980F90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F57-48EB-AA85-B2B856980F90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F57-48EB-AA85-B2B856980F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Sheet1!$C$2:$C$6</c:f>
              <c:numCache>
                <c:formatCode>0%</c:formatCode>
                <c:ptCount val="5"/>
                <c:pt idx="0">
                  <c:v>0.32</c:v>
                </c:pt>
                <c:pt idx="1">
                  <c:v>0.2</c:v>
                </c:pt>
                <c:pt idx="2">
                  <c:v>0.48</c:v>
                </c:pt>
                <c:pt idx="3">
                  <c:v>0.24</c:v>
                </c:pt>
                <c:pt idx="4">
                  <c:v>0.08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7F57-48EB-AA85-B2B856980F9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8823423"/>
        <c:axId val="58821023"/>
      </c:scatterChart>
      <c:valAx>
        <c:axId val="58823423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58821023"/>
        <c:crosses val="autoZero"/>
        <c:crossBetween val="midCat"/>
        <c:majorUnit val="1"/>
      </c:valAx>
      <c:valAx>
        <c:axId val="58821023"/>
        <c:scaling>
          <c:orientation val="minMax"/>
          <c:max val="5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58823423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352161785216181E-2"/>
          <c:y val="0"/>
          <c:w val="0.88929567642956764"/>
          <c:h val="0.9666405980053337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RYB_MR_Online_Ads - Q4 2025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Indication</c:v>
                </c:pt>
                <c:pt idx="1">
                  <c:v>OS Headline</c:v>
                </c:pt>
                <c:pt idx="2">
                  <c:v>Median OS Not Reached</c:v>
                </c:pt>
                <c:pt idx="3">
                  <c:v>NCCN - NSCLC</c:v>
                </c:pt>
                <c:pt idx="4">
                  <c:v>NCCN – CNS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0.5</c:v>
                </c:pt>
                <c:pt idx="1">
                  <c:v>0.38</c:v>
                </c:pt>
                <c:pt idx="2">
                  <c:v>0.34</c:v>
                </c:pt>
                <c:pt idx="3">
                  <c:v>0.33</c:v>
                </c:pt>
                <c:pt idx="4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21-4529-B7E3-496F3C7136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95144360"/>
        <c:axId val="195144752"/>
      </c:barChart>
      <c:catAx>
        <c:axId val="19514436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95144752"/>
        <c:crosses val="autoZero"/>
        <c:auto val="1"/>
        <c:lblAlgn val="ctr"/>
        <c:lblOffset val="100"/>
        <c:noMultiLvlLbl val="0"/>
      </c:catAx>
      <c:valAx>
        <c:axId val="195144752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195144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72621194865696E-2"/>
          <c:y val="4.3880548164476986E-2"/>
          <c:w val="0.88700878683083417"/>
          <c:h val="0.9122389036710459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 Amount of Information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E65-4B4C-B672-02C9E6F10AC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65-4B4C-B672-02C9E6F10AC4}"/>
              </c:ext>
            </c:extLst>
          </c:dPt>
          <c:dLbls>
            <c:dLbl>
              <c:idx val="0"/>
              <c:layout>
                <c:manualLayout>
                  <c:x val="0.40403149963302054"/>
                  <c:y val="4.8272799243550812E-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E65-4B4C-B672-02C9E6F10A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RYB_Amount_of_Infromation_OnlineAds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65-4B4C-B672-02C9E6F10A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Shared More Information</c:v>
                </c:pt>
              </c:strCache>
            </c:strRef>
          </c:tx>
          <c:spPr>
            <a:solidFill>
              <a:srgbClr val="BAB0A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65-4B4C-B672-02C9E6F10AC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E65-4B4C-B672-02C9E6F10AC4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RYB_Amount_of_Infromation_OnlineAds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E65-4B4C-B672-02C9E6F10AC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57753817760476E-2"/>
          <c:y val="0.13578077893658821"/>
          <c:w val="0.87214962121212125"/>
          <c:h val="0.79178387131531081"/>
        </c:manualLayout>
      </c:layout>
      <c:scatterChart>
        <c:scatterStyle val="lineMarker"/>
        <c:varyColors val="0"/>
        <c:ser>
          <c:idx val="0"/>
          <c:order val="0"/>
          <c:tx>
            <c:v>RYB_Actions_taken2_OnlineAds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7.3234800838574421E-2"/>
                  <c:y val="-8.01156756270470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38C-426B-8F53-B328071E08DA}"/>
                </c:ext>
              </c:extLst>
            </c:dLbl>
            <c:dLbl>
              <c:idx val="1"/>
              <c:layout>
                <c:manualLayout>
                  <c:x val="-8.5094339622641506E-3"/>
                  <c:y val="-9.219947926092290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5D0-4406-83C5-01C00CF39A8F}"/>
                </c:ext>
              </c:extLst>
            </c:dLbl>
            <c:dLbl>
              <c:idx val="2"/>
              <c:layout>
                <c:manualLayout>
                  <c:x val="-1.7231132075471698E-2"/>
                  <c:y val="-9.219947926092290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38C-426B-8F53-B328071E08DA}"/>
                </c:ext>
              </c:extLst>
            </c:dLbl>
            <c:dLbl>
              <c:idx val="3"/>
              <c:layout>
                <c:manualLayout>
                  <c:x val="-2.5952306079664571E-2"/>
                  <c:y val="-9.219947926092290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5D0-4406-83C5-01C00CF39A8F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5D0-4406-83C5-01C00CF39A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Sheet1!$B$2:$B$6</c:f>
              <c:numCache>
                <c:formatCode>0%</c:formatCode>
                <c:ptCount val="5"/>
                <c:pt idx="0">
                  <c:v>0.22</c:v>
                </c:pt>
                <c:pt idx="1">
                  <c:v>0.19</c:v>
                </c:pt>
                <c:pt idx="2">
                  <c:v>0.16</c:v>
                </c:pt>
                <c:pt idx="3">
                  <c:v>0.13</c:v>
                </c:pt>
                <c:pt idx="4">
                  <c:v>0.13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38C-426B-8F53-B328071E08DA}"/>
            </c:ext>
          </c:extLst>
        </c:ser>
        <c:ser>
          <c:idx val="1"/>
          <c:order val="1"/>
          <c:tx>
            <c:v>TAC_ACTIONS_TAKEN2_Online_Ads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5D0-4406-83C5-01C00CF39A8F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38C-426B-8F53-B328071E08DA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5D0-4406-83C5-01C00CF39A8F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38C-426B-8F53-B328071E08DA}"/>
                </c:ext>
              </c:extLst>
            </c:dLbl>
            <c:dLbl>
              <c:idx val="4"/>
              <c:layout>
                <c:manualLayout>
                  <c:x val="-4.3395178197065017E-2"/>
                  <c:y val="-9.219947926092290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38C-426B-8F53-B328071E08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Sheet1!$C$2:$C$6</c:f>
              <c:numCache>
                <c:formatCode>0%</c:formatCode>
                <c:ptCount val="5"/>
                <c:pt idx="0">
                  <c:v>0.12</c:v>
                </c:pt>
                <c:pt idx="1">
                  <c:v>0.16</c:v>
                </c:pt>
                <c:pt idx="2">
                  <c:v>0.12</c:v>
                </c:pt>
                <c:pt idx="3">
                  <c:v>0.08</c:v>
                </c:pt>
                <c:pt idx="4">
                  <c:v>0.2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F38C-426B-8F53-B328071E08D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8823423"/>
        <c:axId val="58821023"/>
      </c:scatterChart>
      <c:valAx>
        <c:axId val="58823423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58821023"/>
        <c:crosses val="autoZero"/>
        <c:crossBetween val="midCat"/>
        <c:majorUnit val="1"/>
      </c:valAx>
      <c:valAx>
        <c:axId val="58821023"/>
        <c:scaling>
          <c:orientation val="minMax"/>
          <c:max val="5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58823423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72621194865696E-2"/>
          <c:y val="4.3880548164476986E-2"/>
          <c:w val="0.88700878683083417"/>
          <c:h val="0.9122389036710459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 Amount of Information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A94-4D77-8675-A452199DBFE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94-4D77-8675-A452199DBFE2}"/>
              </c:ext>
            </c:extLst>
          </c:dPt>
          <c:dLbls>
            <c:dLbl>
              <c:idx val="0"/>
              <c:layout>
                <c:manualLayout>
                  <c:x val="0.37294616811326153"/>
                  <c:y val="9.654559848616501E-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94-4D77-8675-A452199DBF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TAG_Amount_of_Infromation_Online_Ads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94-4D77-8675-A452199DBF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Shared More Information</c:v>
                </c:pt>
              </c:strCache>
            </c:strRef>
          </c:tx>
          <c:spPr>
            <a:solidFill>
              <a:srgbClr val="BAB0A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A94-4D77-8675-A452199DBFE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A94-4D77-8675-A452199DBFE2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TAG_Amount_of_Infromation_Online_Ads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94-4D77-8675-A452199DBFE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57753817760476E-2"/>
          <c:y val="0.16592231123709894"/>
          <c:w val="0.85587321908871017"/>
          <c:h val="0.74627942197488317"/>
        </c:manualLayout>
      </c:layout>
      <c:scatterChart>
        <c:scatterStyle val="lineMarker"/>
        <c:varyColors val="0"/>
        <c:ser>
          <c:idx val="0"/>
          <c:order val="0"/>
          <c:tx>
            <c:v>RYB_Online_Ads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0.1098605870020965"/>
                  <c:y val="-8.093673668344239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BAF-4184-BF91-0E09CC6290C0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BAF-4184-BF91-0E09CC6290C0}"/>
                </c:ext>
              </c:extLst>
            </c:dLbl>
            <c:dLbl>
              <c:idx val="2"/>
              <c:layout>
                <c:manualLayout>
                  <c:x val="1.7655136268343814E-2"/>
                  <c:y val="-7.9266208841611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BAF-4184-BF91-0E09CC6290C0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BAF-4184-BF91-0E09CC6290C0}"/>
                </c:ext>
              </c:extLst>
            </c:dLbl>
            <c:dLbl>
              <c:idx val="4"/>
              <c:layout>
                <c:manualLayout>
                  <c:x val="9.096436058700209E-3"/>
                  <c:y val="-7.9266208841611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BAF-4184-BF91-0E09CC6290C0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BAF-4184-BF91-0E09CC6290C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Sheet1!$B$2:$B$7</c:f>
              <c:numCache>
                <c:formatCode>0%</c:formatCode>
                <c:ptCount val="6"/>
                <c:pt idx="0">
                  <c:v>0.5</c:v>
                </c:pt>
                <c:pt idx="1">
                  <c:v>0.56000000000000005</c:v>
                </c:pt>
                <c:pt idx="2">
                  <c:v>0.56000000000000005</c:v>
                </c:pt>
                <c:pt idx="3">
                  <c:v>0.53</c:v>
                </c:pt>
                <c:pt idx="4">
                  <c:v>0.53</c:v>
                </c:pt>
                <c:pt idx="5">
                  <c:v>0.5</c:v>
                </c:pt>
              </c:numCache>
            </c:numRef>
          </c:xVal>
          <c:yVal>
            <c:numRef>
              <c:f>Sheet1!$D$2:$D$7</c:f>
              <c:numCache>
                <c:formatCode>0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4BAF-4184-BF91-0E09CC6290C0}"/>
            </c:ext>
          </c:extLst>
        </c:ser>
        <c:ser>
          <c:idx val="1"/>
          <c:order val="1"/>
          <c:tx>
            <c:v>TAG_Online_Ads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992243186582815E-2"/>
                  <c:y val="-7.9266208841611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C78-49A2-B450-AB569CE625C7}"/>
                </c:ext>
              </c:extLst>
            </c:dLbl>
            <c:dLbl>
              <c:idx val="1"/>
              <c:layout>
                <c:manualLayout>
                  <c:x val="-5.0814989517819709E-2"/>
                  <c:y val="-7.9266208841611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BAF-4184-BF91-0E09CC6290C0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78-49A2-B450-AB569CE625C7}"/>
                </c:ext>
              </c:extLst>
            </c:dLbl>
            <c:dLbl>
              <c:idx val="3"/>
              <c:layout>
                <c:manualLayout>
                  <c:x val="-4.2256289308176098E-2"/>
                  <c:y val="-7.9266208841611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78-49A2-B450-AB569CE625C7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BAF-4184-BF91-0E09CC6290C0}"/>
                </c:ext>
              </c:extLst>
            </c:dLbl>
            <c:dLbl>
              <c:idx val="5"/>
              <c:layout>
                <c:manualLayout>
                  <c:x val="-7.323480083857449E-2"/>
                  <c:y val="-7.9266208841611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BAF-4184-BF91-0E09CC6290C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Sheet1!$C$2:$C$7</c:f>
              <c:numCache>
                <c:formatCode>0%</c:formatCode>
                <c:ptCount val="6"/>
                <c:pt idx="0">
                  <c:v>0.6</c:v>
                </c:pt>
                <c:pt idx="1">
                  <c:v>0.64</c:v>
                </c:pt>
                <c:pt idx="2">
                  <c:v>0.56000000000000005</c:v>
                </c:pt>
                <c:pt idx="3">
                  <c:v>0.6</c:v>
                </c:pt>
                <c:pt idx="4">
                  <c:v>0.52</c:v>
                </c:pt>
                <c:pt idx="5">
                  <c:v>0.6</c:v>
                </c:pt>
              </c:numCache>
            </c:numRef>
          </c:xVal>
          <c:yVal>
            <c:numRef>
              <c:f>Sheet1!$D$2:$D$7</c:f>
              <c:numCache>
                <c:formatCode>0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4BAF-4184-BF91-0E09CC6290C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8823423"/>
        <c:axId val="58821023"/>
      </c:scatterChart>
      <c:valAx>
        <c:axId val="58823423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58821023"/>
        <c:crosses val="autoZero"/>
        <c:crossBetween val="midCat"/>
        <c:majorUnit val="1"/>
      </c:valAx>
      <c:valAx>
        <c:axId val="58821023"/>
        <c:scaling>
          <c:orientation val="minMax"/>
          <c:max val="6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58823423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57753817760476E-2"/>
          <c:y val="0.22303038931209146"/>
          <c:w val="0.91188449236447899"/>
          <c:h val="0.68917135191214629"/>
        </c:manualLayout>
      </c:layout>
      <c:scatterChart>
        <c:scatterStyle val="lineMarker"/>
        <c:varyColors val="0"/>
        <c:ser>
          <c:idx val="0"/>
          <c:order val="0"/>
          <c:tx>
            <c:v>Topics_Emails_RYB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0.1350868362400538"/>
                  <c:y val="-6.529226571577344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C3D-41FD-9489-4DD1F4D78559}"/>
                </c:ext>
              </c:extLst>
            </c:dLbl>
            <c:dLbl>
              <c:idx val="1"/>
              <c:layout>
                <c:manualLayout>
                  <c:x val="-6.3698814280549257E-2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C3D-41FD-9489-4DD1F4D78559}"/>
                </c:ext>
              </c:extLst>
            </c:dLbl>
            <c:dLbl>
              <c:idx val="2"/>
              <c:layout>
                <c:manualLayout>
                  <c:x val="-3.6342685627562044E-2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34%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C3D-41FD-9489-4DD1F4D78559}"/>
                </c:ext>
              </c:extLst>
            </c:dLbl>
            <c:dLbl>
              <c:idx val="3"/>
              <c:layout>
                <c:manualLayout>
                  <c:x val="-8.9860116406970218E-3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C3D-41FD-9489-4DD1F4D78559}"/>
                </c:ext>
              </c:extLst>
            </c:dLbl>
            <c:dLbl>
              <c:idx val="4"/>
              <c:layout>
                <c:manualLayout>
                  <c:x val="-5.4579741173634851E-2"/>
                  <c:y val="-9.880127590383527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C3D-41FD-9489-4DD1F4D785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Sheet1!$B$2:$B$6</c:f>
              <c:numCache>
                <c:formatCode>0%</c:formatCode>
                <c:ptCount val="5"/>
                <c:pt idx="0">
                  <c:v>0.57999999999999996</c:v>
                </c:pt>
                <c:pt idx="1">
                  <c:v>0.48</c:v>
                </c:pt>
                <c:pt idx="2">
                  <c:v>0.34</c:v>
                </c:pt>
                <c:pt idx="3">
                  <c:v>0.28999999999999998</c:v>
                </c:pt>
                <c:pt idx="4">
                  <c:v>0.28000000000000003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BC3D-41FD-9489-4DD1F4D78559}"/>
            </c:ext>
          </c:extLst>
        </c:ser>
        <c:ser>
          <c:idx val="1"/>
          <c:order val="1"/>
          <c:tx>
            <c:v>Topics_Emails_TAG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3698814280549201E-2"/>
                  <c:y val="-6.321003818631536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C3D-41FD-9489-4DD1F4D7855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39%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C3D-41FD-9489-4DD1F4D78559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BC3D-41FD-9489-4DD1F4D78559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C3D-41FD-9489-4DD1F4D78559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BC3D-41FD-9489-4DD1F4D785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Sheet1!$C$2:$C$6</c:f>
              <c:numCache>
                <c:formatCode>0%</c:formatCode>
                <c:ptCount val="5"/>
                <c:pt idx="0">
                  <c:v>0.67</c:v>
                </c:pt>
                <c:pt idx="1">
                  <c:v>0.39</c:v>
                </c:pt>
                <c:pt idx="2">
                  <c:v>0.28000000000000003</c:v>
                </c:pt>
                <c:pt idx="3">
                  <c:v>0.26</c:v>
                </c:pt>
                <c:pt idx="4">
                  <c:v>0.2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BC3D-41FD-9489-4DD1F4D7855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8823423"/>
        <c:axId val="58821023"/>
      </c:scatterChart>
      <c:valAx>
        <c:axId val="58823423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58821023"/>
        <c:crosses val="autoZero"/>
        <c:crossBetween val="midCat"/>
        <c:majorUnit val="1"/>
      </c:valAx>
      <c:valAx>
        <c:axId val="58821023"/>
        <c:scaling>
          <c:orientation val="minMax"/>
          <c:max val="5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58823423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352161785216181E-2"/>
          <c:y val="0"/>
          <c:w val="0.88929567642956764"/>
          <c:h val="0.9666405980053337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RYB_MR_Emails_2025 - Q4 2025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NCCN – CNS</c:v>
                </c:pt>
                <c:pt idx="1">
                  <c:v>NCCN - NSCLC</c:v>
                </c:pt>
                <c:pt idx="2">
                  <c:v>MOA – Inhibition</c:v>
                </c:pt>
                <c:pt idx="3">
                  <c:v>Safety – Prophylaxis protocol</c:v>
                </c:pt>
                <c:pt idx="4">
                  <c:v>Indication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0.5</c:v>
                </c:pt>
                <c:pt idx="1">
                  <c:v>0.48</c:v>
                </c:pt>
                <c:pt idx="2">
                  <c:v>0.45</c:v>
                </c:pt>
                <c:pt idx="3">
                  <c:v>0.42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21-4529-B7E3-496F3C7136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95144360"/>
        <c:axId val="195144752"/>
      </c:barChart>
      <c:catAx>
        <c:axId val="19514436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95144752"/>
        <c:crosses val="autoZero"/>
        <c:auto val="1"/>
        <c:lblAlgn val="ctr"/>
        <c:lblOffset val="100"/>
        <c:noMultiLvlLbl val="0"/>
      </c:catAx>
      <c:valAx>
        <c:axId val="195144752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195144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72621194865696E-2"/>
          <c:y val="4.3880548164476986E-2"/>
          <c:w val="0.88700878683083417"/>
          <c:h val="0.91223890367104599"/>
        </c:manualLayout>
      </c:layout>
      <c:barChart>
        <c:barDir val="bar"/>
        <c:grouping val="percent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Somewhat Likely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65-4B4C-B672-02C9E6F10AC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E65-4B4C-B672-02C9E6F10AC4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RYB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E65-4B4C-B672-02C9E6F10AC4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Not Very Likely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RYB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65-4B4C-B672-02C9E6F10AC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57753817760476E-2"/>
          <c:y val="0.14206105681146666"/>
          <c:w val="0.88510096153846163"/>
          <c:h val="0.79009465020576131"/>
        </c:manualLayout>
      </c:layout>
      <c:scatterChart>
        <c:scatterStyle val="lineMarker"/>
        <c:varyColors val="0"/>
        <c:ser>
          <c:idx val="0"/>
          <c:order val="0"/>
          <c:tx>
            <c:v>RYB_Actions_taken2_Emails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5576923076923078E-3"/>
                  <c:y val="-8.628197064989517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38C-426B-8F53-B328071E08DA}"/>
                </c:ext>
              </c:extLst>
            </c:dLbl>
            <c:dLbl>
              <c:idx val="1"/>
              <c:layout>
                <c:manualLayout>
                  <c:x val="-4.396207264957265E-2"/>
                  <c:y val="-9.238784067085953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38C-426B-8F53-B328071E08DA}"/>
                </c:ext>
              </c:extLst>
            </c:dLbl>
            <c:dLbl>
              <c:idx val="2"/>
              <c:layout>
                <c:manualLayout>
                  <c:x val="1.7995192307692309E-2"/>
                  <c:y val="-9.238784067085953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38C-426B-8F53-B328071E08DA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38C-426B-8F53-B328071E08DA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38C-426B-8F53-B328071E08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Sheet1!$B$2:$B$6</c:f>
              <c:numCache>
                <c:formatCode>0%</c:formatCode>
                <c:ptCount val="5"/>
                <c:pt idx="0">
                  <c:v>0.23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0.17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38C-426B-8F53-B328071E08DA}"/>
            </c:ext>
          </c:extLst>
        </c:ser>
        <c:ser>
          <c:idx val="1"/>
          <c:order val="1"/>
          <c:tx>
            <c:v>TAC_ACTIONS_TAKEN2_Emails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7638A4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38C-426B-8F53-B328071E08DA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7638A4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38C-426B-8F53-B328071E08DA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7638A4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38C-426B-8F53-B328071E08DA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7638A4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38C-426B-8F53-B328071E08D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7638A4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38C-426B-8F53-B328071E08DA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38C-426B-8F53-B328071E08DA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38C-426B-8F53-B328071E08DA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38C-426B-8F53-B328071E08DA}"/>
                </c:ext>
              </c:extLst>
            </c:dLbl>
            <c:dLbl>
              <c:idx val="3"/>
              <c:layout>
                <c:manualLayout>
                  <c:x val="-7.4643162393162391E-2"/>
                  <c:y val="-9.238784067085953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33%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38C-426B-8F53-B328071E08DA}"/>
                </c:ext>
              </c:extLst>
            </c:dLbl>
            <c:dLbl>
              <c:idx val="4"/>
              <c:layout>
                <c:manualLayout>
                  <c:x val="-2.6259615384615416E-2"/>
                  <c:y val="-9.238784067085953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38C-426B-8F53-B328071E08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Sheet1!$C$2:$C$6</c:f>
              <c:numCache>
                <c:formatCode>0%</c:formatCode>
                <c:ptCount val="5"/>
                <c:pt idx="0">
                  <c:v>0.2</c:v>
                </c:pt>
                <c:pt idx="1">
                  <c:v>0.13</c:v>
                </c:pt>
                <c:pt idx="2">
                  <c:v>0.2</c:v>
                </c:pt>
                <c:pt idx="3">
                  <c:v>0.33</c:v>
                </c:pt>
                <c:pt idx="4">
                  <c:v>0.22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F38C-426B-8F53-B328071E08D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8823423"/>
        <c:axId val="58821023"/>
      </c:scatterChart>
      <c:valAx>
        <c:axId val="58823423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58821023"/>
        <c:crosses val="autoZero"/>
        <c:crossBetween val="midCat"/>
        <c:majorUnit val="1"/>
      </c:valAx>
      <c:valAx>
        <c:axId val="58821023"/>
        <c:scaling>
          <c:orientation val="minMax"/>
          <c:max val="5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58823423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72621194865696E-2"/>
          <c:y val="4.3880548164476986E-2"/>
          <c:w val="0.88700878683083417"/>
          <c:h val="0.91223890367104599"/>
        </c:manualLayout>
      </c:layout>
      <c:barChart>
        <c:barDir val="bar"/>
        <c:grouping val="percent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Somewhat Likely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A94-4D77-8675-A452199DBFE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A94-4D77-8675-A452199DBFE2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Q1'25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94-4D77-8675-A452199DBFE2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Not Very Likely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Q1'25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A94-4D77-8675-A452199DBFE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72621194865696E-2"/>
          <c:y val="4.3880548164476986E-2"/>
          <c:w val="0.88700878683083417"/>
          <c:h val="0.9122389036710459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 Amount of Information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A52-4A81-A87E-C8AB3A14E95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52-4A81-A87E-C8AB3A14E953}"/>
              </c:ext>
            </c:extLst>
          </c:dPt>
          <c:dLbls>
            <c:dLbl>
              <c:idx val="0"/>
              <c:layout>
                <c:manualLayout>
                  <c:x val="0.32089063413006413"/>
                  <c:y val="4.8272799243550812E-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A52-4A81-A87E-C8AB3A14E9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RYB_Amount_of_Infromation_Emails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52-4A81-A87E-C8AB3A14E9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Shared More Information</c:v>
                </c:pt>
              </c:strCache>
            </c:strRef>
          </c:tx>
          <c:spPr>
            <a:solidFill>
              <a:srgbClr val="BAB0A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A52-4A81-A87E-C8AB3A14E95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A52-4A81-A87E-C8AB3A14E953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RYB_Amount_of_Infromation_Emails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52-4A81-A87E-C8AB3A14E95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72621194865696E-2"/>
          <c:y val="4.3880548164476986E-2"/>
          <c:w val="0.88700878683083417"/>
          <c:h val="0.9122389036710459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 Amount of Information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857-48E6-B088-36696E38C33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57-48E6-B088-36696E38C33D}"/>
              </c:ext>
            </c:extLst>
          </c:dPt>
          <c:dLbls>
            <c:dLbl>
              <c:idx val="0"/>
              <c:layout>
                <c:manualLayout>
                  <c:x val="0.31118438231106543"/>
                  <c:y val="6.4363732324578317E-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57-48E6-B088-36696E38C3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TAG_Amount_of_Infromation_Emails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57-48E6-B088-36696E38C3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Shared More Information</c:v>
                </c:pt>
              </c:strCache>
            </c:strRef>
          </c:tx>
          <c:spPr>
            <a:solidFill>
              <a:srgbClr val="BAB0A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857-48E6-B088-36696E38C33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857-48E6-B088-36696E38C33D}"/>
              </c:ext>
            </c:extLst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TAG_Amount_of_Infromation_Emails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57-48E6-B088-36696E38C33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81631728"/>
        <c:axId val="581627248"/>
      </c:barChart>
      <c:catAx>
        <c:axId val="5816317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581627248"/>
        <c:crosses val="autoZero"/>
        <c:auto val="1"/>
        <c:lblAlgn val="ctr"/>
        <c:lblOffset val="100"/>
        <c:noMultiLvlLbl val="0"/>
      </c:catAx>
      <c:valAx>
        <c:axId val="5816272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816317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57753817760476E-2"/>
          <c:y val="0.14307902338649045"/>
          <c:w val="0.85587321908871017"/>
          <c:h val="0.76912270982549169"/>
        </c:manualLayout>
      </c:layout>
      <c:scatterChart>
        <c:scatterStyle val="lineMarker"/>
        <c:varyColors val="0"/>
        <c:ser>
          <c:idx val="0"/>
          <c:order val="0"/>
          <c:tx>
            <c:v>RYB_Emails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4.2255765199161424E-2"/>
                  <c:y val="-7.9266208841611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1AC-4F75-B0B0-A8CAB3264640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1AC-4F75-B0B0-A8CAB3264640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1AC-4F75-B0B0-A8CAB3264640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1AC-4F75-B0B0-A8CAB3264640}"/>
                </c:ext>
              </c:extLst>
            </c:dLbl>
            <c:dLbl>
              <c:idx val="4"/>
              <c:layout>
                <c:manualLayout>
                  <c:x val="5.3773584905660379E-4"/>
                  <c:y val="-6.784456491630733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1AC-4F75-B0B0-A8CAB3264640}"/>
                </c:ext>
              </c:extLst>
            </c:dLbl>
            <c:dLbl>
              <c:idx val="5"/>
              <c:layout>
                <c:manualLayout>
                  <c:x val="1.7655136268343814E-2"/>
                  <c:y val="-7.35553868789593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758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1AC-4F75-B0B0-A8CAB32646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Sheet1!$B$2:$B$7</c:f>
              <c:numCache>
                <c:formatCode>0%</c:formatCode>
                <c:ptCount val="6"/>
                <c:pt idx="0">
                  <c:v>0.72</c:v>
                </c:pt>
                <c:pt idx="1">
                  <c:v>0.75</c:v>
                </c:pt>
                <c:pt idx="2">
                  <c:v>0.71</c:v>
                </c:pt>
                <c:pt idx="3">
                  <c:v>0.66</c:v>
                </c:pt>
                <c:pt idx="4">
                  <c:v>0.65</c:v>
                </c:pt>
                <c:pt idx="5">
                  <c:v>0.54</c:v>
                </c:pt>
              </c:numCache>
            </c:numRef>
          </c:xVal>
          <c:yVal>
            <c:numRef>
              <c:f>Sheet1!$D$2:$D$7</c:f>
              <c:numCache>
                <c:formatCode>0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B1AC-4F75-B0B0-A8CAB3264640}"/>
            </c:ext>
          </c:extLst>
        </c:ser>
        <c:ser>
          <c:idx val="1"/>
          <c:order val="1"/>
          <c:tx>
            <c:v>TAG_Emails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0.10986058700209643"/>
                  <c:y val="-8.093673668344239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1AC-4F75-B0B0-A8CAB3264640}"/>
                </c:ext>
              </c:extLst>
            </c:dLbl>
            <c:dLbl>
              <c:idx val="1"/>
              <c:layout>
                <c:manualLayout>
                  <c:x val="1.5752620545073374E-2"/>
                  <c:y val="-6.784456491630726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B1AC-4F75-B0B0-A8CAB3264640}"/>
                </c:ext>
              </c:extLst>
            </c:dLbl>
            <c:dLbl>
              <c:idx val="2"/>
              <c:layout>
                <c:manualLayout>
                  <c:x val="-8.0209643605871246E-3"/>
                  <c:y val="-6.784456491630723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1AC-4F75-B0B0-A8CAB3264640}"/>
                </c:ext>
              </c:extLst>
            </c:dLbl>
            <c:dLbl>
              <c:idx val="3"/>
              <c:layout>
                <c:manualLayout>
                  <c:x val="-7.3234800838574421E-2"/>
                  <c:y val="-6.784456491630733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B1AC-4F75-B0B0-A8CAB3264640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B1AC-4F75-B0B0-A8CAB3264640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B1AC-4F75-B0B0-A8CAB32646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Sheet1!$C$2:$C$7</c:f>
              <c:numCache>
                <c:formatCode>0%</c:formatCode>
                <c:ptCount val="6"/>
                <c:pt idx="0">
                  <c:v>0.65</c:v>
                </c:pt>
                <c:pt idx="1">
                  <c:v>0.76</c:v>
                </c:pt>
                <c:pt idx="2">
                  <c:v>0.74</c:v>
                </c:pt>
                <c:pt idx="3">
                  <c:v>0.76</c:v>
                </c:pt>
                <c:pt idx="4">
                  <c:v>0.63</c:v>
                </c:pt>
                <c:pt idx="5">
                  <c:v>0.54</c:v>
                </c:pt>
              </c:numCache>
            </c:numRef>
          </c:xVal>
          <c:yVal>
            <c:numRef>
              <c:f>Sheet1!$D$2:$D$7</c:f>
              <c:numCache>
                <c:formatCode>0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B1AC-4F75-B0B0-A8CAB326464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8823423"/>
        <c:axId val="58821023"/>
      </c:scatterChart>
      <c:valAx>
        <c:axId val="58823423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58821023"/>
        <c:crosses val="autoZero"/>
        <c:crossBetween val="midCat"/>
        <c:majorUnit val="1"/>
      </c:valAx>
      <c:valAx>
        <c:axId val="58821023"/>
        <c:scaling>
          <c:orientation val="minMax"/>
          <c:max val="6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58823423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NCCN - NSCLC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B6-4C8A-A039-84095BFEC319}"/>
                </c:ext>
              </c:extLst>
            </c:dLbl>
            <c:dLbl>
              <c:idx val="1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B6-4C8A-A039-84095BFEC319}"/>
                </c:ext>
              </c:extLst>
            </c:dLbl>
            <c:dLbl>
              <c:idx val="2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B6-4C8A-A039-84095BFEC319}"/>
                </c:ext>
              </c:extLst>
            </c:dLbl>
            <c:dLbl>
              <c:idx val="3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B6-4C8A-A039-84095BFEC319}"/>
                </c:ext>
              </c:extLst>
            </c:dLbl>
            <c:dLbl>
              <c:idx val="4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B6-4C8A-A039-84095BFEC319}"/>
                </c:ext>
              </c:extLst>
            </c:dLbl>
            <c:dLbl>
              <c:idx val="5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B6-4C8A-A039-84095BFEC319}"/>
                </c:ext>
              </c:extLst>
            </c:dLbl>
            <c:dLbl>
              <c:idx val="6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EB6-4C8A-A039-84095BFEC319}"/>
                </c:ext>
              </c:extLst>
            </c:dLbl>
            <c:dLbl>
              <c:idx val="7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B6-4C8A-A039-84095BFEC319}"/>
                </c:ext>
              </c:extLst>
            </c:dLbl>
            <c:dLbl>
              <c:idx val="8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EB6-4C8A-A039-84095BFEC319}"/>
                </c:ext>
              </c:extLst>
            </c:dLbl>
            <c:dLbl>
              <c:idx val="9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EB6-4C8A-A039-84095BFEC319}"/>
                </c:ext>
              </c:extLst>
            </c:dLbl>
            <c:dLbl>
              <c:idx val="10"/>
              <c:layout>
                <c:manualLayout>
                  <c:x val="-2.8936908983451536E-2"/>
                  <c:y val="-0.389590221163521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EB6-4C8A-A039-84095BFEC319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EB6-4C8A-A039-84095BFEC3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1" formatCode="0%">
                  <c:v>0.49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EB6-4C8A-A039-84095BFEC31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Efficacy – mPFS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22-4FCA-A1D6-74D81FC463ED}"/>
                </c:ext>
              </c:extLst>
            </c:dLbl>
            <c:dLbl>
              <c:idx val="1"/>
              <c:layout>
                <c:manualLayout>
                  <c:x val="-2.8936908983451536E-2"/>
                  <c:y val="-0.3595575702815368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22-4FCA-A1D6-74D81FC463ED}"/>
                </c:ext>
              </c:extLst>
            </c:dLbl>
            <c:dLbl>
              <c:idx val="2"/>
              <c:layout>
                <c:manualLayout>
                  <c:x val="-2.8936908983451536E-2"/>
                  <c:y val="-0.3595575702815368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422-4FCA-A1D6-74D81FC463ED}"/>
                </c:ext>
              </c:extLst>
            </c:dLbl>
            <c:dLbl>
              <c:idx val="3"/>
              <c:layout>
                <c:manualLayout>
                  <c:x val="-2.8936908983451536E-2"/>
                  <c:y val="-0.3745738957225290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22-4FCA-A1D6-74D81FC463ED}"/>
                </c:ext>
              </c:extLst>
            </c:dLbl>
            <c:dLbl>
              <c:idx val="4"/>
              <c:layout>
                <c:manualLayout>
                  <c:x val="-2.8936908983451536E-2"/>
                  <c:y val="-0.389590221163521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22-4FCA-A1D6-74D81FC463ED}"/>
                </c:ext>
              </c:extLst>
            </c:dLbl>
            <c:dLbl>
              <c:idx val="5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22-4FCA-A1D6-74D81FC463ED}"/>
                </c:ext>
              </c:extLst>
            </c:dLbl>
            <c:dLbl>
              <c:idx val="6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422-4FCA-A1D6-74D81FC463ED}"/>
                </c:ext>
              </c:extLst>
            </c:dLbl>
            <c:dLbl>
              <c:idx val="7"/>
              <c:layout>
                <c:manualLayout>
                  <c:x val="-2.8936908983451536E-2"/>
                  <c:y val="-0.427133601659239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422-4FCA-A1D6-74D81FC463ED}"/>
                </c:ext>
              </c:extLst>
            </c:dLbl>
            <c:dLbl>
              <c:idx val="8"/>
              <c:layout>
                <c:manualLayout>
                  <c:x val="-2.8936908983451536E-2"/>
                  <c:y val="-0.3970983838840174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422-4FCA-A1D6-74D81FC463ED}"/>
                </c:ext>
              </c:extLst>
            </c:dLbl>
            <c:dLbl>
              <c:idx val="9"/>
              <c:layout>
                <c:manualLayout>
                  <c:x val="-2.8936908983451536E-2"/>
                  <c:y val="-0.427133601659239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422-4FCA-A1D6-74D81FC463ED}"/>
                </c:ext>
              </c:extLst>
            </c:dLbl>
            <c:dLbl>
              <c:idx val="10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422-4FCA-A1D6-74D81FC463ED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422-4FCA-A1D6-74D81FC463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0.48</c:v>
                </c:pt>
                <c:pt idx="1">
                  <c:v>0.52</c:v>
                </c:pt>
                <c:pt idx="2">
                  <c:v>0.52</c:v>
                </c:pt>
                <c:pt idx="3">
                  <c:v>0.5</c:v>
                </c:pt>
                <c:pt idx="4">
                  <c:v>0.48</c:v>
                </c:pt>
                <c:pt idx="5">
                  <c:v>0.42</c:v>
                </c:pt>
                <c:pt idx="6">
                  <c:v>0.41</c:v>
                </c:pt>
                <c:pt idx="7">
                  <c:v>0.43</c:v>
                </c:pt>
                <c:pt idx="8">
                  <c:v>0.47</c:v>
                </c:pt>
                <c:pt idx="9">
                  <c:v>0.43</c:v>
                </c:pt>
                <c:pt idx="10">
                  <c:v>0.41</c:v>
                </c:pt>
                <c:pt idx="11">
                  <c:v>0.44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3422-4FCA-A1D6-74D81FC463E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Indication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08F-44AB-AF26-09AF730B3649}"/>
                </c:ext>
              </c:extLst>
            </c:dLbl>
            <c:dLbl>
              <c:idx val="1"/>
              <c:layout>
                <c:manualLayout>
                  <c:x val="-2.8936908983451536E-2"/>
                  <c:y val="-0.3520494075610406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8F-44AB-AF26-09AF730B3649}"/>
                </c:ext>
              </c:extLst>
            </c:dLbl>
            <c:dLbl>
              <c:idx val="2"/>
              <c:layout>
                <c:manualLayout>
                  <c:x val="-2.8936908983451536E-2"/>
                  <c:y val="-0.3220141897858184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8F-44AB-AF26-09AF730B3649}"/>
                </c:ext>
              </c:extLst>
            </c:dLbl>
            <c:dLbl>
              <c:idx val="3"/>
              <c:layout>
                <c:manualLayout>
                  <c:x val="-2.8936908983451536E-2"/>
                  <c:y val="-0.337030515226810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8F-44AB-AF26-09AF730B3649}"/>
                </c:ext>
              </c:extLst>
            </c:dLbl>
            <c:dLbl>
              <c:idx val="4"/>
              <c:layout>
                <c:manualLayout>
                  <c:x val="-2.8936908983451536E-2"/>
                  <c:y val="-0.382082058443025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08F-44AB-AF26-09AF730B3649}"/>
                </c:ext>
              </c:extLst>
            </c:dLbl>
            <c:dLbl>
              <c:idx val="5"/>
              <c:layout>
                <c:manualLayout>
                  <c:x val="-2.8936908983451536E-2"/>
                  <c:y val="-0.427133601659239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8F-44AB-AF26-09AF730B3649}"/>
                </c:ext>
              </c:extLst>
            </c:dLbl>
            <c:dLbl>
              <c:idx val="6"/>
              <c:layout>
                <c:manualLayout>
                  <c:x val="-2.8936908983451536E-2"/>
                  <c:y val="-0.3970983838840174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08F-44AB-AF26-09AF730B3649}"/>
                </c:ext>
              </c:extLst>
            </c:dLbl>
            <c:dLbl>
              <c:idx val="7"/>
              <c:layout>
                <c:manualLayout>
                  <c:x val="-2.8936908983451536E-2"/>
                  <c:y val="-0.3745738957225290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8F-44AB-AF26-09AF730B3649}"/>
                </c:ext>
              </c:extLst>
            </c:dLbl>
            <c:dLbl>
              <c:idx val="8"/>
              <c:layout>
                <c:manualLayout>
                  <c:x val="-2.8936908983451536E-2"/>
                  <c:y val="-0.3745738957225290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08F-44AB-AF26-09AF730B3649}"/>
                </c:ext>
              </c:extLst>
            </c:dLbl>
            <c:dLbl>
              <c:idx val="9"/>
              <c:layout>
                <c:manualLayout>
                  <c:x val="-2.8936908983451536E-2"/>
                  <c:y val="-0.389590221163521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8F-44AB-AF26-09AF730B3649}"/>
                </c:ext>
              </c:extLst>
            </c:dLbl>
            <c:dLbl>
              <c:idx val="10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08F-44AB-AF26-09AF730B3649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08F-44AB-AF26-09AF730B36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0.44</c:v>
                </c:pt>
                <c:pt idx="1">
                  <c:v>0.53</c:v>
                </c:pt>
                <c:pt idx="2">
                  <c:v>0.56999999999999995</c:v>
                </c:pt>
                <c:pt idx="3">
                  <c:v>0.55000000000000004</c:v>
                </c:pt>
                <c:pt idx="4">
                  <c:v>0.49</c:v>
                </c:pt>
                <c:pt idx="5">
                  <c:v>0.43</c:v>
                </c:pt>
                <c:pt idx="6">
                  <c:v>0.47</c:v>
                </c:pt>
                <c:pt idx="7">
                  <c:v>0.5</c:v>
                </c:pt>
                <c:pt idx="8">
                  <c:v>0.5</c:v>
                </c:pt>
                <c:pt idx="9">
                  <c:v>0.48</c:v>
                </c:pt>
                <c:pt idx="10">
                  <c:v>0.42</c:v>
                </c:pt>
                <c:pt idx="11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908F-44AB-AF26-09AF730B364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Safety – Prophylaxis protocol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29-406B-A0BF-AB471D9CA80F}"/>
                </c:ext>
              </c:extLst>
            </c:dLbl>
            <c:dLbl>
              <c:idx val="1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029-406B-A0BF-AB471D9CA80F}"/>
                </c:ext>
              </c:extLst>
            </c:dLbl>
            <c:dLbl>
              <c:idx val="2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29-406B-A0BF-AB471D9CA80F}"/>
                </c:ext>
              </c:extLst>
            </c:dLbl>
            <c:dLbl>
              <c:idx val="3"/>
              <c:layout>
                <c:manualLayout>
                  <c:x val="-2.8936908983451536E-2"/>
                  <c:y val="-0.3595575702815368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29-406B-A0BF-AB471D9CA80F}"/>
                </c:ext>
              </c:extLst>
            </c:dLbl>
            <c:dLbl>
              <c:idx val="4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29-406B-A0BF-AB471D9CA80F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29-406B-A0BF-AB471D9CA80F}"/>
                </c:ext>
              </c:extLst>
            </c:dLbl>
            <c:dLbl>
              <c:idx val="6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29-406B-A0BF-AB471D9CA80F}"/>
                </c:ext>
              </c:extLst>
            </c:dLbl>
            <c:dLbl>
              <c:idx val="7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29-406B-A0BF-AB471D9CA80F}"/>
                </c:ext>
              </c:extLst>
            </c:dLbl>
            <c:dLbl>
              <c:idx val="8"/>
              <c:layout>
                <c:manualLayout>
                  <c:x val="-2.8936908983451536E-2"/>
                  <c:y val="-0.382082058443025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29-406B-A0BF-AB471D9CA80F}"/>
                </c:ext>
              </c:extLst>
            </c:dLbl>
            <c:dLbl>
              <c:idx val="9"/>
              <c:layout>
                <c:manualLayout>
                  <c:x val="-2.8936908983451536E-2"/>
                  <c:y val="-0.4046091134977514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029-406B-A0BF-AB471D9CA80F}"/>
                </c:ext>
              </c:extLst>
            </c:dLbl>
            <c:dLbl>
              <c:idx val="10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029-406B-A0BF-AB471D9CA80F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029-406B-A0BF-AB471D9CA8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0.4</c:v>
                </c:pt>
                <c:pt idx="6" formatCode="0%">
                  <c:v>0.39</c:v>
                </c:pt>
                <c:pt idx="7" formatCode="0%">
                  <c:v>0.42</c:v>
                </c:pt>
                <c:pt idx="8" formatCode="0%">
                  <c:v>0.49</c:v>
                </c:pt>
                <c:pt idx="9" formatCode="0%">
                  <c:v>0.46</c:v>
                </c:pt>
                <c:pt idx="10" formatCode="0%">
                  <c:v>0.41</c:v>
                </c:pt>
                <c:pt idx="11" formatCode="0%">
                  <c:v>0.39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4029-406B-A0BF-AB471D9CA80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OS Not Reached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C88-4146-B072-EC51508176F0}"/>
                </c:ext>
              </c:extLst>
            </c:dLbl>
            <c:dLbl>
              <c:idx val="1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88-4146-B072-EC51508176F0}"/>
                </c:ext>
              </c:extLst>
            </c:dLbl>
            <c:dLbl>
              <c:idx val="2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C88-4146-B072-EC51508176F0}"/>
                </c:ext>
              </c:extLst>
            </c:dLbl>
            <c:dLbl>
              <c:idx val="3"/>
              <c:layout>
                <c:manualLayout>
                  <c:x val="-2.8936908983451536E-2"/>
                  <c:y val="-0.3295223525063145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88-4146-B072-EC51508176F0}"/>
                </c:ext>
              </c:extLst>
            </c:dLbl>
            <c:dLbl>
              <c:idx val="4"/>
              <c:layout>
                <c:manualLayout>
                  <c:x val="-2.8936908983451536E-2"/>
                  <c:y val="-0.389590221163521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C88-4146-B072-EC51508176F0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88-4146-B072-EC51508176F0}"/>
                </c:ext>
              </c:extLst>
            </c:dLbl>
            <c:dLbl>
              <c:idx val="6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C88-4146-B072-EC51508176F0}"/>
                </c:ext>
              </c:extLst>
            </c:dLbl>
            <c:dLbl>
              <c:idx val="7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C88-4146-B072-EC51508176F0}"/>
                </c:ext>
              </c:extLst>
            </c:dLbl>
            <c:dLbl>
              <c:idx val="8"/>
              <c:layout>
                <c:manualLayout>
                  <c:x val="-2.8936908983451536E-2"/>
                  <c:y val="-0.4046091134977514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C88-4146-B072-EC51508176F0}"/>
                </c:ext>
              </c:extLst>
            </c:dLbl>
            <c:dLbl>
              <c:idx val="9"/>
              <c:layout>
                <c:manualLayout>
                  <c:x val="-2.8936908983451536E-2"/>
                  <c:y val="-0.4196254389387436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C88-4146-B072-EC51508176F0}"/>
                </c:ext>
              </c:extLst>
            </c:dLbl>
            <c:dLbl>
              <c:idx val="10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C88-4146-B072-EC51508176F0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C88-4146-B072-EC51508176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0.47</c:v>
                </c:pt>
                <c:pt idx="6" formatCode="0%">
                  <c:v>0.45</c:v>
                </c:pt>
                <c:pt idx="7" formatCode="0%">
                  <c:v>0.45</c:v>
                </c:pt>
                <c:pt idx="8" formatCode="0%">
                  <c:v>0.46</c:v>
                </c:pt>
                <c:pt idx="9" formatCode="0%">
                  <c:v>0.44</c:v>
                </c:pt>
                <c:pt idx="10" formatCode="0%">
                  <c:v>0.42</c:v>
                </c:pt>
                <c:pt idx="11" formatCode="0%">
                  <c:v>0.37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C88-4146-B072-EC51508176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MOA – inhibition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1D-4825-B72F-513F4D99EF64}"/>
                </c:ext>
              </c:extLst>
            </c:dLbl>
            <c:dLbl>
              <c:idx val="1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1D-4825-B72F-513F4D99EF64}"/>
                </c:ext>
              </c:extLst>
            </c:dLbl>
            <c:dLbl>
              <c:idx val="2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81D-4825-B72F-513F4D99EF64}"/>
                </c:ext>
              </c:extLst>
            </c:dLbl>
            <c:dLbl>
              <c:idx val="3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1D-4825-B72F-513F4D99EF64}"/>
                </c:ext>
              </c:extLst>
            </c:dLbl>
            <c:dLbl>
              <c:idx val="4"/>
              <c:layout>
                <c:manualLayout>
                  <c:x val="-2.8936908983451536E-2"/>
                  <c:y val="-0.4031896215372610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81D-4825-B72F-513F4D99EF64}"/>
                </c:ext>
              </c:extLst>
            </c:dLbl>
            <c:dLbl>
              <c:idx val="5"/>
              <c:layout>
                <c:manualLayout>
                  <c:x val="-2.8936908983451536E-2"/>
                  <c:y val="-0.4182059469782533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1D-4825-B72F-513F4D99EF64}"/>
                </c:ext>
              </c:extLst>
            </c:dLbl>
            <c:dLbl>
              <c:idx val="6"/>
              <c:layout>
                <c:manualLayout>
                  <c:x val="-2.8936908983451536E-2"/>
                  <c:y val="-0.410697784257757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81D-4825-B72F-513F4D99EF64}"/>
                </c:ext>
              </c:extLst>
            </c:dLbl>
            <c:dLbl>
              <c:idx val="7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81D-4825-B72F-513F4D99EF64}"/>
                </c:ext>
              </c:extLst>
            </c:dLbl>
            <c:dLbl>
              <c:idx val="8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81D-4825-B72F-513F4D99EF64}"/>
                </c:ext>
              </c:extLst>
            </c:dLbl>
            <c:dLbl>
              <c:idx val="9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81D-4825-B72F-513F4D99EF64}"/>
                </c:ext>
              </c:extLst>
            </c:dLbl>
            <c:dLbl>
              <c:idx val="10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81D-4825-B72F-513F4D99EF64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81D-4825-B72F-513F4D99EF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0.38</c:v>
                </c:pt>
                <c:pt idx="1">
                  <c:v>0.38</c:v>
                </c:pt>
                <c:pt idx="2">
                  <c:v>0.35</c:v>
                </c:pt>
                <c:pt idx="3">
                  <c:v>0.36</c:v>
                </c:pt>
                <c:pt idx="4">
                  <c:v>0.28000000000000003</c:v>
                </c:pt>
                <c:pt idx="5">
                  <c:v>0.3</c:v>
                </c:pt>
                <c:pt idx="6">
                  <c:v>0.28999999999999998</c:v>
                </c:pt>
                <c:pt idx="7">
                  <c:v>0.33</c:v>
                </c:pt>
                <c:pt idx="8">
                  <c:v>0.38</c:v>
                </c:pt>
                <c:pt idx="9">
                  <c:v>0.37</c:v>
                </c:pt>
                <c:pt idx="10">
                  <c:v>0.36</c:v>
                </c:pt>
                <c:pt idx="11">
                  <c:v>0.36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F81D-4825-B72F-513F4D99EF6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 Headline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4ED-4AE8-8E96-82C1FAB4DBDE}"/>
                </c:ext>
              </c:extLst>
            </c:dLbl>
            <c:dLbl>
              <c:idx val="1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ED-4AE8-8E96-82C1FAB4DBDE}"/>
                </c:ext>
              </c:extLst>
            </c:dLbl>
            <c:dLbl>
              <c:idx val="2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4ED-4AE8-8E96-82C1FAB4DBDE}"/>
                </c:ext>
              </c:extLst>
            </c:dLbl>
            <c:dLbl>
              <c:idx val="3"/>
              <c:layout>
                <c:manualLayout>
                  <c:x val="-2.8936908983451536E-2"/>
                  <c:y val="-0.4196254389387436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ED-4AE8-8E96-82C1FAB4DBDE}"/>
                </c:ext>
              </c:extLst>
            </c:dLbl>
            <c:dLbl>
              <c:idx val="4"/>
              <c:layout>
                <c:manualLayout>
                  <c:x val="-2.8936908983451536E-2"/>
                  <c:y val="-0.3970983838840174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4ED-4AE8-8E96-82C1FAB4DBDE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ED-4AE8-8E96-82C1FAB4DBDE}"/>
                </c:ext>
              </c:extLst>
            </c:dLbl>
            <c:dLbl>
              <c:idx val="6"/>
              <c:layout>
                <c:manualLayout>
                  <c:x val="-2.8936908983451536E-2"/>
                  <c:y val="-0.3745738957225290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4ED-4AE8-8E96-82C1FAB4DBDE}"/>
                </c:ext>
              </c:extLst>
            </c:dLbl>
            <c:dLbl>
              <c:idx val="7"/>
              <c:layout>
                <c:manualLayout>
                  <c:x val="-2.8936908983451536E-2"/>
                  <c:y val="-0.3595575702815368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ED-4AE8-8E96-82C1FAB4DBDE}"/>
                </c:ext>
              </c:extLst>
            </c:dLbl>
            <c:dLbl>
              <c:idx val="8"/>
              <c:layout>
                <c:manualLayout>
                  <c:x val="-2.8936908983451536E-2"/>
                  <c:y val="-0.3145060270653223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4ED-4AE8-8E96-82C1FAB4DBDE}"/>
                </c:ext>
              </c:extLst>
            </c:dLbl>
            <c:dLbl>
              <c:idx val="9"/>
              <c:layout>
                <c:manualLayout>
                  <c:x val="-2.8936908983451536E-2"/>
                  <c:y val="-0.3220141897858184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4ED-4AE8-8E96-82C1FAB4DBDE}"/>
                </c:ext>
              </c:extLst>
            </c:dLbl>
            <c:dLbl>
              <c:idx val="10"/>
              <c:layout>
                <c:manualLayout>
                  <c:x val="-2.8936908983451536E-2"/>
                  <c:y val="-0.3970983838840174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4ED-4AE8-8E96-82C1FAB4DBDE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4ED-4AE8-8E96-82C1FAB4DB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0.45</c:v>
                </c:pt>
                <c:pt idx="6" formatCode="0%">
                  <c:v>0.5</c:v>
                </c:pt>
                <c:pt idx="7" formatCode="0%">
                  <c:v>0.52</c:v>
                </c:pt>
                <c:pt idx="8" formatCode="0%">
                  <c:v>0.57999999999999996</c:v>
                </c:pt>
                <c:pt idx="9" formatCode="0%">
                  <c:v>0.56999999999999995</c:v>
                </c:pt>
                <c:pt idx="10" formatCode="0%">
                  <c:v>0.47</c:v>
                </c:pt>
                <c:pt idx="11" formatCode="0%">
                  <c:v>0.36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04ED-4AE8-8E96-82C1FAB4DBD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Efficacy – CNS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BB4-4E01-B722-CE8CA7BBA3BD}"/>
                </c:ext>
              </c:extLst>
            </c:dLbl>
            <c:dLbl>
              <c:idx val="1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B4-4E01-B722-CE8CA7BBA3BD}"/>
                </c:ext>
              </c:extLst>
            </c:dLbl>
            <c:dLbl>
              <c:idx val="2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BB4-4E01-B722-CE8CA7BBA3BD}"/>
                </c:ext>
              </c:extLst>
            </c:dLbl>
            <c:dLbl>
              <c:idx val="3"/>
              <c:layout>
                <c:manualLayout>
                  <c:x val="-2.8936908983451536E-2"/>
                  <c:y val="-0.3581380783210464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BB4-4E01-B722-CE8CA7BBA3BD}"/>
                </c:ext>
              </c:extLst>
            </c:dLbl>
            <c:dLbl>
              <c:idx val="4"/>
              <c:layout>
                <c:manualLayout>
                  <c:x val="-2.8936908983451536E-2"/>
                  <c:y val="-0.3506299156005503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BB4-4E01-B722-CE8CA7BBA3BD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BB4-4E01-B722-CE8CA7BBA3BD}"/>
                </c:ext>
              </c:extLst>
            </c:dLbl>
            <c:dLbl>
              <c:idx val="6"/>
              <c:layout>
                <c:manualLayout>
                  <c:x val="-2.8936908983451536E-2"/>
                  <c:y val="-0.4182059469782533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BB4-4E01-B722-CE8CA7BBA3BD}"/>
                </c:ext>
              </c:extLst>
            </c:dLbl>
            <c:dLbl>
              <c:idx val="7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BB4-4E01-B722-CE8CA7BBA3BD}"/>
                </c:ext>
              </c:extLst>
            </c:dLbl>
            <c:dLbl>
              <c:idx val="8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BB4-4E01-B722-CE8CA7BBA3BD}"/>
                </c:ext>
              </c:extLst>
            </c:dLbl>
            <c:dLbl>
              <c:idx val="9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BB4-4E01-B722-CE8CA7BBA3BD}"/>
                </c:ext>
              </c:extLst>
            </c:dLbl>
            <c:dLbl>
              <c:idx val="10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BB4-4E01-B722-CE8CA7BBA3BD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BB4-4E01-B722-CE8CA7BBA3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0.25</c:v>
                </c:pt>
                <c:pt idx="6" formatCode="0%">
                  <c:v>0.3</c:v>
                </c:pt>
                <c:pt idx="7" formatCode="0%">
                  <c:v>0.36</c:v>
                </c:pt>
                <c:pt idx="8" formatCode="0%">
                  <c:v>0.38</c:v>
                </c:pt>
                <c:pt idx="9" formatCode="0%">
                  <c:v>0.41</c:v>
                </c:pt>
                <c:pt idx="10" formatCode="0%">
                  <c:v>0.37</c:v>
                </c:pt>
                <c:pt idx="11" formatCode="0%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8BB4-4E01-B722-CE8CA7BBA3B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NCCN - CNS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5E-403B-805A-E6A7B326BC94}"/>
                </c:ext>
              </c:extLst>
            </c:dLbl>
            <c:dLbl>
              <c:idx val="1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5E-403B-805A-E6A7B326BC94}"/>
                </c:ext>
              </c:extLst>
            </c:dLbl>
            <c:dLbl>
              <c:idx val="2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5E-403B-805A-E6A7B326BC94}"/>
                </c:ext>
              </c:extLst>
            </c:dLbl>
            <c:dLbl>
              <c:idx val="3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5E-403B-805A-E6A7B326BC94}"/>
                </c:ext>
              </c:extLst>
            </c:dLbl>
            <c:dLbl>
              <c:idx val="4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95E-403B-805A-E6A7B326BC94}"/>
                </c:ext>
              </c:extLst>
            </c:dLbl>
            <c:dLbl>
              <c:idx val="5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5E-403B-805A-E6A7B326BC94}"/>
                </c:ext>
              </c:extLst>
            </c:dLbl>
            <c:dLbl>
              <c:idx val="6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95E-403B-805A-E6A7B326BC94}"/>
                </c:ext>
              </c:extLst>
            </c:dLbl>
            <c:dLbl>
              <c:idx val="7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95E-403B-805A-E6A7B326BC94}"/>
                </c:ext>
              </c:extLst>
            </c:dLbl>
            <c:dLbl>
              <c:idx val="8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95E-403B-805A-E6A7B326BC94}"/>
                </c:ext>
              </c:extLst>
            </c:dLbl>
            <c:dLbl>
              <c:idx val="9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95E-403B-805A-E6A7B326BC94}"/>
                </c:ext>
              </c:extLst>
            </c:dLbl>
            <c:dLbl>
              <c:idx val="10"/>
              <c:layout>
                <c:manualLayout>
                  <c:x val="-2.8936908983451536E-2"/>
                  <c:y val="-0.3881732960962687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95E-403B-805A-E6A7B326BC94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95E-403B-805A-E6A7B326BC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1" formatCode="0%">
                  <c:v>0.31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495E-403B-805A-E6A7B326BC9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Safety – ARs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743-4259-97D0-77915AFBB493}"/>
                </c:ext>
              </c:extLst>
            </c:dLbl>
            <c:dLbl>
              <c:idx val="1"/>
              <c:layout>
                <c:manualLayout>
                  <c:x val="-2.8936908983451536E-2"/>
                  <c:y val="-0.3356135901595581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743-4259-97D0-77915AFBB493}"/>
                </c:ext>
              </c:extLst>
            </c:dLbl>
            <c:dLbl>
              <c:idx val="2"/>
              <c:layout>
                <c:manualLayout>
                  <c:x val="-2.8936908983451536E-2"/>
                  <c:y val="-0.3506299156005503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743-4259-97D0-77915AFBB493}"/>
                </c:ext>
              </c:extLst>
            </c:dLbl>
            <c:dLbl>
              <c:idx val="3"/>
              <c:layout>
                <c:manualLayout>
                  <c:x val="-2.8936908983451536E-2"/>
                  <c:y val="-0.3806651333757726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43-4259-97D0-77915AFBB493}"/>
                </c:ext>
              </c:extLst>
            </c:dLbl>
            <c:dLbl>
              <c:idx val="4"/>
              <c:layout>
                <c:manualLayout>
                  <c:x val="-2.8936908983451536E-2"/>
                  <c:y val="-0.3656462410415425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743-4259-97D0-77915AFBB493}"/>
                </c:ext>
              </c:extLst>
            </c:dLbl>
            <c:dLbl>
              <c:idx val="5"/>
              <c:layout>
                <c:manualLayout>
                  <c:x val="-2.8936908983451536E-2"/>
                  <c:y val="-0.3356135901595581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743-4259-97D0-77915AFBB493}"/>
                </c:ext>
              </c:extLst>
            </c:dLbl>
            <c:dLbl>
              <c:idx val="6"/>
              <c:layout>
                <c:manualLayout>
                  <c:x val="-2.8936908983451536E-2"/>
                  <c:y val="-0.3506299156005503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743-4259-97D0-77915AFBB493}"/>
                </c:ext>
              </c:extLst>
            </c:dLbl>
            <c:dLbl>
              <c:idx val="7"/>
              <c:layout>
                <c:manualLayout>
                  <c:x val="-2.8936908983451536E-2"/>
                  <c:y val="-0.3806651333757726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743-4259-97D0-77915AFBB493}"/>
                </c:ext>
              </c:extLst>
            </c:dLbl>
            <c:dLbl>
              <c:idx val="8"/>
              <c:layout>
                <c:manualLayout>
                  <c:x val="-2.8936908983451536E-2"/>
                  <c:y val="-0.3956814588167649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743-4259-97D0-77915AFBB493}"/>
                </c:ext>
              </c:extLst>
            </c:dLbl>
            <c:dLbl>
              <c:idx val="9"/>
              <c:layout>
                <c:manualLayout>
                  <c:x val="-2.8936908983451536E-2"/>
                  <c:y val="-0.3506299156005503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743-4259-97D0-77915AFBB493}"/>
                </c:ext>
              </c:extLst>
            </c:dLbl>
            <c:dLbl>
              <c:idx val="10"/>
              <c:layout>
                <c:manualLayout>
                  <c:x val="-2.8936908983451536E-2"/>
                  <c:y val="-0.3281054274390619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743-4259-97D0-77915AFBB493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743-4259-97D0-77915AFBB4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Recall</c:v>
                </c:pt>
                <c:pt idx="1">
                  <c:v>Feb'25 - Message Recall</c:v>
                </c:pt>
                <c:pt idx="2">
                  <c:v>Mar'25 - Message Recall</c:v>
                </c:pt>
                <c:pt idx="3">
                  <c:v>Apr'25 - Message Recall</c:v>
                </c:pt>
                <c:pt idx="4">
                  <c:v>May'25 - Message Recall</c:v>
                </c:pt>
                <c:pt idx="5">
                  <c:v>Jun'25 - Message Recall</c:v>
                </c:pt>
                <c:pt idx="6">
                  <c:v>Jul'25 - Message Recall</c:v>
                </c:pt>
                <c:pt idx="7">
                  <c:v>Aug'25 - Message Recall</c:v>
                </c:pt>
                <c:pt idx="8">
                  <c:v>Sep'25 - Message Recall</c:v>
                </c:pt>
                <c:pt idx="9">
                  <c:v>Oct'25 - Message Recall</c:v>
                </c:pt>
                <c:pt idx="10">
                  <c:v>Nov'25 - Message Recall</c:v>
                </c:pt>
                <c:pt idx="11">
                  <c:v>Dec'25 - Message Recall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0.19</c:v>
                </c:pt>
                <c:pt idx="1">
                  <c:v>0.19</c:v>
                </c:pt>
                <c:pt idx="2">
                  <c:v>0.21</c:v>
                </c:pt>
                <c:pt idx="3">
                  <c:v>0.25</c:v>
                </c:pt>
                <c:pt idx="4">
                  <c:v>0.23</c:v>
                </c:pt>
                <c:pt idx="5">
                  <c:v>0.19</c:v>
                </c:pt>
                <c:pt idx="6">
                  <c:v>0.21</c:v>
                </c:pt>
                <c:pt idx="7">
                  <c:v>0.25</c:v>
                </c:pt>
                <c:pt idx="8">
                  <c:v>0.27</c:v>
                </c:pt>
                <c:pt idx="9">
                  <c:v>0.21</c:v>
                </c:pt>
                <c:pt idx="10">
                  <c:v>0.18</c:v>
                </c:pt>
                <c:pt idx="11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D743-4259-97D0-77915AFBB49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Efficacy – CNS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EB6-4C8A-A039-84095BFEC31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EB6-4C8A-A039-84095BFEC319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EEB6-4C8A-A039-84095BFEC319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EB6-4C8A-A039-84095BFEC319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EEB6-4C8A-A039-84095BFEC319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B6-4C8A-A039-84095BFEC319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EEB6-4C8A-A039-84095BFEC319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EEB6-4C8A-A039-84095BFEC319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EEB6-4C8A-A039-84095BFEC319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EEB6-4C8A-A039-84095BFEC319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EEB6-4C8A-A039-84095BFEC319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EB6-4C8A-A039-84095BFEC3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0.72</c:v>
                </c:pt>
                <c:pt idx="6" formatCode="0%">
                  <c:v>0.74</c:v>
                </c:pt>
                <c:pt idx="7" formatCode="0%">
                  <c:v>0.73</c:v>
                </c:pt>
                <c:pt idx="8" formatCode="0%">
                  <c:v>0.75</c:v>
                </c:pt>
                <c:pt idx="9" formatCode="0%">
                  <c:v>0.7</c:v>
                </c:pt>
                <c:pt idx="10" formatCode="0%">
                  <c:v>0.76</c:v>
                </c:pt>
                <c:pt idx="11" formatCode="0%">
                  <c:v>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EB6-4C8A-A039-84095BFEC31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.4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 Headline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F4A-4691-8338-DA5CC65BE4A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F4A-4691-8338-DA5CC65BE4AF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2F4A-4691-8338-DA5CC65BE4AF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F4A-4691-8338-DA5CC65BE4AF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2F4A-4691-8338-DA5CC65BE4AF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4A-4691-8338-DA5CC65BE4AF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2F4A-4691-8338-DA5CC65BE4AF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2F4A-4691-8338-DA5CC65BE4AF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2F4A-4691-8338-DA5CC65BE4AF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2F4A-4691-8338-DA5CC65BE4AF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2F4A-4691-8338-DA5CC65BE4AF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F4A-4691-8338-DA5CC65BE4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0.76</c:v>
                </c:pt>
                <c:pt idx="6" formatCode="0%">
                  <c:v>0.76</c:v>
                </c:pt>
                <c:pt idx="7" formatCode="0%">
                  <c:v>0.76</c:v>
                </c:pt>
                <c:pt idx="8" formatCode="0%">
                  <c:v>0.76</c:v>
                </c:pt>
                <c:pt idx="9" formatCode="0%">
                  <c:v>0.72</c:v>
                </c:pt>
                <c:pt idx="10" formatCode="0%">
                  <c:v>0.74</c:v>
                </c:pt>
                <c:pt idx="11" formatCode="0%">
                  <c:v>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F4A-4691-8338-DA5CC65BE4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.4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NCCN - CNS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897-4B93-A786-B0A6841C674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897-4B93-A786-B0A6841C674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897-4B93-A786-B0A6841C674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897-4B93-A786-B0A6841C6745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0897-4B93-A786-B0A6841C6745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0897-4B93-A786-B0A6841C6745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0897-4B93-A786-B0A6841C6745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0897-4B93-A786-B0A6841C6745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0897-4B93-A786-B0A6841C6745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0897-4B93-A786-B0A6841C6745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0897-4B93-A786-B0A6841C6745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0897-4B93-A786-B0A6841C67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1" formatCode="0%">
                  <c:v>0.72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0897-4B93-A786-B0A6841C674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NCCN - NSCLC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C6A4-4C85-A3FE-8A3871C044B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6A4-4C85-A3FE-8A3871C044B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C6A4-4C85-A3FE-8A3871C044B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6A4-4C85-A3FE-8A3871C044B5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C6A4-4C85-A3FE-8A3871C044B5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6A4-4C85-A3FE-8A3871C044B5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C6A4-4C85-A3FE-8A3871C044B5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C6A4-4C85-A3FE-8A3871C044B5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C6A4-4C85-A3FE-8A3871C044B5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C6A4-4C85-A3FE-8A3871C044B5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C6A4-4C85-A3FE-8A3871C044B5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C6A4-4C85-A3FE-8A3871C044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1" formatCode="0%">
                  <c:v>0.71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C6A4-4C85-A3FE-8A3871C044B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OS Not Reached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EC6-430F-98C7-8E4C73EAEBA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EC6-430F-98C7-8E4C73EAEBAD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FEC6-430F-98C7-8E4C73EAEBAD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EC6-430F-98C7-8E4C73EAEBA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FEC6-430F-98C7-8E4C73EAEBAD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C6-430F-98C7-8E4C73EAEBAD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FEC6-430F-98C7-8E4C73EAEBAD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FEC6-430F-98C7-8E4C73EAEBAD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FEC6-430F-98C7-8E4C73EAEBAD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FEC6-430F-98C7-8E4C73EAEBAD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FEC6-430F-98C7-8E4C73EAEBAD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EC6-430F-98C7-8E4C73EAEB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0.75</c:v>
                </c:pt>
                <c:pt idx="6" formatCode="0%">
                  <c:v>0.75</c:v>
                </c:pt>
                <c:pt idx="7" formatCode="0%">
                  <c:v>0.75</c:v>
                </c:pt>
                <c:pt idx="8" formatCode="0%">
                  <c:v>0.76</c:v>
                </c:pt>
                <c:pt idx="9" formatCode="0%">
                  <c:v>0.72</c:v>
                </c:pt>
                <c:pt idx="10" formatCode="0%">
                  <c:v>0.75</c:v>
                </c:pt>
                <c:pt idx="11" formatCode="0%">
                  <c:v>0.71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FEC6-430F-98C7-8E4C73EAEBA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.4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MOA – inhibition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BE-4B61-97CD-EB766981A49C}"/>
                </c:ext>
              </c:extLst>
            </c:dLbl>
            <c:dLbl>
              <c:idx val="1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BE-4B61-97CD-EB766981A49C}"/>
                </c:ext>
              </c:extLst>
            </c:dLbl>
            <c:dLbl>
              <c:idx val="2"/>
              <c:layout>
                <c:manualLayout>
                  <c:x val="-2.8936908983451536E-2"/>
                  <c:y val="-0.4246308807524077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1BE-4B61-97CD-EB766981A49C}"/>
                </c:ext>
              </c:extLst>
            </c:dLbl>
            <c:dLbl>
              <c:idx val="3"/>
              <c:layout>
                <c:manualLayout>
                  <c:x val="-2.8936908983451536E-2"/>
                  <c:y val="-0.3620602911883689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BE-4B61-97CD-EB766981A49C}"/>
                </c:ext>
              </c:extLst>
            </c:dLbl>
            <c:dLbl>
              <c:idx val="4"/>
              <c:layout>
                <c:manualLayout>
                  <c:x val="-2.8936908983451536E-2"/>
                  <c:y val="-0.3120033061584902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1BE-4B61-97CD-EB766981A49C}"/>
                </c:ext>
              </c:extLst>
            </c:dLbl>
            <c:dLbl>
              <c:idx val="5"/>
              <c:layout>
                <c:manualLayout>
                  <c:x val="-2.8936908983451536E-2"/>
                  <c:y val="-0.274459925662771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BE-4B61-97CD-EB766981A49C}"/>
                </c:ext>
              </c:extLst>
            </c:dLbl>
            <c:dLbl>
              <c:idx val="6"/>
              <c:layout>
                <c:manualLayout>
                  <c:x val="-2.8936908983451536E-2"/>
                  <c:y val="-0.337030515226810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1BE-4B61-97CD-EB766981A49C}"/>
                </c:ext>
              </c:extLst>
            </c:dLbl>
            <c:dLbl>
              <c:idx val="7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BE-4B61-97CD-EB766981A49C}"/>
                </c:ext>
              </c:extLst>
            </c:dLbl>
            <c:dLbl>
              <c:idx val="8"/>
              <c:layout>
                <c:manualLayout>
                  <c:x val="-2.8936908983451536E-2"/>
                  <c:y val="-0.3996011047908495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1BE-4B61-97CD-EB766981A49C}"/>
                </c:ext>
              </c:extLst>
            </c:dLbl>
            <c:dLbl>
              <c:idx val="9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1BE-4B61-97CD-EB766981A49C}"/>
                </c:ext>
              </c:extLst>
            </c:dLbl>
            <c:dLbl>
              <c:idx val="10"/>
              <c:layout>
                <c:manualLayout>
                  <c:x val="-2.8936908983451536E-2"/>
                  <c:y val="-0.337030515226810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1BE-4B61-97CD-EB766981A49C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1BE-4B61-97CD-EB766981A4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0.64</c:v>
                </c:pt>
                <c:pt idx="1">
                  <c:v>0.62</c:v>
                </c:pt>
                <c:pt idx="2">
                  <c:v>0.66</c:v>
                </c:pt>
                <c:pt idx="3">
                  <c:v>0.71</c:v>
                </c:pt>
                <c:pt idx="4">
                  <c:v>0.75</c:v>
                </c:pt>
                <c:pt idx="5">
                  <c:v>0.78</c:v>
                </c:pt>
                <c:pt idx="6">
                  <c:v>0.73</c:v>
                </c:pt>
                <c:pt idx="7">
                  <c:v>0.67</c:v>
                </c:pt>
                <c:pt idx="8">
                  <c:v>0.68</c:v>
                </c:pt>
                <c:pt idx="9">
                  <c:v>0.67</c:v>
                </c:pt>
                <c:pt idx="10">
                  <c:v>0.73</c:v>
                </c:pt>
                <c:pt idx="11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61BE-4B61-97CD-EB766981A49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.4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Efficacy – mPFS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E4B-4641-9BEF-49FE058B1C92}"/>
                </c:ext>
              </c:extLst>
            </c:dLbl>
            <c:dLbl>
              <c:idx val="1"/>
              <c:layout>
                <c:manualLayout>
                  <c:x val="-2.8936908983451536E-2"/>
                  <c:y val="-0.4246308807524077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4B-4641-9BEF-49FE058B1C92}"/>
                </c:ext>
              </c:extLst>
            </c:dLbl>
            <c:dLbl>
              <c:idx val="2"/>
              <c:layout>
                <c:manualLayout>
                  <c:x val="-2.8936908983451536E-2"/>
                  <c:y val="-0.3996011047908495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E4B-4641-9BEF-49FE058B1C92}"/>
                </c:ext>
              </c:extLst>
            </c:dLbl>
            <c:dLbl>
              <c:idx val="3"/>
              <c:layout>
                <c:manualLayout>
                  <c:x val="-2.8936908983451536E-2"/>
                  <c:y val="-0.3620602911883689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4B-4641-9BEF-49FE058B1C92}"/>
                </c:ext>
              </c:extLst>
            </c:dLbl>
            <c:dLbl>
              <c:idx val="4"/>
              <c:layout>
                <c:manualLayout>
                  <c:x val="-2.8936908983451536E-2"/>
                  <c:y val="-0.274459925662771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E4B-4641-9BEF-49FE058B1C92}"/>
                </c:ext>
              </c:extLst>
            </c:dLbl>
            <c:dLbl>
              <c:idx val="5"/>
              <c:layout>
                <c:manualLayout>
                  <c:x val="-2.8936908983451536E-2"/>
                  <c:y val="-0.26194632112861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4B-4641-9BEF-49FE058B1C92}"/>
                </c:ext>
              </c:extLst>
            </c:dLbl>
            <c:dLbl>
              <c:idx val="6"/>
              <c:layout>
                <c:manualLayout>
                  <c:x val="-2.8936908983451536E-2"/>
                  <c:y val="-0.2994897016243300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E4B-4641-9BEF-49FE058B1C92}"/>
                </c:ext>
              </c:extLst>
            </c:dLbl>
            <c:dLbl>
              <c:idx val="7"/>
              <c:layout>
                <c:manualLayout>
                  <c:x val="-2.8936908983451536E-2"/>
                  <c:y val="-0.3495466866542086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4B-4641-9BEF-49FE058B1C92}"/>
                </c:ext>
              </c:extLst>
            </c:dLbl>
            <c:dLbl>
              <c:idx val="8"/>
              <c:layout>
                <c:manualLayout>
                  <c:x val="-2.8936908983451536E-2"/>
                  <c:y val="-0.3495466866542086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E4B-4641-9BEF-49FE058B1C92}"/>
                </c:ext>
              </c:extLst>
            </c:dLbl>
            <c:dLbl>
              <c:idx val="9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E4B-4641-9BEF-49FE058B1C92}"/>
                </c:ext>
              </c:extLst>
            </c:dLbl>
            <c:dLbl>
              <c:idx val="10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E4B-4641-9BEF-49FE058B1C92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E4B-4641-9BEF-49FE058B1C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0.72</c:v>
                </c:pt>
                <c:pt idx="1">
                  <c:v>0.66</c:v>
                </c:pt>
                <c:pt idx="2">
                  <c:v>0.68</c:v>
                </c:pt>
                <c:pt idx="3">
                  <c:v>0.71</c:v>
                </c:pt>
                <c:pt idx="4">
                  <c:v>0.78</c:v>
                </c:pt>
                <c:pt idx="5">
                  <c:v>0.79</c:v>
                </c:pt>
                <c:pt idx="6">
                  <c:v>0.76</c:v>
                </c:pt>
                <c:pt idx="7">
                  <c:v>0.72</c:v>
                </c:pt>
                <c:pt idx="8">
                  <c:v>0.72</c:v>
                </c:pt>
                <c:pt idx="9">
                  <c:v>0.64</c:v>
                </c:pt>
                <c:pt idx="10">
                  <c:v>0.67</c:v>
                </c:pt>
                <c:pt idx="11">
                  <c:v>0.66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0E4B-4641-9BEF-49FE058B1C9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.4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Indication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85D-40FE-9589-78C4C2B36231}"/>
                </c:ext>
              </c:extLst>
            </c:dLbl>
            <c:dLbl>
              <c:idx val="1"/>
              <c:layout>
                <c:manualLayout>
                  <c:x val="-2.8936908983451536E-2"/>
                  <c:y val="-0.4182059469782533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5D-40FE-9589-78C4C2B36231}"/>
                </c:ext>
              </c:extLst>
            </c:dLbl>
            <c:dLbl>
              <c:idx val="2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85D-40FE-9589-78C4C2B36231}"/>
                </c:ext>
              </c:extLst>
            </c:dLbl>
            <c:dLbl>
              <c:idx val="3"/>
              <c:layout>
                <c:manualLayout>
                  <c:x val="-2.8936908983451536E-2"/>
                  <c:y val="-0.3996011047908495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5D-40FE-9589-78C4C2B36231}"/>
                </c:ext>
              </c:extLst>
            </c:dLbl>
            <c:dLbl>
              <c:idx val="4"/>
              <c:layout>
                <c:manualLayout>
                  <c:x val="-2.8936908983451536E-2"/>
                  <c:y val="-0.3620602911883689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85D-40FE-9589-78C4C2B36231}"/>
                </c:ext>
              </c:extLst>
            </c:dLbl>
            <c:dLbl>
              <c:idx val="5"/>
              <c:layout>
                <c:manualLayout>
                  <c:x val="-2.8936908983451536E-2"/>
                  <c:y val="-0.337030515226810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5D-40FE-9589-78C4C2B36231}"/>
                </c:ext>
              </c:extLst>
            </c:dLbl>
            <c:dLbl>
              <c:idx val="6"/>
              <c:layout>
                <c:manualLayout>
                  <c:x val="-2.8936908983451536E-2"/>
                  <c:y val="-0.3996011047908495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5D-40FE-9589-78C4C2B36231}"/>
                </c:ext>
              </c:extLst>
            </c:dLbl>
            <c:dLbl>
              <c:idx val="7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85D-40FE-9589-78C4C2B36231}"/>
                </c:ext>
              </c:extLst>
            </c:dLbl>
            <c:dLbl>
              <c:idx val="8"/>
              <c:layout>
                <c:manualLayout>
                  <c:x val="-2.8936908983451536E-2"/>
                  <c:y val="-0.4246308807524077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85D-40FE-9589-78C4C2B36231}"/>
                </c:ext>
              </c:extLst>
            </c:dLbl>
            <c:dLbl>
              <c:idx val="9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85D-40FE-9589-78C4C2B36231}"/>
                </c:ext>
              </c:extLst>
            </c:dLbl>
            <c:dLbl>
              <c:idx val="10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85D-40FE-9589-78C4C2B36231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85D-40FE-9589-78C4C2B362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0.61</c:v>
                </c:pt>
                <c:pt idx="1">
                  <c:v>0.57999999999999996</c:v>
                </c:pt>
                <c:pt idx="2">
                  <c:v>0.63</c:v>
                </c:pt>
                <c:pt idx="3">
                  <c:v>0.68</c:v>
                </c:pt>
                <c:pt idx="4">
                  <c:v>0.71</c:v>
                </c:pt>
                <c:pt idx="5">
                  <c:v>0.73</c:v>
                </c:pt>
                <c:pt idx="6">
                  <c:v>0.68</c:v>
                </c:pt>
                <c:pt idx="7">
                  <c:v>0.67</c:v>
                </c:pt>
                <c:pt idx="8">
                  <c:v>0.66</c:v>
                </c:pt>
                <c:pt idx="9">
                  <c:v>0.63</c:v>
                </c:pt>
                <c:pt idx="10">
                  <c:v>0.61</c:v>
                </c:pt>
                <c:pt idx="11">
                  <c:v>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985D-40FE-9589-78C4C2B362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.4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Safety – ARs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5F-455C-90DE-64AAE4805114}"/>
                </c:ext>
              </c:extLst>
            </c:dLbl>
            <c:dLbl>
              <c:idx val="1"/>
              <c:layout>
                <c:manualLayout>
                  <c:x val="-2.8936908983451536E-2"/>
                  <c:y val="-0.31809197691849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5F-455C-90DE-64AAE4805114}"/>
                </c:ext>
              </c:extLst>
            </c:dLbl>
            <c:dLbl>
              <c:idx val="2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85F-455C-90DE-64AAE4805114}"/>
                </c:ext>
              </c:extLst>
            </c:dLbl>
            <c:dLbl>
              <c:idx val="3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5F-455C-90DE-64AAE4805114}"/>
                </c:ext>
              </c:extLst>
            </c:dLbl>
            <c:dLbl>
              <c:idx val="4"/>
              <c:layout>
                <c:manualLayout>
                  <c:x val="-2.8936908983451536E-2"/>
                  <c:y val="-0.412117276218247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85F-455C-90DE-64AAE4805114}"/>
                </c:ext>
              </c:extLst>
            </c:dLbl>
            <c:dLbl>
              <c:idx val="5"/>
              <c:layout>
                <c:manualLayout>
                  <c:x val="-2.8936908983451536E-2"/>
                  <c:y val="-0.4246308807524077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85F-455C-90DE-64AAE4805114}"/>
                </c:ext>
              </c:extLst>
            </c:dLbl>
            <c:dLbl>
              <c:idx val="6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85F-455C-90DE-64AAE4805114}"/>
                </c:ext>
              </c:extLst>
            </c:dLbl>
            <c:dLbl>
              <c:idx val="7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85F-455C-90DE-64AAE4805114}"/>
                </c:ext>
              </c:extLst>
            </c:dLbl>
            <c:dLbl>
              <c:idx val="8"/>
              <c:layout>
                <c:manualLayout>
                  <c:x val="-2.8936908983451536E-2"/>
                  <c:y val="-0.4292974926586853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85F-455C-90DE-64AAE4805114}"/>
                </c:ext>
              </c:extLst>
            </c:dLbl>
            <c:dLbl>
              <c:idx val="9"/>
              <c:layout>
                <c:manualLayout>
                  <c:x val="-2.8936908983451536E-2"/>
                  <c:y val="-0.4056923424440930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85F-455C-90DE-64AAE4805114}"/>
                </c:ext>
              </c:extLst>
            </c:dLbl>
            <c:dLbl>
              <c:idx val="10"/>
              <c:layout>
                <c:manualLayout>
                  <c:x val="-2.8936908983451536E-2"/>
                  <c:y val="-0.4182059469782533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85F-455C-90DE-64AAE4805114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85F-455C-90DE-64AAE48051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0.54</c:v>
                </c:pt>
                <c:pt idx="1">
                  <c:v>0.5</c:v>
                </c:pt>
                <c:pt idx="2">
                  <c:v>0.6</c:v>
                </c:pt>
                <c:pt idx="3">
                  <c:v>0.63</c:v>
                </c:pt>
                <c:pt idx="4">
                  <c:v>0.67</c:v>
                </c:pt>
                <c:pt idx="5">
                  <c:v>0.66</c:v>
                </c:pt>
                <c:pt idx="6">
                  <c:v>0.64</c:v>
                </c:pt>
                <c:pt idx="7">
                  <c:v>0.61</c:v>
                </c:pt>
                <c:pt idx="8">
                  <c:v>0.63</c:v>
                </c:pt>
                <c:pt idx="9">
                  <c:v>0.56999999999999995</c:v>
                </c:pt>
                <c:pt idx="10">
                  <c:v>0.57999999999999996</c:v>
                </c:pt>
                <c:pt idx="11">
                  <c:v>0.56000000000000005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C85F-455C-90DE-64AAE480511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  <c:min val="0.4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Safety – Prophylaxis protocol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C1D-48E9-8C23-1251527F1AB2}"/>
                </c:ext>
              </c:extLst>
            </c:dLbl>
            <c:dLbl>
              <c:idx val="1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1D-48E9-8C23-1251527F1AB2}"/>
                </c:ext>
              </c:extLst>
            </c:dLbl>
            <c:dLbl>
              <c:idx val="2"/>
              <c:layout>
                <c:manualLayout>
                  <c:x val="-2.4589674448384554E-2"/>
                  <c:y val="-0.19295079779041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1D-48E9-8C23-1251527F1AB2}"/>
                </c:ext>
              </c:extLst>
            </c:dLbl>
            <c:dLbl>
              <c:idx val="3"/>
              <c:layout>
                <c:manualLayout>
                  <c:x val="-2.8936908983451536E-2"/>
                  <c:y val="-0.2168947779123970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1D-48E9-8C23-1251527F1AB2}"/>
                </c:ext>
              </c:extLst>
            </c:dLbl>
            <c:dLbl>
              <c:idx val="4"/>
              <c:layout>
                <c:manualLayout>
                  <c:x val="-2.8936908983451536E-2"/>
                  <c:y val="-0.26194632112861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1D-48E9-8C23-1251527F1AB2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1D-48E9-8C23-1251527F1AB2}"/>
                </c:ext>
              </c:extLst>
            </c:dLbl>
            <c:dLbl>
              <c:idx val="6"/>
              <c:layout>
                <c:manualLayout>
                  <c:x val="-2.8936908983451536E-2"/>
                  <c:y val="-0.2694544838491077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C1D-48E9-8C23-1251527F1AB2}"/>
                </c:ext>
              </c:extLst>
            </c:dLbl>
            <c:dLbl>
              <c:idx val="7"/>
              <c:layout>
                <c:manualLayout>
                  <c:x val="-2.8936908983451536E-2"/>
                  <c:y val="-0.26194632112861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C1D-48E9-8C23-1251527F1AB2}"/>
                </c:ext>
              </c:extLst>
            </c:dLbl>
            <c:dLbl>
              <c:idx val="8"/>
              <c:layout>
                <c:manualLayout>
                  <c:x val="-2.8936908983451536E-2"/>
                  <c:y val="-0.276962646569603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C1D-48E9-8C23-1251527F1AB2}"/>
                </c:ext>
              </c:extLst>
            </c:dLbl>
            <c:dLbl>
              <c:idx val="9"/>
              <c:layout>
                <c:manualLayout>
                  <c:x val="-2.8936908983451536E-2"/>
                  <c:y val="-0.3220141897858184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C1D-48E9-8C23-1251527F1AB2}"/>
                </c:ext>
              </c:extLst>
            </c:dLbl>
            <c:dLbl>
              <c:idx val="10"/>
              <c:layout>
                <c:manualLayout>
                  <c:x val="-2.8936908983451536E-2"/>
                  <c:y val="-0.3295223525063145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C1D-48E9-8C23-1251527F1AB2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C1D-48E9-8C23-1251527F1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Jan'25 - Message Effectiveness</c:v>
                </c:pt>
                <c:pt idx="1">
                  <c:v>Feb'25 - Message Effectiveness</c:v>
                </c:pt>
                <c:pt idx="2">
                  <c:v>Mar'25 - Message Effectiveness</c:v>
                </c:pt>
                <c:pt idx="3">
                  <c:v>Apr'25 - Message Effectiveness</c:v>
                </c:pt>
                <c:pt idx="4">
                  <c:v>May'25 - Message Effectiveness</c:v>
                </c:pt>
                <c:pt idx="5">
                  <c:v>Jun'25 - Message Effectiveness</c:v>
                </c:pt>
                <c:pt idx="6">
                  <c:v>Jul'25 - Message Effectiveness</c:v>
                </c:pt>
                <c:pt idx="7">
                  <c:v>Aug'25 - Message Effectiveness</c:v>
                </c:pt>
                <c:pt idx="8">
                  <c:v>Sep'25 - Message Effectiveness</c:v>
                </c:pt>
                <c:pt idx="9">
                  <c:v>Oct'25 - Message Effectiveness</c:v>
                </c:pt>
                <c:pt idx="10">
                  <c:v>Nov'25 - Message Effectiveness</c:v>
                </c:pt>
                <c:pt idx="11">
                  <c:v>Dec'25 - Message Effectiveness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5" formatCode="0%">
                  <c:v>0.66</c:v>
                </c:pt>
                <c:pt idx="6" formatCode="0%">
                  <c:v>0.64</c:v>
                </c:pt>
                <c:pt idx="7" formatCode="0%">
                  <c:v>0.65</c:v>
                </c:pt>
                <c:pt idx="8" formatCode="0%">
                  <c:v>0.63</c:v>
                </c:pt>
                <c:pt idx="9" formatCode="0%">
                  <c:v>0.56999999999999995</c:v>
                </c:pt>
                <c:pt idx="10" formatCode="0%">
                  <c:v>0.56000000000000005</c:v>
                </c:pt>
                <c:pt idx="11" formatCode="0%">
                  <c:v>0.54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6C1D-48E9-8C23-1251527F1AB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1"/>
        </c:scaling>
        <c:delete val="1"/>
        <c:axPos val="l"/>
        <c:numFmt formatCode="General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quality of interaction - RYBREVANT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3166863672182818E-2"/>
                  <c:y val="-0.1392407407407407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443-46C7-9A76-D8016A9D6D3E}"/>
                </c:ext>
              </c:extLst>
            </c:dLbl>
            <c:dLbl>
              <c:idx val="1"/>
              <c:layout>
                <c:manualLayout>
                  <c:x val="-1.4073581560283717E-2"/>
                  <c:y val="-0.3656365740740740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43-46C7-9A76-D8016A9D6D3E}"/>
                </c:ext>
              </c:extLst>
            </c:dLbl>
            <c:dLbl>
              <c:idx val="2"/>
              <c:layout>
                <c:manualLayout>
                  <c:x val="-5.0039401103230893E-2"/>
                  <c:y val="-0.4115740740740740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443-46C7-9A76-D8016A9D6D3E}"/>
                </c:ext>
              </c:extLst>
            </c:dLbl>
            <c:dLbl>
              <c:idx val="3"/>
              <c:layout>
                <c:manualLayout>
                  <c:x val="-5.4730594956658787E-2"/>
                  <c:y val="-0.4507013888888888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43-46C7-9A76-D8016A9D6D3E}"/>
                </c:ext>
              </c:extLst>
            </c:dLbl>
            <c:dLbl>
              <c:idx val="4"/>
              <c:layout>
                <c:manualLayout>
                  <c:x val="-1.0946118991331872E-2"/>
                  <c:y val="-0.2960555555555555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443-46C7-9A76-D8016A9D6D3E}"/>
                </c:ext>
              </c:extLst>
            </c:dLbl>
            <c:dLbl>
              <c:idx val="5"/>
              <c:layout>
                <c:manualLayout>
                  <c:x val="-1.5637312844760799E-3"/>
                  <c:y val="-2.939814814814814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443-46C7-9A76-D8016A9D6D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0.76319999999999999</c:v>
                </c:pt>
                <c:pt idx="1">
                  <c:v>0.76829999999999998</c:v>
                </c:pt>
                <c:pt idx="2">
                  <c:v>0.74</c:v>
                </c:pt>
                <c:pt idx="3">
                  <c:v>0.7238</c:v>
                </c:pt>
                <c:pt idx="4">
                  <c:v>0.79610000000000003</c:v>
                </c:pt>
                <c:pt idx="5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443-46C7-9A76-D8016A9D6D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quality of interaction - TAGRISSO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239287825059101E-2"/>
                  <c:y val="-2.939814814814814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443-46C7-9A76-D8016A9D6D3E}"/>
                </c:ext>
              </c:extLst>
            </c:dLbl>
            <c:dLbl>
              <c:idx val="1"/>
              <c:layout>
                <c:manualLayout>
                  <c:x val="-5.0829146966115055E-2"/>
                  <c:y val="-0.5585648148148147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443-46C7-9A76-D8016A9D6D3E}"/>
                </c:ext>
              </c:extLst>
            </c:dLbl>
            <c:dLbl>
              <c:idx val="2"/>
              <c:layout>
                <c:manualLayout>
                  <c:x val="-8.6084022852640444E-3"/>
                  <c:y val="-0.3226921296296296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43-46C7-9A76-D8016A9D6D3E}"/>
                </c:ext>
              </c:extLst>
            </c:dLbl>
            <c:dLbl>
              <c:idx val="3"/>
              <c:layout>
                <c:manualLayout>
                  <c:x val="-1.1735864854215919E-2"/>
                  <c:y val="-0.250504629629629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443-46C7-9A76-D8016A9D6D3E}"/>
                </c:ext>
              </c:extLst>
            </c:dLbl>
            <c:dLbl>
              <c:idx val="4"/>
              <c:layout>
                <c:manualLayout>
                  <c:x val="-5.0829146966115055E-2"/>
                  <c:y val="-0.5383495370370370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443-46C7-9A76-D8016A9D6D3E}"/>
                </c:ext>
              </c:extLst>
            </c:dLbl>
            <c:dLbl>
              <c:idx val="5"/>
              <c:layout>
                <c:manualLayout>
                  <c:x val="-7.8974586288427543E-4"/>
                  <c:y val="8.720370370370376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443-46C7-9A76-D8016A9D6D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0.6885</c:v>
                </c:pt>
                <c:pt idx="1">
                  <c:v>0.66669999999999996</c:v>
                </c:pt>
                <c:pt idx="2">
                  <c:v>0.77939999999999998</c:v>
                </c:pt>
                <c:pt idx="3">
                  <c:v>0.81430000000000002</c:v>
                </c:pt>
                <c:pt idx="4">
                  <c:v>0.6986</c:v>
                </c:pt>
                <c:pt idx="5">
                  <c:v>0.72599999999999998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D443-46C7-9A76-D8016A9D6D3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60000000000000009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RYB-How knowledgeable the [COMPANY] rep was about [PRODUCT] for EGFR+ mNSCLC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3166863672182825E-2"/>
                  <c:y val="-0.2351851851851851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BC5-4E08-B087-61E69BDCB69E}"/>
                </c:ext>
              </c:extLst>
            </c:dLbl>
            <c:dLbl>
              <c:idx val="1"/>
              <c:layout>
                <c:manualLayout>
                  <c:x val="0"/>
                  <c:y val="-0.35277777777777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BC5-4E08-B087-61E69BDCB69E}"/>
                </c:ext>
              </c:extLst>
            </c:dLbl>
            <c:dLbl>
              <c:idx val="2"/>
              <c:layout>
                <c:manualLayout>
                  <c:x val="-5.629432624113475E-2"/>
                  <c:y val="-0.4115740740740740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BC5-4E08-B087-61E69BDCB69E}"/>
                </c:ext>
              </c:extLst>
            </c:dLbl>
            <c:dLbl>
              <c:idx val="3"/>
              <c:layout>
                <c:manualLayout>
                  <c:x val="-7.0367907801418439E-2"/>
                  <c:y val="-0.423835648148148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BC5-4E08-B087-61E69BDCB69E}"/>
                </c:ext>
              </c:extLst>
            </c:dLbl>
            <c:dLbl>
              <c:idx val="4"/>
              <c:layout>
                <c:manualLayout>
                  <c:x val="-6.2549251379039762E-3"/>
                  <c:y val="-0.3203333333333333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BC5-4E08-B087-61E69BDCB69E}"/>
                </c:ext>
              </c:extLst>
            </c:dLbl>
            <c:dLbl>
              <c:idx val="5"/>
              <c:layout>
                <c:manualLayout>
                  <c:x val="-1.5637312844760799E-3"/>
                  <c:y val="-5.66064814814814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BC5-4E08-B087-61E69BDCB6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0.72370000000000001</c:v>
                </c:pt>
                <c:pt idx="1">
                  <c:v>0.76829999999999998</c:v>
                </c:pt>
                <c:pt idx="2">
                  <c:v>0.74</c:v>
                </c:pt>
                <c:pt idx="3">
                  <c:v>0.73329999999999995</c:v>
                </c:pt>
                <c:pt idx="4">
                  <c:v>0.78639999999999999</c:v>
                </c:pt>
                <c:pt idx="5">
                  <c:v>0.81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BC5-4E08-B087-61E69BDCB6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TAG-How knowledgeable the [COMPANY] rep was about [PRODUCT] for EGFR+ mNSCLC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4.9265415681639085E-2"/>
                  <c:y val="6.709259259259259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BC5-4E08-B087-61E69BDCB69E}"/>
                </c:ext>
              </c:extLst>
            </c:dLbl>
            <c:dLbl>
              <c:idx val="1"/>
              <c:layout>
                <c:manualLayout>
                  <c:x val="-3.9883027974783325E-2"/>
                  <c:y val="-0.3821759259259259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BC5-4E08-B087-61E69BDCB69E}"/>
                </c:ext>
              </c:extLst>
            </c:dLbl>
            <c:dLbl>
              <c:idx val="2"/>
              <c:layout>
                <c:manualLayout>
                  <c:x val="-2.4245715130023642E-2"/>
                  <c:y val="-0.3378541666666666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BC5-4E08-B087-61E69BDCB69E}"/>
                </c:ext>
              </c:extLst>
            </c:dLbl>
            <c:dLbl>
              <c:idx val="3"/>
              <c:layout>
                <c:manualLayout>
                  <c:x val="-8.6084022852639872E-3"/>
                  <c:y val="-0.2057870370370370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BC5-4E08-B087-61E69BDCB69E}"/>
                </c:ext>
              </c:extLst>
            </c:dLbl>
            <c:dLbl>
              <c:idx val="4"/>
              <c:layout>
                <c:manualLayout>
                  <c:x val="-4.7701684397163123E-2"/>
                  <c:y val="-0.499768518518518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BC5-4E08-B087-61E69BDCB69E}"/>
                </c:ext>
              </c:extLst>
            </c:dLbl>
            <c:dLbl>
              <c:idx val="5"/>
              <c:layout>
                <c:manualLayout>
                  <c:x val="7.7398542159180458E-4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BC5-4E08-B087-61E69BDCB6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0.72130000000000005</c:v>
                </c:pt>
                <c:pt idx="1">
                  <c:v>0.75560000000000005</c:v>
                </c:pt>
                <c:pt idx="2">
                  <c:v>0.77939999999999998</c:v>
                </c:pt>
                <c:pt idx="3">
                  <c:v>0.8286</c:v>
                </c:pt>
                <c:pt idx="4">
                  <c:v>0.67120000000000002</c:v>
                </c:pt>
                <c:pt idx="5">
                  <c:v>0.64380000000000004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4BC5-4E08-B087-61E69BDCB69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60000000000000009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RYB-How organized the [COMPANY] rep appeared to be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3166863672182818E-2"/>
                  <c:y val="-0.1692245370370370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DE-4F58-8A1C-F36D373EB3C2}"/>
                </c:ext>
              </c:extLst>
            </c:dLbl>
            <c:dLbl>
              <c:idx val="1"/>
              <c:layout>
                <c:manualLayout>
                  <c:x val="-4.2220744680851061E-2"/>
                  <c:y val="-0.374425925925925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DE-4F58-8A1C-F36D373EB3C2}"/>
                </c:ext>
              </c:extLst>
            </c:dLbl>
            <c:dLbl>
              <c:idx val="2"/>
              <c:layout>
                <c:manualLayout>
                  <c:x val="-4.8475669818754924E-2"/>
                  <c:y val="-0.499768518518518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DE-4F58-8A1C-F36D373EB3C2}"/>
                </c:ext>
              </c:extLst>
            </c:dLbl>
            <c:dLbl>
              <c:idx val="3"/>
              <c:layout>
                <c:manualLayout>
                  <c:x val="-4.8475669818754924E-2"/>
                  <c:y val="-0.357877314814814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DE-4F58-8A1C-F36D373EB3C2}"/>
                </c:ext>
              </c:extLst>
            </c:dLbl>
            <c:dLbl>
              <c:idx val="4"/>
              <c:layout>
                <c:manualLayout>
                  <c:x val="-1.4073581560283802E-2"/>
                  <c:y val="-0.3243703703703703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DE-4F58-8A1C-F36D373EB3C2}"/>
                </c:ext>
              </c:extLst>
            </c:dLbl>
            <c:dLbl>
              <c:idx val="5"/>
              <c:layout>
                <c:manualLayout>
                  <c:x val="-3.1274625689520453E-3"/>
                  <c:y val="-0.1322916666666666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800113278171786E-2"/>
                      <c:h val="0.396874999999999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7DE-4F58-8A1C-F36D373EB3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0.77629999999999999</c:v>
                </c:pt>
                <c:pt idx="1">
                  <c:v>0.70730000000000004</c:v>
                </c:pt>
                <c:pt idx="2">
                  <c:v>0.71</c:v>
                </c:pt>
                <c:pt idx="3">
                  <c:v>0.77139999999999997</c:v>
                </c:pt>
                <c:pt idx="4">
                  <c:v>0.74760000000000004</c:v>
                </c:pt>
                <c:pt idx="5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DE-4F58-8A1C-F36D373EB3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TAG-How organized the [COMPANY] rep appeared to be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2392878250591017E-2"/>
                  <c:y val="0.176388888888888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DE-4F58-8A1C-F36D373EB3C2}"/>
                </c:ext>
              </c:extLst>
            </c:dLbl>
            <c:dLbl>
              <c:idx val="1"/>
              <c:layout>
                <c:manualLayout>
                  <c:x val="-8.6084022852639872E-3"/>
                  <c:y val="-0.3233796296296296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7DE-4F58-8A1C-F36D373EB3C2}"/>
                </c:ext>
              </c:extLst>
            </c:dLbl>
            <c:dLbl>
              <c:idx val="2"/>
              <c:layout>
                <c:manualLayout>
                  <c:x val="-1.4863327423167906E-2"/>
                  <c:y val="-0.4114375000000000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DE-4F58-8A1C-F36D373EB3C2}"/>
                </c:ext>
              </c:extLst>
            </c:dLbl>
            <c:dLbl>
              <c:idx val="3"/>
              <c:layout>
                <c:manualLayout>
                  <c:x val="-8.6084022852639872E-3"/>
                  <c:y val="-0.2862962962962962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7DE-4F58-8A1C-F36D373EB3C2}"/>
                </c:ext>
              </c:extLst>
            </c:dLbl>
            <c:dLbl>
              <c:idx val="4"/>
              <c:layout>
                <c:manualLayout>
                  <c:x val="-5.3956609535066979E-2"/>
                  <c:y val="-0.470370370370370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7DE-4F58-8A1C-F36D373EB3C2}"/>
                </c:ext>
              </c:extLst>
            </c:dLbl>
            <c:dLbl>
              <c:idx val="5"/>
              <c:layout>
                <c:manualLayout>
                  <c:x val="-7.8974586288427543E-4"/>
                  <c:y val="2.82638888888888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7DE-4F58-8A1C-F36D373EB3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0.77049999999999996</c:v>
                </c:pt>
                <c:pt idx="1">
                  <c:v>0.73329999999999995</c:v>
                </c:pt>
                <c:pt idx="2">
                  <c:v>0.75</c:v>
                </c:pt>
                <c:pt idx="3">
                  <c:v>0.8</c:v>
                </c:pt>
                <c:pt idx="4">
                  <c:v>0.67120000000000002</c:v>
                </c:pt>
                <c:pt idx="5">
                  <c:v>0.72599999999999998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7DE-4F58-8A1C-F36D373EB3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60000000000000009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RYB-How well the [COMPANY] rep performed in providing a compelling reason to prescribe [PRODUCT] for EGFR+ mNSCLC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3166863672182818E-2"/>
                  <c:y val="-0.3233796296296296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B9B-4BB0-8665-C0EA510E3554}"/>
                </c:ext>
              </c:extLst>
            </c:dLbl>
            <c:dLbl>
              <c:idx val="1"/>
              <c:layout>
                <c:manualLayout>
                  <c:x val="-5.6294264676910954E-2"/>
                  <c:y val="-0.5623865740740741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672650709219854E-2"/>
                      <c:h val="0.367476851851851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B9B-4BB0-8665-C0EA510E3554}"/>
                </c:ext>
              </c:extLst>
            </c:dLbl>
            <c:dLbl>
              <c:idx val="2"/>
              <c:layout>
                <c:manualLayout>
                  <c:x val="-1.4073581560283745E-2"/>
                  <c:y val="-0.3859976851851851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B9B-4BB0-8665-C0EA510E3554}"/>
                </c:ext>
              </c:extLst>
            </c:dLbl>
            <c:dLbl>
              <c:idx val="3"/>
              <c:layout>
                <c:manualLayout>
                  <c:x val="-4.8475669818754924E-2"/>
                  <c:y val="-0.418215277777777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B9B-4BB0-8665-C0EA510E3554}"/>
                </c:ext>
              </c:extLst>
            </c:dLbl>
            <c:dLbl>
              <c:idx val="4"/>
              <c:layout>
                <c:manualLayout>
                  <c:x val="-2.5019700551615561E-2"/>
                  <c:y val="-0.2717800925925926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B9B-4BB0-8665-C0EA510E3554}"/>
                </c:ext>
              </c:extLst>
            </c:dLbl>
            <c:dLbl>
              <c:idx val="5"/>
              <c:layout>
                <c:manualLayout>
                  <c:x val="-1.5637312844760799E-3"/>
                  <c:y val="-0.1469907407407407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9B-4BB0-8665-C0EA510E35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0.67110000000000003</c:v>
                </c:pt>
                <c:pt idx="1">
                  <c:v>0.68289999999999995</c:v>
                </c:pt>
                <c:pt idx="2">
                  <c:v>0.71</c:v>
                </c:pt>
                <c:pt idx="3">
                  <c:v>0.7238</c:v>
                </c:pt>
                <c:pt idx="4">
                  <c:v>0.80579999999999996</c:v>
                </c:pt>
                <c:pt idx="5">
                  <c:v>0.79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B9B-4BB0-8665-C0EA510E35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TAG-How well the [COMPANY] rep performed in providing a compelling reason to prescribe [PRODUCT] for EGFR+ mNSCLC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0829146966115055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B9B-4BB0-8665-C0EA510E3554}"/>
                </c:ext>
              </c:extLst>
            </c:dLbl>
            <c:dLbl>
              <c:idx val="1"/>
              <c:layout>
                <c:manualLayout>
                  <c:x val="-1.4863327423167877E-2"/>
                  <c:y val="-0.22370833333333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B9B-4BB0-8665-C0EA510E3554}"/>
                </c:ext>
              </c:extLst>
            </c:dLbl>
            <c:dLbl>
              <c:idx val="2"/>
              <c:layout>
                <c:manualLayout>
                  <c:x val="-4.6137953112687154E-2"/>
                  <c:y val="-0.4258495370370370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B9B-4BB0-8665-C0EA510E3554}"/>
                </c:ext>
              </c:extLst>
            </c:dLbl>
            <c:dLbl>
              <c:idx val="3"/>
              <c:layout>
                <c:manualLayout>
                  <c:x val="-1.3299596138691883E-2"/>
                  <c:y val="-0.2645833333333333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B9B-4BB0-8665-C0EA510E3554}"/>
                </c:ext>
              </c:extLst>
            </c:dLbl>
            <c:dLbl>
              <c:idx val="4"/>
              <c:layout>
                <c:manualLayout>
                  <c:x val="-4.7701622832939321E-2"/>
                  <c:y val="0.1841388888888887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672650709219854E-2"/>
                      <c:h val="0.3086805555555555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DB9B-4BB0-8665-C0EA510E3554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B9B-4BB0-8665-C0EA510E35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0.63929999999999998</c:v>
                </c:pt>
                <c:pt idx="1">
                  <c:v>0.82220000000000004</c:v>
                </c:pt>
                <c:pt idx="2">
                  <c:v>0.69120000000000004</c:v>
                </c:pt>
                <c:pt idx="3">
                  <c:v>0.78569999999999995</c:v>
                </c:pt>
                <c:pt idx="4">
                  <c:v>0.73970000000000002</c:v>
                </c:pt>
                <c:pt idx="5">
                  <c:v>0.72599999999999998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DB9B-4BB0-8665-C0EA510E35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60000000000000009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RYB-How well the [COMPANY] rep performed on providing credible support for [PRODUCT] claims in treating EGFR+ mNSCLC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4730594956658787E-2"/>
                  <c:y val="-0.3233796296296296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A7D-44BE-A472-FA3864631755}"/>
                </c:ext>
              </c:extLst>
            </c:dLbl>
            <c:dLbl>
              <c:idx val="1"/>
              <c:layout>
                <c:manualLayout>
                  <c:x val="-9.3823877068557916E-3"/>
                  <c:y val="-0.383166666666666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7D-44BE-A472-FA3864631755}"/>
                </c:ext>
              </c:extLst>
            </c:dLbl>
            <c:dLbl>
              <c:idx val="2"/>
              <c:layout>
                <c:manualLayout>
                  <c:x val="-5.0039401103230949E-2"/>
                  <c:y val="-0.4409722222222222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A7D-44BE-A472-FA3864631755}"/>
                </c:ext>
              </c:extLst>
            </c:dLbl>
            <c:dLbl>
              <c:idx val="3"/>
              <c:layout>
                <c:manualLayout>
                  <c:x val="-5.3166863672182818E-2"/>
                  <c:y val="-0.4582523148148148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7D-44BE-A472-FA3864631755}"/>
                </c:ext>
              </c:extLst>
            </c:dLbl>
            <c:dLbl>
              <c:idx val="4"/>
              <c:layout>
                <c:manualLayout>
                  <c:x val="-1.7201044129235732E-2"/>
                  <c:y val="-0.3821759259259259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A7D-44BE-A472-FA3864631755}"/>
                </c:ext>
              </c:extLst>
            </c:dLbl>
            <c:dLbl>
              <c:idx val="5"/>
              <c:layout>
                <c:manualLayout>
                  <c:x val="-3.1274625689520453E-3"/>
                  <c:y val="-0.2939814814814814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A7D-44BE-A472-FA38646317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0.67110000000000003</c:v>
                </c:pt>
                <c:pt idx="1">
                  <c:v>0.75609999999999999</c:v>
                </c:pt>
                <c:pt idx="2">
                  <c:v>0.66</c:v>
                </c:pt>
                <c:pt idx="3">
                  <c:v>0.70479999999999998</c:v>
                </c:pt>
                <c:pt idx="4">
                  <c:v>0.75729999999999997</c:v>
                </c:pt>
                <c:pt idx="5">
                  <c:v>0.79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A7D-44BE-A472-FA38646317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TAG-How well the [COMPANY] rep performed on providing credible support for [PRODUCT] claims in treating EGFR+ mNSCLC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5520340819542949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A7D-44BE-A472-FA3864631755}"/>
                </c:ext>
              </c:extLst>
            </c:dLbl>
            <c:dLbl>
              <c:idx val="1"/>
              <c:layout>
                <c:manualLayout>
                  <c:x val="-5.2392878250591017E-2"/>
                  <c:y val="-0.2307314814814814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A7D-44BE-A472-FA3864631755}"/>
                </c:ext>
              </c:extLst>
            </c:dLbl>
            <c:dLbl>
              <c:idx val="2"/>
              <c:layout>
                <c:manualLayout>
                  <c:x val="-1.1735864854215976E-2"/>
                  <c:y val="-0.3448726851851852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A7D-44BE-A472-FA3864631755}"/>
                </c:ext>
              </c:extLst>
            </c:dLbl>
            <c:dLbl>
              <c:idx val="3"/>
              <c:layout>
                <c:manualLayout>
                  <c:x val="-1.1735864854215919E-2"/>
                  <c:y val="-0.35277777777777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A7D-44BE-A472-FA3864631755}"/>
                </c:ext>
              </c:extLst>
            </c:dLbl>
            <c:dLbl>
              <c:idx val="4"/>
              <c:layout>
                <c:manualLayout>
                  <c:x val="-5.2392878250591017E-2"/>
                  <c:y val="-0.5345277777777778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A7D-44BE-A472-FA3864631755}"/>
                </c:ext>
              </c:extLst>
            </c:dLbl>
            <c:dLbl>
              <c:idx val="5"/>
              <c:layout>
                <c:manualLayout>
                  <c:x val="-3.9172084318362058E-3"/>
                  <c:y val="0.1078634259259258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A7D-44BE-A472-FA38646317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0.63929999999999998</c:v>
                </c:pt>
                <c:pt idx="1">
                  <c:v>0.82220000000000004</c:v>
                </c:pt>
                <c:pt idx="2">
                  <c:v>0.73529999999999995</c:v>
                </c:pt>
                <c:pt idx="3">
                  <c:v>0.7571</c:v>
                </c:pt>
                <c:pt idx="4">
                  <c:v>0.64380000000000004</c:v>
                </c:pt>
                <c:pt idx="5">
                  <c:v>0.75339999999999996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3A7D-44BE-A472-FA386463175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60000000000000009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RYB-How engaging the rep was while discussing [PRODUCT] for EGFR+ mNSCLC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0039401103230893E-2"/>
                  <c:y val="-0.2568333333333333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06F-40B7-B9D3-AF51657A95FD}"/>
                </c:ext>
              </c:extLst>
            </c:dLbl>
            <c:dLbl>
              <c:idx val="1"/>
              <c:layout>
                <c:manualLayout>
                  <c:x val="-9.3823877068557916E-3"/>
                  <c:y val="-0.306840277777777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6F-40B7-B9D3-AF51657A95FD}"/>
                </c:ext>
              </c:extLst>
            </c:dLbl>
            <c:dLbl>
              <c:idx val="2"/>
              <c:layout>
                <c:manualLayout>
                  <c:x val="-4.8475669818754924E-2"/>
                  <c:y val="-0.4409722222222222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06F-40B7-B9D3-AF51657A95FD}"/>
                </c:ext>
              </c:extLst>
            </c:dLbl>
            <c:dLbl>
              <c:idx val="3"/>
              <c:layout>
                <c:manualLayout>
                  <c:x val="-4.0657013396375098E-2"/>
                  <c:y val="-0.4741921296296296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6F-40B7-B9D3-AF51657A95FD}"/>
                </c:ext>
              </c:extLst>
            </c:dLbl>
            <c:dLbl>
              <c:idx val="4"/>
              <c:layout>
                <c:manualLayout>
                  <c:x val="-1.4073581560283802E-2"/>
                  <c:y val="-0.3537685185185185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06F-40B7-B9D3-AF51657A95FD}"/>
                </c:ext>
              </c:extLst>
            </c:dLbl>
            <c:dLbl>
              <c:idx val="5"/>
              <c:layout>
                <c:manualLayout>
                  <c:x val="-3.1274625689520453E-3"/>
                  <c:y val="-0.2351851851851851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6F-40B7-B9D3-AF51657A95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0.69740000000000002</c:v>
                </c:pt>
                <c:pt idx="1">
                  <c:v>0.76829999999999998</c:v>
                </c:pt>
                <c:pt idx="2">
                  <c:v>0.68</c:v>
                </c:pt>
                <c:pt idx="3">
                  <c:v>0.65710000000000002</c:v>
                </c:pt>
                <c:pt idx="4">
                  <c:v>0.7379</c:v>
                </c:pt>
                <c:pt idx="5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06F-40B7-B9D3-AF51657A95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TAG-How engaging the rep was while discussing [PRODUCT] for EGFR+ mNSCLC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4.9265415681639085E-2"/>
                  <c:y val="-2.939814814814821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6F-40B7-B9D3-AF51657A95FD}"/>
                </c:ext>
              </c:extLst>
            </c:dLbl>
            <c:dLbl>
              <c:idx val="1"/>
              <c:layout>
                <c:manualLayout>
                  <c:x val="-4.6137953112687181E-2"/>
                  <c:y val="-0.5291666666666666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06F-40B7-B9D3-AF51657A95FD}"/>
                </c:ext>
              </c:extLst>
            </c:dLbl>
            <c:dLbl>
              <c:idx val="2"/>
              <c:layout>
                <c:manualLayout>
                  <c:x val="-1.1735864854215976E-2"/>
                  <c:y val="-0.4169351851851851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6F-40B7-B9D3-AF51657A95FD}"/>
                </c:ext>
              </c:extLst>
            </c:dLbl>
            <c:dLbl>
              <c:idx val="3"/>
              <c:layout>
                <c:manualLayout>
                  <c:x val="-7.8974586288416073E-4"/>
                  <c:y val="-0.3663287037037036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06F-40B7-B9D3-AF51657A95FD}"/>
                </c:ext>
              </c:extLst>
            </c:dLbl>
            <c:dLbl>
              <c:idx val="4"/>
              <c:layout>
                <c:manualLayout>
                  <c:x val="-5.0829146966115055E-2"/>
                  <c:y val="-0.4409722222222222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06F-40B7-B9D3-AF51657A95FD}"/>
                </c:ext>
              </c:extLst>
            </c:dLbl>
            <c:dLbl>
              <c:idx val="5"/>
              <c:layout>
                <c:manualLayout>
                  <c:x val="-7.8974586288427543E-4"/>
                  <c:y val="-2.164814814814821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06F-40B7-B9D3-AF51657A95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0.63929999999999998</c:v>
                </c:pt>
                <c:pt idx="1">
                  <c:v>0.66669999999999996</c:v>
                </c:pt>
                <c:pt idx="2">
                  <c:v>0.69120000000000004</c:v>
                </c:pt>
                <c:pt idx="3">
                  <c:v>0.72860000000000003</c:v>
                </c:pt>
                <c:pt idx="4">
                  <c:v>0.60270000000000001</c:v>
                </c:pt>
                <c:pt idx="5">
                  <c:v>0.67120000000000002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06F-40B7-B9D3-AF51657A95F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55000000000000004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RYB-How prepared the [COMPANY] rep was for the conversation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3166863672182825E-2"/>
                  <c:y val="-5.36111111111104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E8F-45B1-B54E-2A9B92C0024D}"/>
                </c:ext>
              </c:extLst>
            </c:dLbl>
            <c:dLbl>
              <c:idx val="1"/>
              <c:layout>
                <c:manualLayout>
                  <c:x val="3.1274625689519308E-3"/>
                  <c:y val="-0.3821759259259259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8F-45B1-B54E-2A9B92C0024D}"/>
                </c:ext>
              </c:extLst>
            </c:dLbl>
            <c:dLbl>
              <c:idx val="2"/>
              <c:layout>
                <c:manualLayout>
                  <c:x val="-4.0657013396375098E-2"/>
                  <c:y val="-0.5269768518518518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E8F-45B1-B54E-2A9B92C0024D}"/>
                </c:ext>
              </c:extLst>
            </c:dLbl>
            <c:dLbl>
              <c:idx val="3"/>
              <c:layout>
                <c:manualLayout>
                  <c:x val="-3.1274625689519308E-3"/>
                  <c:y val="-0.299342592592592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8F-45B1-B54E-2A9B92C0024D}"/>
                </c:ext>
              </c:extLst>
            </c:dLbl>
            <c:dLbl>
              <c:idx val="4"/>
              <c:layout>
                <c:manualLayout>
                  <c:x val="-3.1274625689520453E-3"/>
                  <c:y val="-0.2949722222222222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E8F-45B1-B54E-2A9B92C0024D}"/>
                </c:ext>
              </c:extLst>
            </c:dLbl>
            <c:dLbl>
              <c:idx val="5"/>
              <c:layout>
                <c:manualLayout>
                  <c:x val="-1.1467230282400985E-16"/>
                  <c:y val="-0.2939814814814814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8F-45B1-B54E-2A9B92C002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0.63160000000000005</c:v>
                </c:pt>
                <c:pt idx="1">
                  <c:v>0.74390000000000001</c:v>
                </c:pt>
                <c:pt idx="2">
                  <c:v>0.64</c:v>
                </c:pt>
                <c:pt idx="3">
                  <c:v>0.77139999999999997</c:v>
                </c:pt>
                <c:pt idx="4">
                  <c:v>0.75729999999999997</c:v>
                </c:pt>
                <c:pt idx="5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E8F-45B1-B54E-2A9B92C002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TAG-How prepared the [COMPANY] rep was for the conversation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0829146966115055E-2"/>
                  <c:y val="-0.3233796296296296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8F-45B1-B54E-2A9B92C0024D}"/>
                </c:ext>
              </c:extLst>
            </c:dLbl>
            <c:dLbl>
              <c:idx val="1"/>
              <c:layout>
                <c:manualLayout>
                  <c:x val="-3.3628102836879462E-2"/>
                  <c:y val="-0.3738796296296296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E8F-45B1-B54E-2A9B92C0024D}"/>
                </c:ext>
              </c:extLst>
            </c:dLbl>
            <c:dLbl>
              <c:idx val="2"/>
              <c:layout>
                <c:manualLayout>
                  <c:x val="-7.0446710007880794E-3"/>
                  <c:y val="-0.35277777777777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E8F-45B1-B54E-2A9B92C0024D}"/>
                </c:ext>
              </c:extLst>
            </c:dLbl>
            <c:dLbl>
              <c:idx val="3"/>
              <c:layout>
                <c:manualLayout>
                  <c:x val="-4.3010490543735222E-2"/>
                  <c:y val="-0.4409722222222222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E8F-45B1-B54E-2A9B92C0024D}"/>
                </c:ext>
              </c:extLst>
            </c:dLbl>
            <c:dLbl>
              <c:idx val="4"/>
              <c:layout>
                <c:manualLayout>
                  <c:x val="-3.8319296690307328E-2"/>
                  <c:y val="-0.470370370370370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E8F-45B1-B54E-2A9B92C0024D}"/>
                </c:ext>
              </c:extLst>
            </c:dLbl>
            <c:dLbl>
              <c:idx val="5"/>
              <c:layout>
                <c:manualLayout>
                  <c:x val="2.3377167060677699E-3"/>
                  <c:y val="0.1017314814814814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E8F-45B1-B54E-2A9B92C002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0.63929999999999998</c:v>
                </c:pt>
                <c:pt idx="1">
                  <c:v>0.75560000000000005</c:v>
                </c:pt>
                <c:pt idx="2">
                  <c:v>0.76470000000000005</c:v>
                </c:pt>
                <c:pt idx="3">
                  <c:v>0.71430000000000005</c:v>
                </c:pt>
                <c:pt idx="4">
                  <c:v>0.68489999999999995</c:v>
                </c:pt>
                <c:pt idx="5">
                  <c:v>0.7671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4E8F-45B1-B54E-2A9B92C0024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  <c:min val="0.60000000000000009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8108659922525E-3"/>
          <c:y val="0.24914706810792686"/>
          <c:w val="0.96568693491361746"/>
          <c:h val="0.7508529318920731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RYB-How knowledgeable the [COMPANY] rep was about EGFR mNSCLC Exon 20 mutation</c:v>
                </c:pt>
              </c:strCache>
            </c:strRef>
          </c:tx>
          <c:spPr>
            <a:ln w="28575" cap="rnd">
              <a:solidFill>
                <a:srgbClr val="F959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97132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7858057525610726E-2"/>
                  <c:y val="0.202405092592592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006-4A71-A8E0-4201396D74B1}"/>
                </c:ext>
              </c:extLst>
            </c:dLbl>
            <c:dLbl>
              <c:idx val="1"/>
              <c:layout>
                <c:manualLayout>
                  <c:x val="-4.378447596532703E-2"/>
                  <c:y val="0.2940763888888888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006-4A71-A8E0-4201396D74B1}"/>
                </c:ext>
              </c:extLst>
            </c:dLbl>
            <c:dLbl>
              <c:idx val="2"/>
              <c:layout>
                <c:manualLayout>
                  <c:x val="-4.6911938534278962E-2"/>
                  <c:y val="0.2645833333333333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006-4A71-A8E0-4201396D74B1}"/>
                </c:ext>
              </c:extLst>
            </c:dLbl>
            <c:dLbl>
              <c:idx val="3"/>
              <c:layout>
                <c:manualLayout>
                  <c:x val="-3.9093282111899136E-2"/>
                  <c:y val="0.3523773148148148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006-4A71-A8E0-4201396D74B1}"/>
                </c:ext>
              </c:extLst>
            </c:dLbl>
            <c:dLbl>
              <c:idx val="4"/>
              <c:layout>
                <c:manualLayout>
                  <c:x val="-3.1275241331757287E-3"/>
                  <c:y val="0.35277777777777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672650709219854E-2"/>
                      <c:h val="0.367476851851851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8006-4A71-A8E0-4201396D74B1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F95924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006-4A71-A8E0-4201396D74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0.71050000000000002</c:v>
                </c:pt>
                <c:pt idx="1">
                  <c:v>0.70730000000000004</c:v>
                </c:pt>
                <c:pt idx="2">
                  <c:v>0.68</c:v>
                </c:pt>
                <c:pt idx="3">
                  <c:v>0.64759999999999995</c:v>
                </c:pt>
                <c:pt idx="4">
                  <c:v>0.74760000000000004</c:v>
                </c:pt>
                <c:pt idx="5">
                  <c:v>0.77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006-4A71-A8E0-4201396D74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TAG-How knowledgeable the [COMPANY] rep was about EGFR mNSCLC Exon 20 mutation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7084072104018911E-2"/>
                  <c:y val="-8.520370370370376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06-4A71-A8E0-4201396D74B1}"/>
                </c:ext>
              </c:extLst>
            </c:dLbl>
            <c:dLbl>
              <c:idx val="1"/>
              <c:layout>
                <c:manualLayout>
                  <c:x val="-7.0446710007880508E-3"/>
                  <c:y val="0.4121944444444443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006-4A71-A8E0-4201396D74B1}"/>
                </c:ext>
              </c:extLst>
            </c:dLbl>
            <c:dLbl>
              <c:idx val="2"/>
              <c:layout>
                <c:manualLayout>
                  <c:x val="-1.017213356974001E-2"/>
                  <c:y val="0.333127314814814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06-4A71-A8E0-4201396D74B1}"/>
                </c:ext>
              </c:extLst>
            </c:dLbl>
            <c:dLbl>
              <c:idx val="3"/>
              <c:layout>
                <c:manualLayout>
                  <c:x val="-7.8974586288416073E-4"/>
                  <c:y val="0.4115740740740740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006-4A71-A8E0-4201396D74B1}"/>
                </c:ext>
              </c:extLst>
            </c:dLbl>
            <c:dLbl>
              <c:idx val="4"/>
              <c:layout>
                <c:manualLayout>
                  <c:x val="-4.144675925925926E-2"/>
                  <c:y val="0.333127314814814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006-4A71-A8E0-4201396D74B1}"/>
                </c:ext>
              </c:extLst>
            </c:dLbl>
            <c:dLbl>
              <c:idx val="5"/>
              <c:layout>
                <c:manualLayout>
                  <c:x val="-1.5637312844760799E-3"/>
                  <c:y val="0.3233796296296296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7030A0"/>
                      </a:solidFill>
                      <a:latin typeface="Johnson Text"/>
                      <a:ea typeface="Johnson Text"/>
                      <a:cs typeface="Johnson Tex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006-4A71-A8E0-4201396D74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0.77049999999999996</c:v>
                </c:pt>
                <c:pt idx="1">
                  <c:v>0.84440000000000004</c:v>
                </c:pt>
                <c:pt idx="2">
                  <c:v>0.80879999999999996</c:v>
                </c:pt>
                <c:pt idx="3">
                  <c:v>0.7571</c:v>
                </c:pt>
                <c:pt idx="4">
                  <c:v>0.6986</c:v>
                </c:pt>
                <c:pt idx="5">
                  <c:v>0.73970000000000002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8006-4A71-A8E0-4201396D74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1575055"/>
        <c:axId val="1531572559"/>
      </c:lineChart>
      <c:catAx>
        <c:axId val="1531575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31572559"/>
        <c:crosses val="autoZero"/>
        <c:auto val="1"/>
        <c:lblAlgn val="ctr"/>
        <c:lblOffset val="100"/>
        <c:noMultiLvlLbl val="0"/>
      </c:catAx>
      <c:valAx>
        <c:axId val="1531572559"/>
        <c:scaling>
          <c:orientation val="minMax"/>
          <c:max val="0.9"/>
        </c:scaling>
        <c:delete val="1"/>
        <c:axPos val="l"/>
        <c:numFmt formatCode="0%" sourceLinked="1"/>
        <c:majorTickMark val="out"/>
        <c:minorTickMark val="none"/>
        <c:tickLblPos val="nextTo"/>
        <c:crossAx val="1531575055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10317460317461"/>
          <c:y val="0.11706349206349206"/>
          <c:w val="0.76587301587301593"/>
          <c:h val="0.76587301587301593"/>
        </c:manualLayout>
      </c:layout>
      <c:doughnutChart>
        <c:varyColors val="1"/>
        <c:ser>
          <c:idx val="1"/>
          <c:order val="0"/>
          <c:tx>
            <c:strRef>
              <c:f>Sheet1!$B$1</c:f>
              <c:strCache>
                <c:ptCount val="1"/>
                <c:pt idx="0">
                  <c:v>Q3 2025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AD88C8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5E-4B4B-A2C8-B8B30BE75C91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5E-4B4B-A2C8-B8B30BE75C91}"/>
              </c:ext>
            </c:extLst>
          </c:dPt>
          <c:dLbls>
            <c:dLbl>
              <c:idx val="0"/>
              <c:layout>
                <c:manualLayout>
                  <c:x val="-0.30767543859649121"/>
                  <c:y val="5.31335282651072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5E-4B4B-A2C8-B8B30BE75C9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5E-4B4B-A2C8-B8B30BE75C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 CNS metastases</c:v>
                </c:pt>
                <c:pt idx="1">
                  <c:v>Others with CNS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0.68</c:v>
                </c:pt>
                <c:pt idx="1">
                  <c:v>0.31999999999999995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5E-4B4B-A2C8-B8B30BE75C91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Q4 2025</c:v>
                </c:pt>
              </c:strCache>
            </c:strRef>
          </c:tx>
          <c:spPr>
            <a:solidFill>
              <a:srgbClr val="FBAB91"/>
            </a:solidFill>
            <a:ln>
              <a:noFill/>
            </a:ln>
          </c:spPr>
          <c:dPt>
            <c:idx val="0"/>
            <c:bubble3D val="0"/>
            <c:spPr>
              <a:solidFill>
                <a:srgbClr val="7638A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EA5E-4B4B-A2C8-B8B30BE75C91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EA5E-4B4B-A2C8-B8B30BE75C91}"/>
              </c:ext>
            </c:extLst>
          </c:dPt>
          <c:dLbls>
            <c:dLbl>
              <c:idx val="0"/>
              <c:layout>
                <c:manualLayout>
                  <c:x val="-0.45224463937621834"/>
                  <c:y val="0.1087797270955164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5E-4B4B-A2C8-B8B30BE75C9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5E-4B4B-A2C8-B8B30BE75C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 CNS metastases</c:v>
                </c:pt>
                <c:pt idx="1">
                  <c:v>Others with CNS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0.67</c:v>
                </c:pt>
                <c:pt idx="1">
                  <c:v>0.32999999999999996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A5E-4B4B-A2C8-B8B30BE75C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  <c:userShapes r:id="rId4"/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1"/>
          <c:order val="0"/>
          <c:tx>
            <c:strRef>
              <c:f>Sheet1!$B$1</c:f>
              <c:strCache>
                <c:ptCount val="1"/>
                <c:pt idx="0">
                  <c:v>Q3 2025</c:v>
                </c:pt>
              </c:strCache>
            </c:strRef>
          </c:tx>
          <c:spPr>
            <a:solidFill>
              <a:srgbClr val="FBAB91"/>
            </a:solidFill>
            <a:ln>
              <a:noFill/>
            </a:ln>
          </c:spPr>
          <c:dPt>
            <c:idx val="0"/>
            <c:bubble3D val="0"/>
            <c:spPr>
              <a:solidFill>
                <a:srgbClr val="FBAB9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042-41F2-B3E7-7EB63136AEE8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042-41F2-B3E7-7EB63136AEE8}"/>
              </c:ext>
            </c:extLst>
          </c:dPt>
          <c:dLbls>
            <c:dLbl>
              <c:idx val="0"/>
              <c:layout>
                <c:manualLayout>
                  <c:x val="-0.30945419103313843"/>
                  <c:y val="4.33235867446392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42-41F2-B3E7-7EB63136AEE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42-41F2-B3E7-7EB63136AE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 CNS metastases</c:v>
                </c:pt>
                <c:pt idx="1">
                  <c:v>Others CNS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0.69</c:v>
                </c:pt>
                <c:pt idx="1">
                  <c:v>0.31000000000000005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42-41F2-B3E7-7EB63136AEE8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Q4 2025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</c:spPr>
          <c:dPt>
            <c:idx val="0"/>
            <c:bubble3D val="0"/>
            <c:spPr>
              <a:solidFill>
                <a:srgbClr val="F7582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042-41F2-B3E7-7EB63136AEE8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042-41F2-B3E7-7EB63136AEE8}"/>
              </c:ext>
            </c:extLst>
          </c:dPt>
          <c:dLbls>
            <c:dLbl>
              <c:idx val="0"/>
              <c:layout>
                <c:manualLayout>
                  <c:x val="-0.51369395711500976"/>
                  <c:y val="6.18908382066276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042-41F2-B3E7-7EB63136AEE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042-41F2-B3E7-7EB63136AE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 CNS metastases</c:v>
                </c:pt>
                <c:pt idx="1">
                  <c:v>Others CNS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0.69</c:v>
                </c:pt>
                <c:pt idx="1">
                  <c:v>0.31000000000000005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042-41F2-B3E7-7EB63136AE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1"/>
          <c:order val="0"/>
          <c:tx>
            <c:strRef>
              <c:f>Sheet1!$B$1</c:f>
              <c:strCache>
                <c:ptCount val="1"/>
                <c:pt idx="0">
                  <c:v>Q3 2025</c:v>
                </c:pt>
              </c:strCache>
            </c:strRef>
          </c:tx>
          <c:spPr>
            <a:solidFill>
              <a:srgbClr val="FBAB91"/>
            </a:solidFill>
            <a:ln>
              <a:noFill/>
            </a:ln>
          </c:spPr>
          <c:dPt>
            <c:idx val="0"/>
            <c:bubble3D val="0"/>
            <c:spPr>
              <a:solidFill>
                <a:srgbClr val="FBAB9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C33-4529-AA3E-F4C5188ACB9D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C33-4529-AA3E-F4C5188ACB9D}"/>
              </c:ext>
            </c:extLst>
          </c:dPt>
          <c:dLbls>
            <c:dLbl>
              <c:idx val="0"/>
              <c:layout>
                <c:manualLayout>
                  <c:x val="-0.22875633528265107"/>
                  <c:y val="0.147895224171539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33-4529-AA3E-F4C5188ACB9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33-4529-AA3E-F4C5188ACB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without CNS metastases</c:v>
                </c:pt>
                <c:pt idx="1">
                  <c:v>Others without CNS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0.59</c:v>
                </c:pt>
                <c:pt idx="1">
                  <c:v>0.41000000000000003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33-4529-AA3E-F4C5188ACB9D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Q4 2025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</c:spPr>
          <c:dPt>
            <c:idx val="0"/>
            <c:bubble3D val="0"/>
            <c:spPr>
              <a:solidFill>
                <a:srgbClr val="F7582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C33-4529-AA3E-F4C5188ACB9D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C33-4529-AA3E-F4C5188ACB9D}"/>
              </c:ext>
            </c:extLst>
          </c:dPt>
          <c:dLbls>
            <c:dLbl>
              <c:idx val="0"/>
              <c:layout>
                <c:manualLayout>
                  <c:x val="-0.47375584795321635"/>
                  <c:y val="4.7775341130604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C33-4529-AA3E-F4C5188ACB9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C33-4529-AA3E-F4C5188ACB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without CNS metastases</c:v>
                </c:pt>
                <c:pt idx="1">
                  <c:v>Others without CNS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0.69</c:v>
                </c:pt>
                <c:pt idx="1">
                  <c:v>0.31000000000000005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C33-4529-AA3E-F4C5188ACB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210317460317461"/>
          <c:y val="0.11706349206349206"/>
          <c:w val="0.76587301587301593"/>
          <c:h val="0.76587301587301593"/>
        </c:manualLayout>
      </c:layout>
      <c:doughnutChart>
        <c:varyColors val="1"/>
        <c:ser>
          <c:idx val="1"/>
          <c:order val="0"/>
          <c:tx>
            <c:strRef>
              <c:f>Sheet1!$B$1</c:f>
              <c:strCache>
                <c:ptCount val="1"/>
                <c:pt idx="0">
                  <c:v>Q3 2025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AD88C8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8E-48D9-8102-F64D8D64BFD6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F8E-48D9-8102-F64D8D64BFD6}"/>
              </c:ext>
            </c:extLst>
          </c:dPt>
          <c:dLbls>
            <c:dLbl>
              <c:idx val="0"/>
              <c:layout>
                <c:manualLayout>
                  <c:x val="-0.26875828460038986"/>
                  <c:y val="0.1231237816764132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8E-48D9-8102-F64D8D64BFD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8E-48D9-8102-F64D8D64BF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without CNS metastases</c:v>
                </c:pt>
                <c:pt idx="1">
                  <c:v>Others without CNS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8E-48D9-8102-F64D8D64BFD6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Q4 2025</c:v>
                </c:pt>
              </c:strCache>
            </c:strRef>
          </c:tx>
          <c:spPr>
            <a:solidFill>
              <a:srgbClr val="FBAB91"/>
            </a:solidFill>
            <a:ln>
              <a:noFill/>
            </a:ln>
          </c:spPr>
          <c:dPt>
            <c:idx val="0"/>
            <c:bubble3D val="0"/>
            <c:spPr>
              <a:solidFill>
                <a:srgbClr val="7638A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F8E-48D9-8102-F64D8D64BFD6}"/>
              </c:ext>
            </c:extLst>
          </c:dPt>
          <c:dPt>
            <c:idx val="1"/>
            <c:bubble3D val="0"/>
            <c:spPr>
              <a:solidFill>
                <a:srgbClr val="C4BD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BF8E-48D9-8102-F64D8D64BFD6}"/>
              </c:ext>
            </c:extLst>
          </c:dPt>
          <c:dLbls>
            <c:dLbl>
              <c:idx val="0"/>
              <c:layout>
                <c:manualLayout>
                  <c:x val="-0.46261111111111108"/>
                  <c:y val="0.1497348927875243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Johnson Text" panose="020B0604020202020204" charset="0"/>
                      <a:ea typeface="+mn-ea"/>
                      <a:cs typeface="Johnson Text" panose="020B060402020202020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8E-48D9-8102-F64D8D64BFD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F8E-48D9-8102-F64D8D64BF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EGFR-mutated metastatic NSCLC patients without CNS metastases</c:v>
                </c:pt>
                <c:pt idx="1">
                  <c:v>Others without CNS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0.63</c:v>
                </c:pt>
                <c:pt idx="1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F8E-48D9-8102-F64D8D64BF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  <c:userShapes r:id="rId4"/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96712097946172E-2"/>
          <c:y val="7.9068666975907267E-2"/>
          <c:w val="0.95530328790205365"/>
          <c:h val="0.83525342681115877"/>
        </c:manualLayout>
      </c:layout>
      <c:scatterChart>
        <c:scatterStyle val="lineMarker"/>
        <c:varyColors val="0"/>
        <c:ser>
          <c:idx val="0"/>
          <c:order val="0"/>
          <c:tx>
            <c:v>Rybrevant - Q4 2025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F7582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2.7696530170686753E-2"/>
                  <c:y val="-5.04042438600696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282-47A8-9968-A04E66EDF07C}"/>
                </c:ext>
              </c:extLst>
            </c:dLbl>
            <c:dLbl>
              <c:idx val="1"/>
              <c:layout>
                <c:manualLayout>
                  <c:x val="-8.590377780617383E-3"/>
                  <c:y val="-5.436356108176092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282-47A8-9968-A04E66EDF07C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282-47A8-9968-A04E66EDF07C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282-47A8-9968-A04E66EDF07C}"/>
                </c:ext>
              </c:extLst>
            </c:dLbl>
            <c:dLbl>
              <c:idx val="4"/>
              <c:layout>
                <c:manualLayout>
                  <c:x val="-8.769164629009174E-2"/>
                  <c:y val="-5.436356108176092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93B-44A1-B6C6-6A96C5E01550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Sheet1!$B$2:$B$6</c:f>
              <c:numCache>
                <c:formatCode>0%</c:formatCode>
                <c:ptCount val="5"/>
                <c:pt idx="0">
                  <c:v>0.26</c:v>
                </c:pt>
                <c:pt idx="1">
                  <c:v>0.13</c:v>
                </c:pt>
                <c:pt idx="2">
                  <c:v>0.08</c:v>
                </c:pt>
                <c:pt idx="3">
                  <c:v>0.05</c:v>
                </c:pt>
                <c:pt idx="4">
                  <c:v>0.56000000000000005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E594-40CD-964A-16197730C23F}"/>
            </c:ext>
          </c:extLst>
        </c:ser>
        <c:ser>
          <c:idx val="1"/>
          <c:order val="1"/>
          <c:tx>
            <c:v>Tagrisso - Q4 2025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7638A4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0.12207373251928107"/>
                  <c:y val="-5.04042438600696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F46AA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23%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045-47E9-B3E3-DFA70391B465}"/>
                </c:ext>
              </c:extLst>
            </c:dLbl>
            <c:dLbl>
              <c:idx val="1"/>
              <c:layout>
                <c:manualLayout>
                  <c:x val="-0.10488268940468636"/>
                  <c:y val="-5.436356108176092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F46AA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CF7-4D20-A423-30CACFF450FC}"/>
                </c:ext>
              </c:extLst>
            </c:dLbl>
            <c:dLbl>
              <c:idx val="2"/>
              <c:layout>
                <c:manualLayout>
                  <c:x val="-4.2221201889444566E-2"/>
                  <c:y val="-5.436356108176092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F46AA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045-47E9-B3E3-DFA70391B465}"/>
                </c:ext>
              </c:extLst>
            </c:dLbl>
            <c:dLbl>
              <c:idx val="3"/>
              <c:layout>
                <c:manualLayout>
                  <c:x val="-4.2221201889444539E-2"/>
                  <c:y val="-5.436356108176092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F46AA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12%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6BC-4E33-9C94-9DD6BC634BE6}"/>
                </c:ext>
              </c:extLst>
            </c:dLbl>
            <c:dLbl>
              <c:idx val="4"/>
              <c:layout>
                <c:manualLayout>
                  <c:x val="-2.7696530170686753E-2"/>
                  <c:y val="-5.436356108176092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F46AA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93B-44A1-B6C6-6A96C5E01550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Sheet1!$C$2:$C$6</c:f>
              <c:numCache>
                <c:formatCode>0%</c:formatCode>
                <c:ptCount val="5"/>
                <c:pt idx="0">
                  <c:v>0.23</c:v>
                </c:pt>
                <c:pt idx="1">
                  <c:v>0.12</c:v>
                </c:pt>
                <c:pt idx="2">
                  <c:v>0.15</c:v>
                </c:pt>
                <c:pt idx="3">
                  <c:v>0.12</c:v>
                </c:pt>
                <c:pt idx="4">
                  <c:v>0.59</c:v>
                </c:pt>
              </c:numCache>
            </c:numRef>
          </c:xVal>
          <c:yVal>
            <c:numRef>
              <c:f>Sheet1!$D$2:$D$6</c:f>
              <c:numCache>
                <c:formatCode>0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E594-40CD-964A-16197730C23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217167696"/>
        <c:axId val="1146061888"/>
        <c:extLst/>
      </c:scatterChart>
      <c:valAx>
        <c:axId val="1217167696"/>
        <c:scaling>
          <c:orientation val="minMax"/>
          <c:max val="1"/>
        </c:scaling>
        <c:delete val="1"/>
        <c:axPos val="b"/>
        <c:numFmt formatCode="0%" sourceLinked="1"/>
        <c:majorTickMark val="out"/>
        <c:minorTickMark val="none"/>
        <c:tickLblPos val="nextTo"/>
        <c:crossAx val="1146061888"/>
        <c:crosses val="autoZero"/>
        <c:crossBetween val="midCat"/>
      </c:valAx>
      <c:valAx>
        <c:axId val="1146061888"/>
        <c:scaling>
          <c:orientation val="minMax"/>
          <c:max val="5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  <a:headEnd type="none"/>
              <a:tailEnd type="none"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121716769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39408496092287E-2"/>
          <c:y val="2.224778256301423E-4"/>
          <c:w val="0.92931388934005887"/>
          <c:h val="0.99977754190882273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Message Recall - Average of decimal</c:v>
                </c:pt>
              </c:strCache>
            </c:strRef>
          </c:tx>
          <c:spPr>
            <a:solidFill>
              <a:srgbClr val="7F46AA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3.5036689294952669E-2"/>
                  <c:y val="1.2291052114060964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462-45F9-95D5-729404D4CD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7F46AA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Combination Therapy - Higher PFS</c:v>
                </c:pt>
                <c:pt idx="1">
                  <c:v>Efficacy - OS</c:v>
                </c:pt>
                <c:pt idx="2">
                  <c:v>Higher PFS in CNS Metastasis</c:v>
                </c:pt>
                <c:pt idx="3">
                  <c:v>NCCN Guidelines</c:v>
                </c:pt>
                <c:pt idx="4">
                  <c:v>Dosing</c:v>
                </c:pt>
                <c:pt idx="5">
                  <c:v>Efficacy - PFS</c:v>
                </c:pt>
                <c:pt idx="6">
                  <c:v>Median Exposure</c:v>
                </c:pt>
                <c:pt idx="7">
                  <c:v>Safety - discontinuation</c:v>
                </c:pt>
                <c:pt idx="8">
                  <c:v>Longest mPFS and OS</c:v>
                </c:pt>
                <c:pt idx="9">
                  <c:v>Safety - AR Grades</c:v>
                </c:pt>
                <c:pt idx="10">
                  <c:v>Safety - ARs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0.45</c:v>
                </c:pt>
                <c:pt idx="1">
                  <c:v>0.42</c:v>
                </c:pt>
                <c:pt idx="2">
                  <c:v>0.42</c:v>
                </c:pt>
                <c:pt idx="3">
                  <c:v>0.41</c:v>
                </c:pt>
                <c:pt idx="4">
                  <c:v>0.4</c:v>
                </c:pt>
                <c:pt idx="5">
                  <c:v>0.38</c:v>
                </c:pt>
                <c:pt idx="6">
                  <c:v>0.37</c:v>
                </c:pt>
                <c:pt idx="7">
                  <c:v>0.3</c:v>
                </c:pt>
                <c:pt idx="8">
                  <c:v>0.27</c:v>
                </c:pt>
                <c:pt idx="9">
                  <c:v>0.25</c:v>
                </c:pt>
                <c:pt idx="10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11-4F66-B4E5-5A22BA6E63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638711"/>
        <c:axId val="99643959"/>
      </c:barChart>
      <c:catAx>
        <c:axId val="99638711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99643959"/>
        <c:crosses val="autoZero"/>
        <c:auto val="1"/>
        <c:lblAlgn val="ctr"/>
        <c:lblOffset val="100"/>
        <c:noMultiLvlLbl val="0"/>
      </c:catAx>
      <c:valAx>
        <c:axId val="99643959"/>
        <c:scaling>
          <c:orientation val="minMax"/>
          <c:max val="1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99638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39408496092287E-2"/>
          <c:y val="2.224778256301423E-4"/>
          <c:w val="0.92931388934005887"/>
          <c:h val="0.99977754190882273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Message Effectiveness - Average of ME</c:v>
                </c:pt>
              </c:strCache>
            </c:strRef>
          </c:tx>
          <c:spPr>
            <a:solidFill>
              <a:srgbClr val="7F46AA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5922776638798705E-2"/>
                  <c:y val="2.4416798659810754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AC-40E3-9109-568DA045A137}"/>
                </c:ext>
              </c:extLst>
            </c:dLbl>
            <c:dLbl>
              <c:idx val="1"/>
              <c:layout>
                <c:manualLayout>
                  <c:x val="-1.868283099319846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07-4EA9-8B7C-23F0843F5DA0}"/>
                </c:ext>
              </c:extLst>
            </c:dLbl>
            <c:dLbl>
              <c:idx val="2"/>
              <c:layout>
                <c:manualLayout>
                  <c:x val="9.341415496599210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7-4EA9-8B7C-23F0843F5DA0}"/>
                </c:ext>
              </c:extLst>
            </c:dLbl>
            <c:dLbl>
              <c:idx val="3"/>
              <c:layout>
                <c:manualLayout>
                  <c:x val="-1.6424615729418942E-2"/>
                  <c:y val="4.8833597319621507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07-4EA9-8B7C-23F0843F5DA0}"/>
                </c:ext>
              </c:extLst>
            </c:dLbl>
            <c:dLbl>
              <c:idx val="6"/>
              <c:layout>
                <c:manualLayout>
                  <c:x val="-5.9253206358530156E-3"/>
                  <c:y val="4.8833597319621507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664-4891-879F-71897A592267}"/>
                </c:ext>
              </c:extLst>
            </c:dLbl>
            <c:dLbl>
              <c:idx val="7"/>
              <c:layout>
                <c:manualLayout>
                  <c:x val="3.2695060365117518E-2"/>
                  <c:y val="4.8833597319621507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AC-40E3-9109-568DA045A1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7F46AA"/>
                    </a:solidFill>
                    <a:latin typeface="Johnson Text" panose="020B0604020202020204" charset="0"/>
                    <a:ea typeface="+mn-ea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Combination Therapy - Higher PFS</c:v>
                </c:pt>
                <c:pt idx="1">
                  <c:v>Efficacy - OS</c:v>
                </c:pt>
                <c:pt idx="2">
                  <c:v>Higher PFS in CNS Metastasis</c:v>
                </c:pt>
                <c:pt idx="3">
                  <c:v>NCCN Guidelines</c:v>
                </c:pt>
                <c:pt idx="4">
                  <c:v>Dosing</c:v>
                </c:pt>
                <c:pt idx="5">
                  <c:v>Efficacy - PFS</c:v>
                </c:pt>
                <c:pt idx="6">
                  <c:v>Median Exposure</c:v>
                </c:pt>
                <c:pt idx="7">
                  <c:v>Safety - discontinuation</c:v>
                </c:pt>
                <c:pt idx="8">
                  <c:v>Longest mPFS and OS</c:v>
                </c:pt>
                <c:pt idx="9">
                  <c:v>Safety - AR Grades</c:v>
                </c:pt>
                <c:pt idx="10">
                  <c:v>Safety - ARs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0.71</c:v>
                </c:pt>
                <c:pt idx="1">
                  <c:v>0.71</c:v>
                </c:pt>
                <c:pt idx="2">
                  <c:v>0.7</c:v>
                </c:pt>
                <c:pt idx="3">
                  <c:v>0.64</c:v>
                </c:pt>
                <c:pt idx="4">
                  <c:v>0.54</c:v>
                </c:pt>
                <c:pt idx="5">
                  <c:v>0.62</c:v>
                </c:pt>
                <c:pt idx="6">
                  <c:v>0.6</c:v>
                </c:pt>
                <c:pt idx="7">
                  <c:v>0.56000000000000005</c:v>
                </c:pt>
                <c:pt idx="8">
                  <c:v>0.66</c:v>
                </c:pt>
                <c:pt idx="9">
                  <c:v>0.54</c:v>
                </c:pt>
                <c:pt idx="10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7D-4A26-970A-84C2A79CA3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638711"/>
        <c:axId val="99643959"/>
      </c:barChart>
      <c:catAx>
        <c:axId val="99638711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99643959"/>
        <c:crosses val="autoZero"/>
        <c:auto val="1"/>
        <c:lblAlgn val="ctr"/>
        <c:lblOffset val="100"/>
        <c:noMultiLvlLbl val="0"/>
      </c:catAx>
      <c:valAx>
        <c:axId val="99643959"/>
        <c:scaling>
          <c:orientation val="minMax"/>
          <c:max val="1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99638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465910778657523E-3"/>
          <c:y val="9.0935084403714103E-2"/>
          <c:w val="0.99685360758476604"/>
          <c:h val="0.87764103852472031"/>
        </c:manualLayout>
      </c:layout>
      <c:scatterChart>
        <c:scatterStyle val="lineMarker"/>
        <c:varyColors val="0"/>
        <c:ser>
          <c:idx val="1"/>
          <c:order val="0"/>
          <c:tx>
            <c:v>Q3 2025 - Options  - Differentiated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noFill/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D14-4EE3-9143-D5B80B6A34F0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7DA-4036-AC31-59A023F32F31}"/>
                </c:ext>
              </c:extLst>
            </c:dLbl>
            <c:dLbl>
              <c:idx val="2"/>
              <c:layout>
                <c:manualLayout>
                  <c:x val="-3.7827021537972662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7DA-4036-AC31-59A023F32F31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D14-4EE3-9143-D5B80B6A34F0}"/>
                </c:ext>
              </c:extLst>
            </c:dLbl>
            <c:dLbl>
              <c:idx val="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7DA-4036-AC31-59A023F32F31}"/>
                </c:ext>
              </c:extLst>
            </c:dLbl>
            <c:dLbl>
              <c:idx val="5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D14-4EE3-9143-D5B80B6A34F0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D33-4896-977A-4D4717F2F15E}"/>
                </c:ext>
              </c:extLst>
            </c:dLbl>
            <c:dLbl>
              <c:idx val="7"/>
              <c:layout>
                <c:manualLayout>
                  <c:x val="-8.9778587292285342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D14-4EE3-9143-D5B80B6A34F0}"/>
                </c:ext>
              </c:extLst>
            </c:dLbl>
            <c:dLbl>
              <c:idx val="8"/>
              <c:layout>
                <c:manualLayout>
                  <c:x val="-0.19377727937883321"/>
                  <c:y val="-3.7799330782019649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D14-4EE3-9143-D5B80B6A34F0}"/>
                </c:ext>
              </c:extLst>
            </c:dLbl>
            <c:dLbl>
              <c:idx val="9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D33-4896-977A-4D4717F2F15E}"/>
                </c:ext>
              </c:extLst>
            </c:dLbl>
            <c:dLbl>
              <c:idx val="10"/>
              <c:layout>
                <c:manualLayout>
                  <c:x val="-8.9778587292285272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F41-4DF8-AE1C-6C8393EA9D2D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Sheet1!$B$2:$B$12</c:f>
              <c:numCache>
                <c:formatCode>General</c:formatCode>
                <c:ptCount val="11"/>
                <c:pt idx="0" formatCode="0%">
                  <c:v>0.62</c:v>
                </c:pt>
                <c:pt idx="2" formatCode="0%">
                  <c:v>0.65</c:v>
                </c:pt>
                <c:pt idx="7" formatCode="0%">
                  <c:v>0.6</c:v>
                </c:pt>
                <c:pt idx="8" formatCode="0%">
                  <c:v>0.49</c:v>
                </c:pt>
                <c:pt idx="10" formatCode="0%">
                  <c:v>0.62</c:v>
                </c:pt>
              </c:numCache>
            </c:numRef>
          </c:xVal>
          <c:yVal>
            <c:numRef>
              <c:f>Sheet1!$D$2:$D$12</c:f>
              <c:numCache>
                <c:formatCode>0</c:formatCode>
                <c:ptCount val="11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1D33-4896-977A-4D4717F2F15E}"/>
            </c:ext>
          </c:extLst>
        </c:ser>
        <c:ser>
          <c:idx val="0"/>
          <c:order val="1"/>
          <c:tx>
            <c:v>Q4 2025 - Options  - Differentiated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7F46AA"/>
              </a:solidFill>
              <a:ln>
                <a:solidFill>
                  <a:srgbClr val="7030A0"/>
                </a:solidFill>
              </a:ln>
            </c:spPr>
          </c:marker>
          <c:dLbls>
            <c:dLbl>
              <c:idx val="0"/>
              <c:layout>
                <c:manualLayout>
                  <c:x val="-3.7439598231093246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D33-4896-977A-4D4717F2F15E}"/>
                </c:ext>
              </c:extLst>
            </c:dLbl>
            <c:dLbl>
              <c:idx val="1"/>
              <c:layout>
                <c:manualLayout>
                  <c:x val="-0.11010305575096223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D33-4896-977A-4D4717F2F15E}"/>
                </c:ext>
              </c:extLst>
            </c:dLbl>
            <c:dLbl>
              <c:idx val="2"/>
              <c:layout>
                <c:manualLayout>
                  <c:x val="-0.215710159010499"/>
                  <c:y val="-4.3728637571355963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D33-4896-977A-4D4717F2F15E}"/>
                </c:ext>
              </c:extLst>
            </c:dLbl>
            <c:dLbl>
              <c:idx val="3"/>
              <c:layout>
                <c:manualLayout>
                  <c:x val="-8.9778587292285342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1D33-4896-977A-4D4717F2F15E}"/>
                </c:ext>
              </c:extLst>
            </c:dLbl>
            <c:dLbl>
              <c:idx val="4"/>
              <c:layout>
                <c:manualLayout>
                  <c:x val="-8.9778587292285272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D33-4896-977A-4D4717F2F15E}"/>
                </c:ext>
              </c:extLst>
            </c:dLbl>
            <c:dLbl>
              <c:idx val="5"/>
              <c:layout>
                <c:manualLayout>
                  <c:x val="-8.9778587292285342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1D33-4896-977A-4D4717F2F15E}"/>
                </c:ext>
              </c:extLst>
            </c:dLbl>
            <c:dLbl>
              <c:idx val="6"/>
              <c:layout>
                <c:manualLayout>
                  <c:x val="-8.9778587292285203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D14-4EE3-9143-D5B80B6A34F0}"/>
                </c:ext>
              </c:extLst>
            </c:dLbl>
            <c:dLbl>
              <c:idx val="7"/>
              <c:layout>
                <c:manualLayout>
                  <c:x val="-0.2376430386421648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1D33-4896-977A-4D4717F2F15E}"/>
                </c:ext>
              </c:extLst>
            </c:dLbl>
            <c:dLbl>
              <c:idx val="8"/>
              <c:layout>
                <c:manualLayout>
                  <c:x val="-6.7732877098734934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EC0-42AE-B3B5-DD09B21480F9}"/>
                </c:ext>
              </c:extLst>
            </c:dLbl>
            <c:dLbl>
              <c:idx val="9"/>
              <c:layout>
                <c:manualLayout>
                  <c:x val="-8.9778587292285272E-2"/>
                  <c:y val="-4.076398417668773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7DA-4036-AC31-59A023F32F31}"/>
                </c:ext>
              </c:extLst>
            </c:dLbl>
            <c:dLbl>
              <c:idx val="1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41-4DF8-AE1C-6C8393EA9D2D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Sheet1!$C$2:$C$12</c:f>
              <c:numCache>
                <c:formatCode>0%</c:formatCode>
                <c:ptCount val="11"/>
                <c:pt idx="0">
                  <c:v>0.68</c:v>
                </c:pt>
                <c:pt idx="1">
                  <c:v>0.66</c:v>
                </c:pt>
                <c:pt idx="2">
                  <c:v>0.61</c:v>
                </c:pt>
                <c:pt idx="3">
                  <c:v>0.63</c:v>
                </c:pt>
                <c:pt idx="4">
                  <c:v>0.59</c:v>
                </c:pt>
                <c:pt idx="5">
                  <c:v>0.53</c:v>
                </c:pt>
                <c:pt idx="6">
                  <c:v>0.51</c:v>
                </c:pt>
                <c:pt idx="7">
                  <c:v>0.49</c:v>
                </c:pt>
                <c:pt idx="8">
                  <c:v>0.56000000000000005</c:v>
                </c:pt>
                <c:pt idx="9">
                  <c:v>0.41</c:v>
                </c:pt>
                <c:pt idx="10">
                  <c:v>0.44</c:v>
                </c:pt>
              </c:numCache>
            </c:numRef>
          </c:xVal>
          <c:yVal>
            <c:numRef>
              <c:f>Sheet1!$D$2:$D$12</c:f>
              <c:numCache>
                <c:formatCode>0</c:formatCode>
                <c:ptCount val="11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1D33-4896-977A-4D4717F2F15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93827168"/>
        <c:axId val="393832656"/>
        <c:extLst/>
      </c:scatterChart>
      <c:valAx>
        <c:axId val="393827168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393832656"/>
        <c:crosses val="autoZero"/>
        <c:crossBetween val="midCat"/>
      </c:valAx>
      <c:valAx>
        <c:axId val="393832656"/>
        <c:scaling>
          <c:orientation val="minMax"/>
          <c:max val="11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39382716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461947119432918E-3"/>
          <c:y val="9.4505675553033977E-2"/>
          <c:w val="0.99685360758476604"/>
          <c:h val="0.87138143175727578"/>
        </c:manualLayout>
      </c:layout>
      <c:scatterChart>
        <c:scatterStyle val="lineMarker"/>
        <c:varyColors val="0"/>
        <c:ser>
          <c:idx val="1"/>
          <c:order val="0"/>
          <c:tx>
            <c:v>Q3 2025 - Options  - Believable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noFill/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2.4344920725015615E-3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75F-4C72-A3A1-F594721A0260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75F-4C72-A3A1-F594721A0260}"/>
                </c:ext>
              </c:extLst>
            </c:dLbl>
            <c:dLbl>
              <c:idx val="2"/>
              <c:layout>
                <c:manualLayout>
                  <c:x val="-0.23033207876494291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75F-4C72-A3A1-F594721A0260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75F-4C72-A3A1-F594721A0260}"/>
                </c:ext>
              </c:extLst>
            </c:dLbl>
            <c:dLbl>
              <c:idx val="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75F-4C72-A3A1-F594721A0260}"/>
                </c:ext>
              </c:extLst>
            </c:dLbl>
            <c:dLbl>
              <c:idx val="5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A9A-4943-B11E-D8F4029B9B8E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D8C-4D8B-AD1A-D4885AB85998}"/>
                </c:ext>
              </c:extLst>
            </c:dLbl>
            <c:dLbl>
              <c:idx val="7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A9A-4943-B11E-D8F4029B9B8E}"/>
                </c:ext>
              </c:extLst>
            </c:dLbl>
            <c:dLbl>
              <c:idx val="8"/>
              <c:layout>
                <c:manualLayout>
                  <c:x val="-2.7858786795139995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D8C-4D8B-AD1A-D4885AB85998}"/>
                </c:ext>
              </c:extLst>
            </c:dLbl>
            <c:dLbl>
              <c:idx val="9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75F-4C72-A3A1-F594721A0260}"/>
                </c:ext>
              </c:extLst>
            </c:dLbl>
            <c:dLbl>
              <c:idx val="10"/>
              <c:layout>
                <c:manualLayout>
                  <c:x val="-0.25957591827383064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D8C-4D8B-AD1A-D4885AB85998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Sheet1!$B$2:$B$12</c:f>
              <c:numCache>
                <c:formatCode>General</c:formatCode>
                <c:ptCount val="11"/>
                <c:pt idx="0" formatCode="0%">
                  <c:v>0.73</c:v>
                </c:pt>
                <c:pt idx="2" formatCode="0%">
                  <c:v>0.76</c:v>
                </c:pt>
                <c:pt idx="7" formatCode="0%">
                  <c:v>0.65</c:v>
                </c:pt>
                <c:pt idx="8" formatCode="0%">
                  <c:v>0.71</c:v>
                </c:pt>
                <c:pt idx="10" formatCode="0%">
                  <c:v>0.71</c:v>
                </c:pt>
              </c:numCache>
            </c:numRef>
          </c:xVal>
          <c:yVal>
            <c:numRef>
              <c:f>Sheet1!$D$2:$D$12</c:f>
              <c:numCache>
                <c:formatCode>0</c:formatCode>
                <c:ptCount val="11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AA9A-4943-B11E-D8F4029B9B8E}"/>
            </c:ext>
          </c:extLst>
        </c:ser>
        <c:ser>
          <c:idx val="0"/>
          <c:order val="1"/>
          <c:tx>
            <c:v>Q4 2025 - Options  - Believable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7F46AA"/>
              </a:solidFill>
              <a:ln>
                <a:solidFill>
                  <a:srgbClr val="7030A0"/>
                </a:solidFill>
              </a:ln>
            </c:spPr>
          </c:marker>
          <c:dLbls>
            <c:dLbl>
              <c:idx val="0"/>
              <c:layout>
                <c:manualLayout>
                  <c:x val="-0.20839919913327706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A9A-4943-B11E-D8F4029B9B8E}"/>
                </c:ext>
              </c:extLst>
            </c:dLbl>
            <c:dLbl>
              <c:idx val="1"/>
              <c:layout>
                <c:manualLayout>
                  <c:x val="-0.11010305575096235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AA9A-4943-B11E-D8F4029B9B8E}"/>
                </c:ext>
              </c:extLst>
            </c:dLbl>
            <c:dLbl>
              <c:idx val="2"/>
              <c:layout>
                <c:manualLayout>
                  <c:x val="-3.7827021537972662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80%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AA9A-4943-B11E-D8F4029B9B8E}"/>
                </c:ext>
              </c:extLst>
            </c:dLbl>
            <c:dLbl>
              <c:idx val="3"/>
              <c:layout>
                <c:manualLayout>
                  <c:x val="-8.9778587292285272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AA9A-4943-B11E-D8F4029B9B8E}"/>
                </c:ext>
              </c:extLst>
            </c:dLbl>
            <c:dLbl>
              <c:idx val="4"/>
              <c:layout>
                <c:manualLayout>
                  <c:x val="-8.9778587292285397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75F-4C72-A3A1-F594721A0260}"/>
                </c:ext>
              </c:extLst>
            </c:dLbl>
            <c:dLbl>
              <c:idx val="5"/>
              <c:layout>
                <c:manualLayout>
                  <c:x val="-8.9778587292285272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75F-4C72-A3A1-F594721A0260}"/>
                </c:ext>
              </c:extLst>
            </c:dLbl>
            <c:dLbl>
              <c:idx val="6"/>
              <c:layout>
                <c:manualLayout>
                  <c:x val="-8.9778587292285272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83%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AA9A-4943-B11E-D8F4029B9B8E}"/>
                </c:ext>
              </c:extLst>
            </c:dLbl>
            <c:dLbl>
              <c:idx val="7"/>
              <c:layout>
                <c:manualLayout>
                  <c:x val="-8.9778587292285272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75F-4C72-A3A1-F594721A0260}"/>
                </c:ext>
              </c:extLst>
            </c:dLbl>
            <c:dLbl>
              <c:idx val="8"/>
              <c:layout>
                <c:manualLayout>
                  <c:x val="-0.24495399851938671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AA9A-4943-B11E-D8F4029B9B8E}"/>
                </c:ext>
              </c:extLst>
            </c:dLbl>
            <c:dLbl>
              <c:idx val="9"/>
              <c:layout>
                <c:manualLayout>
                  <c:x val="-8.9778587292285272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AA9A-4943-B11E-D8F4029B9B8E}"/>
                </c:ext>
              </c:extLst>
            </c:dLbl>
            <c:dLbl>
              <c:idx val="10"/>
              <c:layout>
                <c:manualLayout>
                  <c:x val="-8.9778587292285272E-2"/>
                  <c:y val="-4.09511885283673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80%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D8C-4D8B-AD1A-D4885AB85998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Sheet1!$C$2:$C$12</c:f>
              <c:numCache>
                <c:formatCode>0%</c:formatCode>
                <c:ptCount val="11"/>
                <c:pt idx="0">
                  <c:v>0.71</c:v>
                </c:pt>
                <c:pt idx="1">
                  <c:v>0.73</c:v>
                </c:pt>
                <c:pt idx="2">
                  <c:v>0.8</c:v>
                </c:pt>
                <c:pt idx="3">
                  <c:v>0.66</c:v>
                </c:pt>
                <c:pt idx="4">
                  <c:v>0.73</c:v>
                </c:pt>
                <c:pt idx="5">
                  <c:v>0.72</c:v>
                </c:pt>
                <c:pt idx="6">
                  <c:v>0.83</c:v>
                </c:pt>
                <c:pt idx="7">
                  <c:v>0.76</c:v>
                </c:pt>
                <c:pt idx="8">
                  <c:v>0.68</c:v>
                </c:pt>
                <c:pt idx="9">
                  <c:v>0.66</c:v>
                </c:pt>
                <c:pt idx="10">
                  <c:v>0.8</c:v>
                </c:pt>
              </c:numCache>
            </c:numRef>
          </c:xVal>
          <c:yVal>
            <c:numRef>
              <c:f>Sheet1!$D$2:$D$12</c:f>
              <c:numCache>
                <c:formatCode>0</c:formatCode>
                <c:ptCount val="11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AA9A-4943-B11E-D8F4029B9B8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93827168"/>
        <c:axId val="393832656"/>
        <c:extLst/>
      </c:scatterChart>
      <c:valAx>
        <c:axId val="393827168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393832656"/>
        <c:crosses val="autoZero"/>
        <c:crossBetween val="midCat"/>
      </c:valAx>
      <c:valAx>
        <c:axId val="393832656"/>
        <c:scaling>
          <c:orientation val="minMax"/>
          <c:max val="11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39382716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461947119432918E-3"/>
          <c:y val="0.11897575116743925"/>
          <c:w val="0.99685360758476604"/>
          <c:h val="0.82199578758398306"/>
        </c:manualLayout>
      </c:layout>
      <c:scatterChart>
        <c:scatterStyle val="lineMarker"/>
        <c:varyColors val="0"/>
        <c:ser>
          <c:idx val="1"/>
          <c:order val="0"/>
          <c:tx>
            <c:v>Q3 2025 - Options  - Motivating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noFill/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20839919913327701"/>
                  <c:y val="-3.86939535947320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10B-4AA6-A46D-693F82D6FFE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6A1-49A9-86A2-B43E071D0BEE}"/>
                </c:ext>
              </c:extLst>
            </c:dLbl>
            <c:dLbl>
              <c:idx val="2"/>
              <c:layout>
                <c:manualLayout>
                  <c:x val="-0.215710159010499"/>
                  <c:y val="-3.86939535947320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CD6-4F1A-8EC6-879FC00D6BEE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A1-49A9-86A2-B43E071D0BEE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B13-4738-A20E-DFF766FB24E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0B-4AA6-A46D-693F82D6FFE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10B-4AA6-A46D-693F82D6FFE7}"/>
                </c:ext>
              </c:extLst>
            </c:dLbl>
            <c:dLbl>
              <c:idx val="7"/>
              <c:layout>
                <c:manualLayout>
                  <c:x val="-5.7764642355902132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10B-4AA6-A46D-693F82D6FFE7}"/>
                </c:ext>
              </c:extLst>
            </c:dLbl>
            <c:dLbl>
              <c:idx val="8"/>
              <c:layout>
                <c:manualLayout>
                  <c:x val="-8.9778587292285342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10B-4AA6-A46D-693F82D6FFE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0B-4AA6-A46D-693F82D6FFE7}"/>
                </c:ext>
              </c:extLst>
            </c:dLbl>
            <c:dLbl>
              <c:idx val="10"/>
              <c:layout>
                <c:manualLayout>
                  <c:x val="-8.9778587292285342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10B-4AA6-A46D-693F82D6FFE7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Sheet1!$B$2:$B$12</c:f>
              <c:numCache>
                <c:formatCode>General</c:formatCode>
                <c:ptCount val="11"/>
                <c:pt idx="0" formatCode="0%">
                  <c:v>0.65</c:v>
                </c:pt>
                <c:pt idx="2" formatCode="0%">
                  <c:v>0.62</c:v>
                </c:pt>
                <c:pt idx="7" formatCode="0%">
                  <c:v>0.55000000000000004</c:v>
                </c:pt>
                <c:pt idx="8" formatCode="0%">
                  <c:v>0.55000000000000004</c:v>
                </c:pt>
                <c:pt idx="10" formatCode="0%">
                  <c:v>0.56000000000000005</c:v>
                </c:pt>
              </c:numCache>
            </c:numRef>
          </c:xVal>
          <c:yVal>
            <c:numRef>
              <c:f>Sheet1!$D$2:$D$12</c:f>
              <c:numCache>
                <c:formatCode>0</c:formatCode>
                <c:ptCount val="11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66A1-49A9-86A2-B43E071D0BEE}"/>
            </c:ext>
          </c:extLst>
        </c:ser>
        <c:ser>
          <c:idx val="0"/>
          <c:order val="1"/>
          <c:tx>
            <c:v>Q4 2025 - Options  - Motivating - Average of decimal</c:v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7F46AA"/>
              </a:solidFill>
              <a:ln>
                <a:solidFill>
                  <a:srgbClr val="7030A0"/>
                </a:solidFill>
              </a:ln>
            </c:spPr>
          </c:marker>
          <c:dLbls>
            <c:dLbl>
              <c:idx val="0"/>
              <c:layout>
                <c:manualLayout>
                  <c:x val="-5.7376643382890509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10B-4AA6-A46D-693F82D6FFE7}"/>
                </c:ext>
              </c:extLst>
            </c:dLbl>
            <c:dLbl>
              <c:idx val="1"/>
              <c:layout>
                <c:manualLayout>
                  <c:x val="-0.11010305575096235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10B-4AA6-A46D-693F82D6FFE7}"/>
                </c:ext>
              </c:extLst>
            </c:dLbl>
            <c:dLbl>
              <c:idx val="2"/>
              <c:layout>
                <c:manualLayout>
                  <c:x val="-8.9778587292285272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71%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6A1-49A9-86A2-B43E071D0BEE}"/>
                </c:ext>
              </c:extLst>
            </c:dLbl>
            <c:dLbl>
              <c:idx val="3"/>
              <c:layout>
                <c:manualLayout>
                  <c:x val="-8.9778587292285397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CD6-4F1A-8EC6-879FC00D6BEE}"/>
                </c:ext>
              </c:extLst>
            </c:dLbl>
            <c:dLbl>
              <c:idx val="4"/>
              <c:layout>
                <c:manualLayout>
                  <c:x val="-8.9778587292285272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10B-4AA6-A46D-693F82D6FFE7}"/>
                </c:ext>
              </c:extLst>
            </c:dLbl>
            <c:dLbl>
              <c:idx val="5"/>
              <c:layout>
                <c:manualLayout>
                  <c:x val="-8.9778587292285203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63%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10B-4AA6-A46D-693F82D6FFE7}"/>
                </c:ext>
              </c:extLst>
            </c:dLbl>
            <c:dLbl>
              <c:idx val="6"/>
              <c:layout>
                <c:manualLayout>
                  <c:x val="-8.9778587292285342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10B-4AA6-A46D-693F82D6FFE7}"/>
                </c:ext>
              </c:extLst>
            </c:dLbl>
            <c:dLbl>
              <c:idx val="7"/>
              <c:layout>
                <c:manualLayout>
                  <c:x val="-0.24495399851938671"/>
                  <c:y val="-3.86939535947321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E10B-4AA6-A46D-693F82D6FFE7}"/>
                </c:ext>
              </c:extLst>
            </c:dLbl>
            <c:dLbl>
              <c:idx val="8"/>
              <c:layout>
                <c:manualLayout>
                  <c:x val="-0.20108823925605515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E10B-4AA6-A46D-693F82D6FFE7}"/>
                </c:ext>
              </c:extLst>
            </c:dLbl>
            <c:dLbl>
              <c:idx val="9"/>
              <c:layout>
                <c:manualLayout>
                  <c:x val="-8.9778587292285397E-2"/>
                  <c:y val="-3.869395359473199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59%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E10B-4AA6-A46D-693F82D6FFE7}"/>
                </c:ext>
              </c:extLst>
            </c:dLbl>
            <c:dLbl>
              <c:idx val="1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1" i="0" u="none" strike="noStrike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/>
                      <a:t>41%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E10B-4AA6-A46D-693F82D6FFE7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Sheet1!$C$2:$C$12</c:f>
              <c:numCache>
                <c:formatCode>0%</c:formatCode>
                <c:ptCount val="11"/>
                <c:pt idx="0">
                  <c:v>0.73</c:v>
                </c:pt>
                <c:pt idx="1">
                  <c:v>0.73</c:v>
                </c:pt>
                <c:pt idx="2">
                  <c:v>0.71</c:v>
                </c:pt>
                <c:pt idx="3">
                  <c:v>0.68</c:v>
                </c:pt>
                <c:pt idx="4">
                  <c:v>0.61</c:v>
                </c:pt>
                <c:pt idx="5">
                  <c:v>0.63</c:v>
                </c:pt>
                <c:pt idx="6">
                  <c:v>0.51</c:v>
                </c:pt>
                <c:pt idx="7">
                  <c:v>0.49</c:v>
                </c:pt>
                <c:pt idx="8">
                  <c:v>0.41</c:v>
                </c:pt>
                <c:pt idx="9">
                  <c:v>0.59</c:v>
                </c:pt>
                <c:pt idx="10">
                  <c:v>0.41</c:v>
                </c:pt>
              </c:numCache>
            </c:numRef>
          </c:xVal>
          <c:yVal>
            <c:numRef>
              <c:f>Sheet1!$D$2:$D$12</c:f>
              <c:numCache>
                <c:formatCode>0</c:formatCode>
                <c:ptCount val="11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66A1-49A9-86A2-B43E071D0BE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93827168"/>
        <c:axId val="393832656"/>
        <c:extLst/>
      </c:scatterChart>
      <c:valAx>
        <c:axId val="393827168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393832656"/>
        <c:crosses val="autoZero"/>
        <c:crossBetween val="midCat"/>
      </c:valAx>
      <c:valAx>
        <c:axId val="393832656"/>
        <c:scaling>
          <c:orientation val="minMax"/>
          <c:max val="11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39382716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933672906211664E-2"/>
          <c:y val="4.1074948839090297E-2"/>
          <c:w val="0.92236448769713519"/>
          <c:h val="0.92615111223521307"/>
        </c:manualLayout>
      </c:layout>
      <c:scatterChart>
        <c:scatterStyle val="lineMarker"/>
        <c:varyColors val="0"/>
        <c:ser>
          <c:idx val="1"/>
          <c:order val="0"/>
          <c:tx>
            <c:v>RYB Hear More - Q4 2025</c:v>
          </c:tx>
          <c:spPr>
            <a:ln w="28575">
              <a:solidFill>
                <a:schemeClr val="bg1"/>
              </a:solidFill>
            </a:ln>
          </c:spPr>
          <c:marker>
            <c:symbol val="circle"/>
            <c:size val="7"/>
            <c:spPr>
              <a:solidFill>
                <a:srgbClr val="F75824"/>
              </a:solidFill>
              <a:ln>
                <a:solidFill>
                  <a:schemeClr val="bg1"/>
                </a:solidFill>
              </a:ln>
            </c:spPr>
          </c:marker>
          <c:dLbls>
            <c:dLbl>
              <c:idx val="0"/>
              <c:layout>
                <c:manualLayout>
                  <c:x val="-0.17635649115594046"/>
                  <c:y val="-2.0859775526500153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25%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FBA-4D6A-8BFB-96B045A961F3}"/>
                </c:ext>
              </c:extLst>
            </c:dLbl>
            <c:dLbl>
              <c:idx val="1"/>
              <c:layout>
                <c:manualLayout>
                  <c:x val="-7.9269530994203433E-2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24%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FBA-4F9E-9816-52C45A8D9C37}"/>
                </c:ext>
              </c:extLst>
            </c:dLbl>
            <c:dLbl>
              <c:idx val="2"/>
              <c:layout>
                <c:manualLayout>
                  <c:x val="-0.12898426147812961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11%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13C-4137-B973-814C5E5302FD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7DD-4C3C-BE94-6B4C0EB80A25}"/>
                </c:ext>
              </c:extLst>
            </c:dLbl>
            <c:dLbl>
              <c:idx val="4"/>
              <c:layout>
                <c:manualLayout>
                  <c:x val="-1.0055926585063249E-2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15%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13C-4137-B973-814C5E5302FD}"/>
                </c:ext>
              </c:extLst>
            </c:dLbl>
            <c:dLbl>
              <c:idx val="5"/>
              <c:layout>
                <c:manualLayout>
                  <c:x val="-7.7996324611261745E-3"/>
                  <c:y val="-3.833912179973997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13C-4137-B973-814C5E5302FD}"/>
                </c:ext>
              </c:extLst>
            </c:dLbl>
            <c:dLbl>
              <c:idx val="6"/>
              <c:layout>
                <c:manualLayout>
                  <c:x val="-2.5356369306110812E-3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29E-452D-869B-43C5B26F9923}"/>
                </c:ext>
              </c:extLst>
            </c:dLbl>
            <c:dLbl>
              <c:idx val="7"/>
              <c:layout>
                <c:manualLayout>
                  <c:x val="1.4738027010874235E-3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13C-4137-B973-814C5E5302FD}"/>
                </c:ext>
              </c:extLst>
            </c:dLbl>
            <c:dLbl>
              <c:idx val="8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10%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F4A-4409-87A9-4440F5315955}"/>
                </c:ext>
              </c:extLst>
            </c:dLbl>
            <c:dLbl>
              <c:idx val="9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13C-4137-B973-814C5E5302FD}"/>
                </c:ext>
              </c:extLst>
            </c:dLbl>
            <c:dLbl>
              <c:idx val="1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7DD-4C3C-BE94-6B4C0EB80A25}"/>
                </c:ext>
              </c:extLst>
            </c:dLbl>
            <c:dLbl>
              <c:idx val="1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13C-4137-B973-814C5E5302FD}"/>
                </c:ext>
              </c:extLst>
            </c:dLbl>
            <c:dLbl>
              <c:idx val="1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F75824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F75824"/>
                        </a:solidFill>
                      </a:rPr>
                      <a:t>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F4A-4409-87A9-4440F5315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aseline="0">
                    <a:solidFill>
                      <a:srgbClr val="F75824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Sheet1!$B$2:$B$14</c:f>
              <c:numCache>
                <c:formatCode>0%</c:formatCode>
                <c:ptCount val="13"/>
                <c:pt idx="0">
                  <c:v>0.25</c:v>
                </c:pt>
                <c:pt idx="1">
                  <c:v>0.24</c:v>
                </c:pt>
                <c:pt idx="2">
                  <c:v>0.11</c:v>
                </c:pt>
                <c:pt idx="3">
                  <c:v>0.09</c:v>
                </c:pt>
                <c:pt idx="4">
                  <c:v>0.15</c:v>
                </c:pt>
                <c:pt idx="5">
                  <c:v>0.08</c:v>
                </c:pt>
                <c:pt idx="6">
                  <c:v>0.05</c:v>
                </c:pt>
                <c:pt idx="7">
                  <c:v>0.08</c:v>
                </c:pt>
                <c:pt idx="8">
                  <c:v>0.1</c:v>
                </c:pt>
                <c:pt idx="9">
                  <c:v>0.06</c:v>
                </c:pt>
                <c:pt idx="10">
                  <c:v>0.05</c:v>
                </c:pt>
                <c:pt idx="11">
                  <c:v>7.0000000000000007E-2</c:v>
                </c:pt>
                <c:pt idx="12">
                  <c:v>0.09</c:v>
                </c:pt>
              </c:numCache>
            </c:numRef>
          </c:xVal>
          <c:yVal>
            <c:numRef>
              <c:f>Sheet1!$D$2:$D$14</c:f>
              <c:numCache>
                <c:formatCode>0</c:formatCode>
                <c:ptCount val="13"/>
                <c:pt idx="0">
                  <c:v>13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5</c:v>
                </c:pt>
                <c:pt idx="9">
                  <c:v>4</c:v>
                </c:pt>
                <c:pt idx="10">
                  <c:v>3</c:v>
                </c:pt>
                <c:pt idx="11">
                  <c:v>2</c:v>
                </c:pt>
                <c:pt idx="1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E7DD-4C3C-BE94-6B4C0EB80A25}"/>
            </c:ext>
          </c:extLst>
        </c:ser>
        <c:ser>
          <c:idx val="2"/>
          <c:order val="1"/>
          <c:tx>
            <c:v>TAG Hear More - Q4 2025</c:v>
          </c:tx>
          <c:spPr>
            <a:ln w="19050">
              <a:solidFill>
                <a:schemeClr val="bg1"/>
              </a:solidFill>
            </a:ln>
          </c:spPr>
          <c:marker>
            <c:symbol val="circle"/>
            <c:size val="7"/>
            <c:spPr>
              <a:solidFill>
                <a:srgbClr val="7030A0"/>
              </a:solidFill>
              <a:ln cap="rnd">
                <a:solidFill>
                  <a:schemeClr val="bg1"/>
                </a:solidFill>
              </a:ln>
            </c:spPr>
          </c:marker>
          <c:dLbls>
            <c:dLbl>
              <c:idx val="0"/>
              <c:layout>
                <c:manualLayout>
                  <c:x val="-7.9269530994203474E-2"/>
                  <c:y val="-2.0859775526500153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34%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13C-4137-B973-814C5E5302FD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11%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F4A-4409-87A9-4440F5315955}"/>
                </c:ext>
              </c:extLst>
            </c:dLbl>
            <c:dLbl>
              <c:idx val="2"/>
              <c:layout>
                <c:manualLayout>
                  <c:x val="4.5768288043050052E-3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12%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F4A-4409-87A9-4440F5315955}"/>
                </c:ext>
              </c:extLst>
            </c:dLbl>
            <c:dLbl>
              <c:idx val="3"/>
              <c:layout>
                <c:manualLayout>
                  <c:x val="-6.952486026642838E-3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11%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13C-4137-B973-814C5E5302FD}"/>
                </c:ext>
              </c:extLst>
            </c:dLbl>
            <c:dLbl>
              <c:idx val="4"/>
              <c:layout>
                <c:manualLayout>
                  <c:x val="-0.15530216685469117"/>
                  <c:y val="-3.833912179973997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14%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E7DD-4C3C-BE94-6B4C0EB80A25}"/>
                </c:ext>
              </c:extLst>
            </c:dLbl>
            <c:dLbl>
              <c:idx val="5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13C-4137-B973-814C5E5302FD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FBA-4F9E-9816-52C45A8D9C37}"/>
                </c:ext>
              </c:extLst>
            </c:dLbl>
            <c:dLbl>
              <c:idx val="7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E7DD-4C3C-BE94-6B4C0EB80A25}"/>
                </c:ext>
              </c:extLst>
            </c:dLbl>
            <c:dLbl>
              <c:idx val="8"/>
              <c:layout>
                <c:manualLayout>
                  <c:x val="2.57869882617997E-2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12%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E7DD-4C3C-BE94-6B4C0EB80A25}"/>
                </c:ext>
              </c:extLst>
            </c:dLbl>
            <c:dLbl>
              <c:idx val="9"/>
              <c:layout>
                <c:manualLayout>
                  <c:x val="-1.0055512129860444E-2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FBA-4F9E-9816-52C45A8D9C37}"/>
                </c:ext>
              </c:extLst>
            </c:dLbl>
            <c:dLbl>
              <c:idx val="10"/>
              <c:layout>
                <c:manualLayout>
                  <c:x val="-2.1585241416011067E-2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F4A-4409-87A9-4440F5315955}"/>
                </c:ext>
              </c:extLst>
            </c:dLbl>
            <c:dLbl>
              <c:idx val="11"/>
              <c:layout>
                <c:manualLayout>
                  <c:x val="-1.0055926585063225E-2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477-4CD0-AC47-E8934979BEFA}"/>
                </c:ext>
              </c:extLst>
            </c:dLbl>
            <c:dLbl>
              <c:idx val="12"/>
              <c:layout>
                <c:manualLayout>
                  <c:x val="-2.1585241416011067E-2"/>
                  <c:y val="-3.8339121799739917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000" b="0" i="0" u="none" strike="noStrike" baseline="0">
                        <a:solidFill>
                          <a:srgbClr val="7030A0"/>
                        </a:solidFill>
                        <a:latin typeface="Johnson Text"/>
                        <a:ea typeface="Johnson Text"/>
                        <a:cs typeface="Johnson Text"/>
                      </a:defRPr>
                    </a:pPr>
                    <a:r>
                      <a:rPr lang="en-US" baseline="0">
                        <a:solidFill>
                          <a:srgbClr val="7030A0"/>
                        </a:solidFill>
                      </a:rPr>
                      <a:t>11%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13C-4137-B973-814C5E5302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aseline="0">
                    <a:solidFill>
                      <a:srgbClr val="7030A0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Sheet1!$C$2:$C$14</c:f>
              <c:numCache>
                <c:formatCode>0%</c:formatCode>
                <c:ptCount val="13"/>
                <c:pt idx="0">
                  <c:v>0.34</c:v>
                </c:pt>
                <c:pt idx="1">
                  <c:v>0.11</c:v>
                </c:pt>
                <c:pt idx="2">
                  <c:v>0.12</c:v>
                </c:pt>
                <c:pt idx="3">
                  <c:v>0.11</c:v>
                </c:pt>
                <c:pt idx="4">
                  <c:v>0.14000000000000001</c:v>
                </c:pt>
                <c:pt idx="5">
                  <c:v>0.04</c:v>
                </c:pt>
                <c:pt idx="6">
                  <c:v>0.01</c:v>
                </c:pt>
                <c:pt idx="7">
                  <c:v>0.08</c:v>
                </c:pt>
                <c:pt idx="8">
                  <c:v>0.12</c:v>
                </c:pt>
                <c:pt idx="9">
                  <c:v>7.0000000000000007E-2</c:v>
                </c:pt>
                <c:pt idx="10">
                  <c:v>7.0000000000000007E-2</c:v>
                </c:pt>
                <c:pt idx="11">
                  <c:v>0.08</c:v>
                </c:pt>
                <c:pt idx="12">
                  <c:v>0.11</c:v>
                </c:pt>
              </c:numCache>
            </c:numRef>
          </c:xVal>
          <c:yVal>
            <c:numRef>
              <c:f>Sheet1!$D$2:$D$14</c:f>
              <c:numCache>
                <c:formatCode>0</c:formatCode>
                <c:ptCount val="13"/>
                <c:pt idx="0">
                  <c:v>13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5</c:v>
                </c:pt>
                <c:pt idx="9">
                  <c:v>4</c:v>
                </c:pt>
                <c:pt idx="10">
                  <c:v>3</c:v>
                </c:pt>
                <c:pt idx="11">
                  <c:v>2</c:v>
                </c:pt>
                <c:pt idx="1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E-E7DD-4C3C-BE94-6B4C0EB80A2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405609696"/>
        <c:axId val="405610872"/>
        <c:extLst/>
      </c:scatterChart>
      <c:valAx>
        <c:axId val="405609696"/>
        <c:scaling>
          <c:orientation val="minMax"/>
          <c:max val="0.8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405610872"/>
        <c:crosses val="autoZero"/>
        <c:crossBetween val="midCat"/>
      </c:valAx>
      <c:valAx>
        <c:axId val="405610872"/>
        <c:scaling>
          <c:orientation val="minMax"/>
          <c:max val="13"/>
          <c:min val="1"/>
        </c:scaling>
        <c:delete val="1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0" sourceLinked="1"/>
        <c:majorTickMark val="out"/>
        <c:minorTickMark val="none"/>
        <c:tickLblPos val="nextTo"/>
        <c:crossAx val="40560969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39408496092287E-2"/>
          <c:y val="2.224778256301423E-4"/>
          <c:w val="0.92931388934005887"/>
          <c:h val="0.99977754190882273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RYB_MR_Overall - Q4 2025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-1.706989247311833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67A-4533-905D-E7093196D5EA}"/>
                </c:ext>
              </c:extLst>
            </c:dLbl>
            <c:dLbl>
              <c:idx val="7"/>
              <c:layout>
                <c:manualLayout>
                  <c:x val="5.6899641577060879E-2"/>
                  <c:y val="5.241090146750524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67A-4533-905D-E7093196D5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Indication</c:v>
                </c:pt>
                <c:pt idx="1">
                  <c:v>NCCN - NSCLC</c:v>
                </c:pt>
                <c:pt idx="2">
                  <c:v>MOA – Inhibition</c:v>
                </c:pt>
                <c:pt idx="3">
                  <c:v>NCCN – CNS</c:v>
                </c:pt>
                <c:pt idx="4">
                  <c:v>Safety – Prophylaxis protocol</c:v>
                </c:pt>
                <c:pt idx="5">
                  <c:v>Efficacy – mPFS</c:v>
                </c:pt>
                <c:pt idx="6">
                  <c:v>OS Headline</c:v>
                </c:pt>
                <c:pt idx="7">
                  <c:v>Efficacy – CNS</c:v>
                </c:pt>
                <c:pt idx="8">
                  <c:v>Median OS Not Reached</c:v>
                </c:pt>
                <c:pt idx="9">
                  <c:v>Safety – ARs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0.42</c:v>
                </c:pt>
                <c:pt idx="1">
                  <c:v>0.42</c:v>
                </c:pt>
                <c:pt idx="2">
                  <c:v>0.4</c:v>
                </c:pt>
                <c:pt idx="3">
                  <c:v>0.37</c:v>
                </c:pt>
                <c:pt idx="4">
                  <c:v>0.35</c:v>
                </c:pt>
                <c:pt idx="5">
                  <c:v>0.34</c:v>
                </c:pt>
                <c:pt idx="6">
                  <c:v>0.33</c:v>
                </c:pt>
                <c:pt idx="7">
                  <c:v>0.3</c:v>
                </c:pt>
                <c:pt idx="8">
                  <c:v>0.28999999999999998</c:v>
                </c:pt>
                <c:pt idx="9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7A-4533-905D-E7093196D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638711"/>
        <c:axId val="99643959"/>
      </c:barChart>
      <c:catAx>
        <c:axId val="99638711"/>
        <c:scaling>
          <c:orientation val="maxMin"/>
        </c:scaling>
        <c:delete val="1"/>
        <c:axPos val="r"/>
        <c:numFmt formatCode="General" sourceLinked="1"/>
        <c:majorTickMark val="none"/>
        <c:minorTickMark val="none"/>
        <c:tickLblPos val="nextTo"/>
        <c:crossAx val="99643959"/>
        <c:crosses val="autoZero"/>
        <c:auto val="1"/>
        <c:lblAlgn val="ctr"/>
        <c:lblOffset val="100"/>
        <c:noMultiLvlLbl val="0"/>
      </c:catAx>
      <c:valAx>
        <c:axId val="99643959"/>
        <c:scaling>
          <c:orientation val="maxMin"/>
          <c:max val="1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99638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39408496092287E-2"/>
          <c:y val="2.224778256301423E-4"/>
          <c:w val="0.92931388934005887"/>
          <c:h val="0.99977754190882273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RYB_PP_Recall - Q4 2025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-1.706989247311833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83E-4040-9862-3D6BBB139291}"/>
                </c:ext>
              </c:extLst>
            </c:dLbl>
            <c:dLbl>
              <c:idx val="7"/>
              <c:layout>
                <c:manualLayout>
                  <c:x val="5.6899641577060879E-2"/>
                  <c:y val="5.241090146750524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6A7-4032-829D-96FBFF046D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F758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Indication</c:v>
                </c:pt>
                <c:pt idx="1">
                  <c:v>NCCN - NSCLC</c:v>
                </c:pt>
                <c:pt idx="2">
                  <c:v>MOA – Inhibition</c:v>
                </c:pt>
                <c:pt idx="3">
                  <c:v>NCCN – CNS</c:v>
                </c:pt>
                <c:pt idx="4">
                  <c:v>Safety – Prophylaxis protocol</c:v>
                </c:pt>
                <c:pt idx="5">
                  <c:v>Efficacy – mPFS</c:v>
                </c:pt>
                <c:pt idx="6">
                  <c:v>OS Headline</c:v>
                </c:pt>
                <c:pt idx="7">
                  <c:v>Efficacy – CNS</c:v>
                </c:pt>
                <c:pt idx="8">
                  <c:v>Median OS Not Reached</c:v>
                </c:pt>
                <c:pt idx="9">
                  <c:v>Safety – ARs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0.4</c:v>
                </c:pt>
                <c:pt idx="1">
                  <c:v>0.49</c:v>
                </c:pt>
                <c:pt idx="2">
                  <c:v>0.36</c:v>
                </c:pt>
                <c:pt idx="3">
                  <c:v>0.31</c:v>
                </c:pt>
                <c:pt idx="4">
                  <c:v>0.39</c:v>
                </c:pt>
                <c:pt idx="5">
                  <c:v>0.44</c:v>
                </c:pt>
                <c:pt idx="6">
                  <c:v>0.36</c:v>
                </c:pt>
                <c:pt idx="7">
                  <c:v>0.35</c:v>
                </c:pt>
                <c:pt idx="8">
                  <c:v>0.37</c:v>
                </c:pt>
                <c:pt idx="9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A7-4032-829D-96FBFF046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638711"/>
        <c:axId val="99643959"/>
      </c:barChart>
      <c:catAx>
        <c:axId val="99638711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99643959"/>
        <c:crosses val="autoZero"/>
        <c:auto val="1"/>
        <c:lblAlgn val="ctr"/>
        <c:lblOffset val="100"/>
        <c:noMultiLvlLbl val="0"/>
      </c:catAx>
      <c:valAx>
        <c:axId val="99643959"/>
        <c:scaling>
          <c:orientation val="minMax"/>
          <c:max val="1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99638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7604417680152022"/>
          <c:h val="0.99272065152969069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Sheet1!$A$1</c:f>
              <c:strCache>
                <c:ptCount val="1"/>
                <c:pt idx="0">
                  <c:v>RYB</c:v>
                </c:pt>
              </c:strCache>
            </c:strRef>
          </c:tx>
          <c:spPr>
            <a:solidFill>
              <a:srgbClr val="F75824"/>
            </a:solidFill>
          </c:spPr>
          <c:invertIfNegative val="0"/>
          <c:dLbls>
            <c:dLbl>
              <c:idx val="0"/>
              <c:layout>
                <c:manualLayout>
                  <c:x val="-7.751328169398054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33630634734933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995-4AF9-B566-C10918EBB18B}"/>
                </c:ext>
              </c:extLst>
            </c:dLbl>
            <c:dLbl>
              <c:idx val="1"/>
              <c:layout>
                <c:manualLayout>
                  <c:x val="-4.3062934274433674E-2"/>
                  <c:y val="2.2092070471053754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900928763874954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8995-4AF9-B566-C10918EBB18B}"/>
                </c:ext>
              </c:extLst>
            </c:dLbl>
            <c:dLbl>
              <c:idx val="2"/>
              <c:layout>
                <c:manualLayout>
                  <c:x val="-8.612586854886727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144531258354915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8995-4AF9-B566-C10918EBB18B}"/>
                </c:ext>
              </c:extLst>
            </c:dLbl>
            <c:dLbl>
              <c:idx val="3"/>
              <c:layout>
                <c:manualLayout>
                  <c:x val="-7.7513281693980543E-2"/>
                  <c:y val="2.571855493711046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33630634734933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8995-4AF9-B566-C10918EBB18B}"/>
                </c:ext>
              </c:extLst>
            </c:dLbl>
            <c:dLbl>
              <c:idx val="4"/>
              <c:layout>
                <c:manualLayout>
                  <c:x val="-7.7512942615757918E-2"/>
                  <c:y val="-2.805692949823826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239080946544924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8995-4AF9-B566-C10918EBB18B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000">
                      <a:solidFill>
                        <a:srgbClr val="F75824"/>
                      </a:solidFill>
                      <a:latin typeface="Johnson Text" panose="020B0604020202020204" charset="0"/>
                      <a:ea typeface="Verdana" panose="020B0604030504040204" pitchFamily="34" charset="0"/>
                      <a:cs typeface="Johnson Text" panose="020B060402020202020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61346167670112"/>
                      <c:h val="6.80579368966517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8995-4AF9-B566-C10918EBB18B}"/>
                </c:ext>
              </c:extLst>
            </c:dLbl>
            <c:dLbl>
              <c:idx val="6"/>
              <c:layout>
                <c:manualLayout>
                  <c:x val="-7.751294261575791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1829387494947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995-4AF9-B566-C10918EBB18B}"/>
                </c:ext>
              </c:extLst>
            </c:dLbl>
            <c:dLbl>
              <c:idx val="7"/>
              <c:layout>
                <c:manualLayout>
                  <c:x val="-6.02877689059844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946201279465454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8995-4AF9-B566-C10918EBB18B}"/>
                </c:ext>
              </c:extLst>
            </c:dLbl>
            <c:dLbl>
              <c:idx val="8"/>
              <c:layout>
                <c:manualLayout>
                  <c:x val="-6.028776890598446E-2"/>
                  <c:y val="1.0287421974844185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51651591275445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995-4AF9-B566-C10918EBB18B}"/>
                </c:ext>
              </c:extLst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78903150325428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8995-4AF9-B566-C10918EBB18B}"/>
                </c:ext>
              </c:extLst>
            </c:dLbl>
            <c:dLbl>
              <c:idx val="10"/>
              <c:layout>
                <c:manualLayout>
                  <c:x val="-4.306293427443366E-2"/>
                  <c:y val="1.0287421974844185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006623333383242"/>
                      <c:h val="7.69040437546710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995-4AF9-B566-C10918EBB18B}"/>
                </c:ext>
              </c:extLst>
            </c:dLbl>
            <c:dLbl>
              <c:idx val="1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90272397953252"/>
                      <c:h val="7.69040437546710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8995-4AF9-B566-C10918EBB1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rgbClr val="F75824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Sheet1!$A$2:$A$13</c:f>
              <c:numCache>
                <c:formatCode>0%</c:formatCode>
                <c:ptCount val="12"/>
                <c:pt idx="0">
                  <c:v>0.20810000000000001</c:v>
                </c:pt>
                <c:pt idx="1">
                  <c:v>0.17449999999999999</c:v>
                </c:pt>
                <c:pt idx="2">
                  <c:v>0.1678</c:v>
                </c:pt>
                <c:pt idx="3">
                  <c:v>0.16109999999999999</c:v>
                </c:pt>
                <c:pt idx="4">
                  <c:v>0.1208</c:v>
                </c:pt>
                <c:pt idx="5">
                  <c:v>0.12</c:v>
                </c:pt>
                <c:pt idx="6">
                  <c:v>0.11</c:v>
                </c:pt>
                <c:pt idx="7">
                  <c:v>0.11</c:v>
                </c:pt>
                <c:pt idx="8">
                  <c:v>0.06</c:v>
                </c:pt>
                <c:pt idx="9">
                  <c:v>0.15</c:v>
                </c:pt>
                <c:pt idx="10">
                  <c:v>0.12</c:v>
                </c:pt>
                <c:pt idx="11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95-4AF9-B566-C10918EBB1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49991800"/>
        <c:axId val="449994680"/>
      </c:barChart>
      <c:catAx>
        <c:axId val="449991800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449994680"/>
        <c:crosses val="autoZero"/>
        <c:auto val="1"/>
        <c:lblAlgn val="ctr"/>
        <c:lblOffset val="100"/>
        <c:noMultiLvlLbl val="0"/>
      </c:catAx>
      <c:valAx>
        <c:axId val="44999468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4999180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7604417680152022"/>
          <c:h val="0.99272065152969069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7F46AA"/>
            </a:solidFill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33630634734933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D76C-4429-8B1D-44464578DFA9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900928763874954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76C-4429-8B1D-44464578DFA9}"/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144531258354915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D76C-4429-8B1D-44464578DFA9}"/>
                </c:ext>
              </c:extLst>
            </c:dLbl>
            <c:dLbl>
              <c:idx val="3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33630634734933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76C-4429-8B1D-44464578DFA9}"/>
                </c:ext>
              </c:extLst>
            </c:dLbl>
            <c:dLbl>
              <c:idx val="4"/>
              <c:layout>
                <c:manualLayout>
                  <c:x val="-3.445000834132428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239080946544924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D76C-4429-8B1D-44464578DFA9}"/>
                </c:ext>
              </c:extLst>
            </c:dLbl>
            <c:dLbl>
              <c:idx val="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0637907568495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76C-4429-8B1D-44464578DFA9}"/>
                </c:ext>
              </c:extLst>
            </c:dLbl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1829387494947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D76C-4429-8B1D-44464578DFA9}"/>
                </c:ext>
              </c:extLst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946201279465454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76C-4429-8B1D-44464578DFA9}"/>
                </c:ext>
              </c:extLst>
            </c:dLbl>
            <c:dLbl>
              <c:idx val="8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51651591275445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76C-4429-8B1D-44464578DFA9}"/>
                </c:ext>
              </c:extLst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78903150325428"/>
                      <c:h val="7.64750525654775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76C-4429-8B1D-44464578DFA9}"/>
                </c:ext>
              </c:extLst>
            </c:dLbl>
            <c:dLbl>
              <c:idx val="1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006623333383242"/>
                      <c:h val="7.69040437546710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D76C-4429-8B1D-44464578DFA9}"/>
                </c:ext>
              </c:extLst>
            </c:dLbl>
            <c:dLbl>
              <c:idx val="1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90272397953252"/>
                      <c:h val="7.69040437546710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D76C-4429-8B1D-44464578DF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rgbClr val="7030A0"/>
                    </a:solidFill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Sheet1!$B$2:$B$13</c:f>
              <c:numCache>
                <c:formatCode>0%</c:formatCode>
                <c:ptCount val="12"/>
                <c:pt idx="0">
                  <c:v>0.18</c:v>
                </c:pt>
                <c:pt idx="1">
                  <c:v>0.25</c:v>
                </c:pt>
                <c:pt idx="2">
                  <c:v>0.13</c:v>
                </c:pt>
                <c:pt idx="3">
                  <c:v>0.23</c:v>
                </c:pt>
                <c:pt idx="4">
                  <c:v>0.1</c:v>
                </c:pt>
                <c:pt idx="5">
                  <c:v>0.16</c:v>
                </c:pt>
                <c:pt idx="6">
                  <c:v>0.27</c:v>
                </c:pt>
                <c:pt idx="7">
                  <c:v>0.24</c:v>
                </c:pt>
                <c:pt idx="8">
                  <c:v>0.11</c:v>
                </c:pt>
                <c:pt idx="9">
                  <c:v>0.14000000000000001</c:v>
                </c:pt>
                <c:pt idx="10">
                  <c:v>0.18</c:v>
                </c:pt>
                <c:pt idx="11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76C-4429-8B1D-44464578DF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49991800"/>
        <c:axId val="449994680"/>
      </c:barChart>
      <c:catAx>
        <c:axId val="449991800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one"/>
        <c:crossAx val="449994680"/>
        <c:crosses val="autoZero"/>
        <c:auto val="1"/>
        <c:lblAlgn val="ctr"/>
        <c:lblOffset val="100"/>
        <c:noMultiLvlLbl val="0"/>
      </c:catAx>
      <c:valAx>
        <c:axId val="44999468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4999180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Sheet1!$A$2:$A$3</cx:f>
        <cx:lvl ptCount="2">
          <cx:pt idx="0">Missed</cx:pt>
          <cx:pt idx="1">Poor</cx:pt>
        </cx:lvl>
      </cx:strDim>
      <cx:numDim type="size">
        <cx:f>Sheet1!$B$2:$B$4</cx:f>
        <cx:lvl ptCount="3" formatCode="General">
          <cx:pt idx="0">40</cx:pt>
          <cx:pt idx="1">20</cx:pt>
          <cx:pt idx="2">40</cx:pt>
        </cx:lvl>
      </cx:numDim>
    </cx:data>
  </cx:chartData>
  <cx:chart>
    <cx:plotArea>
      <cx:plotAreaRegion>
        <cx:plotSurface>
          <cx:spPr>
            <a:solidFill>
              <a:schemeClr val="accent2"/>
            </a:solidFill>
          </cx:spPr>
        </cx:plotSurface>
        <cx:series layoutId="treemap" uniqueId="{21742A6F-5228-4830-9C45-9B2D3D145B1B}">
          <cx:tx>
            <cx:txData>
              <cx:f>Sheet1!$B$1</cx:f>
              <cx:v>RYB</cx:v>
            </cx:txData>
          </cx:tx>
          <cx:spPr>
            <a:solidFill>
              <a:srgbClr val="F75824"/>
            </a:solidFill>
          </cx:spPr>
          <cx:dataPt idx="0">
            <cx:spPr>
              <a:solidFill>
                <a:srgbClr val="FBA78D"/>
              </a:solidFill>
            </cx:spPr>
          </cx:dataPt>
          <cx:dataPt idx="1">
            <cx:spPr>
              <a:solidFill>
                <a:srgbClr val="808080"/>
              </a:solidFill>
            </cx:spPr>
          </cx:dataPt>
          <cx:dataId val="0"/>
          <cx:layoutPr/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Missed</cx:pt>
          <cx:pt idx="1">Successful</cx:pt>
          <cx:pt idx="2">Poor</cx:pt>
        </cx:lvl>
      </cx:strDim>
      <cx:numDim type="size">
        <cx:f>Sheet1!$B$2:$B$4</cx:f>
        <cx:lvl ptCount="3" formatCode="General">
          <cx:pt idx="0">29</cx:pt>
          <cx:pt idx="1">42</cx:pt>
          <cx:pt idx="2">29</cx:pt>
        </cx:lvl>
      </cx:numDim>
    </cx:data>
  </cx:chartData>
  <cx:chart>
    <cx:plotArea>
      <cx:plotAreaRegion>
        <cx:plotSurface>
          <cx:spPr>
            <a:solidFill>
              <a:schemeClr val="accent2"/>
            </a:solidFill>
          </cx:spPr>
        </cx:plotSurface>
        <cx:series layoutId="treemap" uniqueId="{1655DD25-5B75-4285-81E4-47B5C1FB0650}">
          <cx:tx>
            <cx:txData>
              <cx:f>Sheet1!$B$1</cx:f>
              <cx:v>TAG</cx:v>
            </cx:txData>
          </cx:tx>
          <cx:dataPt idx="0">
            <cx:spPr>
              <a:solidFill>
                <a:srgbClr val="C59EE2"/>
              </a:solidFill>
            </cx:spPr>
          </cx:dataPt>
          <cx:dataPt idx="1">
            <cx:spPr>
              <a:solidFill>
                <a:srgbClr val="7030A0"/>
              </a:solidFill>
            </cx:spPr>
          </cx:dataPt>
          <cx:dataPt idx="2">
            <cx:spPr>
              <a:solidFill>
                <a:srgbClr val="7F7F7F"/>
              </a:solidFill>
            </cx:spPr>
          </cx:dataPt>
          <cx:dataId val="0"/>
          <cx:layoutPr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D1A9_835AE1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D2EF2B-14F8-4684-A6CB-C3C405CEDB4C}" authorId="{4966F1C2-C0E5-7A4A-22DA-DBB55DBE2DDA}" status="resolved" created="2026-01-07T05:35:16.226" complete="100000">
    <pc:sldMkLst xmlns:pc="http://schemas.microsoft.com/office/powerpoint/2013/main/command">
      <pc:docMk/>
      <pc:sldMk cId="2203771354" sldId="2147471785"/>
    </pc:sldMkLst>
    <p188:replyLst>
      <p188:reply id="{C27812F7-7C6E-4764-B754-E4C714C3BB60}" authorId="{2D4FEFB9-0BB6-9026-0122-D9245A587286}" created="2026-01-08T11:41:19.090">
        <p188:txBody>
          <a:bodyPr/>
          <a:lstStyle/>
          <a:p>
            <a:r>
              <a:rPr lang="en-IN"/>
              <a:t>Updated</a:t>
            </a:r>
          </a:p>
        </p188:txBody>
      </p188:reply>
    </p188:replyLst>
    <p188:txBody>
      <a:bodyPr/>
      <a:lstStyle/>
      <a:p>
        <a:r>
          <a:rPr lang="en-IN"/>
          <a:t>[@Mayank Gupta] 
Please update on high priority.
cc: [@Anshu Shukla] </a:t>
        </a:r>
      </a:p>
    </p188:txBody>
  </p188:cm>
</p188:cmLst>
</file>

<file path=ppt/comments/modernComment_7FFFFE9D_2ECC95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7BC3C5-30C6-476E-959A-2362E07FD6B0}" authorId="{C7E0A812-E777-D68B-00AF-0AB677866650}" status="resolved" created="2026-01-11T18:57:07.58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85159570" sldId="2147483293"/>
      <ac:spMk id="37" creationId="{56ABA217-67C3-1B54-090F-258155DED4E4}"/>
    </ac:deMkLst>
    <p188:replyLst>
      <p188:reply id="{D2A03BA7-C486-4F47-9D84-BDAD59669CEF}" authorId="{4966F1C2-C0E5-7A4A-22DA-DBB55DBE2DDA}" created="2026-01-12T04:39:18.591">
        <p188:txBody>
          <a:bodyPr/>
          <a:lstStyle/>
          <a:p>
            <a:r>
              <a:rPr lang="en-IN"/>
              <a:t>[@Anshu Shukla] [@Mayank Gupta] </a:t>
            </a:r>
          </a:p>
        </p188:txBody>
      </p188:reply>
      <p188:reply id="{B8A6BEF5-1347-45F3-B00D-1CC3999596F6}" authorId="{2D4FEFB9-0BB6-9026-0122-D9245A587286}" created="2026-01-12T07:31:19.620">
        <p188:txBody>
          <a:bodyPr/>
          <a:lstStyle/>
          <a:p>
            <a:r>
              <a:rPr lang="en-IN"/>
              <a:t>addressed</a:t>
            </a:r>
          </a:p>
        </p188:txBody>
      </p188:reply>
    </p188:replyLst>
    <p188:txBody>
      <a:bodyPr/>
      <a:lstStyle/>
      <a:p>
        <a:r>
          <a:rPr lang="en-US"/>
          <a:t>EGFR not EFGR (please globally check for this typo)</a:t>
        </a:r>
      </a:p>
    </p188:txBody>
  </p188:cm>
</p188:cmLst>
</file>

<file path=ppt/comments/modernComment_7FFFFE64_A7CFB3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D8A9E2-69C8-414D-9DBE-7E22B47CF93B}" authorId="{4966F1C2-C0E5-7A4A-22DA-DBB55DBE2DDA}" status="resolved" created="2026-01-07T05:56:31.23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15406888" sldId="2147483236"/>
      <ac:graphicFrameMk id="40" creationId="{F3643261-E167-8A5F-8A77-2975242298ED}"/>
    </ac:deMkLst>
    <p188:replyLst>
      <p188:reply id="{7E2AFA56-A2A8-4BCD-97F0-E1528E87F82D}" authorId="{C7EBEF4F-5466-7AB1-2DCC-131D4E933E65}" created="2026-01-08T05:40:50.661">
        <p188:txBody>
          <a:bodyPr/>
          <a:lstStyle/>
          <a:p>
            <a:r>
              <a:rPr lang="en-IN"/>
              <a:t>Done.</a:t>
            </a:r>
          </a:p>
        </p188:txBody>
      </p188:reply>
    </p188:replyLst>
    <p188:txBody>
      <a:bodyPr/>
      <a:lstStyle/>
      <a:p>
        <a:r>
          <a:rPr lang="en-IN"/>
          <a:t>[@Anshu Shukla] 
Please get this client ready?</a:t>
        </a:r>
      </a:p>
    </p188:txBody>
  </p188:cm>
</p188:cmLst>
</file>

<file path=ppt/comments/modernComment_7FFFFECB_62ABD3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DCF1D1-93C1-4E29-A28D-DB4C664B192C}" authorId="{7D590234-DFA0-F970-0F77-198FB15C2116}" status="resolved" created="2026-01-08T13:05:30.05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55427921" sldId="2147483339"/>
      <ac:graphicFrameMk id="33" creationId="{4684C264-F78B-091D-6102-DE995FA650F2}"/>
    </ac:deMkLst>
    <p188:replyLst>
      <p188:reply id="{2736040D-0915-4255-B923-48D02B0D86F6}" authorId="{C7EBEF4F-5466-7AB1-2DCC-131D4E933E65}" created="2026-01-08T13:42:31.330">
        <p188:txBody>
          <a:bodyPr/>
          <a:lstStyle/>
          <a:p>
            <a:r>
              <a:rPr lang="en-IN"/>
              <a:t>Noted Vinoth, it skipped from my mind.</a:t>
            </a:r>
          </a:p>
        </p188:txBody>
      </p188:reply>
    </p188:replyLst>
    <p188:txBody>
      <a:bodyPr/>
      <a:lstStyle/>
      <a:p>
        <a:r>
          <a:rPr lang="en-US"/>
          <a:t>[@Anshu Shukla]  We need to add the red dotted boxes to what we are calling out in the THs.</a:t>
        </a:r>
      </a:p>
    </p188:txBody>
  </p188:cm>
  <p188:cm id="{ECFA5469-82CF-4B17-ADEF-793217C48A4B}" authorId="{C7E0A812-E777-D68B-00AF-0AB677866650}" status="resolved" created="2026-01-11T18:37:06.11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55427921" sldId="2147483339"/>
      <ac:spMk id="3" creationId="{C8A7490A-2D84-3C31-13CA-68FF39EC0C30}"/>
      <ac:txMk cp="165" len="48">
        <ac:context len="214" hash="3439449086"/>
      </ac:txMk>
    </ac:txMkLst>
    <p188:pos x="9839326" y="541588"/>
    <p188:replyLst>
      <p188:reply id="{5F8499C6-890E-439D-8833-412E383D442B}" authorId="{C7EBEF4F-5466-7AB1-2DCC-131D4E933E65}" created="2026-01-12T06:01:36.655">
        <p188:txBody>
          <a:bodyPr/>
          <a:lstStyle/>
          <a:p>
            <a:r>
              <a:rPr lang="en-IN"/>
              <a:t>Updated TH as per the suggestion
</a:t>
            </a:r>
          </a:p>
        </p188:txBody>
      </p188:reply>
    </p188:replyLst>
    <p188:txBody>
      <a:bodyPr/>
      <a:lstStyle/>
      <a:p>
        <a:r>
          <a:rPr lang="en-US"/>
          <a:t>We mean ‘competitor knowledge’ and ‘clear message’ right? Can we make it clearer in TH we are talking about these 2 attributes; currently it sounds like ‘clarity and competitor knowledge’ is one attribute (from the formatting and grammar)</a:t>
        </a:r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0.94444</cdr:x>
      <cdr:y>0.37478</cdr:y>
    </cdr:from>
    <cdr:to>
      <cdr:x>0.96214</cdr:x>
      <cdr:y>0.53478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032D4985-2083-C2A1-9433-3AB5CB8BB29E}"/>
            </a:ext>
          </a:extLst>
        </cdr:cNvPr>
        <cdr:cNvSpPr/>
      </cdr:nvSpPr>
      <cdr:spPr>
        <a:xfrm xmlns:a="http://schemas.openxmlformats.org/drawingml/2006/main">
          <a:off x="7683964" y="337302"/>
          <a:ext cx="144007" cy="144000"/>
        </a:xfrm>
        <a:prstGeom xmlns:a="http://schemas.openxmlformats.org/drawingml/2006/main" prst="ellipse">
          <a:avLst/>
        </a:prstGeom>
        <a:solidFill xmlns:a="http://schemas.openxmlformats.org/drawingml/2006/main">
          <a:srgbClr val="7F46AA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4572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s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0.54536</cdr:x>
      <cdr:y>0.63179</cdr:y>
    </cdr:from>
    <cdr:to>
      <cdr:x>0.59832</cdr:x>
      <cdr:y>0.66758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A0E65419-3217-F346-3E3E-DB9DE2EE2794}"/>
            </a:ext>
          </a:extLst>
        </cdr:cNvPr>
        <cdr:cNvSpPr/>
      </cdr:nvSpPr>
      <cdr:spPr>
        <a:xfrm xmlns:a="http://schemas.openxmlformats.org/drawingml/2006/main">
          <a:off x="1482873" y="2542468"/>
          <a:ext cx="144001" cy="143999"/>
        </a:xfrm>
        <a:prstGeom xmlns:a="http://schemas.openxmlformats.org/drawingml/2006/main" prst="ellipse">
          <a:avLst/>
        </a:prstGeom>
        <a:solidFill xmlns:a="http://schemas.openxmlformats.org/drawingml/2006/main">
          <a:schemeClr val="tx2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4572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s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0.69508</cdr:x>
      <cdr:y>0.01708</cdr:y>
    </cdr:from>
    <cdr:to>
      <cdr:x>0.78527</cdr:x>
      <cdr:y>0.04752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786EF3F4-1620-0C2F-352A-127E8891DABD}"/>
            </a:ext>
          </a:extLst>
        </cdr:cNvPr>
        <cdr:cNvSpPr/>
      </cdr:nvSpPr>
      <cdr:spPr>
        <a:xfrm xmlns:a="http://schemas.openxmlformats.org/drawingml/2006/main">
          <a:off x="1109943" y="80790"/>
          <a:ext cx="144021" cy="143985"/>
        </a:xfrm>
        <a:prstGeom xmlns:a="http://schemas.openxmlformats.org/drawingml/2006/main" prst="ellipse">
          <a:avLst/>
        </a:prstGeom>
        <a:solidFill xmlns:a="http://schemas.openxmlformats.org/drawingml/2006/main">
          <a:srgbClr val="FF0000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GB"/>
          </a:defPPr>
          <a:lvl1pPr marL="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4572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s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0.91254</cdr:x>
      <cdr:y>0.80875</cdr:y>
    </cdr:from>
    <cdr:to>
      <cdr:x>0.963</cdr:x>
      <cdr:y>0.84796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3CC119ED-23CA-1F83-F03C-E8649D26EB83}"/>
            </a:ext>
          </a:extLst>
        </cdr:cNvPr>
        <cdr:cNvSpPr/>
      </cdr:nvSpPr>
      <cdr:spPr>
        <a:xfrm xmlns:a="http://schemas.openxmlformats.org/drawingml/2006/main">
          <a:off x="2604506" y="2969737"/>
          <a:ext cx="144020" cy="143979"/>
        </a:xfrm>
        <a:prstGeom xmlns:a="http://schemas.openxmlformats.org/drawingml/2006/main" prst="ellipse">
          <a:avLst/>
        </a:prstGeom>
        <a:solidFill xmlns:a="http://schemas.openxmlformats.org/drawingml/2006/main">
          <a:srgbClr val="7030A0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4572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s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0.91986</cdr:x>
      <cdr:y>0.30137</cdr:y>
    </cdr:from>
    <cdr:to>
      <cdr:x>0.95297</cdr:x>
      <cdr:y>0.33599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88E2D8B4-0EDB-D786-0F81-CD88C9D7C376}"/>
            </a:ext>
          </a:extLst>
        </cdr:cNvPr>
        <cdr:cNvSpPr/>
      </cdr:nvSpPr>
      <cdr:spPr>
        <a:xfrm xmlns:a="http://schemas.openxmlformats.org/drawingml/2006/main">
          <a:off x="4000539" y="1253490"/>
          <a:ext cx="144001" cy="143999"/>
        </a:xfrm>
        <a:prstGeom xmlns:a="http://schemas.openxmlformats.org/drawingml/2006/main" prst="ellipse">
          <a:avLst/>
        </a:prstGeom>
        <a:solidFill xmlns:a="http://schemas.openxmlformats.org/drawingml/2006/main">
          <a:srgbClr val="7F46AA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4572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s</a:t>
          </a:r>
        </a:p>
      </cdr:txBody>
    </cdr:sp>
  </cdr:relSizeAnchor>
  <cdr:relSizeAnchor xmlns:cdr="http://schemas.openxmlformats.org/drawingml/2006/chartDrawing">
    <cdr:from>
      <cdr:x>0.91986</cdr:x>
      <cdr:y>0.24492</cdr:y>
    </cdr:from>
    <cdr:to>
      <cdr:x>0.95297</cdr:x>
      <cdr:y>0.27954</cdr:y>
    </cdr:to>
    <cdr:sp macro="" textlink="">
      <cdr:nvSpPr>
        <cdr:cNvPr id="3" name="Oval 2">
          <a:extLst xmlns:a="http://schemas.openxmlformats.org/drawingml/2006/main">
            <a:ext uri="{FF2B5EF4-FFF2-40B4-BE49-F238E27FC236}">
              <a16:creationId xmlns:a16="http://schemas.microsoft.com/office/drawing/2014/main" id="{51C95CB8-E714-AE5E-03C6-25B8290B2E11}"/>
            </a:ext>
          </a:extLst>
        </cdr:cNvPr>
        <cdr:cNvSpPr/>
      </cdr:nvSpPr>
      <cdr:spPr>
        <a:xfrm xmlns:a="http://schemas.openxmlformats.org/drawingml/2006/main">
          <a:off x="4000542" y="1018694"/>
          <a:ext cx="143998" cy="143996"/>
        </a:xfrm>
        <a:prstGeom xmlns:a="http://schemas.openxmlformats.org/drawingml/2006/main" prst="ellipse">
          <a:avLst/>
        </a:prstGeom>
        <a:solidFill xmlns:a="http://schemas.openxmlformats.org/drawingml/2006/main">
          <a:srgbClr val="7F46AA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4572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s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0.27373</cdr:x>
      <cdr:y>0.34548</cdr:y>
    </cdr:from>
    <cdr:to>
      <cdr:x>0.72478</cdr:x>
      <cdr:y>0.61546</cdr:y>
    </cdr:to>
    <cdr:sp macro="" textlink="">
      <cdr:nvSpPr>
        <cdr:cNvPr id="2" name="TextBox 44">
          <a:extLst xmlns:a="http://schemas.openxmlformats.org/drawingml/2006/main">
            <a:ext uri="{FF2B5EF4-FFF2-40B4-BE49-F238E27FC236}">
              <a16:creationId xmlns:a16="http://schemas.microsoft.com/office/drawing/2014/main" id="{46A31084-685B-B3DB-35E9-F8C6597EC7D0}"/>
            </a:ext>
          </a:extLst>
        </cdr:cNvPr>
        <cdr:cNvSpPr txBox="1"/>
      </cdr:nvSpPr>
      <cdr:spPr>
        <a:xfrm xmlns:a="http://schemas.openxmlformats.org/drawingml/2006/main">
          <a:off x="561690" y="708935"/>
          <a:ext cx="925555" cy="553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% of Interactions</a:t>
          </a:r>
          <a:b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</a:b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Rated 6, 7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0.27433</cdr:x>
      <cdr:y>0.34497</cdr:y>
    </cdr:from>
    <cdr:to>
      <cdr:x>0.72538</cdr:x>
      <cdr:y>0.61495</cdr:y>
    </cdr:to>
    <cdr:sp macro="" textlink="">
      <cdr:nvSpPr>
        <cdr:cNvPr id="2" name="TextBox 44">
          <a:extLst xmlns:a="http://schemas.openxmlformats.org/drawingml/2006/main">
            <a:ext uri="{FF2B5EF4-FFF2-40B4-BE49-F238E27FC236}">
              <a16:creationId xmlns:a16="http://schemas.microsoft.com/office/drawing/2014/main" id="{46A31084-685B-B3DB-35E9-F8C6597EC7D0}"/>
            </a:ext>
          </a:extLst>
        </cdr:cNvPr>
        <cdr:cNvSpPr txBox="1"/>
      </cdr:nvSpPr>
      <cdr:spPr>
        <a:xfrm xmlns:a="http://schemas.openxmlformats.org/drawingml/2006/main">
          <a:off x="562925" y="707876"/>
          <a:ext cx="925555" cy="553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% of Interactions</a:t>
          </a:r>
          <a:b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</a:b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Rated 6, 7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0.27433</cdr:x>
      <cdr:y>0.33622</cdr:y>
    </cdr:from>
    <cdr:to>
      <cdr:x>0.72538</cdr:x>
      <cdr:y>0.6062</cdr:y>
    </cdr:to>
    <cdr:sp macro="" textlink="">
      <cdr:nvSpPr>
        <cdr:cNvPr id="2" name="TextBox 44">
          <a:extLst xmlns:a="http://schemas.openxmlformats.org/drawingml/2006/main">
            <a:ext uri="{FF2B5EF4-FFF2-40B4-BE49-F238E27FC236}">
              <a16:creationId xmlns:a16="http://schemas.microsoft.com/office/drawing/2014/main" id="{46A31084-685B-B3DB-35E9-F8C6597EC7D0}"/>
            </a:ext>
          </a:extLst>
        </cdr:cNvPr>
        <cdr:cNvSpPr txBox="1"/>
      </cdr:nvSpPr>
      <cdr:spPr>
        <a:xfrm xmlns:a="http://schemas.openxmlformats.org/drawingml/2006/main">
          <a:off x="562919" y="689928"/>
          <a:ext cx="925556" cy="55399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% of Interactions</a:t>
          </a:r>
          <a:b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</a:b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Rated 6, 7</a:t>
          </a: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0.26466</cdr:x>
      <cdr:y>0.34589</cdr:y>
    </cdr:from>
    <cdr:to>
      <cdr:x>0.71571</cdr:x>
      <cdr:y>0.61587</cdr:y>
    </cdr:to>
    <cdr:sp macro="" textlink="">
      <cdr:nvSpPr>
        <cdr:cNvPr id="2" name="TextBox 44">
          <a:extLst xmlns:a="http://schemas.openxmlformats.org/drawingml/2006/main">
            <a:ext uri="{FF2B5EF4-FFF2-40B4-BE49-F238E27FC236}">
              <a16:creationId xmlns:a16="http://schemas.microsoft.com/office/drawing/2014/main" id="{46A31084-685B-B3DB-35E9-F8C6597EC7D0}"/>
            </a:ext>
          </a:extLst>
        </cdr:cNvPr>
        <cdr:cNvSpPr txBox="1"/>
      </cdr:nvSpPr>
      <cdr:spPr>
        <a:xfrm xmlns:a="http://schemas.openxmlformats.org/drawingml/2006/main">
          <a:off x="543075" y="709774"/>
          <a:ext cx="925554" cy="553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defPPr>
            <a:defRPr lang="en-GB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% of Interactions</a:t>
          </a:r>
          <a:b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</a:br>
          <a:r>
            <a: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rPr>
            <a:t>Rated 6, 7</a:t>
          </a: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0.14577</cdr:x>
      <cdr:y>0.16571</cdr:y>
    </cdr:from>
    <cdr:to>
      <cdr:x>0.29378</cdr:x>
      <cdr:y>0.23335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6D8511E7-F312-479F-6715-6648AD2F1E01}"/>
            </a:ext>
          </a:extLst>
        </cdr:cNvPr>
        <cdr:cNvSpPr txBox="1"/>
      </cdr:nvSpPr>
      <cdr:spPr>
        <a:xfrm xmlns:a="http://schemas.openxmlformats.org/drawingml/2006/main">
          <a:off x="418860" y="678672"/>
          <a:ext cx="425297" cy="27702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0" tIns="0" rIns="0" bIns="0" rtlCol="0">
          <a:spAutoFit/>
        </a:bodyPr>
        <a:lstStyle xmlns:a="http://schemas.openxmlformats.org/drawingml/2006/main"/>
        <a:p xmlns:a="http://schemas.openxmlformats.org/drawingml/2006/main">
          <a:pPr algn="l"/>
          <a:endParaRPr lang="en-IN" sz="1800" kern="1200" dirty="0" err="1">
            <a:solidFill>
              <a:schemeClr val="tx1"/>
            </a:solidFill>
            <a:latin typeface="+mn-lt"/>
            <a:ea typeface="+mn-ea"/>
            <a:cs typeface="+mn-cs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0E39F-1C6B-465E-974F-41044076EF5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ED95-4B9D-45DE-9661-B09CAEEA8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1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B18E93-EE38-CB4F-AFC1-65CB91DBAD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ohnson Display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499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None/>
            </a:pPr>
            <a:r>
              <a:rPr lang="en-GB" sz="900" b="1" u="sng">
                <a:latin typeface="Verdana" panose="020B0604030504040204" pitchFamily="34" charset="0"/>
                <a:ea typeface="Verdana" panose="020B0604030504040204" pitchFamily="34" charset="0"/>
              </a:rPr>
              <a:t>Non-Personal Promotions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900">
                <a:latin typeface="Verdana" panose="020B0604030504040204" pitchFamily="34" charset="0"/>
                <a:ea typeface="Verdana" panose="020B0604030504040204" pitchFamily="34" charset="0"/>
              </a:rPr>
              <a:t>Online ads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900">
                <a:latin typeface="Verdana" panose="020B0604030504040204" pitchFamily="34" charset="0"/>
                <a:ea typeface="Verdana" panose="020B0604030504040204" pitchFamily="34" charset="0"/>
              </a:rPr>
              <a:t>Emails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900">
                <a:latin typeface="Verdana" panose="020B0604030504040204" pitchFamily="34" charset="0"/>
                <a:ea typeface="Verdana" panose="020B0604030504040204" pitchFamily="34" charset="0"/>
              </a:rPr>
              <a:t>Official websites of pharmaceutical products or manufacturers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900">
                <a:latin typeface="Verdana" panose="020B0604030504040204" pitchFamily="34" charset="0"/>
                <a:ea typeface="Verdana" panose="020B0604030504040204" pitchFamily="34" charset="0"/>
              </a:rPr>
              <a:t>Seminars, webinars, or speaker programs with medical experts or KOLs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900">
                <a:latin typeface="Verdana" panose="020B0604030504040204" pitchFamily="34" charset="0"/>
                <a:ea typeface="Verdana" panose="020B0604030504040204" pitchFamily="34" charset="0"/>
              </a:rPr>
              <a:t>Medical Conferences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en-GB" sz="9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GB" sz="9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4" name="Google Shape;2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BA6946-D5E5-F7A6-EB4A-B0072BB217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91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endParaRPr lang="en-GB" sz="10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0498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8A71-2C59-010D-C2AD-7101A57F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CF281-1FD7-66EC-3D8A-884EA30A7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97838-552A-FA2D-76CE-02A16BA31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rgbClr val="09357A"/>
                </a:solidFill>
                <a:latin typeface="Johnson Text (Body)"/>
                <a:ea typeface="Verdana" panose="020B0604030504040204" pitchFamily="34" charset="0"/>
              </a:rPr>
              <a:t>Unique HCPs Attending Personal Promotion Surveys (RYBREVANT / TAGRISSO)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9357A"/>
              </a:solidFill>
              <a:effectLst/>
              <a:uLnTx/>
              <a:uFillTx/>
              <a:latin typeface="Johnson Text (Body)"/>
              <a:ea typeface="Verdana" panose="020B0604030504040204" pitchFamily="34" charset="0"/>
            </a:endParaRPr>
          </a:p>
          <a:p>
            <a:endParaRPr lang="en-GB" sz="900" b="0" i="0">
              <a:solidFill>
                <a:srgbClr val="333333"/>
              </a:solidFill>
              <a:effectLst/>
              <a:latin typeface="Johnson Text (Body)"/>
            </a:endParaRPr>
          </a:p>
          <a:p>
            <a:r>
              <a:rPr lang="en-GB" sz="900" b="0" i="0">
                <a:solidFill>
                  <a:srgbClr val="333333"/>
                </a:solidFill>
                <a:effectLst/>
                <a:latin typeface="Johnson Text (Body)"/>
              </a:rPr>
              <a:t>S.03Z How many years have you practiced in this specialty post-residency? If less than a year, please enter “1”.</a:t>
            </a:r>
            <a:endParaRPr lang="en-IN" sz="900" b="0" i="0" u="none">
              <a:solidFill>
                <a:srgbClr val="333333"/>
              </a:solidFill>
              <a:effectLst/>
              <a:latin typeface="Johnson Text (Body)"/>
              <a:ea typeface="Verdana" panose="020B0604030504040204" pitchFamily="34" charset="0"/>
            </a:endParaRPr>
          </a:p>
          <a:p>
            <a:r>
              <a:rPr lang="en-GB" sz="900" b="0" i="0">
                <a:solidFill>
                  <a:srgbClr val="333333"/>
                </a:solidFill>
                <a:effectLst/>
                <a:latin typeface="Johnson Text (Body)"/>
              </a:rPr>
              <a:t>LC.S90 How many patients with EGFR+ metastatic non-small cell lung cancer (NSCLC) are you actively managing? Please only consider those who you've seen in the past 3 months.</a:t>
            </a:r>
            <a:endParaRPr lang="en-IN" sz="900" b="0" i="0" u="none">
              <a:solidFill>
                <a:srgbClr val="333333"/>
              </a:solidFill>
              <a:effectLst/>
              <a:latin typeface="Johnson Text (Body)"/>
              <a:ea typeface="Verdana" panose="020B0604030504040204" pitchFamily="34" charset="0"/>
            </a:endParaRPr>
          </a:p>
          <a:p>
            <a:r>
              <a:rPr lang="en-GB" sz="900" b="0" i="0">
                <a:solidFill>
                  <a:srgbClr val="333333"/>
                </a:solidFill>
                <a:effectLst/>
                <a:latin typeface="Johnson Text (Body)"/>
              </a:rPr>
              <a:t>S1Z What percent of your professional time is spent in clinical practice performing direct patient care as compared with research, administration, or other non-clinical activities?</a:t>
            </a:r>
            <a:endParaRPr lang="en-IN" sz="900" b="0" i="0" u="none">
              <a:solidFill>
                <a:srgbClr val="333333"/>
              </a:solidFill>
              <a:effectLst/>
              <a:latin typeface="Johnson Text (Body)"/>
              <a:ea typeface="Verdana" panose="020B0604030504040204" pitchFamily="34" charset="0"/>
            </a:endParaRPr>
          </a:p>
          <a:p>
            <a:r>
              <a:rPr lang="en-GB" sz="900" b="0" i="0">
                <a:solidFill>
                  <a:srgbClr val="333333"/>
                </a:solidFill>
                <a:effectLst/>
                <a:latin typeface="Johnson Text (Body)"/>
              </a:rPr>
              <a:t>S.06Z Which of the following best describes your primary practice setting? Primary practice setting refers to the practice setting where you spend the most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0" i="0">
                <a:solidFill>
                  <a:srgbClr val="4E4E4E"/>
                </a:solidFill>
                <a:effectLst/>
                <a:latin typeface="Johnson Text (Body)"/>
                <a:ea typeface="Roboto"/>
                <a:cs typeface="Roboto"/>
              </a:rPr>
              <a:t>S.04Z </a:t>
            </a:r>
            <a:r>
              <a:rPr lang="en-US" sz="1600" b="0" i="0">
                <a:solidFill>
                  <a:srgbClr val="4E4E4E"/>
                </a:solidFill>
                <a:effectLst/>
                <a:highlight>
                  <a:srgbClr val="FFFFFF"/>
                </a:highlight>
                <a:latin typeface="SourceSansPro-Regular"/>
              </a:rPr>
              <a:t>Which of the following most closely describes your primary specialty?</a:t>
            </a:r>
            <a:endParaRPr lang="en-IN" sz="1100" b="0" i="0">
              <a:solidFill>
                <a:srgbClr val="4E4E4E"/>
              </a:solidFill>
              <a:effectLst/>
              <a:latin typeface="Johnson Text (Body)"/>
              <a:ea typeface="Roboto"/>
              <a:cs typeface="Roboto"/>
            </a:endParaRPr>
          </a:p>
          <a:p>
            <a:endParaRPr lang="en-IN" sz="900" b="0" i="0" u="none">
              <a:solidFill>
                <a:srgbClr val="333333"/>
              </a:solidFill>
              <a:effectLst/>
              <a:latin typeface="Johnson Text (Body)"/>
              <a:ea typeface="Verdan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708C6-D0B6-93C1-8BF9-A3B7326C19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087E-042B-081D-EBB6-F48B3E5B1D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415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ED95-4B9D-45DE-9661-B09CAEEA805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353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224D-DACB-6E42-F7D8-662041F3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57A20-917B-DD89-D8D7-EA9387010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8FE06-0F70-03BF-E082-9832A8514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5F07E-D941-9FB7-A5E3-3990117F8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474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B1FD0-1696-4322-43E0-6B9522BC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38023-1CB8-A003-8A96-633A69BF0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16313-76AE-334A-CD03-23BF632E0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333333"/>
                </a:solidFill>
                <a:effectLst/>
                <a:latin typeface="Johnson Text (Body)"/>
                <a:ea typeface="Roboto"/>
                <a:cs typeface="Roboto"/>
              </a:rPr>
              <a:t>Q25Z: </a:t>
            </a:r>
            <a:r>
              <a:rPr lang="en-US" sz="1200" b="0" i="0">
                <a:solidFill>
                  <a:srgbClr val="4E4E4E"/>
                </a:solidFill>
                <a:effectLst/>
                <a:latin typeface="Johnson Text (Body)"/>
              </a:rPr>
              <a:t>You indicated that you have had discussions with a manufacturer representative for the following products. Please select all the manufacturer representatives with whom you had the discussion.</a:t>
            </a:r>
            <a:br>
              <a:rPr lang="en-US" sz="1200" b="0" i="0">
                <a:effectLst/>
                <a:latin typeface="Johnson Text (Body)"/>
              </a:rPr>
            </a:br>
            <a:r>
              <a:rPr lang="en-IN" sz="1800" b="0" i="0">
                <a:solidFill>
                  <a:srgbClr val="4E4E4E"/>
                </a:solidFill>
                <a:effectLst/>
                <a:latin typeface="Johnson Text (Body)"/>
                <a:ea typeface="Roboto"/>
                <a:cs typeface="Roboto"/>
              </a:rPr>
              <a:t>Sales Representative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Abadi"/>
              </a:rPr>
              <a:t>Q1.87 </a:t>
            </a:r>
            <a:r>
              <a:rPr lang="en-GB" sz="1200" b="0" i="0" u="none" strike="noStrike">
                <a:solidFill>
                  <a:srgbClr val="000000"/>
                </a:solidFill>
                <a:effectLst/>
                <a:latin typeface="Abadi"/>
              </a:rPr>
              <a:t>Please rate the J&amp;J sales rep across each of the following attributes based on your most recent interaction discussing [PRODUCT] for [INDICATION].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>
                <a:solidFill>
                  <a:srgbClr val="000000"/>
                </a:solidFill>
                <a:effectLst/>
                <a:latin typeface="Abadi"/>
              </a:rPr>
              <a:t>Please use the scale below: 1 = Performed poorly // 7 = Performed extremely well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latin typeface="Johnson Text (Body)"/>
                <a:ea typeface="Verdana" panose="020B0604030504040204" pitchFamily="34" charset="0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B. How believable each message is in conveying a benefit of the product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C. How motivating the conveyed benefit is in terms of your intent to prescribe the product</a:t>
            </a:r>
            <a:endParaRPr lang="en-GB" sz="1200">
              <a:latin typeface="Johnson Text (Body)"/>
              <a:ea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Q1.83d. During your most recent interaction with the </a:t>
            </a:r>
            <a:r>
              <a:rPr lang="en-US" sz="12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representative, for the following setting / settings, did the representative specifically ask you to prescribe </a:t>
            </a:r>
            <a:r>
              <a:rPr lang="en-US" sz="12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Q1.85b After your recent interaction with the </a:t>
            </a:r>
            <a:r>
              <a:rPr lang="en-IN" sz="12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rep, how likely are you to increase your prescribing of </a:t>
            </a:r>
            <a:r>
              <a:rPr lang="en-IN" sz="12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following setting / settings?</a:t>
            </a:r>
          </a:p>
          <a:p>
            <a:pPr>
              <a:lnSpc>
                <a:spcPct val="115000"/>
              </a:lnSpc>
            </a:pPr>
            <a:r>
              <a:rPr lang="en-IN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use the scale below</a:t>
            </a:r>
          </a:p>
          <a:p>
            <a:pPr>
              <a:lnSpc>
                <a:spcPct val="115000"/>
              </a:lnSpc>
            </a:pPr>
            <a:r>
              <a:rPr lang="en-IN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= Not at all likely // 7 = Extremely likely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77A4-0C51-10DF-B891-C41A3007F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70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A7A13-D514-9D1A-3E6F-7321E5F0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AB167-AB65-C684-7DB0-76FBFEFAD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B852C-680C-D3A5-11AE-C1F3390A5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" b="0" i="0" dirty="0">
                <a:solidFill>
                  <a:srgbClr val="333333"/>
                </a:solidFill>
                <a:effectLst/>
                <a:latin typeface="Johnson Text (Body)"/>
                <a:ea typeface="Roboto"/>
                <a:cs typeface="Roboto"/>
              </a:rPr>
              <a:t>Q25Z: </a:t>
            </a:r>
            <a:r>
              <a:rPr lang="en-US" sz="1000" b="0" i="0" dirty="0">
                <a:solidFill>
                  <a:srgbClr val="4E4E4E"/>
                </a:solidFill>
                <a:effectLst/>
                <a:latin typeface="Johnson Text (Body)"/>
              </a:rPr>
              <a:t>You indicated that you have had discussions with a manufacturer representative for the following products. Please </a:t>
            </a:r>
            <a:r>
              <a:rPr lang="en-US" sz="1000" b="1" i="0" dirty="0">
                <a:solidFill>
                  <a:srgbClr val="4E4E4E"/>
                </a:solidFill>
                <a:effectLst/>
                <a:latin typeface="Johnson Text (Body)"/>
              </a:rPr>
              <a:t>select all</a:t>
            </a:r>
            <a:r>
              <a:rPr lang="en-US" sz="1000" b="0" i="0" dirty="0">
                <a:solidFill>
                  <a:srgbClr val="4E4E4E"/>
                </a:solidFill>
                <a:effectLst/>
                <a:latin typeface="Johnson Text (Body)"/>
              </a:rPr>
              <a:t> the manufacturer representatives with whom you had the discussion.</a:t>
            </a:r>
            <a:br>
              <a:rPr lang="en-US" sz="1000" b="0" i="0" dirty="0">
                <a:effectLst/>
                <a:latin typeface="Johnson Text (Body)"/>
              </a:rPr>
            </a:br>
            <a:r>
              <a:rPr lang="en-IN" sz="1200" b="0" i="0" dirty="0">
                <a:solidFill>
                  <a:srgbClr val="4E4E4E"/>
                </a:solidFill>
                <a:effectLst/>
                <a:latin typeface="Johnson Text (Body)"/>
                <a:ea typeface="Roboto"/>
                <a:cs typeface="Roboto"/>
              </a:rPr>
              <a:t>Sales Representative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badi"/>
              </a:rPr>
              <a:t>Q1.87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Abadi"/>
              </a:rPr>
              <a:t>Please rate the J&amp;J sales rep across each of the following attributes based on your most recent interaction discussing [PRODUCT] for [INDICATION].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Abadi"/>
              </a:rPr>
              <a:t>Please use the scale below: 1 = Performed poorly // 7 = Performed extremely well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Q1.83d. During your most recent interaction with the </a:t>
            </a:r>
            <a:r>
              <a:rPr lang="en-US" sz="10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representative, for the following setting / settings, did the representative specifically ask you to prescribe </a:t>
            </a:r>
            <a:r>
              <a:rPr lang="en-US" sz="10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</a:p>
          <a:p>
            <a:pPr>
              <a:lnSpc>
                <a:spcPct val="115000"/>
              </a:lnSpc>
            </a:pPr>
            <a:endParaRPr lang="en-IN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IN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Sample Size for Share of Voice (s):</a:t>
            </a: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					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Q4'24	434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Q1'25	497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Q2'25	365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Q3'25	473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Q4’25	608</a:t>
            </a:r>
          </a:p>
          <a:p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Sample Size for Other Metrics (s):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	RYBREVANT	Tagrisso	Tagrisso + Chemo	Tagrisso Mono	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Q4'24	82	45	32		36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Q1'25	100	68	61		54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Q2'25	105	70	60		59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Q3'25	103	73	62		65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 dirty="0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Q4’25               100                  73                    64                                            58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2C77D-B581-D9BB-A2F5-25504CD9D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4FD2FF-9C82-4BBB-B3FC-1BD5D238539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364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7F74-189B-AA93-C342-47B5A79E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432A3-4E93-D210-9EDF-1B04A4297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BF496-EB7B-9657-8289-C3F8868F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/>
            </a:pPr>
            <a:r>
              <a:rPr lang="en-GB" sz="900" b="0" i="0">
                <a:solidFill>
                  <a:srgbClr val="333333"/>
                </a:solidFill>
                <a:effectLst/>
                <a:latin typeface="Johnson Text (Body)"/>
                <a:ea typeface="Roboto"/>
                <a:cs typeface="Roboto"/>
              </a:rPr>
              <a:t>Q25Z: </a:t>
            </a:r>
            <a:r>
              <a:rPr lang="en-US" sz="1600" b="0" i="0">
                <a:solidFill>
                  <a:srgbClr val="4E4E4E"/>
                </a:solidFill>
                <a:effectLst/>
                <a:latin typeface="Johnson Text (Body)"/>
              </a:rPr>
              <a:t>You indicated that you have had discussions with a manufacturer representative for the following products. Please </a:t>
            </a:r>
            <a:r>
              <a:rPr lang="en-US" sz="1600" b="1" i="0">
                <a:solidFill>
                  <a:srgbClr val="4E4E4E"/>
                </a:solidFill>
                <a:effectLst/>
                <a:latin typeface="Johnson Text (Body)"/>
              </a:rPr>
              <a:t>select all</a:t>
            </a:r>
            <a:r>
              <a:rPr lang="en-US" sz="1600" b="0" i="0">
                <a:solidFill>
                  <a:srgbClr val="4E4E4E"/>
                </a:solidFill>
                <a:effectLst/>
                <a:latin typeface="Johnson Text (Body)"/>
              </a:rPr>
              <a:t> the manufacturer representatives with whom you had the discussion.</a:t>
            </a:r>
            <a:br>
              <a:rPr lang="en-US" sz="1600" b="0" i="0">
                <a:effectLst/>
                <a:latin typeface="Johnson Text (Body)"/>
              </a:rPr>
            </a:br>
            <a:r>
              <a:rPr lang="en-IN" sz="2400" b="0" i="0">
                <a:solidFill>
                  <a:srgbClr val="4E4E4E"/>
                </a:solidFill>
                <a:effectLst/>
                <a:latin typeface="Johnson Text (Body)"/>
                <a:ea typeface="Roboto"/>
                <a:cs typeface="Roboto"/>
              </a:rPr>
              <a:t>Sales Representative</a:t>
            </a:r>
          </a:p>
          <a:p>
            <a:pPr>
              <a:spcAft>
                <a:spcPts val="800"/>
              </a:spcAft>
              <a:defRPr/>
            </a:pPr>
            <a:r>
              <a:rPr lang="en-IN" sz="2400" b="0">
                <a:solidFill>
                  <a:srgbClr val="4E4E4E"/>
                </a:solidFill>
                <a:latin typeface="Johnson Text (Body)"/>
                <a:ea typeface="Roboto"/>
                <a:cs typeface="Roboto"/>
              </a:rPr>
              <a:t>	</a:t>
            </a:r>
            <a:endParaRPr lang="en-IN" sz="2400" b="0">
              <a:solidFill>
                <a:srgbClr val="4E4E4E"/>
              </a:solidFill>
              <a:latin typeface="Roboto" panose="02000000000000000000" pitchFamily="2" charset="0"/>
              <a:ea typeface="Roboto"/>
              <a:cs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3FDD8-DB1C-41CA-5B67-1FBE7BE7C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C71F7-C1B2-A623-DAF2-641543D70A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923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64BC-80CB-FB18-6006-CB4FFADD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8C396-C314-183E-A856-4DB6296F2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C12B8-D40A-2FC4-80F0-548149CAC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Q25.RYB. You indicated that you have had an interaction with [COMPANY] sales representative discussing [PRODUCT] for Non-Small Cell Lung Cancer. Which of the following product settings were covered during the interaction? Please select all that apply.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Q26.RYB During your most recent interaction with the [COMPANY] sales rep, what percentage of time was spent discussing each of the following settings?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Q27.RYB During your most recent interaction with the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rep, in what order did the rep discuss the following settings? 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indicate the order of settings discussed as below: 1 = First Setting discussed // 2 = Second Setting discussed // 3 = Third Setting discussed 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E9128-C103-3F63-CDE7-2A478E236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4FD2FF-9C82-4BBB-B3FC-1BD5D238539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557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B92B-306D-C403-8819-EA3DD56B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3405A-978C-5380-9C16-114C10881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172CF-06A5-3E74-790B-AC7EA63D0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 i="0" u="none" strike="noStrike" dirty="0">
                <a:solidFill>
                  <a:srgbClr val="000000"/>
                </a:solidFill>
                <a:effectLst/>
                <a:latin typeface="Abadi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B. How believable each message is in conveying a benefit of the product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C. How motivating the conveyed benefit is in terms of your intent to prescribe the product</a:t>
            </a:r>
          </a:p>
          <a:p>
            <a:endParaRPr lang="en-US"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 dirty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algn="l">
              <a:lnSpc>
                <a:spcPct val="115000"/>
              </a:lnSpc>
            </a:pPr>
            <a:r>
              <a:rPr lang="en-US" sz="7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700" b="1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700" b="1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7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7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vs </a:t>
            </a:r>
            <a:r>
              <a:rPr lang="en-US" sz="7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osimertinib</a:t>
            </a:r>
            <a:r>
              <a:rPr lang="en-US" sz="7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RYBREVANT+LAZCLUZE </a:t>
            </a:r>
            <a:r>
              <a:rPr lang="en-US" sz="7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7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7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7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700" b="1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7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7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7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7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7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</a:t>
            </a:r>
            <a:r>
              <a:rPr lang="en-US" sz="7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OS Headline  - </a:t>
            </a:r>
            <a:r>
              <a:rPr lang="en-US" sz="7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</a:t>
            </a:r>
            <a:r>
              <a:rPr lang="en-US" sz="7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7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with proven durability</a:t>
            </a:r>
            <a:endParaRPr lang="en-IN" sz="7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7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8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7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7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Not Reached - </a:t>
            </a:r>
            <a:r>
              <a:rPr lang="en-US" sz="7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7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11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7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>
                <a:latin typeface="Johnson Text" panose="020B0604020202020204" charset="0"/>
                <a:cs typeface="Johnson Text" panose="020B0604020202020204" charset="0"/>
              </a:rPr>
              <a:t>Safety – Proactive Therapy Management </a:t>
            </a:r>
            <a:r>
              <a:rPr lang="en-IN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is an NCCN Category 1 recommended treatment option for patients with EGFR+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are the only NCCN preferred combination options for brain metastases in patients with EGFR+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with proven durability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8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1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(95% CI: 33.4, 41)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18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1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IN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54D63-5371-F8C1-9B7D-198F18E22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234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4B7C-AF84-1FED-42BD-014F08B9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8392C-81AD-2015-F58D-5F37305DD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6BCDC-9572-F4AD-599B-E6E5D175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 i="0" u="none" strike="noStrike">
                <a:solidFill>
                  <a:srgbClr val="000000"/>
                </a:solidFill>
                <a:effectLst/>
                <a:latin typeface="Abadi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Q2.20 You mentioned hearing the following messages about [PRODUCT]. Please indicate the first 3 messages that you heard during your most recent interaction with the [COMPANY] sales rep. Please indicate this order by using the following ranking scale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= First message, 2 = Second message, 3 = Third message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3600" b="0" i="0" u="none" strike="noStrike">
              <a:solidFill>
                <a:srgbClr val="000000"/>
              </a:solidFill>
              <a:effectLst/>
              <a:latin typeface="Abadi"/>
            </a:endParaRPr>
          </a:p>
          <a:p>
            <a:endParaRPr lang="en-US"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algn="l">
              <a:lnSpc>
                <a:spcPct val="115000"/>
              </a:lnSpc>
            </a:pPr>
            <a:r>
              <a:rPr lang="en-US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7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7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7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vs </a:t>
            </a:r>
            <a:r>
              <a:rPr lang="en-US" sz="7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osimertinib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RYBREVANT+LAZCLUZE </a:t>
            </a:r>
            <a:r>
              <a:rPr lang="en-US" sz="7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7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7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7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7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7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7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</a:t>
            </a:r>
            <a:r>
              <a:rPr lang="en-US" sz="7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with proven durability</a:t>
            </a:r>
            <a:endParaRPr lang="en-IN" sz="7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7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8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7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7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7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>
                <a:latin typeface="Johnson Text" panose="020B0604020202020204" charset="0"/>
                <a:cs typeface="Johnson Text" panose="020B0604020202020204" charset="0"/>
              </a:rPr>
              <a:t>Safety – Proactive Therapy Management</a:t>
            </a:r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</a:p>
          <a:p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is an NCCN Category 1 recommended treatment option for patients with EGFR+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are the only NCCN preferred combination options for brain metastases in patients with EGFR+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60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6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6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6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(HR=0.75 [95% CI: 0.61, 0.92]; P&lt;0.005)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8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6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(95% CI: 33.4, 41)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2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28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2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US" sz="28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00E27-5001-45B3-73E9-84A477CF6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437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37A84-4399-DFAE-BA18-684DD8E4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9CC3A-0006-CFBB-664A-38D4001FD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F45F7-CCD2-874E-F82A-1ADD3586F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 i="0" u="none" strike="noStrike">
                <a:solidFill>
                  <a:srgbClr val="000000"/>
                </a:solidFill>
                <a:effectLst/>
                <a:latin typeface="Abadi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Q2.20 You mentioned hearing the following messages about [PRODUCT]. Please indicate the first 3 messages that you heard during your most recent interaction with the [COMPANY] sales rep. Please indicate this order by using the following ranking scale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= First message, 2 = Second message, 3 = Third message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3600" b="0" i="0" u="none" strike="noStrike">
              <a:solidFill>
                <a:srgbClr val="000000"/>
              </a:solidFill>
              <a:effectLst/>
              <a:latin typeface="Abadi"/>
            </a:endParaRPr>
          </a:p>
          <a:p>
            <a:endParaRPr lang="en-US"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algn="l">
              <a:lnSpc>
                <a:spcPct val="115000"/>
              </a:lnSpc>
            </a:pPr>
            <a:r>
              <a:rPr lang="en-US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7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7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7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vs </a:t>
            </a:r>
            <a:r>
              <a:rPr lang="en-US" sz="7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osimertinib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RYBREVANT+LAZCLUZE </a:t>
            </a:r>
            <a:r>
              <a:rPr lang="en-US" sz="7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7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7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7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7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7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7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7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</a:t>
            </a:r>
            <a:r>
              <a:rPr lang="en-US" sz="7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with proven durability</a:t>
            </a:r>
            <a:endParaRPr lang="en-IN" sz="7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7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8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7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7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7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>
                <a:latin typeface="Johnson Text" panose="020B0604020202020204" charset="0"/>
                <a:cs typeface="Johnson Text" panose="020B0604020202020204" charset="0"/>
              </a:rPr>
              <a:t>Safety – Proactive Therapy Management</a:t>
            </a:r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</a:p>
          <a:p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is an NCCN Category 1 recommended treatment option for patients with EGFR+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are the only NCCN preferred combination options for brain metastases in patients with EGFR+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60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6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6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6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(HR=0.75 [95% CI: 0.61, 0.92]; P&lt;0.005)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8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6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(95% CI: 33.4, 41)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2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28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2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US" sz="28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8BD6E-F612-22A7-BEC9-D15238A11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153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3805-8849-02BD-DEA4-B8C38894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C0377-29E1-E630-9A4D-99B8AA4E0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CBFB1-D1C3-04CA-555A-6917FEDF7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GB" sz="1200" b="0" i="0" u="none" strike="noStrike" kern="1200">
              <a:solidFill>
                <a:schemeClr val="tx1"/>
              </a:solidFill>
              <a:effectLst/>
              <a:latin typeface="Verdana"/>
              <a:ea typeface="Verdana"/>
            </a:endParaRP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B. How believable each message is in conveying a benefit of the product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C. How motivating the conveyed benefit is in terms of your intent to prescribe the product</a:t>
            </a:r>
          </a:p>
          <a:p>
            <a:endParaRPr lang="en-US"/>
          </a:p>
          <a:p>
            <a:endParaRPr lang="en-US"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vs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osimertinib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RYBREVANT+LAZCLUZE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6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</a:t>
            </a:r>
            <a:r>
              <a:rPr lang="en-US" sz="6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with proven durability</a:t>
            </a: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6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7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6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5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>
                <a:latin typeface="Johnson Text" panose="020B0604020202020204" charset="0"/>
                <a:cs typeface="Johnson Text" panose="020B0604020202020204" charset="0"/>
              </a:rPr>
              <a:t>Safety – Proactive Therapy Management</a:t>
            </a: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is an NCCN Category 1 recommended treatment option for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are the only NCCN preferred combination options for brain metastases in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5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</a:t>
            </a:r>
            <a:r>
              <a:rPr lang="en-US" sz="7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(HR=0.75 [95% CI: 0.61, 0.92]; P&lt;0.005)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7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05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7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7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</a:t>
            </a:r>
            <a:r>
              <a:rPr lang="en-US" sz="7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7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(95% CI: 33.4, 41)</a:t>
            </a:r>
          </a:p>
          <a:p>
            <a:pPr algn="l">
              <a:lnSpc>
                <a:spcPct val="115000"/>
              </a:lnSpc>
            </a:pPr>
            <a:endParaRPr lang="en-IN" sz="7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16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16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US" sz="16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F1EDE-B52B-433F-B966-4C202BAD5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56C14-2820-7E17-A700-D6E5C648F8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8033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AABB-2E2D-7C21-BE20-822CDC86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F34EE-7E98-60E8-4B4B-B1B221586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1DBF9-0CA3-3C5F-8917-C1B5C3577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8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8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8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B. How believable each message is in conveying a benefit of the product</a:t>
            </a:r>
          </a:p>
          <a:p>
            <a:pPr rtl="0"/>
            <a:r>
              <a:rPr lang="en-GB" sz="8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C. How motivating the conveyed benefit is in terms of your intent to prescribe the product</a:t>
            </a:r>
          </a:p>
          <a:p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Q2.21B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indicated that the following message was low or neutral in providing motivation in terms of your intent to prescribe [PRODUCT]. Please highlight specific part(s) of the message that you feel would motivate you more if expanded upon. Once you highlight a part, you will then be prompted to indicate why you selected that part of the message.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15000"/>
              </a:lnSpc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US" sz="1800" b="1">
                <a:effectLst/>
                <a:highlight>
                  <a:srgbClr val="C0C0C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[Message]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8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Note: Please note you can highlight specific words and/or phrases. 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110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Safety – Proactive Therapy Management</a:t>
            </a:r>
            <a:r>
              <a:rPr lang="en-IN" sz="11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1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1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osimertinib (HR=0.75 [95% CI: 0.61, 0.92]; P&lt;0.005)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  <a:endParaRPr lang="en-US" sz="18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97A64-DCD6-136F-959A-47F0780D4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BB9DE7-DF19-4175-807D-FE48E580280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059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0376-6C54-7009-ABA3-5F87A221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E2989-9638-6713-7AD2-14737E3E8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3399E-5EAF-91BF-2BE6-B61545812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Abadi"/>
              </a:rPr>
              <a:t>Q1.87 </a:t>
            </a:r>
            <a:r>
              <a:rPr lang="en-GB" sz="900" b="0" i="0" u="none" strike="noStrike" dirty="0">
                <a:solidFill>
                  <a:srgbClr val="000000"/>
                </a:solidFill>
                <a:effectLst/>
                <a:latin typeface="Abadi"/>
              </a:rPr>
              <a:t>Please rate the [COMPANY] sales rep across each of the following attributes based on your most recent interaction discussing [PRODUCT] for [INDICATION].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900" b="0" i="0" u="none" strike="noStrike" dirty="0">
                <a:solidFill>
                  <a:srgbClr val="000000"/>
                </a:solidFill>
                <a:effectLst/>
                <a:latin typeface="Abadi"/>
              </a:rPr>
              <a:t>Please use the scale below: 1 = Performed poorly // 7 = Performed extremely well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212529"/>
                </a:solidFill>
                <a:effectLst/>
                <a:latin typeface="Roboto"/>
                <a:ea typeface="Roboto"/>
                <a:cs typeface="Roboto"/>
              </a:rPr>
              <a:t>Q1.90 Please rank the following sales representative attributes in terms of importance, with 1 = most important and 14 = least important, when interacting with a sales rep regarding EGFR+ mNSCLC?</a:t>
            </a:r>
          </a:p>
          <a:p>
            <a:pPr>
              <a:spcAft>
                <a:spcPts val="800"/>
              </a:spcAft>
              <a:defRPr/>
            </a:pPr>
            <a:endParaRPr lang="en-US" sz="1100" b="0" i="0" u="none" strike="noStrike" dirty="0">
              <a:solidFill>
                <a:srgbClr val="212529"/>
              </a:solidFill>
              <a:effectLst/>
              <a:latin typeface="Roboto" panose="02000000000000000000" pitchFamily="2" charset="0"/>
              <a:ea typeface="Roboto"/>
              <a:cs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0" u="none" strike="noStrike" dirty="0">
                <a:solidFill>
                  <a:srgbClr val="212529"/>
                </a:solidFill>
                <a:effectLst/>
                <a:latin typeface="Roboto"/>
                <a:ea typeface="Roboto"/>
                <a:cs typeface="Roboto"/>
              </a:rPr>
              <a:t>^Sample Size</a:t>
            </a:r>
            <a:r>
              <a:rPr lang="en-GB" sz="900" b="1" i="0" u="none" strike="noStrike" dirty="0">
                <a:solidFill>
                  <a:srgbClr val="000000"/>
                </a:solidFill>
                <a:effectLst/>
                <a:latin typeface="Abadi"/>
              </a:rPr>
              <a:t> (s) – J&amp;J</a:t>
            </a:r>
            <a:endParaRPr lang="en-GB" sz="900" b="0" i="0" u="none" strike="noStrike" dirty="0">
              <a:solidFill>
                <a:srgbClr val="000000"/>
              </a:solidFill>
              <a:effectLst/>
              <a:latin typeface="Abad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dirty="0">
                <a:solidFill>
                  <a:srgbClr val="212529"/>
                </a:solidFill>
                <a:effectLst/>
                <a:latin typeface="Abadi"/>
              </a:rPr>
              <a:t>Q2'25	105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dirty="0">
                <a:solidFill>
                  <a:srgbClr val="212529"/>
                </a:solidFill>
                <a:effectLst/>
                <a:latin typeface="Abadi"/>
              </a:rPr>
              <a:t>Q3'25	103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AF7AE-1C90-7ACA-7B79-14682553F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EDF42-49C7-F432-AA26-AA1546C741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739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Q1.88. How could your most recent interaction with the </a:t>
            </a:r>
            <a:r>
              <a:rPr lang="en-IN" sz="12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2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representative discussing </a:t>
            </a:r>
            <a:r>
              <a:rPr lang="en-IN" sz="12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2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have been improved?</a:t>
            </a:r>
            <a:endParaRPr lang="en-IN" sz="12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ED95-4B9D-45DE-9661-B09CAEEA805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892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6758-5E99-47E1-8BE0-A8FC1A5E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CE3D1-3281-547B-57EB-3746D966D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3B677-7BD2-9766-BA6A-12430BE93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badi"/>
              </a:rPr>
              <a:t>Q1.87 </a:t>
            </a:r>
            <a:r>
              <a:rPr lang="en-GB" sz="1100" b="0" i="0" u="none" strike="noStrike">
                <a:solidFill>
                  <a:srgbClr val="000000"/>
                </a:solidFill>
                <a:effectLst/>
                <a:latin typeface="Abadi"/>
              </a:rPr>
              <a:t>Please rate the [COMPANY] sales rep across each of the following attributes based on your most recent interaction discussing [PRODUCT] for [INDICATION].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1100" b="0" i="0" u="none" strike="noStrike">
                <a:solidFill>
                  <a:srgbClr val="000000"/>
                </a:solidFill>
                <a:effectLst/>
                <a:latin typeface="Abadi"/>
              </a:rPr>
              <a:t>Please use the scale below: 1 = Performed poorly // 7 = Performed extremely well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Q1.85b After your recent interaction with the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rep, how likely are you to increase your prescribing of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following setting / settings?</a:t>
            </a:r>
          </a:p>
          <a:p>
            <a:pPr>
              <a:lnSpc>
                <a:spcPct val="115000"/>
              </a:lnSpc>
            </a:pP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use the scale below</a:t>
            </a:r>
          </a:p>
          <a:p>
            <a:pPr>
              <a:lnSpc>
                <a:spcPct val="115000"/>
              </a:lnSpc>
            </a:pP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= Not at all likely // 7 = Extremely likely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sz="1100" b="0" i="0" u="none" strike="noStrike">
              <a:solidFill>
                <a:srgbClr val="212529"/>
              </a:solidFill>
              <a:effectLst/>
              <a:latin typeface="Abad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547BF-689F-CDCD-D4FB-E5AB999D3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A8755-2C92-B679-DA42-6047AF6A84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162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6000"/>
              </a:lnSpc>
              <a:buNone/>
            </a:pPr>
            <a:r>
              <a:rPr lang="en-US" sz="1800"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Q1.81 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US" sz="1800"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During your most recent interaction with the [COMPANY] sales representative, for the following setting / settings</a:t>
            </a:r>
            <a:r>
              <a:rPr lang="en-IN" sz="1800"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, did the representative specifically ask if they provided you with a compelling reason to choose [PRODUCT] as your treatment of choice?</a:t>
            </a:r>
            <a:endParaRPr lang="en-US" sz="1800">
              <a:effectLst/>
              <a:highlight>
                <a:srgbClr val="FFFF00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Q1.82 </a:t>
            </a:r>
            <a:r>
              <a:rPr lang="en-IN" sz="1800"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During your most recent interaction with the [COMPANY] sales representative, for the following setting / settings, did the representative specifically ask if the information provided changed your opinion on which product you will choose for your 1L EGFR+ patients?</a:t>
            </a: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Q1.83d. During your most recent interaction with the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representative, for the following setting / settings, did the representative specifically ask you to prescribe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/>
              <a:t>Q1.84b During your most recent interaction with the [COMPANY] sales representative for the following setting / settings, did the representative specifically ask if [COMPANY] can provide education to your staff about [PRODUCT]?</a:t>
            </a:r>
            <a:endParaRPr lang="en-US" sz="1800">
              <a:effectLst/>
              <a:highlight>
                <a:srgbClr val="FFFF00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391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C0F0-1A78-E070-0669-526EB440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DC2F-2371-E076-DD52-F6CF1488F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9D49D-4F67-82C4-A1E1-3B0F3CA79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Q1.09 How much time (in minutes) did you spend with the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representative discussing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26262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Q1.25A On a scale of 1 to 7, where 1 = “I entirely led the discussion” // 7 = “The </a:t>
            </a:r>
            <a:r>
              <a:rPr lang="en-US" sz="1800" dirty="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800" dirty="0">
                <a:solidFill>
                  <a:srgbClr val="26262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rep entirely led the discussion”, please select what would best characterize the nature of your interaction with the </a:t>
            </a:r>
            <a:r>
              <a:rPr lang="en-US" sz="1800" dirty="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800" dirty="0">
                <a:solidFill>
                  <a:srgbClr val="26262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rep.  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Q1.55 During your most recent interaction, did the [COMPANY] sales representative provide you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starter kits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shown below?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Q1.40b How did the [COMPANY] sales rep share the visual aid(s) with you? Please select all that apply.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Q1.83. During your most recent interaction with the [COMPANY] sales representative, for the following setting / settings, did the representative specifically ask you to prescribe [PRODUCT]?</a:t>
            </a:r>
            <a:endParaRPr lang="en-US" sz="18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Q1.50 Which of the following topics were discussed during your most recent interaction with the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sales rep while discussing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[INDICATION]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? Please select all that apply.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badi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pPr>
              <a:lnSpc>
                <a:spcPct val="115000"/>
              </a:lnSpc>
            </a:pP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i="0" u="none" strike="noStrike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 b="1" i="1" u="sng" strike="noStrike" kern="1200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800" b="1" i="1" u="sng" strike="noStrike" kern="1200" spc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latin typeface="Verdana"/>
              <a:ea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osimertinib with proven durability</a:t>
            </a:r>
            <a:endParaRPr lang="en-IN" sz="800" dirty="0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800" b="1" dirty="0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- </a:t>
            </a:r>
            <a:r>
              <a:rPr lang="en-IN" sz="800" b="1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8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3200" b="1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Efficacy – CNS - </a:t>
            </a:r>
            <a:r>
              <a:rPr lang="en-US" sz="32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3200" b="1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IN" sz="3200" b="1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NCCN – CNS - </a:t>
            </a:r>
            <a:r>
              <a:rPr lang="en-US" sz="32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amivantamab-</a:t>
            </a:r>
            <a:r>
              <a:rPr lang="en-US" sz="320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vmjw</a:t>
            </a:r>
            <a:r>
              <a:rPr lang="en-US" sz="32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(RYBREVANT®)-based regimens, including amivantamab-</a:t>
            </a:r>
            <a:r>
              <a:rPr lang="en-US" sz="320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vmjw</a:t>
            </a:r>
            <a:r>
              <a:rPr lang="en-US" sz="32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(RYBREVANT®) + lazertinib (LAZCLUZE®) are the only NCCN preferred combination options for brain metastases in patients with EGFR+ mNSCLC</a:t>
            </a:r>
            <a:endParaRPr lang="en-IN" sz="320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443A7-7E45-56E8-6D45-CB60871A6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8656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9432-44F9-B0BE-EA8A-C7DC21CF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7C24-B301-FE58-E95B-FE4BC3BF3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25C1C-76DA-8B4F-CA8B-44E24487D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>
                <a:solidFill>
                  <a:srgbClr val="000000"/>
                </a:solidFill>
                <a:effectLst/>
                <a:latin typeface="Abadi"/>
              </a:rPr>
              <a:t>Q1.87 </a:t>
            </a:r>
            <a:r>
              <a:rPr lang="en-GB" sz="900" b="0" i="0" u="none" strike="noStrike">
                <a:solidFill>
                  <a:srgbClr val="000000"/>
                </a:solidFill>
                <a:effectLst/>
                <a:latin typeface="Abadi"/>
              </a:rPr>
              <a:t>Please rate the [COMPANY] sales rep across each of the following attributes based on your most recent interaction discussing [PRODUCT] for [INDICATION].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900" b="0" i="0" u="none" strike="noStrike">
                <a:solidFill>
                  <a:srgbClr val="000000"/>
                </a:solidFill>
                <a:effectLst/>
                <a:latin typeface="Abadi"/>
              </a:rPr>
              <a:t>Please use the scale below: 1 = Performed poorly // 7 = Performed extremely well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>
                <a:solidFill>
                  <a:srgbClr val="212529"/>
                </a:solidFill>
                <a:effectLst/>
                <a:latin typeface="Roboto"/>
                <a:ea typeface="Roboto"/>
                <a:cs typeface="Roboto"/>
              </a:rPr>
              <a:t>Q1.90 Please rank the following sales representative attributes in terms of importance, with 1 = most important and 14 = least important, when interacting with a sales rep regarding EGFR+ </a:t>
            </a:r>
            <a:r>
              <a:rPr lang="en-US" sz="900" b="0" i="0" err="1">
                <a:solidFill>
                  <a:srgbClr val="212529"/>
                </a:solidFill>
                <a:effectLst/>
                <a:latin typeface="Roboto"/>
                <a:ea typeface="Roboto"/>
                <a:cs typeface="Roboto"/>
              </a:rPr>
              <a:t>mNSCLC</a:t>
            </a:r>
            <a:r>
              <a:rPr lang="en-US" sz="900" b="0" i="0">
                <a:solidFill>
                  <a:srgbClr val="212529"/>
                </a:solidFill>
                <a:effectLst/>
                <a:latin typeface="Roboto"/>
                <a:ea typeface="Roboto"/>
                <a:cs typeface="Roboto"/>
              </a:rPr>
              <a:t>?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9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Q27.RYB During your most recent interaction with the </a:t>
            </a:r>
            <a:r>
              <a:rPr lang="en-US" sz="900">
                <a:solidFill>
                  <a:srgbClr val="000000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9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rep, in what order did the rep discuss the following settings? </a:t>
            </a:r>
            <a:endParaRPr lang="en-IN" sz="9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9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indicate the order of settings discussed as below: 1 = First Setting discussed // 2 = Second Setting discussed // 3 = Third Setting discussed </a:t>
            </a:r>
            <a:endParaRPr lang="en-IN" sz="9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7801D-50D0-44AC-1C84-D60494F66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6DF69-B4D8-B2D8-AEF2-104B70D342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9198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7395-A4BE-9E0B-B502-492AA0FE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34D9E-5E0E-F028-6963-9C8428FF5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85710-3073-0F4D-E2F3-2C1C72EFB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Q1.87 Please rate the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sales rep across each of the following attributes based on your most recent interaction discussing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[INDICATION]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. Please use the scale below: 1 = Performed Poorly // 7 = Performed Extremely Well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6000"/>
              </a:lnSpc>
            </a:pPr>
            <a:r>
              <a:rPr lang="en-US" sz="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Q1.83d. During your most recent interaction with the </a:t>
            </a:r>
            <a:r>
              <a:rPr lang="en-US" sz="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representative, for the following setting / settings, did the representative specifically ask you to prescribe </a:t>
            </a:r>
            <a:r>
              <a:rPr lang="en-US" sz="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  <a:endParaRPr lang="en-IN" sz="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7BE9E-E1EE-EDFF-2116-66567D516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14BD2-7437-57C4-FDC1-9A76CF7737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405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3CD8-F755-BC3C-4E38-3ECF56E1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C1404-4CA2-3AAF-5D8E-391ECAAFF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38253-24B9-6146-D1AC-206FDA218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Q1.50 Which of the following topics were discussed during your most recent interaction with the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sales rep while discussing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</a:t>
            </a:r>
            <a:r>
              <a:rPr lang="en-IN" sz="18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[INDICATION]</a:t>
            </a:r>
            <a:r>
              <a:rPr lang="en-IN" sz="1800" dirty="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? Please select all that apply.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badi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badi"/>
              </a:rPr>
              <a:t>Q1.87 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Abadi"/>
              </a:rPr>
              <a:t>Please rate the [COMPANY] sales rep across each of the following attributes based on your most recent interaction discussing [PRODUCT] for [INDICATION].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Abadi"/>
              </a:rPr>
              <a:t>Please use the scale below: 1 = Performed poorly // 7 = Performed extremely well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Q26.RYB During your most recent interaction with the [COMPANY] sales rep, what percentage of time was spent discussing each of the following settings?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Q27.RYB During your most recent interaction with the 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rep, in what order did the rep discuss the following settings? 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indicate the order of settings discussed as below: 1 = First Setting discussed // 2 = Second Setting discussed // 3 = Third Setting discussed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Q1.40a Did the [COMPANY] rep share any visual aids related to [PRODUCT] for [INDICATION] with you immediately before, during, or after your most recent interaction?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6262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Q1.25A On a scale of 1 to 7, where 1 = “I entirely led the discussion” // 7 = “The </a:t>
            </a:r>
            <a:r>
              <a:rPr lang="en-US" sz="1200" dirty="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200" dirty="0">
                <a:solidFill>
                  <a:srgbClr val="26262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rep entirely led the discussion”, please select what would best characterize the nature of your interaction with the </a:t>
            </a:r>
            <a:r>
              <a:rPr lang="en-US" sz="1200" dirty="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US" sz="1200" dirty="0">
                <a:solidFill>
                  <a:srgbClr val="26262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rep.  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Q1.55 During your most recent interaction, did the [COMPANY] sales representative provide you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starter kits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shown below?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Q1.83. During your most recent interaction with the [COMPANY] sales representative, for the following setting / settings, did the representative specifically ask you to prescribe [PRODUCT]?</a:t>
            </a:r>
            <a:endParaRPr lang="en-US" sz="18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Q1.85b After your recent interaction with the </a:t>
            </a:r>
            <a:r>
              <a:rPr lang="en-IN" sz="12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sales rep, how likely are you to increase your prescribing of </a:t>
            </a:r>
            <a:r>
              <a:rPr lang="en-IN" sz="1200" dirty="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following setting / settings?</a:t>
            </a:r>
          </a:p>
          <a:p>
            <a:pPr>
              <a:lnSpc>
                <a:spcPct val="115000"/>
              </a:lnSpc>
            </a:pP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use the scale below</a:t>
            </a:r>
          </a:p>
          <a:p>
            <a:pPr>
              <a:lnSpc>
                <a:spcPct val="115000"/>
              </a:lnSpc>
            </a:pP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= Not at all likely // 7 = Extremely likely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IN" sz="12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latin typeface="Verdana"/>
              <a:ea typeface="Verdana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OS Headline  - </a:t>
            </a:r>
            <a:r>
              <a:rPr lang="en-US" sz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osimertinib with proven durability</a:t>
            </a:r>
            <a:endParaRPr lang="en-IN" sz="100" dirty="0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100" b="1" dirty="0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Median OS Not Reached - </a:t>
            </a:r>
            <a:r>
              <a:rPr lang="en-US" sz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1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800" b="1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Efficacy – CNS - </a:t>
            </a:r>
            <a:r>
              <a:rPr lang="en-US" sz="8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800" b="1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IN" sz="800" b="1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NCCN – CNS - </a:t>
            </a:r>
            <a:r>
              <a:rPr lang="en-US" sz="8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amivantamab-</a:t>
            </a:r>
            <a:r>
              <a:rPr lang="en-US" sz="80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vmjw</a:t>
            </a:r>
            <a:r>
              <a:rPr lang="en-US" sz="8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(RYBREVANT®)-based regimens, including amivantamab-</a:t>
            </a:r>
            <a:r>
              <a:rPr lang="en-US" sz="80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vmjw</a:t>
            </a:r>
            <a:r>
              <a:rPr lang="en-US" sz="80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(RYBREVANT®) + lazertinib (LAZCLUZE®) are the only NCCN preferred combination options for brain metastases in patients with EGFR+ mNSCLC</a:t>
            </a:r>
            <a:endParaRPr lang="en-IN" sz="80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C870F-9DA4-456A-B024-7395271D3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698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7339-132E-2BD9-05A4-3692097E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CCF7C-2690-3E37-6259-2789225CC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0B42B-A176-214C-EC3A-ABD895ADF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Q1.85e Please allocate 100 points across each of the following product characteristics according to how important each is when making a prescribing decision for </a:t>
            </a:r>
            <a:r>
              <a:rPr lang="en-IN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EGFR-mutated</a:t>
            </a:r>
            <a:r>
              <a:rPr lang="en-IN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metastatic NSCLC patients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most important characteristic should receive the most points.</a:t>
            </a:r>
            <a:r>
              <a:rPr lang="en-IN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Q1.85f </a:t>
            </a:r>
            <a:r>
              <a:rPr lang="en-IN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lease rate how well you believe [PRODUCT] performs</a:t>
            </a:r>
            <a:r>
              <a:rPr lang="en-US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IN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[PATIENT SUBGROUP]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across the listed attributes below on a 0 to 7-point scale.</a:t>
            </a:r>
            <a:r>
              <a:rPr lang="en-IN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Q2.60. Doctor, consider your future usage. Please allocate your anticipated usage of each of the below regimens when treating your [PIPE IN Q2.36] </a:t>
            </a:r>
            <a:r>
              <a:rPr lang="en-US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newly diagnosed or </a:t>
            </a:r>
            <a:r>
              <a:rPr lang="en-IN"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frontline (1L)</a:t>
            </a:r>
            <a:r>
              <a:rPr lang="en-IN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EGFR + mNSCLC patients 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next 3 months.</a:t>
            </a:r>
            <a:endParaRPr lang="en-IN" sz="1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800"/>
          </a:p>
          <a:p>
            <a:endParaRPr lang="en-US" sz="1800">
              <a:effectLst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A02E3-26B5-3598-C023-DBA1116C2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B61EAF-EC1A-4352-8076-473209EDAA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0594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41D8B0B1-69A9-8C7A-F0FA-6A189FD0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>
            <a:extLst>
              <a:ext uri="{FF2B5EF4-FFF2-40B4-BE49-F238E27FC236}">
                <a16:creationId xmlns:a16="http://schemas.microsoft.com/office/drawing/2014/main" id="{217E2ACC-F513-4B31-1AC1-D4597D4F8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Q1.85e Please allocate 100 points across each of the following product characteristics according to how important each is when making a prescribing decision for </a:t>
            </a:r>
            <a:r>
              <a:rPr lang="en-I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EGFR-mutated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metastatic NSCLC patients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most important characteristic should receive the most points.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Q1.85f 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lease rate how well you believe [PRODUCT] performs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[PATIENT SUBGROUP]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across the listed attributes below on a 0 to 7-point scale.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Q2.60. Doctor, consider your future usage. Please allocate your anticipated usage of each of the below regimens when treating your [PIPE IN Q2.36]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newly diagnosed or </a:t>
            </a:r>
            <a:r>
              <a:rPr lang="en-I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frontline (1L)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EGFR + mNSCLC patients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next 3 months.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4" name="Google Shape;254;p4:notes">
            <a:extLst>
              <a:ext uri="{FF2B5EF4-FFF2-40B4-BE49-F238E27FC236}">
                <a16:creationId xmlns:a16="http://schemas.microsoft.com/office/drawing/2014/main" id="{9A0E7BB3-10A0-0032-83FB-F1DF3BDFA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ABBB9F-63B2-8C52-9A35-DC1C995A5D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9341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188A52C4-F185-FFB0-63AF-6F5AEA40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>
            <a:extLst>
              <a:ext uri="{FF2B5EF4-FFF2-40B4-BE49-F238E27FC236}">
                <a16:creationId xmlns:a16="http://schemas.microsoft.com/office/drawing/2014/main" id="{286CB360-F23F-1C97-2843-BE148AD8B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Q1.85e Please allocate 100 points across each of the following product characteristics according to how important each is when making a prescribing decision for </a:t>
            </a:r>
            <a:r>
              <a:rPr lang="en-I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EGFR-mutated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metastatic NSCLC patients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most important characteristic should receive the most points.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Q1.85f 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lease rate how well you believe [PRODUCT] performs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[PATIENT SUBGROUP]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across the listed attributes below on a 0 to 7-point scale.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Q2.60. Doctor, consider your future usage. Please allocate your anticipated usage of each of the below regimens when treating your [PIPE IN Q2.36]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newly diagnosed or </a:t>
            </a:r>
            <a:r>
              <a:rPr lang="en-I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frontline (1L)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EGFR + </a:t>
            </a:r>
            <a:r>
              <a:rPr lang="en-IN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patients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next 3 months.</a:t>
            </a:r>
            <a:endParaRPr lang="en-I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4" name="Google Shape;254;p4:notes">
            <a:extLst>
              <a:ext uri="{FF2B5EF4-FFF2-40B4-BE49-F238E27FC236}">
                <a16:creationId xmlns:a16="http://schemas.microsoft.com/office/drawing/2014/main" id="{F01C6C2E-30C8-298E-077B-328120485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7F5102-F865-19E3-D8E5-296BEBA6CB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846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6106E677-B26E-3C28-98C5-119619EB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>
            <a:extLst>
              <a:ext uri="{FF2B5EF4-FFF2-40B4-BE49-F238E27FC236}">
                <a16:creationId xmlns:a16="http://schemas.microsoft.com/office/drawing/2014/main" id="{305910E7-D34C-BD1D-405C-E48A03AE6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Q1.85e Please allocate 100 points across each of the following product characteristics according to how important each is when making a prescribing decision for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EGFR-mutated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metastatic NSCLC patients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most important characteristic should receive the most points.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Q1.85f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lease rate how well you believe [PRODUCT] performs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[PATIENT SUBGROUP]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across the listed attributes below on a 0 to 7-point scale.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		RYB+LAZ	TAG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		236	236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 rep interaction	84	73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 not have rep interaction	152	163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4" name="Google Shape;254;p4:notes">
            <a:extLst>
              <a:ext uri="{FF2B5EF4-FFF2-40B4-BE49-F238E27FC236}">
                <a16:creationId xmlns:a16="http://schemas.microsoft.com/office/drawing/2014/main" id="{98D01F55-1ECD-748B-F63F-6BBCFD42E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BF4415-136C-82A1-CBC3-831E75FC7D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06109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8782-C4BF-8862-2B37-D2D817E2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BBB22-A838-D5E7-2848-26A367B50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51C97-DB5D-C596-BD56-A5099103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buNone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Q1.85e Please allocate 100 points across each of the following product characteristics according to how important each is when making a prescribing decision for </a:t>
            </a:r>
            <a:r>
              <a:rPr lang="en-US" sz="18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EGFR-mutated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metastatic NSCLC patients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The most important characteristic should receive the most points.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06000"/>
              </a:lnSpc>
              <a:buNone/>
            </a:pPr>
            <a:r>
              <a:rPr lang="en-US" sz="1800" b="1" i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Note</a:t>
            </a:r>
            <a:r>
              <a:rPr lang="en-US" sz="1800" i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You are not required to allocate points to all attributes.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6000"/>
              </a:lnSpc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Q1.85f 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lease rate how well you believe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performs</a:t>
            </a:r>
            <a:r>
              <a:rPr lang="en-US" sz="18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[PATIENT SUBGROUP]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across the listed attributes below on a 0 to 7-point scale.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lnSpc>
                <a:spcPct val="106000"/>
              </a:lnSpc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= “Performs poorly on that attribute // 7 = “Performs extremely well on that attribute” </a:t>
            </a:r>
            <a:r>
              <a:rPr lang="en-IN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lnSpc>
                <a:spcPct val="106000"/>
              </a:lnSpc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you are unable to rate the product for a particular attribute, </a:t>
            </a:r>
            <a:r>
              <a:rPr lang="en-US" sz="18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select 0 = Don't know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06000"/>
              </a:lnSpc>
              <a:buNone/>
            </a:pP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87211-990A-B8F9-8806-EA70FA7C0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DEEAC-A11D-9A80-D906-195DF0E168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2747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6D4A-ACF0-19F9-C72C-BA9C2C27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5341A-CD42-4B8C-18B5-EBB002347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B25C2-E70A-354F-8F15-9AA3764E9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/>
            </a:pPr>
            <a:r>
              <a:rPr lang="en-GB" sz="1800" b="0" i="0" u="none" strike="noStrike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Q30Z: You indicated that you have encountered product information OUTSIDE of manufacturer rep discussions for the following products. Please indicate through what means of communication this product information was received.</a:t>
            </a:r>
            <a:endParaRPr lang="en-IN" sz="2400" b="1" i="0" u="sng">
              <a:solidFill>
                <a:srgbClr val="4E4E4E"/>
              </a:solidFill>
              <a:effectLst/>
              <a:latin typeface="Johnson Text (Bod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2206D-C92C-0C54-103A-087E81CC2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EC87-C919-5667-6FE9-71991C7C31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026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99E8-F00D-EF69-77EB-0A4A6402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21C1F-658C-C91F-2656-31654DBD4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5A66-D998-5590-AAFA-7951F823D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i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Q30Z: You indicated that you have encountered product information OUTSIDE of manufacturer rep discussions for the following products. Please indicate through what means of communication this product information was received.</a:t>
            </a:r>
          </a:p>
          <a:p>
            <a:r>
              <a:rPr lang="en-US" sz="1050" b="0" i="0">
                <a:solidFill>
                  <a:srgbClr val="4E4E4E"/>
                </a:solidFill>
                <a:effectLst/>
                <a:latin typeface="Roboto" panose="02000000000000000000" pitchFamily="2" charset="0"/>
              </a:rPr>
              <a:t>Advertisements</a:t>
            </a:r>
          </a:p>
          <a:p>
            <a:pPr algn="l"/>
            <a:r>
              <a:rPr lang="en-US" sz="1050" b="0" i="0">
                <a:solidFill>
                  <a:srgbClr val="4E4E4E"/>
                </a:solidFill>
                <a:effectLst/>
                <a:latin typeface="Roboto" panose="02000000000000000000" pitchFamily="2" charset="0"/>
              </a:rPr>
              <a:t>Email and Other Direct Communications</a:t>
            </a:r>
          </a:p>
          <a:p>
            <a:pPr algn="l"/>
            <a:r>
              <a:rPr lang="en-US" sz="1400" b="0" i="0">
                <a:solidFill>
                  <a:srgbClr val="4E4E4E"/>
                </a:solidFill>
                <a:effectLst/>
                <a:latin typeface="Roboto" panose="02000000000000000000" pitchFamily="2" charset="0"/>
              </a:rPr>
              <a:t>Medical Resources</a:t>
            </a:r>
          </a:p>
          <a:p>
            <a:pPr algn="l"/>
            <a:r>
              <a:rPr lang="en-US" sz="2000" b="0" i="0">
                <a:solidFill>
                  <a:srgbClr val="4E4E4E"/>
                </a:solidFill>
                <a:effectLst/>
                <a:latin typeface="Roboto" panose="02000000000000000000" pitchFamily="2" charset="0"/>
              </a:rPr>
              <a:t>Events or Communications with Other Healthcare Professionals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400" b="0" i="0">
                <a:solidFill>
                  <a:srgbClr val="4E4E4E"/>
                </a:solidFill>
                <a:effectLst/>
                <a:latin typeface="Roboto" panose="02000000000000000000" pitchFamily="2" charset="0"/>
              </a:rPr>
            </a:br>
            <a:endParaRPr lang="en-IN" sz="800">
              <a:solidFill>
                <a:srgbClr val="4E4E4E"/>
              </a:solidFill>
              <a:latin typeface="Roboto" panose="02000000000000000000" pitchFamily="2" charset="0"/>
              <a:ea typeface="Roboto"/>
              <a:cs typeface="Roboto"/>
            </a:endParaRPr>
          </a:p>
          <a:p>
            <a:endParaRPr lang="en-GB" sz="800" b="0" i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0AC4B-3AB2-C431-4B1D-33CC13DDD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74790-1467-9614-BF4E-40D85BEF42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1342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459D66A3-931B-9C73-D851-40D0DD38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:notes">
            <a:extLst>
              <a:ext uri="{FF2B5EF4-FFF2-40B4-BE49-F238E27FC236}">
                <a16:creationId xmlns:a16="http://schemas.microsoft.com/office/drawing/2014/main" id="{9EAC53B6-1F41-6E29-4516-3FA7A857A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2:notes">
            <a:extLst>
              <a:ext uri="{FF2B5EF4-FFF2-40B4-BE49-F238E27FC236}">
                <a16:creationId xmlns:a16="http://schemas.microsoft.com/office/drawing/2014/main" id="{D851B26C-4ADA-0A65-9E2B-D6F01A5C6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3600" b="0" i="0">
                <a:solidFill>
                  <a:srgbClr val="000000"/>
                </a:solidFill>
                <a:effectLst/>
                <a:latin typeface="SourceSansPro-Regular"/>
              </a:rPr>
              <a:t>Q1.00 Please indicate via which channel(s) you have received information regarding [PRODUCT] for the treatment of Non-Small Cell Lung Cancer in the past [X] business days. Please select all that apply.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6600" b="0" i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Q3.20 Doctor, which of the following are your most preferred sources of information on treatments for EGFR+ metastatic non-small cell lung cancer (NSCLC)? Please select up to three information sources.</a:t>
            </a:r>
            <a:endParaRPr lang="en-US" sz="4800" b="0">
              <a:effectLst/>
            </a:endParaRPr>
          </a:p>
        </p:txBody>
      </p:sp>
      <p:sp>
        <p:nvSpPr>
          <p:cNvPr id="490" name="Google Shape;490;p12:notes">
            <a:extLst>
              <a:ext uri="{FF2B5EF4-FFF2-40B4-BE49-F238E27FC236}">
                <a16:creationId xmlns:a16="http://schemas.microsoft.com/office/drawing/2014/main" id="{1970CF1B-476E-A05E-C01A-36E0A7F271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37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117ED9-D329-E29A-1E3F-8EB46064AC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7389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4F8B-E141-2D81-38FD-9B541431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C3B12-0053-C870-1CA9-55D26F07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52036-AEC0-36C6-CC88-BA2C3C17E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Q3.10 Please rate the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you recently saw about </a:t>
            </a:r>
            <a:r>
              <a:rPr lang="en-IN" sz="180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the treatment of N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on-Small Cell Lung Cancer (NSCLC) across the following attributes: 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1 = Did not perform well across attribute // 7 = Performed extremely well across attribute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BBBDF-AB32-05CE-CB0D-848CEF24C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5EB4F-801B-4854-9B6D-13125BC2E0F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1535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510E-B6FE-E102-DF70-8F08B7DD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54E0B-D45F-7790-F80B-30CFF32BF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0B4EE-0EFF-A700-7256-A4D76869B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buNone/>
            </a:pP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Q3.10 Please rate the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you recently saw about 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across the following attributes: </a:t>
            </a: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1 = Did not perform well across attribute // 7 = Performed extremely well across attribute</a:t>
            </a: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50000"/>
              </a:lnSpc>
              <a:buNone/>
            </a:pP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96911-8314-8285-FF07-0584E519A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5EB4F-801B-4854-9B6D-13125BC2E0F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918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C734-6DE4-8051-D164-9C0CF3E3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346F6-C538-0D04-F0D5-0B3ABAD5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16A97-23B2-D88B-E45A-31978775C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Q1.30 </a:t>
            </a:r>
            <a:r>
              <a:rPr lang="en-US" sz="4800" b="0" i="0" u="none" strike="noStrike">
                <a:solidFill>
                  <a:srgbClr val="4E4E4E"/>
                </a:solidFill>
                <a:effectLst/>
                <a:latin typeface="SourceSansPro-Regular"/>
              </a:rPr>
              <a:t>Thinking about the information you recently received via [CHANNEL] about [PRODUCT] for the treatment of [INDICATION], which of the following messages do you specifically recall seeing? Please select all that apply.</a:t>
            </a:r>
            <a:r>
              <a:rPr lang="en-US" sz="4800" b="0" i="0">
                <a:solidFill>
                  <a:srgbClr val="4E4E4E"/>
                </a:solidFill>
                <a:effectLst/>
                <a:latin typeface="SourceSansPro-Regular"/>
              </a:rPr>
              <a:t>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800" b="0" i="0" u="sng" strike="noStrike" kern="1200">
              <a:solidFill>
                <a:srgbClr val="4E4E4E"/>
              </a:solidFill>
              <a:effectLst/>
              <a:latin typeface="SourceSansPro-Regular"/>
              <a:ea typeface="Verdana" panose="020B0604030504040204" pitchFamily="34" charset="0"/>
              <a:cs typeface="+mn-c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800" b="1" i="0" u="none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1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18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180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vs osimertinib: RYBREVANT+LAZCLUZE </a:t>
            </a:r>
            <a:r>
              <a:rPr lang="en-US" sz="180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1800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18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180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1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osimertinib with proven durability</a:t>
            </a:r>
            <a:endParaRPr lang="en-IN" sz="1800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1800" b="1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- m</a:t>
            </a:r>
            <a:r>
              <a:rPr lang="en-IN" sz="1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OS Not Reached - </a:t>
            </a:r>
            <a:r>
              <a:rPr lang="en-US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1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36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Efficacy – CNS - 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3600" b="1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3600" b="1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MoA</a:t>
            </a:r>
            <a:r>
              <a:rPr lang="en-US" sz="36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– Inhibition</a:t>
            </a:r>
            <a:r>
              <a:rPr lang="en-IN" sz="36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- 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1800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Safety – Proactive Therapy Management</a:t>
            </a:r>
            <a:r>
              <a:rPr lang="en-IN" sz="36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- 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3600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SKIPPirr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IN" sz="3600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endParaRPr lang="en-US" sz="1800">
              <a:highlight>
                <a:srgbClr val="FFFFFF"/>
              </a:highlight>
            </a:endParaRPr>
          </a:p>
          <a:p>
            <a:r>
              <a:rPr lang="en-IN" sz="36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NCCN – NSCLC - 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First-line amivantamab-</a:t>
            </a:r>
            <a:r>
              <a:rPr lang="en-US" sz="3600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vmjw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(RYBREVANT®) + lazertinib (LAZCLUZE®) is an NCCN Category 1 recommended treatment option for patients with EGFR+ </a:t>
            </a:r>
            <a:r>
              <a:rPr lang="en-US" sz="3600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mNSCLC</a:t>
            </a:r>
            <a:endParaRPr lang="en-IN" sz="3600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endParaRPr lang="en-IN" sz="3600" b="1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IN" sz="36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NCCN – CNS - 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amivantamab-</a:t>
            </a:r>
            <a:r>
              <a:rPr lang="en-US" sz="3600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vmjw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(RYBREVANT®)-based regimens, including amivantamab-</a:t>
            </a:r>
            <a:r>
              <a:rPr lang="en-US" sz="3600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vmjw</a:t>
            </a:r>
            <a: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(RYBREVANT®) + lazertinib (LAZCLUZE®) are the only NCCN preferred combination options for brain metastases in patients with EGFR+ </a:t>
            </a:r>
            <a:r>
              <a:rPr lang="en-US" sz="3600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mNSCLC</a:t>
            </a:r>
            <a:b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</a:br>
            <a:br>
              <a:rPr lang="en-US" sz="36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</a:br>
            <a:r>
              <a:rPr lang="en-US" sz="4800" b="1" i="1" u="sng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4800" b="1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8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48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4800" kern="120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SKIPPirr</a:t>
            </a:r>
            <a:r>
              <a:rPr lang="en-US" sz="48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4800" b="1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endParaRPr lang="en-IN" sz="4800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osimertinib (HR=0.75 [95% CI: 0.61, 0.92]; P&lt;0.005)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800" b="1"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48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osimertinib (95% CI: 33.4, 41)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7200" b="1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Efficacy – CNS - </a:t>
            </a:r>
            <a:r>
              <a:rPr lang="en-US" sz="7200" kern="12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7200" b="1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7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US" sz="7200" b="1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endParaRPr lang="en-IN" sz="3600" kern="120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algn="l">
              <a:lnSpc>
                <a:spcPct val="115000"/>
              </a:lnSpc>
            </a:pPr>
            <a:endParaRPr lang="en-US" sz="1800" b="0" i="0" u="none" strike="noStrike">
              <a:solidFill>
                <a:srgbClr val="09357A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A2678-BC8D-05CE-557B-B40DFB70B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9388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3AC7-9D4A-67D7-C5EF-C905C338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66A17-7A6E-84F7-9482-69AD89034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8A6E4-F7A4-CED4-9797-B3E2A004C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Q2.10 Thinking about the information you recently received via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which of the following topics were presented? Please select all that apply.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Q2.20 Thinking about the information you recently received via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which of the following messages do you specifically recall seeing? Please select all that apply.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Q3.10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Please rate the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you recently saw about 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across the following attributes: </a:t>
            </a:r>
            <a:br>
              <a:rPr lang="en-US" sz="2800" b="0" i="0">
                <a:solidFill>
                  <a:srgbClr val="4E4E4E"/>
                </a:solidFill>
                <a:effectLst/>
                <a:latin typeface="SourceSansPro-Regular"/>
              </a:rPr>
            </a:br>
            <a:r>
              <a:rPr lang="en-US" sz="2800" b="0" i="0">
                <a:solidFill>
                  <a:srgbClr val="4E4E4E"/>
                </a:solidFill>
                <a:effectLst/>
                <a:latin typeface="SourceSansPro-Regular"/>
              </a:rPr>
              <a:t>1 = Did not perform well across attribute // 7 = Performed extremely well across attribute</a:t>
            </a:r>
          </a:p>
          <a:p>
            <a:pPr marL="0" marR="0">
              <a:lnSpc>
                <a:spcPct val="115000"/>
              </a:lnSpc>
              <a:buNone/>
            </a:pP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Q3.00 Based on the information you recently received via </a:t>
            </a:r>
            <a:r>
              <a:rPr lang="en-US" sz="11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1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1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1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did you take any of the following actions? Please select all that apply.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/>
              <a:t>Q3.20 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Thinking about the information you recently received via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please indicate your perception that best describes the amount of information.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use a scale from 1 to 7 where: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= too short or not detailed enough // 4 = just right amount of detail // 7 = too long or too detailed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________ Perception about amount of 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algn="l">
              <a:lnSpc>
                <a:spcPct val="115000"/>
              </a:lnSpc>
            </a:pPr>
            <a:endParaRPr lang="en-US" sz="6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- </a:t>
            </a: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OS Headline 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osimertinib with proven durability</a:t>
            </a: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6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- m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OS Not Reached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6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is an NCCN Category 1 recommended treatment option for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are the only NCCN preferred combination options for brain metastases in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00" b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</a:pPr>
            <a:endParaRPr lang="en-US" sz="10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6B0C-F845-547D-FAA2-14B2149A3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5EB4F-801B-4854-9B6D-13125BC2E0F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8777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ADF0-016A-1800-ED92-570ACB6D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EB126-AE18-3409-D455-A4630AE23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A5262-ACAC-FB37-D465-11166D135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0220F-EFE9-6F76-775B-AEBBED643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017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BDB8-5A83-B591-E785-5EC74592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538B2-FE80-4329-CB9C-38CB62AF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FE594-7257-70D9-B237-51727C16B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Q2.10 Thinking about the information you recently received via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which of the following topics were presented? Please select all that apply.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Q2.20 Thinking about the information you recently received via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which of the following messages do you specifically recall seeing? Please select all that apply.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Q3.10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Please rate the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you recently saw about 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across the following attributes: </a:t>
            </a:r>
            <a:br>
              <a:rPr lang="en-US" sz="2800" b="0" i="0">
                <a:solidFill>
                  <a:srgbClr val="4E4E4E"/>
                </a:solidFill>
                <a:effectLst/>
                <a:latin typeface="SourceSansPro-Regular"/>
              </a:rPr>
            </a:br>
            <a:r>
              <a:rPr lang="en-US" sz="2800" b="0" i="0">
                <a:solidFill>
                  <a:srgbClr val="4E4E4E"/>
                </a:solidFill>
                <a:effectLst/>
                <a:latin typeface="SourceSansPro-Regular"/>
              </a:rPr>
              <a:t>1 = Did not perform well across attribute // 7 = Performed extremely well across attribute</a:t>
            </a:r>
          </a:p>
          <a:p>
            <a:pPr marL="0" marR="0">
              <a:lnSpc>
                <a:spcPct val="115000"/>
              </a:lnSpc>
              <a:buNone/>
            </a:pP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Q3.00 Based on the information you recently received via </a:t>
            </a:r>
            <a:r>
              <a:rPr lang="en-US" sz="11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1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1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 + </a:t>
            </a:r>
            <a:r>
              <a:rPr lang="en-US" sz="11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1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did you take any of the following actions? Please select all that apply.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/>
              <a:t>Q3.20 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Thinking about the information you recently received via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[CHANNEL]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about </a:t>
            </a:r>
            <a:r>
              <a:rPr lang="en-US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the treatment of </a:t>
            </a:r>
            <a:r>
              <a:rPr lang="en-US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EGFR+ </a:t>
            </a:r>
            <a:r>
              <a:rPr lang="en-US" sz="1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please indicate your perception that best describes the amount of information.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Please use a scale from 1 to 7 where: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= too short or not detailed enough // 4 = just right amount of detail // 7 = too long or too detailed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________ Perception about amount of 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800"/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algn="l">
              <a:lnSpc>
                <a:spcPct val="115000"/>
              </a:lnSpc>
            </a:pPr>
            <a:endParaRPr lang="en-US" sz="8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8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8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sz="20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20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>
                <a:latin typeface="Johnson Text" panose="020B0604020202020204" charset="0"/>
                <a:cs typeface="Johnson Text" panose="020B0604020202020204" charset="0"/>
              </a:rPr>
              <a:t>Safety – Proactive Therapy Management</a:t>
            </a:r>
            <a:r>
              <a:rPr lang="en-IN"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20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IN" sz="20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800"/>
          </a:p>
          <a:p>
            <a:r>
              <a:rPr lang="en-IN"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amivantamab-</a:t>
            </a:r>
            <a:r>
              <a:rPr lang="en-US" sz="20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is an NCCN Category 1 recommended treatment option for patients with EGFR+ </a:t>
            </a:r>
            <a:r>
              <a:rPr lang="en-US" sz="20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20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20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</a:t>
            </a:r>
            <a:r>
              <a:rPr lang="en-US" sz="20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amivantamab-</a:t>
            </a:r>
            <a:r>
              <a:rPr lang="en-US" sz="20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are the only NCCN preferred combination options for brain metastases in patients with EGFR+ </a:t>
            </a:r>
            <a:r>
              <a:rPr lang="en-US" sz="20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20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>
              <a:lnSpc>
                <a:spcPct val="115000"/>
              </a:lnSpc>
            </a:pPr>
            <a:endParaRPr lang="en-US" sz="12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66B2-B25E-AC73-0A1A-7DBFFDE08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5EB4F-801B-4854-9B6D-13125BC2E0F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8990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8FFB-C8F5-5226-A5F2-6836327F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7C946-7115-E070-556E-A2BBDCE19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84E41-DA08-AC62-95F4-A98B0D7F9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9463E-35B7-754C-8A7D-AE50E63C2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1262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6E367-EEDE-2529-D64F-98A18029A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68996-77FC-0EBC-C308-A274D4A3C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394E9-FD4A-5A93-4A43-C761DD57B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 i="0" u="none" strike="noStrike">
                <a:solidFill>
                  <a:srgbClr val="000000"/>
                </a:solidFill>
                <a:effectLst/>
                <a:latin typeface="Abadi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endParaRPr lang="en-US" sz="3600"/>
          </a:p>
          <a:p>
            <a:endParaRPr lang="en-US"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vs osimertinib: RYBREVANT+LAZCLUZE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6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osimertinib with proven durability</a:t>
            </a: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6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7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6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Johnson Text" panose="020B0604020202020204" charset="0"/>
              </a:rPr>
              <a:t> </a:t>
            </a:r>
            <a:r>
              <a:rPr lang="en-IN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6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5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>
                <a:latin typeface="Johnson Text" panose="020B0604020202020204" charset="0"/>
                <a:cs typeface="Johnson Text" panose="020B0604020202020204" charset="0"/>
              </a:rPr>
              <a:t>Safety – Proactive Therapy Management</a:t>
            </a: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is an NCCN Category 1 recommended treatment option for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are the only NCCN preferred combination options for brain metastases in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4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4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osimertinib (HR=0.75 [95% CI: 0.61, 0.92]; P&lt;0.005)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8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4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osimertinib (95% CI: 33.4, 41)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2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2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2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US" sz="2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49CC0-B00A-B417-5BB6-2DB55791B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5578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FC42-F884-E8D5-1C9B-7E6D2C91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FDA91-3146-369E-4041-1B74BBC55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DFC63-98F8-BECC-AFDE-1F97A438A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36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36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36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B. How believable each message is in conveying a benefit of the product</a:t>
            </a:r>
          </a:p>
          <a:p>
            <a:pPr rtl="0"/>
            <a:r>
              <a:rPr lang="en-GB" sz="36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C. How motivating the conveyed benefit is in terms of your intent to prescribe the product</a:t>
            </a:r>
          </a:p>
          <a:p>
            <a:endParaRPr lang="en-US" sz="3600"/>
          </a:p>
          <a:p>
            <a:endParaRPr lang="en-US"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vs osimertinib: RYBREVANT+LAZCLUZE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6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osimertinib with proven durability</a:t>
            </a: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6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7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6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5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>
                <a:latin typeface="Johnson Text" panose="020B0604020202020204" charset="0"/>
                <a:cs typeface="Johnson Text" panose="020B0604020202020204" charset="0"/>
              </a:rPr>
              <a:t>Safety – Proactive Therapy Management</a:t>
            </a: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is an NCCN Category 1 recommended treatment option for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amivantamab-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lazertinib (LAZCLUZE®) are the only NCCN preferred combination options for brain metastases in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4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4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osimertinib (HR=0.75 [95% CI: 0.61, 0.92]; P&lt;0.005)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8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4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osimertinib (95% CI: 33.4, 41)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2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2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2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US" sz="2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E661F-B672-3C02-D481-0C525E814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1480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Abadi"/>
              </a:rPr>
              <a:t>Q1.87 </a:t>
            </a:r>
            <a:r>
              <a:rPr lang="en-GB" sz="1200" b="0" i="0" u="none" strike="noStrike">
                <a:solidFill>
                  <a:srgbClr val="000000"/>
                </a:solidFill>
                <a:effectLst/>
                <a:latin typeface="Abadi"/>
              </a:rPr>
              <a:t>Please rate the [COMPANY] sales rep across each of the following attributes based on your most recent interaction discussing [PRODUCT] for [INDICATION].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>
                <a:solidFill>
                  <a:srgbClr val="000000"/>
                </a:solidFill>
                <a:effectLst/>
                <a:latin typeface="Abadi"/>
              </a:rPr>
              <a:t>Please use the scale below: 1 = Performed poorly // 7 = Performed extremely well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>
              <a:solidFill>
                <a:srgbClr val="000000"/>
              </a:solidFill>
              <a:effectLst/>
              <a:latin typeface="Abadi"/>
            </a:endParaRPr>
          </a:p>
          <a:p>
            <a:pPr>
              <a:lnSpc>
                <a:spcPct val="115000"/>
              </a:lnSpc>
            </a:pPr>
            <a:r>
              <a:rPr lang="en-IN" sz="20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Sample Size(s):      RYB             TAG</a:t>
            </a:r>
            <a:r>
              <a:rPr lang="en-US" sz="1200" b="0" i="0" u="none" strike="noStrike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				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Q3’24 	        76                61	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Q4’24	        82                45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Q1’25	        100              68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Q2’25	        105              70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Q3’25	        103              73</a:t>
            </a:r>
          </a:p>
          <a:p>
            <a:pPr>
              <a:spcAft>
                <a:spcPts val="800"/>
              </a:spcAft>
              <a:defRPr/>
            </a:pPr>
            <a:r>
              <a:rPr lang="en-US" sz="1200" b="0" i="0" u="none" strike="noStrike">
                <a:solidFill>
                  <a:srgbClr val="212529"/>
                </a:solidFill>
                <a:effectLst/>
                <a:latin typeface="Roboto" panose="02000000000000000000" pitchFamily="2" charset="0"/>
                <a:ea typeface="Roboto"/>
                <a:cs typeface="Roboto"/>
              </a:rPr>
              <a:t>Q4’25	        100              73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>
              <a:solidFill>
                <a:srgbClr val="000000"/>
              </a:solidFill>
              <a:effectLst/>
              <a:latin typeface="Abadi"/>
            </a:endParaRP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1084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271A-C4E4-CF7F-12D3-9EBC64C6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F5D76-4F5F-E782-3C1E-D04F1439C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78DED-0F3E-EC26-E3BB-0C6AACEA1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Q1.85d After your most recent interaction with the [COMPANY] sales rep, how likely are you to increase your prescribing of [PRODUCT] for the following patient groups?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1DD9F-23EF-B528-5513-FB8995E17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5121F-6AC0-7FBB-75C6-AA19A5497A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8213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F86A-C4D6-AEF1-B971-7AC90F12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6651A-345E-541E-F672-2EE10CAC6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EF8A3-A11F-2BE4-388D-1C6A22134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Q1.84f After your most recent interaction with the </a:t>
            </a:r>
            <a:r>
              <a:rPr lang="en-US" sz="1200" b="0" i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[COMPANY]</a:t>
            </a:r>
            <a:r>
              <a:rPr lang="en-US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sales representative, did the sales representative set-up a follow up connect with another </a:t>
            </a:r>
            <a:r>
              <a:rPr lang="en-US" sz="1200" b="0" i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[COMPANY]</a:t>
            </a:r>
            <a:r>
              <a:rPr lang="en-US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representative? Please select all that apply. </a:t>
            </a:r>
            <a:endParaRPr lang="en-IN">
              <a:latin typeface="Johnson Text (Body)"/>
            </a:endParaRPr>
          </a:p>
          <a:p>
            <a:pPr>
              <a:lnSpc>
                <a:spcPct val="115000"/>
              </a:lnSpc>
            </a:pPr>
            <a:endParaRPr lang="en-IN">
              <a:latin typeface="Johnson Text (Bod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E6E5-0C84-745A-7DBD-BD9253885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095B2-E43C-D383-6656-E709DD374B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8502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00A5-092D-5AFF-89A4-3EFA45D1A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1201A-FB26-831B-1A9B-3876E67A6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FFA07-65F4-CE0B-A20C-3553238F0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8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8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8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B. How believable each message is in conveying a benefit of the product</a:t>
            </a:r>
          </a:p>
          <a:p>
            <a:pPr rtl="0"/>
            <a:r>
              <a:rPr lang="en-GB" sz="800" b="0" i="0" u="none" strike="noStrike" kern="1200" dirty="0">
                <a:solidFill>
                  <a:schemeClr val="tx1"/>
                </a:solidFill>
                <a:effectLst/>
                <a:latin typeface="Verdana"/>
                <a:ea typeface="Verdana"/>
              </a:rPr>
              <a:t>C. How motivating the conveyed benefit is in terms of your intent to prescribe the product</a:t>
            </a:r>
          </a:p>
          <a:p>
            <a:pPr>
              <a:lnSpc>
                <a:spcPct val="115000"/>
              </a:lnSpc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Q2.21A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You indicated that the following message was </a:t>
            </a: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highly motivating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 terms of your intent to prescribe </a:t>
            </a:r>
            <a:r>
              <a:rPr lang="en-US" sz="1800" dirty="0">
                <a:effectLst/>
                <a:highlight>
                  <a:srgbClr val="C0C0C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Please highlight specific part(s) of the message that you feel are motivating. Once you highlight a part, you will then be prompted to indicate why you selected that part of the message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US" sz="1800" b="1" dirty="0">
                <a:effectLst/>
                <a:highlight>
                  <a:srgbClr val="C0C0C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[Message]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Note: Please note you can highlight specific words and/or phrases. </a:t>
            </a:r>
          </a:p>
          <a:p>
            <a:pPr algn="l">
              <a:lnSpc>
                <a:spcPct val="115000"/>
              </a:lnSpc>
            </a:pPr>
            <a:endParaRPr lang="en-IN" sz="8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11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1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Safety – Proactive Therapy Management</a:t>
            </a:r>
            <a:r>
              <a:rPr lang="en-IN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1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osimertinib (HR=0.75 [95% CI: 0.61, 0.92]; P&lt;0.005)</a:t>
            </a:r>
          </a:p>
          <a:p>
            <a:pPr algn="l">
              <a:lnSpc>
                <a:spcPct val="115000"/>
              </a:lnSpc>
            </a:pPr>
            <a:endParaRPr lang="en-IN" sz="8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  <a:endParaRPr lang="en-US" sz="18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58BA2-468D-1795-9861-C92403C1F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BB9DE7-DF19-4175-807D-FE48E580280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1660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8762-2117-4CF5-A857-C6B0B94B6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013CF-C744-CE38-AE6C-3058D8313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A96AB-5EBB-68A6-CDE1-BC585CFB7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latin typeface="Johnson Text (Body)"/>
                <a:ea typeface="Verdana" panose="020B0604030504040204" pitchFamily="34" charset="0"/>
              </a:rPr>
              <a:t>Q2.10 The following is a list of [PRODUCT] sales messages for [INDICATION]. Please indicate which of these messages you specifically recall hearing during your most recent interaction with the [COMPANY] sales rep. Please select all that apply.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B. How believable each message is in conveying a benefit of the product</a:t>
            </a:r>
          </a:p>
          <a:p>
            <a:pPr rtl="0"/>
            <a:r>
              <a:rPr lang="en-GB" sz="3600" b="0" i="0" u="none" strike="noStrike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C. How motivating the conveyed benefit is in terms of your intent to prescribe the product</a:t>
            </a:r>
          </a:p>
          <a:p>
            <a:pPr rtl="0">
              <a:spcBef>
                <a:spcPts val="400"/>
              </a:spcBef>
              <a:spcAft>
                <a:spcPts val="1000"/>
              </a:spcAft>
            </a:pPr>
            <a:endParaRPr lang="en-GB" sz="4800" b="0" i="0" u="none" strike="noStrike" dirty="0">
              <a:solidFill>
                <a:srgbClr val="4E4E4E"/>
              </a:solidFill>
              <a:effectLst/>
              <a:latin typeface="Johnson Text (Body)"/>
              <a:ea typeface="Verdana" panose="020B0604030504040204" pitchFamily="34" charset="0"/>
              <a:cs typeface="Verdana"/>
              <a:sym typeface="Verdana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1" i="1" u="sng" strike="noStrike" kern="1200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GB" sz="1000" b="1" i="1" u="sng" strike="noStrike" kern="1200" spc="0" baseline="0" dirty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Combination Therapy - Higher PFS</a:t>
            </a: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TAGRISSO + chemotherapy demonstrated a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of 29.4mo vs 19.9mo with TAGRISSO monotherapy (Blinded Independent Central Review) and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of 25.5mo vs 16.7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TAGRISSO monotherapy (Investigator Assessed)</a:t>
            </a: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Higher PFS in CNS Metastasis -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 patients with CNS metastasis at diagnosis, TAGRISSO + chemotherapy demonstrated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benefit of 24.9mo vs 13.8mo with TAGRISSO monotherapy</a:t>
            </a:r>
            <a:endParaRPr lang="en-IN" sz="1800" b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IN" sz="1800" b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OS analysis: 47.5 months (approximately 4 years)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49% of patients alive at 4 years with TAGRISSO + chemotherapy.</a:t>
            </a:r>
          </a:p>
          <a:p>
            <a:br>
              <a:rPr lang="en-US" sz="1800" dirty="0"/>
            </a:b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Safety – Discontinuation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89% of patients in the TAGRISSO + chemotherapy arm were able to stay on treatment without discontinuation due to treatment-related Ars</a:t>
            </a:r>
          </a:p>
          <a:p>
            <a:br>
              <a:rPr lang="en-US" sz="1800" dirty="0"/>
            </a:b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Safety - AR Grades -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 patients taking TAGRISSO + chemotherapy, the majority of adverse reactions were Grade 1 or 2</a:t>
            </a:r>
            <a:endParaRPr lang="en-IN" sz="1800" b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IN" sz="1800" b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Safety – ARs -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onset frequency and severity of common adverse reactions to TAGRISSO + chemotherapy, decreased from the induction to maintenance periods</a:t>
            </a:r>
            <a:endParaRPr lang="en-IN" sz="1800" b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IN" sz="1800" b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 Exposure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TAGRISSO + chemotherapy arm of FLAURA2; median exposure was 30.5 months for TAGRISSO and 8.3 months for pemetrexed.</a:t>
            </a:r>
          </a:p>
          <a:p>
            <a:br>
              <a:rPr lang="en-US" dirty="0"/>
            </a:b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Longest 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mPFS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OS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Longest reported median progression-free and overall survival with TAGRISSO + chemotherapy.</a:t>
            </a:r>
          </a:p>
          <a:p>
            <a:br>
              <a:rPr lang="en-US" dirty="0"/>
            </a:b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Guidelines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TAGRISSO alone and in combination with chemotherapy hold NCCN Category 1 recommendations for 1L treatment of EGFRm NSCLC.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TAGRISSO offers convenient, once-daily oral dosing with the option to be used as monotherapy or with the addition of chemo therapy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PFS 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TAGRISSO with the addition of chemotherapy demonstrated a 43% reduction in the risk of death or progression in patients with ≥3 metastatic sites at baseline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7D874-809A-E5A3-2B5E-8E10EE38E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6ED95-4B9D-45DE-9661-B09CAEEA805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3092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BEB7A-4EEA-5EA1-0559-D4C84BE3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DAE86-C1B2-7F48-3228-0749F5DFA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9D579-0641-3568-28A3-5679A5631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Q2.20. Please consider the following [PRODUCT] sales messages below. Now, using a scale from 1 to 7, where 1 means "Not at all" and a 7 means "Extremely", please indicate: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A. How differentiated you feel each message is compared to messages about competing or comparable products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B. How believable each message is in conveying a benefit of the product</a:t>
            </a:r>
          </a:p>
          <a:p>
            <a:pPr rtl="0"/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Verdana"/>
                <a:ea typeface="Verdana"/>
              </a:rPr>
              <a:t>C. How motivating the conveyed benefit is in terms of your intent to prescribe the product</a:t>
            </a:r>
          </a:p>
          <a:p>
            <a:endParaRPr lang="en-US"/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8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GB" sz="800" b="1" i="1" u="sng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Combination Therapy - Higher PFS</a:t>
            </a:r>
            <a:r>
              <a:rPr lang="en-IN" sz="12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TAGRISSO + chemotherapy demonstrated a </a:t>
            </a:r>
            <a:r>
              <a:rPr lang="en-US" sz="120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of 29.4mo vs 19.9mo with TAGRISSO monotherapy (Blinded Independent Central Review) and </a:t>
            </a:r>
            <a:r>
              <a:rPr lang="en-US" sz="120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of 25.5mo vs 16.7 </a:t>
            </a:r>
            <a:r>
              <a:rPr lang="en-US" sz="120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TAGRISSO monotherapy (Investigator Assessed)</a:t>
            </a: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Higher PFS in CNS Metastasis - 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 patients with CNS metastasis at diagnosis, TAGRISSO + chemotherapy demonstrated </a:t>
            </a:r>
            <a:r>
              <a:rPr lang="en-US" sz="120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benefit of 24.9mo vs 13.8mo with TAGRISSO monotherapy</a:t>
            </a:r>
            <a:endParaRPr lang="en-IN" sz="1200" b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IN" sz="1200" b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2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- 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OS analysis: 47.5 months (approximately 4 years) </a:t>
            </a:r>
            <a:r>
              <a:rPr lang="en-US" sz="10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49% of patients alive at 4 years with TAGRISSO + chemotherapy.</a:t>
            </a:r>
          </a:p>
          <a:p>
            <a:br>
              <a:rPr lang="en-US" sz="1200"/>
            </a:br>
            <a:r>
              <a:rPr lang="en-IN" sz="12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Safety – Discontinuation - 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89% of patients in the TAGRISSO + chemotherapy arm were able to stay on treatment without discontinuation due to treatment-related Ars</a:t>
            </a:r>
          </a:p>
          <a:p>
            <a:br>
              <a:rPr lang="en-US" sz="1200"/>
            </a:br>
            <a:r>
              <a:rPr lang="en-IN" sz="12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Safety - AR Grades - 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 patients taking TAGRISSO + chemotherapy, the majority of adverse reactions were Grade 1 or 2</a:t>
            </a:r>
            <a:endParaRPr lang="en-IN" sz="1200" b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IN" sz="1200" b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200" b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Safety – ARs - </a:t>
            </a:r>
            <a:r>
              <a:rPr lang="en-US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onset frequency and severity of common adverse reactions to TAGRISSO + chemotherapy, decreased from the induction to maintenance periods</a:t>
            </a:r>
            <a:endParaRPr lang="en-IN" sz="1200" b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IN" sz="1200" b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 Exposure</a:t>
            </a:r>
            <a:r>
              <a:rPr lang="en-IN" sz="1000" b="1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IN" sz="10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TAGRISSO + chemotherapy arm of FLAURA2; median exposure was 30.5 months for TAGRISSO and 8.3 months for pemetrexed.</a:t>
            </a:r>
          </a:p>
          <a:p>
            <a:br>
              <a:rPr lang="en-US"/>
            </a:br>
            <a:r>
              <a:rPr lang="en-IN" sz="1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Longest </a:t>
            </a:r>
            <a:r>
              <a:rPr lang="en-IN" sz="10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mPFS</a:t>
            </a:r>
            <a:r>
              <a:rPr lang="en-IN" sz="1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OS </a:t>
            </a:r>
            <a:r>
              <a:rPr lang="en-IN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Longest reported median progression-free and overall survival with TAGRISSO + chemotherapy.</a:t>
            </a:r>
          </a:p>
          <a:p>
            <a:br>
              <a:rPr lang="en-US"/>
            </a:br>
            <a:r>
              <a:rPr lang="en-IN" sz="1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Guidelines </a:t>
            </a:r>
            <a:r>
              <a:rPr lang="en-IN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TAGRISSO alone and in combination with chemotherapy hold NCCN Category 1 recommendations for 1L treatment of EGFRm NSCLC.</a:t>
            </a:r>
          </a:p>
          <a:p>
            <a:endParaRPr lang="en-US" sz="10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Dosing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TAGRISSO offers convenient, once-daily oral dosing with the option to be used as monotherapy or with the addition of chemo therapy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PFS -</a:t>
            </a: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TAGRISSO with the addition of chemotherapy demonstrated a 43% reduction in the risk of death or progression in patients with ≥3 metastatic sites at baseline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2693F-5777-3FA5-E05F-94A4051EE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2B1C-9630-8420-C19F-5623825FAD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1408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05C7-B5CB-3E3B-2F40-91BDBCD6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04486-8A6A-8FA0-09B3-B42B79D87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EF7A8-D1AF-319F-4280-C5B73DCBC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Q1.50 Which of the following topics were discussed during your most recent interaction with the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sales rep while discussing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</a:t>
            </a:r>
            <a:r>
              <a:rPr lang="en-IN" sz="1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[INDICATION]</a:t>
            </a:r>
            <a:r>
              <a:rPr lang="en-IN" sz="1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? Please select all that apply.</a:t>
            </a:r>
            <a:endParaRPr lang="en-IN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b="0" i="0">
                <a:solidFill>
                  <a:srgbClr val="212529"/>
                </a:solidFill>
                <a:effectLst/>
                <a:latin typeface="Johnson Text (Body)"/>
              </a:rPr>
              <a:t>Q1.60 Which of these topics would you have liked to hear more during your most recent interaction with the COMPANY sales rep while discussing PRODUCT? Please select all that apply.</a:t>
            </a:r>
            <a:endParaRPr lang="en-IN">
              <a:latin typeface="Johnson Text (Bod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2C997-BECD-ED49-B941-FE4EEEB30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5CBB-A718-4AE1-97B2-F1752A61E6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65863-1D64-62E5-38EE-A8328A8C2A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3260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C6FF6010-A216-63B0-6FD6-46F0C54F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:notes">
            <a:extLst>
              <a:ext uri="{FF2B5EF4-FFF2-40B4-BE49-F238E27FC236}">
                <a16:creationId xmlns:a16="http://schemas.microsoft.com/office/drawing/2014/main" id="{35DBDF99-3010-482A-431B-6F4BF0C6A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2:notes">
            <a:extLst>
              <a:ext uri="{FF2B5EF4-FFF2-40B4-BE49-F238E27FC236}">
                <a16:creationId xmlns:a16="http://schemas.microsoft.com/office/drawing/2014/main" id="{B43958D3-0A03-7945-5C04-9A293EF5D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Q1.30 </a:t>
            </a:r>
            <a:r>
              <a:rPr lang="en-US" sz="2800" b="0" i="0" u="none" strike="noStrike">
                <a:solidFill>
                  <a:srgbClr val="4E4E4E"/>
                </a:solidFill>
                <a:effectLst/>
                <a:latin typeface="SourceSansPro-Regular"/>
              </a:rPr>
              <a:t>Thinking about the information you recently received via [CHANNEL] about [PRODUCT] for the treatment of [INDICATION], which of the following messages do you specifically recall seeing? Please select all that apply.</a:t>
            </a:r>
            <a:r>
              <a:rPr lang="en-US" sz="2800" b="0" i="0">
                <a:solidFill>
                  <a:srgbClr val="4E4E4E"/>
                </a:solidFill>
                <a:effectLst/>
                <a:latin typeface="SourceSansPro-Regular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Q2.10 The following is a list of messages about </a:t>
            </a:r>
            <a:r>
              <a:rPr lang="en-IN" sz="2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[PRODUCT]</a:t>
            </a:r>
            <a:r>
              <a:rPr lang="en-IN" sz="2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for EGFR+ </a:t>
            </a:r>
            <a:r>
              <a:rPr lang="en-IN" sz="2800" err="1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mNSCLC</a:t>
            </a:r>
            <a:r>
              <a:rPr lang="en-IN" sz="2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. Please indicate which of these messages you specifically recall hearing during your most recent interaction with the </a:t>
            </a:r>
            <a:r>
              <a:rPr lang="en-IN" sz="2800">
                <a:effectLst/>
                <a:highlight>
                  <a:srgbClr val="D3D3D3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[COMPANY]</a:t>
            </a:r>
            <a:r>
              <a:rPr lang="en-IN" sz="2800"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sales rep. Please select all that apply.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b="0" i="0" u="sng" strike="noStrike" kern="1200">
              <a:solidFill>
                <a:srgbClr val="4E4E4E"/>
              </a:solidFill>
              <a:effectLst/>
              <a:latin typeface="SourceSansPro-Regular"/>
              <a:ea typeface="Verdana" panose="020B0604030504040204" pitchFamily="34" charset="0"/>
              <a:cs typeface="+mn-cs"/>
            </a:endParaRPr>
          </a:p>
          <a:p>
            <a:endParaRPr lang="en-US"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b="1" i="1" u="sng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ea typeface="Verdana"/>
              </a:rPr>
              <a:t>Full Message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" b="1" i="1" u="sng" strike="noStrike" kern="1200" spc="0" baseline="0">
              <a:ln>
                <a:noFill/>
              </a:ln>
              <a:solidFill>
                <a:srgbClr val="000000"/>
              </a:solidFill>
              <a:effectLst/>
              <a:latin typeface="Verdana"/>
              <a:ea typeface="Verdana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Efficacy – </a:t>
            </a:r>
            <a:r>
              <a:rPr lang="en-US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- 7.1 months improvement in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vs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osimertinib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RYBREVANT+LAZCLUZE </a:t>
            </a:r>
            <a:r>
              <a:rPr lang="en-US" sz="60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mPFS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was 23.7 months (95% CI: 19.1, 27.7) vs 16.6 months (95% CI: 14.8, 18.5) for Osimertinib</a:t>
            </a:r>
          </a:p>
          <a:p>
            <a:pPr algn="l">
              <a:lnSpc>
                <a:spcPct val="115000"/>
              </a:lnSpc>
            </a:pP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Safety – ARs</a:t>
            </a:r>
            <a:r>
              <a:rPr lang="en-IN" sz="600" b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ARs occurred most frequently during the first 4 months and declined over the next 4 months</a:t>
            </a:r>
          </a:p>
          <a:p>
            <a:pPr algn="l">
              <a:lnSpc>
                <a:spcPct val="115000"/>
              </a:lnSpc>
            </a:pPr>
            <a:endParaRPr lang="en-US" sz="60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Indication - </a:t>
            </a:r>
            <a:r>
              <a:rPr lang="en-US" sz="6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RYBREVANT+LAZCLUZE is indicated for the first-line treatment of adult patients with locally advanced or metastatic EGFR+ NSCLC</a:t>
            </a: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US" sz="600" b="1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Unmatched survival: RYBREVANT® + LAZCLUZE® delivers superior overall survival vs </a:t>
            </a:r>
            <a:r>
              <a:rPr lang="en-US" sz="6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with proven durability</a:t>
            </a:r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6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7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6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6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not reached and projected to exceed 4 years</a:t>
            </a:r>
          </a:p>
          <a:p>
            <a:pPr algn="l">
              <a:lnSpc>
                <a:spcPct val="115000"/>
              </a:lnSpc>
            </a:pPr>
            <a:endParaRPr lang="en-IN" sz="6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Intracranial PFS at 36 months: 36% with RYBREVANT® + LAZCLUZE® and 18% with Osimertinib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5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</a:t>
            </a:r>
            <a:r>
              <a:rPr lang="en-US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Inhibition</a:t>
            </a:r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RYBREVANT® + LAZCLUZE® changes the biology of disease by reducing MET amplification and secondary EGFR alterations as a chemo-free, multi-targeted combination with immune cell-directing activity</a:t>
            </a:r>
          </a:p>
          <a:p>
            <a:endParaRPr lang="en-IN" sz="6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proactive therapy management to help optimize outcomes.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</a:p>
          <a:p>
            <a:endParaRPr lang="en-US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NSCLC - 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First-line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is an NCCN Category 1 recommended treatment option for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IN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05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05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NCCN – CNS -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(RYBREVANT®)-based regimens, including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amivantamab-vmjw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(RYBREVANT®) 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lazertinib</a:t>
            </a:r>
            <a:r>
              <a:rPr lang="en-US" sz="105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(LAZCLUZE®) are the only NCCN preferred combination options for brain metastases in patients with EGFR+ </a:t>
            </a:r>
            <a:r>
              <a:rPr lang="en-US" sz="105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mNSCLC</a:t>
            </a:r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5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1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Message Text:</a:t>
            </a:r>
          </a:p>
          <a:p>
            <a:endParaRPr lang="en-US" sz="1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– Prophylaxis protocol - </a:t>
            </a:r>
            <a:r>
              <a:rPr lang="en-US"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Proactive therapy management may help reduce the incidence and severity of IRR, dermatological AEs and VTE. </a:t>
            </a:r>
            <a:r>
              <a:rPr lang="en-US" sz="14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SKIPPirr</a:t>
            </a:r>
            <a:r>
              <a:rPr lang="en-US"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COCOON were two phase 2 trials evaluating prophylaxis strategies to reduce the incidence of infusion-related reactions and dermatologic ARs, respectively</a:t>
            </a:r>
            <a:endParaRPr lang="en-US" sz="1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sz="14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Efficacy - OS Headline 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RYBREVANT® + LAZCLUZE®: the first and only regimen to achieve statistically significant overall survival improvement vs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(HR=0.75 [95% CI: 0.61, 0.92]; P&lt;0.005)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800" b="1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lang="en-IN" sz="1400" b="1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hnson Text" panose="020B0604020202020204" charset="0"/>
                <a:cs typeface="Johnson Text" panose="020B0604020202020204" charset="0"/>
              </a:rPr>
              <a:t>Efficacy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800" b="1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mOS</a:t>
            </a:r>
            <a:r>
              <a:rPr lang="en-IN" sz="8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Not Reached - 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Median overall survival was not reached with RYBREVANT® + LAZCLUZE® (95% CI: 42.9, NR) vs 36.7 months with </a:t>
            </a:r>
            <a:r>
              <a:rPr lang="en-US" sz="8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osimertinib</a:t>
            </a:r>
            <a:r>
              <a:rPr lang="en-US" sz="80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 (95% CI: 33.4, 41)</a:t>
            </a:r>
          </a:p>
          <a:p>
            <a:pPr algn="l">
              <a:lnSpc>
                <a:spcPct val="115000"/>
              </a:lnSpc>
            </a:pPr>
            <a:endParaRPr lang="en-IN" sz="800" b="1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IN" sz="2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Efficacy – CNS - </a:t>
            </a:r>
            <a:r>
              <a:rPr lang="en-US"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Intracranial PFS at 36 months was 36% with RYBREVANT® + LAZCLUZE® and 18% with Osimertinib</a:t>
            </a:r>
          </a:p>
          <a:p>
            <a:endParaRPr lang="en-US" sz="2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MOA- Inhibition- </a:t>
            </a:r>
            <a:r>
              <a:rPr lang="en-US" sz="2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Multitargeted inhibition with a chemotherapy-sparing regimen: RYBREVANT® + LAZCLUZE® is a bispecific antibody with immune cell-directing activity with its suitable, CNS-penetrant combination partner</a:t>
            </a:r>
          </a:p>
          <a:p>
            <a:endParaRPr lang="en-US" sz="2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90" name="Google Shape;490;p12:notes">
            <a:extLst>
              <a:ext uri="{FF2B5EF4-FFF2-40B4-BE49-F238E27FC236}">
                <a16:creationId xmlns:a16="http://schemas.microsoft.com/office/drawing/2014/main" id="{F30A55F2-C951-2041-E7BE-49397D9F72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56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81849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1416-C4CF-0D78-8C5B-FED71495B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13B9F-4525-5B5A-3AAA-6CB31BB7E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635F6-B882-EC44-A690-C551923F9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Q2.15 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For the information you recently received via [CHANNEL] about [PRODUCT] for the treatment of EGFR+ metastatic non-small cell lung cancer (NSCLC), did you take any of the following actions? Please select all that apply.</a:t>
            </a:r>
            <a:r>
              <a:rPr lang="en-US" b="0" i="0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​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B8A40-B687-709D-C379-F77E8F3C5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5EB4F-801B-4854-9B6D-13125BC2E0F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4917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F52EAD11-78E8-4B4F-8454-6D7B17B1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:notes">
            <a:extLst>
              <a:ext uri="{FF2B5EF4-FFF2-40B4-BE49-F238E27FC236}">
                <a16:creationId xmlns:a16="http://schemas.microsoft.com/office/drawing/2014/main" id="{6B5FAC33-8499-0990-046A-588FFB8C7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2:notes">
            <a:extLst>
              <a:ext uri="{FF2B5EF4-FFF2-40B4-BE49-F238E27FC236}">
                <a16:creationId xmlns:a16="http://schemas.microsoft.com/office/drawing/2014/main" id="{F5AF38B6-9490-5DFE-3BB8-BEEDF560D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24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90" name="Google Shape;490;p12:notes">
            <a:extLst>
              <a:ext uri="{FF2B5EF4-FFF2-40B4-BE49-F238E27FC236}">
                <a16:creationId xmlns:a16="http://schemas.microsoft.com/office/drawing/2014/main" id="{56E65F1C-C542-75E3-C200-534A405EAF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58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0203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emf"/><Relationship Id="rId4" Type="http://schemas.openxmlformats.org/officeDocument/2006/relationships/tags" Target="../tags/tag5.xml"/><Relationship Id="rId9" Type="http://schemas.openxmlformats.org/officeDocument/2006/relationships/oleObject" Target="../embeddings/oleObject1.bin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emf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2.xml"/></Relationships>
</file>

<file path=ppt/slideLayouts/_rels/slideLayout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5.xml"/><Relationship Id="rId7" Type="http://schemas.openxmlformats.org/officeDocument/2006/relationships/oleObject" Target="../embeddings/oleObject4.bin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7.xml"/><Relationship Id="rId10" Type="http://schemas.openxmlformats.org/officeDocument/2006/relationships/image" Target="../media/image4.svg"/><Relationship Id="rId4" Type="http://schemas.openxmlformats.org/officeDocument/2006/relationships/tags" Target="../tags/tag36.xml"/><Relationship Id="rId9" Type="http://schemas.openxmlformats.org/officeDocument/2006/relationships/image" Target="../media/image3.pn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8.xml"/><Relationship Id="rId4" Type="http://schemas.openxmlformats.org/officeDocument/2006/relationships/image" Target="../media/image5.emf"/></Relationships>
</file>

<file path=ppt/slideLayouts/_rels/slideLayout18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1.emf"/><Relationship Id="rId4" Type="http://schemas.openxmlformats.org/officeDocument/2006/relationships/tags" Target="../tags/tag42.xml"/><Relationship Id="rId9" Type="http://schemas.openxmlformats.org/officeDocument/2006/relationships/oleObject" Target="../embeddings/oleObject3.bin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00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71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87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49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50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53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0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44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92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70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49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63019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1080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01344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59441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46361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28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54749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03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03408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2754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14097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078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42954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583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374472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5943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9510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8450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23881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44281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783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53028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690887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655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3959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3658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5162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6301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338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940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648018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041841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631630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0125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5658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19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258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3845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840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670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5037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7071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705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7934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9470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555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9901880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911094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214835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842159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623369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971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1004929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6789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80628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07939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412127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23145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725385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83493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226136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9526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32767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19570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7126261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50623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383342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148759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5020393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65289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6407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24724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387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4158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9338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0845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779833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099552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8532713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9286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4559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2390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94803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0683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14330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2568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0761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20180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82823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47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9692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0059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4284520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51561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845009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623905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5340955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00585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9169154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4282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244509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869189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263823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293473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5246594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1882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5488921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39489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6199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22502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900185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2126644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7957503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661152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888967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78598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3982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0992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553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0462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2348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30737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39850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7751503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5979965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856785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12696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7780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8C102A5-AB13-44B0-9420-5F12F2C87FE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499" b="1" i="0" baseline="0">
              <a:solidFill>
                <a:schemeClr val="bg1"/>
              </a:solidFill>
              <a:latin typeface="Johnson Text" panose="020B060402020202020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4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571096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799" b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43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43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9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CB70C099-E1CF-467B-80FE-DF6BA9D2718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3278318" y="6417023"/>
            <a:ext cx="5653077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1202315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67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03175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87197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5258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49018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19545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20791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80218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8794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38111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21896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71750303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535636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928189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4203694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0337350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4726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07646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18832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118736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067192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614673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294076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2089071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35883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4508999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0451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92167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707722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924375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9346580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5496599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941206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1754913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1593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77552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76239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59457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48916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97000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52031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0317373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4862949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201777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42719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79615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3" imgH="416" progId="TCLayout.ActiveDocument.1">
                  <p:embed/>
                </p:oleObj>
              </mc:Choice>
              <mc:Fallback>
                <p:oleObj name="think-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667596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90DC07-B155-92C5-F4DF-233EB52B3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7148" b="22096"/>
          <a:stretch/>
        </p:blipFill>
        <p:spPr bwMode="ltGray">
          <a:xfrm>
            <a:off x="4177747" y="0"/>
            <a:ext cx="7924802" cy="6858000"/>
          </a:xfrm>
          <a:prstGeom prst="rect">
            <a:avLst/>
          </a:pr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1943" y="5421345"/>
            <a:ext cx="3625806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3" y="2363220"/>
            <a:ext cx="63949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ltGray">
          <a:xfrm>
            <a:off x="551942" y="262671"/>
            <a:ext cx="63949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D0AD214D-870F-455B-A940-5D60DFFB90E4}"/>
              </a:ext>
            </a:extLst>
          </p:cNvPr>
          <p:cNvSpPr/>
          <p:nvPr userDrawn="1"/>
        </p:nvSpPr>
        <p:spPr bwMode="ltGray">
          <a:xfrm>
            <a:off x="551942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0721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26EAE0F-63CA-A355-5634-A618BBD55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6EAE0F-63CA-A355-5634-A618BBD55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5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1" y="2847975"/>
            <a:ext cx="11610975" cy="246222"/>
          </a:xfrm>
        </p:spPr>
        <p:txBody>
          <a:bodyPr/>
          <a:lstStyle/>
          <a:p>
            <a:r>
              <a:rPr lang="en-GB"/>
              <a:t>Click icon to add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384721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495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526045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38472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1822449"/>
            <a:ext cx="2793541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4" y="1822450"/>
            <a:ext cx="2795586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1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2185495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554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22954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1798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48286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84904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43406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44727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92427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2693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79393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0088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2459776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05133501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7085557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19559760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618863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568778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8128266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0498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0292273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8378467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2891144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77437913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686684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390541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0900601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86156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06834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5813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79107029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3426364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45230394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028201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6425798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8239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4273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62592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8206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1008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07649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77599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6457309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91617202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52631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03707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16125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AC7D-F0E7-EAF3-A2FA-D1BBE998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3FB6-A12E-933F-8817-E76E400A8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CE08-5C50-76BD-D4DD-16099D6D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0144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5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slideLayout" Target="../slideLayouts/slideLayout90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Relationship Id="rId4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8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26" Type="http://schemas.openxmlformats.org/officeDocument/2006/relationships/slideLayout" Target="../slideLayouts/slideLayout118.xml"/><Relationship Id="rId39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13.xml"/><Relationship Id="rId34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34.xml"/><Relationship Id="rId47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24.xml"/><Relationship Id="rId37" Type="http://schemas.openxmlformats.org/officeDocument/2006/relationships/slideLayout" Target="../slideLayouts/slideLayout129.xml"/><Relationship Id="rId40" Type="http://schemas.openxmlformats.org/officeDocument/2006/relationships/slideLayout" Target="../slideLayouts/slideLayout132.xml"/><Relationship Id="rId45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15.xml"/><Relationship Id="rId28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11.xml"/><Relationship Id="rId31" Type="http://schemas.openxmlformats.org/officeDocument/2006/relationships/slideLayout" Target="../slideLayouts/slideLayout123.xml"/><Relationship Id="rId44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22.xml"/><Relationship Id="rId35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35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25.xml"/><Relationship Id="rId38" Type="http://schemas.openxmlformats.org/officeDocument/2006/relationships/slideLayout" Target="../slideLayouts/slideLayout130.xml"/><Relationship Id="rId46" Type="http://schemas.openxmlformats.org/officeDocument/2006/relationships/slideLayout" Target="../slideLayouts/slideLayout138.xml"/><Relationship Id="rId20" Type="http://schemas.openxmlformats.org/officeDocument/2006/relationships/slideLayout" Target="../slideLayouts/slideLayout112.xml"/><Relationship Id="rId41" Type="http://schemas.openxmlformats.org/officeDocument/2006/relationships/slideLayout" Target="../slideLayouts/slideLayout13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2.xml"/><Relationship Id="rId18" Type="http://schemas.openxmlformats.org/officeDocument/2006/relationships/slideLayout" Target="../slideLayouts/slideLayout157.xml"/><Relationship Id="rId26" Type="http://schemas.openxmlformats.org/officeDocument/2006/relationships/slideLayout" Target="../slideLayouts/slideLayout165.xml"/><Relationship Id="rId39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60.xml"/><Relationship Id="rId34" Type="http://schemas.openxmlformats.org/officeDocument/2006/relationships/slideLayout" Target="../slideLayouts/slideLayout173.xml"/><Relationship Id="rId42" Type="http://schemas.openxmlformats.org/officeDocument/2006/relationships/slideLayout" Target="../slideLayouts/slideLayout181.xml"/><Relationship Id="rId47" Type="http://schemas.openxmlformats.org/officeDocument/2006/relationships/theme" Target="../theme/theme4.xml"/><Relationship Id="rId7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55.xml"/><Relationship Id="rId29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24" Type="http://schemas.openxmlformats.org/officeDocument/2006/relationships/slideLayout" Target="../slideLayouts/slideLayout163.xml"/><Relationship Id="rId32" Type="http://schemas.openxmlformats.org/officeDocument/2006/relationships/slideLayout" Target="../slideLayouts/slideLayout171.xml"/><Relationship Id="rId37" Type="http://schemas.openxmlformats.org/officeDocument/2006/relationships/slideLayout" Target="../slideLayouts/slideLayout176.xml"/><Relationship Id="rId40" Type="http://schemas.openxmlformats.org/officeDocument/2006/relationships/slideLayout" Target="../slideLayouts/slideLayout179.xml"/><Relationship Id="rId45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44.xml"/><Relationship Id="rId15" Type="http://schemas.openxmlformats.org/officeDocument/2006/relationships/slideLayout" Target="../slideLayouts/slideLayout154.xml"/><Relationship Id="rId23" Type="http://schemas.openxmlformats.org/officeDocument/2006/relationships/slideLayout" Target="../slideLayouts/slideLayout162.xml"/><Relationship Id="rId28" Type="http://schemas.openxmlformats.org/officeDocument/2006/relationships/slideLayout" Target="../slideLayouts/slideLayout167.xml"/><Relationship Id="rId36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58.xml"/><Relationship Id="rId31" Type="http://schemas.openxmlformats.org/officeDocument/2006/relationships/slideLayout" Target="../slideLayouts/slideLayout170.xml"/><Relationship Id="rId44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53.xml"/><Relationship Id="rId22" Type="http://schemas.openxmlformats.org/officeDocument/2006/relationships/slideLayout" Target="../slideLayouts/slideLayout161.xml"/><Relationship Id="rId27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9.xml"/><Relationship Id="rId35" Type="http://schemas.openxmlformats.org/officeDocument/2006/relationships/slideLayout" Target="../slideLayouts/slideLayout174.xml"/><Relationship Id="rId43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6.xml"/><Relationship Id="rId25" Type="http://schemas.openxmlformats.org/officeDocument/2006/relationships/slideLayout" Target="../slideLayouts/slideLayout164.xml"/><Relationship Id="rId33" Type="http://schemas.openxmlformats.org/officeDocument/2006/relationships/slideLayout" Target="../slideLayouts/slideLayout172.xml"/><Relationship Id="rId38" Type="http://schemas.openxmlformats.org/officeDocument/2006/relationships/slideLayout" Target="../slideLayouts/slideLayout177.xml"/><Relationship Id="rId46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8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" Type="http://schemas.openxmlformats.org/officeDocument/2006/relationships/slideLayout" Target="../slideLayouts/slideLayout188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2" Type="http://schemas.openxmlformats.org/officeDocument/2006/relationships/slideLayout" Target="../slideLayouts/slideLayout187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slideLayout" Target="../slideLayouts/slideLayout186.xml"/><Relationship Id="rId6" Type="http://schemas.openxmlformats.org/officeDocument/2006/relationships/theme" Target="../theme/theme5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5" Type="http://schemas.openxmlformats.org/officeDocument/2006/relationships/slideLayout" Target="../slideLayouts/slideLayout190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image" Target="../media/image1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slideLayout" Target="../slideLayouts/slideLayout189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oleObject" Target="../embeddings/oleObject2.bin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3.xml"/><Relationship Id="rId18" Type="http://schemas.openxmlformats.org/officeDocument/2006/relationships/slideLayout" Target="../slideLayouts/slideLayout208.xml"/><Relationship Id="rId26" Type="http://schemas.openxmlformats.org/officeDocument/2006/relationships/slideLayout" Target="../slideLayouts/slideLayout216.xml"/><Relationship Id="rId39" Type="http://schemas.openxmlformats.org/officeDocument/2006/relationships/slideLayout" Target="../slideLayouts/slideLayout229.xml"/><Relationship Id="rId21" Type="http://schemas.openxmlformats.org/officeDocument/2006/relationships/slideLayout" Target="../slideLayouts/slideLayout211.xml"/><Relationship Id="rId34" Type="http://schemas.openxmlformats.org/officeDocument/2006/relationships/slideLayout" Target="../slideLayouts/slideLayout224.xml"/><Relationship Id="rId42" Type="http://schemas.openxmlformats.org/officeDocument/2006/relationships/slideLayout" Target="../slideLayouts/slideLayout232.xml"/><Relationship Id="rId47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2.xml"/><Relationship Id="rId16" Type="http://schemas.openxmlformats.org/officeDocument/2006/relationships/slideLayout" Target="../slideLayouts/slideLayout206.xml"/><Relationship Id="rId29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24" Type="http://schemas.openxmlformats.org/officeDocument/2006/relationships/slideLayout" Target="../slideLayouts/slideLayout214.xml"/><Relationship Id="rId32" Type="http://schemas.openxmlformats.org/officeDocument/2006/relationships/slideLayout" Target="../slideLayouts/slideLayout222.xml"/><Relationship Id="rId37" Type="http://schemas.openxmlformats.org/officeDocument/2006/relationships/slideLayout" Target="../slideLayouts/slideLayout227.xml"/><Relationship Id="rId40" Type="http://schemas.openxmlformats.org/officeDocument/2006/relationships/slideLayout" Target="../slideLayouts/slideLayout230.xml"/><Relationship Id="rId45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205.xml"/><Relationship Id="rId23" Type="http://schemas.openxmlformats.org/officeDocument/2006/relationships/slideLayout" Target="../slideLayouts/slideLayout213.xml"/><Relationship Id="rId28" Type="http://schemas.openxmlformats.org/officeDocument/2006/relationships/slideLayout" Target="../slideLayouts/slideLayout218.xml"/><Relationship Id="rId36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00.xml"/><Relationship Id="rId19" Type="http://schemas.openxmlformats.org/officeDocument/2006/relationships/slideLayout" Target="../slideLayouts/slideLayout209.xml"/><Relationship Id="rId31" Type="http://schemas.openxmlformats.org/officeDocument/2006/relationships/slideLayout" Target="../slideLayouts/slideLayout221.xml"/><Relationship Id="rId44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slideLayout" Target="../slideLayouts/slideLayout204.xml"/><Relationship Id="rId22" Type="http://schemas.openxmlformats.org/officeDocument/2006/relationships/slideLayout" Target="../slideLayouts/slideLayout212.xml"/><Relationship Id="rId27" Type="http://schemas.openxmlformats.org/officeDocument/2006/relationships/slideLayout" Target="../slideLayouts/slideLayout217.xml"/><Relationship Id="rId30" Type="http://schemas.openxmlformats.org/officeDocument/2006/relationships/slideLayout" Target="../slideLayouts/slideLayout220.xml"/><Relationship Id="rId35" Type="http://schemas.openxmlformats.org/officeDocument/2006/relationships/slideLayout" Target="../slideLayouts/slideLayout225.xml"/><Relationship Id="rId43" Type="http://schemas.openxmlformats.org/officeDocument/2006/relationships/slideLayout" Target="../slideLayouts/slideLayout233.xml"/><Relationship Id="rId48" Type="http://schemas.openxmlformats.org/officeDocument/2006/relationships/theme" Target="../theme/theme6.xml"/><Relationship Id="rId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202.xml"/><Relationship Id="rId17" Type="http://schemas.openxmlformats.org/officeDocument/2006/relationships/slideLayout" Target="../slideLayouts/slideLayout207.xml"/><Relationship Id="rId25" Type="http://schemas.openxmlformats.org/officeDocument/2006/relationships/slideLayout" Target="../slideLayouts/slideLayout215.xml"/><Relationship Id="rId33" Type="http://schemas.openxmlformats.org/officeDocument/2006/relationships/slideLayout" Target="../slideLayouts/slideLayout223.xml"/><Relationship Id="rId38" Type="http://schemas.openxmlformats.org/officeDocument/2006/relationships/slideLayout" Target="../slideLayouts/slideLayout228.xml"/><Relationship Id="rId46" Type="http://schemas.openxmlformats.org/officeDocument/2006/relationships/slideLayout" Target="../slideLayouts/slideLayout236.xml"/><Relationship Id="rId20" Type="http://schemas.openxmlformats.org/officeDocument/2006/relationships/slideLayout" Target="../slideLayouts/slideLayout210.xml"/><Relationship Id="rId41" Type="http://schemas.openxmlformats.org/officeDocument/2006/relationships/slideLayout" Target="../slideLayouts/slideLayout2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39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  <p:sldLayoutId id="2147483842" r:id="rId24"/>
    <p:sldLayoutId id="2147483843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  <p:sldLayoutId id="2147483851" r:id="rId33"/>
    <p:sldLayoutId id="2147483852" r:id="rId34"/>
    <p:sldLayoutId id="2147483853" r:id="rId35"/>
    <p:sldLayoutId id="2147483854" r:id="rId36"/>
    <p:sldLayoutId id="2147483855" r:id="rId37"/>
    <p:sldLayoutId id="2147483856" r:id="rId38"/>
    <p:sldLayoutId id="2147483857" r:id="rId39"/>
    <p:sldLayoutId id="2147483858" r:id="rId40"/>
    <p:sldLayoutId id="2147483859" r:id="rId41"/>
    <p:sldLayoutId id="2147483860" r:id="rId42"/>
    <p:sldLayoutId id="2147483861" r:id="rId43"/>
    <p:sldLayoutId id="2147483862" r:id="rId44"/>
    <p:sldLayoutId id="2147483863" r:id="rId45"/>
    <p:sldLayoutId id="2147483864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16990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5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7" r:id="rId21"/>
    <p:sldLayoutId id="2147483888" r:id="rId22"/>
    <p:sldLayoutId id="2147483889" r:id="rId23"/>
    <p:sldLayoutId id="2147483890" r:id="rId24"/>
    <p:sldLayoutId id="2147483891" r:id="rId25"/>
    <p:sldLayoutId id="2147483892" r:id="rId26"/>
    <p:sldLayoutId id="2147483893" r:id="rId27"/>
    <p:sldLayoutId id="2147483894" r:id="rId28"/>
    <p:sldLayoutId id="2147483895" r:id="rId29"/>
    <p:sldLayoutId id="2147483896" r:id="rId30"/>
    <p:sldLayoutId id="2147483897" r:id="rId31"/>
    <p:sldLayoutId id="2147483898" r:id="rId32"/>
    <p:sldLayoutId id="2147483899" r:id="rId33"/>
    <p:sldLayoutId id="2147483900" r:id="rId34"/>
    <p:sldLayoutId id="2147483901" r:id="rId35"/>
    <p:sldLayoutId id="2147483902" r:id="rId36"/>
    <p:sldLayoutId id="2147483903" r:id="rId37"/>
    <p:sldLayoutId id="2147483904" r:id="rId38"/>
    <p:sldLayoutId id="2147483905" r:id="rId39"/>
    <p:sldLayoutId id="2147483906" r:id="rId40"/>
    <p:sldLayoutId id="2147483907" r:id="rId41"/>
    <p:sldLayoutId id="2147483908" r:id="rId42"/>
    <p:sldLayoutId id="2147483909" r:id="rId43"/>
    <p:sldLayoutId id="2147483910" r:id="rId44"/>
    <p:sldLayoutId id="2147483911" r:id="rId45"/>
    <p:sldLayoutId id="2147483912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6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  <p:sldLayoutId id="2147483933" r:id="rId19"/>
    <p:sldLayoutId id="2147483934" r:id="rId20"/>
    <p:sldLayoutId id="2147483935" r:id="rId21"/>
    <p:sldLayoutId id="2147483936" r:id="rId22"/>
    <p:sldLayoutId id="2147483937" r:id="rId23"/>
    <p:sldLayoutId id="2147483938" r:id="rId24"/>
    <p:sldLayoutId id="2147483939" r:id="rId25"/>
    <p:sldLayoutId id="2147483940" r:id="rId26"/>
    <p:sldLayoutId id="2147483941" r:id="rId27"/>
    <p:sldLayoutId id="2147483942" r:id="rId28"/>
    <p:sldLayoutId id="2147483943" r:id="rId29"/>
    <p:sldLayoutId id="2147483944" r:id="rId30"/>
    <p:sldLayoutId id="2147483945" r:id="rId31"/>
    <p:sldLayoutId id="2147483946" r:id="rId32"/>
    <p:sldLayoutId id="2147483947" r:id="rId33"/>
    <p:sldLayoutId id="2147483948" r:id="rId34"/>
    <p:sldLayoutId id="2147483949" r:id="rId35"/>
    <p:sldLayoutId id="2147483950" r:id="rId36"/>
    <p:sldLayoutId id="2147483951" r:id="rId37"/>
    <p:sldLayoutId id="2147483952" r:id="rId38"/>
    <p:sldLayoutId id="2147483953" r:id="rId39"/>
    <p:sldLayoutId id="2147483954" r:id="rId40"/>
    <p:sldLayoutId id="2147483955" r:id="rId41"/>
    <p:sldLayoutId id="2147483956" r:id="rId42"/>
    <p:sldLayoutId id="2147483957" r:id="rId43"/>
    <p:sldLayoutId id="2147483958" r:id="rId44"/>
    <p:sldLayoutId id="2147483959" r:id="rId45"/>
    <p:sldLayoutId id="2147483960" r:id="rId46"/>
    <p:sldLayoutId id="2147483961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63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  <p:sldLayoutId id="2147483982" r:id="rId19"/>
    <p:sldLayoutId id="2147483983" r:id="rId20"/>
    <p:sldLayoutId id="2147483984" r:id="rId21"/>
    <p:sldLayoutId id="2147483985" r:id="rId22"/>
    <p:sldLayoutId id="2147483986" r:id="rId23"/>
    <p:sldLayoutId id="2147483987" r:id="rId24"/>
    <p:sldLayoutId id="2147483988" r:id="rId25"/>
    <p:sldLayoutId id="2147483989" r:id="rId26"/>
    <p:sldLayoutId id="2147483990" r:id="rId27"/>
    <p:sldLayoutId id="2147483991" r:id="rId28"/>
    <p:sldLayoutId id="2147483992" r:id="rId29"/>
    <p:sldLayoutId id="2147483993" r:id="rId30"/>
    <p:sldLayoutId id="2147483994" r:id="rId31"/>
    <p:sldLayoutId id="2147483995" r:id="rId32"/>
    <p:sldLayoutId id="2147483996" r:id="rId33"/>
    <p:sldLayoutId id="2147483997" r:id="rId34"/>
    <p:sldLayoutId id="2147483998" r:id="rId35"/>
    <p:sldLayoutId id="2147483999" r:id="rId36"/>
    <p:sldLayoutId id="2147484000" r:id="rId37"/>
    <p:sldLayoutId id="2147484001" r:id="rId38"/>
    <p:sldLayoutId id="2147484002" r:id="rId39"/>
    <p:sldLayoutId id="2147484003" r:id="rId40"/>
    <p:sldLayoutId id="2147484004" r:id="rId41"/>
    <p:sldLayoutId id="2147484005" r:id="rId42"/>
    <p:sldLayoutId id="2147484006" r:id="rId43"/>
    <p:sldLayoutId id="2147484007" r:id="rId44"/>
    <p:sldLayoutId id="2147484008" r:id="rId45"/>
    <p:sldLayoutId id="2147484009" r:id="rId46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3972" y="6278401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987739" y="2170801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>
                <a:latin typeface="+mn-lt"/>
                <a:ea typeface="+mn-ea"/>
                <a:cs typeface="+mn-cs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sz="1600" b="0">
                <a:latin typeface="+mn-lt"/>
                <a:ea typeface="+mn-ea"/>
                <a:cs typeface="+mn-cs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1"/>
            <a:ext cx="3310202" cy="1402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344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46" name="Graphic 6">
            <a:extLst>
              <a:ext uri="{FF2B5EF4-FFF2-40B4-BE49-F238E27FC236}">
                <a16:creationId xmlns:a16="http://schemas.microsoft.com/office/drawing/2014/main" id="{AF98DDB4-2675-8EAF-4CA7-DB2961799826}"/>
              </a:ext>
            </a:extLst>
          </p:cNvPr>
          <p:cNvSpPr>
            <a:spLocks noChangeAspect="1"/>
          </p:cNvSpPr>
          <p:nvPr userDrawn="1"/>
        </p:nvSpPr>
        <p:spPr bwMode="ltGray">
          <a:xfrm>
            <a:off x="554736" y="6456407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4" name="LegendLines" hidden="1">
            <a:extLst>
              <a:ext uri="{FF2B5EF4-FFF2-40B4-BE49-F238E27FC236}">
                <a16:creationId xmlns:a16="http://schemas.microsoft.com/office/drawing/2014/main" id="{63CA41C0-2498-B571-5ED1-798720B4A7B8}"/>
              </a:ext>
            </a:extLst>
          </p:cNvPr>
          <p:cNvGrpSpPr/>
          <p:nvPr userDrawn="1"/>
        </p:nvGrpSpPr>
        <p:grpSpPr>
          <a:xfrm>
            <a:off x="10317309" y="3355020"/>
            <a:ext cx="1311947" cy="958286"/>
            <a:chOff x="10162879" y="3243772"/>
            <a:chExt cx="1311946" cy="958287"/>
          </a:xfrm>
        </p:grpSpPr>
        <p:sp>
          <p:nvSpPr>
            <p:cNvPr id="47" name="Legend1" hidden="1">
              <a:extLst>
                <a:ext uri="{FF2B5EF4-FFF2-40B4-BE49-F238E27FC236}">
                  <a16:creationId xmlns:a16="http://schemas.microsoft.com/office/drawing/2014/main" id="{8211A1E1-12B6-4209-C76C-4A18FA5B1EF7}"/>
                </a:ext>
              </a:extLst>
            </p:cNvPr>
            <p:cNvSpPr txBox="1"/>
            <p:nvPr/>
          </p:nvSpPr>
          <p:spPr>
            <a:xfrm>
              <a:off x="10886522" y="324377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8" name="Legend2" hidden="1">
              <a:extLst>
                <a:ext uri="{FF2B5EF4-FFF2-40B4-BE49-F238E27FC236}">
                  <a16:creationId xmlns:a16="http://schemas.microsoft.com/office/drawing/2014/main" id="{5700D51C-DD3D-DCA1-6108-EBE531A5FD69}"/>
                </a:ext>
              </a:extLst>
            </p:cNvPr>
            <p:cNvSpPr txBox="1"/>
            <p:nvPr/>
          </p:nvSpPr>
          <p:spPr>
            <a:xfrm>
              <a:off x="10886522" y="361519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9" name="Legend3" hidden="1">
              <a:extLst>
                <a:ext uri="{FF2B5EF4-FFF2-40B4-BE49-F238E27FC236}">
                  <a16:creationId xmlns:a16="http://schemas.microsoft.com/office/drawing/2014/main" id="{B3C4292D-02EA-50AD-9C99-16A35B5EF22E}"/>
                </a:ext>
              </a:extLst>
            </p:cNvPr>
            <p:cNvSpPr txBox="1"/>
            <p:nvPr/>
          </p:nvSpPr>
          <p:spPr>
            <a:xfrm>
              <a:off x="10886522" y="3986615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0" name="LineLegend3" hidden="1">
              <a:extLst>
                <a:ext uri="{FF2B5EF4-FFF2-40B4-BE49-F238E27FC236}">
                  <a16:creationId xmlns:a16="http://schemas.microsoft.com/office/drawing/2014/main" id="{786AB51D-E26D-4431-AA41-B5F1DE2D500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1" name="LineLegend2" hidden="1">
              <a:extLst>
                <a:ext uri="{FF2B5EF4-FFF2-40B4-BE49-F238E27FC236}">
                  <a16:creationId xmlns:a16="http://schemas.microsoft.com/office/drawing/2014/main" id="{438FC66D-7C27-AD78-49E2-F80BCBE7F23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2" name="LineLegend1" hidden="1">
              <a:extLst>
                <a:ext uri="{FF2B5EF4-FFF2-40B4-BE49-F238E27FC236}">
                  <a16:creationId xmlns:a16="http://schemas.microsoft.com/office/drawing/2014/main" id="{33A85393-65DC-42BC-63FC-B1865DF4A4D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53" name="LegendMoons" hidden="1">
            <a:extLst>
              <a:ext uri="{FF2B5EF4-FFF2-40B4-BE49-F238E27FC236}">
                <a16:creationId xmlns:a16="http://schemas.microsoft.com/office/drawing/2014/main" id="{7839E89D-1CFE-701D-5556-68293E1B0BA6}"/>
              </a:ext>
            </a:extLst>
          </p:cNvPr>
          <p:cNvGrpSpPr/>
          <p:nvPr userDrawn="1"/>
        </p:nvGrpSpPr>
        <p:grpSpPr>
          <a:xfrm>
            <a:off x="10688318" y="1415984"/>
            <a:ext cx="940935" cy="1731859"/>
            <a:chOff x="7723680" y="1702457"/>
            <a:chExt cx="940935" cy="1731859"/>
          </a:xfrm>
        </p:grpSpPr>
        <p:sp>
          <p:nvSpPr>
            <p:cNvPr id="54" name="Legend1" hidden="1">
              <a:extLst>
                <a:ext uri="{FF2B5EF4-FFF2-40B4-BE49-F238E27FC236}">
                  <a16:creationId xmlns:a16="http://schemas.microsoft.com/office/drawing/2014/main" id="{2858A778-6F43-012B-31AC-41392C6404DE}"/>
                </a:ext>
              </a:extLst>
            </p:cNvPr>
            <p:cNvSpPr txBox="1"/>
            <p:nvPr/>
          </p:nvSpPr>
          <p:spPr>
            <a:xfrm>
              <a:off x="8076312" y="170981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5" name="Legend2" hidden="1">
              <a:extLst>
                <a:ext uri="{FF2B5EF4-FFF2-40B4-BE49-F238E27FC236}">
                  <a16:creationId xmlns:a16="http://schemas.microsoft.com/office/drawing/2014/main" id="{9C65AADA-646D-9413-2B8C-AEB229959FE6}"/>
                </a:ext>
              </a:extLst>
            </p:cNvPr>
            <p:cNvSpPr txBox="1"/>
            <p:nvPr/>
          </p:nvSpPr>
          <p:spPr>
            <a:xfrm>
              <a:off x="8076312" y="208527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6" name="Legend3" hidden="1">
              <a:extLst>
                <a:ext uri="{FF2B5EF4-FFF2-40B4-BE49-F238E27FC236}">
                  <a16:creationId xmlns:a16="http://schemas.microsoft.com/office/drawing/2014/main" id="{716C5385-0E31-0A8E-6801-0B8571DAE026}"/>
                </a:ext>
              </a:extLst>
            </p:cNvPr>
            <p:cNvSpPr txBox="1"/>
            <p:nvPr/>
          </p:nvSpPr>
          <p:spPr>
            <a:xfrm>
              <a:off x="8076312" y="246073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8" name="Legend4" hidden="1">
              <a:extLst>
                <a:ext uri="{FF2B5EF4-FFF2-40B4-BE49-F238E27FC236}">
                  <a16:creationId xmlns:a16="http://schemas.microsoft.com/office/drawing/2014/main" id="{0971ED1D-1162-9961-EC19-1A7FA815A2AF}"/>
                </a:ext>
              </a:extLst>
            </p:cNvPr>
            <p:cNvSpPr txBox="1"/>
            <p:nvPr/>
          </p:nvSpPr>
          <p:spPr>
            <a:xfrm>
              <a:off x="8076312" y="2836193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9" name="Legend5" hidden="1">
              <a:extLst>
                <a:ext uri="{FF2B5EF4-FFF2-40B4-BE49-F238E27FC236}">
                  <a16:creationId xmlns:a16="http://schemas.microsoft.com/office/drawing/2014/main" id="{F352890F-702B-7BFF-65F8-7C221FE4BAAB}"/>
                </a:ext>
              </a:extLst>
            </p:cNvPr>
            <p:cNvSpPr txBox="1"/>
            <p:nvPr/>
          </p:nvSpPr>
          <p:spPr>
            <a:xfrm>
              <a:off x="8076312" y="321165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grpSp>
          <p:nvGrpSpPr>
            <p:cNvPr id="60" name="MoonLegend1" hidden="1">
              <a:extLst>
                <a:ext uri="{FF2B5EF4-FFF2-40B4-BE49-F238E27FC236}">
                  <a16:creationId xmlns:a16="http://schemas.microsoft.com/office/drawing/2014/main" id="{82E250EB-42ED-18E7-559B-E507AF80B751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7" name="Oval 136" hidden="1">
                <a:extLst>
                  <a:ext uri="{FF2B5EF4-FFF2-40B4-BE49-F238E27FC236}">
                    <a16:creationId xmlns:a16="http://schemas.microsoft.com/office/drawing/2014/main" id="{E4D9C8ED-7F5B-4D82-0735-6FF633BB0D5C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8" name="Arc 137" hidden="1">
                <a:extLst>
                  <a:ext uri="{FF2B5EF4-FFF2-40B4-BE49-F238E27FC236}">
                    <a16:creationId xmlns:a16="http://schemas.microsoft.com/office/drawing/2014/main" id="{4816EE76-D7F8-72EA-7675-3EDCF2F495B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1" name="MoonLegend2" hidden="1">
              <a:extLst>
                <a:ext uri="{FF2B5EF4-FFF2-40B4-BE49-F238E27FC236}">
                  <a16:creationId xmlns:a16="http://schemas.microsoft.com/office/drawing/2014/main" id="{49182E3F-BFB6-BB49-7451-B1FE22ABC133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35" name="Oval 134" hidden="1">
                <a:extLst>
                  <a:ext uri="{FF2B5EF4-FFF2-40B4-BE49-F238E27FC236}">
                    <a16:creationId xmlns:a16="http://schemas.microsoft.com/office/drawing/2014/main" id="{3361F8AD-9871-398E-2878-B638EC60F580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6" name="Arc 135" hidden="1">
                <a:extLst>
                  <a:ext uri="{FF2B5EF4-FFF2-40B4-BE49-F238E27FC236}">
                    <a16:creationId xmlns:a16="http://schemas.microsoft.com/office/drawing/2014/main" id="{6A48B4CE-FF96-7C9B-5B3B-6A62E5008CED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2" name="MoonLegend3" hidden="1">
              <a:extLst>
                <a:ext uri="{FF2B5EF4-FFF2-40B4-BE49-F238E27FC236}">
                  <a16:creationId xmlns:a16="http://schemas.microsoft.com/office/drawing/2014/main" id="{389C2AFD-FA5D-3CB6-7EC8-7EC6FCED17D1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33" name="Oval 132" hidden="1">
                <a:extLst>
                  <a:ext uri="{FF2B5EF4-FFF2-40B4-BE49-F238E27FC236}">
                    <a16:creationId xmlns:a16="http://schemas.microsoft.com/office/drawing/2014/main" id="{613D7478-0486-9D2B-619C-771946F613A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4" name="Arc 133" hidden="1">
                <a:extLst>
                  <a:ext uri="{FF2B5EF4-FFF2-40B4-BE49-F238E27FC236}">
                    <a16:creationId xmlns:a16="http://schemas.microsoft.com/office/drawing/2014/main" id="{17206685-1929-DF5A-B4A8-815F1A6A503B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3" name="MoonLegend4" hidden="1">
              <a:extLst>
                <a:ext uri="{FF2B5EF4-FFF2-40B4-BE49-F238E27FC236}">
                  <a16:creationId xmlns:a16="http://schemas.microsoft.com/office/drawing/2014/main" id="{F41138FA-8FF2-C95B-9324-8DE8DB940DBB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31" name="Oval 130" hidden="1">
                <a:extLst>
                  <a:ext uri="{FF2B5EF4-FFF2-40B4-BE49-F238E27FC236}">
                    <a16:creationId xmlns:a16="http://schemas.microsoft.com/office/drawing/2014/main" id="{AFE4BDAB-EC0D-6F8A-7AB5-5EEB1569BB76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2" name="Arc 131" hidden="1">
                <a:extLst>
                  <a:ext uri="{FF2B5EF4-FFF2-40B4-BE49-F238E27FC236}">
                    <a16:creationId xmlns:a16="http://schemas.microsoft.com/office/drawing/2014/main" id="{E4418AC0-3DD1-5988-2D61-5B5B4BC0A859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8" name="MoonLegend5" hidden="1">
              <a:extLst>
                <a:ext uri="{FF2B5EF4-FFF2-40B4-BE49-F238E27FC236}">
                  <a16:creationId xmlns:a16="http://schemas.microsoft.com/office/drawing/2014/main" id="{BAF3E7D4-C7C5-EB6B-46AE-0574CE6F7810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9" name="Oval 128" hidden="1">
                <a:extLst>
                  <a:ext uri="{FF2B5EF4-FFF2-40B4-BE49-F238E27FC236}">
                    <a16:creationId xmlns:a16="http://schemas.microsoft.com/office/drawing/2014/main" id="{0DF6734C-6DD0-192D-7C1C-607FA17E194D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0" name="Arc 129" hidden="1">
                <a:extLst>
                  <a:ext uri="{FF2B5EF4-FFF2-40B4-BE49-F238E27FC236}">
                    <a16:creationId xmlns:a16="http://schemas.microsoft.com/office/drawing/2014/main" id="{7374B356-78D3-D4A9-E18F-3F320B0F4E0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39" name="LegendBoxes" hidden="1">
            <a:extLst>
              <a:ext uri="{FF2B5EF4-FFF2-40B4-BE49-F238E27FC236}">
                <a16:creationId xmlns:a16="http://schemas.microsoft.com/office/drawing/2014/main" id="{7F2D78C1-A096-ACF2-297A-3374C19D638A}"/>
              </a:ext>
            </a:extLst>
          </p:cNvPr>
          <p:cNvGrpSpPr/>
          <p:nvPr userDrawn="1"/>
        </p:nvGrpSpPr>
        <p:grpSpPr>
          <a:xfrm>
            <a:off x="10714806" y="4520488"/>
            <a:ext cx="914449" cy="1717281"/>
            <a:chOff x="10652400" y="4322824"/>
            <a:chExt cx="914449" cy="1717282"/>
          </a:xfrm>
        </p:grpSpPr>
        <p:sp>
          <p:nvSpPr>
            <p:cNvPr id="140" name="RectangleLegend1" hidden="1">
              <a:extLst>
                <a:ext uri="{FF2B5EF4-FFF2-40B4-BE49-F238E27FC236}">
                  <a16:creationId xmlns:a16="http://schemas.microsoft.com/office/drawing/2014/main" id="{AC6E0428-0654-00DA-C3CA-D5112D2BB876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1" name="RectangleLegend2" hidden="1">
              <a:extLst>
                <a:ext uri="{FF2B5EF4-FFF2-40B4-BE49-F238E27FC236}">
                  <a16:creationId xmlns:a16="http://schemas.microsoft.com/office/drawing/2014/main" id="{4A8EAB1C-3886-25C8-5CDB-7593C4A79BC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2" name="RectangleLegend3" hidden="1">
              <a:extLst>
                <a:ext uri="{FF2B5EF4-FFF2-40B4-BE49-F238E27FC236}">
                  <a16:creationId xmlns:a16="http://schemas.microsoft.com/office/drawing/2014/main" id="{673F16A8-02BD-E486-1789-E96CFB3D3830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3" name="RectangleLegend4" hidden="1">
              <a:extLst>
                <a:ext uri="{FF2B5EF4-FFF2-40B4-BE49-F238E27FC236}">
                  <a16:creationId xmlns:a16="http://schemas.microsoft.com/office/drawing/2014/main" id="{B4B5F173-0CE5-D683-B6F5-57CE1112E125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4" name="RectangleLegend5" hidden="1">
              <a:extLst>
                <a:ext uri="{FF2B5EF4-FFF2-40B4-BE49-F238E27FC236}">
                  <a16:creationId xmlns:a16="http://schemas.microsoft.com/office/drawing/2014/main" id="{015C570C-B3A8-19E1-732E-AA14C8FEC59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5" name="Legend1" hidden="1">
              <a:extLst>
                <a:ext uri="{FF2B5EF4-FFF2-40B4-BE49-F238E27FC236}">
                  <a16:creationId xmlns:a16="http://schemas.microsoft.com/office/drawing/2014/main" id="{CFFFF425-E256-56B8-7362-B7B6E3076B03}"/>
                </a:ext>
              </a:extLst>
            </p:cNvPr>
            <p:cNvSpPr txBox="1"/>
            <p:nvPr/>
          </p:nvSpPr>
          <p:spPr>
            <a:xfrm>
              <a:off x="10978546" y="4322824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6" name="Legend2" hidden="1">
              <a:extLst>
                <a:ext uri="{FF2B5EF4-FFF2-40B4-BE49-F238E27FC236}">
                  <a16:creationId xmlns:a16="http://schemas.microsoft.com/office/drawing/2014/main" id="{D0E725D3-35B7-4107-C900-E258891288E2}"/>
                </a:ext>
              </a:extLst>
            </p:cNvPr>
            <p:cNvSpPr txBox="1"/>
            <p:nvPr/>
          </p:nvSpPr>
          <p:spPr>
            <a:xfrm>
              <a:off x="10978546" y="470232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7" name="Legend3" hidden="1">
              <a:extLst>
                <a:ext uri="{FF2B5EF4-FFF2-40B4-BE49-F238E27FC236}">
                  <a16:creationId xmlns:a16="http://schemas.microsoft.com/office/drawing/2014/main" id="{05C0D6C4-56D3-952E-D290-C74F0347A211}"/>
                </a:ext>
              </a:extLst>
            </p:cNvPr>
            <p:cNvSpPr txBox="1"/>
            <p:nvPr/>
          </p:nvSpPr>
          <p:spPr>
            <a:xfrm>
              <a:off x="10978546" y="5081820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8" name="Legend4" hidden="1">
              <a:extLst>
                <a:ext uri="{FF2B5EF4-FFF2-40B4-BE49-F238E27FC236}">
                  <a16:creationId xmlns:a16="http://schemas.microsoft.com/office/drawing/2014/main" id="{2E97B226-1B82-7230-A19E-6FFCBBF47D51}"/>
                </a:ext>
              </a:extLst>
            </p:cNvPr>
            <p:cNvSpPr txBox="1"/>
            <p:nvPr/>
          </p:nvSpPr>
          <p:spPr>
            <a:xfrm>
              <a:off x="10978546" y="5453241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9" name="Legend5" hidden="1">
              <a:extLst>
                <a:ext uri="{FF2B5EF4-FFF2-40B4-BE49-F238E27FC236}">
                  <a16:creationId xmlns:a16="http://schemas.microsoft.com/office/drawing/2014/main" id="{08161116-89F0-BDF9-0587-B408C4950F86}"/>
                </a:ext>
              </a:extLst>
            </p:cNvPr>
            <p:cNvSpPr txBox="1"/>
            <p:nvPr/>
          </p:nvSpPr>
          <p:spPr>
            <a:xfrm>
              <a:off x="10978545" y="582466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8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</p:sldLayoutIdLst>
  <p:hf hdr="0" ftr="0" dt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  <a:sym typeface="Arial" panose="020B0604020202020204" pitchFamily="34" charset="0"/>
        </a:defRPr>
      </a:lvl1pPr>
    </p:titleStyle>
    <p:bodyStyle>
      <a:lvl1pPr marL="0" indent="0" algn="l" defTabSz="914363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230387" indent="-230387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439176" indent="-208788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593966" indent="-1547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813554" indent="-1475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8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2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  <p:sldLayoutId id="2147484173" r:id="rId12"/>
    <p:sldLayoutId id="2147484174" r:id="rId13"/>
    <p:sldLayoutId id="2147484175" r:id="rId14"/>
    <p:sldLayoutId id="2147484176" r:id="rId15"/>
    <p:sldLayoutId id="2147484177" r:id="rId16"/>
    <p:sldLayoutId id="2147484178" r:id="rId17"/>
    <p:sldLayoutId id="2147484179" r:id="rId18"/>
    <p:sldLayoutId id="2147484180" r:id="rId19"/>
    <p:sldLayoutId id="2147484181" r:id="rId20"/>
    <p:sldLayoutId id="2147484182" r:id="rId21"/>
    <p:sldLayoutId id="2147484183" r:id="rId22"/>
    <p:sldLayoutId id="2147484184" r:id="rId23"/>
    <p:sldLayoutId id="2147484185" r:id="rId24"/>
    <p:sldLayoutId id="2147484186" r:id="rId25"/>
    <p:sldLayoutId id="2147484187" r:id="rId26"/>
    <p:sldLayoutId id="2147484188" r:id="rId27"/>
    <p:sldLayoutId id="2147484189" r:id="rId28"/>
    <p:sldLayoutId id="2147484190" r:id="rId29"/>
    <p:sldLayoutId id="2147484191" r:id="rId30"/>
    <p:sldLayoutId id="2147484192" r:id="rId31"/>
    <p:sldLayoutId id="2147484193" r:id="rId32"/>
    <p:sldLayoutId id="2147484194" r:id="rId33"/>
    <p:sldLayoutId id="2147484195" r:id="rId34"/>
    <p:sldLayoutId id="2147484196" r:id="rId35"/>
    <p:sldLayoutId id="2147484197" r:id="rId36"/>
    <p:sldLayoutId id="2147484198" r:id="rId37"/>
    <p:sldLayoutId id="2147484199" r:id="rId38"/>
    <p:sldLayoutId id="2147484200" r:id="rId39"/>
    <p:sldLayoutId id="2147484201" r:id="rId40"/>
    <p:sldLayoutId id="2147484202" r:id="rId41"/>
    <p:sldLayoutId id="2147484203" r:id="rId42"/>
    <p:sldLayoutId id="2147484204" r:id="rId43"/>
    <p:sldLayoutId id="2147484205" r:id="rId44"/>
    <p:sldLayoutId id="2147484206" r:id="rId45"/>
    <p:sldLayoutId id="2147484207" r:id="rId46"/>
    <p:sldLayoutId id="2147484208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8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1A9_835AE1DA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chart" Target="../charts/chart4.xml"/><Relationship Id="rId18" Type="http://schemas.openxmlformats.org/officeDocument/2006/relationships/image" Target="../media/image11.png"/><Relationship Id="rId3" Type="http://schemas.openxmlformats.org/officeDocument/2006/relationships/tags" Target="../tags/tag51.xml"/><Relationship Id="rId7" Type="http://schemas.openxmlformats.org/officeDocument/2006/relationships/slideLayout" Target="../slideLayouts/slideLayout25.xml"/><Relationship Id="rId12" Type="http://schemas.openxmlformats.org/officeDocument/2006/relationships/chart" Target="../charts/chart3.xml"/><Relationship Id="rId17" Type="http://schemas.openxmlformats.org/officeDocument/2006/relationships/image" Target="../media/image10.jpeg"/><Relationship Id="rId2" Type="http://schemas.openxmlformats.org/officeDocument/2006/relationships/tags" Target="../tags/tag50.xml"/><Relationship Id="rId16" Type="http://schemas.openxmlformats.org/officeDocument/2006/relationships/image" Target="../media/image9.png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chart" Target="../charts/chart2.xml"/><Relationship Id="rId5" Type="http://schemas.openxmlformats.org/officeDocument/2006/relationships/tags" Target="../tags/tag53.xml"/><Relationship Id="rId15" Type="http://schemas.openxmlformats.org/officeDocument/2006/relationships/chart" Target="../charts/chart6.xml"/><Relationship Id="rId10" Type="http://schemas.openxmlformats.org/officeDocument/2006/relationships/chart" Target="../charts/chart1.xml"/><Relationship Id="rId4" Type="http://schemas.openxmlformats.org/officeDocument/2006/relationships/tags" Target="../tags/tag52.xml"/><Relationship Id="rId9" Type="http://schemas.microsoft.com/office/2018/10/relationships/comments" Target="../comments/modernComment_7FFFFE9D_2ECC9592.xml"/><Relationship Id="rId1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image" Target="../media/image12.png"/><Relationship Id="rId3" Type="http://schemas.openxmlformats.org/officeDocument/2006/relationships/tags" Target="../tags/tag58.xml"/><Relationship Id="rId7" Type="http://schemas.openxmlformats.org/officeDocument/2006/relationships/slideLayout" Target="../slideLayouts/slideLayout25.xml"/><Relationship Id="rId12" Type="http://schemas.openxmlformats.org/officeDocument/2006/relationships/chart" Target="../charts/chart9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chart" Target="../charts/chart8.xml"/><Relationship Id="rId5" Type="http://schemas.openxmlformats.org/officeDocument/2006/relationships/tags" Target="../tags/tag60.xml"/><Relationship Id="rId15" Type="http://schemas.openxmlformats.org/officeDocument/2006/relationships/chart" Target="../charts/chart11.xml"/><Relationship Id="rId10" Type="http://schemas.openxmlformats.org/officeDocument/2006/relationships/chart" Target="../charts/chart7.xml"/><Relationship Id="rId4" Type="http://schemas.openxmlformats.org/officeDocument/2006/relationships/tags" Target="../tags/tag59.xml"/><Relationship Id="rId9" Type="http://schemas.microsoft.com/office/2018/10/relationships/comments" Target="../comments/modernComment_7FFFFE64_A7CFB328.xml"/><Relationship Id="rId1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3" Type="http://schemas.openxmlformats.org/officeDocument/2006/relationships/tags" Target="../tags/tag64.xml"/><Relationship Id="rId7" Type="http://schemas.openxmlformats.org/officeDocument/2006/relationships/chart" Target="../charts/chart1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13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5.xml"/><Relationship Id="rId9" Type="http://schemas.openxmlformats.org/officeDocument/2006/relationships/chart" Target="../charts/char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67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69.xml"/><Relationship Id="rId10" Type="http://schemas.openxmlformats.org/officeDocument/2006/relationships/chart" Target="../charts/chart16.xml"/><Relationship Id="rId4" Type="http://schemas.openxmlformats.org/officeDocument/2006/relationships/tags" Target="../tags/tag68.xml"/><Relationship Id="rId9" Type="http://schemas.openxmlformats.org/officeDocument/2006/relationships/chart" Target="../charts/char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72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14.png"/><Relationship Id="rId5" Type="http://schemas.openxmlformats.org/officeDocument/2006/relationships/tags" Target="../tags/tag74.xml"/><Relationship Id="rId10" Type="http://schemas.openxmlformats.org/officeDocument/2006/relationships/chart" Target="../charts/chart18.xml"/><Relationship Id="rId4" Type="http://schemas.openxmlformats.org/officeDocument/2006/relationships/tags" Target="../tags/tag73.xml"/><Relationship Id="rId9" Type="http://schemas.openxmlformats.org/officeDocument/2006/relationships/chart" Target="../charts/chart1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78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84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tags" Target="../tags/tag90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4.png"/><Relationship Id="rId5" Type="http://schemas.openxmlformats.org/officeDocument/2006/relationships/tags" Target="../tags/tag92.xml"/><Relationship Id="rId10" Type="http://schemas.openxmlformats.org/officeDocument/2006/relationships/chart" Target="../charts/chart21.xml"/><Relationship Id="rId4" Type="http://schemas.openxmlformats.org/officeDocument/2006/relationships/tags" Target="../tags/tag91.xml"/><Relationship Id="rId9" Type="http://schemas.openxmlformats.org/officeDocument/2006/relationships/chart" Target="../charts/char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64.xml"/><Relationship Id="rId1" Type="http://schemas.openxmlformats.org/officeDocument/2006/relationships/tags" Target="../tags/tag93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2.xml"/><Relationship Id="rId3" Type="http://schemas.openxmlformats.org/officeDocument/2006/relationships/tags" Target="../tags/tag96.xml"/><Relationship Id="rId7" Type="http://schemas.microsoft.com/office/2018/10/relationships/comments" Target="../comments/modernComment_7FFFFECB_62ABD35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97.xml"/><Relationship Id="rId9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image" Target="../media/image13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3.xml"/><Relationship Id="rId3" Type="http://schemas.openxmlformats.org/officeDocument/2006/relationships/tags" Target="../tags/tag103.xml"/><Relationship Id="rId7" Type="http://schemas.openxmlformats.org/officeDocument/2006/relationships/notesSlide" Target="../notesSlides/notesSlide19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Layout" Target="../slideLayouts/slideLayout164.xml"/><Relationship Id="rId5" Type="http://schemas.openxmlformats.org/officeDocument/2006/relationships/tags" Target="../tags/tag105.xml"/><Relationship Id="rId10" Type="http://schemas.openxmlformats.org/officeDocument/2006/relationships/chart" Target="../charts/chart24.xml"/><Relationship Id="rId4" Type="http://schemas.openxmlformats.org/officeDocument/2006/relationships/tags" Target="../tags/tag104.xml"/><Relationship Id="rId9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2.png"/><Relationship Id="rId5" Type="http://schemas.openxmlformats.org/officeDocument/2006/relationships/chart" Target="../charts/chart25.xml"/><Relationship Id="rId4" Type="http://schemas.openxmlformats.org/officeDocument/2006/relationships/notesSlide" Target="../notesSlides/notesSlide2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7.xml"/><Relationship Id="rId3" Type="http://schemas.openxmlformats.org/officeDocument/2006/relationships/tags" Target="../tags/tag110.xml"/><Relationship Id="rId7" Type="http://schemas.openxmlformats.org/officeDocument/2006/relationships/chart" Target="../charts/chart26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13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14/relationships/chartEx" Target="../charts/chartEx2.xml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180.png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microsoft.com/office/2014/relationships/chartEx" Target="../charts/chartEx1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22.xml"/><Relationship Id="rId9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chart" Target="../charts/chart29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chart" Target="../charts/chart28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7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4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94.xml"/><Relationship Id="rId1" Type="http://schemas.openxmlformats.org/officeDocument/2006/relationships/tags" Target="../tags/tag115.xml"/><Relationship Id="rId5" Type="http://schemas.openxmlformats.org/officeDocument/2006/relationships/image" Target="../media/image13.png"/><Relationship Id="rId4" Type="http://schemas.openxmlformats.org/officeDocument/2006/relationships/chart" Target="../charts/chart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94.xml"/><Relationship Id="rId1" Type="http://schemas.openxmlformats.org/officeDocument/2006/relationships/tags" Target="../tags/tag116.xml"/><Relationship Id="rId6" Type="http://schemas.openxmlformats.org/officeDocument/2006/relationships/image" Target="../media/image13.png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5.xml"/><Relationship Id="rId3" Type="http://schemas.openxmlformats.org/officeDocument/2006/relationships/tags" Target="../tags/tag119.xml"/><Relationship Id="rId7" Type="http://schemas.openxmlformats.org/officeDocument/2006/relationships/notesSlide" Target="../notesSlides/notesSlide28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58.xml"/><Relationship Id="rId3" Type="http://schemas.openxmlformats.org/officeDocument/2006/relationships/tags" Target="../tags/tag124.xml"/><Relationship Id="rId7" Type="http://schemas.openxmlformats.org/officeDocument/2006/relationships/image" Target="../media/image13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chart" Target="../charts/chart36.xml"/><Relationship Id="rId5" Type="http://schemas.openxmlformats.org/officeDocument/2006/relationships/notesSlide" Target="../notesSlides/notesSlide29.xml"/><Relationship Id="rId10" Type="http://schemas.openxmlformats.org/officeDocument/2006/relationships/chart" Target="../charts/chart38.xml"/><Relationship Id="rId4" Type="http://schemas.openxmlformats.org/officeDocument/2006/relationships/slideLayout" Target="../slideLayouts/slideLayout25.xml"/><Relationship Id="rId9" Type="http://schemas.openxmlformats.org/officeDocument/2006/relationships/chart" Target="../charts/chart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13.png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chart" Target="../charts/chart40.xml"/><Relationship Id="rId5" Type="http://schemas.openxmlformats.org/officeDocument/2006/relationships/chart" Target="../charts/chart39.xml"/><Relationship Id="rId4" Type="http://schemas.openxmlformats.org/officeDocument/2006/relationships/notesSlide" Target="../notesSlides/notesSlide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7" Type="http://schemas.openxmlformats.org/officeDocument/2006/relationships/image" Target="../media/image13.png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chart" Target="../charts/chart41.xml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3" Type="http://schemas.openxmlformats.org/officeDocument/2006/relationships/tags" Target="../tags/tag132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image" Target="../media/image13.png"/><Relationship Id="rId5" Type="http://schemas.openxmlformats.org/officeDocument/2006/relationships/tags" Target="../tags/tag134.xml"/><Relationship Id="rId10" Type="http://schemas.openxmlformats.org/officeDocument/2006/relationships/chart" Target="../charts/chart43.xml"/><Relationship Id="rId4" Type="http://schemas.openxmlformats.org/officeDocument/2006/relationships/tags" Target="../tags/tag133.xml"/><Relationship Id="rId9" Type="http://schemas.openxmlformats.org/officeDocument/2006/relationships/chart" Target="../charts/chart4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Layout" Target="../slideLayouts/slideLayout164.xml"/><Relationship Id="rId18" Type="http://schemas.openxmlformats.org/officeDocument/2006/relationships/chart" Target="../charts/chart46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chart" Target="../charts/chart45.xml"/><Relationship Id="rId2" Type="http://schemas.openxmlformats.org/officeDocument/2006/relationships/tags" Target="../tags/tag137.xml"/><Relationship Id="rId16" Type="http://schemas.openxmlformats.org/officeDocument/2006/relationships/chart" Target="../charts/chart44.xml"/><Relationship Id="rId20" Type="http://schemas.openxmlformats.org/officeDocument/2006/relationships/chart" Target="../charts/chart48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image" Target="../media/image13.png"/><Relationship Id="rId10" Type="http://schemas.openxmlformats.org/officeDocument/2006/relationships/tags" Target="../tags/tag145.xml"/><Relationship Id="rId19" Type="http://schemas.openxmlformats.org/officeDocument/2006/relationships/chart" Target="../charts/chart47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notesSlide" Target="../notesSlides/notesSlide3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3" Type="http://schemas.openxmlformats.org/officeDocument/2006/relationships/tags" Target="../tags/tag150.xml"/><Relationship Id="rId7" Type="http://schemas.openxmlformats.org/officeDocument/2006/relationships/slideLayout" Target="../slideLayouts/slideLayout16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9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13" Type="http://schemas.openxmlformats.org/officeDocument/2006/relationships/notesSlide" Target="../notesSlides/notesSlide35.xml"/><Relationship Id="rId18" Type="http://schemas.openxmlformats.org/officeDocument/2006/relationships/chart" Target="../charts/chart52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12" Type="http://schemas.openxmlformats.org/officeDocument/2006/relationships/slideLayout" Target="../slideLayouts/slideLayout25.xml"/><Relationship Id="rId17" Type="http://schemas.openxmlformats.org/officeDocument/2006/relationships/chart" Target="../charts/chart51.xml"/><Relationship Id="rId2" Type="http://schemas.openxmlformats.org/officeDocument/2006/relationships/tags" Target="../tags/tag155.xml"/><Relationship Id="rId16" Type="http://schemas.openxmlformats.org/officeDocument/2006/relationships/chart" Target="../charts/chart50.xml"/><Relationship Id="rId20" Type="http://schemas.openxmlformats.org/officeDocument/2006/relationships/chart" Target="../charts/chart54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tags" Target="../tags/tag164.xml"/><Relationship Id="rId5" Type="http://schemas.openxmlformats.org/officeDocument/2006/relationships/tags" Target="../tags/tag158.xml"/><Relationship Id="rId15" Type="http://schemas.openxmlformats.org/officeDocument/2006/relationships/chart" Target="../charts/chart49.xml"/><Relationship Id="rId10" Type="http://schemas.openxmlformats.org/officeDocument/2006/relationships/tags" Target="../tags/tag163.xml"/><Relationship Id="rId19" Type="http://schemas.openxmlformats.org/officeDocument/2006/relationships/chart" Target="../charts/chart53.xml"/><Relationship Id="rId4" Type="http://schemas.openxmlformats.org/officeDocument/2006/relationships/tags" Target="../tags/tag157.xml"/><Relationship Id="rId9" Type="http://schemas.openxmlformats.org/officeDocument/2006/relationships/tags" Target="../tags/tag162.xml"/><Relationship Id="rId1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slide" Target="slide5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chart" Target="../charts/chart56.xml"/><Relationship Id="rId3" Type="http://schemas.openxmlformats.org/officeDocument/2006/relationships/tags" Target="../tags/tag167.xml"/><Relationship Id="rId21" Type="http://schemas.openxmlformats.org/officeDocument/2006/relationships/chart" Target="../charts/chart59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image" Target="../media/image13.png"/><Relationship Id="rId2" Type="http://schemas.openxmlformats.org/officeDocument/2006/relationships/tags" Target="../tags/tag166.xml"/><Relationship Id="rId16" Type="http://schemas.openxmlformats.org/officeDocument/2006/relationships/chart" Target="../charts/chart55.xml"/><Relationship Id="rId20" Type="http://schemas.openxmlformats.org/officeDocument/2006/relationships/chart" Target="../charts/chart58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chart" Target="../charts/chart62.xml"/><Relationship Id="rId5" Type="http://schemas.openxmlformats.org/officeDocument/2006/relationships/tags" Target="../tags/tag169.xml"/><Relationship Id="rId15" Type="http://schemas.openxmlformats.org/officeDocument/2006/relationships/notesSlide" Target="../notesSlides/notesSlide37.xml"/><Relationship Id="rId23" Type="http://schemas.openxmlformats.org/officeDocument/2006/relationships/chart" Target="../charts/chart61.xml"/><Relationship Id="rId10" Type="http://schemas.openxmlformats.org/officeDocument/2006/relationships/tags" Target="../tags/tag174.xml"/><Relationship Id="rId19" Type="http://schemas.openxmlformats.org/officeDocument/2006/relationships/chart" Target="../charts/chart57.xml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slideLayout" Target="../slideLayouts/slideLayout25.xml"/><Relationship Id="rId22" Type="http://schemas.openxmlformats.org/officeDocument/2006/relationships/chart" Target="../charts/chart60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" Target="slide5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slideLayout" Target="../slideLayouts/slideLayout25.xml"/><Relationship Id="rId18" Type="http://schemas.openxmlformats.org/officeDocument/2006/relationships/chart" Target="../charts/chart65.xml"/><Relationship Id="rId3" Type="http://schemas.openxmlformats.org/officeDocument/2006/relationships/tags" Target="../tags/tag180.xml"/><Relationship Id="rId21" Type="http://schemas.openxmlformats.org/officeDocument/2006/relationships/chart" Target="../charts/chart68.xml"/><Relationship Id="rId7" Type="http://schemas.openxmlformats.org/officeDocument/2006/relationships/tags" Target="../tags/tag184.xml"/><Relationship Id="rId12" Type="http://schemas.openxmlformats.org/officeDocument/2006/relationships/tags" Target="../tags/tag189.xml"/><Relationship Id="rId17" Type="http://schemas.openxmlformats.org/officeDocument/2006/relationships/chart" Target="../charts/chart64.xml"/><Relationship Id="rId25" Type="http://schemas.openxmlformats.org/officeDocument/2006/relationships/chart" Target="../charts/chart72.xml"/><Relationship Id="rId2" Type="http://schemas.openxmlformats.org/officeDocument/2006/relationships/tags" Target="../tags/tag179.xml"/><Relationship Id="rId16" Type="http://schemas.openxmlformats.org/officeDocument/2006/relationships/chart" Target="../charts/chart63.xml"/><Relationship Id="rId20" Type="http://schemas.openxmlformats.org/officeDocument/2006/relationships/chart" Target="../charts/chart67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24" Type="http://schemas.openxmlformats.org/officeDocument/2006/relationships/chart" Target="../charts/chart71.xml"/><Relationship Id="rId5" Type="http://schemas.openxmlformats.org/officeDocument/2006/relationships/tags" Target="../tags/tag182.xml"/><Relationship Id="rId15" Type="http://schemas.openxmlformats.org/officeDocument/2006/relationships/image" Target="../media/image14.png"/><Relationship Id="rId23" Type="http://schemas.openxmlformats.org/officeDocument/2006/relationships/chart" Target="../charts/chart70.xml"/><Relationship Id="rId10" Type="http://schemas.openxmlformats.org/officeDocument/2006/relationships/tags" Target="../tags/tag187.xml"/><Relationship Id="rId19" Type="http://schemas.openxmlformats.org/officeDocument/2006/relationships/chart" Target="../charts/chart66.xml"/><Relationship Id="rId4" Type="http://schemas.openxmlformats.org/officeDocument/2006/relationships/tags" Target="../tags/tag181.xml"/><Relationship Id="rId9" Type="http://schemas.openxmlformats.org/officeDocument/2006/relationships/tags" Target="../tags/tag186.xml"/><Relationship Id="rId14" Type="http://schemas.openxmlformats.org/officeDocument/2006/relationships/notesSlide" Target="../notesSlides/notesSlide39.xml"/><Relationship Id="rId22" Type="http://schemas.openxmlformats.org/officeDocument/2006/relationships/chart" Target="../charts/chart6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97.xml"/><Relationship Id="rId13" Type="http://schemas.openxmlformats.org/officeDocument/2006/relationships/slideLayout" Target="../slideLayouts/slideLayout25.xml"/><Relationship Id="rId18" Type="http://schemas.openxmlformats.org/officeDocument/2006/relationships/chart" Target="../charts/chart75.xml"/><Relationship Id="rId3" Type="http://schemas.openxmlformats.org/officeDocument/2006/relationships/tags" Target="../tags/tag192.xml"/><Relationship Id="rId21" Type="http://schemas.openxmlformats.org/officeDocument/2006/relationships/chart" Target="../charts/chart78.xml"/><Relationship Id="rId7" Type="http://schemas.openxmlformats.org/officeDocument/2006/relationships/tags" Target="../tags/tag196.xml"/><Relationship Id="rId12" Type="http://schemas.openxmlformats.org/officeDocument/2006/relationships/tags" Target="../tags/tag201.xml"/><Relationship Id="rId17" Type="http://schemas.openxmlformats.org/officeDocument/2006/relationships/chart" Target="../charts/chart74.xml"/><Relationship Id="rId25" Type="http://schemas.openxmlformats.org/officeDocument/2006/relationships/chart" Target="../charts/chart82.xml"/><Relationship Id="rId2" Type="http://schemas.openxmlformats.org/officeDocument/2006/relationships/tags" Target="../tags/tag191.xml"/><Relationship Id="rId16" Type="http://schemas.openxmlformats.org/officeDocument/2006/relationships/chart" Target="../charts/chart73.xml"/><Relationship Id="rId20" Type="http://schemas.openxmlformats.org/officeDocument/2006/relationships/chart" Target="../charts/chart77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tags" Target="../tags/tag200.xml"/><Relationship Id="rId24" Type="http://schemas.openxmlformats.org/officeDocument/2006/relationships/chart" Target="../charts/chart81.xml"/><Relationship Id="rId5" Type="http://schemas.openxmlformats.org/officeDocument/2006/relationships/tags" Target="../tags/tag194.xml"/><Relationship Id="rId15" Type="http://schemas.openxmlformats.org/officeDocument/2006/relationships/image" Target="../media/image14.png"/><Relationship Id="rId23" Type="http://schemas.openxmlformats.org/officeDocument/2006/relationships/chart" Target="../charts/chart80.xml"/><Relationship Id="rId10" Type="http://schemas.openxmlformats.org/officeDocument/2006/relationships/tags" Target="../tags/tag199.xml"/><Relationship Id="rId19" Type="http://schemas.openxmlformats.org/officeDocument/2006/relationships/chart" Target="../charts/chart76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4" Type="http://schemas.openxmlformats.org/officeDocument/2006/relationships/notesSlide" Target="../notesSlides/notesSlide40.xml"/><Relationship Id="rId22" Type="http://schemas.openxmlformats.org/officeDocument/2006/relationships/chart" Target="../charts/chart7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13" Type="http://schemas.openxmlformats.org/officeDocument/2006/relationships/chart" Target="../charts/chart83.xml"/><Relationship Id="rId18" Type="http://schemas.openxmlformats.org/officeDocument/2006/relationships/chart" Target="../charts/chart88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12" Type="http://schemas.openxmlformats.org/officeDocument/2006/relationships/notesSlide" Target="../notesSlides/notesSlide41.xml"/><Relationship Id="rId17" Type="http://schemas.openxmlformats.org/officeDocument/2006/relationships/chart" Target="../charts/chart87.xml"/><Relationship Id="rId2" Type="http://schemas.openxmlformats.org/officeDocument/2006/relationships/tags" Target="../tags/tag203.xml"/><Relationship Id="rId16" Type="http://schemas.openxmlformats.org/officeDocument/2006/relationships/chart" Target="../charts/chart86.xml"/><Relationship Id="rId20" Type="http://schemas.openxmlformats.org/officeDocument/2006/relationships/chart" Target="../charts/chart90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slideLayout" Target="../slideLayouts/slideLayout25.xml"/><Relationship Id="rId5" Type="http://schemas.openxmlformats.org/officeDocument/2006/relationships/tags" Target="../tags/tag206.xml"/><Relationship Id="rId15" Type="http://schemas.openxmlformats.org/officeDocument/2006/relationships/chart" Target="../charts/chart85.xml"/><Relationship Id="rId10" Type="http://schemas.openxmlformats.org/officeDocument/2006/relationships/tags" Target="../tags/tag211.xml"/><Relationship Id="rId19" Type="http://schemas.openxmlformats.org/officeDocument/2006/relationships/chart" Target="../charts/chart89.xml"/><Relationship Id="rId4" Type="http://schemas.openxmlformats.org/officeDocument/2006/relationships/tags" Target="../tags/tag205.xml"/><Relationship Id="rId9" Type="http://schemas.openxmlformats.org/officeDocument/2006/relationships/tags" Target="../tags/tag210.xml"/><Relationship Id="rId14" Type="http://schemas.openxmlformats.org/officeDocument/2006/relationships/chart" Target="../charts/chart8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14.xml"/><Relationship Id="rId7" Type="http://schemas.openxmlformats.org/officeDocument/2006/relationships/chart" Target="../charts/chart91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notesSlide" Target="../notesSlides/notesSlide42.xml"/><Relationship Id="rId11" Type="http://schemas.openxmlformats.org/officeDocument/2006/relationships/chart" Target="../charts/chart94.xml"/><Relationship Id="rId5" Type="http://schemas.openxmlformats.org/officeDocument/2006/relationships/slideLayout" Target="../slideLayouts/slideLayout25.xml"/><Relationship Id="rId10" Type="http://schemas.openxmlformats.org/officeDocument/2006/relationships/chart" Target="../charts/chart93.xml"/><Relationship Id="rId4" Type="http://schemas.openxmlformats.org/officeDocument/2006/relationships/tags" Target="../tags/tag215.xml"/><Relationship Id="rId9" Type="http://schemas.openxmlformats.org/officeDocument/2006/relationships/chart" Target="../charts/chart9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7" Type="http://schemas.openxmlformats.org/officeDocument/2006/relationships/image" Target="../media/image13.png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chart" Target="../charts/chart95.xml"/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64.xml"/><Relationship Id="rId1" Type="http://schemas.openxmlformats.org/officeDocument/2006/relationships/tags" Target="../tags/tag219.xml"/><Relationship Id="rId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5.xml"/><Relationship Id="rId3" Type="http://schemas.openxmlformats.org/officeDocument/2006/relationships/tags" Target="../tags/tag222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image" Target="../media/image14.png"/><Relationship Id="rId5" Type="http://schemas.openxmlformats.org/officeDocument/2006/relationships/tags" Target="../tags/tag224.xml"/><Relationship Id="rId10" Type="http://schemas.openxmlformats.org/officeDocument/2006/relationships/chart" Target="../charts/chart97.xml"/><Relationship Id="rId4" Type="http://schemas.openxmlformats.org/officeDocument/2006/relationships/tags" Target="../tags/tag223.xml"/><Relationship Id="rId9" Type="http://schemas.openxmlformats.org/officeDocument/2006/relationships/chart" Target="../charts/chart9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8.xml"/><Relationship Id="rId3" Type="http://schemas.openxmlformats.org/officeDocument/2006/relationships/tags" Target="../tags/tag228.xml"/><Relationship Id="rId7" Type="http://schemas.openxmlformats.org/officeDocument/2006/relationships/notesSlide" Target="../notesSlides/notesSlide46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230.xml"/><Relationship Id="rId10" Type="http://schemas.openxmlformats.org/officeDocument/2006/relationships/chart" Target="../charts/chart100.xml"/><Relationship Id="rId4" Type="http://schemas.openxmlformats.org/officeDocument/2006/relationships/tags" Target="../tags/tag229.xml"/><Relationship Id="rId9" Type="http://schemas.openxmlformats.org/officeDocument/2006/relationships/chart" Target="../charts/chart9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233.xml"/><Relationship Id="rId7" Type="http://schemas.openxmlformats.org/officeDocument/2006/relationships/chart" Target="../charts/chart101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3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2.xml"/><Relationship Id="rId3" Type="http://schemas.openxmlformats.org/officeDocument/2006/relationships/tags" Target="../tags/tag237.xml"/><Relationship Id="rId7" Type="http://schemas.openxmlformats.org/officeDocument/2006/relationships/notesSlide" Target="../notesSlides/notesSlide48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239.xml"/><Relationship Id="rId10" Type="http://schemas.openxmlformats.org/officeDocument/2006/relationships/chart" Target="../charts/chart103.xml"/><Relationship Id="rId4" Type="http://schemas.openxmlformats.org/officeDocument/2006/relationships/tags" Target="../tags/tag238.xml"/><Relationship Id="rId9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42.xml"/><Relationship Id="rId7" Type="http://schemas.openxmlformats.org/officeDocument/2006/relationships/notesSlide" Target="../notesSlides/notesSlide49.xml"/><Relationship Id="rId2" Type="http://schemas.openxmlformats.org/officeDocument/2006/relationships/tags" Target="../tags/tag241.xml"/><Relationship Id="rId1" Type="http://schemas.openxmlformats.org/officeDocument/2006/relationships/tags" Target="../tags/tag240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244.xml"/><Relationship Id="rId10" Type="http://schemas.openxmlformats.org/officeDocument/2006/relationships/chart" Target="../charts/chart105.xml"/><Relationship Id="rId4" Type="http://schemas.openxmlformats.org/officeDocument/2006/relationships/tags" Target="../tags/tag243.xml"/><Relationship Id="rId9" Type="http://schemas.openxmlformats.org/officeDocument/2006/relationships/chart" Target="../charts/chart10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3" Type="http://schemas.openxmlformats.org/officeDocument/2006/relationships/image" Target="../media/image27.png"/><Relationship Id="rId7" Type="http://schemas.openxmlformats.org/officeDocument/2006/relationships/slide" Target="slide35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9" Type="http://schemas.openxmlformats.org/officeDocument/2006/relationships/slide" Target="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EC91AC-C302-AEC3-1CD4-A5616037B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10029627" cy="2117503"/>
          </a:xfrm>
        </p:spPr>
        <p:txBody>
          <a:bodyPr/>
          <a:lstStyle/>
          <a:p>
            <a:r>
              <a:rPr lang="en-US" sz="6600" noProof="0" dirty="0"/>
              <a:t>RYB+LAZ Promotional Effectiveness Tracking </a:t>
            </a:r>
            <a:br>
              <a:rPr lang="en-US" sz="6600" noProof="0" dirty="0"/>
            </a:br>
            <a:r>
              <a:rPr lang="en-US" sz="4000" noProof="0" dirty="0"/>
              <a:t>Q4</a:t>
            </a: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'</a:t>
            </a:r>
            <a:r>
              <a:rPr lang="en-US" sz="4000" noProof="0" dirty="0"/>
              <a:t>25 Report</a:t>
            </a:r>
            <a:endParaRPr lang="en-US" sz="6600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BC7E8A9-51E2-544C-1E2A-D6E140D6E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3075" y="5454770"/>
            <a:ext cx="5511800" cy="717180"/>
          </a:xfrm>
        </p:spPr>
        <p:txBody>
          <a:bodyPr/>
          <a:lstStyle/>
          <a:p>
            <a:r>
              <a:rPr lang="en-US" noProof="0"/>
              <a:t>Amanda Merrill, Market Research, Solid Tumor Oncology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5CBD87AB-7BF7-C82B-8A91-F9C3A84CED4A}"/>
              </a:ext>
            </a:extLst>
          </p:cNvPr>
          <p:cNvSpPr txBox="1">
            <a:spLocks/>
          </p:cNvSpPr>
          <p:nvPr/>
        </p:nvSpPr>
        <p:spPr>
          <a:xfrm>
            <a:off x="5738939" y="5813360"/>
            <a:ext cx="2795587" cy="7171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      Research Conducted by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1AA9062-FBB1-09D8-7432-A777FCA8CFBE}"/>
              </a:ext>
            </a:extLst>
          </p:cNvPr>
          <p:cNvSpPr txBox="1">
            <a:spLocks/>
          </p:cNvSpPr>
          <p:nvPr/>
        </p:nvSpPr>
        <p:spPr>
          <a:xfrm>
            <a:off x="284805" y="2591268"/>
            <a:ext cx="5594736" cy="58731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1300" b="0" i="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Lucida Grande"/>
              <a:buChar char="-"/>
              <a:defRPr sz="16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12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Lucida Grande"/>
              <a:buChar char="-"/>
              <a:defRPr sz="10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br>
              <a:rPr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</a:br>
            <a:r>
              <a:rPr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January 13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</a:rPr>
              <a:t>, </a:t>
            </a:r>
            <a:r>
              <a:rPr lang="en-US" sz="2000" dirty="0">
                <a:solidFill>
                  <a:srgbClr val="FFFFFF"/>
                </a:solidFill>
                <a:latin typeface="+mj-lt"/>
              </a:rPr>
              <a:t>2026</a:t>
            </a:r>
            <a:endParaRPr lang="en-US" sz="2000" dirty="0"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9A7CA1-1E25-CD21-1174-6746239B8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583" y="6291429"/>
            <a:ext cx="1401432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32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0D49-A9E8-F0D1-291A-DC82A02B7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4431983"/>
          </a:xfrm>
        </p:spPr>
        <p:txBody>
          <a:bodyPr/>
          <a:lstStyle/>
          <a:p>
            <a:pPr marL="0" marR="0" lvl="0" indent="0" algn="l" defTabSz="914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Methodology &amp; Respondent Overview</a:t>
            </a:r>
          </a:p>
        </p:txBody>
      </p:sp>
    </p:spTree>
    <p:extLst>
      <p:ext uri="{BB962C8B-B14F-4D97-AF65-F5344CB8AC3E}">
        <p14:creationId xmlns:p14="http://schemas.microsoft.com/office/powerpoint/2010/main" val="102401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4"/>
          <p:cNvGrpSpPr/>
          <p:nvPr/>
        </p:nvGrpSpPr>
        <p:grpSpPr>
          <a:xfrm>
            <a:off x="2432984" y="3134287"/>
            <a:ext cx="953149" cy="772804"/>
            <a:chOff x="3585743" y="2622890"/>
            <a:chExt cx="1032395" cy="956888"/>
          </a:xfrm>
        </p:grpSpPr>
        <p:sp>
          <p:nvSpPr>
            <p:cNvPr id="258" name="Google Shape;258;p4"/>
            <p:cNvSpPr txBox="1"/>
            <p:nvPr/>
          </p:nvSpPr>
          <p:spPr>
            <a:xfrm>
              <a:off x="3585743" y="3318323"/>
              <a:ext cx="1032395" cy="261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99" b="1" i="0" u="none" strike="noStrike" kern="1200" cap="none" spc="0" normalizeH="0" baseline="0" noProof="0">
                  <a:ln>
                    <a:noFill/>
                  </a:ln>
                  <a:solidFill>
                    <a:srgbClr val="3C3C3C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~5 business days</a:t>
              </a:r>
              <a:endParaRPr kumimoji="0" sz="13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endParaRPr>
            </a:p>
          </p:txBody>
        </p:sp>
        <p:pic>
          <p:nvPicPr>
            <p:cNvPr id="259" name="Google Shape;259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741940" y="2622890"/>
              <a:ext cx="720000" cy="72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DDB60FD-2A40-498E-8A93-047844A554AB}"/>
              </a:ext>
            </a:extLst>
          </p:cNvPr>
          <p:cNvGrpSpPr/>
          <p:nvPr/>
        </p:nvGrpSpPr>
        <p:grpSpPr>
          <a:xfrm>
            <a:off x="363080" y="2130861"/>
            <a:ext cx="2077314" cy="2784956"/>
            <a:chOff x="603186" y="2055985"/>
            <a:chExt cx="2077314" cy="2784956"/>
          </a:xfrm>
        </p:grpSpPr>
        <p:sp>
          <p:nvSpPr>
            <p:cNvPr id="265" name="Google Shape;265;p4"/>
            <p:cNvSpPr/>
            <p:nvPr/>
          </p:nvSpPr>
          <p:spPr>
            <a:xfrm>
              <a:off x="603186" y="2076581"/>
              <a:ext cx="2077314" cy="461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Verdana"/>
                  <a:cs typeface="Verdana"/>
                  <a:sym typeface="Verdana"/>
                </a:rPr>
                <a:t>Sales Rep Interaction</a:t>
              </a:r>
              <a:endParaRPr kumimoji="0" sz="13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640631" y="2055985"/>
              <a:ext cx="2002425" cy="2774255"/>
            </a:xfrm>
            <a:prstGeom prst="rect">
              <a:avLst/>
            </a:prstGeom>
            <a:noFill/>
            <a:ln w="9525" cap="flat" cmpd="sng">
              <a:solidFill>
                <a:srgbClr val="9B9B6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267" name="Google Shape;267;p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98008" y="2663002"/>
              <a:ext cx="687671" cy="461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4"/>
            <p:cNvSpPr/>
            <p:nvPr/>
          </p:nvSpPr>
          <p:spPr>
            <a:xfrm>
              <a:off x="640631" y="3231834"/>
              <a:ext cx="2002425" cy="1609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Verdana"/>
                  <a:cs typeface="Verdana"/>
                  <a:sym typeface="Verdana"/>
                </a:rPr>
                <a:t>Interaction Channels Covered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Personal Promotion (Telephone, Video, In-Person)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  <a:sym typeface="Verdana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Non–Sales Rep Promotion*</a:t>
              </a:r>
              <a:endPara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  <a:sym typeface="Verdana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C5C535C-9BF0-44D6-A0F7-FBF73B28A56F}"/>
              </a:ext>
            </a:extLst>
          </p:cNvPr>
          <p:cNvGrpSpPr/>
          <p:nvPr/>
        </p:nvGrpSpPr>
        <p:grpSpPr>
          <a:xfrm>
            <a:off x="3386133" y="1117235"/>
            <a:ext cx="4455129" cy="4749104"/>
            <a:chOff x="3622565" y="1029109"/>
            <a:chExt cx="4455129" cy="510275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E6CD1B0-0BFE-410F-AA3E-06CF8D7C1967}"/>
                </a:ext>
              </a:extLst>
            </p:cNvPr>
            <p:cNvSpPr txBox="1"/>
            <p:nvPr/>
          </p:nvSpPr>
          <p:spPr>
            <a:xfrm>
              <a:off x="3720245" y="4519867"/>
              <a:ext cx="4259770" cy="26455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Verdana" panose="020B0604030504040204" pitchFamily="34" charset="0"/>
                  <a:cs typeface="+mn-cs"/>
                </a:rPr>
                <a:t>Area of Focus</a:t>
              </a:r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3739555" y="2238473"/>
              <a:ext cx="4233923" cy="605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Verdana"/>
                </a:rPr>
                <a:t>Interaction Type and Description of Interaction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Arial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>
                  <a:srgbClr val="0B1F65"/>
                </a:buClr>
                <a:buSzPts val="11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Verdana"/>
                </a:rPr>
                <a:t>Message Recall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Arial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>
                  <a:srgbClr val="0B1F65"/>
                </a:buClr>
                <a:buSzPts val="11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Verdana"/>
                </a:rPr>
                <a:t>Quality of Interaction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3622565" y="1055034"/>
              <a:ext cx="4455129" cy="585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Verdana" panose="020B0604030504040204" pitchFamily="34" charset="0"/>
                  <a:cs typeface="Verdana"/>
                  <a:sym typeface="Verdana"/>
                </a:rPr>
                <a:t>Personal Promotion Survey</a:t>
              </a:r>
              <a:endParaRPr kumimoji="0" sz="13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Verdana"/>
                </a:rPr>
                <a:t>(HCP takes the survey within ~5 business days of contact with sales rep)</a:t>
              </a:r>
              <a:endParaRPr kumimoji="0" lang="en-GB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3720245" y="1029109"/>
              <a:ext cx="4259770" cy="2575606"/>
            </a:xfrm>
            <a:prstGeom prst="rect">
              <a:avLst/>
            </a:prstGeom>
            <a:noFill/>
            <a:ln w="9525" cap="flat" cmpd="sng">
              <a:solidFill>
                <a:srgbClr val="9B9B6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9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endParaRPr>
            </a:p>
          </p:txBody>
        </p:sp>
        <p:graphicFrame>
          <p:nvGraphicFramePr>
            <p:cNvPr id="279" name="Google Shape;279;p4"/>
            <p:cNvGraphicFramePr/>
            <p:nvPr>
              <p:custDataLst>
                <p:tags r:id="rId3"/>
              </p:custDataLst>
              <p:extLst>
                <p:ext uri="{D42A27DB-BD31-4B8C-83A1-F6EECF244321}">
                  <p14:modId xmlns:p14="http://schemas.microsoft.com/office/powerpoint/2010/main" val="3015334574"/>
                </p:ext>
              </p:extLst>
            </p:nvPr>
          </p:nvGraphicFramePr>
          <p:xfrm>
            <a:off x="5003189" y="2686264"/>
            <a:ext cx="1872000" cy="785864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26244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0955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87962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sz="1000" b="1" u="none" strike="noStrike" cap="none" baseline="30000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endParaRPr>
                      </a:p>
                    </a:txBody>
                    <a:tcPr marL="91400" marR="91400" marT="45700" marB="45700" anchor="ctr">
                      <a:lnL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IN" sz="1000" b="0">
                          <a:solidFill>
                            <a:srgbClr val="FF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endParaRPr>
                      </a:p>
                    </a:txBody>
                    <a:tcPr marL="91400" marR="91400" marT="45700" marB="45700" anchor="ctr">
                      <a:lnL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3544912472"/>
                    </a:ext>
                  </a:extLst>
                </a:tr>
                <a:tr h="187962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b="1" u="none" strike="noStrike" cap="none">
                            <a:solidFill>
                              <a:srgbClr val="F95924"/>
                            </a:solidFill>
                            <a:latin typeface="Johnson Text" panose="020B0604020202020204" charset="0"/>
                            <a:ea typeface="Verdana" panose="020B0604030504040204" pitchFamily="34" charset="0"/>
                            <a:cs typeface="Johnson Text" panose="020B0604020202020204" charset="0"/>
                          </a:rPr>
                          <a:t>RYB+LAZ</a:t>
                        </a:r>
                        <a:endParaRPr lang="en-US" sz="1000" b="1" u="none" strike="noStrike" cap="none" baseline="30000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endParaRPr>
                      </a:p>
                    </a:txBody>
                    <a:tcPr marL="91400" marR="91400" marT="45700" marB="45700" anchor="ctr">
                      <a:lnL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IN" sz="1000" b="0" u="none" strike="noStrike" cap="none">
                            <a:solidFill>
                              <a:srgbClr val="000000"/>
                            </a:solidFill>
                            <a:latin typeface="Johnson Text" panose="020B0604020202020204" charset="0"/>
                            <a:ea typeface="Verdana" panose="020B0604030504040204" pitchFamily="34" charset="0"/>
                            <a:cs typeface="Johnson Text" panose="020B0604020202020204" charset="0"/>
                            <a:sym typeface="Verdana"/>
                          </a:rPr>
                          <a:t>s = 100</a:t>
                        </a:r>
                        <a:endParaRPr lang="en-IN" sz="1000" b="0">
                          <a:solidFill>
                            <a:srgbClr val="FF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endParaRPr>
                      </a:p>
                    </a:txBody>
                    <a:tcPr marL="91400" marR="91400" marT="45700" marB="45700" anchor="ctr">
                      <a:lnL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87962">
                  <a:tc>
                    <a:txBody>
                      <a:bodyPr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IN" sz="1000" b="1" u="none" strike="noStrike" cap="none">
                            <a:solidFill>
                              <a:srgbClr val="7030A0"/>
                            </a:solidFill>
                            <a:latin typeface="Johnson Text" panose="020B0604020202020204" charset="0"/>
                            <a:ea typeface="Verdana" panose="020B0604030504040204" pitchFamily="34" charset="0"/>
                            <a:cs typeface="Johnson Text" panose="020B0604020202020204" charset="0"/>
                            <a:sym typeface="Verdana"/>
                          </a:rPr>
                          <a:t>TAGRISSO</a:t>
                        </a:r>
                        <a:endParaRPr lang="en-IN" sz="1000" b="1" u="none" strike="noStrike" cap="none">
                          <a:solidFill>
                            <a:srgbClr val="7030A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endParaRPr>
                      </a:p>
                    </a:txBody>
                    <a:tcPr marL="91400" marR="91400" marT="45700" marB="45700" anchor="ctr">
                      <a:lnL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IN" sz="1000" b="0" u="none" strike="noStrike" cap="none">
                            <a:solidFill>
                              <a:srgbClr val="000000"/>
                            </a:solidFill>
                            <a:latin typeface="Johnson Text" panose="020B0604020202020204" charset="0"/>
                            <a:ea typeface="Verdana" panose="020B0604030504040204" pitchFamily="34" charset="0"/>
                            <a:cs typeface="Johnson Text" panose="020B0604020202020204" charset="0"/>
                            <a:sym typeface="Verdana"/>
                          </a:rPr>
                          <a:t>s = 73</a:t>
                        </a:r>
                        <a:endParaRPr lang="en-IN" sz="1000" b="0">
                          <a:solidFill>
                            <a:srgbClr val="FF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endParaRPr>
                      </a:p>
                    </a:txBody>
                    <a:tcPr marL="91400" marR="91400" marT="45700" marB="45700" anchor="ctr">
                      <a:lnL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691210258"/>
                    </a:ext>
                  </a:extLst>
                </a:tr>
              </a:tbl>
            </a:graphicData>
          </a:graphic>
        </p:graphicFrame>
        <p:sp>
          <p:nvSpPr>
            <p:cNvPr id="29" name="Google Shape;268;p4">
              <a:extLst>
                <a:ext uri="{FF2B5EF4-FFF2-40B4-BE49-F238E27FC236}">
                  <a16:creationId xmlns:a16="http://schemas.microsoft.com/office/drawing/2014/main" id="{0A3DC75E-4CEB-4F42-9304-83865BA69952}"/>
                </a:ext>
              </a:extLst>
            </p:cNvPr>
            <p:cNvSpPr/>
            <p:nvPr/>
          </p:nvSpPr>
          <p:spPr>
            <a:xfrm>
              <a:off x="3739555" y="4826325"/>
              <a:ext cx="4233923" cy="682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Type of NPP Received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Quality of NPP and Actions Taken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Impact on Rx</a:t>
              </a:r>
            </a:p>
          </p:txBody>
        </p:sp>
        <p:sp>
          <p:nvSpPr>
            <p:cNvPr id="30" name="Google Shape;269;p4">
              <a:extLst>
                <a:ext uri="{FF2B5EF4-FFF2-40B4-BE49-F238E27FC236}">
                  <a16:creationId xmlns:a16="http://schemas.microsoft.com/office/drawing/2014/main" id="{62831C25-137A-4E57-83AF-4BB922B4786F}"/>
                </a:ext>
              </a:extLst>
            </p:cNvPr>
            <p:cNvSpPr/>
            <p:nvPr/>
          </p:nvSpPr>
          <p:spPr>
            <a:xfrm>
              <a:off x="3746432" y="3763514"/>
              <a:ext cx="4224718" cy="585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Verdana" panose="020B0604030504040204" pitchFamily="34" charset="0"/>
                  <a:cs typeface="Verdana"/>
                  <a:sym typeface="Verdana"/>
                </a:rPr>
                <a:t>Non–Sales Rep Promotion Survey</a:t>
              </a:r>
              <a:endParaRPr kumimoji="0" sz="13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Verdana"/>
                </a:rPr>
                <a:t>(HCP takes the survey within ~5 business days of promotion)</a:t>
              </a:r>
              <a:endParaRPr kumimoji="0" lang="en-GB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Arial"/>
              </a:endParaRPr>
            </a:p>
          </p:txBody>
        </p:sp>
        <p:sp>
          <p:nvSpPr>
            <p:cNvPr id="31" name="Google Shape;270;p4">
              <a:extLst>
                <a:ext uri="{FF2B5EF4-FFF2-40B4-BE49-F238E27FC236}">
                  <a16:creationId xmlns:a16="http://schemas.microsoft.com/office/drawing/2014/main" id="{96B171CB-8CE2-4BF4-8EA6-63087E52B410}"/>
                </a:ext>
              </a:extLst>
            </p:cNvPr>
            <p:cNvSpPr/>
            <p:nvPr/>
          </p:nvSpPr>
          <p:spPr>
            <a:xfrm>
              <a:off x="3720245" y="3688823"/>
              <a:ext cx="4259770" cy="2443036"/>
            </a:xfrm>
            <a:prstGeom prst="rect">
              <a:avLst/>
            </a:prstGeom>
            <a:noFill/>
            <a:ln w="9525" cap="flat" cmpd="sng">
              <a:solidFill>
                <a:srgbClr val="9B9B6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9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45BFE69-2BC8-43A0-97A9-B89FAFED8214}"/>
                </a:ext>
              </a:extLst>
            </p:cNvPr>
            <p:cNvSpPr txBox="1"/>
            <p:nvPr/>
          </p:nvSpPr>
          <p:spPr>
            <a:xfrm>
              <a:off x="3720245" y="1970157"/>
              <a:ext cx="4259770" cy="26455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Verdana" panose="020B0604030504040204" pitchFamily="34" charset="0"/>
                  <a:cs typeface="+mn-cs"/>
                </a:rPr>
                <a:t>Area of Focus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44E77E-61C9-4F30-9AF4-E9AC1F2991E4}"/>
              </a:ext>
            </a:extLst>
          </p:cNvPr>
          <p:cNvGrpSpPr/>
          <p:nvPr/>
        </p:nvGrpSpPr>
        <p:grpSpPr>
          <a:xfrm>
            <a:off x="8824415" y="3626221"/>
            <a:ext cx="3054589" cy="2263482"/>
            <a:chOff x="8527624" y="2222126"/>
            <a:chExt cx="3054589" cy="2750633"/>
          </a:xfrm>
        </p:grpSpPr>
        <p:sp>
          <p:nvSpPr>
            <p:cNvPr id="43" name="Google Shape;266;p4">
              <a:extLst>
                <a:ext uri="{FF2B5EF4-FFF2-40B4-BE49-F238E27FC236}">
                  <a16:creationId xmlns:a16="http://schemas.microsoft.com/office/drawing/2014/main" id="{08A3AC7C-3153-47FE-9F9B-A377112924BA}"/>
                </a:ext>
              </a:extLst>
            </p:cNvPr>
            <p:cNvSpPr/>
            <p:nvPr/>
          </p:nvSpPr>
          <p:spPr>
            <a:xfrm>
              <a:off x="8543014" y="2225887"/>
              <a:ext cx="3039199" cy="2656289"/>
            </a:xfrm>
            <a:prstGeom prst="rect">
              <a:avLst/>
            </a:prstGeom>
            <a:noFill/>
            <a:ln w="9525" cap="flat" cmpd="sng">
              <a:solidFill>
                <a:srgbClr val="9B9B6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9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" name="Google Shape;272;p4">
              <a:extLst>
                <a:ext uri="{FF2B5EF4-FFF2-40B4-BE49-F238E27FC236}">
                  <a16:creationId xmlns:a16="http://schemas.microsoft.com/office/drawing/2014/main" id="{983A9A68-AFA4-47AE-B939-CC9766181A9E}"/>
                </a:ext>
              </a:extLst>
            </p:cNvPr>
            <p:cNvSpPr/>
            <p:nvPr/>
          </p:nvSpPr>
          <p:spPr>
            <a:xfrm>
              <a:off x="8527624" y="2222126"/>
              <a:ext cx="3039199" cy="53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200" tIns="45675" rIns="33200" bIns="456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Verdana" panose="020B0604030504040204" pitchFamily="34" charset="0"/>
                  <a:cs typeface="Verdana"/>
                  <a:sym typeface="Verdana"/>
                </a:rPr>
                <a:t>Impact Survey</a:t>
              </a:r>
              <a:endParaRPr kumimoji="0" sz="13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Verdana"/>
                </a:rPr>
                <a:t>(HCPs who had any relevant rep interaction are invited to participate in a quarter)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5FB6FBE-C544-4680-B307-00D803BAC5B5}"/>
                </a:ext>
              </a:extLst>
            </p:cNvPr>
            <p:cNvSpPr txBox="1"/>
            <p:nvPr/>
          </p:nvSpPr>
          <p:spPr>
            <a:xfrm>
              <a:off x="8543014" y="3436066"/>
              <a:ext cx="3039199" cy="29921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Verdana" panose="020B0604030504040204" pitchFamily="34" charset="0"/>
                  <a:cs typeface="+mn-cs"/>
                </a:rPr>
                <a:t>Area of Focus</a:t>
              </a:r>
            </a:p>
          </p:txBody>
        </p:sp>
        <p:sp>
          <p:nvSpPr>
            <p:cNvPr id="59" name="Google Shape;268;p4">
              <a:extLst>
                <a:ext uri="{FF2B5EF4-FFF2-40B4-BE49-F238E27FC236}">
                  <a16:creationId xmlns:a16="http://schemas.microsoft.com/office/drawing/2014/main" id="{9CB29CF2-06AD-45DC-A533-87414AB90620}"/>
                </a:ext>
              </a:extLst>
            </p:cNvPr>
            <p:cNvSpPr/>
            <p:nvPr/>
          </p:nvSpPr>
          <p:spPr>
            <a:xfrm>
              <a:off x="8543014" y="3628598"/>
              <a:ext cx="3039198" cy="853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  <a:sym typeface="Verdana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Message Effectiveness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Product Perception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Treatment Behavior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Engagement</a:t>
              </a:r>
            </a:p>
          </p:txBody>
        </p:sp>
        <p:sp>
          <p:nvSpPr>
            <p:cNvPr id="65" name="Google Shape;268;p4">
              <a:extLst>
                <a:ext uri="{FF2B5EF4-FFF2-40B4-BE49-F238E27FC236}">
                  <a16:creationId xmlns:a16="http://schemas.microsoft.com/office/drawing/2014/main" id="{134F2F98-9FBB-4270-8267-E43EE35E4CDB}"/>
                </a:ext>
              </a:extLst>
            </p:cNvPr>
            <p:cNvSpPr/>
            <p:nvPr/>
          </p:nvSpPr>
          <p:spPr>
            <a:xfrm>
              <a:off x="8543015" y="4378145"/>
              <a:ext cx="3039198" cy="5946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 n = 63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0128E03A-17FB-434B-AAA6-9484ECD0ABC8}"/>
              </a:ext>
            </a:extLst>
          </p:cNvPr>
          <p:cNvSpPr txBox="1"/>
          <p:nvPr/>
        </p:nvSpPr>
        <p:spPr>
          <a:xfrm>
            <a:off x="312998" y="5049803"/>
            <a:ext cx="1820535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*Types of channels given in speaker notes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A57362-AEFA-4743-9970-6B6F546B8FB5}"/>
              </a:ext>
            </a:extLst>
          </p:cNvPr>
          <p:cNvSpPr/>
          <p:nvPr/>
        </p:nvSpPr>
        <p:spPr>
          <a:xfrm>
            <a:off x="3386133" y="1043065"/>
            <a:ext cx="4424067" cy="4855231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0" name="Google Shape;272;p4">
            <a:extLst>
              <a:ext uri="{FF2B5EF4-FFF2-40B4-BE49-F238E27FC236}">
                <a16:creationId xmlns:a16="http://schemas.microsoft.com/office/drawing/2014/main" id="{9F9165DF-468E-4C23-AB88-BB15699E4492}"/>
              </a:ext>
            </a:extLst>
          </p:cNvPr>
          <p:cNvSpPr/>
          <p:nvPr/>
        </p:nvSpPr>
        <p:spPr>
          <a:xfrm>
            <a:off x="8839805" y="1093101"/>
            <a:ext cx="3039199" cy="45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200" tIns="45675" rIns="33200" bIns="45675" anchor="t" anchorCtr="0">
            <a:noAutofit/>
          </a:bodyPr>
          <a:lstStyle/>
          <a:p>
            <a:pPr algn="ctr">
              <a:defRPr/>
            </a:pPr>
            <a:r>
              <a:rPr lang="en-IN" sz="1150" b="1">
                <a:solidFill>
                  <a:srgbClr val="000000"/>
                </a:solidFill>
                <a:latin typeface="+mj-lt"/>
                <a:ea typeface="Verdana"/>
                <a:cs typeface="Verdana"/>
                <a:sym typeface="Verdana"/>
              </a:rPr>
              <a:t>Retention</a:t>
            </a:r>
            <a:r>
              <a:rPr kumimoji="0" lang="en-IN" sz="11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 Survey</a:t>
            </a:r>
            <a:endParaRPr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Verdan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Johnson Text"/>
                <a:sym typeface="Verdana"/>
              </a:rPr>
              <a:t>(HCP takes the follow-up survey</a:t>
            </a:r>
            <a:br>
              <a:rPr lang="en-US" sz="10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Johnson Text"/>
                <a:sym typeface="Verdana"/>
              </a:rPr>
              <a:t>2 weeks after personal promotion)</a:t>
            </a:r>
            <a:endParaRPr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/>
              <a:cs typeface="Johnson Tex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9BB218-7CDE-46B0-BEEC-5E9FD7CAA5E7}"/>
              </a:ext>
            </a:extLst>
          </p:cNvPr>
          <p:cNvSpPr txBox="1"/>
          <p:nvPr/>
        </p:nvSpPr>
        <p:spPr>
          <a:xfrm>
            <a:off x="8839805" y="2104724"/>
            <a:ext cx="3039199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Area of Focus</a:t>
            </a:r>
          </a:p>
        </p:txBody>
      </p:sp>
      <p:sp>
        <p:nvSpPr>
          <p:cNvPr id="82" name="Google Shape;268;p4">
            <a:extLst>
              <a:ext uri="{FF2B5EF4-FFF2-40B4-BE49-F238E27FC236}">
                <a16:creationId xmlns:a16="http://schemas.microsoft.com/office/drawing/2014/main" id="{62A717B9-3A5E-4716-8120-676864B73D1E}"/>
              </a:ext>
            </a:extLst>
          </p:cNvPr>
          <p:cNvSpPr/>
          <p:nvPr/>
        </p:nvSpPr>
        <p:spPr>
          <a:xfrm>
            <a:off x="8839804" y="2415410"/>
            <a:ext cx="3039198" cy="42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  <a:sym typeface="Verdana"/>
              </a:rPr>
              <a:t>Message Retention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00082B0-9A31-4D1E-AFDA-0FC5E17A9954}"/>
              </a:ext>
            </a:extLst>
          </p:cNvPr>
          <p:cNvSpPr/>
          <p:nvPr/>
        </p:nvSpPr>
        <p:spPr>
          <a:xfrm>
            <a:off x="8761282" y="1043065"/>
            <a:ext cx="3201468" cy="2572188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6F44A2-D089-4ED1-8CEA-3A69D4A1421A}"/>
              </a:ext>
            </a:extLst>
          </p:cNvPr>
          <p:cNvSpPr/>
          <p:nvPr/>
        </p:nvSpPr>
        <p:spPr>
          <a:xfrm>
            <a:off x="8761282" y="3497599"/>
            <a:ext cx="3201468" cy="2392105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86" name="Google Shape;257;p4">
            <a:extLst>
              <a:ext uri="{FF2B5EF4-FFF2-40B4-BE49-F238E27FC236}">
                <a16:creationId xmlns:a16="http://schemas.microsoft.com/office/drawing/2014/main" id="{5A85E15F-602F-4E99-825A-03C050D7C7DB}"/>
              </a:ext>
            </a:extLst>
          </p:cNvPr>
          <p:cNvGrpSpPr/>
          <p:nvPr/>
        </p:nvGrpSpPr>
        <p:grpSpPr>
          <a:xfrm>
            <a:off x="7802789" y="3134287"/>
            <a:ext cx="953149" cy="772804"/>
            <a:chOff x="3585743" y="2622890"/>
            <a:chExt cx="1032395" cy="956888"/>
          </a:xfrm>
        </p:grpSpPr>
        <p:sp>
          <p:nvSpPr>
            <p:cNvPr id="87" name="Google Shape;258;p4">
              <a:extLst>
                <a:ext uri="{FF2B5EF4-FFF2-40B4-BE49-F238E27FC236}">
                  <a16:creationId xmlns:a16="http://schemas.microsoft.com/office/drawing/2014/main" id="{5EFE1950-A5F0-4163-AA53-FDA4A4019004}"/>
                </a:ext>
              </a:extLst>
            </p:cNvPr>
            <p:cNvSpPr txBox="1"/>
            <p:nvPr/>
          </p:nvSpPr>
          <p:spPr>
            <a:xfrm>
              <a:off x="3585743" y="3318323"/>
              <a:ext cx="1032395" cy="261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5" tIns="45675" rIns="91375" bIns="456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99" b="1" i="0" u="none" strike="noStrike" kern="1200" cap="none" spc="0" normalizeH="0" baseline="0" noProof="0">
                  <a:ln>
                    <a:noFill/>
                  </a:ln>
                  <a:solidFill>
                    <a:srgbClr val="3C3C3C"/>
                  </a:solidFill>
                  <a:effectLst/>
                  <a:uLnTx/>
                  <a:uFillTx/>
                  <a:latin typeface="+mj-lt"/>
                  <a:ea typeface="Verdana"/>
                  <a:cs typeface="Verdana"/>
                  <a:sym typeface="Verdana"/>
                </a:rPr>
                <a:t>(~2 weeks </a:t>
              </a:r>
              <a:br>
                <a:rPr kumimoji="0" lang="en-IN" sz="999" b="1" i="0" u="none" strike="noStrike" kern="1200" cap="none" spc="0" normalizeH="0" baseline="0" noProof="0">
                  <a:ln>
                    <a:noFill/>
                  </a:ln>
                  <a:solidFill>
                    <a:srgbClr val="3C3C3C"/>
                  </a:solidFill>
                  <a:effectLst/>
                  <a:uLnTx/>
                  <a:uFillTx/>
                  <a:latin typeface="+mj-lt"/>
                  <a:ea typeface="Verdana"/>
                  <a:cs typeface="Verdana"/>
                  <a:sym typeface="Verdana"/>
                </a:rPr>
              </a:br>
              <a:r>
                <a:rPr kumimoji="0" lang="en-IN" sz="999" b="1" i="0" u="none" strike="noStrike" kern="1200" cap="none" spc="0" normalizeH="0" baseline="0" noProof="0">
                  <a:ln>
                    <a:noFill/>
                  </a:ln>
                  <a:solidFill>
                    <a:srgbClr val="3C3C3C"/>
                  </a:solidFill>
                  <a:effectLst/>
                  <a:uLnTx/>
                  <a:uFillTx/>
                  <a:latin typeface="+mj-lt"/>
                  <a:ea typeface="Verdana"/>
                  <a:cs typeface="Verdana"/>
                  <a:sym typeface="Verdana"/>
                </a:rPr>
                <a:t>later)</a:t>
              </a:r>
            </a:p>
          </p:txBody>
        </p:sp>
        <p:pic>
          <p:nvPicPr>
            <p:cNvPr id="88" name="Google Shape;259;p4">
              <a:extLst>
                <a:ext uri="{FF2B5EF4-FFF2-40B4-BE49-F238E27FC236}">
                  <a16:creationId xmlns:a16="http://schemas.microsoft.com/office/drawing/2014/main" id="{B2DB4984-476A-4740-8AEA-01690E19706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741940" y="2622890"/>
              <a:ext cx="720000" cy="7200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9" name="Shape_67992805">
            <a:extLst>
              <a:ext uri="{FF2B5EF4-FFF2-40B4-BE49-F238E27FC236}">
                <a16:creationId xmlns:a16="http://schemas.microsoft.com/office/drawing/2014/main" id="{AA219803-2E94-4A62-80DB-C9C8915017FD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3132201"/>
              </p:ext>
            </p:extLst>
          </p:nvPr>
        </p:nvGraphicFramePr>
        <p:xfrm>
          <a:off x="8906901" y="2904262"/>
          <a:ext cx="3039199" cy="4876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95924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RYB+LAZ</a:t>
                      </a:r>
                      <a:endParaRPr lang="en-US" sz="1000" b="1" u="none" strike="noStrike" cap="none" baseline="30000">
                        <a:solidFill>
                          <a:srgbClr val="00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Verdana"/>
                        </a:rPr>
                        <a:t>s = 54</a:t>
                      </a:r>
                      <a:endParaRPr lang="en-IN" sz="1000" b="0">
                        <a:solidFill>
                          <a:srgbClr val="FF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u="none" strike="noStrike" cap="none">
                          <a:solidFill>
                            <a:srgbClr val="7030A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Verdana"/>
                        </a:rPr>
                        <a:t>TAGRISSO</a:t>
                      </a:r>
                      <a:endParaRPr lang="en-IN" sz="1000" b="1" u="none" strike="noStrike" cap="none">
                        <a:solidFill>
                          <a:srgbClr val="7030A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Verdana"/>
                        </a:rPr>
                        <a:t>s = 42</a:t>
                      </a:r>
                      <a:endParaRPr lang="en-IN" sz="1000" b="0">
                        <a:solidFill>
                          <a:srgbClr val="FF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725048"/>
                  </a:ext>
                </a:extLst>
              </a:tr>
            </a:tbl>
          </a:graphicData>
        </a:graphic>
      </p:graphicFrame>
      <p:sp>
        <p:nvSpPr>
          <p:cNvPr id="46" name="Google Shape;229;p3">
            <a:extLst>
              <a:ext uri="{FF2B5EF4-FFF2-40B4-BE49-F238E27FC236}">
                <a16:creationId xmlns:a16="http://schemas.microsoft.com/office/drawing/2014/main" id="{D8541EC8-38DA-4CB1-A12A-F09956934855}"/>
              </a:ext>
            </a:extLst>
          </p:cNvPr>
          <p:cNvSpPr txBox="1"/>
          <p:nvPr/>
        </p:nvSpPr>
        <p:spPr>
          <a:xfrm>
            <a:off x="8248434" y="1787"/>
            <a:ext cx="3938279" cy="22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Methodology and Respondent Overview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+mj-lt"/>
              <a:ea typeface="+mn-ea"/>
              <a:cs typeface="Arial"/>
              <a:sym typeface="Arial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A6366C-7D29-43C0-8ABB-80218C302EE9}"/>
              </a:ext>
            </a:extLst>
          </p:cNvPr>
          <p:cNvSpPr/>
          <p:nvPr/>
        </p:nvSpPr>
        <p:spPr>
          <a:xfrm>
            <a:off x="8839803" y="1089918"/>
            <a:ext cx="3039200" cy="2414156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8" name="Google Shape;268;p4">
            <a:extLst>
              <a:ext uri="{FF2B5EF4-FFF2-40B4-BE49-F238E27FC236}">
                <a16:creationId xmlns:a16="http://schemas.microsoft.com/office/drawing/2014/main" id="{BFDE80D8-80D2-4E6C-8C23-D10EB1C9DE1A}"/>
              </a:ext>
            </a:extLst>
          </p:cNvPr>
          <p:cNvSpPr/>
          <p:nvPr/>
        </p:nvSpPr>
        <p:spPr>
          <a:xfrm>
            <a:off x="3485589" y="1621584"/>
            <a:ext cx="4233923" cy="44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ctr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Fielding Period – </a:t>
            </a:r>
            <a:r>
              <a:rPr lang="en-GB" sz="1100" b="1">
                <a:solidFill>
                  <a:srgbClr val="000000"/>
                </a:solidFill>
                <a:latin typeface="+mj-lt"/>
                <a:ea typeface="Verdana" panose="020B0604030504040204" pitchFamily="34" charset="0"/>
              </a:rPr>
              <a:t>Oct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'25 to </a:t>
            </a:r>
            <a:r>
              <a:rPr lang="en-GB" sz="1100" b="1">
                <a:solidFill>
                  <a:srgbClr val="000000"/>
                </a:solidFill>
                <a:latin typeface="+mj-lt"/>
                <a:ea typeface="Verdana" panose="020B0604030504040204" pitchFamily="34" charset="0"/>
              </a:rPr>
              <a:t>Dec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'25</a:t>
            </a:r>
          </a:p>
        </p:txBody>
      </p:sp>
      <p:sp>
        <p:nvSpPr>
          <p:cNvPr id="50" name="Google Shape;268;p4">
            <a:extLst>
              <a:ext uri="{FF2B5EF4-FFF2-40B4-BE49-F238E27FC236}">
                <a16:creationId xmlns:a16="http://schemas.microsoft.com/office/drawing/2014/main" id="{294680C8-070D-4F51-9625-16B91912B84E}"/>
              </a:ext>
            </a:extLst>
          </p:cNvPr>
          <p:cNvSpPr/>
          <p:nvPr/>
        </p:nvSpPr>
        <p:spPr>
          <a:xfrm>
            <a:off x="3481204" y="4009219"/>
            <a:ext cx="4233923" cy="44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ctr" anchorCtr="1">
            <a:noAutofit/>
          </a:bodyPr>
          <a:lstStyle/>
          <a:p>
            <a:pPr lvl="0"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Fielding Period – Oct</a:t>
            </a:r>
            <a:r>
              <a:rPr lang="en-GB" sz="1100" b="1">
                <a:solidFill>
                  <a:srgbClr val="000000"/>
                </a:solidFill>
                <a:ea typeface="Verdana" panose="020B0604030504040204" pitchFamily="34" charset="0"/>
              </a:rPr>
              <a:t>'25 to Dec'25</a:t>
            </a:r>
          </a:p>
        </p:txBody>
      </p:sp>
      <p:sp>
        <p:nvSpPr>
          <p:cNvPr id="51" name="Google Shape;268;p4">
            <a:extLst>
              <a:ext uri="{FF2B5EF4-FFF2-40B4-BE49-F238E27FC236}">
                <a16:creationId xmlns:a16="http://schemas.microsoft.com/office/drawing/2014/main" id="{9831D2A5-7C80-4695-AE41-80B397E714EC}"/>
              </a:ext>
            </a:extLst>
          </p:cNvPr>
          <p:cNvSpPr/>
          <p:nvPr/>
        </p:nvSpPr>
        <p:spPr>
          <a:xfrm>
            <a:off x="8848929" y="4232540"/>
            <a:ext cx="3039198" cy="44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ctr" anchorCtr="1">
            <a:noAutofit/>
          </a:bodyPr>
          <a:lstStyle/>
          <a:p>
            <a:pPr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Fielding Period – </a:t>
            </a:r>
            <a:r>
              <a:rPr lang="en-GB" sz="1100" b="1">
                <a:solidFill>
                  <a:srgbClr val="000000"/>
                </a:solidFill>
                <a:ea typeface="Verdana" panose="020B0604030504040204" pitchFamily="34" charset="0"/>
              </a:rPr>
              <a:t>Oct'25 to Dec'25</a:t>
            </a:r>
          </a:p>
        </p:txBody>
      </p:sp>
      <p:sp>
        <p:nvSpPr>
          <p:cNvPr id="52" name="Google Shape;268;p4">
            <a:extLst>
              <a:ext uri="{FF2B5EF4-FFF2-40B4-BE49-F238E27FC236}">
                <a16:creationId xmlns:a16="http://schemas.microsoft.com/office/drawing/2014/main" id="{1F30C7DF-4CBD-436C-B6CE-08D454C02CB3}"/>
              </a:ext>
            </a:extLst>
          </p:cNvPr>
          <p:cNvSpPr/>
          <p:nvPr/>
        </p:nvSpPr>
        <p:spPr>
          <a:xfrm>
            <a:off x="8881110" y="1662307"/>
            <a:ext cx="2974916" cy="44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ctr" anchorCtr="1">
            <a:noAutofit/>
          </a:bodyPr>
          <a:lstStyle/>
          <a:p>
            <a:pPr lvl="0"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Fielding Period – Oct</a:t>
            </a:r>
            <a:r>
              <a:rPr lang="en-GB" sz="1100" b="1">
                <a:solidFill>
                  <a:srgbClr val="000000"/>
                </a:solidFill>
                <a:ea typeface="Verdana" panose="020B0604030504040204" pitchFamily="34" charset="0"/>
              </a:rPr>
              <a:t>'25 to Dec'25</a:t>
            </a: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CBF5B150-F7F9-4B4A-AD01-BEF4734BB991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</a:rPr>
              <a:t>Promotional Effectiveness Tracking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E7DB49-B0CA-7B1C-8715-B935366B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ctr"/>
          <a:lstStyle/>
          <a:p>
            <a:fld id="{AEC8D767-5246-2244-A4A3-B8AFB218393C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2CB5E-6E8D-3F1E-E180-ED944F3F564A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Throughout the presentation, the following will be used: n = </a:t>
            </a:r>
            <a:r>
              <a:rPr kumimoji="1" lang="en-US" sz="900" i="1" kern="0">
                <a:solidFill>
                  <a:srgbClr val="FFFFFF">
                    <a:lumMod val="50000"/>
                  </a:srgbClr>
                </a:solidFill>
                <a:latin typeface="Johnson Text"/>
              </a:rPr>
              <a:t>n</a:t>
            </a:r>
            <a:r>
              <a:rPr kumimoji="1" lang="en-US" sz="900" b="0" i="1" u="none" strike="noStrike" kern="0" cap="none" spc="0" normalizeH="0" baseline="0" noProof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o.of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HCPs, s = sum of total sales rep interactions or NPP promotions</a:t>
            </a:r>
            <a:endParaRPr kumimoji="1" lang="en-US" sz="900" b="0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9" name="Shape_99845863">
            <a:extLst>
              <a:ext uri="{FF2B5EF4-FFF2-40B4-BE49-F238E27FC236}">
                <a16:creationId xmlns:a16="http://schemas.microsoft.com/office/drawing/2014/main" id="{D6B15F87-C027-8634-793A-0E9EFA44CA1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06896541"/>
              </p:ext>
            </p:extLst>
          </p:nvPr>
        </p:nvGraphicFramePr>
        <p:xfrm>
          <a:off x="4778973" y="5034698"/>
          <a:ext cx="1872000" cy="731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2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5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u="none" strike="noStrike" cap="none" baseline="30000">
                        <a:solidFill>
                          <a:srgbClr val="00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000" b="0">
                        <a:solidFill>
                          <a:srgbClr val="FF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912472"/>
                  </a:ext>
                </a:extLst>
              </a:tr>
              <a:tr h="1895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95924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RYB+LAZ</a:t>
                      </a:r>
                      <a:endParaRPr lang="en-US" sz="1000" b="1" u="none" strike="noStrike" cap="none" baseline="30000">
                        <a:solidFill>
                          <a:srgbClr val="00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Verdana"/>
                        </a:rPr>
                        <a:t>s = 149</a:t>
                      </a:r>
                      <a:endParaRPr lang="en-IN" sz="1000" b="0">
                        <a:solidFill>
                          <a:srgbClr val="FF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5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u="none" strike="noStrike" cap="none">
                          <a:solidFill>
                            <a:srgbClr val="7030A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Verdana"/>
                        </a:rPr>
                        <a:t>TAGRISSO</a:t>
                      </a:r>
                      <a:endParaRPr lang="en-IN" sz="1000" b="1" u="none" strike="noStrike" cap="none">
                        <a:solidFill>
                          <a:srgbClr val="7030A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u="none" strike="noStrike" cap="none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Verdana"/>
                        </a:rPr>
                        <a:t>s = 100</a:t>
                      </a:r>
                      <a:endParaRPr lang="en-IN" sz="1000" b="0">
                        <a:solidFill>
                          <a:srgbClr val="FF0000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400" marR="91400" marT="45700" marB="457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210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53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2915D740-E011-4D76-ACAB-34230CD8339C}"/>
              </a:ext>
            </a:extLst>
          </p:cNvPr>
          <p:cNvSpPr/>
          <p:nvPr/>
        </p:nvSpPr>
        <p:spPr>
          <a:xfrm>
            <a:off x="327026" y="842740"/>
            <a:ext cx="11726613" cy="5399034"/>
          </a:xfrm>
          <a:prstGeom prst="roundRect">
            <a:avLst>
              <a:gd name="adj" fmla="val 6948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13" rIns="91427" bIns="45713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Verdana"/>
                <a:cs typeface="Arial"/>
              </a:rPr>
              <a:t>Regarding Sample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The total number of HCPs are those who answered a particular question, where n = number of HCPs, s = number of interactions, d = no of responses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Sample sizes lower than 30 are marked as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*Low Sample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Of the 173 personal promotion interactions, 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76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% were In-Universe interactions, 24% were Off-Universe interactions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Of the 249 non-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ales rep promotion interactions, 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74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% were In-Universe promotions and 2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6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% were Off-Universe promotions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Off-Universe HCPs are HCPs who work in the same healthcare institution as In-Universe HCPs.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All HCPs respondents who have taken the personal promotion interaction module have had an interaction with J&amp;J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or AZ sales representatives in the last 5 business days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Verdana"/>
                <a:cs typeface="Arial"/>
              </a:rPr>
              <a:t>Regarding Key Metrics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Personal Promotions (PP)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are composed of In-Person (IPP), Video Conference (VCP) and Telephone (TCP) interactions</a:t>
            </a:r>
          </a:p>
          <a:p>
            <a:pPr marL="1085850" marR="0" lvl="2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Personal Promotions are captured at an indication level, and include both single and multi-indication interactions</a:t>
            </a:r>
          </a:p>
          <a:p>
            <a:pPr marL="1085850" marR="0" lvl="2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Usage of visual aids is tracked for Personal Promotion interactions conducted either in-person or via video conference only </a:t>
            </a:r>
          </a:p>
          <a:p>
            <a:pPr marL="1085850" marR="0" lvl="2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Non</a:t>
            </a:r>
            <a:r>
              <a:rPr lang="en-IN" sz="10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-</a:t>
            </a: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Sales Rep Promotions (NPP)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comprise of non-sales rep promotions such as emails, advertisements, medical resources and events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NSCLC Industry Average/Median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includes data from ZoomRx PET studies in the NSCLC space fielded in the period of 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Jan’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25 to Dec'25 (s = ~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12.4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k)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Non-Sales Rep Promotions Industry Average</a:t>
            </a:r>
            <a:r>
              <a:rPr kumimoji="0" lang="en-US" sz="10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corresponds to data collected from ZoomRx oncology PET studies involving non-sales rep promotions in the last year, Jan’25 to 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Dec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'25 (s = ~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17.6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k)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000" b="1" u="sng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Top 25% Effective Oncology Messages Industry Average/Median</a:t>
            </a:r>
            <a:r>
              <a:rPr lang="en-US" sz="10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 </a:t>
            </a:r>
            <a:r>
              <a:rPr lang="en-US" sz="1000" dirty="0">
                <a:solidFill>
                  <a:srgbClr val="50505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includes data from ZoomRx oncology PET studies fielded in the period of Jan’22 to Dec'25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Message Effectiveness (ME)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is the geometric mean of the Motivation, Believability, and Differentiation/Relevant scores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ea typeface="Verdana"/>
                <a:cs typeface="+mn-cs"/>
              </a:rPr>
              <a:t>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Verdana"/>
                <a:cs typeface="Arial"/>
              </a:rPr>
              <a:t>Regarding this Report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Statistically significant difference between values is represented by      (95% confidence level) and has only been indicated in the slides where the difference is observed (statistical testing is done in all slides showing quarter-on-quarter comparison or different product comparison with samples of over 20)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Numbers might not add up to 100% due to rounding</a:t>
            </a:r>
          </a:p>
          <a:p>
            <a:pPr marL="628650" marR="0" lvl="1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Question texts are added to speaker notes</a:t>
            </a:r>
          </a:p>
        </p:txBody>
      </p:sp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6DF17E5C-2699-A496-E0CA-F0ADD82897C1}"/>
              </a:ext>
            </a:extLst>
          </p:cNvPr>
          <p:cNvSpPr txBox="1"/>
          <p:nvPr/>
        </p:nvSpPr>
        <p:spPr>
          <a:xfrm>
            <a:off x="8248434" y="1787"/>
            <a:ext cx="3938279" cy="22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Methodology and Respondent Overview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+mj-lt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096BC-283F-4574-FC4A-B85E64D5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F0B4E-CE60-AB48-9D7E-4434414A7C38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4D453A-95A6-F15B-C9CC-A170DFC59531}"/>
              </a:ext>
            </a:extLst>
          </p:cNvPr>
          <p:cNvSpPr>
            <a:spLocks/>
          </p:cNvSpPr>
          <p:nvPr/>
        </p:nvSpPr>
        <p:spPr>
          <a:xfrm>
            <a:off x="4923647" y="4915851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E7DD98-A4D9-B19B-69C8-027B11316C3B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</a:rPr>
              <a:t>Notes for this Report</a:t>
            </a:r>
          </a:p>
        </p:txBody>
      </p:sp>
    </p:spTree>
    <p:extLst>
      <p:ext uri="{BB962C8B-B14F-4D97-AF65-F5344CB8AC3E}">
        <p14:creationId xmlns:p14="http://schemas.microsoft.com/office/powerpoint/2010/main" val="22037713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A5C711-A4AC-B14B-9C27-F885C154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D951F0-C938-5505-7B6F-DDCAB48E5422}"/>
              </a:ext>
            </a:extLst>
          </p:cNvPr>
          <p:cNvSpPr/>
          <p:nvPr/>
        </p:nvSpPr>
        <p:spPr>
          <a:xfrm>
            <a:off x="714374" y="3522500"/>
            <a:ext cx="10810876" cy="30144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09F87888-17DB-345B-C58A-DEA9E37E53E1}"/>
              </a:ext>
            </a:extLst>
          </p:cNvPr>
          <p:cNvSpPr txBox="1"/>
          <p:nvPr/>
        </p:nvSpPr>
        <p:spPr>
          <a:xfrm>
            <a:off x="943534" y="1350126"/>
            <a:ext cx="2409753" cy="1169551"/>
          </a:xfrm>
          <a:prstGeom prst="rect">
            <a:avLst/>
          </a:prstGeom>
          <a:noFill/>
          <a:ln>
            <a:solidFill>
              <a:srgbClr val="F9592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Detailed MARIPOSA (Phase III) OS Results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– Final data from MARIPOSA showed RYBREVANT+LAZCLUZE reduced risk of death by ~25% vs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Tagrisso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 monotherapy, with median OS not yet reached while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Tagrisso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 was ~36.7 months</a:t>
            </a:r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D0A59842-7402-531C-59F8-8A14FF8238B6}"/>
              </a:ext>
            </a:extLst>
          </p:cNvPr>
          <p:cNvSpPr/>
          <p:nvPr/>
        </p:nvSpPr>
        <p:spPr>
          <a:xfrm>
            <a:off x="2076688" y="3590237"/>
            <a:ext cx="144000" cy="144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959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8CC8385C-7437-AFF1-90F2-96F3714028E3}"/>
              </a:ext>
            </a:extLst>
          </p:cNvPr>
          <p:cNvSpPr/>
          <p:nvPr/>
        </p:nvSpPr>
        <p:spPr>
          <a:xfrm>
            <a:off x="7513814" y="3590237"/>
            <a:ext cx="144000" cy="144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100F5B03-1DB1-0D4E-E5C8-1F432DB5A07C}"/>
              </a:ext>
            </a:extLst>
          </p:cNvPr>
          <p:cNvSpPr/>
          <p:nvPr/>
        </p:nvSpPr>
        <p:spPr>
          <a:xfrm>
            <a:off x="4754013" y="3590237"/>
            <a:ext cx="144000" cy="144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21A8BF-D2BB-5694-9861-3C59C5BDFD0A}"/>
              </a:ext>
            </a:extLst>
          </p:cNvPr>
          <p:cNvSpPr/>
          <p:nvPr/>
        </p:nvSpPr>
        <p:spPr>
          <a:xfrm>
            <a:off x="696000" y="3191348"/>
            <a:ext cx="10811638" cy="331592"/>
          </a:xfrm>
          <a:prstGeom prst="rect">
            <a:avLst/>
          </a:prstGeom>
          <a:solidFill>
            <a:srgbClr val="D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Arial"/>
              </a:rPr>
              <a:t>1L EGFR </a:t>
            </a:r>
            <a:r>
              <a:rPr kumimoji="0" lang="en-GB" sz="14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Arial"/>
              </a:rPr>
              <a:t>mNSCLC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Arial"/>
              </a:rPr>
              <a:t> Market Events  (</a:t>
            </a:r>
            <a:r>
              <a:rPr lang="en-GB" sz="1400" b="1" kern="0">
                <a:solidFill>
                  <a:srgbClr val="FFFFFF"/>
                </a:solidFill>
                <a:latin typeface="Johnson Display"/>
                <a:sym typeface="Arial"/>
              </a:rPr>
              <a:t>Mar</a:t>
            </a: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Arial"/>
              </a:rPr>
              <a:t>’25 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Arial"/>
              </a:rPr>
              <a:t>– </a:t>
            </a: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Arial"/>
              </a:rPr>
              <a:t>Dec’25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Arial"/>
              </a:rPr>
              <a:t>)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+mn-cs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687B0-7961-3525-B475-1EA631044B07}"/>
              </a:ext>
            </a:extLst>
          </p:cNvPr>
          <p:cNvSpPr txBox="1"/>
          <p:nvPr/>
        </p:nvSpPr>
        <p:spPr>
          <a:xfrm>
            <a:off x="1839717" y="3839541"/>
            <a:ext cx="5886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Mar’25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088AC-643D-65CC-EC3D-8A818A0BB696}"/>
              </a:ext>
            </a:extLst>
          </p:cNvPr>
          <p:cNvSpPr txBox="1"/>
          <p:nvPr/>
        </p:nvSpPr>
        <p:spPr>
          <a:xfrm>
            <a:off x="2754473" y="3839541"/>
            <a:ext cx="5822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Apr’25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7EF5F-81A1-BEC7-D697-A1229BFD2E45}"/>
              </a:ext>
            </a:extLst>
          </p:cNvPr>
          <p:cNvSpPr txBox="1"/>
          <p:nvPr/>
        </p:nvSpPr>
        <p:spPr>
          <a:xfrm>
            <a:off x="3635567" y="3839541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May’25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61C53-ED7C-965E-413B-181E3A3BBBDE}"/>
              </a:ext>
            </a:extLst>
          </p:cNvPr>
          <p:cNvSpPr txBox="1"/>
          <p:nvPr/>
        </p:nvSpPr>
        <p:spPr>
          <a:xfrm>
            <a:off x="4564750" y="3839541"/>
            <a:ext cx="5886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Jun’25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B2722-DD21-07D4-9130-705C95F8EAF3}"/>
              </a:ext>
            </a:extLst>
          </p:cNvPr>
          <p:cNvSpPr txBox="1"/>
          <p:nvPr/>
        </p:nvSpPr>
        <p:spPr>
          <a:xfrm>
            <a:off x="5516375" y="3839541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Jul’25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04D4E-D341-1C91-3B3B-248BE0406F7F}"/>
              </a:ext>
            </a:extLst>
          </p:cNvPr>
          <p:cNvSpPr txBox="1"/>
          <p:nvPr/>
        </p:nvSpPr>
        <p:spPr>
          <a:xfrm>
            <a:off x="6358995" y="3839541"/>
            <a:ext cx="6110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Aug’25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CD62F-EE7A-917F-302C-E20A07AFB67E}"/>
              </a:ext>
            </a:extLst>
          </p:cNvPr>
          <p:cNvSpPr txBox="1"/>
          <p:nvPr/>
        </p:nvSpPr>
        <p:spPr>
          <a:xfrm>
            <a:off x="7283369" y="3839541"/>
            <a:ext cx="595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Sep’25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23275-EC3B-8417-C997-5CA7A017723D}"/>
              </a:ext>
            </a:extLst>
          </p:cNvPr>
          <p:cNvSpPr txBox="1"/>
          <p:nvPr/>
        </p:nvSpPr>
        <p:spPr>
          <a:xfrm>
            <a:off x="8212549" y="3839541"/>
            <a:ext cx="574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Oct’25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D69958E-9A57-0BE8-2701-3C2C17607153}"/>
              </a:ext>
            </a:extLst>
          </p:cNvPr>
          <p:cNvSpPr>
            <a:spLocks noGrp="1"/>
          </p:cNvSpPr>
          <p:nvPr/>
        </p:nvSpPr>
        <p:spPr>
          <a:xfrm>
            <a:off x="-1" y="2807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Market Events (</a:t>
            </a:r>
            <a:r>
              <a:rPr lang="en-US" sz="2000">
                <a:solidFill>
                  <a:srgbClr val="FF0000"/>
                </a:solidFill>
                <a:latin typeface="Johnson Display"/>
                <a:ea typeface="Verdana"/>
              </a:rPr>
              <a:t>Mar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’25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– </a:t>
            </a:r>
            <a:r>
              <a:rPr lang="en-US" sz="2000">
                <a:solidFill>
                  <a:srgbClr val="FF0000"/>
                </a:solidFill>
                <a:latin typeface="Johnson Display"/>
                <a:ea typeface="Verdana"/>
              </a:rPr>
              <a:t>Dec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’25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5901F97-A4FF-AAF8-E081-6291BB5F2F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0113" y="4493290"/>
            <a:ext cx="900370" cy="3"/>
          </a:xfrm>
          <a:prstGeom prst="bentConnector3">
            <a:avLst>
              <a:gd name="adj1" fmla="val 50000"/>
            </a:avLst>
          </a:prstGeom>
          <a:ln w="12700">
            <a:solidFill>
              <a:srgbClr val="F758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B55D085-7993-9FB5-1845-E516F2152A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95242" y="2858815"/>
            <a:ext cx="709814" cy="1"/>
          </a:xfrm>
          <a:prstGeom prst="bentConnector3">
            <a:avLst>
              <a:gd name="adj1" fmla="val 50000"/>
            </a:avLst>
          </a:prstGeom>
          <a:ln w="12700">
            <a:solidFill>
              <a:srgbClr val="F959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AEE24C-E174-0E95-508C-8DA92D674FF6}"/>
              </a:ext>
            </a:extLst>
          </p:cNvPr>
          <p:cNvSpPr txBox="1"/>
          <p:nvPr/>
        </p:nvSpPr>
        <p:spPr>
          <a:xfrm>
            <a:off x="8945695" y="3858591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Johnson Text"/>
                <a:cs typeface="Arial" panose="020B0604020202020204" pitchFamily="34" charset="0"/>
                <a:sym typeface="Arial"/>
              </a:rPr>
              <a:t>Nov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’25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FE7D8-4DF9-B214-055F-DE179A733FEF}"/>
              </a:ext>
            </a:extLst>
          </p:cNvPr>
          <p:cNvSpPr txBox="1"/>
          <p:nvPr/>
        </p:nvSpPr>
        <p:spPr>
          <a:xfrm>
            <a:off x="9734759" y="3839541"/>
            <a:ext cx="595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Dec’25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018A16-9B71-6A06-8746-64A9539DC4EB}"/>
              </a:ext>
            </a:extLst>
          </p:cNvPr>
          <p:cNvSpPr txBox="1"/>
          <p:nvPr/>
        </p:nvSpPr>
        <p:spPr>
          <a:xfrm>
            <a:off x="9106459" y="1045326"/>
            <a:ext cx="2409753" cy="1477328"/>
          </a:xfrm>
          <a:prstGeom prst="rect">
            <a:avLst/>
          </a:prstGeom>
          <a:noFill/>
          <a:ln>
            <a:solidFill>
              <a:srgbClr val="F9592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Detailed </a:t>
            </a:r>
            <a:r>
              <a:rPr lang="en-US" sz="1000" b="1" kern="0">
                <a:solidFill>
                  <a:srgbClr val="000000"/>
                </a:solidFill>
                <a:latin typeface="Johnson Text"/>
                <a:cs typeface="Arial"/>
                <a:sym typeface="Arial"/>
              </a:rPr>
              <a:t>PALOMA-3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 (Phase III) Results -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Final PALOMA-3 results showed palbociclib + fulvestrant delivered a robust PFS benefit and a clinically meaningful ~7-month improvement in median OS versus fulvestrant alone, though OS did not reach statistical significance in the overall population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C3881A-E0FB-D824-31E3-5D0E91F480F0}"/>
              </a:ext>
            </a:extLst>
          </p:cNvPr>
          <p:cNvSpPr/>
          <p:nvPr/>
        </p:nvSpPr>
        <p:spPr>
          <a:xfrm>
            <a:off x="9934813" y="3599762"/>
            <a:ext cx="144000" cy="144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959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A38766E-8963-2699-39E0-1D29D688994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53367" y="2868340"/>
            <a:ext cx="709814" cy="1"/>
          </a:xfrm>
          <a:prstGeom prst="bentConnector3">
            <a:avLst>
              <a:gd name="adj1" fmla="val 50000"/>
            </a:avLst>
          </a:prstGeom>
          <a:ln w="12700">
            <a:solidFill>
              <a:srgbClr val="F959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6258A05-78AD-03E7-C1F8-5FFB45834F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61586" y="4483765"/>
            <a:ext cx="900370" cy="3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50EAC34-FDDB-2C90-FA3B-A7957FC88502}"/>
              </a:ext>
            </a:extLst>
          </p:cNvPr>
          <p:cNvSpPr txBox="1"/>
          <p:nvPr/>
        </p:nvSpPr>
        <p:spPr>
          <a:xfrm>
            <a:off x="3755093" y="1350126"/>
            <a:ext cx="2279185" cy="116955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Arial"/>
              </a:rPr>
              <a:t>FLAURA2 (Phase III) Preparation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Arial"/>
              </a:rPr>
              <a:t>–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Tagrisso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+ chemotherapy at this stage is being prepared for OS results presentation as part of its Phase III FLAURA2 trial assessing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Tagrisso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-chemo combination in first-line EGFRm NSCLC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A2C058-10B5-775E-D23D-8DE2676DE118}"/>
              </a:ext>
            </a:extLst>
          </p:cNvPr>
          <p:cNvSpPr txBox="1"/>
          <p:nvPr/>
        </p:nvSpPr>
        <p:spPr>
          <a:xfrm>
            <a:off x="6289013" y="4931776"/>
            <a:ext cx="2820698" cy="101566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FLAURA2 (Phase III) Final OS Results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– final OS analysis showing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Tagrisso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 plus platinum/pemetrexed chemotherapy achieved a median OS of nearly 4 years (~47.5 months) vs ~37.6 months with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Tagrisso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 alone in advanced EGFR-mutated NSCLC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3661169-533E-4163-D086-04FC91AE1C4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39778" y="2858816"/>
            <a:ext cx="709814" cy="1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AB48013-03F7-A2CB-1412-C4DE7BC73C66}"/>
              </a:ext>
            </a:extLst>
          </p:cNvPr>
          <p:cNvSpPr/>
          <p:nvPr/>
        </p:nvSpPr>
        <p:spPr>
          <a:xfrm>
            <a:off x="3868298" y="3590237"/>
            <a:ext cx="144000" cy="144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959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0826B2-5CF6-5D4E-C8B2-C4D864A97294}"/>
              </a:ext>
            </a:extLst>
          </p:cNvPr>
          <p:cNvSpPr txBox="1"/>
          <p:nvPr/>
        </p:nvSpPr>
        <p:spPr>
          <a:xfrm>
            <a:off x="2580747" y="4931776"/>
            <a:ext cx="2820698" cy="1477328"/>
          </a:xfrm>
          <a:prstGeom prst="rect">
            <a:avLst/>
          </a:prstGeom>
          <a:noFill/>
          <a:ln>
            <a:solidFill>
              <a:srgbClr val="F75824"/>
            </a:solidFill>
          </a:ln>
        </p:spPr>
        <p:txBody>
          <a:bodyPr wrap="square" rtlCol="0">
            <a:spAutoFit/>
          </a:bodyPr>
          <a:lstStyle/>
          <a:p>
            <a:pPr lvl="0" fontAlgn="base">
              <a:buClr>
                <a:srgbClr val="000000"/>
              </a:buClr>
              <a:defRPr/>
            </a:pPr>
            <a:r>
              <a:rPr lang="en-US" sz="1000" b="1">
                <a:latin typeface="Johnson Text" panose="020B0604020202020204" charset="0"/>
                <a:cs typeface="Johnson Text" panose="020B0604020202020204" charset="0"/>
              </a:rPr>
              <a:t>COCOON AE  management results</a:t>
            </a:r>
            <a:r>
              <a:rPr lang="en-US" sz="1000">
                <a:latin typeface="Johnson Text" panose="020B0604020202020204" charset="0"/>
                <a:cs typeface="Johnson Text" panose="020B0604020202020204" charset="0"/>
              </a:rPr>
              <a:t> – Data from the COCOON trial showed that an enhanced prophylactic dermatologic regimen significantly reduced the incidence and severity of grade 2+ skin adverse events and improved patient-reported quality of life in first-line EGFR-mutant advanced NSCLC treated with </a:t>
            </a:r>
            <a:r>
              <a:rPr lang="en-US" sz="1000" kern="0">
                <a:solidFill>
                  <a:srgbClr val="000000"/>
                </a:solidFill>
                <a:latin typeface="Johnson Text" panose="020B0604020202020204" charset="0"/>
                <a:cs typeface="Johnson Text" panose="020B0604020202020204" charset="0"/>
                <a:sym typeface="Arial"/>
              </a:rPr>
              <a:t>RYBREVANT+LAZCLUZE</a:t>
            </a:r>
            <a:r>
              <a:rPr lang="en-US" sz="1000">
                <a:latin typeface="Johnson Text" panose="020B0604020202020204" charset="0"/>
                <a:cs typeface="Johnson Text" panose="020B0604020202020204" charset="0"/>
              </a:rPr>
              <a:t> versus standard dermatologic care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cs typeface="Johnson Text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48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A529-205E-7402-3849-E338B635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289;p5">
            <a:extLst>
              <a:ext uri="{FF2B5EF4-FFF2-40B4-BE49-F238E27FC236}">
                <a16:creationId xmlns:a16="http://schemas.microsoft.com/office/drawing/2014/main" id="{FC572855-D7CD-BC3E-0F99-C7C30E80A61E}"/>
              </a:ext>
            </a:extLst>
          </p:cNvPr>
          <p:cNvSpPr txBox="1"/>
          <p:nvPr/>
        </p:nvSpPr>
        <p:spPr>
          <a:xfrm rot="16200000">
            <a:off x="1004792" y="2258078"/>
            <a:ext cx="9108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  <a:sym typeface="Verdana"/>
              </a:rPr>
              <a:t>% of HCPs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  <a:sym typeface="Arial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E71394-639F-EF59-477E-F2FB6CE11C5B}"/>
              </a:ext>
            </a:extLst>
          </p:cNvPr>
          <p:cNvGrpSpPr/>
          <p:nvPr/>
        </p:nvGrpSpPr>
        <p:grpSpPr>
          <a:xfrm>
            <a:off x="4681525" y="1141660"/>
            <a:ext cx="1260000" cy="2753257"/>
            <a:chOff x="5663169" y="1152738"/>
            <a:chExt cx="1260000" cy="2753257"/>
          </a:xfrm>
        </p:grpSpPr>
        <p:sp>
          <p:nvSpPr>
            <p:cNvPr id="93" name="Google Shape;108;p2">
              <a:extLst>
                <a:ext uri="{FF2B5EF4-FFF2-40B4-BE49-F238E27FC236}">
                  <a16:creationId xmlns:a16="http://schemas.microsoft.com/office/drawing/2014/main" id="{50648357-7419-39CC-5D3C-F3FDA8B4E566}"/>
                </a:ext>
              </a:extLst>
            </p:cNvPr>
            <p:cNvSpPr/>
            <p:nvPr/>
          </p:nvSpPr>
          <p:spPr>
            <a:xfrm>
              <a:off x="5867146" y="3505974"/>
              <a:ext cx="852047" cy="4000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7" tIns="45676" rIns="91377" bIns="45676" anchor="t" anchorCtr="0">
              <a:spAutoFit/>
            </a:bodyPr>
            <a:lstStyle/>
            <a:p>
              <a:pPr lvl="0" algn="ctr" defTabSz="913943">
                <a:buClr>
                  <a:srgbClr val="000000"/>
                </a:buClr>
                <a:buSzPts val="1200"/>
                <a:defRPr/>
              </a:pPr>
              <a:r>
                <a: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Arial"/>
                </a:rPr>
                <a:t>Q3'25</a:t>
              </a:r>
            </a:p>
            <a:p>
              <a:pPr lvl="0" algn="ctr" defTabSz="913943">
                <a:buClr>
                  <a:srgbClr val="000000"/>
                </a:buClr>
                <a:buSzPts val="1200"/>
                <a:defRPr/>
              </a:pPr>
              <a:r>
                <a: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(n = 65)</a:t>
              </a:r>
              <a:endParaRPr lang="en-US" sz="1000" kern="0" baseline="30000">
                <a:solidFill>
                  <a:srgbClr val="000000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Arial"/>
              </a:endParaRPr>
            </a:p>
          </p:txBody>
        </p:sp>
        <p:graphicFrame>
          <p:nvGraphicFramePr>
            <p:cNvPr id="99" name="HCP Seg - Latest Quarter">
              <a:extLst>
                <a:ext uri="{FF2B5EF4-FFF2-40B4-BE49-F238E27FC236}">
                  <a16:creationId xmlns:a16="http://schemas.microsoft.com/office/drawing/2014/main" id="{EA4CD79A-1FC0-5E65-3B53-07C4174AA720}"/>
                </a:ext>
              </a:extLst>
            </p:cNvPr>
            <p:cNvGraphicFramePr/>
            <p:nvPr>
              <p:custDataLst>
                <p:tags r:id="rId6"/>
              </p:custDataLst>
              <p:extLst>
                <p:ext uri="{D42A27DB-BD31-4B8C-83A1-F6EECF244321}">
                  <p14:modId xmlns:p14="http://schemas.microsoft.com/office/powerpoint/2010/main" val="3041924215"/>
                </p:ext>
              </p:extLst>
            </p:nvPr>
          </p:nvGraphicFramePr>
          <p:xfrm>
            <a:off x="5663169" y="1152738"/>
            <a:ext cx="1260000" cy="239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AE064A-7FE9-1AA2-0630-A87AAAF07AFB}"/>
              </a:ext>
            </a:extLst>
          </p:cNvPr>
          <p:cNvGrpSpPr/>
          <p:nvPr/>
        </p:nvGrpSpPr>
        <p:grpSpPr>
          <a:xfrm>
            <a:off x="5587484" y="1141660"/>
            <a:ext cx="1260000" cy="2753257"/>
            <a:chOff x="4673936" y="1152738"/>
            <a:chExt cx="1260000" cy="2753257"/>
          </a:xfrm>
        </p:grpSpPr>
        <p:graphicFrame>
          <p:nvGraphicFramePr>
            <p:cNvPr id="98" name="HCP Seg - Prev Quarter">
              <a:extLst>
                <a:ext uri="{FF2B5EF4-FFF2-40B4-BE49-F238E27FC236}">
                  <a16:creationId xmlns:a16="http://schemas.microsoft.com/office/drawing/2014/main" id="{BD6E015A-23FD-136F-EDFD-165443590AB0}"/>
                </a:ext>
              </a:extLst>
            </p:cNvPr>
            <p:cNvGraphicFramePr/>
            <p:nvPr>
              <p:custDataLst>
                <p:tags r:id="rId5"/>
              </p:custDataLst>
              <p:extLst>
                <p:ext uri="{D42A27DB-BD31-4B8C-83A1-F6EECF244321}">
                  <p14:modId xmlns:p14="http://schemas.microsoft.com/office/powerpoint/2010/main" val="91227456"/>
                </p:ext>
              </p:extLst>
            </p:nvPr>
          </p:nvGraphicFramePr>
          <p:xfrm>
            <a:off x="4673936" y="1152738"/>
            <a:ext cx="1260000" cy="239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2" name="Google Shape;108;p2">
              <a:extLst>
                <a:ext uri="{FF2B5EF4-FFF2-40B4-BE49-F238E27FC236}">
                  <a16:creationId xmlns:a16="http://schemas.microsoft.com/office/drawing/2014/main" id="{19F7031D-01F4-5964-4AA6-174D904EBB38}"/>
                </a:ext>
              </a:extLst>
            </p:cNvPr>
            <p:cNvSpPr/>
            <p:nvPr/>
          </p:nvSpPr>
          <p:spPr>
            <a:xfrm>
              <a:off x="4877913" y="3505974"/>
              <a:ext cx="852047" cy="4000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7" tIns="45676" rIns="91377" bIns="45676" anchor="t" anchorCtr="0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  <a:sym typeface="Arial"/>
                </a:rPr>
                <a:t>Q4'25</a:t>
              </a:r>
            </a:p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Verdana"/>
                  <a:sym typeface="Verdana"/>
                </a:rPr>
                <a:t>(n = </a:t>
              </a:r>
              <a:r>
                <a:rPr lang="en-IN" sz="1000" kern="0">
                  <a:solidFill>
                    <a:srgbClr val="000000"/>
                  </a:solidFill>
                  <a:latin typeface="Johnson Text"/>
                  <a:ea typeface="Verdana"/>
                  <a:cs typeface="Verdana"/>
                  <a:sym typeface="Verdana"/>
                </a:rPr>
                <a:t>59</a:t>
              </a: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Verdana"/>
                  <a:sym typeface="Verdana"/>
                </a:rPr>
                <a:t>)</a:t>
              </a:r>
              <a:endParaRPr kumimoji="0" lang="en-US" sz="10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endParaRPr>
            </a:p>
          </p:txBody>
        </p:sp>
      </p:grpSp>
      <p:sp>
        <p:nvSpPr>
          <p:cNvPr id="24" name="Google Shape;108;p2">
            <a:extLst>
              <a:ext uri="{FF2B5EF4-FFF2-40B4-BE49-F238E27FC236}">
                <a16:creationId xmlns:a16="http://schemas.microsoft.com/office/drawing/2014/main" id="{780A8366-C2CD-B33A-914E-92955E4E1E51}"/>
              </a:ext>
            </a:extLst>
          </p:cNvPr>
          <p:cNvSpPr/>
          <p:nvPr/>
        </p:nvSpPr>
        <p:spPr>
          <a:xfrm>
            <a:off x="9101012" y="795720"/>
            <a:ext cx="1612373" cy="26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7" tIns="45676" rIns="91377" bIns="45676" anchor="ctr" anchorCtr="0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Arial"/>
                <a:sym typeface="Arial"/>
              </a:rPr>
              <a:t>Region</a:t>
            </a:r>
            <a:endParaRPr kumimoji="0" lang="en-US" sz="10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171" name="Google Shape;286;p5">
            <a:extLst>
              <a:ext uri="{FF2B5EF4-FFF2-40B4-BE49-F238E27FC236}">
                <a16:creationId xmlns:a16="http://schemas.microsoft.com/office/drawing/2014/main" id="{812488AD-FDDC-C61B-44A4-D6688518EA47}"/>
              </a:ext>
            </a:extLst>
          </p:cNvPr>
          <p:cNvSpPr/>
          <p:nvPr/>
        </p:nvSpPr>
        <p:spPr>
          <a:xfrm>
            <a:off x="1522121" y="795720"/>
            <a:ext cx="1721775" cy="26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7" tIns="45676" rIns="91377" bIns="45676" anchor="ctr" anchorCtr="0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Practice Setting</a:t>
            </a:r>
            <a:r>
              <a:rPr kumimoji="0" lang="en-IN" sz="11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Arial"/>
                <a:sym typeface="Arial"/>
              </a:rPr>
              <a:t>+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85;p5">
            <a:extLst>
              <a:ext uri="{FF2B5EF4-FFF2-40B4-BE49-F238E27FC236}">
                <a16:creationId xmlns:a16="http://schemas.microsoft.com/office/drawing/2014/main" id="{8399113F-6720-1C03-8F77-AAC26A60757A}"/>
              </a:ext>
            </a:extLst>
          </p:cNvPr>
          <p:cNvSpPr txBox="1"/>
          <p:nvPr/>
        </p:nvSpPr>
        <p:spPr>
          <a:xfrm rot="16200000">
            <a:off x="8620853" y="2258078"/>
            <a:ext cx="9108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  <a:sym typeface="Verdana"/>
              </a:rPr>
              <a:t>% of HCPs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6CEC7B-A9D0-8A66-49F8-4489518F3B41}"/>
              </a:ext>
            </a:extLst>
          </p:cNvPr>
          <p:cNvGrpSpPr/>
          <p:nvPr/>
        </p:nvGrpSpPr>
        <p:grpSpPr>
          <a:xfrm>
            <a:off x="10935143" y="1953218"/>
            <a:ext cx="963659" cy="726360"/>
            <a:chOff x="10690744" y="4698418"/>
            <a:chExt cx="963659" cy="726360"/>
          </a:xfrm>
        </p:grpSpPr>
        <p:sp>
          <p:nvSpPr>
            <p:cNvPr id="48" name="Textbox_series_4">
              <a:extLst>
                <a:ext uri="{FF2B5EF4-FFF2-40B4-BE49-F238E27FC236}">
                  <a16:creationId xmlns:a16="http://schemas.microsoft.com/office/drawing/2014/main" id="{6D4E5BA2-2AF9-E573-9A8A-A2528C3D309D}"/>
                </a:ext>
              </a:extLst>
            </p:cNvPr>
            <p:cNvSpPr txBox="1"/>
            <p:nvPr/>
          </p:nvSpPr>
          <p:spPr>
            <a:xfrm>
              <a:off x="10809555" y="4945679"/>
              <a:ext cx="819537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West</a:t>
              </a:r>
            </a:p>
          </p:txBody>
        </p:sp>
        <p:sp>
          <p:nvSpPr>
            <p:cNvPr id="45" name="Legend_series_3">
              <a:extLst>
                <a:ext uri="{FF2B5EF4-FFF2-40B4-BE49-F238E27FC236}">
                  <a16:creationId xmlns:a16="http://schemas.microsoft.com/office/drawing/2014/main" id="{24CBC29B-2D21-95F2-AA91-2ABE9435670E}"/>
                </a:ext>
              </a:extLst>
            </p:cNvPr>
            <p:cNvSpPr/>
            <p:nvPr/>
          </p:nvSpPr>
          <p:spPr>
            <a:xfrm>
              <a:off x="10690746" y="5004274"/>
              <a:ext cx="118809" cy="118810"/>
            </a:xfrm>
            <a:prstGeom prst="rect">
              <a:avLst/>
            </a:prstGeom>
            <a:solidFill>
              <a:srgbClr val="E085C2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55" name="Legend_series_3">
              <a:extLst>
                <a:ext uri="{FF2B5EF4-FFF2-40B4-BE49-F238E27FC236}">
                  <a16:creationId xmlns:a16="http://schemas.microsoft.com/office/drawing/2014/main" id="{0DBD5474-A313-075A-DD14-7DAC69934254}"/>
                </a:ext>
              </a:extLst>
            </p:cNvPr>
            <p:cNvSpPr/>
            <p:nvPr/>
          </p:nvSpPr>
          <p:spPr>
            <a:xfrm>
              <a:off x="10690745" y="5233895"/>
              <a:ext cx="118809" cy="118810"/>
            </a:xfrm>
            <a:prstGeom prst="rect">
              <a:avLst/>
            </a:prstGeom>
            <a:solidFill>
              <a:srgbClr val="CC3399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56" name="Textbox_series_3">
              <a:extLst>
                <a:ext uri="{FF2B5EF4-FFF2-40B4-BE49-F238E27FC236}">
                  <a16:creationId xmlns:a16="http://schemas.microsoft.com/office/drawing/2014/main" id="{AFEFF84F-8A32-351A-C131-5827A22A3ED5}"/>
                </a:ext>
              </a:extLst>
            </p:cNvPr>
            <p:cNvSpPr txBox="1"/>
            <p:nvPr/>
          </p:nvSpPr>
          <p:spPr>
            <a:xfrm>
              <a:off x="10809555" y="5178557"/>
              <a:ext cx="827960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/>
                  <a:cs typeface="Verdana"/>
                  <a:sym typeface="Verdana"/>
                </a:rPr>
                <a:t>South East</a:t>
              </a:r>
            </a:p>
          </p:txBody>
        </p:sp>
        <p:sp>
          <p:nvSpPr>
            <p:cNvPr id="64" name="Textbox_series_3">
              <a:extLst>
                <a:ext uri="{FF2B5EF4-FFF2-40B4-BE49-F238E27FC236}">
                  <a16:creationId xmlns:a16="http://schemas.microsoft.com/office/drawing/2014/main" id="{F1CD6F98-2017-5828-1759-75286931B20E}"/>
                </a:ext>
              </a:extLst>
            </p:cNvPr>
            <p:cNvSpPr txBox="1"/>
            <p:nvPr/>
          </p:nvSpPr>
          <p:spPr>
            <a:xfrm>
              <a:off x="10816663" y="4698418"/>
              <a:ext cx="837740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 defTabSz="913943">
                <a:buClr>
                  <a:srgbClr val="000000"/>
                </a:buClr>
                <a:defRPr/>
              </a:pPr>
              <a:r>
                <a:rPr lang="en-IN" sz="1000" kern="0">
                  <a:solidFill>
                    <a:srgbClr val="505050">
                      <a:lumMod val="50000"/>
                    </a:srgbClr>
                  </a:solidFill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North East</a:t>
              </a:r>
            </a:p>
          </p:txBody>
        </p:sp>
        <p:sp>
          <p:nvSpPr>
            <p:cNvPr id="96" name="Legend_series_4">
              <a:extLst>
                <a:ext uri="{FF2B5EF4-FFF2-40B4-BE49-F238E27FC236}">
                  <a16:creationId xmlns:a16="http://schemas.microsoft.com/office/drawing/2014/main" id="{ECD9AF6E-48F2-EE32-6B48-EFA28930C71A}"/>
                </a:ext>
              </a:extLst>
            </p:cNvPr>
            <p:cNvSpPr/>
            <p:nvPr/>
          </p:nvSpPr>
          <p:spPr>
            <a:xfrm>
              <a:off x="10690744" y="4762234"/>
              <a:ext cx="118809" cy="118810"/>
            </a:xfrm>
            <a:prstGeom prst="rect">
              <a:avLst/>
            </a:prstGeom>
            <a:solidFill>
              <a:srgbClr val="F5D6EB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18A8C6F-0A9F-9E88-31DA-DAAB8B384A74}"/>
              </a:ext>
            </a:extLst>
          </p:cNvPr>
          <p:cNvGrpSpPr/>
          <p:nvPr/>
        </p:nvGrpSpPr>
        <p:grpSpPr>
          <a:xfrm>
            <a:off x="8699563" y="1141660"/>
            <a:ext cx="1733236" cy="2764335"/>
            <a:chOff x="9613963" y="1141660"/>
            <a:chExt cx="1733236" cy="2764335"/>
          </a:xfrm>
        </p:grpSpPr>
        <p:graphicFrame>
          <p:nvGraphicFramePr>
            <p:cNvPr id="8" name="Shape_27175312">
              <a:extLst>
                <a:ext uri="{FF2B5EF4-FFF2-40B4-BE49-F238E27FC236}">
                  <a16:creationId xmlns:a16="http://schemas.microsoft.com/office/drawing/2014/main" id="{496F3494-85A0-847D-11C4-D7F613C921BC}"/>
                </a:ext>
              </a:extLst>
            </p:cNvPr>
            <p:cNvGraphicFramePr/>
            <p:nvPr>
              <p:custDataLst>
                <p:tags r:id="rId4"/>
              </p:custDataLst>
              <p:extLst>
                <p:ext uri="{D42A27DB-BD31-4B8C-83A1-F6EECF244321}">
                  <p14:modId xmlns:p14="http://schemas.microsoft.com/office/powerpoint/2010/main" val="1038839818"/>
                </p:ext>
              </p:extLst>
            </p:nvPr>
          </p:nvGraphicFramePr>
          <p:xfrm>
            <a:off x="9613963" y="1141660"/>
            <a:ext cx="1733236" cy="239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sp>
          <p:nvSpPr>
            <p:cNvPr id="19" name="Google Shape;108;p2">
              <a:extLst>
                <a:ext uri="{FF2B5EF4-FFF2-40B4-BE49-F238E27FC236}">
                  <a16:creationId xmlns:a16="http://schemas.microsoft.com/office/drawing/2014/main" id="{8D272D41-9343-8944-E6BD-2B8F4D8DC311}"/>
                </a:ext>
              </a:extLst>
            </p:cNvPr>
            <p:cNvSpPr/>
            <p:nvPr/>
          </p:nvSpPr>
          <p:spPr>
            <a:xfrm>
              <a:off x="10054558" y="3505974"/>
              <a:ext cx="852047" cy="4000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7" tIns="45676" rIns="91377" bIns="45676" anchor="t" anchorCtr="0">
              <a:spAutoFit/>
            </a:bodyPr>
            <a:lstStyle/>
            <a:p>
              <a:pPr lvl="0" algn="ctr" defTabSz="913943">
                <a:buClr>
                  <a:srgbClr val="000000"/>
                </a:buClr>
                <a:buSzPts val="1200"/>
                <a:defRPr/>
              </a:pPr>
              <a:r>
                <a: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Arial"/>
                </a:rPr>
                <a:t>Q3'25</a:t>
              </a:r>
            </a:p>
            <a:p>
              <a:pPr lvl="0" algn="ctr" defTabSz="913943">
                <a:buClr>
                  <a:srgbClr val="000000"/>
                </a:buClr>
                <a:buSzPts val="1200"/>
                <a:defRPr/>
              </a:pPr>
              <a:r>
                <a: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(n = 78)</a:t>
              </a:r>
              <a:endParaRPr lang="en-US" sz="1000" kern="0" baseline="30000">
                <a:solidFill>
                  <a:srgbClr val="000000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Arial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F51C4BD-49D9-9856-3C6A-6007AEBB3CDE}"/>
              </a:ext>
            </a:extLst>
          </p:cNvPr>
          <p:cNvGrpSpPr/>
          <p:nvPr/>
        </p:nvGrpSpPr>
        <p:grpSpPr>
          <a:xfrm>
            <a:off x="9530165" y="1141660"/>
            <a:ext cx="1733236" cy="2764335"/>
            <a:chOff x="8700435" y="1141660"/>
            <a:chExt cx="1733236" cy="2764335"/>
          </a:xfrm>
        </p:grpSpPr>
        <p:graphicFrame>
          <p:nvGraphicFramePr>
            <p:cNvPr id="13" name="Google Shape;92;p2">
              <a:extLst>
                <a:ext uri="{FF2B5EF4-FFF2-40B4-BE49-F238E27FC236}">
                  <a16:creationId xmlns:a16="http://schemas.microsoft.com/office/drawing/2014/main" id="{570E749D-F409-08DF-4DAE-5159C21A1990}"/>
                </a:ext>
              </a:extLst>
            </p:cNvPr>
            <p:cNvGraphicFramePr/>
            <p:nvPr>
              <p:custDataLst>
                <p:tags r:id="rId3"/>
              </p:custDataLst>
              <p:extLst>
                <p:ext uri="{D42A27DB-BD31-4B8C-83A1-F6EECF244321}">
                  <p14:modId xmlns:p14="http://schemas.microsoft.com/office/powerpoint/2010/main" val="4125156600"/>
                </p:ext>
              </p:extLst>
            </p:nvPr>
          </p:nvGraphicFramePr>
          <p:xfrm>
            <a:off x="8700435" y="1141660"/>
            <a:ext cx="1733236" cy="239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sp>
          <p:nvSpPr>
            <p:cNvPr id="16" name="Google Shape;108;p2">
              <a:extLst>
                <a:ext uri="{FF2B5EF4-FFF2-40B4-BE49-F238E27FC236}">
                  <a16:creationId xmlns:a16="http://schemas.microsoft.com/office/drawing/2014/main" id="{BA44CBE3-7732-DA98-404E-9C82AB967BA5}"/>
                </a:ext>
              </a:extLst>
            </p:cNvPr>
            <p:cNvSpPr/>
            <p:nvPr/>
          </p:nvSpPr>
          <p:spPr>
            <a:xfrm>
              <a:off x="9141030" y="3505974"/>
              <a:ext cx="852047" cy="4000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7" tIns="45676" rIns="91377" bIns="45676" anchor="t" anchorCtr="0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  <a:sym typeface="Arial"/>
                </a:rPr>
                <a:t>Q4'25</a:t>
              </a:r>
            </a:p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Verdana"/>
                  <a:sym typeface="Verdana"/>
                </a:rPr>
                <a:t>(n = </a:t>
              </a:r>
              <a:r>
                <a:rPr lang="en-IN" sz="1000" kern="0">
                  <a:solidFill>
                    <a:srgbClr val="000000"/>
                  </a:solidFill>
                  <a:latin typeface="Johnson Text"/>
                  <a:ea typeface="Verdana"/>
                  <a:cs typeface="Verdana"/>
                  <a:sym typeface="Verdana"/>
                </a:rPr>
                <a:t>74</a:t>
              </a: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Verdana"/>
                  <a:sym typeface="Verdana"/>
                </a:rPr>
                <a:t>)</a:t>
              </a:r>
              <a:endParaRPr kumimoji="0" lang="en-US" sz="10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9E2509A-1645-D035-F772-F7F4F7F68E7D}"/>
              </a:ext>
            </a:extLst>
          </p:cNvPr>
          <p:cNvGrpSpPr/>
          <p:nvPr/>
        </p:nvGrpSpPr>
        <p:grpSpPr>
          <a:xfrm>
            <a:off x="1872072" y="1152738"/>
            <a:ext cx="1875397" cy="2753257"/>
            <a:chOff x="1000000" y="1152738"/>
            <a:chExt cx="1875397" cy="2753257"/>
          </a:xfrm>
        </p:grpSpPr>
        <p:graphicFrame>
          <p:nvGraphicFramePr>
            <p:cNvPr id="69" name="Google Shape;280;p5">
              <a:extLst>
                <a:ext uri="{FF2B5EF4-FFF2-40B4-BE49-F238E27FC236}">
                  <a16:creationId xmlns:a16="http://schemas.microsoft.com/office/drawing/2014/main" id="{3C928D20-C401-D64E-0C3A-9B9447510C0E}"/>
                </a:ext>
              </a:extLst>
            </p:cNvPr>
            <p:cNvGraphicFramePr/>
            <p:nvPr>
              <p:custDataLst>
                <p:tags r:id="rId2"/>
              </p:custDataLst>
              <p:extLst>
                <p:ext uri="{D42A27DB-BD31-4B8C-83A1-F6EECF244321}">
                  <p14:modId xmlns:p14="http://schemas.microsoft.com/office/powerpoint/2010/main" val="3777846294"/>
                </p:ext>
              </p:extLst>
            </p:nvPr>
          </p:nvGraphicFramePr>
          <p:xfrm>
            <a:off x="1000000" y="1152738"/>
            <a:ext cx="1875397" cy="239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30" name="Google Shape;108;p2">
              <a:extLst>
                <a:ext uri="{FF2B5EF4-FFF2-40B4-BE49-F238E27FC236}">
                  <a16:creationId xmlns:a16="http://schemas.microsoft.com/office/drawing/2014/main" id="{3FE2C6C8-C9AB-9BCF-6E36-60CB19D557D3}"/>
                </a:ext>
              </a:extLst>
            </p:cNvPr>
            <p:cNvSpPr/>
            <p:nvPr/>
          </p:nvSpPr>
          <p:spPr>
            <a:xfrm>
              <a:off x="1511675" y="3505974"/>
              <a:ext cx="852047" cy="4000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7" tIns="45676" rIns="91377" bIns="45676" anchor="t" anchorCtr="0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  <a:sym typeface="Arial"/>
                </a:rPr>
                <a:t>Q4'25</a:t>
              </a:r>
            </a:p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Verdana"/>
                  <a:sym typeface="Verdana"/>
                </a:rPr>
                <a:t>(n = </a:t>
              </a:r>
              <a:r>
                <a:rPr lang="en-IN" sz="1000" kern="0">
                  <a:solidFill>
                    <a:srgbClr val="000000"/>
                  </a:solidFill>
                  <a:latin typeface="Johnson Text"/>
                  <a:ea typeface="Verdana"/>
                  <a:cs typeface="Verdana"/>
                  <a:sym typeface="Verdana"/>
                </a:rPr>
                <a:t>74</a:t>
              </a: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Verdana"/>
                  <a:sym typeface="Verdana"/>
                </a:rPr>
                <a:t>)</a:t>
              </a:r>
              <a:endParaRPr kumimoji="0" lang="en-US" sz="10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3DA4723-3D6D-93BB-0928-8AB34724D2FC}"/>
              </a:ext>
            </a:extLst>
          </p:cNvPr>
          <p:cNvGrpSpPr/>
          <p:nvPr/>
        </p:nvGrpSpPr>
        <p:grpSpPr>
          <a:xfrm>
            <a:off x="1025736" y="1152738"/>
            <a:ext cx="1875397" cy="2753257"/>
            <a:chOff x="1863942" y="1152738"/>
            <a:chExt cx="1875397" cy="2753257"/>
          </a:xfrm>
        </p:grpSpPr>
        <p:graphicFrame>
          <p:nvGraphicFramePr>
            <p:cNvPr id="28" name="Shape_31320442">
              <a:extLst>
                <a:ext uri="{FF2B5EF4-FFF2-40B4-BE49-F238E27FC236}">
                  <a16:creationId xmlns:a16="http://schemas.microsoft.com/office/drawing/2014/main" id="{3782F3E4-4D36-6099-3E8C-662CF4BEE8FA}"/>
                </a:ext>
              </a:extLst>
            </p:cNvPr>
            <p:cNvGraphicFramePr/>
            <p:nvPr>
              <p:custDataLst>
                <p:tags r:id="rId1"/>
              </p:custDataLst>
              <p:extLst>
                <p:ext uri="{D42A27DB-BD31-4B8C-83A1-F6EECF244321}">
                  <p14:modId xmlns:p14="http://schemas.microsoft.com/office/powerpoint/2010/main" val="3633587035"/>
                </p:ext>
              </p:extLst>
            </p:nvPr>
          </p:nvGraphicFramePr>
          <p:xfrm>
            <a:off x="1863942" y="1152738"/>
            <a:ext cx="1875397" cy="239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31" name="Google Shape;108;p2">
              <a:extLst>
                <a:ext uri="{FF2B5EF4-FFF2-40B4-BE49-F238E27FC236}">
                  <a16:creationId xmlns:a16="http://schemas.microsoft.com/office/drawing/2014/main" id="{A636D288-BE4D-3ECE-25DD-E3ED99F5813F}"/>
                </a:ext>
              </a:extLst>
            </p:cNvPr>
            <p:cNvSpPr/>
            <p:nvPr/>
          </p:nvSpPr>
          <p:spPr>
            <a:xfrm>
              <a:off x="2375617" y="3505974"/>
              <a:ext cx="852047" cy="4000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77" tIns="45676" rIns="91377" bIns="45676" anchor="t" anchorCtr="0">
              <a:spAutoFit/>
            </a:bodyPr>
            <a:lstStyle/>
            <a:p>
              <a:pPr lvl="0" algn="ctr" defTabSz="913943">
                <a:buClr>
                  <a:srgbClr val="000000"/>
                </a:buClr>
                <a:buSzPts val="1200"/>
                <a:defRPr/>
              </a:pPr>
              <a:r>
                <a: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  <a:sym typeface="Arial"/>
                </a:rPr>
                <a:t>Q3'25</a:t>
              </a:r>
            </a:p>
            <a:p>
              <a:pPr lvl="0" algn="ctr" defTabSz="913943">
                <a:buClr>
                  <a:srgbClr val="000000"/>
                </a:buClr>
                <a:buSzPts val="1200"/>
                <a:defRPr/>
              </a:pPr>
              <a:r>
                <a: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/>
                  <a:cs typeface="Johnson Text" panose="020B0604020202020204" charset="0"/>
                  <a:sym typeface="Verdana"/>
                </a:rPr>
                <a:t>(n = 78)</a:t>
              </a:r>
              <a:endParaRPr lang="en-US" sz="1000" kern="0" baseline="30000">
                <a:solidFill>
                  <a:srgbClr val="000000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Arial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9CA500A-604F-DC75-CAF8-01A4F7B2906F}"/>
              </a:ext>
            </a:extLst>
          </p:cNvPr>
          <p:cNvGrpSpPr/>
          <p:nvPr/>
        </p:nvGrpSpPr>
        <p:grpSpPr>
          <a:xfrm>
            <a:off x="597661" y="4168002"/>
            <a:ext cx="10996681" cy="1949112"/>
            <a:chOff x="379087" y="4168002"/>
            <a:chExt cx="10996681" cy="194911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799C01C-EFD3-8984-8D27-F8B8F0D7897A}"/>
                </a:ext>
              </a:extLst>
            </p:cNvPr>
            <p:cNvGrpSpPr/>
            <p:nvPr/>
          </p:nvGrpSpPr>
          <p:grpSpPr>
            <a:xfrm>
              <a:off x="379087" y="4168002"/>
              <a:ext cx="3420000" cy="1949112"/>
              <a:chOff x="749206" y="4168002"/>
              <a:chExt cx="3420000" cy="1949112"/>
            </a:xfrm>
          </p:grpSpPr>
          <p:sp>
            <p:nvSpPr>
              <p:cNvPr id="10" name="Google Shape;91;p2">
                <a:extLst>
                  <a:ext uri="{FF2B5EF4-FFF2-40B4-BE49-F238E27FC236}">
                    <a16:creationId xmlns:a16="http://schemas.microsoft.com/office/drawing/2014/main" id="{9D4BA610-1231-22FD-70BD-E66E1FB98297}"/>
                  </a:ext>
                </a:extLst>
              </p:cNvPr>
              <p:cNvSpPr/>
              <p:nvPr/>
            </p:nvSpPr>
            <p:spPr>
              <a:xfrm>
                <a:off x="749206" y="4168002"/>
                <a:ext cx="3420000" cy="569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377" tIns="45676" rIns="91377" bIns="45676" anchor="t" anchorCtr="0">
                <a:spAutoFit/>
              </a:bodyPr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Tx/>
                  <a:buNone/>
                  <a:tabLst/>
                  <a:defRPr/>
                </a:pPr>
                <a:r>
                  <a:rPr kumimoji="0" lang="en-I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Arial"/>
                    <a:sym typeface="Arial"/>
                  </a:rPr>
                  <a:t>Average Years of Practice</a:t>
                </a:r>
                <a:r>
                  <a:rPr kumimoji="0" lang="en-IN" sz="1100" b="1" i="0" u="none" strike="noStrike" kern="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Arial"/>
                    <a:sym typeface="Arial"/>
                  </a:rPr>
                  <a:t>+</a:t>
                </a:r>
                <a:endParaRPr kumimoji="0" lang="en-IN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/>
                  <a:cs typeface="Arial"/>
                  <a:sym typeface="Arial"/>
                </a:endParaRPr>
              </a:p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Tx/>
                  <a:buNone/>
                  <a:tabLst/>
                  <a:defRPr/>
                </a:pP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Verdana"/>
                  </a:rPr>
                  <a:t>Q4'25</a:t>
                </a:r>
                <a:endPara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Arial"/>
                </a:endParaRPr>
              </a:p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Tx/>
                  <a:buNone/>
                  <a:tabLst/>
                  <a:defRPr/>
                </a:pP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Verdana"/>
                  </a:rPr>
                  <a:t>(n = </a:t>
                </a:r>
                <a:r>
                  <a:rPr lang="en-IN" sz="1000" kern="0">
                    <a:solidFill>
                      <a:srgbClr val="000000"/>
                    </a:solidFill>
                    <a:latin typeface="Johnson Text"/>
                    <a:ea typeface="Verdana"/>
                    <a:cs typeface="Arial"/>
                    <a:sym typeface="Verdana"/>
                  </a:rPr>
                  <a:t>74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Verdana"/>
                  </a:rPr>
                  <a:t>)</a:t>
                </a:r>
                <a:endPara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</a:endParaRPr>
              </a:p>
            </p:txBody>
          </p:sp>
          <p:grpSp>
            <p:nvGrpSpPr>
              <p:cNvPr id="11" name="Google Shape;87;p2">
                <a:extLst>
                  <a:ext uri="{FF2B5EF4-FFF2-40B4-BE49-F238E27FC236}">
                    <a16:creationId xmlns:a16="http://schemas.microsoft.com/office/drawing/2014/main" id="{F74FEE5E-9EC2-12FE-29E8-E78C5487A92E}"/>
                  </a:ext>
                </a:extLst>
              </p:cNvPr>
              <p:cNvGrpSpPr/>
              <p:nvPr/>
            </p:nvGrpSpPr>
            <p:grpSpPr>
              <a:xfrm>
                <a:off x="2099859" y="4961773"/>
                <a:ext cx="718694" cy="704211"/>
                <a:chOff x="3882500" y="-1754594"/>
                <a:chExt cx="1078041" cy="948496"/>
              </a:xfrm>
            </p:grpSpPr>
            <p:sp>
              <p:nvSpPr>
                <p:cNvPr id="33" name="Google Shape;88;p2">
                  <a:extLst>
                    <a:ext uri="{FF2B5EF4-FFF2-40B4-BE49-F238E27FC236}">
                      <a16:creationId xmlns:a16="http://schemas.microsoft.com/office/drawing/2014/main" id="{87C49114-9921-16DF-3016-21373100EFAD}"/>
                    </a:ext>
                  </a:extLst>
                </p:cNvPr>
                <p:cNvSpPr/>
                <p:nvPr/>
              </p:nvSpPr>
              <p:spPr>
                <a:xfrm>
                  <a:off x="3882500" y="-1754594"/>
                  <a:ext cx="1078041" cy="948496"/>
                </a:xfrm>
                <a:prstGeom prst="ellipse">
                  <a:avLst/>
                </a:prstGeom>
                <a:solidFill>
                  <a:srgbClr val="FF6B42"/>
                </a:solidFill>
                <a:ln>
                  <a:noFill/>
                </a:ln>
              </p:spPr>
              <p:txBody>
                <a:bodyPr spcFirstLastPara="1" wrap="square" lIns="182730" tIns="91352" rIns="182730" bIns="91352" anchor="ctr" anchorCtr="0">
                  <a:noAutofit/>
                </a:bodyPr>
                <a:lstStyle/>
                <a:p>
                  <a:pPr marL="0" marR="0" lvl="0" indent="0" algn="ctr" defTabSz="91394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400"/>
                    <a:buFontTx/>
                    <a:buNone/>
                    <a:tabLst/>
                    <a:defRPr/>
                  </a:pPr>
                  <a:endParaRPr kumimoji="0" sz="6397" b="0" i="0" u="none" strike="noStrike" kern="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/>
                    <a:sym typeface="Arial"/>
                  </a:endParaRPr>
                </a:p>
              </p:txBody>
            </p:sp>
            <p:pic>
              <p:nvPicPr>
                <p:cNvPr id="34" name="Google Shape;89;p2">
                  <a:extLst>
                    <a:ext uri="{FF2B5EF4-FFF2-40B4-BE49-F238E27FC236}">
                      <a16:creationId xmlns:a16="http://schemas.microsoft.com/office/drawing/2014/main" id="{04D219D4-1216-EC40-38B5-233B46602A8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/>
                <a:stretch/>
              </p:blipFill>
              <p:spPr>
                <a:xfrm>
                  <a:off x="4163551" y="-1614862"/>
                  <a:ext cx="515940" cy="69117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5" name="Google Shape;90;p2">
                <a:extLst>
                  <a:ext uri="{FF2B5EF4-FFF2-40B4-BE49-F238E27FC236}">
                    <a16:creationId xmlns:a16="http://schemas.microsoft.com/office/drawing/2014/main" id="{CC531CEC-B8DF-9E6F-F3CD-AA1720824C7B}"/>
                  </a:ext>
                </a:extLst>
              </p:cNvPr>
              <p:cNvSpPr/>
              <p:nvPr/>
            </p:nvSpPr>
            <p:spPr>
              <a:xfrm>
                <a:off x="1392012" y="5809426"/>
                <a:ext cx="2134389" cy="307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377" tIns="45676" rIns="91377" bIns="45676" anchor="t" anchorCtr="0">
                <a:spAutoFit/>
              </a:bodyPr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Tx/>
                  <a:buNone/>
                  <a:tabLst/>
                  <a:defRPr/>
                </a:pPr>
                <a:r>
                  <a:rPr kumimoji="0" lang="en-I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/>
                    <a:sym typeface="Arial"/>
                  </a:rPr>
                  <a:t>16</a:t>
                </a:r>
                <a:r>
                  <a:rPr kumimoji="0" lang="en-I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 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(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-</a:t>
                </a:r>
                <a:r>
                  <a:rPr lang="en-IN" sz="1000" kern="0">
                    <a:solidFill>
                      <a:srgbClr val="FF0000"/>
                    </a:solidFill>
                    <a:latin typeface="Johnson Text"/>
                    <a:ea typeface="Verdana"/>
                    <a:cs typeface="Arial"/>
                    <a:sym typeface="Arial"/>
                  </a:rPr>
                  <a:t>1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)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/>
                    <a:sym typeface="Arial"/>
                  </a:rPr>
                  <a:t> </a:t>
                </a:r>
                <a:r>
                  <a:rPr kumimoji="0" lang="en-I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/>
                    <a:sym typeface="Arial"/>
                  </a:rPr>
                  <a:t>years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09A99CB-E592-FADA-29F4-8F894B74E6A7}"/>
                </a:ext>
              </a:extLst>
            </p:cNvPr>
            <p:cNvGrpSpPr/>
            <p:nvPr/>
          </p:nvGrpSpPr>
          <p:grpSpPr>
            <a:xfrm>
              <a:off x="4167427" y="4168002"/>
              <a:ext cx="3420000" cy="1930176"/>
              <a:chOff x="4537546" y="4168002"/>
              <a:chExt cx="3420000" cy="1930176"/>
            </a:xfrm>
          </p:grpSpPr>
          <p:sp>
            <p:nvSpPr>
              <p:cNvPr id="37" name="Google Shape;91;p2">
                <a:extLst>
                  <a:ext uri="{FF2B5EF4-FFF2-40B4-BE49-F238E27FC236}">
                    <a16:creationId xmlns:a16="http://schemas.microsoft.com/office/drawing/2014/main" id="{56ABA217-67C3-1B54-090F-258155DED4E4}"/>
                  </a:ext>
                </a:extLst>
              </p:cNvPr>
              <p:cNvSpPr/>
              <p:nvPr/>
            </p:nvSpPr>
            <p:spPr>
              <a:xfrm>
                <a:off x="4537546" y="4168002"/>
                <a:ext cx="3420000" cy="584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377" tIns="45676" rIns="91377" bIns="45676" anchor="t" anchorCtr="0">
                <a:spAutoFit/>
              </a:bodyPr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Tx/>
                  <a:buNone/>
                  <a:tabLst/>
                  <a:defRPr/>
                </a:pPr>
                <a:r>
                  <a:rPr kumimoji="0" lang="en-IN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Arial"/>
                    <a:sym typeface="Arial"/>
                  </a:rPr>
                  <a:t>Average # of EGFR + mNSCLC Patients</a:t>
                </a:r>
                <a:r>
                  <a:rPr kumimoji="0" lang="en-IN" sz="1100" b="1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Arial"/>
                    <a:sym typeface="Arial"/>
                  </a:rPr>
                  <a:t>+</a:t>
                </a:r>
                <a:r>
                  <a:rPr kumimoji="0" lang="en-IN" sz="1100" b="0" i="1" u="none" strike="noStrike" kern="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Verdana"/>
                    <a:sym typeface="Verdana"/>
                  </a:rPr>
                  <a:t>#</a:t>
                </a:r>
                <a:endParaRPr kumimoji="0" lang="en-I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Arial"/>
                  <a:sym typeface="Verdana"/>
                </a:endParaRPr>
              </a:p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Tx/>
                  <a:buNone/>
                  <a:tabLst/>
                  <a:defRPr/>
                </a:pPr>
                <a:r>
                  <a:rPr kumimoji="0" lang="en-I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Verdana"/>
                  </a:rPr>
                  <a:t>Q4'25</a:t>
                </a:r>
                <a:endParaRPr kumimoji="0" lang="en-I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/>
                  <a:cs typeface="Arial"/>
                </a:endParaRPr>
              </a:p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Tx/>
                  <a:buNone/>
                  <a:tabLst/>
                  <a:defRPr/>
                </a:pPr>
                <a:r>
                  <a:rPr kumimoji="0" lang="en-I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Verdana"/>
                  </a:rPr>
                  <a:t>(n = </a:t>
                </a:r>
                <a:r>
                  <a:rPr lang="en-IN" sz="1000" kern="0" dirty="0">
                    <a:solidFill>
                      <a:srgbClr val="000000"/>
                    </a:solidFill>
                    <a:latin typeface="Johnson Text"/>
                    <a:ea typeface="Verdana"/>
                    <a:cs typeface="Arial"/>
                    <a:sym typeface="Verdana"/>
                  </a:rPr>
                  <a:t>74</a:t>
                </a:r>
                <a:r>
                  <a:rPr kumimoji="0" lang="en-I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Verdana"/>
                  </a:rPr>
                  <a:t>)</a:t>
                </a:r>
                <a:endParaRPr kumimoji="0" lang="en-I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D25C67-E886-D379-349C-89CC8D22A97B}"/>
                  </a:ext>
                </a:extLst>
              </p:cNvPr>
              <p:cNvSpPr txBox="1"/>
              <p:nvPr/>
            </p:nvSpPr>
            <p:spPr>
              <a:xfrm flipH="1">
                <a:off x="4974714" y="5790401"/>
                <a:ext cx="2545664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400" b="1" kern="0">
                    <a:solidFill>
                      <a:srgbClr val="FF0000"/>
                    </a:solidFill>
                    <a:latin typeface="Johnson Text"/>
                    <a:ea typeface="Verdana"/>
                    <a:cs typeface="Arial"/>
                    <a:sym typeface="Arial"/>
                  </a:rPr>
                  <a:t>8</a:t>
                </a:r>
                <a:r>
                  <a:rPr kumimoji="0" lang="en-I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 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(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-4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) </a:t>
                </a:r>
                <a:r>
                  <a:rPr kumimoji="0" lang="en-IN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patients</a:t>
                </a:r>
                <a:endPara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pic>
            <p:nvPicPr>
              <p:cNvPr id="39" name="Picture 38" descr="A picture containing background pattern&#10;&#10;Description automatically generated">
                <a:extLst>
                  <a:ext uri="{FF2B5EF4-FFF2-40B4-BE49-F238E27FC236}">
                    <a16:creationId xmlns:a16="http://schemas.microsoft.com/office/drawing/2014/main" id="{9D496D0E-6820-2C53-4E26-6087F979FA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66" r="80606" b="76728"/>
              <a:stretch/>
            </p:blipFill>
            <p:spPr>
              <a:xfrm>
                <a:off x="5755601" y="4811948"/>
                <a:ext cx="983890" cy="936426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3EECB3C-3AF7-027F-8EBD-E909558483B9}"/>
                </a:ext>
              </a:extLst>
            </p:cNvPr>
            <p:cNvGrpSpPr/>
            <p:nvPr/>
          </p:nvGrpSpPr>
          <p:grpSpPr>
            <a:xfrm>
              <a:off x="7955768" y="4168002"/>
              <a:ext cx="3420000" cy="1860315"/>
              <a:chOff x="8325887" y="4168002"/>
              <a:chExt cx="3420000" cy="1860315"/>
            </a:xfrm>
          </p:grpSpPr>
          <p:sp>
            <p:nvSpPr>
              <p:cNvPr id="36" name="Google Shape;94;p2">
                <a:extLst>
                  <a:ext uri="{FF2B5EF4-FFF2-40B4-BE49-F238E27FC236}">
                    <a16:creationId xmlns:a16="http://schemas.microsoft.com/office/drawing/2014/main" id="{D80F7F88-EC6E-BB5B-9F8B-59BB0EC4950A}"/>
                  </a:ext>
                </a:extLst>
              </p:cNvPr>
              <p:cNvSpPr/>
              <p:nvPr/>
            </p:nvSpPr>
            <p:spPr>
              <a:xfrm>
                <a:off x="8325887" y="4168002"/>
                <a:ext cx="3420000" cy="569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377" tIns="45676" rIns="91377" bIns="45676" anchor="t" anchorCtr="0">
                <a:spAutoFit/>
              </a:bodyPr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Arial"/>
                    <a:sym typeface="Arial"/>
                  </a:rPr>
                  <a:t>Average Time Spent in Patient Care</a:t>
                </a:r>
                <a:r>
                  <a:rPr kumimoji="0" lang="en-IN" sz="1100" b="1" i="0" u="none" strike="noStrike" kern="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Arial"/>
                    <a:sym typeface="Arial"/>
                  </a:rPr>
                  <a:t>+</a:t>
                </a:r>
                <a:r>
                  <a:rPr kumimoji="0" lang="en-US" sz="1100" b="1" i="0" u="none" strike="noStrike" kern="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Display"/>
                    <a:ea typeface="Verdana"/>
                    <a:cs typeface="Arial"/>
                    <a:sym typeface="Arial"/>
                  </a:rPr>
                  <a:t>^</a:t>
                </a:r>
              </a:p>
              <a:p>
                <a:pPr lvl="0" algn="ctr" defTabSz="913943">
                  <a:buClr>
                    <a:srgbClr val="000000"/>
                  </a:buClr>
                  <a:buSzPts val="1200"/>
                  <a:defRPr/>
                </a:pPr>
                <a:r>
                  <a:rPr lang="en-IN" sz="1000" kern="0">
                    <a:solidFill>
                      <a:srgbClr val="000000"/>
                    </a:solidFill>
                    <a:latin typeface="Johnson Text" panose="020B0604020202020204" charset="0"/>
                    <a:ea typeface="Verdana"/>
                    <a:cs typeface="Johnson Text" panose="020B0604020202020204" charset="0"/>
                    <a:sym typeface="Verdana"/>
                  </a:rPr>
                  <a:t>Q4'25</a:t>
                </a:r>
                <a:endPara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/>
                  <a:cs typeface="Johnson Text" panose="020B0604020202020204" charset="0"/>
                </a:endParaRPr>
              </a:p>
              <a:p>
                <a:pPr lvl="0" algn="ctr" defTabSz="913943">
                  <a:buClr>
                    <a:srgbClr val="000000"/>
                  </a:buClr>
                  <a:buSzPts val="1200"/>
                  <a:defRPr/>
                </a:pPr>
                <a:r>
                  <a:rPr lang="en-IN" sz="1000" kern="0">
                    <a:solidFill>
                      <a:srgbClr val="000000"/>
                    </a:solidFill>
                    <a:latin typeface="Johnson Text" panose="020B0604020202020204" charset="0"/>
                    <a:ea typeface="Verdana"/>
                    <a:cs typeface="Johnson Text" panose="020B0604020202020204" charset="0"/>
                    <a:sym typeface="Verdana"/>
                  </a:rPr>
                  <a:t>(n = 74)</a:t>
                </a:r>
                <a:endParaRPr lang="en-IN" sz="1000" kern="0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endParaRPr>
              </a:p>
            </p:txBody>
          </p:sp>
          <p:sp>
            <p:nvSpPr>
              <p:cNvPr id="40" name="Google Shape;285;p5">
                <a:extLst>
                  <a:ext uri="{FF2B5EF4-FFF2-40B4-BE49-F238E27FC236}">
                    <a16:creationId xmlns:a16="http://schemas.microsoft.com/office/drawing/2014/main" id="{A4CA6C18-0C6B-FCE7-D247-D3D5D083C51E}"/>
                  </a:ext>
                </a:extLst>
              </p:cNvPr>
              <p:cNvSpPr txBox="1"/>
              <p:nvPr/>
            </p:nvSpPr>
            <p:spPr>
              <a:xfrm>
                <a:off x="9372822" y="5812873"/>
                <a:ext cx="135518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Tx/>
                  <a:buNone/>
                  <a:tabLst/>
                  <a:defRPr/>
                </a:pPr>
                <a:r>
                  <a:rPr kumimoji="0" lang="en-I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/>
                    <a:sym typeface="Arial"/>
                  </a:rPr>
                  <a:t>91% 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(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-1</a:t>
                </a:r>
                <a:r>
                  <a:rPr lang="en-IN" sz="1000" kern="0">
                    <a:solidFill>
                      <a:srgbClr val="FF0000"/>
                    </a:solidFill>
                    <a:latin typeface="Johnson Text"/>
                    <a:ea typeface="Verdana"/>
                    <a:cs typeface="Arial"/>
                    <a:sym typeface="Arial"/>
                  </a:rPr>
                  <a:t>%</a:t>
                </a: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Arial"/>
                    <a:sym typeface="Arial"/>
                  </a:rPr>
                  <a:t>)</a:t>
                </a:r>
                <a:endPara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  <a:sym typeface="Arial"/>
                </a:endParaRPr>
              </a:p>
            </p:txBody>
          </p:sp>
          <p:pic>
            <p:nvPicPr>
              <p:cNvPr id="41" name="Picture 40" descr="Icon&#10;&#10;Description automatically generated">
                <a:extLst>
                  <a:ext uri="{FF2B5EF4-FFF2-40B4-BE49-F238E27FC236}">
                    <a16:creationId xmlns:a16="http://schemas.microsoft.com/office/drawing/2014/main" id="{27B0FDCA-657B-33B2-F99A-4BFAAE3B6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85616" y="4950033"/>
                <a:ext cx="739050" cy="739050"/>
              </a:xfrm>
              <a:prstGeom prst="rect">
                <a:avLst/>
              </a:prstGeom>
            </p:spPr>
          </p:pic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9186073-5C04-D0B0-6CFC-A8084FF9D348}"/>
              </a:ext>
            </a:extLst>
          </p:cNvPr>
          <p:cNvCxnSpPr>
            <a:cxnSpLocks/>
          </p:cNvCxnSpPr>
          <p:nvPr/>
        </p:nvCxnSpPr>
        <p:spPr>
          <a:xfrm>
            <a:off x="392092" y="4068968"/>
            <a:ext cx="1135697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23DB5A-37A2-CE92-5A9D-CF7FB2798047}"/>
              </a:ext>
            </a:extLst>
          </p:cNvPr>
          <p:cNvGrpSpPr/>
          <p:nvPr/>
        </p:nvGrpSpPr>
        <p:grpSpPr>
          <a:xfrm>
            <a:off x="3387271" y="2037823"/>
            <a:ext cx="1124912" cy="557150"/>
            <a:chOff x="7454094" y="2047985"/>
            <a:chExt cx="1834102" cy="557150"/>
          </a:xfrm>
        </p:grpSpPr>
        <p:grpSp>
          <p:nvGrpSpPr>
            <p:cNvPr id="44" name="Le_Text_4">
              <a:extLst>
                <a:ext uri="{FF2B5EF4-FFF2-40B4-BE49-F238E27FC236}">
                  <a16:creationId xmlns:a16="http://schemas.microsoft.com/office/drawing/2014/main" id="{7BE68EEC-33A7-A27C-8F06-2B125109C30E}"/>
                </a:ext>
              </a:extLst>
            </p:cNvPr>
            <p:cNvGrpSpPr/>
            <p:nvPr/>
          </p:nvGrpSpPr>
          <p:grpSpPr>
            <a:xfrm>
              <a:off x="7454094" y="2358914"/>
              <a:ext cx="1700770" cy="246221"/>
              <a:chOff x="11112812" y="2368767"/>
              <a:chExt cx="1701659" cy="246349"/>
            </a:xfrm>
          </p:grpSpPr>
          <p:sp>
            <p:nvSpPr>
              <p:cNvPr id="59" name="Legend_series_4">
                <a:extLst>
                  <a:ext uri="{FF2B5EF4-FFF2-40B4-BE49-F238E27FC236}">
                    <a16:creationId xmlns:a16="http://schemas.microsoft.com/office/drawing/2014/main" id="{A2B13C1C-91D8-8055-2AC6-4BC43F08CF7B}"/>
                  </a:ext>
                </a:extLst>
              </p:cNvPr>
              <p:cNvSpPr/>
              <p:nvPr/>
            </p:nvSpPr>
            <p:spPr>
              <a:xfrm>
                <a:off x="11112812" y="2432498"/>
                <a:ext cx="176180" cy="108056"/>
              </a:xfrm>
              <a:prstGeom prst="rect">
                <a:avLst/>
              </a:prstGeom>
              <a:solidFill>
                <a:srgbClr val="1F698F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60" name="Textbox_series_4">
                <a:extLst>
                  <a:ext uri="{FF2B5EF4-FFF2-40B4-BE49-F238E27FC236}">
                    <a16:creationId xmlns:a16="http://schemas.microsoft.com/office/drawing/2014/main" id="{744B55B7-5082-B244-DCEB-6C141D178060}"/>
                  </a:ext>
                </a:extLst>
              </p:cNvPr>
              <p:cNvSpPr txBox="1"/>
              <p:nvPr/>
            </p:nvSpPr>
            <p:spPr>
              <a:xfrm>
                <a:off x="11271269" y="2368767"/>
                <a:ext cx="1543202" cy="246349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0" marR="0" lvl="0" indent="0" algn="l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/>
                    <a:cs typeface="Verdana"/>
                    <a:sym typeface="Verdana"/>
                  </a:rPr>
                  <a:t>Community</a:t>
                </a:r>
              </a:p>
            </p:txBody>
          </p:sp>
        </p:grpSp>
        <p:grpSp>
          <p:nvGrpSpPr>
            <p:cNvPr id="49" name="Le_Text_3">
              <a:extLst>
                <a:ext uri="{FF2B5EF4-FFF2-40B4-BE49-F238E27FC236}">
                  <a16:creationId xmlns:a16="http://schemas.microsoft.com/office/drawing/2014/main" id="{6DF51026-5FB8-DE45-C5B9-A58BA28E86FA}"/>
                </a:ext>
              </a:extLst>
            </p:cNvPr>
            <p:cNvGrpSpPr/>
            <p:nvPr/>
          </p:nvGrpSpPr>
          <p:grpSpPr>
            <a:xfrm>
              <a:off x="7454106" y="2047985"/>
              <a:ext cx="1834090" cy="246221"/>
              <a:chOff x="11112812" y="1951484"/>
              <a:chExt cx="1835048" cy="246349"/>
            </a:xfrm>
          </p:grpSpPr>
          <p:sp>
            <p:nvSpPr>
              <p:cNvPr id="57" name="Legend_series_3">
                <a:extLst>
                  <a:ext uri="{FF2B5EF4-FFF2-40B4-BE49-F238E27FC236}">
                    <a16:creationId xmlns:a16="http://schemas.microsoft.com/office/drawing/2014/main" id="{310981DF-FEFC-7B4A-D6BD-5376BDBC7C75}"/>
                  </a:ext>
                </a:extLst>
              </p:cNvPr>
              <p:cNvSpPr/>
              <p:nvPr/>
            </p:nvSpPr>
            <p:spPr>
              <a:xfrm>
                <a:off x="11112812" y="1997057"/>
                <a:ext cx="176179" cy="108056"/>
              </a:xfrm>
              <a:prstGeom prst="rect">
                <a:avLst/>
              </a:prstGeom>
              <a:solidFill>
                <a:srgbClr val="77BEE3"/>
              </a:solidFill>
              <a:ln w="25400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254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58" name="Textbox_series_3">
                <a:extLst>
                  <a:ext uri="{FF2B5EF4-FFF2-40B4-BE49-F238E27FC236}">
                    <a16:creationId xmlns:a16="http://schemas.microsoft.com/office/drawing/2014/main" id="{3B20D981-4D34-BF34-406D-ACD666584784}"/>
                  </a:ext>
                </a:extLst>
              </p:cNvPr>
              <p:cNvSpPr txBox="1"/>
              <p:nvPr/>
            </p:nvSpPr>
            <p:spPr>
              <a:xfrm>
                <a:off x="11271263" y="1951484"/>
                <a:ext cx="1676597" cy="246349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0" marR="0" lvl="0" indent="0" algn="l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/>
                    <a:cs typeface="Verdana"/>
                    <a:sym typeface="Verdana"/>
                  </a:rPr>
                  <a:t>Academic</a:t>
                </a:r>
              </a:p>
            </p:txBody>
          </p:sp>
        </p:grpSp>
      </p:grpSp>
      <p:sp>
        <p:nvSpPr>
          <p:cNvPr id="95" name="Google Shape;285;p5">
            <a:extLst>
              <a:ext uri="{FF2B5EF4-FFF2-40B4-BE49-F238E27FC236}">
                <a16:creationId xmlns:a16="http://schemas.microsoft.com/office/drawing/2014/main" id="{5C0C8265-BC3E-D069-9054-8C61A2742A17}"/>
              </a:ext>
            </a:extLst>
          </p:cNvPr>
          <p:cNvSpPr txBox="1"/>
          <p:nvPr/>
        </p:nvSpPr>
        <p:spPr>
          <a:xfrm rot="16200000">
            <a:off x="4107519" y="2211912"/>
            <a:ext cx="144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  <a:sym typeface="Verdana"/>
              </a:rPr>
              <a:t>% of HCPs</a:t>
            </a:r>
          </a:p>
        </p:txBody>
      </p:sp>
      <p:sp>
        <p:nvSpPr>
          <p:cNvPr id="97" name="Google Shape;281;p5">
            <a:extLst>
              <a:ext uri="{FF2B5EF4-FFF2-40B4-BE49-F238E27FC236}">
                <a16:creationId xmlns:a16="http://schemas.microsoft.com/office/drawing/2014/main" id="{9CFA5372-0217-E77E-4F46-E716D65B974F}"/>
              </a:ext>
            </a:extLst>
          </p:cNvPr>
          <p:cNvSpPr/>
          <p:nvPr/>
        </p:nvSpPr>
        <p:spPr>
          <a:xfrm>
            <a:off x="4378086" y="795720"/>
            <a:ext cx="2875362" cy="26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7" tIns="45676" rIns="91377" bIns="45676" anchor="ctr" anchorCtr="0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Verdana"/>
                <a:sym typeface="Verdana"/>
              </a:rPr>
              <a:t>Specialty</a:t>
            </a:r>
            <a:r>
              <a:rPr kumimoji="0" lang="en-US" sz="11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Verdana"/>
                <a:sym typeface="Verdana"/>
              </a:rPr>
              <a:t>+&amp;</a:t>
            </a:r>
            <a:endParaRPr kumimoji="0" lang="en-IN" sz="1100" b="0" i="1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0F87B5-323C-C410-E70A-2CB53E4C44F9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^Screening criteria requires HCPs to spend &gt;60% of their time in patient care to qualify for this study | </a:t>
            </a:r>
            <a:r>
              <a:rPr kumimoji="1" lang="en-US" sz="900" b="0" i="1" u="none" strike="noStrike" kern="0" cap="none" spc="0" normalizeH="0" baseline="3000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+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Data from ZoomRx Activity Screener | </a:t>
            </a:r>
            <a:r>
              <a:rPr kumimoji="1" lang="en-US" sz="900" b="0" i="1" u="none" strike="noStrike" kern="0" cap="none" spc="0" normalizeH="0" baseline="3000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#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Local outliers removed | No statistically significant difference found between the latest two quarters |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</a:t>
            </a: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+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/</a:t>
            </a: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-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denotes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increase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/ 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from the previous quarter 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| </a:t>
            </a:r>
            <a:r>
              <a:rPr kumimoji="1" lang="en-US" sz="900" b="0" i="1" u="none" strike="noStrike" kern="0" cap="none" spc="0" normalizeH="0" baseline="3000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&amp;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Primary specialty not asked for NP/PAs | n = number of HCPs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F76AE6-302A-2984-71F8-2A2C44984F84}"/>
              </a:ext>
            </a:extLst>
          </p:cNvPr>
          <p:cNvGrpSpPr/>
          <p:nvPr/>
        </p:nvGrpSpPr>
        <p:grpSpPr>
          <a:xfrm>
            <a:off x="6709436" y="1798694"/>
            <a:ext cx="2185135" cy="1035408"/>
            <a:chOff x="7036773" y="1798694"/>
            <a:chExt cx="2185135" cy="103540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5490808-CD9B-CDF5-5A20-34F453F7ED09}"/>
                </a:ext>
              </a:extLst>
            </p:cNvPr>
            <p:cNvGrpSpPr/>
            <p:nvPr/>
          </p:nvGrpSpPr>
          <p:grpSpPr>
            <a:xfrm>
              <a:off x="7036781" y="2249072"/>
              <a:ext cx="1501136" cy="585030"/>
              <a:chOff x="7454095" y="2124929"/>
              <a:chExt cx="2447516" cy="585030"/>
            </a:xfrm>
          </p:grpSpPr>
          <p:grpSp>
            <p:nvGrpSpPr>
              <p:cNvPr id="21" name="Le_Text_4">
                <a:extLst>
                  <a:ext uri="{FF2B5EF4-FFF2-40B4-BE49-F238E27FC236}">
                    <a16:creationId xmlns:a16="http://schemas.microsoft.com/office/drawing/2014/main" id="{4002D2EA-B143-ECAA-1F30-2FC95566E6E9}"/>
                  </a:ext>
                </a:extLst>
              </p:cNvPr>
              <p:cNvGrpSpPr/>
              <p:nvPr/>
            </p:nvGrpSpPr>
            <p:grpSpPr>
              <a:xfrm>
                <a:off x="7454095" y="2463738"/>
                <a:ext cx="2036644" cy="246221"/>
                <a:chOff x="11112812" y="2473644"/>
                <a:chExt cx="2037708" cy="246349"/>
              </a:xfrm>
            </p:grpSpPr>
            <p:sp>
              <p:nvSpPr>
                <p:cNvPr id="27" name="Legend_series_4">
                  <a:extLst>
                    <a:ext uri="{FF2B5EF4-FFF2-40B4-BE49-F238E27FC236}">
                      <a16:creationId xmlns:a16="http://schemas.microsoft.com/office/drawing/2014/main" id="{D67D0D2F-996B-855D-339C-FDE81B166AD5}"/>
                    </a:ext>
                  </a:extLst>
                </p:cNvPr>
                <p:cNvSpPr/>
                <p:nvPr/>
              </p:nvSpPr>
              <p:spPr>
                <a:xfrm>
                  <a:off x="11112812" y="2542790"/>
                  <a:ext cx="176180" cy="108056"/>
                </a:xfrm>
                <a:prstGeom prst="rect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394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29" name="Textbox_series_4">
                  <a:extLst>
                    <a:ext uri="{FF2B5EF4-FFF2-40B4-BE49-F238E27FC236}">
                      <a16:creationId xmlns:a16="http://schemas.microsoft.com/office/drawing/2014/main" id="{83ACA4D3-670A-BA8D-0155-2BFBDABC86D8}"/>
                    </a:ext>
                  </a:extLst>
                </p:cNvPr>
                <p:cNvSpPr txBox="1"/>
                <p:nvPr/>
              </p:nvSpPr>
              <p:spPr>
                <a:xfrm>
                  <a:off x="11271268" y="2473644"/>
                  <a:ext cx="1879252" cy="246349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spAutoFit/>
                </a:bodyPr>
                <a:lstStyle/>
                <a:p>
                  <a:pPr marL="0" marR="0" lvl="0" indent="0" algn="l" defTabSz="91394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IN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/>
                      <a:cs typeface="Verdana"/>
                      <a:sym typeface="Verdana"/>
                    </a:rPr>
                    <a:t>Medical Oncology</a:t>
                  </a:r>
                </a:p>
              </p:txBody>
            </p:sp>
          </p:grpSp>
          <p:grpSp>
            <p:nvGrpSpPr>
              <p:cNvPr id="23" name="Le_Text_3">
                <a:extLst>
                  <a:ext uri="{FF2B5EF4-FFF2-40B4-BE49-F238E27FC236}">
                    <a16:creationId xmlns:a16="http://schemas.microsoft.com/office/drawing/2014/main" id="{EA42717D-1A2B-4EDC-B309-462B76DC7A1B}"/>
                  </a:ext>
                </a:extLst>
              </p:cNvPr>
              <p:cNvGrpSpPr/>
              <p:nvPr/>
            </p:nvGrpSpPr>
            <p:grpSpPr>
              <a:xfrm>
                <a:off x="7454104" y="2124929"/>
                <a:ext cx="2447507" cy="246221"/>
                <a:chOff x="11112812" y="2028468"/>
                <a:chExt cx="2448786" cy="246349"/>
              </a:xfrm>
            </p:grpSpPr>
            <p:sp>
              <p:nvSpPr>
                <p:cNvPr id="25" name="Legend_series_3">
                  <a:extLst>
                    <a:ext uri="{FF2B5EF4-FFF2-40B4-BE49-F238E27FC236}">
                      <a16:creationId xmlns:a16="http://schemas.microsoft.com/office/drawing/2014/main" id="{E39CBD3F-5662-7630-831B-9BBAAF58B2F2}"/>
                    </a:ext>
                  </a:extLst>
                </p:cNvPr>
                <p:cNvSpPr/>
                <p:nvPr/>
              </p:nvSpPr>
              <p:spPr>
                <a:xfrm>
                  <a:off x="11112812" y="2097615"/>
                  <a:ext cx="176178" cy="108056"/>
                </a:xfrm>
                <a:prstGeom prst="rect">
                  <a:avLst/>
                </a:prstGeom>
                <a:solidFill>
                  <a:srgbClr val="00B050"/>
                </a:solidFill>
                <a:ln w="25400" cap="flat" cmpd="sng" algn="ctr">
                  <a:noFill/>
                  <a:prstDash val="solid"/>
                </a:ln>
                <a:effectLst/>
                <a:extLst>
                  <a:ext uri="{91240B29-F687-4F45-9708-019B960494DF}">
                    <a14:hiddenLine xmlns:a14="http://schemas.microsoft.com/office/drawing/2010/main" w="254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394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26" name="Textbox_series_3">
                  <a:extLst>
                    <a:ext uri="{FF2B5EF4-FFF2-40B4-BE49-F238E27FC236}">
                      <a16:creationId xmlns:a16="http://schemas.microsoft.com/office/drawing/2014/main" id="{6FADC1A5-B29F-B234-F61B-E77ADA0E70A3}"/>
                    </a:ext>
                  </a:extLst>
                </p:cNvPr>
                <p:cNvSpPr txBox="1"/>
                <p:nvPr/>
              </p:nvSpPr>
              <p:spPr>
                <a:xfrm>
                  <a:off x="11271257" y="2028468"/>
                  <a:ext cx="2290341" cy="246349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spAutoFit/>
                </a:bodyPr>
                <a:lstStyle/>
                <a:p>
                  <a:pPr marL="0" marR="0" lvl="0" indent="0" algn="l" defTabSz="91394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IN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/>
                      <a:cs typeface="Verdana"/>
                      <a:sym typeface="Verdana"/>
                    </a:rPr>
                    <a:t>Hematologic Oncology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94B1D7-5878-64D7-FADF-FC98C41DF6E8}"/>
                </a:ext>
              </a:extLst>
            </p:cNvPr>
            <p:cNvGrpSpPr/>
            <p:nvPr/>
          </p:nvGrpSpPr>
          <p:grpSpPr>
            <a:xfrm>
              <a:off x="7036773" y="1798694"/>
              <a:ext cx="2185135" cy="400110"/>
              <a:chOff x="7033898" y="1695177"/>
              <a:chExt cx="2185135" cy="400110"/>
            </a:xfrm>
          </p:grpSpPr>
          <p:sp>
            <p:nvSpPr>
              <p:cNvPr id="5" name="Legend_series_4">
                <a:extLst>
                  <a:ext uri="{FF2B5EF4-FFF2-40B4-BE49-F238E27FC236}">
                    <a16:creationId xmlns:a16="http://schemas.microsoft.com/office/drawing/2014/main" id="{92AC278E-2E41-531B-90F9-178D2BF79761}"/>
                  </a:ext>
                </a:extLst>
              </p:cNvPr>
              <p:cNvSpPr/>
              <p:nvPr/>
            </p:nvSpPr>
            <p:spPr>
              <a:xfrm>
                <a:off x="7033898" y="1841232"/>
                <a:ext cx="108000" cy="108000"/>
              </a:xfrm>
              <a:prstGeom prst="rect">
                <a:avLst/>
              </a:prstGeom>
              <a:solidFill>
                <a:srgbClr val="25390F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6" name="Textbox_series_4">
                <a:extLst>
                  <a:ext uri="{FF2B5EF4-FFF2-40B4-BE49-F238E27FC236}">
                    <a16:creationId xmlns:a16="http://schemas.microsoft.com/office/drawing/2014/main" id="{34D35887-D6D6-C834-D69B-9FEA7742D4FD}"/>
                  </a:ext>
                </a:extLst>
              </p:cNvPr>
              <p:cNvSpPr txBox="1"/>
              <p:nvPr/>
            </p:nvSpPr>
            <p:spPr>
              <a:xfrm>
                <a:off x="7131033" y="1695177"/>
                <a:ext cx="2088000" cy="40011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0" marR="0" lvl="0" indent="0" algn="l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/>
                    <a:cs typeface="+mn-cs"/>
                    <a:sym typeface="Verdana"/>
                  </a:rPr>
                  <a:t>Internal Medicine with Secondary Specialty in Oncology</a:t>
                </a:r>
                <a:endPara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/>
                  <a:cs typeface="+mn-cs"/>
                  <a:sym typeface="Verdana"/>
                </a:endParaRPr>
              </a:p>
            </p:txBody>
          </p:sp>
        </p:grp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6080379-8C41-2D62-64CD-8B7CB038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EF68D5B-BE07-2B0D-9D75-95BDDE61B915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</a:rPr>
              <a:t>Respondent Profile</a:t>
            </a:r>
          </a:p>
        </p:txBody>
      </p:sp>
      <p:sp>
        <p:nvSpPr>
          <p:cNvPr id="20" name="Google Shape;229;p3">
            <a:extLst>
              <a:ext uri="{FF2B5EF4-FFF2-40B4-BE49-F238E27FC236}">
                <a16:creationId xmlns:a16="http://schemas.microsoft.com/office/drawing/2014/main" id="{776E5F47-DEA7-CF3A-D5D1-EB3F1F72EEAA}"/>
              </a:ext>
            </a:extLst>
          </p:cNvPr>
          <p:cNvSpPr txBox="1"/>
          <p:nvPr/>
        </p:nvSpPr>
        <p:spPr>
          <a:xfrm>
            <a:off x="8248434" y="1787"/>
            <a:ext cx="3938279" cy="22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Methodology and Respondent Overview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+mj-lt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51595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0D49-A9E8-F0D1-291A-DC82A02B7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363724"/>
          </a:xfrm>
        </p:spPr>
        <p:txBody>
          <a:bodyPr/>
          <a:lstStyle/>
          <a:p>
            <a:r>
              <a:rPr lang="en-US" sz="9600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6100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74A88-0BDE-4ACE-17E7-0806A7BE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E3D6CBB-E46F-F5BF-08C4-91AA1BE5B85A}"/>
              </a:ext>
            </a:extLst>
          </p:cNvPr>
          <p:cNvSpPr/>
          <p:nvPr/>
        </p:nvSpPr>
        <p:spPr>
          <a:xfrm rot="5400000">
            <a:off x="7605976" y="3513729"/>
            <a:ext cx="3071118" cy="284832"/>
          </a:xfrm>
          <a:prstGeom prst="triangle">
            <a:avLst/>
          </a:prstGeom>
          <a:solidFill>
            <a:srgbClr val="FEE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95F982-3A08-9054-C5A2-0A2F16C37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EF8C7A-0499-FC6F-DFE1-0DCA10A3F31D}"/>
              </a:ext>
            </a:extLst>
          </p:cNvPr>
          <p:cNvSpPr/>
          <p:nvPr/>
        </p:nvSpPr>
        <p:spPr>
          <a:xfrm>
            <a:off x="71119" y="956145"/>
            <a:ext cx="8928000" cy="5400000"/>
          </a:xfrm>
          <a:prstGeom prst="roundRect">
            <a:avLst/>
          </a:prstGeom>
          <a:solidFill>
            <a:srgbClr val="F75824">
              <a:alpha val="10000"/>
            </a:srgbClr>
          </a:solidFill>
          <a:ln>
            <a:solidFill>
              <a:srgbClr val="F7582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45720" rIns="18288" bIns="45720" rtlCol="0" anchor="t"/>
          <a:lstStyle/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SOV of J&amp;J reps improves QoQ to widen the gap with AZ, primarily driven by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increased call frequency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among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academic HCPs</a:t>
            </a: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Newly introduced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NCCN-NSCLC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 is the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most recalled in Q4’25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and is perceived highly effective and impactful</a:t>
            </a:r>
          </a:p>
          <a:p>
            <a:pPr marL="6477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Recall of highly impactful and effective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CNS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(</a:t>
            </a:r>
            <a:r>
              <a:rPr kumimoji="0" lang="en-US" sz="11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recently added / modified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)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is moderate, and has dropped substantially during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community HCP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interactions in Q4’25</a:t>
            </a:r>
          </a:p>
          <a:p>
            <a:pPr marL="6477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J&amp;J reps start strongly by delivering NCCN and indication messages; however, mid-story is fragmented,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CNS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pushed towards closing along with safety messages</a:t>
            </a:r>
          </a:p>
          <a:p>
            <a:pPr marL="1060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Rep led narratives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are seen as highly impactful, with stronger execution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academic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interactions in Q4’25 while it drops within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community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interactions</a:t>
            </a:r>
          </a:p>
          <a:p>
            <a:pPr marL="647700" lvl="2" indent="-171450">
              <a:buFont typeface="Courier New" panose="02070309020205020404" pitchFamily="49" charset="0"/>
              <a:buChar char="o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Johnson Text"/>
              </a:rPr>
              <a:t>Prioritizing </a:t>
            </a:r>
            <a:r>
              <a:rPr lang="en-US" sz="1100" b="1" dirty="0">
                <a:solidFill>
                  <a:srgbClr val="000000"/>
                </a:solidFill>
                <a:latin typeface="Johnson Text"/>
                <a:cs typeface="Johnson Text"/>
              </a:rPr>
              <a:t>1L setting </a:t>
            </a:r>
            <a:r>
              <a:rPr lang="en-US" sz="1100" dirty="0">
                <a:solidFill>
                  <a:srgbClr val="000000"/>
                </a:solidFill>
                <a:latin typeface="Johnson Text"/>
                <a:cs typeface="Johnson Text"/>
              </a:rPr>
              <a:t>improves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Johnson Text"/>
              </a:rPr>
              <a:t> narrative control and leads to improved rep perceptions, yet ~40% of interactions do not lead with 1L </a:t>
            </a:r>
            <a:r>
              <a:rPr lang="en-US" sz="1100" dirty="0">
                <a:solidFill>
                  <a:srgbClr val="000000"/>
                </a:solidFill>
                <a:latin typeface="Johnson Text"/>
                <a:cs typeface="Johnson Text"/>
              </a:rPr>
              <a:t>setting discussions and reps spend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Johnson Text"/>
              </a:rPr>
              <a:t>less than half their time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Johnson Text"/>
              </a:rPr>
              <a:t>on 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Visual aids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are leveraged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more often during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academic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interactions QoQ, while usage drops during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community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interactions</a:t>
            </a:r>
            <a:endParaRPr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cs typeface="Johnson Text"/>
            </a:endParaRPr>
          </a:p>
          <a:p>
            <a:pPr marL="647700" lvl="1" indent="-171450">
              <a:buFont typeface="Courier New" panose="02070309020205020404" pitchFamily="49" charset="0"/>
              <a:buChar char="o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Recall of J&amp;J messages more than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doubles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when visual aids are used</a:t>
            </a:r>
            <a:r>
              <a:rPr lang="en-US" sz="1100" dirty="0">
                <a:solidFill>
                  <a:srgbClr val="000000"/>
                </a:solidFill>
                <a:latin typeface="Johnson Text"/>
                <a:cs typeface="Johnson Text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Johnson Text"/>
                <a:cs typeface="Johnson Text"/>
              </a:rPr>
              <a:t>and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 this </a:t>
            </a:r>
            <a:r>
              <a:rPr lang="en-US" sz="1100" dirty="0">
                <a:solidFill>
                  <a:srgbClr val="000000"/>
                </a:solidFill>
                <a:latin typeface="Johnson Text"/>
                <a:cs typeface="Johnson Text"/>
              </a:rPr>
              <a:t>is linked to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effective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narrative control</a:t>
            </a:r>
            <a:endParaRPr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cs typeface="Johnson Text"/>
            </a:endParaRP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tx1"/>
                </a:solidFill>
                <a:latin typeface="Johnson Text"/>
                <a:cs typeface="Johnson Text"/>
              </a:rPr>
              <a:t>Utilizing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/>
                <a:cs typeface="Johnson Text"/>
              </a:rPr>
              <a:t>implementation guide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/>
                <a:cs typeface="Johnson Text"/>
              </a:rPr>
              <a:t>helps J&amp;J reps lead AZ across most attributes in Q4’25, especially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/>
                <a:cs typeface="Johnson Text"/>
              </a:rPr>
              <a:t>call quality, product knowledge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/>
                <a:cs typeface="Johnson Text"/>
              </a:rPr>
              <a:t>, 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Johnson Text"/>
                <a:cs typeface="Johnson Text"/>
              </a:rPr>
              <a:t>engagement</a:t>
            </a:r>
            <a:endParaRPr 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ohnson Text"/>
              <a:cs typeface="Johnson Text"/>
            </a:endParaRPr>
          </a:p>
          <a:p>
            <a:pPr marL="6477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Performance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addressing HCP questions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improves meaningfully QoQ, driven by reps’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knowledge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and willingness to answer questions about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efficacy, safety and indication</a:t>
            </a:r>
            <a:endParaRPr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cs typeface="Johnson Text"/>
            </a:endParaRPr>
          </a:p>
          <a:p>
            <a:pPr marL="6477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Opportunities exist to strengthen perceptions on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clear message deliver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competitor knowledge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, particularly among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community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HCPs, by leveraging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visual aids for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concise presentation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comparative data against Tagrisso</a:t>
            </a:r>
          </a:p>
          <a:p>
            <a:pPr marL="1060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3180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J&amp;J interactions are more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impactful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QoQ (surpassing AZ for 1</a:t>
            </a:r>
            <a:r>
              <a:rPr kumimoji="0" lang="en-US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time since Q4’25), driven by stronger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intent to increase Rx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post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academic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interactions</a:t>
            </a:r>
          </a:p>
          <a:p>
            <a:pPr marL="6477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J&amp;J high impact interactions successful activate the right prescribing levers, by improving the perceptions across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efficacy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safety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cs typeface="Johnson Text"/>
              </a:rPr>
              <a:t>NCCN guidelines</a:t>
            </a:r>
            <a:r>
              <a:rPr lang="en-US" sz="1100" dirty="0">
                <a:solidFill>
                  <a:srgbClr val="000000"/>
                </a:solidFill>
                <a:latin typeface="Johnson Text"/>
                <a:cs typeface="Johnson Text"/>
              </a:rPr>
              <a:t>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cs typeface="Johnson Text"/>
            </a:endParaRPr>
          </a:p>
          <a:p>
            <a:pPr marL="6477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J&amp;J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branded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closing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remains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stable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continues to trail TAG+Chemo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64770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However, J&amp;J reps drive 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stronger call-to-action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 Q4’25 on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Tx choice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lead TAG+Chemo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5B01BA-7253-1022-6447-BBD15263E757}"/>
              </a:ext>
            </a:extLst>
          </p:cNvPr>
          <p:cNvSpPr/>
          <p:nvPr/>
        </p:nvSpPr>
        <p:spPr>
          <a:xfrm>
            <a:off x="9389145" y="956145"/>
            <a:ext cx="2707018" cy="5400000"/>
          </a:xfrm>
          <a:prstGeom prst="roundRect">
            <a:avLst/>
          </a:prstGeom>
          <a:solidFill>
            <a:srgbClr val="F75824">
              <a:alpha val="10000"/>
            </a:srgbClr>
          </a:solidFill>
          <a:ln>
            <a:solidFill>
              <a:srgbClr val="F7582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45720" rIns="18288" bIns="45720" rtlCol="0" anchor="t"/>
          <a:lstStyle/>
          <a:p>
            <a:pPr marL="297180" lvl="0" indent="-285750">
              <a:buFont typeface="Arial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ea typeface="+mn-lt"/>
                <a:cs typeface="Johnson Text"/>
              </a:rPr>
              <a:t>SUSTAIN SOV leadership by </a:t>
            </a:r>
            <a:r>
              <a:rPr lang="en-US" sz="1200" dirty="0">
                <a:solidFill>
                  <a:srgbClr val="000000"/>
                </a:solidFill>
                <a:ea typeface="+mn-lt"/>
                <a:cs typeface="Johnson Text"/>
              </a:rPr>
              <a:t>continuing to drive 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Johnson Text"/>
              </a:rPr>
              <a:t>high interaction frequency</a:t>
            </a:r>
          </a:p>
          <a:p>
            <a:pPr marL="297180" lvl="0" indent="-285750">
              <a:buFont typeface="Arial"/>
              <a:buChar char="•"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lt"/>
              <a:cs typeface="Johnson Text"/>
            </a:endParaRPr>
          </a:p>
          <a:p>
            <a:pPr marL="297180" indent="-285750">
              <a:buFont typeface="Arial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ea typeface="+mn-lt"/>
                <a:cs typeface="Johnson Text"/>
              </a:rPr>
              <a:t>PRIORITIZE 1L setting discussion </a:t>
            </a:r>
            <a:r>
              <a:rPr lang="en-US" sz="1200" dirty="0">
                <a:solidFill>
                  <a:srgbClr val="000000"/>
                </a:solidFill>
                <a:ea typeface="+mn-lt"/>
                <a:cs typeface="Johnson Text"/>
              </a:rPr>
              <a:t>among 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Johnson Text"/>
              </a:rPr>
              <a:t>community </a:t>
            </a:r>
            <a:r>
              <a:rPr lang="en-US" sz="1200" dirty="0">
                <a:solidFill>
                  <a:srgbClr val="000000"/>
                </a:solidFill>
                <a:ea typeface="+mn-lt"/>
                <a:cs typeface="Johnson Text"/>
              </a:rPr>
              <a:t>HCPS to strengthen narrative control</a:t>
            </a: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200" b="1" dirty="0">
              <a:solidFill>
                <a:srgbClr val="000000"/>
              </a:solidFill>
              <a:latin typeface="Johnson Text"/>
              <a:ea typeface="+mn-lt"/>
              <a:cs typeface="Johnson Text"/>
            </a:endParaRP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LEVERAGE visual aids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during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community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interactions to enhance </a:t>
            </a:r>
            <a:r>
              <a:rPr lang="en-US" sz="1200" dirty="0">
                <a:solidFill>
                  <a:srgbClr val="000000"/>
                </a:solidFill>
                <a:latin typeface="Johnson Text"/>
                <a:ea typeface="+mn-lt"/>
                <a:cs typeface="Johnson Text"/>
              </a:rPr>
              <a:t>recall of highly impactful </a:t>
            </a:r>
            <a:r>
              <a:rPr lang="en-US" sz="1200" b="1" dirty="0">
                <a:solidFill>
                  <a:srgbClr val="000000"/>
                </a:solidFill>
                <a:latin typeface="Johnson Text"/>
                <a:ea typeface="+mn-lt"/>
                <a:cs typeface="Johnson Text"/>
              </a:rPr>
              <a:t>CNS </a:t>
            </a:r>
            <a:r>
              <a:rPr lang="en-US" sz="1200" dirty="0">
                <a:solidFill>
                  <a:srgbClr val="000000"/>
                </a:solidFill>
                <a:latin typeface="Johnson Text"/>
                <a:ea typeface="+mn-lt"/>
                <a:cs typeface="Johnson Text"/>
              </a:rPr>
              <a:t>and </a:t>
            </a:r>
            <a:r>
              <a:rPr lang="en-US" sz="1200" b="1" dirty="0">
                <a:solidFill>
                  <a:srgbClr val="000000"/>
                </a:solidFill>
                <a:latin typeface="Johnson Text"/>
                <a:ea typeface="+mn-lt"/>
                <a:cs typeface="Johnson Text"/>
              </a:rPr>
              <a:t>OS </a:t>
            </a:r>
            <a:r>
              <a:rPr lang="en-US" sz="1200" dirty="0">
                <a:solidFill>
                  <a:srgbClr val="000000"/>
                </a:solidFill>
                <a:latin typeface="Johnson Text"/>
                <a:ea typeface="+mn-lt"/>
                <a:cs typeface="Johnson Text"/>
              </a:rPr>
              <a:t>messages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lt"/>
              <a:cs typeface="Johnson Text"/>
            </a:endParaRP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Johnson Text"/>
                <a:ea typeface="+mn-lt"/>
                <a:cs typeface="Johnson Text"/>
              </a:rPr>
              <a:t>ELEVATE </a:t>
            </a:r>
            <a:r>
              <a:rPr lang="en-US" sz="1200" dirty="0">
                <a:solidFill>
                  <a:srgbClr val="000000"/>
                </a:solidFill>
                <a:latin typeface="Johnson Text"/>
                <a:ea typeface="+mn-lt"/>
                <a:cs typeface="Johnson Text"/>
              </a:rPr>
              <a:t>perceptions on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clarity and competitor knowledge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by concise delivery of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comparative data against Tagrisso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lt"/>
              <a:cs typeface="Johnson Text" panose="020B0604020202020204" charset="0"/>
            </a:endParaRP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lt"/>
              <a:cs typeface="Johnson Text"/>
            </a:endParaRPr>
          </a:p>
          <a:p>
            <a:pPr marL="297180" lvl="0" indent="-285750">
              <a:buFont typeface="Arial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ea typeface="+mn-lt"/>
                <a:cs typeface="Johnson Text"/>
              </a:rPr>
              <a:t>STRENGTHEN closing </a:t>
            </a:r>
            <a:r>
              <a:rPr lang="en-US" sz="1200" dirty="0">
                <a:solidFill>
                  <a:srgbClr val="000000"/>
                </a:solidFill>
                <a:ea typeface="+mn-lt"/>
                <a:cs typeface="Johnson Text"/>
              </a:rPr>
              <a:t>to further reinforce 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Johnson Text"/>
              </a:rPr>
              <a:t>intent to increase RYB+LAZ prescriptions</a:t>
            </a:r>
            <a:endParaRPr lang="en-US" sz="1200" b="1" dirty="0">
              <a:solidFill>
                <a:srgbClr val="000000"/>
              </a:solidFill>
              <a:latin typeface="Johnson Text" panose="020B0604020202020204" charset="0"/>
              <a:cs typeface="Johnson Text" panose="020B0604020202020204" charset="0"/>
            </a:endParaRP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D1E007-C7AD-39D9-E011-2588CEAA19E1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Executive Summary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EB1700"/>
              </a:solidFill>
              <a:effectLst/>
              <a:uLnTx/>
              <a:uFillTx/>
              <a:latin typeface="Verdana"/>
              <a:ea typeface="+mj-ea"/>
            </a:endParaRPr>
          </a:p>
        </p:txBody>
      </p:sp>
      <p:sp>
        <p:nvSpPr>
          <p:cNvPr id="7" name="Textbox_series_2">
            <a:extLst>
              <a:ext uri="{FF2B5EF4-FFF2-40B4-BE49-F238E27FC236}">
                <a16:creationId xmlns:a16="http://schemas.microsoft.com/office/drawing/2014/main" id="{6F4F3EAD-7572-1C52-C87E-7CCDA75770B5}"/>
              </a:ext>
            </a:extLst>
          </p:cNvPr>
          <p:cNvSpPr txBox="1"/>
          <p:nvPr/>
        </p:nvSpPr>
        <p:spPr>
          <a:xfrm flipH="1">
            <a:off x="295367" y="398245"/>
            <a:ext cx="3220916" cy="7766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Personal Promotions</a:t>
            </a:r>
          </a:p>
        </p:txBody>
      </p:sp>
      <p:sp>
        <p:nvSpPr>
          <p:cNvPr id="8" name="Textbox_series_2">
            <a:extLst>
              <a:ext uri="{FF2B5EF4-FFF2-40B4-BE49-F238E27FC236}">
                <a16:creationId xmlns:a16="http://schemas.microsoft.com/office/drawing/2014/main" id="{BC616DB4-AAFD-69D7-096E-8B72E4C87715}"/>
              </a:ext>
            </a:extLst>
          </p:cNvPr>
          <p:cNvSpPr txBox="1"/>
          <p:nvPr/>
        </p:nvSpPr>
        <p:spPr>
          <a:xfrm flipH="1">
            <a:off x="9098265" y="398245"/>
            <a:ext cx="3220916" cy="7766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398477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E23F-F40E-0472-43B3-D3DFFEC7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C8CE053-7F55-0DBD-36F5-3C000FE01E85}"/>
              </a:ext>
            </a:extLst>
          </p:cNvPr>
          <p:cNvSpPr/>
          <p:nvPr/>
        </p:nvSpPr>
        <p:spPr>
          <a:xfrm rot="5400000">
            <a:off x="7422829" y="3683872"/>
            <a:ext cx="3071118" cy="447926"/>
          </a:xfrm>
          <a:prstGeom prst="triangle">
            <a:avLst/>
          </a:prstGeom>
          <a:solidFill>
            <a:srgbClr val="F7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920832-8E71-B696-5739-0AF9E370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92DAFA-3395-422B-D27F-F21DE279B1AE}"/>
              </a:ext>
            </a:extLst>
          </p:cNvPr>
          <p:cNvSpPr/>
          <p:nvPr/>
        </p:nvSpPr>
        <p:spPr>
          <a:xfrm>
            <a:off x="109597" y="1531835"/>
            <a:ext cx="8640000" cy="47520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45720" rIns="18288" bIns="45720" rtlCol="0" anchor="t"/>
          <a:lstStyle/>
          <a:p>
            <a:pPr marL="72490" marR="0" lvl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J&amp;J retains its lead over AZ in SOV, while effectiveness remains steady and on par with AZ in Q4’25</a:t>
            </a:r>
          </a:p>
          <a:p>
            <a:pPr marL="216000" marR="0" lvl="0" indent="-14351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3200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J&amp;J holds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#1 position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in NPP SoV across all broader channels, driven by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higher frequency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in Q4’25</a:t>
            </a:r>
          </a:p>
          <a:p>
            <a:pPr marL="648000" marR="0" lvl="2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J&amp;J promotions across all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highly preferred and influential channels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(emails, HCP websites, seminars and medical conferences) reach more HCPs QoQ; however, recall of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online ads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declines QoQ and now lags AZ</a:t>
            </a:r>
          </a:p>
          <a:p>
            <a:pPr marL="648000" marR="0" lvl="2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Despite reaching fewer HCPs, J&amp;J online ads dominate AZ in more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frequent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exposures</a:t>
            </a:r>
          </a:p>
          <a:p>
            <a:pPr marL="45994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459940" marR="0" lvl="1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J&amp;J’s overall non-sales rep promotional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effectiveness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remains steady, and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ties with AZ</a:t>
            </a:r>
          </a:p>
          <a:p>
            <a:pPr marL="648000" marR="0" lvl="2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Overall effectiveness remains high for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emails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,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pharma websites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medical conferences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, while perceptions of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online ads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continues to be low</a:t>
            </a:r>
          </a:p>
          <a:p>
            <a:pPr marL="648000" marR="0" lvl="2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J&amp;J emails lead AZ in overall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effectiveness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, likely driven by strong recall of highly effective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NCCN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</a:t>
            </a:r>
          </a:p>
          <a:p>
            <a:pPr marL="648000" marR="0" lvl="2" indent="-1714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On the other hand, online ads lag other channels in driving recall of highly effective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OS, CNS and NCCN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messages, leading to lower perceptions on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clarity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differentiation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compared to AZ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F5F41D-234C-5743-E9DB-244B87AE11B9}"/>
              </a:ext>
            </a:extLst>
          </p:cNvPr>
          <p:cNvSpPr/>
          <p:nvPr/>
        </p:nvSpPr>
        <p:spPr>
          <a:xfrm>
            <a:off x="9412720" y="1531553"/>
            <a:ext cx="2592000" cy="47520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45720" rIns="18288" bIns="45720" rtlCol="0" anchor="t"/>
          <a:lstStyle/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lt"/>
              <a:cs typeface="Johnson Text"/>
            </a:endParaRP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lt"/>
              <a:cs typeface="Johnson Text"/>
            </a:endParaRP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Continue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maintain SoV leadership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by driving promotions through highly preferred and influential non-sales rep promotional channels</a:t>
            </a:r>
          </a:p>
          <a:p>
            <a:pPr marL="29718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lt"/>
              <a:cs typeface="Johnson Text"/>
            </a:endParaRPr>
          </a:p>
          <a:p>
            <a:pPr marL="297180" lvl="0" indent="-285750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ea typeface="+mn-lt"/>
                <a:cs typeface="Johnson Text"/>
              </a:rPr>
              <a:t>DELIVER </a:t>
            </a:r>
            <a:r>
              <a:rPr lang="en-US" sz="1400" b="1" dirty="0">
                <a:solidFill>
                  <a:srgbClr val="000000"/>
                </a:solidFill>
                <a:ea typeface="+mn-lt"/>
                <a:cs typeface="Johnson Text"/>
              </a:rPr>
              <a:t>OS</a:t>
            </a:r>
            <a:r>
              <a:rPr lang="en-US" sz="1400" dirty="0">
                <a:solidFill>
                  <a:srgbClr val="000000"/>
                </a:solidFill>
                <a:ea typeface="+mn-lt"/>
                <a:cs typeface="Johnson Text"/>
              </a:rPr>
              <a:t>, </a:t>
            </a:r>
            <a:r>
              <a:rPr lang="en-US" sz="1400" b="1" dirty="0">
                <a:solidFill>
                  <a:srgbClr val="000000"/>
                </a:solidFill>
                <a:ea typeface="+mn-lt"/>
                <a:cs typeface="Johnson Text"/>
              </a:rPr>
              <a:t>CNS </a:t>
            </a:r>
            <a:r>
              <a:rPr lang="en-US" sz="1400" dirty="0">
                <a:solidFill>
                  <a:srgbClr val="000000"/>
                </a:solidFill>
                <a:ea typeface="+mn-lt"/>
                <a:cs typeface="Johnson Text"/>
              </a:rPr>
              <a:t>and </a:t>
            </a:r>
            <a:r>
              <a:rPr lang="en-US" sz="1400" b="1" dirty="0">
                <a:solidFill>
                  <a:srgbClr val="000000"/>
                </a:solidFill>
                <a:ea typeface="+mn-lt"/>
                <a:cs typeface="Johnson Text"/>
              </a:rPr>
              <a:t>NCCN Guidelines </a:t>
            </a:r>
            <a:r>
              <a:rPr lang="en-US" sz="1400" dirty="0">
                <a:solidFill>
                  <a:srgbClr val="000000"/>
                </a:solidFill>
                <a:ea typeface="+mn-lt"/>
                <a:cs typeface="Johnson Text"/>
              </a:rPr>
              <a:t>messages through </a:t>
            </a:r>
            <a:r>
              <a:rPr lang="en-US" sz="1400" u="sng" dirty="0">
                <a:solidFill>
                  <a:srgbClr val="000000"/>
                </a:solidFill>
                <a:ea typeface="+mn-lt"/>
                <a:cs typeface="Johnson Text"/>
              </a:rPr>
              <a:t>online ads </a:t>
            </a:r>
            <a:r>
              <a:rPr lang="en-US" sz="1400" dirty="0">
                <a:solidFill>
                  <a:srgbClr val="000000"/>
                </a:solidFill>
                <a:ea typeface="+mn-lt"/>
                <a:cs typeface="Johnson Text"/>
              </a:rPr>
              <a:t>content to make them clear and differentiated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772B2AB-D44A-6545-2288-B8C83D4AE012}"/>
              </a:ext>
            </a:extLst>
          </p:cNvPr>
          <p:cNvSpPr/>
          <p:nvPr/>
        </p:nvSpPr>
        <p:spPr>
          <a:xfrm rot="5400000">
            <a:off x="7443149" y="3683872"/>
            <a:ext cx="3071118" cy="447926"/>
          </a:xfrm>
          <a:prstGeom prst="triangl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C0575D-473B-BFDF-91B9-1BA282AF7CB5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Executive Summary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EB1700"/>
              </a:solidFill>
              <a:effectLst/>
              <a:uLnTx/>
              <a:uFillTx/>
              <a:latin typeface="Verdana"/>
              <a:ea typeface="+mj-ea"/>
            </a:endParaRPr>
          </a:p>
        </p:txBody>
      </p:sp>
      <p:sp>
        <p:nvSpPr>
          <p:cNvPr id="8" name="Textbox_series_2">
            <a:extLst>
              <a:ext uri="{FF2B5EF4-FFF2-40B4-BE49-F238E27FC236}">
                <a16:creationId xmlns:a16="http://schemas.microsoft.com/office/drawing/2014/main" id="{29616B9C-4D6C-2029-8B2A-48F84AC84069}"/>
              </a:ext>
            </a:extLst>
          </p:cNvPr>
          <p:cNvSpPr txBox="1"/>
          <p:nvPr/>
        </p:nvSpPr>
        <p:spPr>
          <a:xfrm flipH="1">
            <a:off x="9119528" y="754856"/>
            <a:ext cx="3220916" cy="7766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Recommendations</a:t>
            </a:r>
          </a:p>
        </p:txBody>
      </p:sp>
      <p:sp>
        <p:nvSpPr>
          <p:cNvPr id="12" name="Textbox_series_2">
            <a:extLst>
              <a:ext uri="{FF2B5EF4-FFF2-40B4-BE49-F238E27FC236}">
                <a16:creationId xmlns:a16="http://schemas.microsoft.com/office/drawing/2014/main" id="{A8C0DF45-EAB1-28FF-9FD8-9486E40F7CB1}"/>
              </a:ext>
            </a:extLst>
          </p:cNvPr>
          <p:cNvSpPr txBox="1"/>
          <p:nvPr/>
        </p:nvSpPr>
        <p:spPr>
          <a:xfrm flipH="1">
            <a:off x="295367" y="754856"/>
            <a:ext cx="3636000" cy="7766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Non-Sales Rep Promotions</a:t>
            </a:r>
          </a:p>
        </p:txBody>
      </p:sp>
    </p:spTree>
    <p:extLst>
      <p:ext uri="{BB962C8B-B14F-4D97-AF65-F5344CB8AC3E}">
        <p14:creationId xmlns:p14="http://schemas.microsoft.com/office/powerpoint/2010/main" val="3865005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0D49-A9E8-F0D1-291A-DC82A02B7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1969770"/>
          </a:xfrm>
        </p:spPr>
        <p:txBody>
          <a:bodyPr/>
          <a:lstStyle/>
          <a:p>
            <a:r>
              <a:rPr lang="en-US" sz="9600" dirty="0"/>
              <a:t>Key Findings –   </a:t>
            </a:r>
            <a:r>
              <a:rPr lang="en-US" sz="6400" dirty="0"/>
              <a:t>Personal Promotions</a:t>
            </a:r>
          </a:p>
        </p:txBody>
      </p:sp>
    </p:spTree>
    <p:extLst>
      <p:ext uri="{BB962C8B-B14F-4D97-AF65-F5344CB8AC3E}">
        <p14:creationId xmlns:p14="http://schemas.microsoft.com/office/powerpoint/2010/main" val="1798297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A6FE-8702-015E-9761-914138D4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D97C64F4-18C2-A483-5C9E-FE6519FA3D09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>
            <a:defPPr>
              <a:defRPr lang="en-GB"/>
            </a:defPPr>
            <a:lvl1pPr marR="0" lvl="0" indent="0" defTabSz="1218988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1" u="none" strike="noStrike" kern="0" cap="none" spc="0" normalizeH="0" baseline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</a:defRPr>
            </a:lvl1pPr>
          </a:lstStyle>
          <a:p>
            <a:r>
              <a:rPr lang="en-US" dirty="0"/>
              <a:t>Question text in speaker notes | No statistically significant difference with 95% confidence interval between two quarters | Branded closing and likelihood to increase Rx shown for TAG+Chemo for 1L EGFR mNSCLC patients |      Denotes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statistically significant difference with a 95% confidence interval between J&amp;J and AZ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2</a:t>
            </a:r>
            <a:r>
              <a:rPr kumimoji="1" lang="en-US" sz="900" b="0" i="1" u="none" strike="noStrike" kern="0" cap="none" spc="0" normalizeH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Message recall, message effectiveness; branded closing, o</a:t>
            </a:r>
            <a:r>
              <a:rPr lang="en-US" dirty="0" err="1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verall</a:t>
            </a:r>
            <a:r>
              <a:rPr lang="en-US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call quality and likelihood to increase Rx tracked for RYB+LAZ discussions exclusively for J&amp;J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111D9-3014-7F38-7D83-63753FC90455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Personal Promotions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Scorecard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–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Q3'25 to Q4'25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93713F7-FB4A-B5EC-F43B-AAC62B6B74C3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8876001"/>
              </p:ext>
            </p:extLst>
          </p:nvPr>
        </p:nvGraphicFramePr>
        <p:xfrm>
          <a:off x="174000" y="1569894"/>
          <a:ext cx="11844000" cy="3450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554">
                  <a:extLst>
                    <a:ext uri="{9D8B030D-6E8A-4147-A177-3AD203B41FA5}">
                      <a16:colId xmlns:a16="http://schemas.microsoft.com/office/drawing/2014/main" val="3656606903"/>
                    </a:ext>
                  </a:extLst>
                </a:gridCol>
                <a:gridCol w="1594446">
                  <a:extLst>
                    <a:ext uri="{9D8B030D-6E8A-4147-A177-3AD203B41FA5}">
                      <a16:colId xmlns:a16="http://schemas.microsoft.com/office/drawing/2014/main" val="4111041789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64071827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271051965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616067857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15507567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470285652"/>
                    </a:ext>
                  </a:extLst>
                </a:gridCol>
              </a:tblGrid>
              <a:tr h="622182">
                <a:tc rowSpan="2"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Rep </a:t>
                      </a:r>
                      <a:b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</a:br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Share of Voice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(Interactions %)</a:t>
                      </a:r>
                      <a:endParaRPr lang="en-US" sz="1000"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Average Message Recall</a:t>
                      </a:r>
                      <a:r>
                        <a:rPr lang="en-US" sz="1400" b="1" baseline="30000">
                          <a:solidFill>
                            <a:srgbClr val="000000"/>
                          </a:solidFill>
                          <a:latin typeface="+mj-lt"/>
                        </a:rPr>
                        <a:t>2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(Interactions %)</a:t>
                      </a:r>
                      <a:endParaRPr lang="en-US" sz="1000"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Average Message Effectiveness</a:t>
                      </a:r>
                      <a:r>
                        <a:rPr lang="en-US" sz="1400" b="1" kern="1200" baseline="300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400" b="1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(Geo mean of M, B, D Top 2 Ratings %)</a:t>
                      </a:r>
                      <a:endParaRPr lang="en-US" sz="1000"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Branded </a:t>
                      </a:r>
                      <a:b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</a:br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Closing</a:t>
                      </a:r>
                      <a:r>
                        <a:rPr lang="en-US" sz="1400" b="1" kern="1200" baseline="300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400" b="1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(Interactions %)</a:t>
                      </a:r>
                      <a:endParaRPr lang="en-US" sz="1000"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High Impact Interactions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651731"/>
                  </a:ext>
                </a:extLst>
              </a:tr>
              <a:tr h="6221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+mn-cs"/>
                        </a:rPr>
                        <a:t>Overall Call Quality</a:t>
                      </a:r>
                      <a:r>
                        <a:rPr lang="en-US" sz="1400" b="1" kern="1200" baseline="300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400" b="1" kern="1200">
                        <a:solidFill>
                          <a:srgbClr val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(Top 2 Ratings %)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Likelihood to Increase Prescription</a:t>
                      </a:r>
                      <a:r>
                        <a:rPr lang="en-US" sz="1400" b="1" kern="1200" baseline="300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400" b="1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(Top 2 Ratings %)</a:t>
                      </a:r>
                      <a:endParaRPr lang="en-US" sz="1000"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813460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>
                          <a:solidFill>
                            <a:srgbClr val="F75824"/>
                          </a:solidFill>
                          <a:latin typeface="+mj-lt"/>
                        </a:rPr>
                        <a:t>J&amp;J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54%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DB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36%</a:t>
                      </a:r>
                      <a:endParaRPr lang="en-US" sz="1800" b="1" kern="1200" baseline="30000">
                        <a:solidFill>
                          <a:schemeClr val="tx1"/>
                        </a:solidFill>
                        <a:latin typeface="Johnson Text" panose="020B0604020202020204" charset="0"/>
                        <a:ea typeface="+mn-ea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46%</a:t>
                      </a:r>
                      <a:endParaRPr lang="en-US" sz="1800" b="1" baseline="30000">
                        <a:solidFill>
                          <a:schemeClr val="tx1"/>
                        </a:solidFill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D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71%</a:t>
                      </a:r>
                      <a:endParaRPr lang="en-US" sz="1800" b="1" baseline="30000">
                        <a:solidFill>
                          <a:schemeClr val="tx1"/>
                        </a:solidFill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447790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7638A4"/>
                          </a:solidFill>
                          <a:latin typeface="+mj-lt"/>
                        </a:rPr>
                        <a:t>AZ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46%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35%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66%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55%</a:t>
                      </a:r>
                      <a:r>
                        <a:rPr kumimoji="0" lang="en-US" sz="1800" b="1" i="0" u="none" strike="noStrike" kern="1200" cap="none" spc="0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4ED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73%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66%</a:t>
                      </a:r>
                      <a:r>
                        <a:rPr lang="en-US" sz="1800" b="1" i="0" u="none" strike="noStrike" kern="1200" cap="none" spc="0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1</a:t>
                      </a:r>
                      <a:endParaRPr lang="en-US" sz="18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+mn-ea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03016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66C520-FD6B-5721-B606-E0EEF2F40DBA}"/>
              </a:ext>
            </a:extLst>
          </p:cNvPr>
          <p:cNvCxnSpPr>
            <a:cxnSpLocks/>
          </p:cNvCxnSpPr>
          <p:nvPr/>
        </p:nvCxnSpPr>
        <p:spPr>
          <a:xfrm>
            <a:off x="174000" y="1569894"/>
            <a:ext cx="1784009" cy="15112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289;p5">
            <a:extLst>
              <a:ext uri="{FF2B5EF4-FFF2-40B4-BE49-F238E27FC236}">
                <a16:creationId xmlns:a16="http://schemas.microsoft.com/office/drawing/2014/main" id="{CE1DB49F-FCCC-DB85-C793-FBA6FF88B75D}"/>
              </a:ext>
            </a:extLst>
          </p:cNvPr>
          <p:cNvSpPr txBox="1"/>
          <p:nvPr/>
        </p:nvSpPr>
        <p:spPr>
          <a:xfrm rot="2460000">
            <a:off x="522382" y="2280820"/>
            <a:ext cx="910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9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Arial"/>
                <a:sym typeface="Verdana"/>
              </a:rPr>
              <a:t>Therapies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26" name="Google Shape;289;p5">
            <a:extLst>
              <a:ext uri="{FF2B5EF4-FFF2-40B4-BE49-F238E27FC236}">
                <a16:creationId xmlns:a16="http://schemas.microsoft.com/office/drawing/2014/main" id="{C3317F54-F825-B5B5-B057-E1830AA03FB5}"/>
              </a:ext>
            </a:extLst>
          </p:cNvPr>
          <p:cNvSpPr txBox="1"/>
          <p:nvPr/>
        </p:nvSpPr>
        <p:spPr>
          <a:xfrm rot="2460000">
            <a:off x="651512" y="2131170"/>
            <a:ext cx="910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900"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Metrics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670CF1-40DD-9901-61E3-801B176B7CD6}"/>
              </a:ext>
            </a:extLst>
          </p:cNvPr>
          <p:cNvGrpSpPr/>
          <p:nvPr/>
        </p:nvGrpSpPr>
        <p:grpSpPr>
          <a:xfrm>
            <a:off x="3706511" y="5352263"/>
            <a:ext cx="6021077" cy="258831"/>
            <a:chOff x="3992711" y="5700651"/>
            <a:chExt cx="6021077" cy="25883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7C1844C-B2B4-D937-A58B-122B27AA6D04}"/>
                </a:ext>
              </a:extLst>
            </p:cNvPr>
            <p:cNvGrpSpPr/>
            <p:nvPr/>
          </p:nvGrpSpPr>
          <p:grpSpPr>
            <a:xfrm>
              <a:off x="3992711" y="5700651"/>
              <a:ext cx="6021077" cy="258831"/>
              <a:chOff x="10162933" y="4925063"/>
              <a:chExt cx="6021077" cy="258831"/>
            </a:xfrm>
          </p:grpSpPr>
          <p:sp>
            <p:nvSpPr>
              <p:cNvPr id="34" name="Textbox_series_2">
                <a:extLst>
                  <a:ext uri="{FF2B5EF4-FFF2-40B4-BE49-F238E27FC236}">
                    <a16:creationId xmlns:a16="http://schemas.microsoft.com/office/drawing/2014/main" id="{21686436-F0E6-1B3A-A45A-5CA594072684}"/>
                  </a:ext>
                </a:extLst>
              </p:cNvPr>
              <p:cNvSpPr txBox="1"/>
              <p:nvPr/>
            </p:nvSpPr>
            <p:spPr>
              <a:xfrm flipH="1">
                <a:off x="12310076" y="4925063"/>
                <a:ext cx="2052000" cy="25883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marR="0" lvl="0" indent="0" algn="l" defTabSz="9125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+mn-cs"/>
                  </a:rPr>
                  <a:t>Unchanged (within 5% change) metric performance QoQ</a:t>
                </a:r>
              </a:p>
            </p:txBody>
          </p:sp>
          <p:sp>
            <p:nvSpPr>
              <p:cNvPr id="30" name="Arrow: Down 19">
                <a:extLst>
                  <a:ext uri="{FF2B5EF4-FFF2-40B4-BE49-F238E27FC236}">
                    <a16:creationId xmlns:a16="http://schemas.microsoft.com/office/drawing/2014/main" id="{587D20C7-A368-1AC8-8285-008531246C72}"/>
                  </a:ext>
                </a:extLst>
              </p:cNvPr>
              <p:cNvSpPr/>
              <p:nvPr/>
            </p:nvSpPr>
            <p:spPr>
              <a:xfrm rot="10800000">
                <a:off x="10162933" y="4964478"/>
                <a:ext cx="93669" cy="180000"/>
              </a:xfrm>
              <a:prstGeom prst="downArrow">
                <a:avLst/>
              </a:prstGeom>
              <a:solidFill>
                <a:srgbClr val="0CCE0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31" name="Textbox_series_2">
                <a:extLst>
                  <a:ext uri="{FF2B5EF4-FFF2-40B4-BE49-F238E27FC236}">
                    <a16:creationId xmlns:a16="http://schemas.microsoft.com/office/drawing/2014/main" id="{48A7ACFE-4FB3-1E5E-2EEF-42D00A0123F0}"/>
                  </a:ext>
                </a:extLst>
              </p:cNvPr>
              <p:cNvSpPr txBox="1"/>
              <p:nvPr/>
            </p:nvSpPr>
            <p:spPr>
              <a:xfrm flipH="1">
                <a:off x="10294946" y="4934027"/>
                <a:ext cx="1584000" cy="240903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marR="0" lvl="0" indent="0" algn="l" defTabSz="9125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+mn-cs"/>
                  </a:rPr>
                  <a:t>&gt;5% Increase in specific metric performance QoQ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32" name="Textbox_series_2">
                <a:extLst>
                  <a:ext uri="{FF2B5EF4-FFF2-40B4-BE49-F238E27FC236}">
                    <a16:creationId xmlns:a16="http://schemas.microsoft.com/office/drawing/2014/main" id="{838D8DAD-5360-168B-FD26-96113E7DA4B3}"/>
                  </a:ext>
                </a:extLst>
              </p:cNvPr>
              <p:cNvSpPr txBox="1"/>
              <p:nvPr/>
            </p:nvSpPr>
            <p:spPr>
              <a:xfrm flipH="1">
                <a:off x="14564010" y="4929545"/>
                <a:ext cx="1620000" cy="249867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marR="0" lvl="0" indent="0" algn="l" defTabSz="9125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/>
                    </a:solidFill>
                    <a:effectLst/>
                    <a:uLnTx/>
                    <a:uFillTx/>
                    <a:latin typeface="Johnson Text"/>
                    <a:ea typeface="Verdana"/>
                    <a:cs typeface="+mn-cs"/>
                  </a:rPr>
                  <a:t>&gt;5% decrease in specific metric performance QoQ</a:t>
                </a:r>
              </a:p>
            </p:txBody>
          </p:sp>
          <p:sp>
            <p:nvSpPr>
              <p:cNvPr id="33" name="Arrow: Down 20">
                <a:extLst>
                  <a:ext uri="{FF2B5EF4-FFF2-40B4-BE49-F238E27FC236}">
                    <a16:creationId xmlns:a16="http://schemas.microsoft.com/office/drawing/2014/main" id="{79343DC6-8A1B-F676-9757-0C5B4CE1EA7D}"/>
                  </a:ext>
                </a:extLst>
              </p:cNvPr>
              <p:cNvSpPr/>
              <p:nvPr/>
            </p:nvSpPr>
            <p:spPr>
              <a:xfrm>
                <a:off x="14432811" y="4964478"/>
                <a:ext cx="93669" cy="180000"/>
              </a:xfrm>
              <a:prstGeom prst="downArrow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sp>
          <p:nvSpPr>
            <p:cNvPr id="29" name="Arrow: Left-Right 28">
              <a:extLst>
                <a:ext uri="{FF2B5EF4-FFF2-40B4-BE49-F238E27FC236}">
                  <a16:creationId xmlns:a16="http://schemas.microsoft.com/office/drawing/2014/main" id="{C0AEEE5E-EBDD-930A-8246-9235037B4D9F}"/>
                </a:ext>
              </a:extLst>
            </p:cNvPr>
            <p:cNvSpPr/>
            <p:nvPr/>
          </p:nvSpPr>
          <p:spPr>
            <a:xfrm>
              <a:off x="5941846" y="5794066"/>
              <a:ext cx="180000" cy="72000"/>
            </a:xfrm>
            <a:prstGeom prst="left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sp>
        <p:nvSpPr>
          <p:cNvPr id="16" name="Google Shape;229;p3">
            <a:extLst>
              <a:ext uri="{FF2B5EF4-FFF2-40B4-BE49-F238E27FC236}">
                <a16:creationId xmlns:a16="http://schemas.microsoft.com/office/drawing/2014/main" id="{3536FEDF-18AB-020B-78CC-D4C100EFD480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25" name="Google Shape;229;p3">
            <a:extLst>
              <a:ext uri="{FF2B5EF4-FFF2-40B4-BE49-F238E27FC236}">
                <a16:creationId xmlns:a16="http://schemas.microsoft.com/office/drawing/2014/main" id="{768560FA-0ADB-7903-92E9-BE8C14888B8F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4" name="Textbox_series_2">
            <a:extLst>
              <a:ext uri="{FF2B5EF4-FFF2-40B4-BE49-F238E27FC236}">
                <a16:creationId xmlns:a16="http://schemas.microsoft.com/office/drawing/2014/main" id="{9C2AC344-CADE-7DCE-4635-D01A9B8B4C3F}"/>
              </a:ext>
            </a:extLst>
          </p:cNvPr>
          <p:cNvSpPr txBox="1"/>
          <p:nvPr/>
        </p:nvSpPr>
        <p:spPr>
          <a:xfrm flipH="1">
            <a:off x="828078" y="5712792"/>
            <a:ext cx="1692000" cy="24986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912572"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Johnson Text"/>
                <a:ea typeface="Verdana"/>
                <a:cs typeface="+mn-cs"/>
              </a:rPr>
              <a:t>&gt; 5% difference </a:t>
            </a:r>
            <a:r>
              <a:rPr lang="en-IN" sz="1000">
                <a:solidFill>
                  <a:srgbClr val="505050"/>
                </a:solidFill>
                <a:latin typeface="Johnson Text"/>
                <a:ea typeface="Verdana"/>
              </a:rPr>
              <a:t>between rows will be highlighted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7638A4"/>
              </a:solidFill>
              <a:effectLst/>
              <a:uLnTx/>
              <a:uFillTx/>
              <a:latin typeface="Johnson Text"/>
              <a:ea typeface="Verdan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05E54C-1163-7215-3133-CEAE1EE7569E}"/>
              </a:ext>
            </a:extLst>
          </p:cNvPr>
          <p:cNvSpPr/>
          <p:nvPr/>
        </p:nvSpPr>
        <p:spPr>
          <a:xfrm>
            <a:off x="174000" y="5679941"/>
            <a:ext cx="557667" cy="315568"/>
          </a:xfrm>
          <a:prstGeom prst="rect">
            <a:avLst/>
          </a:prstGeom>
          <a:solidFill>
            <a:srgbClr val="D4EDB9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0217E8E-60F9-94B7-763F-B47A03C2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 vert="horz" lIns="0" tIns="0" rIns="0" bIns="0" rtlCol="0" anchor="ctr"/>
          <a:lstStyle/>
          <a:p>
            <a:fld id="{AEC8D767-5246-2244-A4A3-B8AFB218393C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537981CC-DEFA-A693-1733-BA10BDD67D5B}"/>
              </a:ext>
            </a:extLst>
          </p:cNvPr>
          <p:cNvSpPr/>
          <p:nvPr/>
        </p:nvSpPr>
        <p:spPr>
          <a:xfrm>
            <a:off x="11541334" y="4482510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B0755FE1-47AE-7E3D-A683-E6951E405451}"/>
              </a:ext>
            </a:extLst>
          </p:cNvPr>
          <p:cNvSpPr/>
          <p:nvPr/>
        </p:nvSpPr>
        <p:spPr>
          <a:xfrm>
            <a:off x="11541334" y="3522390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A97DEB6A-B27E-D3AB-BB44-A7F0B04F83C9}"/>
              </a:ext>
            </a:extLst>
          </p:cNvPr>
          <p:cNvSpPr/>
          <p:nvPr/>
        </p:nvSpPr>
        <p:spPr>
          <a:xfrm>
            <a:off x="9819214" y="4506894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2B9246BE-1C23-D4B4-DE00-9DD39D9F2B67}"/>
              </a:ext>
            </a:extLst>
          </p:cNvPr>
          <p:cNvSpPr/>
          <p:nvPr/>
        </p:nvSpPr>
        <p:spPr>
          <a:xfrm>
            <a:off x="9861886" y="3507150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C63D6F9A-F27E-32A3-1FDC-A69A068CADC0}"/>
              </a:ext>
            </a:extLst>
          </p:cNvPr>
          <p:cNvSpPr/>
          <p:nvPr/>
        </p:nvSpPr>
        <p:spPr>
          <a:xfrm>
            <a:off x="8185486" y="3522390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E4B842C3-ACEC-1123-FDD1-54388207582C}"/>
              </a:ext>
            </a:extLst>
          </p:cNvPr>
          <p:cNvSpPr/>
          <p:nvPr/>
        </p:nvSpPr>
        <p:spPr>
          <a:xfrm>
            <a:off x="8222062" y="4491654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EC827378-8ABA-D2ED-988C-51B440EE804F}"/>
              </a:ext>
            </a:extLst>
          </p:cNvPr>
          <p:cNvSpPr/>
          <p:nvPr/>
        </p:nvSpPr>
        <p:spPr>
          <a:xfrm>
            <a:off x="3107518" y="3537630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7F7AF6B2-34D5-8930-2FAE-E355DAB9A6AB}"/>
              </a:ext>
            </a:extLst>
          </p:cNvPr>
          <p:cNvSpPr/>
          <p:nvPr/>
        </p:nvSpPr>
        <p:spPr>
          <a:xfrm>
            <a:off x="3086182" y="4512990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3" name="Arrow: Down 20">
            <a:extLst>
              <a:ext uri="{FF2B5EF4-FFF2-40B4-BE49-F238E27FC236}">
                <a16:creationId xmlns:a16="http://schemas.microsoft.com/office/drawing/2014/main" id="{1B04199B-7957-5695-2A1D-11DE402CC34C}"/>
              </a:ext>
            </a:extLst>
          </p:cNvPr>
          <p:cNvSpPr/>
          <p:nvPr/>
        </p:nvSpPr>
        <p:spPr>
          <a:xfrm>
            <a:off x="4763797" y="3486678"/>
            <a:ext cx="93669" cy="180000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E4C1845E-2D5C-8BEB-6D50-C615DE9F6021}"/>
              </a:ext>
            </a:extLst>
          </p:cNvPr>
          <p:cNvSpPr/>
          <p:nvPr/>
        </p:nvSpPr>
        <p:spPr>
          <a:xfrm>
            <a:off x="4738198" y="4509942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BC398B07-EA07-55C0-7928-E31E670647FF}"/>
              </a:ext>
            </a:extLst>
          </p:cNvPr>
          <p:cNvSpPr/>
          <p:nvPr/>
        </p:nvSpPr>
        <p:spPr>
          <a:xfrm>
            <a:off x="6481654" y="3501054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8" name="Arrow: Left-Right 47">
            <a:extLst>
              <a:ext uri="{FF2B5EF4-FFF2-40B4-BE49-F238E27FC236}">
                <a16:creationId xmlns:a16="http://schemas.microsoft.com/office/drawing/2014/main" id="{8AD57DFB-F0A8-0337-21E4-D65ED095A9FC}"/>
              </a:ext>
            </a:extLst>
          </p:cNvPr>
          <p:cNvSpPr/>
          <p:nvPr/>
        </p:nvSpPr>
        <p:spPr>
          <a:xfrm>
            <a:off x="6506038" y="4494702"/>
            <a:ext cx="180000" cy="72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08CEA6-5E2B-EEA1-1451-C179339193BE}"/>
              </a:ext>
            </a:extLst>
          </p:cNvPr>
          <p:cNvSpPr/>
          <p:nvPr/>
        </p:nvSpPr>
        <p:spPr>
          <a:xfrm>
            <a:off x="2370600" y="3480734"/>
            <a:ext cx="144007" cy="144000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08CEA6-5E2B-EEA1-1451-C179339193BE}"/>
              </a:ext>
            </a:extLst>
          </p:cNvPr>
          <p:cNvSpPr/>
          <p:nvPr/>
        </p:nvSpPr>
        <p:spPr>
          <a:xfrm>
            <a:off x="4880832" y="6530848"/>
            <a:ext cx="144007" cy="144000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6370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C9079-6152-E9E8-514C-94CA8CD7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Shape_13487673">
            <a:extLst>
              <a:ext uri="{FF2B5EF4-FFF2-40B4-BE49-F238E27FC236}">
                <a16:creationId xmlns:a16="http://schemas.microsoft.com/office/drawing/2014/main" id="{990D3FA5-1D2B-FA79-355C-F4327632D018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0262135"/>
              </p:ext>
            </p:extLst>
          </p:nvPr>
        </p:nvGraphicFramePr>
        <p:xfrm>
          <a:off x="2275305" y="2676032"/>
          <a:ext cx="8018768" cy="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F1852-5210-4A68-4FB3-0034B7C6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995B9E-3849-BE3A-A3FB-7B241F6C9F2B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Arial"/>
              </a:rPr>
              <a:t>Question text and sample size in speaker notes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     Denotes statistically significant difference with 95% confidence interval between consecutive quarters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1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Local outliers removed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Slide includes data from ZoomRx Activity Screener |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     Denotes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statistically significant difference with 95% confidence interval between RYBREVANT and Tagrisso interactions in current quarter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2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Metrics tracked for RYB+LAZ discussions exclusively for J&amp;J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*Low Sample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</a:t>
            </a:r>
            <a:endParaRPr kumimoji="1" lang="en-GB" sz="9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  <a:sym typeface="Verdana"/>
            </a:endParaRPr>
          </a:p>
        </p:txBody>
      </p:sp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EA6F775E-EFE0-D0A3-8380-CD17C9049BB0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F5F4145-D398-80EA-5641-9010BAEF2B74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65032408"/>
              </p:ext>
            </p:extLst>
          </p:nvPr>
        </p:nvGraphicFramePr>
        <p:xfrm>
          <a:off x="2418476" y="1415338"/>
          <a:ext cx="7854730" cy="44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946">
                  <a:extLst>
                    <a:ext uri="{9D8B030D-6E8A-4147-A177-3AD203B41FA5}">
                      <a16:colId xmlns:a16="http://schemas.microsoft.com/office/drawing/2014/main" val="2420120927"/>
                    </a:ext>
                  </a:extLst>
                </a:gridCol>
                <a:gridCol w="1570946">
                  <a:extLst>
                    <a:ext uri="{9D8B030D-6E8A-4147-A177-3AD203B41FA5}">
                      <a16:colId xmlns:a16="http://schemas.microsoft.com/office/drawing/2014/main" val="1480200814"/>
                    </a:ext>
                  </a:extLst>
                </a:gridCol>
                <a:gridCol w="1570946">
                  <a:extLst>
                    <a:ext uri="{9D8B030D-6E8A-4147-A177-3AD203B41FA5}">
                      <a16:colId xmlns:a16="http://schemas.microsoft.com/office/drawing/2014/main" val="3826056288"/>
                    </a:ext>
                  </a:extLst>
                </a:gridCol>
                <a:gridCol w="1570946">
                  <a:extLst>
                    <a:ext uri="{9D8B030D-6E8A-4147-A177-3AD203B41FA5}">
                      <a16:colId xmlns:a16="http://schemas.microsoft.com/office/drawing/2014/main" val="1408928781"/>
                    </a:ext>
                  </a:extLst>
                </a:gridCol>
                <a:gridCol w="1570946">
                  <a:extLst>
                    <a:ext uri="{9D8B030D-6E8A-4147-A177-3AD203B41FA5}">
                      <a16:colId xmlns:a16="http://schemas.microsoft.com/office/drawing/2014/main" val="1715082612"/>
                    </a:ext>
                  </a:extLst>
                </a:gridCol>
              </a:tblGrid>
              <a:tr h="44753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Q4'24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Q1'25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Q2'25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Q3'25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Q4'25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344467"/>
                  </a:ext>
                </a:extLst>
              </a:tr>
            </a:tbl>
          </a:graphicData>
        </a:graphic>
      </p:graphicFrame>
      <p:graphicFrame>
        <p:nvGraphicFramePr>
          <p:cNvPr id="10" name="Reach_QoQ">
            <a:extLst>
              <a:ext uri="{FF2B5EF4-FFF2-40B4-BE49-F238E27FC236}">
                <a16:creationId xmlns:a16="http://schemas.microsoft.com/office/drawing/2014/main" id="{572FDF32-A648-11D5-9214-5809564714F8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59531506"/>
              </p:ext>
            </p:extLst>
          </p:nvPr>
        </p:nvGraphicFramePr>
        <p:xfrm>
          <a:off x="2213354" y="1730639"/>
          <a:ext cx="8136000" cy="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6" name="Google Shape;504;p12">
            <a:extLst>
              <a:ext uri="{FF2B5EF4-FFF2-40B4-BE49-F238E27FC236}">
                <a16:creationId xmlns:a16="http://schemas.microsoft.com/office/drawing/2014/main" id="{67760116-00F5-A5C6-5F91-FF22F7B12162}"/>
              </a:ext>
            </a:extLst>
          </p:cNvPr>
          <p:cNvSpPr txBox="1"/>
          <p:nvPr/>
        </p:nvSpPr>
        <p:spPr>
          <a:xfrm>
            <a:off x="-185209" y="2050024"/>
            <a:ext cx="2160000" cy="26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Share of Voice</a:t>
            </a:r>
            <a:r>
              <a:rPr kumimoji="0" lang="en-IN" sz="1100" b="1" i="0" u="none" strike="noStrike" kern="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450DB6-4292-BEA8-37AD-70BB0BBDFC42}"/>
              </a:ext>
            </a:extLst>
          </p:cNvPr>
          <p:cNvSpPr txBox="1"/>
          <p:nvPr/>
        </p:nvSpPr>
        <p:spPr>
          <a:xfrm rot="16200000">
            <a:off x="1796972" y="1910640"/>
            <a:ext cx="900000" cy="5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</p:txBody>
      </p:sp>
      <p:cxnSp>
        <p:nvCxnSpPr>
          <p:cNvPr id="19" name="Google Shape;346;p4">
            <a:extLst>
              <a:ext uri="{FF2B5EF4-FFF2-40B4-BE49-F238E27FC236}">
                <a16:creationId xmlns:a16="http://schemas.microsoft.com/office/drawing/2014/main" id="{C60A227D-054F-43A3-9447-D361C65D81E7}"/>
              </a:ext>
            </a:extLst>
          </p:cNvPr>
          <p:cNvCxnSpPr>
            <a:cxnSpLocks/>
          </p:cNvCxnSpPr>
          <p:nvPr/>
        </p:nvCxnSpPr>
        <p:spPr>
          <a:xfrm flipH="1">
            <a:off x="2274695" y="2613989"/>
            <a:ext cx="7550629" cy="0"/>
          </a:xfrm>
          <a:prstGeom prst="straightConnector1">
            <a:avLst/>
          </a:prstGeom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7" name="Shape_87563974">
            <a:extLst>
              <a:ext uri="{FF2B5EF4-FFF2-40B4-BE49-F238E27FC236}">
                <a16:creationId xmlns:a16="http://schemas.microsoft.com/office/drawing/2014/main" id="{5C4B2BD4-B755-A798-39CB-A2F91A7F8A81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482485188"/>
              </p:ext>
            </p:extLst>
          </p:nvPr>
        </p:nvGraphicFramePr>
        <p:xfrm>
          <a:off x="2249540" y="4361171"/>
          <a:ext cx="8070299" cy="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8" name="Google Shape;504;p12">
            <a:extLst>
              <a:ext uri="{FF2B5EF4-FFF2-40B4-BE49-F238E27FC236}">
                <a16:creationId xmlns:a16="http://schemas.microsoft.com/office/drawing/2014/main" id="{285AD98F-28D5-C58E-811C-989594298AF0}"/>
              </a:ext>
            </a:extLst>
          </p:cNvPr>
          <p:cNvSpPr txBox="1"/>
          <p:nvPr/>
        </p:nvSpPr>
        <p:spPr>
          <a:xfrm>
            <a:off x="-198318" y="4750949"/>
            <a:ext cx="2160000" cy="26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Intent to Increase Rx</a:t>
            </a:r>
            <a:r>
              <a:rPr kumimoji="0" lang="en-IN" sz="1100" b="1" i="0" u="none" strike="noStrike" kern="0" cap="none" spc="0" normalizeH="0" baseline="3000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93F8DA-DD8A-CFDA-5269-DBB7F4A31629}"/>
              </a:ext>
            </a:extLst>
          </p:cNvPr>
          <p:cNvSpPr txBox="1"/>
          <p:nvPr/>
        </p:nvSpPr>
        <p:spPr>
          <a:xfrm rot="16200000">
            <a:off x="1830457" y="4537607"/>
            <a:ext cx="900000" cy="5536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 defTabSz="912572">
              <a:defRPr/>
            </a:pPr>
            <a:r>
              <a:rPr lang="en-IN" sz="999" dirty="0">
                <a:solidFill>
                  <a:srgbClr val="000000"/>
                </a:solidFill>
                <a:ea typeface="Verdana" panose="020B0604030504040204" pitchFamily="34" charset="0"/>
              </a:rPr>
              <a:t>% of Interactions</a:t>
            </a:r>
          </a:p>
          <a:p>
            <a:pPr lvl="0" algn="ctr" defTabSz="912572">
              <a:defRPr/>
            </a:pPr>
            <a:r>
              <a:rPr lang="en-IN" sz="999" dirty="0">
                <a:solidFill>
                  <a:srgbClr val="000000"/>
                </a:solidFill>
                <a:ea typeface="Verdana" panose="020B0604030504040204" pitchFamily="34" charset="0"/>
              </a:rPr>
              <a:t>Rated 6,7</a:t>
            </a:r>
          </a:p>
        </p:txBody>
      </p:sp>
      <p:sp>
        <p:nvSpPr>
          <p:cNvPr id="31" name="Google Shape;504;p12">
            <a:extLst>
              <a:ext uri="{FF2B5EF4-FFF2-40B4-BE49-F238E27FC236}">
                <a16:creationId xmlns:a16="http://schemas.microsoft.com/office/drawing/2014/main" id="{33D01F6D-82DB-A112-4D69-C0E73FE5D111}"/>
              </a:ext>
            </a:extLst>
          </p:cNvPr>
          <p:cNvSpPr txBox="1"/>
          <p:nvPr/>
        </p:nvSpPr>
        <p:spPr>
          <a:xfrm>
            <a:off x="-185209" y="2995417"/>
            <a:ext cx="2160000" cy="26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High Impact Interactions</a:t>
            </a:r>
            <a:r>
              <a:rPr kumimoji="0" lang="en-IN" sz="1100" b="1" i="0" u="none" strike="noStrike" kern="0" cap="none" spc="0" normalizeH="0" baseline="3000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34DCD8-520F-470B-0A0A-EAEDC5C26585}"/>
              </a:ext>
            </a:extLst>
          </p:cNvPr>
          <p:cNvSpPr txBox="1"/>
          <p:nvPr/>
        </p:nvSpPr>
        <p:spPr>
          <a:xfrm rot="16200000">
            <a:off x="1783207" y="2856033"/>
            <a:ext cx="900000" cy="5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Rated 6,7</a:t>
            </a:r>
          </a:p>
        </p:txBody>
      </p:sp>
      <p:cxnSp>
        <p:nvCxnSpPr>
          <p:cNvPr id="33" name="Google Shape;346;p4">
            <a:extLst>
              <a:ext uri="{FF2B5EF4-FFF2-40B4-BE49-F238E27FC236}">
                <a16:creationId xmlns:a16="http://schemas.microsoft.com/office/drawing/2014/main" id="{37020C60-2FB9-EFF3-003A-6EC6D0DE2EBE}"/>
              </a:ext>
            </a:extLst>
          </p:cNvPr>
          <p:cNvCxnSpPr>
            <a:cxnSpLocks/>
          </p:cNvCxnSpPr>
          <p:nvPr/>
        </p:nvCxnSpPr>
        <p:spPr>
          <a:xfrm flipH="1">
            <a:off x="2282740" y="3474341"/>
            <a:ext cx="7534538" cy="38036"/>
          </a:xfrm>
          <a:prstGeom prst="straightConnector1">
            <a:avLst/>
          </a:prstGeom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00FD3F5-3FF1-9BE0-B972-0204C4083EFF}"/>
              </a:ext>
            </a:extLst>
          </p:cNvPr>
          <p:cNvGrpSpPr/>
          <p:nvPr/>
        </p:nvGrpSpPr>
        <p:grpSpPr>
          <a:xfrm>
            <a:off x="10431875" y="3305806"/>
            <a:ext cx="2077557" cy="1230146"/>
            <a:chOff x="10069925" y="3305806"/>
            <a:chExt cx="2077557" cy="1230146"/>
          </a:xfrm>
        </p:grpSpPr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2D45E07B-8192-E79D-4F77-523ED6BDDCFA}"/>
                </a:ext>
              </a:extLst>
            </p:cNvPr>
            <p:cNvSpPr/>
            <p:nvPr/>
          </p:nvSpPr>
          <p:spPr>
            <a:xfrm>
              <a:off x="10165497" y="4376322"/>
              <a:ext cx="73038" cy="73038"/>
            </a:xfrm>
            <a:prstGeom prst="flowChartConnector">
              <a:avLst/>
            </a:prstGeom>
            <a:solidFill>
              <a:srgbClr val="0B486B"/>
            </a:solidFill>
            <a:ln>
              <a:solidFill>
                <a:srgbClr val="0B48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endParaRPr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14043B4A-25B3-A454-D582-9BFBE5EBA795}"/>
                </a:ext>
              </a:extLst>
            </p:cNvPr>
            <p:cNvSpPr/>
            <p:nvPr/>
          </p:nvSpPr>
          <p:spPr>
            <a:xfrm>
              <a:off x="10165497" y="4074789"/>
              <a:ext cx="73038" cy="73038"/>
            </a:xfrm>
            <a:prstGeom prst="flowChartConnector">
              <a:avLst/>
            </a:prstGeom>
            <a:solidFill>
              <a:srgbClr val="3B8686"/>
            </a:solidFill>
            <a:ln>
              <a:solidFill>
                <a:srgbClr val="3B86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1B306BD-342C-3C2A-1C83-D28CBB28FCA4}"/>
                </a:ext>
              </a:extLst>
            </p:cNvPr>
            <p:cNvCxnSpPr>
              <a:cxnSpLocks/>
            </p:cNvCxnSpPr>
            <p:nvPr/>
          </p:nvCxnSpPr>
          <p:spPr>
            <a:xfrm>
              <a:off x="10069925" y="4412841"/>
              <a:ext cx="264183" cy="0"/>
            </a:xfrm>
            <a:prstGeom prst="line">
              <a:avLst/>
            </a:prstGeom>
            <a:ln w="12700">
              <a:solidFill>
                <a:srgbClr val="0B486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DE8DFD-7DF0-9DD7-81EF-C9BCBAEB12DC}"/>
                </a:ext>
              </a:extLst>
            </p:cNvPr>
            <p:cNvCxnSpPr>
              <a:cxnSpLocks/>
            </p:cNvCxnSpPr>
            <p:nvPr/>
          </p:nvCxnSpPr>
          <p:spPr>
            <a:xfrm>
              <a:off x="10069925" y="4111308"/>
              <a:ext cx="264183" cy="0"/>
            </a:xfrm>
            <a:prstGeom prst="line">
              <a:avLst/>
            </a:prstGeom>
            <a:ln w="12700">
              <a:solidFill>
                <a:srgbClr val="3B86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_series_4">
              <a:extLst>
                <a:ext uri="{FF2B5EF4-FFF2-40B4-BE49-F238E27FC236}">
                  <a16:creationId xmlns:a16="http://schemas.microsoft.com/office/drawing/2014/main" id="{ECA09E5F-42ED-E533-3B42-95C472A4AE71}"/>
                </a:ext>
              </a:extLst>
            </p:cNvPr>
            <p:cNvSpPr txBox="1"/>
            <p:nvPr/>
          </p:nvSpPr>
          <p:spPr>
            <a:xfrm>
              <a:off x="10306911" y="3305806"/>
              <a:ext cx="1829682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J&amp;J</a:t>
              </a:r>
              <a:endParaRPr kumimoji="0" lang="en-IN" sz="1000" b="0" i="0" u="none" strike="noStrike" kern="120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C8F87A5F-5D45-0E4B-DF44-B684B6B35856}"/>
                </a:ext>
              </a:extLst>
            </p:cNvPr>
            <p:cNvSpPr/>
            <p:nvPr/>
          </p:nvSpPr>
          <p:spPr>
            <a:xfrm>
              <a:off x="10165497" y="3392397"/>
              <a:ext cx="73038" cy="73038"/>
            </a:xfrm>
            <a:prstGeom prst="flowChartConnector">
              <a:avLst/>
            </a:prstGeom>
            <a:solidFill>
              <a:srgbClr val="F75824"/>
            </a:solidFill>
            <a:ln>
              <a:solidFill>
                <a:srgbClr val="F758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255F4B-3D4B-E839-2A2C-A454540CC1F4}"/>
                </a:ext>
              </a:extLst>
            </p:cNvPr>
            <p:cNvCxnSpPr>
              <a:cxnSpLocks/>
            </p:cNvCxnSpPr>
            <p:nvPr/>
          </p:nvCxnSpPr>
          <p:spPr>
            <a:xfrm>
              <a:off x="10069925" y="3428916"/>
              <a:ext cx="264183" cy="0"/>
            </a:xfrm>
            <a:prstGeom prst="line">
              <a:avLst/>
            </a:prstGeom>
            <a:ln w="12700">
              <a:solidFill>
                <a:srgbClr val="F7582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_series_3">
              <a:extLst>
                <a:ext uri="{FF2B5EF4-FFF2-40B4-BE49-F238E27FC236}">
                  <a16:creationId xmlns:a16="http://schemas.microsoft.com/office/drawing/2014/main" id="{C9789589-5B55-EE7A-31AD-D23F3CF5BE16}"/>
                </a:ext>
              </a:extLst>
            </p:cNvPr>
            <p:cNvSpPr txBox="1"/>
            <p:nvPr/>
          </p:nvSpPr>
          <p:spPr>
            <a:xfrm>
              <a:off x="10319615" y="3650863"/>
              <a:ext cx="1822573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AZ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46" name="Flowchart: Connector 45">
              <a:extLst>
                <a:ext uri="{FF2B5EF4-FFF2-40B4-BE49-F238E27FC236}">
                  <a16:creationId xmlns:a16="http://schemas.microsoft.com/office/drawing/2014/main" id="{6A2A556A-9D5E-42FF-70A5-F2DD04393F19}"/>
                </a:ext>
              </a:extLst>
            </p:cNvPr>
            <p:cNvSpPr/>
            <p:nvPr/>
          </p:nvSpPr>
          <p:spPr>
            <a:xfrm>
              <a:off x="10165497" y="3737454"/>
              <a:ext cx="73038" cy="73038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CAB37A3-3F8E-BA64-98B8-15D170EE825D}"/>
                </a:ext>
              </a:extLst>
            </p:cNvPr>
            <p:cNvCxnSpPr>
              <a:cxnSpLocks/>
            </p:cNvCxnSpPr>
            <p:nvPr/>
          </p:nvCxnSpPr>
          <p:spPr>
            <a:xfrm>
              <a:off x="10069925" y="3773973"/>
              <a:ext cx="264183" cy="0"/>
            </a:xfrm>
            <a:prstGeom prst="line">
              <a:avLst/>
            </a:prstGeom>
            <a:ln w="12700">
              <a:solidFill>
                <a:srgbClr val="703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_series_3">
              <a:extLst>
                <a:ext uri="{FF2B5EF4-FFF2-40B4-BE49-F238E27FC236}">
                  <a16:creationId xmlns:a16="http://schemas.microsoft.com/office/drawing/2014/main" id="{12AB4C88-AB1C-EB9A-8C30-726B8516CC33}"/>
                </a:ext>
              </a:extLst>
            </p:cNvPr>
            <p:cNvSpPr txBox="1"/>
            <p:nvPr/>
          </p:nvSpPr>
          <p:spPr>
            <a:xfrm>
              <a:off x="10319615" y="3993056"/>
              <a:ext cx="1822908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TAG+Chemo</a:t>
              </a:r>
              <a:endParaRPr kumimoji="0" lang="en-IN" sz="1000" b="0" i="0" u="none" strike="noStrike" kern="120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51" name="Textbox_series_3">
              <a:extLst>
                <a:ext uri="{FF2B5EF4-FFF2-40B4-BE49-F238E27FC236}">
                  <a16:creationId xmlns:a16="http://schemas.microsoft.com/office/drawing/2014/main" id="{63210196-EFF9-8A28-25EE-9EFEFC10C358}"/>
                </a:ext>
              </a:extLst>
            </p:cNvPr>
            <p:cNvSpPr txBox="1"/>
            <p:nvPr/>
          </p:nvSpPr>
          <p:spPr>
            <a:xfrm>
              <a:off x="10319615" y="4289731"/>
              <a:ext cx="1827867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TAG Mono</a:t>
              </a:r>
              <a:endParaRPr kumimoji="0" lang="en-IN" sz="1000" b="0" i="0" u="none" strike="noStrike" kern="120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7BFEEA5-72F0-0F1E-D0CF-135D18481D9D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J&amp;J reps have achieved peak call quality and intent to increase Rx since Q4'24, outperforming </a:t>
            </a:r>
            <a:r>
              <a:rPr lang="en-US" sz="1800" err="1">
                <a:solidFill>
                  <a:srgbClr val="FF0000"/>
                </a:solidFill>
                <a:latin typeface="Johnson Display"/>
                <a:ea typeface="Verdana"/>
              </a:rPr>
              <a:t>TAG+Chemo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, but AZ regimens retain narrow lead in branded closing</a:t>
            </a:r>
          </a:p>
        </p:txBody>
      </p:sp>
      <p:sp>
        <p:nvSpPr>
          <p:cNvPr id="4" name="Google Shape;229;p3">
            <a:extLst>
              <a:ext uri="{FF2B5EF4-FFF2-40B4-BE49-F238E27FC236}">
                <a16:creationId xmlns:a16="http://schemas.microsoft.com/office/drawing/2014/main" id="{605DA171-21E3-9DFD-2197-7615140FD7BB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13" name="Google Shape;504;p12">
            <a:extLst>
              <a:ext uri="{FF2B5EF4-FFF2-40B4-BE49-F238E27FC236}">
                <a16:creationId xmlns:a16="http://schemas.microsoft.com/office/drawing/2014/main" id="{3B39814F-F960-1DDC-4BD3-8DCFCC6615BD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Johnson Display"/>
                <a:ea typeface="Verdana"/>
              </a:rPr>
              <a:t>PERSONAL PROMOTIONS SCORECARD - Trended QoQ </a:t>
            </a: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15D75F25-6E65-BA1F-200F-6B5B69E66F0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3" y="1090620"/>
            <a:ext cx="248013" cy="24801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AADE197-94AC-3079-F8C2-A8A13B98C847}"/>
              </a:ext>
            </a:extLst>
          </p:cNvPr>
          <p:cNvSpPr/>
          <p:nvPr/>
        </p:nvSpPr>
        <p:spPr>
          <a:xfrm>
            <a:off x="8022823" y="2366637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E2CCBB-1120-FC43-3203-F907CED1B1F4}"/>
              </a:ext>
            </a:extLst>
          </p:cNvPr>
          <p:cNvSpPr/>
          <p:nvPr/>
        </p:nvSpPr>
        <p:spPr>
          <a:xfrm>
            <a:off x="8019826" y="2009560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7E0BBA-CC38-559D-883C-FC3AB51B9CA3}"/>
              </a:ext>
            </a:extLst>
          </p:cNvPr>
          <p:cNvSpPr/>
          <p:nvPr/>
        </p:nvSpPr>
        <p:spPr>
          <a:xfrm>
            <a:off x="4975127" y="6404794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graphicFrame>
        <p:nvGraphicFramePr>
          <p:cNvPr id="11" name="Shape_9313705">
            <a:extLst>
              <a:ext uri="{FF2B5EF4-FFF2-40B4-BE49-F238E27FC236}">
                <a16:creationId xmlns:a16="http://schemas.microsoft.com/office/drawing/2014/main" id="{04A5B15A-BF94-CA69-6FBE-940D8FF1D749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58614562"/>
              </p:ext>
            </p:extLst>
          </p:nvPr>
        </p:nvGraphicFramePr>
        <p:xfrm>
          <a:off x="2272550" y="5255657"/>
          <a:ext cx="8070299" cy="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7" name="Google Shape;504;p12">
            <a:extLst>
              <a:ext uri="{FF2B5EF4-FFF2-40B4-BE49-F238E27FC236}">
                <a16:creationId xmlns:a16="http://schemas.microsoft.com/office/drawing/2014/main" id="{FD6DE457-CC31-96FE-BE91-D78EE3013005}"/>
              </a:ext>
            </a:extLst>
          </p:cNvPr>
          <p:cNvSpPr txBox="1"/>
          <p:nvPr/>
        </p:nvSpPr>
        <p:spPr>
          <a:xfrm>
            <a:off x="-162199" y="5575042"/>
            <a:ext cx="2160000" cy="26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Branded Rep Closing</a:t>
            </a:r>
            <a:r>
              <a:rPr kumimoji="0" lang="en-IN" sz="1100" b="1" i="0" u="none" strike="noStrike" kern="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EF7871-0292-305B-87A5-9AB8125766E1}"/>
              </a:ext>
            </a:extLst>
          </p:cNvPr>
          <p:cNvSpPr txBox="1"/>
          <p:nvPr/>
        </p:nvSpPr>
        <p:spPr>
          <a:xfrm rot="16200000">
            <a:off x="1853467" y="5435657"/>
            <a:ext cx="900000" cy="5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</p:txBody>
      </p:sp>
      <p:sp>
        <p:nvSpPr>
          <p:cNvPr id="23" name="Google Shape;504;p12">
            <a:extLst>
              <a:ext uri="{FF2B5EF4-FFF2-40B4-BE49-F238E27FC236}">
                <a16:creationId xmlns:a16="http://schemas.microsoft.com/office/drawing/2014/main" id="{F923F7BA-1331-46FB-C50F-1B4AC601AECA}"/>
              </a:ext>
            </a:extLst>
          </p:cNvPr>
          <p:cNvSpPr txBox="1"/>
          <p:nvPr/>
        </p:nvSpPr>
        <p:spPr>
          <a:xfrm>
            <a:off x="-162199" y="3792137"/>
            <a:ext cx="2160000" cy="26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Overall Call Quality</a:t>
            </a:r>
            <a:r>
              <a:rPr kumimoji="0" lang="en-IN" sz="1100" b="1" i="0" u="none" strike="noStrike" kern="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F5B980-1935-3A21-D52F-8F6F5758E4A0}"/>
              </a:ext>
            </a:extLst>
          </p:cNvPr>
          <p:cNvSpPr txBox="1"/>
          <p:nvPr/>
        </p:nvSpPr>
        <p:spPr>
          <a:xfrm rot="16200000">
            <a:off x="1781682" y="3652752"/>
            <a:ext cx="900000" cy="5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Rated 6,7</a:t>
            </a:r>
          </a:p>
        </p:txBody>
      </p:sp>
      <p:graphicFrame>
        <p:nvGraphicFramePr>
          <p:cNvPr id="40" name="Shape_23202250">
            <a:extLst>
              <a:ext uri="{FF2B5EF4-FFF2-40B4-BE49-F238E27FC236}">
                <a16:creationId xmlns:a16="http://schemas.microsoft.com/office/drawing/2014/main" id="{F3643261-E167-8A5F-8A77-2975242298ED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077709199"/>
              </p:ext>
            </p:extLst>
          </p:nvPr>
        </p:nvGraphicFramePr>
        <p:xfrm>
          <a:off x="2298315" y="3472752"/>
          <a:ext cx="8018768" cy="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cxnSp>
        <p:nvCxnSpPr>
          <p:cNvPr id="44" name="Google Shape;346;p4">
            <a:extLst>
              <a:ext uri="{FF2B5EF4-FFF2-40B4-BE49-F238E27FC236}">
                <a16:creationId xmlns:a16="http://schemas.microsoft.com/office/drawing/2014/main" id="{12A88C11-B60B-7388-C808-A2E8480FAF10}"/>
              </a:ext>
            </a:extLst>
          </p:cNvPr>
          <p:cNvCxnSpPr>
            <a:cxnSpLocks/>
          </p:cNvCxnSpPr>
          <p:nvPr/>
        </p:nvCxnSpPr>
        <p:spPr>
          <a:xfrm flipH="1">
            <a:off x="2282740" y="4351364"/>
            <a:ext cx="7534538" cy="38036"/>
          </a:xfrm>
          <a:prstGeom prst="straightConnector1">
            <a:avLst/>
          </a:prstGeom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Google Shape;346;p4">
            <a:extLst>
              <a:ext uri="{FF2B5EF4-FFF2-40B4-BE49-F238E27FC236}">
                <a16:creationId xmlns:a16="http://schemas.microsoft.com/office/drawing/2014/main" id="{E0FC8218-E174-55F3-1F5B-5DC2F8D9C3D5}"/>
              </a:ext>
            </a:extLst>
          </p:cNvPr>
          <p:cNvCxnSpPr>
            <a:cxnSpLocks/>
          </p:cNvCxnSpPr>
          <p:nvPr/>
        </p:nvCxnSpPr>
        <p:spPr>
          <a:xfrm flipH="1">
            <a:off x="2282740" y="5211122"/>
            <a:ext cx="7534538" cy="38036"/>
          </a:xfrm>
          <a:prstGeom prst="straightConnector1">
            <a:avLst/>
          </a:prstGeom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D26FB51-95A5-DA25-A686-3CBBD0C5D7DC}"/>
              </a:ext>
            </a:extLst>
          </p:cNvPr>
          <p:cNvSpPr/>
          <p:nvPr/>
        </p:nvSpPr>
        <p:spPr>
          <a:xfrm>
            <a:off x="5151221" y="6542906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54068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FA2C-0078-4BAD-E13C-E1E24CC4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04;p12">
            <a:extLst>
              <a:ext uri="{FF2B5EF4-FFF2-40B4-BE49-F238E27FC236}">
                <a16:creationId xmlns:a16="http://schemas.microsoft.com/office/drawing/2014/main" id="{9272151F-E5C4-4627-795A-76C1CCDA9D69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99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PERSONAL PROMOTIONS ACTIVITY </a:t>
            </a:r>
            <a:r>
              <a:rPr kumimoji="0" lang="en-GB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(i.e. in-person, telephone, or video interactions with sales reps)</a:t>
            </a:r>
            <a:endParaRPr kumimoji="0" lang="en-IN" sz="999" b="0" i="0" u="none" strike="noStrike" kern="1200" cap="none" spc="0" normalizeH="0" baseline="30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06" name="Picture 105" descr="Icon&#10;&#10;Description automatically generated">
            <a:extLst>
              <a:ext uri="{FF2B5EF4-FFF2-40B4-BE49-F238E27FC236}">
                <a16:creationId xmlns:a16="http://schemas.microsoft.com/office/drawing/2014/main" id="{71A836CD-FDD2-4775-AD4C-CAC0AAD8F7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158AB96F-5ECC-7CFE-982E-43957DCF9D53}"/>
              </a:ext>
            </a:extLst>
          </p:cNvPr>
          <p:cNvGrpSpPr/>
          <p:nvPr/>
        </p:nvGrpSpPr>
        <p:grpSpPr>
          <a:xfrm>
            <a:off x="5275172" y="5290534"/>
            <a:ext cx="3377743" cy="246221"/>
            <a:chOff x="4023663" y="3496149"/>
            <a:chExt cx="3377743" cy="246221"/>
          </a:xfrm>
        </p:grpSpPr>
        <p:sp>
          <p:nvSpPr>
            <p:cNvPr id="87" name="Legend_series_2">
              <a:extLst>
                <a:ext uri="{FF2B5EF4-FFF2-40B4-BE49-F238E27FC236}">
                  <a16:creationId xmlns:a16="http://schemas.microsoft.com/office/drawing/2014/main" id="{D1226E37-C6C7-2F60-6CBB-334EF8EE3C4A}"/>
                </a:ext>
              </a:extLst>
            </p:cNvPr>
            <p:cNvSpPr/>
            <p:nvPr/>
          </p:nvSpPr>
          <p:spPr>
            <a:xfrm>
              <a:off x="4359418" y="3565427"/>
              <a:ext cx="109500" cy="107664"/>
            </a:xfrm>
            <a:prstGeom prst="rect">
              <a:avLst/>
            </a:prstGeom>
            <a:solidFill>
              <a:srgbClr val="F758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8" name="Textbox_series_4">
              <a:extLst>
                <a:ext uri="{FF2B5EF4-FFF2-40B4-BE49-F238E27FC236}">
                  <a16:creationId xmlns:a16="http://schemas.microsoft.com/office/drawing/2014/main" id="{47BCB1F4-212E-EE24-FAE3-C11F83E0F56E}"/>
                </a:ext>
              </a:extLst>
            </p:cNvPr>
            <p:cNvSpPr txBox="1"/>
            <p:nvPr/>
          </p:nvSpPr>
          <p:spPr>
            <a:xfrm>
              <a:off x="4462081" y="3496149"/>
              <a:ext cx="1369305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J&amp;J</a:t>
              </a: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DF45B7F-8318-B2FF-9021-AB642DEE2900}"/>
                </a:ext>
              </a:extLst>
            </p:cNvPr>
            <p:cNvGrpSpPr/>
            <p:nvPr/>
          </p:nvGrpSpPr>
          <p:grpSpPr>
            <a:xfrm>
              <a:off x="4023663" y="3582740"/>
              <a:ext cx="264183" cy="73038"/>
              <a:chOff x="4555473" y="6212382"/>
              <a:chExt cx="264595" cy="73152"/>
            </a:xfrm>
          </p:grpSpPr>
          <p:sp>
            <p:nvSpPr>
              <p:cNvPr id="90" name="Flowchart: Connector 89">
                <a:extLst>
                  <a:ext uri="{FF2B5EF4-FFF2-40B4-BE49-F238E27FC236}">
                    <a16:creationId xmlns:a16="http://schemas.microsoft.com/office/drawing/2014/main" id="{ABE156CE-BFEC-AC78-F1EF-56A47548F8E1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F75824"/>
              </a:solidFill>
              <a:ln>
                <a:solidFill>
                  <a:srgbClr val="F7582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64BC75D-5CB7-93CA-FC34-F4D5E2EA45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F7582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Textbox_series_3">
              <a:extLst>
                <a:ext uri="{FF2B5EF4-FFF2-40B4-BE49-F238E27FC236}">
                  <a16:creationId xmlns:a16="http://schemas.microsoft.com/office/drawing/2014/main" id="{5A792906-CE1D-5DC6-DE7C-20349802F508}"/>
                </a:ext>
              </a:extLst>
            </p:cNvPr>
            <p:cNvSpPr txBox="1"/>
            <p:nvPr/>
          </p:nvSpPr>
          <p:spPr>
            <a:xfrm>
              <a:off x="6026007" y="3496149"/>
              <a:ext cx="1375399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srgbClr val="505050">
                      <a:lumMod val="50000"/>
                    </a:srgbClr>
                  </a:solidFill>
                  <a:latin typeface="Johnson Text"/>
                  <a:ea typeface="Verdana" panose="020B0604030504040204" pitchFamily="34" charset="0"/>
                </a:rPr>
                <a:t>AZ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2B6B070-C376-0321-46D5-FC21D4D0E7BB}"/>
                </a:ext>
              </a:extLst>
            </p:cNvPr>
            <p:cNvGrpSpPr/>
            <p:nvPr/>
          </p:nvGrpSpPr>
          <p:grpSpPr>
            <a:xfrm>
              <a:off x="5574885" y="3582740"/>
              <a:ext cx="264183" cy="73038"/>
              <a:chOff x="4555473" y="6212382"/>
              <a:chExt cx="264595" cy="73152"/>
            </a:xfrm>
          </p:grpSpPr>
          <p:sp>
            <p:nvSpPr>
              <p:cNvPr id="80" name="Flowchart: Connector 79">
                <a:extLst>
                  <a:ext uri="{FF2B5EF4-FFF2-40B4-BE49-F238E27FC236}">
                    <a16:creationId xmlns:a16="http://schemas.microsoft.com/office/drawing/2014/main" id="{3BAF1A62-1A45-9C7E-6AFF-80DDAB583A9C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AE7D840-3FD3-FD15-8441-31C6EAC91C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7030A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Legend_series_2">
              <a:extLst>
                <a:ext uri="{FF2B5EF4-FFF2-40B4-BE49-F238E27FC236}">
                  <a16:creationId xmlns:a16="http://schemas.microsoft.com/office/drawing/2014/main" id="{A972B79C-44C0-8519-C368-1E127B3551B0}"/>
                </a:ext>
              </a:extLst>
            </p:cNvPr>
            <p:cNvSpPr/>
            <p:nvPr/>
          </p:nvSpPr>
          <p:spPr>
            <a:xfrm>
              <a:off x="5923751" y="3565427"/>
              <a:ext cx="109500" cy="107664"/>
            </a:xfrm>
            <a:prstGeom prst="rect">
              <a:avLst/>
            </a:prstGeom>
            <a:solidFill>
              <a:srgbClr val="7638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52E7A37-3C76-4481-A279-4A2AFA1DF11C}"/>
              </a:ext>
            </a:extLst>
          </p:cNvPr>
          <p:cNvSpPr txBox="1"/>
          <p:nvPr/>
        </p:nvSpPr>
        <p:spPr>
          <a:xfrm>
            <a:off x="2401964" y="6530196"/>
            <a:ext cx="9360000" cy="32780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No statistically significant difference with a 95% confidence interval between the latest quarters | Local outliers removed | Slide includes data from ZoomRx Activity Screener |      Denotes statistically significant difference with a 95% confidence interval between RYBREVANT and Tagrisso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oogle Shape;229;p3">
            <a:extLst>
              <a:ext uri="{FF2B5EF4-FFF2-40B4-BE49-F238E27FC236}">
                <a16:creationId xmlns:a16="http://schemas.microsoft.com/office/drawing/2014/main" id="{69C7E1FD-7C7A-4C85-9E7C-7E72F0E363C8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Arial"/>
              <a:sym typeface="Arial"/>
            </a:endParaRPr>
          </a:p>
        </p:txBody>
      </p:sp>
      <p:graphicFrame>
        <p:nvGraphicFramePr>
          <p:cNvPr id="6" name="Reach_QoQ">
            <a:extLst>
              <a:ext uri="{FF2B5EF4-FFF2-40B4-BE49-F238E27FC236}">
                <a16:creationId xmlns:a16="http://schemas.microsoft.com/office/drawing/2014/main" id="{0FDF5F1E-682F-270F-26F7-E346DFE62544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2025163"/>
              </p:ext>
            </p:extLst>
          </p:nvPr>
        </p:nvGraphicFramePr>
        <p:xfrm>
          <a:off x="578647" y="2811984"/>
          <a:ext cx="4237200" cy="19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" name="Google Shape;504;p12">
            <a:extLst>
              <a:ext uri="{FF2B5EF4-FFF2-40B4-BE49-F238E27FC236}">
                <a16:creationId xmlns:a16="http://schemas.microsoft.com/office/drawing/2014/main" id="{FFFE3A35-EB23-EABC-758F-1B8FF4EFA672}"/>
              </a:ext>
            </a:extLst>
          </p:cNvPr>
          <p:cNvSpPr txBox="1"/>
          <p:nvPr/>
        </p:nvSpPr>
        <p:spPr>
          <a:xfrm>
            <a:off x="1285128" y="2379953"/>
            <a:ext cx="2478471" cy="26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ct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Reach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CD9C5D-77BD-7B22-EA9F-273187A788AC}"/>
              </a:ext>
            </a:extLst>
          </p:cNvPr>
          <p:cNvSpPr txBox="1"/>
          <p:nvPr/>
        </p:nvSpPr>
        <p:spPr>
          <a:xfrm rot="16200000">
            <a:off x="61612" y="3535970"/>
            <a:ext cx="1427374" cy="24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HCPs</a:t>
            </a:r>
          </a:p>
        </p:txBody>
      </p:sp>
      <p:graphicFrame>
        <p:nvGraphicFramePr>
          <p:cNvPr id="44" name="SoV_QoQ">
            <a:extLst>
              <a:ext uri="{FF2B5EF4-FFF2-40B4-BE49-F238E27FC236}">
                <a16:creationId xmlns:a16="http://schemas.microsoft.com/office/drawing/2014/main" id="{6BCCFCC9-388C-C1B3-8FEC-9C9FE08F841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53795151"/>
              </p:ext>
            </p:extLst>
          </p:nvPr>
        </p:nvGraphicFramePr>
        <p:xfrm>
          <a:off x="8648583" y="2917167"/>
          <a:ext cx="3094975" cy="148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3" name="Google Shape;504;p12">
            <a:extLst>
              <a:ext uri="{FF2B5EF4-FFF2-40B4-BE49-F238E27FC236}">
                <a16:creationId xmlns:a16="http://schemas.microsoft.com/office/drawing/2014/main" id="{C6632AA1-ED12-58B0-9D0C-0E25EACA3F28}"/>
              </a:ext>
            </a:extLst>
          </p:cNvPr>
          <p:cNvSpPr txBox="1"/>
          <p:nvPr/>
        </p:nvSpPr>
        <p:spPr>
          <a:xfrm>
            <a:off x="8956835" y="2379953"/>
            <a:ext cx="2478471" cy="26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ct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Share of Voice (SOV)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597140-8FC6-397C-3D7D-84EFDF3EB0CE}"/>
              </a:ext>
            </a:extLst>
          </p:cNvPr>
          <p:cNvSpPr txBox="1"/>
          <p:nvPr/>
        </p:nvSpPr>
        <p:spPr>
          <a:xfrm rot="16200000">
            <a:off x="7774817" y="3535970"/>
            <a:ext cx="1427374" cy="24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</p:txBody>
      </p:sp>
      <p:sp>
        <p:nvSpPr>
          <p:cNvPr id="64" name="Google Shape;504;p12">
            <a:extLst>
              <a:ext uri="{FF2B5EF4-FFF2-40B4-BE49-F238E27FC236}">
                <a16:creationId xmlns:a16="http://schemas.microsoft.com/office/drawing/2014/main" id="{EA4E636D-4AAD-1723-6C21-B304545134F2}"/>
              </a:ext>
            </a:extLst>
          </p:cNvPr>
          <p:cNvSpPr txBox="1"/>
          <p:nvPr/>
        </p:nvSpPr>
        <p:spPr>
          <a:xfrm>
            <a:off x="5284191" y="2390498"/>
            <a:ext cx="2478471" cy="26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ct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Frequency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B9A291-7D79-6EB4-2B2C-D08B0390E20B}"/>
              </a:ext>
            </a:extLst>
          </p:cNvPr>
          <p:cNvSpPr txBox="1"/>
          <p:nvPr/>
        </p:nvSpPr>
        <p:spPr>
          <a:xfrm rot="16200000">
            <a:off x="3943406" y="3535970"/>
            <a:ext cx="1598962" cy="24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Avg. # of Interactions</a:t>
            </a:r>
          </a:p>
        </p:txBody>
      </p:sp>
      <p:graphicFrame>
        <p:nvGraphicFramePr>
          <p:cNvPr id="66" name="Freq_QoQ">
            <a:extLst>
              <a:ext uri="{FF2B5EF4-FFF2-40B4-BE49-F238E27FC236}">
                <a16:creationId xmlns:a16="http://schemas.microsoft.com/office/drawing/2014/main" id="{392CA54B-3836-7035-2A26-501D620A37B2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973925364"/>
              </p:ext>
            </p:extLst>
          </p:nvPr>
        </p:nvGraphicFramePr>
        <p:xfrm>
          <a:off x="4460052" y="2631418"/>
          <a:ext cx="4237200" cy="2087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67" name="Group 66">
            <a:extLst>
              <a:ext uri="{FF2B5EF4-FFF2-40B4-BE49-F238E27FC236}">
                <a16:creationId xmlns:a16="http://schemas.microsoft.com/office/drawing/2014/main" id="{B3EF3BC5-0B65-4BD3-5613-0FEB598DA1F2}"/>
              </a:ext>
            </a:extLst>
          </p:cNvPr>
          <p:cNvGrpSpPr/>
          <p:nvPr/>
        </p:nvGrpSpPr>
        <p:grpSpPr>
          <a:xfrm>
            <a:off x="1043824" y="4466484"/>
            <a:ext cx="3306846" cy="399853"/>
            <a:chOff x="1029124" y="3057510"/>
            <a:chExt cx="3306846" cy="39985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3361855-FEC6-0196-75F4-D0BA01EF60ED}"/>
                </a:ext>
              </a:extLst>
            </p:cNvPr>
            <p:cNvSpPr txBox="1"/>
            <p:nvPr/>
          </p:nvSpPr>
          <p:spPr>
            <a:xfrm>
              <a:off x="1029124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 defTabSz="913486">
                <a:defRPr/>
              </a:pPr>
              <a:r>
                <a:rPr lang="en-US" sz="999" dirty="0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Q3'25</a:t>
              </a:r>
              <a:br>
                <a:rPr lang="en-US" sz="999" dirty="0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</a:br>
              <a:r>
                <a:rPr lang="en-US" sz="999" dirty="0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(n = 134) </a:t>
              </a:r>
              <a:endParaRPr lang="en-IN" sz="999" dirty="0">
                <a:solidFill>
                  <a:srgbClr val="000000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BD4945-80DC-B8FE-B72A-E77C60E2C173}"/>
                </a:ext>
              </a:extLst>
            </p:cNvPr>
            <p:cNvSpPr txBox="1"/>
            <p:nvPr/>
          </p:nvSpPr>
          <p:spPr>
            <a:xfrm>
              <a:off x="3006733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Q4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'25</a:t>
              </a:r>
              <a:b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</a:b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(n = 149) 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0FB0FBA-90A3-10A6-5E09-F65AB621638C}"/>
              </a:ext>
            </a:extLst>
          </p:cNvPr>
          <p:cNvGrpSpPr/>
          <p:nvPr/>
        </p:nvGrpSpPr>
        <p:grpSpPr>
          <a:xfrm>
            <a:off x="8893232" y="4466484"/>
            <a:ext cx="2585356" cy="399853"/>
            <a:chOff x="949176" y="3207426"/>
            <a:chExt cx="2585356" cy="399853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AE3056A-931C-03DF-DD02-4116DF60DD85}"/>
                </a:ext>
              </a:extLst>
            </p:cNvPr>
            <p:cNvSpPr txBox="1"/>
            <p:nvPr/>
          </p:nvSpPr>
          <p:spPr>
            <a:xfrm>
              <a:off x="949176" y="3207426"/>
              <a:ext cx="1015882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 defTabSz="913486">
                <a:defRPr/>
              </a:pPr>
              <a:r>
                <a:rPr lang="en-US" sz="999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Q3'25</a:t>
              </a:r>
              <a:br>
                <a:rPr lang="en-US" sz="999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</a:br>
              <a:r>
                <a:rPr lang="en-US" sz="999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(s = 464) </a:t>
              </a:r>
              <a:endParaRPr lang="en-IN" sz="999">
                <a:solidFill>
                  <a:srgbClr val="000000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2DD83C2-A65A-6F42-681E-0EC7A0841E23}"/>
                </a:ext>
              </a:extLst>
            </p:cNvPr>
            <p:cNvSpPr txBox="1"/>
            <p:nvPr/>
          </p:nvSpPr>
          <p:spPr>
            <a:xfrm>
              <a:off x="2518650" y="3207426"/>
              <a:ext cx="1015882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Q4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'25</a:t>
              </a:r>
              <a:b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</a:b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608) 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B46B55-B437-D694-2406-8EDE2502DE11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J&amp;J widens the SOV gap with AZ and retains the #1 position, driven by a QoQ increase in call frequency – particularly among academic HCPs</a:t>
            </a:r>
          </a:p>
        </p:txBody>
      </p:sp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0A33C7CD-7649-DFD6-D029-650E7C40E2B6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0864CB-F5FE-CFF4-99B5-F3043B34876A}"/>
              </a:ext>
            </a:extLst>
          </p:cNvPr>
          <p:cNvGrpSpPr/>
          <p:nvPr/>
        </p:nvGrpSpPr>
        <p:grpSpPr>
          <a:xfrm>
            <a:off x="4925229" y="4471421"/>
            <a:ext cx="3306846" cy="399853"/>
            <a:chOff x="1029124" y="3057510"/>
            <a:chExt cx="3306846" cy="3998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C8C522-E56B-1FF9-4023-1C16B308AB98}"/>
                </a:ext>
              </a:extLst>
            </p:cNvPr>
            <p:cNvSpPr txBox="1"/>
            <p:nvPr/>
          </p:nvSpPr>
          <p:spPr>
            <a:xfrm>
              <a:off x="1029124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 defTabSz="913486">
                <a:defRPr/>
              </a:pPr>
              <a:r>
                <a:rPr lang="en-US" sz="999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Q3'25</a:t>
              </a:r>
              <a:br>
                <a:rPr lang="en-US" sz="999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</a:br>
              <a:r>
                <a:rPr lang="en-US" sz="999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(n = 134) </a:t>
              </a:r>
              <a:endParaRPr lang="en-IN" sz="999">
                <a:solidFill>
                  <a:srgbClr val="000000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200A38-C428-F56E-A21B-034E47170654}"/>
                </a:ext>
              </a:extLst>
            </p:cNvPr>
            <p:cNvSpPr txBox="1"/>
            <p:nvPr/>
          </p:nvSpPr>
          <p:spPr>
            <a:xfrm>
              <a:off x="3006733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Q4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'25</a:t>
              </a:r>
              <a:b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</a:b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(n = </a:t>
              </a: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149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 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57A02C09-5888-3258-0802-7F4C9F3A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2D4985-2083-C2A1-9433-3AB5CB8BB29E}"/>
              </a:ext>
            </a:extLst>
          </p:cNvPr>
          <p:cNvSpPr/>
          <p:nvPr/>
        </p:nvSpPr>
        <p:spPr>
          <a:xfrm>
            <a:off x="11396181" y="3911007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E86CCE-AB1E-1875-6382-2B9DF41B05AA}"/>
              </a:ext>
            </a:extLst>
          </p:cNvPr>
          <p:cNvSpPr/>
          <p:nvPr/>
        </p:nvSpPr>
        <p:spPr>
          <a:xfrm>
            <a:off x="3898516" y="6664471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5" name="Textbox_series_2">
            <a:extLst>
              <a:ext uri="{FF2B5EF4-FFF2-40B4-BE49-F238E27FC236}">
                <a16:creationId xmlns:a16="http://schemas.microsoft.com/office/drawing/2014/main" id="{1697107E-2EB7-A944-1CC0-E986775AD4BD}"/>
              </a:ext>
            </a:extLst>
          </p:cNvPr>
          <p:cNvSpPr txBox="1"/>
          <p:nvPr/>
        </p:nvSpPr>
        <p:spPr>
          <a:xfrm flipH="1">
            <a:off x="5001719" y="5651241"/>
            <a:ext cx="3240000" cy="566677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116">
              <a:defRPr/>
            </a:pPr>
            <a:r>
              <a:rPr lang="en-US" sz="900" b="1" dirty="0">
                <a:solidFill>
                  <a:srgbClr val="F75824"/>
                </a:solidFill>
                <a:latin typeface="Johnson Text"/>
                <a:ea typeface="Verdana"/>
                <a:cs typeface="Johnson Text"/>
              </a:rPr>
              <a:t>J&amp;J </a:t>
            </a:r>
            <a:r>
              <a:rPr lang="en-US" sz="900" dirty="0">
                <a:latin typeface="Johnson Text"/>
                <a:ea typeface="Verdana"/>
                <a:cs typeface="Johnson Text"/>
              </a:rPr>
              <a:t>frequency increases notably among </a:t>
            </a:r>
            <a:r>
              <a:rPr lang="en-US" sz="900" b="1" dirty="0">
                <a:latin typeface="Johnson Text"/>
                <a:ea typeface="Verdana"/>
                <a:cs typeface="Johnson Text"/>
              </a:rPr>
              <a:t>HCPs who took survey in both Q3'25 and Q4'25</a:t>
            </a:r>
            <a:endParaRPr lang="en-US" sz="900" dirty="0"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  <p:sp>
        <p:nvSpPr>
          <p:cNvPr id="18" name="Textbox_series_2">
            <a:extLst>
              <a:ext uri="{FF2B5EF4-FFF2-40B4-BE49-F238E27FC236}">
                <a16:creationId xmlns:a16="http://schemas.microsoft.com/office/drawing/2014/main" id="{93189830-ED00-2B3B-DE04-34E4FB77556E}"/>
              </a:ext>
            </a:extLst>
          </p:cNvPr>
          <p:cNvSpPr txBox="1"/>
          <p:nvPr/>
        </p:nvSpPr>
        <p:spPr>
          <a:xfrm flipH="1">
            <a:off x="5001719" y="1593323"/>
            <a:ext cx="3240000" cy="504481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116">
              <a:defRPr/>
            </a:pPr>
            <a:r>
              <a:rPr lang="en-US" sz="900" b="1" dirty="0">
                <a:solidFill>
                  <a:srgbClr val="F75824"/>
                </a:solidFill>
                <a:latin typeface="Johnson Text"/>
                <a:ea typeface="Verdana"/>
                <a:cs typeface="Johnson Text"/>
              </a:rPr>
              <a:t>J&amp;J </a:t>
            </a:r>
            <a:r>
              <a:rPr lang="en-US" sz="900" dirty="0">
                <a:latin typeface="Johnson Text"/>
                <a:ea typeface="Verdana"/>
                <a:cs typeface="Johnson Text"/>
              </a:rPr>
              <a:t>rep frequency increases notably among </a:t>
            </a:r>
            <a:r>
              <a:rPr lang="en-US" sz="900" b="1" dirty="0">
                <a:latin typeface="Johnson Text"/>
                <a:ea typeface="Verdana"/>
                <a:cs typeface="Johnson Text"/>
              </a:rPr>
              <a:t>Academic HCPs QoQ </a:t>
            </a:r>
            <a:r>
              <a:rPr lang="en-US" sz="900" dirty="0">
                <a:latin typeface="Johnson Text"/>
                <a:ea typeface="Verdana"/>
                <a:cs typeface="Johnson Text"/>
              </a:rPr>
              <a:t>(3.9 vs 2.6 in Q3’25), while it holds steady among community HCPs</a:t>
            </a:r>
          </a:p>
        </p:txBody>
      </p:sp>
    </p:spTree>
    <p:extLst>
      <p:ext uri="{BB962C8B-B14F-4D97-AF65-F5344CB8AC3E}">
        <p14:creationId xmlns:p14="http://schemas.microsoft.com/office/powerpoint/2010/main" val="897994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B8B9-5BE3-E3ED-8357-031BA810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504;p12">
            <a:extLst>
              <a:ext uri="{FF2B5EF4-FFF2-40B4-BE49-F238E27FC236}">
                <a16:creationId xmlns:a16="http://schemas.microsoft.com/office/drawing/2014/main" id="{4A5B982F-B846-3CE9-FA33-6AC3CAEFAECB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SHARE of ATTENTION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(i.e. in-person, telephone, or video interactions with sales reps)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J&amp;J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Q4'25</a:t>
            </a:r>
            <a:endParaRPr kumimoji="0" lang="en-IN" sz="1000" b="0" i="0" u="none" strike="noStrike" kern="1200" cap="none" spc="0" normalizeH="0" baseline="30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5E3A525B-87FE-CC8E-E4A8-5ADF36D9A4C1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999213" y="1786454"/>
          <a:ext cx="762000" cy="365760"/>
        </p:xfrm>
        <a:graphic>
          <a:graphicData uri="http://schemas.openxmlformats.org/drawingml/2006/table">
            <a:tbl>
              <a:tblPr firstRow="1" band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143957109"/>
                    </a:ext>
                  </a:extLst>
                </a:gridCol>
              </a:tblGrid>
              <a:tr h="214249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800" b="0" i="0" u="none" strike="noStrike"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04863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47E2DBF0-F842-74C6-C72B-97C8A2D4C990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Arial"/>
              </a:rPr>
              <a:t>Question text in speaker notes | s indicates no of interactions </a:t>
            </a:r>
            <a:r>
              <a:rPr kumimoji="1" lang="en-GB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| Slide includes data from </a:t>
            </a:r>
            <a:r>
              <a:rPr kumimoji="1" lang="en-GB" sz="900" b="0" i="1" u="none" strike="noStrike" kern="0" cap="none" spc="0" normalizeH="0" baseline="0" noProof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ZoomRx</a:t>
            </a:r>
            <a:r>
              <a:rPr kumimoji="1" lang="en-GB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 Activity Screener | </a:t>
            </a:r>
            <a:r>
              <a:rPr kumimoji="1" lang="en-IN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Arial"/>
              </a:rPr>
              <a:t>Analysis includes single indication discussions where the indication discussed was assigned rank 1 in order of settings discussed and assigned 100% in time spent | Local outliers removed</a:t>
            </a:r>
            <a:r>
              <a:rPr kumimoji="1" lang="en-IN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Arial"/>
              </a:rPr>
              <a:t>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| </a:t>
            </a: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+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/</a:t>
            </a:r>
            <a:r>
              <a:rPr kumimoji="0" lang="en-US" sz="9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-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denotes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increase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/ 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of greater than 5% from the previous quarter</a:t>
            </a:r>
            <a:endParaRPr kumimoji="1" lang="en-GB" sz="900" b="0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45AE77D2-C0F0-3A3C-330F-C027E7D3F1A9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D0407690-1605-CDD9-A00C-A2DE6DA44D0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56" name="Google Shape;229;p3">
            <a:extLst>
              <a:ext uri="{FF2B5EF4-FFF2-40B4-BE49-F238E27FC236}">
                <a16:creationId xmlns:a16="http://schemas.microsoft.com/office/drawing/2014/main" id="{B2D86ADE-819E-CD72-FA67-744DF6FCBC9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cxnSp>
        <p:nvCxnSpPr>
          <p:cNvPr id="10" name="Google Shape;346;p4">
            <a:extLst>
              <a:ext uri="{FF2B5EF4-FFF2-40B4-BE49-F238E27FC236}">
                <a16:creationId xmlns:a16="http://schemas.microsoft.com/office/drawing/2014/main" id="{BCAB1F3E-FBC2-6434-34DB-037D2954DD8F}"/>
              </a:ext>
            </a:extLst>
          </p:cNvPr>
          <p:cNvCxnSpPr>
            <a:cxnSpLocks/>
          </p:cNvCxnSpPr>
          <p:nvPr/>
        </p:nvCxnSpPr>
        <p:spPr>
          <a:xfrm>
            <a:off x="7205698" y="1656662"/>
            <a:ext cx="0" cy="4523884"/>
          </a:xfrm>
          <a:prstGeom prst="straightConnector1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DBD39A-7DB1-6BD7-CF21-7995E4477CE2}"/>
              </a:ext>
            </a:extLst>
          </p:cNvPr>
          <p:cNvSpPr txBox="1"/>
          <p:nvPr/>
        </p:nvSpPr>
        <p:spPr>
          <a:xfrm>
            <a:off x="3859083" y="1657929"/>
            <a:ext cx="2290025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Settings Discussed</a:t>
            </a:r>
            <a:endParaRPr kumimoji="0" lang="en-IN" sz="11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330)</a:t>
            </a:r>
          </a:p>
        </p:txBody>
      </p:sp>
      <p:graphicFrame>
        <p:nvGraphicFramePr>
          <p:cNvPr id="16" name="Theme">
            <a:extLst>
              <a:ext uri="{FF2B5EF4-FFF2-40B4-BE49-F238E27FC236}">
                <a16:creationId xmlns:a16="http://schemas.microsoft.com/office/drawing/2014/main" id="{689FC9F5-2DBD-3B32-FABA-FF7D87B3507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5537854"/>
              </p:ext>
            </p:extLst>
          </p:nvPr>
        </p:nvGraphicFramePr>
        <p:xfrm>
          <a:off x="214397" y="2181336"/>
          <a:ext cx="3202603" cy="35340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2603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11780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RYB+LAZ as 1L treatment 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in EGFR + </a:t>
                      </a:r>
                      <a:r>
                        <a:rPr kumimoji="0" lang="en-IN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mNSCLC</a:t>
                      </a: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68544" marR="68544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11780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RYB + chemo as 2L therapy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 in EGFR + mNSCLC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68544" marR="68544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11780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EGFR mutated </a:t>
                      </a: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exon-20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 mNSCLC Settings</a:t>
                      </a:r>
                      <a:endParaRPr kumimoji="0" lang="en-IN" sz="1000" b="0" i="0" u="none" strike="noStrike" kern="1200" cap="none" spc="0" normalizeH="0" baseline="3000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68544" marR="68544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5DE4FC5-03E1-FA96-D993-1244168A2B57}"/>
              </a:ext>
            </a:extLst>
          </p:cNvPr>
          <p:cNvSpPr txBox="1"/>
          <p:nvPr/>
        </p:nvSpPr>
        <p:spPr>
          <a:xfrm>
            <a:off x="1305066" y="1742567"/>
            <a:ext cx="102126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Settings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B97226-983F-9CBB-9BE7-D1D9D99E45AD}"/>
              </a:ext>
            </a:extLst>
          </p:cNvPr>
          <p:cNvSpPr txBox="1"/>
          <p:nvPr/>
        </p:nvSpPr>
        <p:spPr>
          <a:xfrm>
            <a:off x="3676647" y="5642997"/>
            <a:ext cx="2654897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% of Interactions 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8443F50-B899-2492-3E98-A54C64079410}"/>
              </a:ext>
            </a:extLst>
          </p:cNvPr>
          <p:cNvGrpSpPr/>
          <p:nvPr/>
        </p:nvGrpSpPr>
        <p:grpSpPr>
          <a:xfrm>
            <a:off x="9365411" y="3242098"/>
            <a:ext cx="2642143" cy="1474736"/>
            <a:chOff x="8645016" y="3751307"/>
            <a:chExt cx="2891258" cy="1474736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C5CA86E-9D39-AEBF-8E29-377C56C2C9E6}"/>
                </a:ext>
              </a:extLst>
            </p:cNvPr>
            <p:cNvGrpSpPr/>
            <p:nvPr/>
          </p:nvGrpSpPr>
          <p:grpSpPr>
            <a:xfrm>
              <a:off x="8645016" y="4192801"/>
              <a:ext cx="2891258" cy="433965"/>
              <a:chOff x="1267882" y="3864607"/>
              <a:chExt cx="2891258" cy="433965"/>
            </a:xfrm>
          </p:grpSpPr>
          <p:sp>
            <p:nvSpPr>
              <p:cNvPr id="72" name="Legend_series_2">
                <a:extLst>
                  <a:ext uri="{FF2B5EF4-FFF2-40B4-BE49-F238E27FC236}">
                    <a16:creationId xmlns:a16="http://schemas.microsoft.com/office/drawing/2014/main" id="{5C0DD778-F416-42B1-6643-29A77F62BBB1}"/>
                  </a:ext>
                </a:extLst>
              </p:cNvPr>
              <p:cNvSpPr/>
              <p:nvPr/>
            </p:nvSpPr>
            <p:spPr>
              <a:xfrm>
                <a:off x="1267882" y="4015606"/>
                <a:ext cx="108000" cy="108000"/>
              </a:xfrm>
              <a:prstGeom prst="rect">
                <a:avLst/>
              </a:prstGeom>
              <a:solidFill>
                <a:srgbClr val="3B868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73" name="Textbox_series_2">
                <a:extLst>
                  <a:ext uri="{FF2B5EF4-FFF2-40B4-BE49-F238E27FC236}">
                    <a16:creationId xmlns:a16="http://schemas.microsoft.com/office/drawing/2014/main" id="{8868A6D5-09C1-92A1-4181-CBDB65D891CC}"/>
                  </a:ext>
                </a:extLst>
              </p:cNvPr>
              <p:cNvSpPr txBox="1"/>
              <p:nvPr/>
            </p:nvSpPr>
            <p:spPr>
              <a:xfrm flipH="1">
                <a:off x="1408997" y="3864607"/>
                <a:ext cx="2750143" cy="433965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no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>
                    <a:solidFill>
                      <a:srgbClr val="505050">
                        <a:lumMod val="50000"/>
                      </a:srgbClr>
                    </a:solidFill>
                    <a:latin typeface="Verdana" panose="020B0604030504040204" pitchFamily="34" charset="0"/>
                    <a:ea typeface="Verdana" panose="020B060403050404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RYB + chemo as 2L therapy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 in EGFR + </a:t>
                </a:r>
                <a:r>
                  <a:rPr kumimoji="0" lang="en-IN" sz="10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mNSCLC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4AF9145-2E0B-542A-848C-9CDB723655C4}"/>
                </a:ext>
              </a:extLst>
            </p:cNvPr>
            <p:cNvGrpSpPr/>
            <p:nvPr/>
          </p:nvGrpSpPr>
          <p:grpSpPr>
            <a:xfrm>
              <a:off x="8645016" y="3751307"/>
              <a:ext cx="2783260" cy="1474736"/>
              <a:chOff x="1267882" y="2632358"/>
              <a:chExt cx="2783260" cy="1474736"/>
            </a:xfrm>
          </p:grpSpPr>
          <p:sp>
            <p:nvSpPr>
              <p:cNvPr id="68" name="Legend_series_2">
                <a:extLst>
                  <a:ext uri="{FF2B5EF4-FFF2-40B4-BE49-F238E27FC236}">
                    <a16:creationId xmlns:a16="http://schemas.microsoft.com/office/drawing/2014/main" id="{40B3DF66-F949-CA94-CDE3-F1484552C353}"/>
                  </a:ext>
                </a:extLst>
              </p:cNvPr>
              <p:cNvSpPr/>
              <p:nvPr/>
            </p:nvSpPr>
            <p:spPr>
              <a:xfrm>
                <a:off x="1267882" y="2763024"/>
                <a:ext cx="108000" cy="108000"/>
              </a:xfrm>
              <a:prstGeom prst="rect">
                <a:avLst/>
              </a:prstGeom>
              <a:solidFill>
                <a:srgbClr val="0B486B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69" name="Textbox_series_2">
                <a:extLst>
                  <a:ext uri="{FF2B5EF4-FFF2-40B4-BE49-F238E27FC236}">
                    <a16:creationId xmlns:a16="http://schemas.microsoft.com/office/drawing/2014/main" id="{AB8FD75D-7079-EE6C-2962-4F8F1C074AD7}"/>
                  </a:ext>
                </a:extLst>
              </p:cNvPr>
              <p:cNvSpPr txBox="1"/>
              <p:nvPr/>
            </p:nvSpPr>
            <p:spPr>
              <a:xfrm flipH="1">
                <a:off x="1408997" y="2632358"/>
                <a:ext cx="2642144" cy="369332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no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>
                    <a:solidFill>
                      <a:srgbClr val="505050">
                        <a:lumMod val="50000"/>
                      </a:srgbClr>
                    </a:solidFill>
                    <a:latin typeface="Verdana" panose="020B0604030504040204" pitchFamily="34" charset="0"/>
                    <a:ea typeface="Verdana" panose="020B060403050404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RYB+LAZ as 1L treatment 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in EGFR + </a:t>
                </a:r>
                <a:r>
                  <a:rPr kumimoji="0" lang="en-IN" sz="10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mNSCLC</a:t>
                </a: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endParaRPr>
              </a:p>
            </p:txBody>
          </p:sp>
          <p:sp>
            <p:nvSpPr>
              <p:cNvPr id="70" name="Legend_series_2">
                <a:extLst>
                  <a:ext uri="{FF2B5EF4-FFF2-40B4-BE49-F238E27FC236}">
                    <a16:creationId xmlns:a16="http://schemas.microsoft.com/office/drawing/2014/main" id="{486E072B-7D2C-E3A4-C285-F8B306DE0E4D}"/>
                  </a:ext>
                </a:extLst>
              </p:cNvPr>
              <p:cNvSpPr/>
              <p:nvPr/>
            </p:nvSpPr>
            <p:spPr>
              <a:xfrm>
                <a:off x="1267883" y="3742295"/>
                <a:ext cx="108000" cy="108000"/>
              </a:xfrm>
              <a:prstGeom prst="rect">
                <a:avLst/>
              </a:prstGeom>
              <a:solidFill>
                <a:srgbClr val="A8DBA8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71" name="Textbox_series_2">
                <a:extLst>
                  <a:ext uri="{FF2B5EF4-FFF2-40B4-BE49-F238E27FC236}">
                    <a16:creationId xmlns:a16="http://schemas.microsoft.com/office/drawing/2014/main" id="{E7096B79-365F-F028-572C-D476495D05FF}"/>
                  </a:ext>
                </a:extLst>
              </p:cNvPr>
              <p:cNvSpPr txBox="1"/>
              <p:nvPr/>
            </p:nvSpPr>
            <p:spPr>
              <a:xfrm flipH="1">
                <a:off x="1408998" y="3485496"/>
                <a:ext cx="2642144" cy="621598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no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>
                    <a:solidFill>
                      <a:srgbClr val="505050">
                        <a:lumMod val="50000"/>
                      </a:srgbClr>
                    </a:solidFill>
                    <a:latin typeface="Verdana" panose="020B0604030504040204" pitchFamily="34" charset="0"/>
                    <a:ea typeface="Verdana" panose="020B060403050404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EGFR mutated </a:t>
                </a: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exon-20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 </a:t>
                </a:r>
                <a:r>
                  <a:rPr kumimoji="0" lang="en-US" sz="10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mNSCLC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Verdana" panose="020B0604030504040204" pitchFamily="34" charset="0"/>
                    <a:cs typeface="Johnson Text" panose="020B0604020202020204" charset="0"/>
                    <a:sym typeface="Arial"/>
                  </a:rPr>
                  <a:t> Settings</a:t>
                </a:r>
                <a:endParaRPr kumimoji="0" lang="en-IN" sz="10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endParaRPr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E002A8F-D1EB-3D16-FD52-7885EA436A7A}"/>
              </a:ext>
            </a:extLst>
          </p:cNvPr>
          <p:cNvGrpSpPr/>
          <p:nvPr/>
        </p:nvGrpSpPr>
        <p:grpSpPr>
          <a:xfrm>
            <a:off x="3489664" y="5905568"/>
            <a:ext cx="3028861" cy="409999"/>
            <a:chOff x="3775054" y="6206098"/>
            <a:chExt cx="2997137" cy="409999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02202573-527F-FDEB-0680-AFAFC4E3A524}"/>
                </a:ext>
              </a:extLst>
            </p:cNvPr>
            <p:cNvGrpSpPr/>
            <p:nvPr/>
          </p:nvGrpSpPr>
          <p:grpSpPr>
            <a:xfrm>
              <a:off x="3775054" y="6206098"/>
              <a:ext cx="1985328" cy="409999"/>
              <a:chOff x="4956693" y="5511554"/>
              <a:chExt cx="1985328" cy="409999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33907AD7-D302-A001-1A26-29A7AF6BD579}"/>
                  </a:ext>
                </a:extLst>
              </p:cNvPr>
              <p:cNvGrpSpPr/>
              <p:nvPr/>
            </p:nvGrpSpPr>
            <p:grpSpPr>
              <a:xfrm>
                <a:off x="4956693" y="5511554"/>
                <a:ext cx="1019665" cy="409999"/>
                <a:chOff x="1267883" y="3192098"/>
                <a:chExt cx="1019665" cy="409999"/>
              </a:xfrm>
            </p:grpSpPr>
            <p:sp>
              <p:nvSpPr>
                <p:cNvPr id="93" name="Legend_series_2">
                  <a:extLst>
                    <a:ext uri="{FF2B5EF4-FFF2-40B4-BE49-F238E27FC236}">
                      <a16:creationId xmlns:a16="http://schemas.microsoft.com/office/drawing/2014/main" id="{86794994-1D65-549B-629E-D9C4B91F6B06}"/>
                    </a:ext>
                  </a:extLst>
                </p:cNvPr>
                <p:cNvSpPr/>
                <p:nvPr/>
              </p:nvSpPr>
              <p:spPr>
                <a:xfrm>
                  <a:off x="1267883" y="3343097"/>
                  <a:ext cx="108000" cy="108000"/>
                </a:xfrm>
                <a:prstGeom prst="rect">
                  <a:avLst/>
                </a:prstGeom>
                <a:solidFill>
                  <a:srgbClr val="FF6A5A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Textbox_series_2">
                  <a:extLst>
                    <a:ext uri="{FF2B5EF4-FFF2-40B4-BE49-F238E27FC236}">
                      <a16:creationId xmlns:a16="http://schemas.microsoft.com/office/drawing/2014/main" id="{12102005-A647-8428-F115-F8ADD898112B}"/>
                    </a:ext>
                  </a:extLst>
                </p:cNvPr>
                <p:cNvSpPr txBox="1"/>
                <p:nvPr/>
              </p:nvSpPr>
              <p:spPr>
                <a:xfrm flipH="1">
                  <a:off x="1315548" y="3192098"/>
                  <a:ext cx="972000" cy="409999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noAutofit/>
                </a:bodyPr>
                <a:lstStyle>
                  <a:defPPr>
                    <a:defRPr lang="en-US"/>
                  </a:defPPr>
                  <a:lvl1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000">
                      <a:solidFill>
                        <a:srgbClr val="505050">
                          <a:lumMod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Discussed 1</a:t>
                  </a:r>
                  <a:r>
                    <a:rPr kumimoji="0" lang="en-IN" sz="1000" b="0" i="0" u="none" strike="noStrike" kern="1200" cap="none" spc="0" normalizeH="0" baseline="3000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st</a:t>
                  </a:r>
                  <a:r>
                    <a:rPr kumimoji="0" lang="en-IN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 </a:t>
                  </a:r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0D5BE053-D0B0-74C6-E196-9ED3EE84466F}"/>
                  </a:ext>
                </a:extLst>
              </p:cNvPr>
              <p:cNvGrpSpPr/>
              <p:nvPr/>
            </p:nvGrpSpPr>
            <p:grpSpPr>
              <a:xfrm>
                <a:off x="5916022" y="5511554"/>
                <a:ext cx="1025999" cy="409999"/>
                <a:chOff x="890366" y="3197776"/>
                <a:chExt cx="1025999" cy="409999"/>
              </a:xfrm>
            </p:grpSpPr>
            <p:sp>
              <p:nvSpPr>
                <p:cNvPr id="91" name="Legend_series_2">
                  <a:extLst>
                    <a:ext uri="{FF2B5EF4-FFF2-40B4-BE49-F238E27FC236}">
                      <a16:creationId xmlns:a16="http://schemas.microsoft.com/office/drawing/2014/main" id="{1243FA88-FF34-B271-F27F-E4D0BC3590E6}"/>
                    </a:ext>
                  </a:extLst>
                </p:cNvPr>
                <p:cNvSpPr/>
                <p:nvPr/>
              </p:nvSpPr>
              <p:spPr>
                <a:xfrm>
                  <a:off x="890366" y="3348775"/>
                  <a:ext cx="108000" cy="108000"/>
                </a:xfrm>
                <a:prstGeom prst="rect">
                  <a:avLst/>
                </a:prstGeom>
                <a:solidFill>
                  <a:srgbClr val="FFCDC8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Textbox_series_2">
                  <a:extLst>
                    <a:ext uri="{FF2B5EF4-FFF2-40B4-BE49-F238E27FC236}">
                      <a16:creationId xmlns:a16="http://schemas.microsoft.com/office/drawing/2014/main" id="{6FED48BC-37C8-3F60-1E5A-FEA27DBB0A78}"/>
                    </a:ext>
                  </a:extLst>
                </p:cNvPr>
                <p:cNvSpPr txBox="1"/>
                <p:nvPr/>
              </p:nvSpPr>
              <p:spPr>
                <a:xfrm flipH="1">
                  <a:off x="944365" y="3197776"/>
                  <a:ext cx="972000" cy="409999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noAutofit/>
                </a:bodyPr>
                <a:lstStyle>
                  <a:defPPr>
                    <a:defRPr lang="en-US"/>
                  </a:defPPr>
                  <a:lvl1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000">
                      <a:solidFill>
                        <a:srgbClr val="505050">
                          <a:lumMod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Discussed 2</a:t>
                  </a:r>
                  <a:r>
                    <a:rPr kumimoji="0" lang="en-IN" sz="1000" b="0" i="0" u="none" strike="noStrike" kern="1200" cap="none" spc="0" normalizeH="0" baseline="30000" noProof="0" dirty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nd</a:t>
                  </a:r>
                  <a:r>
                    <a:rPr kumimoji="0" lang="en-I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 </a:t>
                  </a:r>
                </a:p>
              </p:txBody>
            </p:sp>
          </p:grp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17051B5-5427-7216-2A05-A1E066603873}"/>
                </a:ext>
              </a:extLst>
            </p:cNvPr>
            <p:cNvGrpSpPr/>
            <p:nvPr/>
          </p:nvGrpSpPr>
          <p:grpSpPr>
            <a:xfrm>
              <a:off x="5754768" y="6206098"/>
              <a:ext cx="1017423" cy="409999"/>
              <a:chOff x="1560491" y="3192098"/>
              <a:chExt cx="1017423" cy="409999"/>
            </a:xfrm>
          </p:grpSpPr>
          <p:sp>
            <p:nvSpPr>
              <p:cNvPr id="85" name="Legend_series_2">
                <a:extLst>
                  <a:ext uri="{FF2B5EF4-FFF2-40B4-BE49-F238E27FC236}">
                    <a16:creationId xmlns:a16="http://schemas.microsoft.com/office/drawing/2014/main" id="{9EFB0846-7EFA-E26A-E248-1D43BAE3E442}"/>
                  </a:ext>
                </a:extLst>
              </p:cNvPr>
              <p:cNvSpPr/>
              <p:nvPr/>
            </p:nvSpPr>
            <p:spPr>
              <a:xfrm>
                <a:off x="1560491" y="3343097"/>
                <a:ext cx="108000" cy="108000"/>
              </a:xfrm>
              <a:prstGeom prst="rect">
                <a:avLst/>
              </a:prstGeom>
              <a:solidFill>
                <a:srgbClr val="C4BDB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86" name="Textbox_series_2">
                <a:extLst>
                  <a:ext uri="{FF2B5EF4-FFF2-40B4-BE49-F238E27FC236}">
                    <a16:creationId xmlns:a16="http://schemas.microsoft.com/office/drawing/2014/main" id="{B8CCE82A-0A9E-00DE-7C0F-4434B85A5FAC}"/>
                  </a:ext>
                </a:extLst>
              </p:cNvPr>
              <p:cNvSpPr txBox="1"/>
              <p:nvPr/>
            </p:nvSpPr>
            <p:spPr>
              <a:xfrm flipH="1">
                <a:off x="1605914" y="3192098"/>
                <a:ext cx="972000" cy="409999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no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>
                    <a:solidFill>
                      <a:srgbClr val="505050">
                        <a:lumMod val="50000"/>
                      </a:srgbClr>
                    </a:solidFill>
                    <a:latin typeface="Verdana" panose="020B0604030504040204" pitchFamily="34" charset="0"/>
                    <a:ea typeface="Verdana" panose="020B060403050404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Discussed 3</a:t>
                </a:r>
                <a:r>
                  <a:rPr kumimoji="0" lang="en-IN" sz="10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rd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  </a:t>
                </a:r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A942BDE8-E099-F166-EF2B-D10B45DA735E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Almost all J&amp;J calls cover 1L EGFR, but reps lead with it in only half of interactions and spend just half the time on it – leading earlier and </a:t>
            </a:r>
            <a:r>
              <a:rPr lang="en-US" sz="1800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long 1L coverage </a:t>
            </a: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would drive higher impact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261AE-AE26-C9EF-7E98-778DF5A47D0A}"/>
              </a:ext>
            </a:extLst>
          </p:cNvPr>
          <p:cNvSpPr txBox="1"/>
          <p:nvPr/>
        </p:nvSpPr>
        <p:spPr>
          <a:xfrm>
            <a:off x="6062389" y="1573290"/>
            <a:ext cx="1155463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Overall Recall vs Q3'25</a:t>
            </a:r>
            <a:endParaRPr kumimoji="0" lang="en-IN" sz="11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237)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0B0C003-7404-D824-DE2C-DBDB974B7DF8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357959" y="2180199"/>
          <a:ext cx="584200" cy="3535179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673960613"/>
                    </a:ext>
                  </a:extLst>
                </a:gridCol>
              </a:tblGrid>
              <a:tr h="1178393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Johnson Text" panose="020B0604020202020204"/>
                        </a:rPr>
                        <a:t>+2%</a:t>
                      </a:r>
                      <a:endParaRPr lang="en-IN" sz="1800" b="0" i="0" u="none" strike="noStrik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963264"/>
                  </a:ext>
                </a:extLst>
              </a:tr>
              <a:tr h="1178393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Johnson Text" panose="020B0604020202020204"/>
                        </a:rPr>
                        <a:t>-1%</a:t>
                      </a:r>
                      <a:endParaRPr lang="en-IN" sz="1800" b="0" i="0" u="none" strike="noStrik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147746"/>
                  </a:ext>
                </a:extLst>
              </a:tr>
              <a:tr h="1178393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Johnson Text" panose="020B0604020202020204"/>
                          <a:ea typeface="+mn-ea"/>
                          <a:cs typeface="+mn-cs"/>
                        </a:rPr>
                        <a:t>+2%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72276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88DAC793-A3D7-A689-1EBF-E4F3ED75B77C}"/>
              </a:ext>
            </a:extLst>
          </p:cNvPr>
          <p:cNvSpPr txBox="1"/>
          <p:nvPr/>
        </p:nvSpPr>
        <p:spPr>
          <a:xfrm>
            <a:off x="8523642" y="5645020"/>
            <a:ext cx="5081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Q4'25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330)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E8590B-A82C-3FE2-F773-2C139834238E}"/>
              </a:ext>
            </a:extLst>
          </p:cNvPr>
          <p:cNvSpPr txBox="1"/>
          <p:nvPr/>
        </p:nvSpPr>
        <p:spPr>
          <a:xfrm>
            <a:off x="7739870" y="5645020"/>
            <a:ext cx="5081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Q3'25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237)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B0A7AF-CDB4-93E8-CBBC-4CE38984FF1A}"/>
              </a:ext>
            </a:extLst>
          </p:cNvPr>
          <p:cNvSpPr txBox="1"/>
          <p:nvPr/>
        </p:nvSpPr>
        <p:spPr>
          <a:xfrm>
            <a:off x="7232465" y="1742567"/>
            <a:ext cx="229002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Average Share of Time Spent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FE85E2-3830-C404-BAAD-B057847AB729}"/>
              </a:ext>
            </a:extLst>
          </p:cNvPr>
          <p:cNvSpPr txBox="1"/>
          <p:nvPr/>
        </p:nvSpPr>
        <p:spPr>
          <a:xfrm>
            <a:off x="7722539" y="5965137"/>
            <a:ext cx="1309876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% of Time Spent </a:t>
            </a:r>
          </a:p>
        </p:txBody>
      </p:sp>
      <p:graphicFrame>
        <p:nvGraphicFramePr>
          <p:cNvPr id="35" name="SoV_QoQ">
            <a:extLst>
              <a:ext uri="{FF2B5EF4-FFF2-40B4-BE49-F238E27FC236}">
                <a16:creationId xmlns:a16="http://schemas.microsoft.com/office/drawing/2014/main" id="{B419F271-5CD0-BD6C-74B2-7A7824CD36A2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7604368" y="2180199"/>
          <a:ext cx="1546219" cy="3426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E90CCE13-4C6D-81B4-B32C-B2CDE19E9345}"/>
              </a:ext>
            </a:extLst>
          </p:cNvPr>
          <p:cNvSpPr/>
          <p:nvPr/>
        </p:nvSpPr>
        <p:spPr>
          <a:xfrm>
            <a:off x="7594843" y="2196101"/>
            <a:ext cx="752385" cy="3428849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3" name="Highlight#25">
            <a:extLst>
              <a:ext uri="{FF2B5EF4-FFF2-40B4-BE49-F238E27FC236}">
                <a16:creationId xmlns:a16="http://schemas.microsoft.com/office/drawing/2014/main" id="{944EC1CA-3241-1DCF-7813-6365ADE35375}"/>
              </a:ext>
            </a:extLst>
          </p:cNvPr>
          <p:cNvSpPr txBox="1"/>
          <p:nvPr/>
        </p:nvSpPr>
        <p:spPr>
          <a:xfrm>
            <a:off x="8497012" y="2196099"/>
            <a:ext cx="534782" cy="1697565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1" name="Slide Number Placeholder 14">
            <a:extLst>
              <a:ext uri="{FF2B5EF4-FFF2-40B4-BE49-F238E27FC236}">
                <a16:creationId xmlns:a16="http://schemas.microsoft.com/office/drawing/2014/main" id="{216BE202-7AC4-6E5B-5DDD-97C39790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23E1A71-B635-7CE4-DECF-BF66F39B864A}"/>
              </a:ext>
            </a:extLst>
          </p:cNvPr>
          <p:cNvGraphicFramePr>
            <a:graphicFrameLocks/>
          </p:cNvGraphicFramePr>
          <p:nvPr>
            <p:custDataLst>
              <p:tags r:id="rId5"/>
            </p:custDataLst>
          </p:nvPr>
        </p:nvGraphicFramePr>
        <p:xfrm>
          <a:off x="3597230" y="2172887"/>
          <a:ext cx="2760728" cy="358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" name="Google Shape;504;p12">
            <a:extLst>
              <a:ext uri="{FF2B5EF4-FFF2-40B4-BE49-F238E27FC236}">
                <a16:creationId xmlns:a16="http://schemas.microsoft.com/office/drawing/2014/main" id="{69BE0C0F-CA05-B5E9-1454-96E5AED66250}"/>
              </a:ext>
            </a:extLst>
          </p:cNvPr>
          <p:cNvSpPr txBox="1"/>
          <p:nvPr/>
        </p:nvSpPr>
        <p:spPr>
          <a:xfrm>
            <a:off x="4027463" y="2209901"/>
            <a:ext cx="648014" cy="23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33" tIns="45604" rIns="91233" bIns="45604" anchor="ctr" anchorCtr="0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9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/>
                <a:cs typeface="Verdana"/>
                <a:sym typeface="Verdana"/>
              </a:rPr>
              <a:t>-11%</a:t>
            </a:r>
          </a:p>
        </p:txBody>
      </p:sp>
      <p:sp>
        <p:nvSpPr>
          <p:cNvPr id="11" name="Google Shape;504;p12">
            <a:extLst>
              <a:ext uri="{FF2B5EF4-FFF2-40B4-BE49-F238E27FC236}">
                <a16:creationId xmlns:a16="http://schemas.microsoft.com/office/drawing/2014/main" id="{483B631A-9FDD-9FFA-DED3-EEEB28EE1EBC}"/>
              </a:ext>
            </a:extLst>
          </p:cNvPr>
          <p:cNvSpPr txBox="1"/>
          <p:nvPr/>
        </p:nvSpPr>
        <p:spPr>
          <a:xfrm>
            <a:off x="5128224" y="2202073"/>
            <a:ext cx="648014" cy="23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33" tIns="45604" rIns="91233" bIns="45604" anchor="ctr" anchorCtr="0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900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/>
                <a:cs typeface="Verdana"/>
                <a:sym typeface="Verdana"/>
              </a:rPr>
              <a:t>+12%</a:t>
            </a:r>
          </a:p>
        </p:txBody>
      </p:sp>
      <p:sp>
        <p:nvSpPr>
          <p:cNvPr id="12" name="Google Shape;504;p12">
            <a:extLst>
              <a:ext uri="{FF2B5EF4-FFF2-40B4-BE49-F238E27FC236}">
                <a16:creationId xmlns:a16="http://schemas.microsoft.com/office/drawing/2014/main" id="{4EC7B687-259E-2D96-780E-1EC5F3EE19D2}"/>
              </a:ext>
            </a:extLst>
          </p:cNvPr>
          <p:cNvSpPr txBox="1"/>
          <p:nvPr/>
        </p:nvSpPr>
        <p:spPr>
          <a:xfrm>
            <a:off x="3631824" y="3411649"/>
            <a:ext cx="648014" cy="23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33" tIns="45604" rIns="91233" bIns="45604" anchor="ctr" anchorCtr="0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900" b="1" i="1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/>
                <a:cs typeface="Verdana"/>
                <a:sym typeface="Verdana"/>
              </a:rPr>
              <a:t>+9%</a:t>
            </a:r>
          </a:p>
        </p:txBody>
      </p:sp>
      <p:sp>
        <p:nvSpPr>
          <p:cNvPr id="15" name="Google Shape;504;p12">
            <a:extLst>
              <a:ext uri="{FF2B5EF4-FFF2-40B4-BE49-F238E27FC236}">
                <a16:creationId xmlns:a16="http://schemas.microsoft.com/office/drawing/2014/main" id="{B3D1AC86-D634-4EF4-D86C-F23C9119EE44}"/>
              </a:ext>
            </a:extLst>
          </p:cNvPr>
          <p:cNvSpPr txBox="1"/>
          <p:nvPr/>
        </p:nvSpPr>
        <p:spPr>
          <a:xfrm>
            <a:off x="4457681" y="3397157"/>
            <a:ext cx="648014" cy="23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33" tIns="45604" rIns="91233" bIns="45604" anchor="ctr" anchorCtr="0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9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/>
                <a:cs typeface="Verdana"/>
                <a:sym typeface="Verdana"/>
              </a:rPr>
              <a:t>-9%</a:t>
            </a:r>
          </a:p>
        </p:txBody>
      </p:sp>
      <p:sp>
        <p:nvSpPr>
          <p:cNvPr id="18" name="Google Shape;504;p12">
            <a:extLst>
              <a:ext uri="{FF2B5EF4-FFF2-40B4-BE49-F238E27FC236}">
                <a16:creationId xmlns:a16="http://schemas.microsoft.com/office/drawing/2014/main" id="{AA1F8415-388F-6C38-5E7C-5B572CA9727F}"/>
              </a:ext>
            </a:extLst>
          </p:cNvPr>
          <p:cNvSpPr txBox="1"/>
          <p:nvPr/>
        </p:nvSpPr>
        <p:spPr>
          <a:xfrm>
            <a:off x="4309999" y="4610598"/>
            <a:ext cx="648014" cy="23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33" tIns="45604" rIns="91233" bIns="45604" anchor="ctr" anchorCtr="0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900" b="1" i="1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/>
                <a:cs typeface="Verdana"/>
                <a:sym typeface="Verdana"/>
              </a:rPr>
              <a:t>+7%</a:t>
            </a:r>
          </a:p>
        </p:txBody>
      </p:sp>
      <p:sp>
        <p:nvSpPr>
          <p:cNvPr id="2" name="Textbox_series_2">
            <a:extLst>
              <a:ext uri="{FF2B5EF4-FFF2-40B4-BE49-F238E27FC236}">
                <a16:creationId xmlns:a16="http://schemas.microsoft.com/office/drawing/2014/main" id="{E33BB9F2-F612-9E6E-191A-EBFE1CF1DB83}"/>
              </a:ext>
            </a:extLst>
          </p:cNvPr>
          <p:cNvSpPr txBox="1"/>
          <p:nvPr/>
        </p:nvSpPr>
        <p:spPr>
          <a:xfrm flipH="1">
            <a:off x="177592" y="5778824"/>
            <a:ext cx="2998254" cy="561856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dash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lvl="0" defTabSz="912116"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Text"/>
                <a:ea typeface="Verdana"/>
                <a:cs typeface="Johnson Text"/>
              </a:rPr>
              <a:t>J&amp;J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Johnson Text"/>
              </a:rPr>
              <a:t>interactions where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Johnson Text"/>
              </a:rPr>
              <a:t>1L </a:t>
            </a:r>
            <a:r>
              <a:rPr lang="en-US" sz="900" b="1" dirty="0">
                <a:solidFill>
                  <a:srgbClr val="000000"/>
                </a:solidFill>
                <a:latin typeface="Johnson Text"/>
                <a:ea typeface="Verdana"/>
                <a:cs typeface="Johnson Text"/>
              </a:rPr>
              <a:t>EGFR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Johnson Text"/>
              </a:rPr>
              <a:t>setting is discussed first and discussed most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Johnson Text"/>
              </a:rPr>
              <a:t>are more successful in driving high impact interactions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/>
              <a:cs typeface="Johnson Tex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FB500A-D1AE-E7F1-7A42-503F049C7CCD}"/>
              </a:ext>
            </a:extLst>
          </p:cNvPr>
          <p:cNvGrpSpPr/>
          <p:nvPr/>
        </p:nvGrpSpPr>
        <p:grpSpPr>
          <a:xfrm>
            <a:off x="9125640" y="2129986"/>
            <a:ext cx="3071078" cy="1001634"/>
            <a:chOff x="9464296" y="3445405"/>
            <a:chExt cx="3071078" cy="10016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3D121B-4680-7D9E-1660-704F85796038}"/>
                </a:ext>
              </a:extLst>
            </p:cNvPr>
            <p:cNvSpPr txBox="1"/>
            <p:nvPr/>
          </p:nvSpPr>
          <p:spPr>
            <a:xfrm>
              <a:off x="9464296" y="3445405"/>
              <a:ext cx="285196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+mn-cs"/>
                </a:rPr>
                <a:t>High Impact Community Interaction  -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+mn-cs"/>
                </a:rPr>
                <a:t>1L EGFR </a:t>
              </a:r>
              <a:r>
                <a:rPr kumimoji="0" lang="en-US" sz="1000" b="1" i="0" u="none" strike="noStrike" kern="1200" cap="none" spc="0" normalizeH="0" baseline="0" noProof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+mn-cs"/>
                </a:rPr>
                <a:t>mNSCLC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+mn-cs"/>
                </a:rPr>
                <a:t> discussed 1</a:t>
              </a:r>
              <a:r>
                <a:rPr kumimoji="0" lang="en-US" sz="1000" b="1" i="0" u="none" strike="noStrike" kern="1200" cap="none" spc="0" normalizeH="0" baseline="3000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+mn-cs"/>
                </a:rPr>
                <a:t>st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+mn-cs"/>
                </a:rPr>
                <a:t> and most)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A8BCE3-DBC4-267A-80BA-F8581597A08A}"/>
                </a:ext>
              </a:extLst>
            </p:cNvPr>
            <p:cNvSpPr txBox="1"/>
            <p:nvPr/>
          </p:nvSpPr>
          <p:spPr>
            <a:xfrm>
              <a:off x="9464296" y="3800708"/>
              <a:ext cx="30710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900" i="1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“The interaction with the sales representative was fine. There was </a:t>
              </a:r>
              <a:r>
                <a:rPr lang="en-US" sz="900" b="1" i="1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clear explanation of the results of MARIPOSA </a:t>
              </a:r>
              <a:r>
                <a:rPr lang="en-US" sz="900" i="1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clinical trial. They discussed </a:t>
              </a:r>
              <a:r>
                <a:rPr lang="en-US" sz="900" b="1" i="1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superior efficacy versus </a:t>
              </a:r>
              <a:r>
                <a:rPr lang="en-US" sz="900" b="1" i="1" err="1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osimertinib</a:t>
              </a:r>
              <a:r>
                <a:rPr lang="en-US" sz="900" b="1" i="1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 monotherapy</a:t>
              </a:r>
              <a:r>
                <a:rPr lang="en-US" sz="900" i="1">
                  <a:solidFill>
                    <a:srgbClr val="000000"/>
                  </a:solidFill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.”</a:t>
              </a:r>
              <a:endParaRPr kumimoji="0" lang="en-US" sz="9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</p:grpSp>
      <p:sp>
        <p:nvSpPr>
          <p:cNvPr id="19" name="Highlight#25">
            <a:extLst>
              <a:ext uri="{FF2B5EF4-FFF2-40B4-BE49-F238E27FC236}">
                <a16:creationId xmlns:a16="http://schemas.microsoft.com/office/drawing/2014/main" id="{3215220B-7B5A-4D71-300C-4A6CD2C227BF}"/>
              </a:ext>
            </a:extLst>
          </p:cNvPr>
          <p:cNvSpPr txBox="1"/>
          <p:nvPr/>
        </p:nvSpPr>
        <p:spPr>
          <a:xfrm>
            <a:off x="223915" y="2171700"/>
            <a:ext cx="6700760" cy="1190625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505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3845-2E03-8C36-1C77-5C1AE060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504;p12">
            <a:extLst>
              <a:ext uri="{FF2B5EF4-FFF2-40B4-BE49-F238E27FC236}">
                <a16:creationId xmlns:a16="http://schemas.microsoft.com/office/drawing/2014/main" id="{8D5159BA-13A6-21B0-047B-C5D43CCCDC7E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[PRODUCT] MESSAGE RECALL &amp; EFFECTIVENESS for ALL HCPs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Q4'25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A87105-8619-4CE4-AB81-71FBBE40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A02F7B34-BFE0-6A56-4C03-0327363EC458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2126327"/>
              </p:ext>
            </p:extLst>
          </p:nvPr>
        </p:nvGraphicFramePr>
        <p:xfrm>
          <a:off x="3174457" y="1666652"/>
          <a:ext cx="6070814" cy="446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407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  <a:gridCol w="3035407">
                  <a:extLst>
                    <a:ext uri="{9D8B030D-6E8A-4147-A177-3AD203B41FA5}">
                      <a16:colId xmlns:a16="http://schemas.microsoft.com/office/drawing/2014/main" val="3545979273"/>
                    </a:ext>
                  </a:extLst>
                </a:gridCol>
              </a:tblGrid>
              <a:tr h="456398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lt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Recall</a:t>
                      </a:r>
                      <a:r>
                        <a:rPr lang="en-IN" sz="1400" b="1" kern="1200" noProof="0">
                          <a:solidFill>
                            <a:schemeClr val="lt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 </a:t>
                      </a:r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(IA = 35%)</a:t>
                      </a:r>
                      <a:b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</a:br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(s = 100)</a:t>
                      </a:r>
                      <a:endParaRPr lang="en-IN" sz="1000" b="1" kern="1200">
                        <a:solidFill>
                          <a:schemeClr val="lt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lt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Effectiveness</a:t>
                      </a:r>
                      <a:r>
                        <a:rPr lang="en-IN" sz="1100" b="1" kern="1200" baseline="30000">
                          <a:solidFill>
                            <a:schemeClr val="lt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^ </a:t>
                      </a:r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(IA = 74%)</a:t>
                      </a:r>
                    </a:p>
                    <a:p>
                      <a:pPr algn="ctr"/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(d = 51) </a:t>
                      </a:r>
                      <a:endParaRPr lang="en-IN" sz="1000" b="1" kern="1200">
                        <a:solidFill>
                          <a:schemeClr val="lt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849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69990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07746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228098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545063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747706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484644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682379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558619"/>
                  </a:ext>
                </a:extLst>
              </a:tr>
              <a:tr h="400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9100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003196-A5DC-8ED0-CA53-B95D6014E73A}"/>
              </a:ext>
            </a:extLst>
          </p:cNvPr>
          <p:cNvSpPr txBox="1"/>
          <p:nvPr/>
        </p:nvSpPr>
        <p:spPr>
          <a:xfrm>
            <a:off x="3729784" y="6127888"/>
            <a:ext cx="1358108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B2C77-740F-8701-4EC0-CCE9869A387B}"/>
              </a:ext>
            </a:extLst>
          </p:cNvPr>
          <p:cNvSpPr txBox="1"/>
          <p:nvPr/>
        </p:nvSpPr>
        <p:spPr>
          <a:xfrm>
            <a:off x="6358081" y="6127823"/>
            <a:ext cx="2160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8" name="ME_RYB">
            <a:extLst>
              <a:ext uri="{FF2B5EF4-FFF2-40B4-BE49-F238E27FC236}">
                <a16:creationId xmlns:a16="http://schemas.microsoft.com/office/drawing/2014/main" id="{4A922068-D228-E58E-0BE0-9BC8CBD635F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5858781"/>
              </p:ext>
            </p:extLst>
          </p:nvPr>
        </p:nvGraphicFramePr>
        <p:xfrm>
          <a:off x="3161013" y="2148438"/>
          <a:ext cx="2719074" cy="40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EEADAE63-E503-F7AB-4777-77A812882340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aphicFrame>
        <p:nvGraphicFramePr>
          <p:cNvPr id="14" name="Shape_99303322">
            <a:extLst>
              <a:ext uri="{FF2B5EF4-FFF2-40B4-BE49-F238E27FC236}">
                <a16:creationId xmlns:a16="http://schemas.microsoft.com/office/drawing/2014/main" id="{E971E7C5-67A4-B67E-586E-AF61964F6437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06723669"/>
              </p:ext>
            </p:extLst>
          </p:nvPr>
        </p:nvGraphicFramePr>
        <p:xfrm>
          <a:off x="6165238" y="2094718"/>
          <a:ext cx="2545687" cy="4038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FB21A4-120D-DCAA-66ED-96C736E850AA}"/>
              </a:ext>
            </a:extLst>
          </p:cNvPr>
          <p:cNvCxnSpPr>
            <a:cxnSpLocks/>
          </p:cNvCxnSpPr>
          <p:nvPr/>
        </p:nvCxnSpPr>
        <p:spPr>
          <a:xfrm flipV="1">
            <a:off x="4166619" y="2227589"/>
            <a:ext cx="0" cy="3841677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E6D561B5-EBC5-FC78-39DE-1E704FACC4E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9" name="Google Shape;229;p3">
            <a:extLst>
              <a:ext uri="{FF2B5EF4-FFF2-40B4-BE49-F238E27FC236}">
                <a16:creationId xmlns:a16="http://schemas.microsoft.com/office/drawing/2014/main" id="{23E0D8C4-57DC-A7A4-FBD2-B81AFC0BF2C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graphicFrame>
        <p:nvGraphicFramePr>
          <p:cNvPr id="12" name="TAG ME Delta">
            <a:extLst>
              <a:ext uri="{FF2B5EF4-FFF2-40B4-BE49-F238E27FC236}">
                <a16:creationId xmlns:a16="http://schemas.microsoft.com/office/drawing/2014/main" id="{E540C49C-83EC-2255-0239-75A2F01DBB19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99094198"/>
              </p:ext>
            </p:extLst>
          </p:nvPr>
        </p:nvGraphicFramePr>
        <p:xfrm>
          <a:off x="5502120" y="2103622"/>
          <a:ext cx="599508" cy="4024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99508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1755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93491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193260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251931"/>
                  </a:ext>
                </a:extLst>
              </a:tr>
            </a:tbl>
          </a:graphicData>
        </a:graphic>
      </p:graphicFrame>
      <p:graphicFrame>
        <p:nvGraphicFramePr>
          <p:cNvPr id="17" name="Shape_41864868">
            <a:extLst>
              <a:ext uri="{FF2B5EF4-FFF2-40B4-BE49-F238E27FC236}">
                <a16:creationId xmlns:a16="http://schemas.microsoft.com/office/drawing/2014/main" id="{0C800677-0B52-554F-48BE-6A92F25DC656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818723059"/>
              </p:ext>
            </p:extLst>
          </p:nvPr>
        </p:nvGraphicFramePr>
        <p:xfrm>
          <a:off x="8710930" y="2099573"/>
          <a:ext cx="483290" cy="4024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29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1755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931650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600010"/>
                  </a:ext>
                </a:extLst>
              </a:tr>
              <a:tr h="402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  <a:endParaRPr lang="en-IN" sz="900" b="0" i="0" u="none" strike="noStrike" dirty="0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401090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B0A47934-B67B-35C0-EC93-DE28E123FB8A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kumimoji="0" lang="en-US" sz="1800" b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New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NCCN–NSCLC 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tops recall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and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is perceived to be very effective, 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but </a:t>
            </a:r>
            <a:r>
              <a:rPr kumimoji="0" lang="en-US" sz="1800" b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recall of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other</a:t>
            </a:r>
            <a:r>
              <a:rPr kumimoji="0" lang="en-US" sz="1800" b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effective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messages –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CNS</a:t>
            </a:r>
            <a:r>
              <a:rPr kumimoji="0" lang="en-US" sz="1800" b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,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NCCN-CNS, OS headline </a:t>
            </a:r>
            <a:r>
              <a:rPr kumimoji="0" lang="en-US" sz="1800" b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and </a:t>
            </a:r>
            <a:r>
              <a:rPr kumimoji="0" lang="en-US" sz="1800" b="1" i="1" u="non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mOS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</a:t>
            </a:r>
            <a:r>
              <a:rPr kumimoji="0" lang="en-US" sz="1800" b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messages is moderate,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highlighting the need for stronger prioritization</a:t>
            </a:r>
            <a:endParaRPr kumimoji="0" lang="en-US" sz="1800" b="1" u="non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175B70-8DBF-3406-52C1-33EAD98C09B1}"/>
              </a:ext>
            </a:extLst>
          </p:cNvPr>
          <p:cNvCxnSpPr>
            <a:cxnSpLocks/>
          </p:cNvCxnSpPr>
          <p:nvPr/>
        </p:nvCxnSpPr>
        <p:spPr>
          <a:xfrm flipV="1">
            <a:off x="8057882" y="2219918"/>
            <a:ext cx="0" cy="3849348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F18FB4-8B1F-9CF5-04EE-B31A9B1C665F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^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Message effectiveness is the geometric mean of % of high ratings (6, 7 out of 7) for motivation, differentiation, and believability attributes of messages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| Question text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Full message text in speaker notes |     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Denotes statistically significant difference with a 95% confidence interval between the latest quarters | </a:t>
            </a: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+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/</a:t>
            </a: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-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denotes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increase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/ 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of greater than 5% from the previous quarter  | </a:t>
            </a:r>
            <a:r>
              <a:rPr kumimoji="1" lang="en-US" sz="900" i="1" kern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Messages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added in </a:t>
            </a:r>
            <a:r>
              <a:rPr kumimoji="1" lang="en-US" sz="900" i="1" kern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Nov’25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 (s = 71, d = 34 for Q4’25)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FDFFC3"/>
                </a:highlight>
                <a:latin typeface="Johnson Text" panose="020B0604020202020204" charset="0"/>
                <a:cs typeface="Johnson Text" panose="020B0604020202020204" charset="0"/>
              </a:rPr>
              <a:t>Messages </a:t>
            </a:r>
            <a:r>
              <a:rPr kumimoji="1" lang="en-US" sz="900" i="1" kern="0">
                <a:solidFill>
                  <a:srgbClr val="FFFFFF">
                    <a:lumMod val="50000"/>
                  </a:srgbClr>
                </a:solidFill>
                <a:highlight>
                  <a:srgbClr val="FDFFC3"/>
                </a:highlight>
                <a:latin typeface="Johnson Text" panose="020B0604020202020204" charset="0"/>
                <a:cs typeface="Johnson Text" panose="020B0604020202020204" charset="0"/>
              </a:rPr>
              <a:t>edited during end of Oct’25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highlight>
                <a:srgbClr val="FDFFC3"/>
              </a:highlight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E65419-3217-F346-3E3E-DB9DE2EE2794}"/>
              </a:ext>
            </a:extLst>
          </p:cNvPr>
          <p:cNvSpPr/>
          <p:nvPr/>
        </p:nvSpPr>
        <p:spPr>
          <a:xfrm>
            <a:off x="4766298" y="6531718"/>
            <a:ext cx="144001" cy="143999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" name="Textbox_series_2">
            <a:extLst>
              <a:ext uri="{FF2B5EF4-FFF2-40B4-BE49-F238E27FC236}">
                <a16:creationId xmlns:a16="http://schemas.microsoft.com/office/drawing/2014/main" id="{FC5261AF-7395-8A70-C950-DF67D2F03EF2}"/>
              </a:ext>
            </a:extLst>
          </p:cNvPr>
          <p:cNvSpPr txBox="1"/>
          <p:nvPr/>
        </p:nvSpPr>
        <p:spPr>
          <a:xfrm flipH="1">
            <a:off x="9441923" y="1899106"/>
            <a:ext cx="2448000" cy="1112844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Leveraging </a:t>
            </a:r>
            <a:r>
              <a:rPr kumimoji="0" lang="en-US" sz="900" b="1" i="0" u="non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visual aids </a:t>
            </a:r>
            <a:r>
              <a:rPr kumimoji="0" lang="en-US" sz="900" b="0" i="0" u="non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boost </a:t>
            </a:r>
            <a:r>
              <a:rPr kumimoji="0" lang="en-US" sz="900" b="1" i="0" u="none" kern="1200" cap="none" spc="0" normalizeH="0" baseline="0" noProof="0" dirty="0">
                <a:ln>
                  <a:noFill/>
                </a:ln>
                <a:solidFill>
                  <a:srgbClr val="F95924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RYB+LAZ </a:t>
            </a:r>
            <a:r>
              <a:rPr kumimoji="0" lang="en-US" sz="900" b="0" i="0" u="non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message recall (53% vs 24% when not used) and lead to </a:t>
            </a:r>
            <a:r>
              <a:rPr kumimoji="0" lang="en-US" sz="900" b="1" i="0" u="non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better narrative control</a:t>
            </a:r>
          </a:p>
          <a:p>
            <a:pPr marL="171450" indent="-171450" defTabSz="912116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latin typeface="Johnson Text"/>
              </a:rPr>
              <a:t>Visual aid utilization </a:t>
            </a:r>
            <a:r>
              <a:rPr lang="en-US" sz="900" b="1" dirty="0">
                <a:solidFill>
                  <a:srgbClr val="000000"/>
                </a:solidFill>
                <a:latin typeface="Johnson Text"/>
              </a:rPr>
              <a:t>has decreased marginally </a:t>
            </a:r>
            <a:r>
              <a:rPr lang="en-US" sz="900" dirty="0">
                <a:solidFill>
                  <a:srgbClr val="000000"/>
                </a:solidFill>
                <a:latin typeface="Johnson Text"/>
              </a:rPr>
              <a:t>during </a:t>
            </a:r>
            <a:r>
              <a:rPr lang="en-US" sz="900" b="1" dirty="0">
                <a:solidFill>
                  <a:srgbClr val="F75824"/>
                </a:solidFill>
                <a:latin typeface="Johnson Text"/>
              </a:rPr>
              <a:t>J&amp;J </a:t>
            </a:r>
            <a:r>
              <a:rPr lang="en-US" sz="900" dirty="0">
                <a:solidFill>
                  <a:srgbClr val="000000"/>
                </a:solidFill>
                <a:latin typeface="Johnson Text"/>
              </a:rPr>
              <a:t>interactions in Q4’25 (44% vs 50% in Q3’25)</a:t>
            </a:r>
            <a:endParaRPr kumimoji="0" lang="en-US" sz="900" b="1" i="0" u="non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  <p:graphicFrame>
        <p:nvGraphicFramePr>
          <p:cNvPr id="15" name="TAG Messgae TAG Table">
            <a:extLst>
              <a:ext uri="{FF2B5EF4-FFF2-40B4-BE49-F238E27FC236}">
                <a16:creationId xmlns:a16="http://schemas.microsoft.com/office/drawing/2014/main" id="{0FBF984A-FF31-39CA-EE98-1320B4C76CF5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52381815"/>
              </p:ext>
            </p:extLst>
          </p:nvPr>
        </p:nvGraphicFramePr>
        <p:xfrm>
          <a:off x="1159974" y="1666923"/>
          <a:ext cx="2011680" cy="44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461537316"/>
                    </a:ext>
                  </a:extLst>
                </a:gridCol>
              </a:tblGrid>
              <a:tr h="458309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  <a:ea typeface="Verdana" panose="020B0604030504040204" pitchFamily="34" charset="0"/>
                        </a:rPr>
                        <a:t>Tag</a:t>
                      </a:r>
                      <a:endParaRPr lang="en-IN" sz="1100" baseline="30000"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- NSCLC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410849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mPFS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69990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Indication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07746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228098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mOS Not Reached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545063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MOA – Inhibition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47706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OS Headline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84644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CNS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24197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- CNS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744505"/>
                  </a:ext>
                </a:extLst>
              </a:tr>
              <a:tr h="400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– ARs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758987"/>
                  </a:ext>
                </a:extLst>
              </a:tr>
            </a:tbl>
          </a:graphicData>
        </a:graphic>
      </p:graphicFrame>
      <p:sp>
        <p:nvSpPr>
          <p:cNvPr id="23" name="Textbox_series_2">
            <a:extLst>
              <a:ext uri="{FF2B5EF4-FFF2-40B4-BE49-F238E27FC236}">
                <a16:creationId xmlns:a16="http://schemas.microsoft.com/office/drawing/2014/main" id="{EF1C506A-DE1B-D9A5-3F4F-9B2D0867AC28}"/>
              </a:ext>
            </a:extLst>
          </p:cNvPr>
          <p:cNvSpPr txBox="1"/>
          <p:nvPr/>
        </p:nvSpPr>
        <p:spPr>
          <a:xfrm flipH="1">
            <a:off x="9451120" y="5408478"/>
            <a:ext cx="2448000" cy="656514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900" dirty="0"/>
              <a:t>Recall of </a:t>
            </a:r>
            <a:r>
              <a:rPr lang="en-US" sz="900" b="1" dirty="0"/>
              <a:t>OS headline</a:t>
            </a:r>
            <a:r>
              <a:rPr lang="en-US" sz="900" dirty="0"/>
              <a:t>, </a:t>
            </a:r>
            <a:r>
              <a:rPr lang="en-US" sz="900" b="1" dirty="0" err="1"/>
              <a:t>mOS</a:t>
            </a:r>
            <a:r>
              <a:rPr lang="en-US" sz="900" b="1" dirty="0"/>
              <a:t> not reached</a:t>
            </a:r>
            <a:r>
              <a:rPr lang="en-US" sz="900" dirty="0"/>
              <a:t>, </a:t>
            </a:r>
            <a:r>
              <a:rPr lang="en-US" sz="900" b="1" dirty="0"/>
              <a:t>CNS </a:t>
            </a:r>
            <a:r>
              <a:rPr lang="en-US" sz="900" dirty="0"/>
              <a:t>and </a:t>
            </a:r>
            <a:r>
              <a:rPr lang="en-US" sz="900" b="1" dirty="0"/>
              <a:t>NCCN CNS </a:t>
            </a:r>
            <a:r>
              <a:rPr lang="en-US" sz="900" dirty="0"/>
              <a:t>messages is associated strongly with </a:t>
            </a:r>
            <a:r>
              <a:rPr lang="en-US" sz="900" b="1" dirty="0">
                <a:solidFill>
                  <a:srgbClr val="F75824"/>
                </a:solidFill>
              </a:rPr>
              <a:t>J&amp;J</a:t>
            </a:r>
            <a:r>
              <a:rPr lang="en-US" sz="900" dirty="0"/>
              <a:t> high impact interactions </a:t>
            </a:r>
            <a:endParaRPr lang="en-US" sz="900" dirty="0">
              <a:cs typeface="Arial"/>
            </a:endParaRPr>
          </a:p>
        </p:txBody>
      </p:sp>
      <p:sp>
        <p:nvSpPr>
          <p:cNvPr id="5" name="Highlight#25">
            <a:extLst>
              <a:ext uri="{FF2B5EF4-FFF2-40B4-BE49-F238E27FC236}">
                <a16:creationId xmlns:a16="http://schemas.microsoft.com/office/drawing/2014/main" id="{6B035503-EA1E-91DD-BCA0-742D737EF20A}"/>
              </a:ext>
            </a:extLst>
          </p:cNvPr>
          <p:cNvSpPr txBox="1"/>
          <p:nvPr/>
        </p:nvSpPr>
        <p:spPr>
          <a:xfrm>
            <a:off x="1104264" y="2133600"/>
            <a:ext cx="8181975" cy="371476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9" name="Textbox_series_2">
            <a:extLst>
              <a:ext uri="{FF2B5EF4-FFF2-40B4-BE49-F238E27FC236}">
                <a16:creationId xmlns:a16="http://schemas.microsoft.com/office/drawing/2014/main" id="{22B36BBB-0EF2-CEFC-5E51-EDD5F0C022A6}"/>
              </a:ext>
            </a:extLst>
          </p:cNvPr>
          <p:cNvSpPr txBox="1"/>
          <p:nvPr/>
        </p:nvSpPr>
        <p:spPr>
          <a:xfrm flipH="1">
            <a:off x="9451120" y="3378793"/>
            <a:ext cx="2448000" cy="629037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900" dirty="0"/>
              <a:t>Recall of </a:t>
            </a:r>
            <a:r>
              <a:rPr lang="en-US" sz="900" b="1" dirty="0"/>
              <a:t>OS headline declines significantly </a:t>
            </a:r>
            <a:r>
              <a:rPr lang="en-US" sz="900" dirty="0"/>
              <a:t>(-27%) during </a:t>
            </a:r>
            <a:r>
              <a:rPr lang="en-US" sz="900" b="1" dirty="0"/>
              <a:t>community </a:t>
            </a:r>
            <a:r>
              <a:rPr lang="en-US" sz="900" dirty="0"/>
              <a:t>HCP interactions, likely driven by lower usage of visual aids (-15%)</a:t>
            </a:r>
            <a:endParaRPr lang="en-US" sz="900" dirty="0">
              <a:cs typeface="Arial"/>
            </a:endParaRPr>
          </a:p>
        </p:txBody>
      </p:sp>
      <p:sp>
        <p:nvSpPr>
          <p:cNvPr id="30" name="Textbox_series_2">
            <a:extLst>
              <a:ext uri="{FF2B5EF4-FFF2-40B4-BE49-F238E27FC236}">
                <a16:creationId xmlns:a16="http://schemas.microsoft.com/office/drawing/2014/main" id="{7E3FC7FC-C4C0-6987-9A6A-230E29BE5922}"/>
              </a:ext>
            </a:extLst>
          </p:cNvPr>
          <p:cNvSpPr txBox="1"/>
          <p:nvPr/>
        </p:nvSpPr>
        <p:spPr>
          <a:xfrm flipH="1">
            <a:off x="9451120" y="4374673"/>
            <a:ext cx="2448000" cy="666963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900" dirty="0"/>
              <a:t>HCPs have recalled </a:t>
            </a:r>
            <a:r>
              <a:rPr lang="en-US" sz="900" b="1" dirty="0"/>
              <a:t>at least one of the OS messages </a:t>
            </a:r>
            <a:r>
              <a:rPr lang="en-US" sz="900" dirty="0"/>
              <a:t>(OS headline or </a:t>
            </a:r>
            <a:r>
              <a:rPr lang="en-US" sz="900" dirty="0" err="1"/>
              <a:t>mOS</a:t>
            </a:r>
            <a:r>
              <a:rPr lang="en-US" sz="900" dirty="0"/>
              <a:t> not reached) in </a:t>
            </a:r>
            <a:r>
              <a:rPr lang="en-US" sz="900" b="1" dirty="0"/>
              <a:t>49% </a:t>
            </a:r>
            <a:r>
              <a:rPr lang="en-US" sz="900" dirty="0"/>
              <a:t>of the interactions</a:t>
            </a:r>
            <a:endParaRPr lang="en-US" sz="900" dirty="0">
              <a:cs typeface="Arial"/>
            </a:endParaRPr>
          </a:p>
        </p:txBody>
      </p:sp>
      <p:sp>
        <p:nvSpPr>
          <p:cNvPr id="31" name="Highlight#25">
            <a:extLst>
              <a:ext uri="{FF2B5EF4-FFF2-40B4-BE49-F238E27FC236}">
                <a16:creationId xmlns:a16="http://schemas.microsoft.com/office/drawing/2014/main" id="{9C14DA7F-D271-6988-BEFB-A851D3CADCA5}"/>
              </a:ext>
            </a:extLst>
          </p:cNvPr>
          <p:cNvSpPr txBox="1"/>
          <p:nvPr/>
        </p:nvSpPr>
        <p:spPr>
          <a:xfrm>
            <a:off x="1104264" y="3742724"/>
            <a:ext cx="8181975" cy="371476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2" name="Highlight#25">
            <a:extLst>
              <a:ext uri="{FF2B5EF4-FFF2-40B4-BE49-F238E27FC236}">
                <a16:creationId xmlns:a16="http://schemas.microsoft.com/office/drawing/2014/main" id="{7441D6B3-032E-CCD6-6D87-EE7573889542}"/>
              </a:ext>
            </a:extLst>
          </p:cNvPr>
          <p:cNvSpPr txBox="1"/>
          <p:nvPr/>
        </p:nvSpPr>
        <p:spPr>
          <a:xfrm>
            <a:off x="1104264" y="4534678"/>
            <a:ext cx="8181975" cy="1188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68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CB662-4A19-743D-9BC6-2DB9B27B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504;p12">
            <a:extLst>
              <a:ext uri="{FF2B5EF4-FFF2-40B4-BE49-F238E27FC236}">
                <a16:creationId xmlns:a16="http://schemas.microsoft.com/office/drawing/2014/main" id="{E83B1F85-03E4-AB89-0618-4371CFB9A0CE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[PRODUCT] MESSAGE RECALL ORDER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Q4'25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E35DEC51-CEA3-81CB-0022-AC30B99E564C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63903412-C1F0-39D7-B734-CEACADE9FC3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9" name="Google Shape;229;p3">
            <a:extLst>
              <a:ext uri="{FF2B5EF4-FFF2-40B4-BE49-F238E27FC236}">
                <a16:creationId xmlns:a16="http://schemas.microsoft.com/office/drawing/2014/main" id="{773A52ED-2F76-46A1-DC3A-34C9A3E833EC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F868A9-444B-0047-7E86-1B79C31E29A0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Observed</a:t>
            </a: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message flow shows strong anchoring on NCCN and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 </a:t>
            </a: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indication messages; however, mid-story is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fragmented, with efficacy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OS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</a:t>
            </a: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and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CNS </a:t>
            </a: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bring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pushed towards closing along with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safety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messages</a:t>
            </a:r>
            <a:endParaRPr lang="en-US" sz="1800" b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654DCE-E5F4-A0D0-6E38-DC32D28C4B05}"/>
              </a:ext>
            </a:extLst>
          </p:cNvPr>
          <p:cNvSpPr txBox="1"/>
          <p:nvPr/>
        </p:nvSpPr>
        <p:spPr>
          <a:xfrm>
            <a:off x="2444494" y="6427144"/>
            <a:ext cx="9360000" cy="430856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Full message text in speaker notes |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/>
              </a:rPr>
              <a:t>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DCF4C4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added in Nov’25 (s = 71 for Q4’25)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FDFFC3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edited during end of Oct’25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| </a:t>
            </a:r>
            <a:r>
              <a:rPr kumimoji="1" lang="en-US" sz="900" i="1" kern="0" baseline="3000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1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High = top quartile, medium = middle 50% and low = bottom quartile for each part of the flow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graphicFrame>
        <p:nvGraphicFramePr>
          <p:cNvPr id="15" name="TAG Messgae TAG Table">
            <a:extLst>
              <a:ext uri="{FF2B5EF4-FFF2-40B4-BE49-F238E27FC236}">
                <a16:creationId xmlns:a16="http://schemas.microsoft.com/office/drawing/2014/main" id="{529A190C-D098-70FC-54A5-457F41975F17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4621584"/>
              </p:ext>
            </p:extLst>
          </p:nvPr>
        </p:nvGraphicFramePr>
        <p:xfrm>
          <a:off x="1473886" y="1989679"/>
          <a:ext cx="2693353" cy="422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353">
                  <a:extLst>
                    <a:ext uri="{9D8B030D-6E8A-4147-A177-3AD203B41FA5}">
                      <a16:colId xmlns:a16="http://schemas.microsoft.com/office/drawing/2014/main" val="2461537316"/>
                    </a:ext>
                  </a:extLst>
                </a:gridCol>
              </a:tblGrid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– NSCLC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410849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mPFS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69990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Indication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07746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228098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mOS Not Reached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545063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MOA – Inhibition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47706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OS Headline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84644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CNS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24197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- CNS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744505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– ARs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758987"/>
                  </a:ext>
                </a:extLst>
              </a:tr>
            </a:tbl>
          </a:graphicData>
        </a:graphic>
      </p:graphicFrame>
      <p:graphicFrame>
        <p:nvGraphicFramePr>
          <p:cNvPr id="5" name="Shape_65056429">
            <a:extLst>
              <a:ext uri="{FF2B5EF4-FFF2-40B4-BE49-F238E27FC236}">
                <a16:creationId xmlns:a16="http://schemas.microsoft.com/office/drawing/2014/main" id="{1AF53D40-68AF-C1AD-1798-8CE0A70C35B4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15000415"/>
              </p:ext>
            </p:extLst>
          </p:nvPr>
        </p:nvGraphicFramePr>
        <p:xfrm>
          <a:off x="1644125" y="1500862"/>
          <a:ext cx="2021790" cy="42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790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Tag</a:t>
                      </a:r>
                      <a:endParaRPr lang="en-IN" sz="1000" b="1" kern="1200">
                        <a:solidFill>
                          <a:schemeClr val="tx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930BB9-E7E0-B29D-03A5-C516C1220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21868"/>
              </p:ext>
            </p:extLst>
          </p:nvPr>
        </p:nvGraphicFramePr>
        <p:xfrm>
          <a:off x="4452865" y="1990194"/>
          <a:ext cx="1410000" cy="4222800"/>
        </p:xfrm>
        <a:graphic>
          <a:graphicData uri="http://schemas.openxmlformats.org/drawingml/2006/table">
            <a:tbl>
              <a:tblPr firstRow="1" bandRow="1"/>
              <a:tblGrid>
                <a:gridCol w="1410000">
                  <a:extLst>
                    <a:ext uri="{9D8B030D-6E8A-4147-A177-3AD203B41FA5}">
                      <a16:colId xmlns:a16="http://schemas.microsoft.com/office/drawing/2014/main" val="395695405"/>
                    </a:ext>
                  </a:extLst>
                </a:gridCol>
              </a:tblGrid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49%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794235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07022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561595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39%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258384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835059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36%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574897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36%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151431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69238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31%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364831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18%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66404"/>
                  </a:ext>
                </a:extLst>
              </a:tr>
            </a:tbl>
          </a:graphicData>
        </a:graphic>
      </p:graphicFrame>
      <p:graphicFrame>
        <p:nvGraphicFramePr>
          <p:cNvPr id="10" name="Shape_65056429">
            <a:extLst>
              <a:ext uri="{FF2B5EF4-FFF2-40B4-BE49-F238E27FC236}">
                <a16:creationId xmlns:a16="http://schemas.microsoft.com/office/drawing/2014/main" id="{B53CFB96-F43A-703E-7B4C-77A883783680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910426205"/>
              </p:ext>
            </p:extLst>
          </p:nvPr>
        </p:nvGraphicFramePr>
        <p:xfrm>
          <a:off x="4336370" y="1495333"/>
          <a:ext cx="1642990" cy="42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990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Recall</a:t>
                      </a:r>
                      <a:br>
                        <a:rPr lang="en-IN" sz="1100" b="1" kern="1200" noProof="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</a:br>
                      <a:r>
                        <a:rPr lang="en-IN" sz="1000" b="0" kern="1200" noProof="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(s = 100)</a:t>
                      </a:r>
                      <a:endParaRPr lang="en-IN" sz="1100" b="0" kern="1200">
                        <a:solidFill>
                          <a:schemeClr val="tx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450E19E-647D-E95D-BEBB-B649F14BE299}"/>
              </a:ext>
            </a:extLst>
          </p:cNvPr>
          <p:cNvSpPr txBox="1"/>
          <p:nvPr/>
        </p:nvSpPr>
        <p:spPr>
          <a:xfrm>
            <a:off x="4478811" y="6228676"/>
            <a:ext cx="1358108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61" name="Table 9">
            <a:extLst>
              <a:ext uri="{FF2B5EF4-FFF2-40B4-BE49-F238E27FC236}">
                <a16:creationId xmlns:a16="http://schemas.microsoft.com/office/drawing/2014/main" id="{6F7C6950-3489-E027-CD1D-63D53C50BC3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690589167"/>
              </p:ext>
            </p:extLst>
          </p:nvPr>
        </p:nvGraphicFramePr>
        <p:xfrm>
          <a:off x="6279058" y="1516619"/>
          <a:ext cx="147044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440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Anchor Messages</a:t>
                      </a:r>
                      <a:endParaRPr lang="en-IN" sz="1100" b="1" kern="1200" noProof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(Start)</a:t>
                      </a:r>
                      <a:endParaRPr lang="en-IN" sz="1000" b="1" kern="1200" dirty="0">
                        <a:solidFill>
                          <a:schemeClr val="tx1"/>
                        </a:solidFill>
                        <a:latin typeface="+mj-lt"/>
                        <a:ea typeface="Verdana"/>
                        <a:cs typeface="Johnson Tex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404112B5-62DE-7036-BCF9-D45F6378EF2E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52258985"/>
              </p:ext>
            </p:extLst>
          </p:nvPr>
        </p:nvGraphicFramePr>
        <p:xfrm>
          <a:off x="7814479" y="1516619"/>
          <a:ext cx="1361801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801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Build Messages </a:t>
                      </a:r>
                      <a:endParaRPr lang="en-IN" sz="1100" b="1" kern="1200" noProof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(Bridge)</a:t>
                      </a:r>
                      <a:endParaRPr lang="en-IN" sz="1000" b="1" kern="1200" dirty="0">
                        <a:solidFill>
                          <a:schemeClr val="tx1"/>
                        </a:solidFill>
                        <a:latin typeface="+mj-lt"/>
                        <a:ea typeface="Verdana"/>
                        <a:cs typeface="Johnson Tex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graphicFrame>
        <p:nvGraphicFramePr>
          <p:cNvPr id="63" name="Table 9">
            <a:extLst>
              <a:ext uri="{FF2B5EF4-FFF2-40B4-BE49-F238E27FC236}">
                <a16:creationId xmlns:a16="http://schemas.microsoft.com/office/drawing/2014/main" id="{A9475E08-5C0B-3356-D7C5-E0234E1B674D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810246522"/>
              </p:ext>
            </p:extLst>
          </p:nvPr>
        </p:nvGraphicFramePr>
        <p:xfrm>
          <a:off x="9178004" y="1511520"/>
          <a:ext cx="1445369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369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Reinforcing Messages (Close)</a:t>
                      </a:r>
                      <a:endParaRPr lang="en-IN" sz="1000" b="1" kern="12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sp>
        <p:nvSpPr>
          <p:cNvPr id="64" name="Textbox_series_2">
            <a:extLst>
              <a:ext uri="{FF2B5EF4-FFF2-40B4-BE49-F238E27FC236}">
                <a16:creationId xmlns:a16="http://schemas.microsoft.com/office/drawing/2014/main" id="{ECDE9488-500A-5428-01F8-BAE626EB0E93}"/>
              </a:ext>
            </a:extLst>
          </p:cNvPr>
          <p:cNvSpPr txBox="1"/>
          <p:nvPr/>
        </p:nvSpPr>
        <p:spPr>
          <a:xfrm flipH="1">
            <a:off x="6631779" y="6126594"/>
            <a:ext cx="764998" cy="40999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>
                    <a:lumMod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Heard 1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st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</a:t>
            </a:r>
          </a:p>
        </p:txBody>
      </p:sp>
      <p:sp>
        <p:nvSpPr>
          <p:cNvPr id="65" name="Textbox_series_2">
            <a:extLst>
              <a:ext uri="{FF2B5EF4-FFF2-40B4-BE49-F238E27FC236}">
                <a16:creationId xmlns:a16="http://schemas.microsoft.com/office/drawing/2014/main" id="{DF4FD131-4C4F-4289-BC9E-9868D69DD39B}"/>
              </a:ext>
            </a:extLst>
          </p:cNvPr>
          <p:cNvSpPr txBox="1"/>
          <p:nvPr/>
        </p:nvSpPr>
        <p:spPr>
          <a:xfrm flipH="1">
            <a:off x="7955379" y="6139105"/>
            <a:ext cx="1080000" cy="40999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>
                    <a:lumMod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Heard 2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nd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or 3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rd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</a:t>
            </a:r>
          </a:p>
        </p:txBody>
      </p:sp>
      <p:sp>
        <p:nvSpPr>
          <p:cNvPr id="66" name="Textbox_series_2">
            <a:extLst>
              <a:ext uri="{FF2B5EF4-FFF2-40B4-BE49-F238E27FC236}">
                <a16:creationId xmlns:a16="http://schemas.microsoft.com/office/drawing/2014/main" id="{6A4F0BEF-DA1E-A4D5-E810-8BA6B6889684}"/>
              </a:ext>
            </a:extLst>
          </p:cNvPr>
          <p:cNvSpPr txBox="1"/>
          <p:nvPr/>
        </p:nvSpPr>
        <p:spPr>
          <a:xfrm flipH="1">
            <a:off x="9290606" y="6151333"/>
            <a:ext cx="1220165" cy="40999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>
                    <a:lumMod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Heard 4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th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or Later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349026F-A42C-A4F3-EBAE-45538FCFD96C}"/>
              </a:ext>
            </a:extLst>
          </p:cNvPr>
          <p:cNvGrpSpPr/>
          <p:nvPr/>
        </p:nvGrpSpPr>
        <p:grpSpPr>
          <a:xfrm>
            <a:off x="6870278" y="2055293"/>
            <a:ext cx="3165470" cy="4093944"/>
            <a:chOff x="6870278" y="2055293"/>
            <a:chExt cx="3165470" cy="40939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D3A5B83-920C-2F70-3C04-37D8BCAEA749}"/>
                </a:ext>
              </a:extLst>
            </p:cNvPr>
            <p:cNvGrpSpPr/>
            <p:nvPr/>
          </p:nvGrpSpPr>
          <p:grpSpPr>
            <a:xfrm>
              <a:off x="6870278" y="2055293"/>
              <a:ext cx="3165470" cy="288000"/>
              <a:chOff x="6870278" y="2021429"/>
              <a:chExt cx="3165470" cy="28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61CC40C-A07A-F8C4-269D-AB4356B95028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FDAA80-9CDB-CA8B-F4DA-76817FDE55B0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3188CDF-328D-82D6-7184-C9755B073B49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F2115F2-0BD8-7610-571E-23F4CB1A0460}"/>
                </a:ext>
              </a:extLst>
            </p:cNvPr>
            <p:cNvGrpSpPr/>
            <p:nvPr/>
          </p:nvGrpSpPr>
          <p:grpSpPr>
            <a:xfrm>
              <a:off x="6870278" y="2478176"/>
              <a:ext cx="3165470" cy="288000"/>
              <a:chOff x="6870278" y="2021429"/>
              <a:chExt cx="3165470" cy="2880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CC1CFD6-2B98-D06A-6BA1-8EFCE26F56D6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16046DD-1496-22A6-73F1-4C46268B5C5A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8412CE0-D298-9031-BEDD-36F3C49AE11E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9A42421-BECF-5108-B5D5-E54791BDB980}"/>
                </a:ext>
              </a:extLst>
            </p:cNvPr>
            <p:cNvGrpSpPr/>
            <p:nvPr/>
          </p:nvGrpSpPr>
          <p:grpSpPr>
            <a:xfrm>
              <a:off x="6870278" y="2901059"/>
              <a:ext cx="3165470" cy="288000"/>
              <a:chOff x="6870278" y="2021429"/>
              <a:chExt cx="3165470" cy="2880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9005970-0290-9C99-1792-698A5F20DBBC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7F89554-F54A-D3E2-4958-1DA468C93DFD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85B6F47-0CEA-1820-CF69-69CA57375419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B72FBAE-5813-C172-BF51-A5E014F7727C}"/>
                </a:ext>
              </a:extLst>
            </p:cNvPr>
            <p:cNvGrpSpPr/>
            <p:nvPr/>
          </p:nvGrpSpPr>
          <p:grpSpPr>
            <a:xfrm>
              <a:off x="6870278" y="3323942"/>
              <a:ext cx="3165470" cy="288000"/>
              <a:chOff x="6870278" y="2021429"/>
              <a:chExt cx="3165470" cy="28800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8551146-BE99-CB86-DA76-4029C9EA8758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4E27C7C-8E37-F0FC-B29E-BDC6C7C5D3C4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B31882F-9D37-BE6F-82ED-C156BC3FD696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7E67C58-DD1D-A5AB-F5E4-1FF0F5C2D449}"/>
                </a:ext>
              </a:extLst>
            </p:cNvPr>
            <p:cNvGrpSpPr/>
            <p:nvPr/>
          </p:nvGrpSpPr>
          <p:grpSpPr>
            <a:xfrm>
              <a:off x="6870278" y="3746825"/>
              <a:ext cx="3165470" cy="288000"/>
              <a:chOff x="6870278" y="2021429"/>
              <a:chExt cx="3165470" cy="288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E293EA5-C1BD-4FA3-AC4E-F25597D584CF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A377B24-F3D3-0695-99C1-E7BBBCDDEFCB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65D986F-5CEF-E94E-71D3-60976D28D8E3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DB60F61-E8B5-8E48-BB7E-87E7FF7A1C41}"/>
                </a:ext>
              </a:extLst>
            </p:cNvPr>
            <p:cNvGrpSpPr/>
            <p:nvPr/>
          </p:nvGrpSpPr>
          <p:grpSpPr>
            <a:xfrm>
              <a:off x="6870278" y="4169708"/>
              <a:ext cx="3165470" cy="288000"/>
              <a:chOff x="6870278" y="2021429"/>
              <a:chExt cx="3165470" cy="2880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0910252-F851-B10E-CFEC-74D49370111E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75947B9-16C6-6310-8EFC-C11547071418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5F3C126-C3C8-166D-06A1-E878BFF307A1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75BDE4-84C7-0762-D517-643C64172C63}"/>
                </a:ext>
              </a:extLst>
            </p:cNvPr>
            <p:cNvGrpSpPr/>
            <p:nvPr/>
          </p:nvGrpSpPr>
          <p:grpSpPr>
            <a:xfrm>
              <a:off x="6870278" y="4592591"/>
              <a:ext cx="3165470" cy="288000"/>
              <a:chOff x="6870278" y="2021429"/>
              <a:chExt cx="3165470" cy="28800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2245E0F0-0DDA-F4A4-F631-79944AA0F69B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4E6CAEB-0C0F-5F8A-0E91-4281E18CC750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2460832-F57D-DB03-185B-750C72F4A7C3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7DC3643-4577-F549-4EEA-3736C4402262}"/>
                </a:ext>
              </a:extLst>
            </p:cNvPr>
            <p:cNvGrpSpPr/>
            <p:nvPr/>
          </p:nvGrpSpPr>
          <p:grpSpPr>
            <a:xfrm>
              <a:off x="6870278" y="5015474"/>
              <a:ext cx="3165470" cy="288000"/>
              <a:chOff x="6870278" y="2021429"/>
              <a:chExt cx="3165470" cy="28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A32B6B80-02E0-78C4-3D90-90FBA778F33F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6698F7D-03FA-EE4A-E8C9-42884964D265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AC976F6-3DA9-0316-59EB-F96B3EFA1AFE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F9BC6FF-90E1-67D5-C059-C3376AC6BF7A}"/>
                </a:ext>
              </a:extLst>
            </p:cNvPr>
            <p:cNvGrpSpPr/>
            <p:nvPr/>
          </p:nvGrpSpPr>
          <p:grpSpPr>
            <a:xfrm>
              <a:off x="6870278" y="5438357"/>
              <a:ext cx="3165470" cy="288000"/>
              <a:chOff x="6870278" y="2021429"/>
              <a:chExt cx="3165470" cy="28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21A7B40-5079-2FA7-2889-6A9782BB35B4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E7BC8392-8988-A295-5218-BDAA59B03724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902D2D2-3A15-CF4C-06FC-35A155A3D72B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74087B0-D8D8-4E71-6775-630F01639018}"/>
                </a:ext>
              </a:extLst>
            </p:cNvPr>
            <p:cNvGrpSpPr/>
            <p:nvPr/>
          </p:nvGrpSpPr>
          <p:grpSpPr>
            <a:xfrm>
              <a:off x="6870278" y="5861237"/>
              <a:ext cx="3165470" cy="288000"/>
              <a:chOff x="6870278" y="2021429"/>
              <a:chExt cx="3165470" cy="288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6D93D03-6BB5-1ADC-E9A0-C2BEFAEDE738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DBE602A-0D6D-6F52-071A-2962ACB83CF1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62FFAF5B-29F6-0F19-1425-88E770982D0D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+mn-lt"/>
                </a:endParaRPr>
              </a:p>
            </p:txBody>
          </p:sp>
        </p:grpSp>
      </p:grp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C9A5960D-9C58-CB9B-2B21-2604E84E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CA6AC52-BE07-BDF6-8AC6-79073CACFCF2}"/>
              </a:ext>
            </a:extLst>
          </p:cNvPr>
          <p:cNvGrpSpPr/>
          <p:nvPr/>
        </p:nvGrpSpPr>
        <p:grpSpPr>
          <a:xfrm>
            <a:off x="10583270" y="3526366"/>
            <a:ext cx="1302643" cy="903637"/>
            <a:chOff x="6790620" y="6023261"/>
            <a:chExt cx="1302643" cy="903637"/>
          </a:xfrm>
        </p:grpSpPr>
        <p:sp>
          <p:nvSpPr>
            <p:cNvPr id="82" name="Legend_series_2">
              <a:extLst>
                <a:ext uri="{FF2B5EF4-FFF2-40B4-BE49-F238E27FC236}">
                  <a16:creationId xmlns:a16="http://schemas.microsoft.com/office/drawing/2014/main" id="{F46211D2-7869-A70F-2E2A-60F6EE8193AD}"/>
                </a:ext>
              </a:extLst>
            </p:cNvPr>
            <p:cNvSpPr/>
            <p:nvPr/>
          </p:nvSpPr>
          <p:spPr>
            <a:xfrm>
              <a:off x="6790734" y="6174260"/>
              <a:ext cx="108000" cy="108000"/>
            </a:xfrm>
            <a:prstGeom prst="ellipse">
              <a:avLst/>
            </a:prstGeom>
            <a:solidFill>
              <a:srgbClr val="76A79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83" name="Textbox_series_2">
              <a:extLst>
                <a:ext uri="{FF2B5EF4-FFF2-40B4-BE49-F238E27FC236}">
                  <a16:creationId xmlns:a16="http://schemas.microsoft.com/office/drawing/2014/main" id="{E896D6E9-AFA4-5479-688D-A89252C1B84D}"/>
                </a:ext>
              </a:extLst>
            </p:cNvPr>
            <p:cNvSpPr txBox="1"/>
            <p:nvPr/>
          </p:nvSpPr>
          <p:spPr>
            <a:xfrm flipH="1">
              <a:off x="6931851" y="6023261"/>
              <a:ext cx="900000" cy="409999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505050">
                      <a:lumMod val="50000"/>
                    </a:srgbClr>
                  </a:solidFill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High Recall</a:t>
              </a:r>
              <a:r>
                <a:rPr kumimoji="0" lang="en-IN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  <p:sp>
          <p:nvSpPr>
            <p:cNvPr id="84" name="Legend_series_2">
              <a:extLst>
                <a:ext uri="{FF2B5EF4-FFF2-40B4-BE49-F238E27FC236}">
                  <a16:creationId xmlns:a16="http://schemas.microsoft.com/office/drawing/2014/main" id="{E9C89D03-D0B5-E6C2-3F32-1555309F064E}"/>
                </a:ext>
              </a:extLst>
            </p:cNvPr>
            <p:cNvSpPr/>
            <p:nvPr/>
          </p:nvSpPr>
          <p:spPr>
            <a:xfrm>
              <a:off x="6790620" y="6421910"/>
              <a:ext cx="108000" cy="108000"/>
            </a:xfrm>
            <a:prstGeom prst="ellipse">
              <a:avLst/>
            </a:prstGeom>
            <a:solidFill>
              <a:srgbClr val="EAC28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85" name="Textbox_series_2">
              <a:extLst>
                <a:ext uri="{FF2B5EF4-FFF2-40B4-BE49-F238E27FC236}">
                  <a16:creationId xmlns:a16="http://schemas.microsoft.com/office/drawing/2014/main" id="{C171A574-B272-AC7B-BDEB-4A1ABD480272}"/>
                </a:ext>
              </a:extLst>
            </p:cNvPr>
            <p:cNvSpPr txBox="1"/>
            <p:nvPr/>
          </p:nvSpPr>
          <p:spPr>
            <a:xfrm flipH="1">
              <a:off x="6941263" y="6270080"/>
              <a:ext cx="1152000" cy="409999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505050">
                      <a:lumMod val="50000"/>
                    </a:srgbClr>
                  </a:solidFill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Moderate Recall</a:t>
              </a:r>
              <a:r>
                <a:rPr kumimoji="0" lang="en-IN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  <p:sp>
          <p:nvSpPr>
            <p:cNvPr id="86" name="Legend_series_2">
              <a:extLst>
                <a:ext uri="{FF2B5EF4-FFF2-40B4-BE49-F238E27FC236}">
                  <a16:creationId xmlns:a16="http://schemas.microsoft.com/office/drawing/2014/main" id="{843B9635-54DB-31ED-3CF4-8ECAB8B7E592}"/>
                </a:ext>
              </a:extLst>
            </p:cNvPr>
            <p:cNvSpPr/>
            <p:nvPr/>
          </p:nvSpPr>
          <p:spPr>
            <a:xfrm>
              <a:off x="6790734" y="6667898"/>
              <a:ext cx="108000" cy="108000"/>
            </a:xfrm>
            <a:prstGeom prst="ellipse">
              <a:avLst/>
            </a:prstGeom>
            <a:solidFill>
              <a:srgbClr val="D8634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87" name="Textbox_series_2">
              <a:extLst>
                <a:ext uri="{FF2B5EF4-FFF2-40B4-BE49-F238E27FC236}">
                  <a16:creationId xmlns:a16="http://schemas.microsoft.com/office/drawing/2014/main" id="{BCF17D8A-B2D2-44F1-FA2A-406E9600187D}"/>
                </a:ext>
              </a:extLst>
            </p:cNvPr>
            <p:cNvSpPr txBox="1"/>
            <p:nvPr/>
          </p:nvSpPr>
          <p:spPr>
            <a:xfrm flipH="1">
              <a:off x="6938060" y="6516899"/>
              <a:ext cx="900000" cy="409999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505050">
                      <a:lumMod val="50000"/>
                    </a:srgbClr>
                  </a:solidFill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Low Recall</a:t>
              </a:r>
              <a:r>
                <a:rPr kumimoji="0" lang="en-IN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</p:grpSp>
      <p:sp>
        <p:nvSpPr>
          <p:cNvPr id="3" name="Highlight#25">
            <a:extLst>
              <a:ext uri="{FF2B5EF4-FFF2-40B4-BE49-F238E27FC236}">
                <a16:creationId xmlns:a16="http://schemas.microsoft.com/office/drawing/2014/main" id="{D3C08E82-011E-0766-738B-558DC6370287}"/>
              </a:ext>
            </a:extLst>
          </p:cNvPr>
          <p:cNvSpPr txBox="1"/>
          <p:nvPr/>
        </p:nvSpPr>
        <p:spPr>
          <a:xfrm>
            <a:off x="8100990" y="3193483"/>
            <a:ext cx="788844" cy="2571247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Highlight#25">
            <a:extLst>
              <a:ext uri="{FF2B5EF4-FFF2-40B4-BE49-F238E27FC236}">
                <a16:creationId xmlns:a16="http://schemas.microsoft.com/office/drawing/2014/main" id="{F7E4F3DE-A410-006D-AFBE-3D6608339845}"/>
              </a:ext>
            </a:extLst>
          </p:cNvPr>
          <p:cNvSpPr txBox="1"/>
          <p:nvPr/>
        </p:nvSpPr>
        <p:spPr>
          <a:xfrm>
            <a:off x="9504674" y="4486878"/>
            <a:ext cx="788844" cy="936957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Highlight#25">
            <a:extLst>
              <a:ext uri="{FF2B5EF4-FFF2-40B4-BE49-F238E27FC236}">
                <a16:creationId xmlns:a16="http://schemas.microsoft.com/office/drawing/2014/main" id="{C2A8A541-23ED-96EF-EA5A-79BCDFD340F6}"/>
              </a:ext>
            </a:extLst>
          </p:cNvPr>
          <p:cNvSpPr txBox="1"/>
          <p:nvPr/>
        </p:nvSpPr>
        <p:spPr>
          <a:xfrm>
            <a:off x="9504673" y="3263667"/>
            <a:ext cx="788844" cy="415589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8971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3FE3C-61ED-1E14-F706-F2BDD5DC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504;p12">
            <a:extLst>
              <a:ext uri="{FF2B5EF4-FFF2-40B4-BE49-F238E27FC236}">
                <a16:creationId xmlns:a16="http://schemas.microsoft.com/office/drawing/2014/main" id="{8A2D9958-3B1C-76AD-F971-60FFA779FF6E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[PRODUCT] MESSAGE RECALL ORDER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Q4'25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BFCDE917-20E6-320D-D428-BABCAC5496BC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B86093C0-87B8-8E9D-EF3F-8EC2502E9BF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9" name="Google Shape;229;p3">
            <a:extLst>
              <a:ext uri="{FF2B5EF4-FFF2-40B4-BE49-F238E27FC236}">
                <a16:creationId xmlns:a16="http://schemas.microsoft.com/office/drawing/2014/main" id="{8F889D3A-383F-AA03-147F-43DE1C9A6C6E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5F13257-3B83-664C-0AE0-EAAA993516BE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Observed message flow shows strong anchoring on NCCN and indication messages; however, mid-story is fragmented, with efficacy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OS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and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CNS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bring pushed towards closing along with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safety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BE1466-4FB4-E776-FAEA-CCA2B11A6F37}"/>
              </a:ext>
            </a:extLst>
          </p:cNvPr>
          <p:cNvSpPr txBox="1"/>
          <p:nvPr/>
        </p:nvSpPr>
        <p:spPr>
          <a:xfrm>
            <a:off x="2444494" y="6427144"/>
            <a:ext cx="9360000" cy="430856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Full message text in speaker notes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DCF4C4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added in Nov’25 (s = 71 for Q4’25)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FDFFC3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edited during end of Oct’25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1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High = top quartile, medium = middle 50% and low = bottom quartile for each part of the flow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graphicFrame>
        <p:nvGraphicFramePr>
          <p:cNvPr id="15" name="TAG Messgae TAG Table">
            <a:extLst>
              <a:ext uri="{FF2B5EF4-FFF2-40B4-BE49-F238E27FC236}">
                <a16:creationId xmlns:a16="http://schemas.microsoft.com/office/drawing/2014/main" id="{8EC67C80-9F91-9342-8D75-6799388E1F7B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3965471"/>
              </p:ext>
            </p:extLst>
          </p:nvPr>
        </p:nvGraphicFramePr>
        <p:xfrm>
          <a:off x="1473886" y="1989679"/>
          <a:ext cx="2693353" cy="422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353">
                  <a:extLst>
                    <a:ext uri="{9D8B030D-6E8A-4147-A177-3AD203B41FA5}">
                      <a16:colId xmlns:a16="http://schemas.microsoft.com/office/drawing/2014/main" val="2461537316"/>
                    </a:ext>
                  </a:extLst>
                </a:gridCol>
              </a:tblGrid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– NSCLC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410849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mPFS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69990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Indication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07746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228098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mOS Not Reached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545063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MOA – Inhibition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47706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OS Headline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84644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CNS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24197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- CNS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744505"/>
                  </a:ext>
                </a:extLst>
              </a:tr>
              <a:tr h="422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– ARs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758987"/>
                  </a:ext>
                </a:extLst>
              </a:tr>
            </a:tbl>
          </a:graphicData>
        </a:graphic>
      </p:graphicFrame>
      <p:graphicFrame>
        <p:nvGraphicFramePr>
          <p:cNvPr id="5" name="Shape_65056429">
            <a:extLst>
              <a:ext uri="{FF2B5EF4-FFF2-40B4-BE49-F238E27FC236}">
                <a16:creationId xmlns:a16="http://schemas.microsoft.com/office/drawing/2014/main" id="{F67ABA89-CF28-9D7F-BD86-B3994EDE02C6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49608324"/>
              </p:ext>
            </p:extLst>
          </p:nvPr>
        </p:nvGraphicFramePr>
        <p:xfrm>
          <a:off x="1644125" y="1500862"/>
          <a:ext cx="2021790" cy="42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790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Tag</a:t>
                      </a:r>
                      <a:endParaRPr lang="en-IN" sz="1000" b="1" kern="1200">
                        <a:solidFill>
                          <a:schemeClr val="tx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29F73D-F7E2-C80A-BA27-7A3F728A2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530561"/>
              </p:ext>
            </p:extLst>
          </p:nvPr>
        </p:nvGraphicFramePr>
        <p:xfrm>
          <a:off x="4452865" y="1990194"/>
          <a:ext cx="1410000" cy="4222800"/>
        </p:xfrm>
        <a:graphic>
          <a:graphicData uri="http://schemas.openxmlformats.org/drawingml/2006/table">
            <a:tbl>
              <a:tblPr firstRow="1" bandRow="1"/>
              <a:tblGrid>
                <a:gridCol w="1410000">
                  <a:extLst>
                    <a:ext uri="{9D8B030D-6E8A-4147-A177-3AD203B41FA5}">
                      <a16:colId xmlns:a16="http://schemas.microsoft.com/office/drawing/2014/main" val="395695405"/>
                    </a:ext>
                  </a:extLst>
                </a:gridCol>
              </a:tblGrid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49%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794235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07022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561595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39%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258384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835059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36%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574897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36%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151431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69238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31%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364831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18%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66404"/>
                  </a:ext>
                </a:extLst>
              </a:tr>
            </a:tbl>
          </a:graphicData>
        </a:graphic>
      </p:graphicFrame>
      <p:graphicFrame>
        <p:nvGraphicFramePr>
          <p:cNvPr id="10" name="Shape_65056429">
            <a:extLst>
              <a:ext uri="{FF2B5EF4-FFF2-40B4-BE49-F238E27FC236}">
                <a16:creationId xmlns:a16="http://schemas.microsoft.com/office/drawing/2014/main" id="{5DBE5ACB-3755-E553-2A47-584BBC943C12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001596597"/>
              </p:ext>
            </p:extLst>
          </p:nvPr>
        </p:nvGraphicFramePr>
        <p:xfrm>
          <a:off x="4336370" y="1495333"/>
          <a:ext cx="1642990" cy="42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990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Recall</a:t>
                      </a:r>
                      <a:br>
                        <a:rPr lang="en-IN" sz="1100" b="1" kern="1200" noProof="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</a:br>
                      <a:r>
                        <a:rPr lang="en-IN" sz="1000" b="0" kern="1200" noProof="0">
                          <a:solidFill>
                            <a:schemeClr val="tx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(s = 100)</a:t>
                      </a:r>
                      <a:endParaRPr lang="en-IN" sz="1100" b="0" kern="1200">
                        <a:solidFill>
                          <a:schemeClr val="tx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15627F8-756D-F90B-7F45-226601A653CF}"/>
              </a:ext>
            </a:extLst>
          </p:cNvPr>
          <p:cNvSpPr txBox="1"/>
          <p:nvPr/>
        </p:nvSpPr>
        <p:spPr>
          <a:xfrm>
            <a:off x="4478811" y="6228676"/>
            <a:ext cx="1358108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61" name="Table 9">
            <a:extLst>
              <a:ext uri="{FF2B5EF4-FFF2-40B4-BE49-F238E27FC236}">
                <a16:creationId xmlns:a16="http://schemas.microsoft.com/office/drawing/2014/main" id="{FBC61CF6-5C3D-1F6A-3F40-2A795CD7F10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18636346"/>
              </p:ext>
            </p:extLst>
          </p:nvPr>
        </p:nvGraphicFramePr>
        <p:xfrm>
          <a:off x="6279058" y="1516619"/>
          <a:ext cx="147044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440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Anchor Messages</a:t>
                      </a:r>
                      <a:endParaRPr lang="en-IN" sz="1100" b="1" kern="1200" noProof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(Start)</a:t>
                      </a:r>
                      <a:endParaRPr lang="en-IN" sz="1000" b="1" kern="1200" dirty="0">
                        <a:solidFill>
                          <a:schemeClr val="tx1"/>
                        </a:solidFill>
                        <a:latin typeface="+mj-lt"/>
                        <a:ea typeface="Verdana"/>
                        <a:cs typeface="Johnson Tex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FB3E320F-A487-65A7-629A-B06D7397723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6957530"/>
              </p:ext>
            </p:extLst>
          </p:nvPr>
        </p:nvGraphicFramePr>
        <p:xfrm>
          <a:off x="7814479" y="1516619"/>
          <a:ext cx="1361801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801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Build Messages </a:t>
                      </a:r>
                      <a:endParaRPr lang="en-IN" sz="1100" b="1" kern="1200" noProof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(Bridge)</a:t>
                      </a:r>
                      <a:endParaRPr lang="en-IN" sz="1000" b="1" kern="1200" dirty="0">
                        <a:solidFill>
                          <a:schemeClr val="tx1"/>
                        </a:solidFill>
                        <a:latin typeface="+mj-lt"/>
                        <a:ea typeface="Verdana"/>
                        <a:cs typeface="Johnson Tex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graphicFrame>
        <p:nvGraphicFramePr>
          <p:cNvPr id="63" name="Table 9">
            <a:extLst>
              <a:ext uri="{FF2B5EF4-FFF2-40B4-BE49-F238E27FC236}">
                <a16:creationId xmlns:a16="http://schemas.microsoft.com/office/drawing/2014/main" id="{9CE29AE9-31C9-7373-983C-C6C8CCBFACA4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483476223"/>
              </p:ext>
            </p:extLst>
          </p:nvPr>
        </p:nvGraphicFramePr>
        <p:xfrm>
          <a:off x="9178004" y="1511520"/>
          <a:ext cx="1445369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369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</a:tblGrid>
              <a:tr h="421841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 dirty="0">
                          <a:solidFill>
                            <a:schemeClr val="tx1"/>
                          </a:solidFill>
                          <a:latin typeface="+mj-lt"/>
                          <a:ea typeface="Verdana"/>
                          <a:cs typeface="Johnson Text"/>
                        </a:rPr>
                        <a:t>Reinforcing Messages (Close)</a:t>
                      </a:r>
                      <a:endParaRPr lang="en-IN" sz="1000" b="1" kern="12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</a:tbl>
          </a:graphicData>
        </a:graphic>
      </p:graphicFrame>
      <p:sp>
        <p:nvSpPr>
          <p:cNvPr id="64" name="Textbox_series_2">
            <a:extLst>
              <a:ext uri="{FF2B5EF4-FFF2-40B4-BE49-F238E27FC236}">
                <a16:creationId xmlns:a16="http://schemas.microsoft.com/office/drawing/2014/main" id="{AFA1CD1F-4741-810C-80FE-2A9C427CCA24}"/>
              </a:ext>
            </a:extLst>
          </p:cNvPr>
          <p:cNvSpPr txBox="1"/>
          <p:nvPr/>
        </p:nvSpPr>
        <p:spPr>
          <a:xfrm flipH="1">
            <a:off x="6631779" y="6126594"/>
            <a:ext cx="764998" cy="40999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>
                    <a:lumMod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Heard 1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st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</a:t>
            </a:r>
          </a:p>
        </p:txBody>
      </p:sp>
      <p:sp>
        <p:nvSpPr>
          <p:cNvPr id="65" name="Textbox_series_2">
            <a:extLst>
              <a:ext uri="{FF2B5EF4-FFF2-40B4-BE49-F238E27FC236}">
                <a16:creationId xmlns:a16="http://schemas.microsoft.com/office/drawing/2014/main" id="{B006AE4A-5A71-D3E7-1FE0-BD0F9533885F}"/>
              </a:ext>
            </a:extLst>
          </p:cNvPr>
          <p:cNvSpPr txBox="1"/>
          <p:nvPr/>
        </p:nvSpPr>
        <p:spPr>
          <a:xfrm flipH="1">
            <a:off x="7955379" y="6139105"/>
            <a:ext cx="1080000" cy="40999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>
                    <a:lumMod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Heard 2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nd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or 3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rd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</a:t>
            </a:r>
          </a:p>
        </p:txBody>
      </p:sp>
      <p:sp>
        <p:nvSpPr>
          <p:cNvPr id="66" name="Textbox_series_2">
            <a:extLst>
              <a:ext uri="{FF2B5EF4-FFF2-40B4-BE49-F238E27FC236}">
                <a16:creationId xmlns:a16="http://schemas.microsoft.com/office/drawing/2014/main" id="{05014A96-9B37-2E62-4F27-99586DBDDD4E}"/>
              </a:ext>
            </a:extLst>
          </p:cNvPr>
          <p:cNvSpPr txBox="1"/>
          <p:nvPr/>
        </p:nvSpPr>
        <p:spPr>
          <a:xfrm flipH="1">
            <a:off x="9290606" y="6151333"/>
            <a:ext cx="1220165" cy="40999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>
                    <a:lumMod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Heard 4</a:t>
            </a:r>
            <a:r>
              <a:rPr kumimoji="0" lang="en-IN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th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or Later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72EBC11-D49E-580B-76EF-FE9322F571BE}"/>
              </a:ext>
            </a:extLst>
          </p:cNvPr>
          <p:cNvGrpSpPr/>
          <p:nvPr/>
        </p:nvGrpSpPr>
        <p:grpSpPr>
          <a:xfrm>
            <a:off x="6870278" y="2055293"/>
            <a:ext cx="3165470" cy="4093944"/>
            <a:chOff x="6870278" y="2055293"/>
            <a:chExt cx="3165470" cy="40939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DABF773-EF17-5939-CAE5-E15EA1086DCE}"/>
                </a:ext>
              </a:extLst>
            </p:cNvPr>
            <p:cNvGrpSpPr/>
            <p:nvPr/>
          </p:nvGrpSpPr>
          <p:grpSpPr>
            <a:xfrm>
              <a:off x="6870278" y="2055293"/>
              <a:ext cx="3165470" cy="288000"/>
              <a:chOff x="6870278" y="2021429"/>
              <a:chExt cx="3165470" cy="28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F93D480-FDDA-816B-D2F5-DF607E8E1579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F63D76B-FA75-A207-38D4-9D924929DD52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F1F1336-4758-6A6C-C6A3-84FA030C1C39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4418B38-4E2A-F8BB-C27A-662F9F0CAF9F}"/>
                </a:ext>
              </a:extLst>
            </p:cNvPr>
            <p:cNvGrpSpPr/>
            <p:nvPr/>
          </p:nvGrpSpPr>
          <p:grpSpPr>
            <a:xfrm>
              <a:off x="6870278" y="2478176"/>
              <a:ext cx="3165470" cy="288000"/>
              <a:chOff x="6870278" y="2021429"/>
              <a:chExt cx="3165470" cy="2880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FCB022E-E193-A83D-F063-D3BAE8B587A9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2F9A341-C8B3-515A-3842-0B5834B8615E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9D59328-6BCC-30A3-F106-CE40D59EFC73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DDBBDF1-1385-6536-C5D8-1D6B6265A9B1}"/>
                </a:ext>
              </a:extLst>
            </p:cNvPr>
            <p:cNvGrpSpPr/>
            <p:nvPr/>
          </p:nvGrpSpPr>
          <p:grpSpPr>
            <a:xfrm>
              <a:off x="6870278" y="2901059"/>
              <a:ext cx="3165470" cy="288000"/>
              <a:chOff x="6870278" y="2021429"/>
              <a:chExt cx="3165470" cy="2880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6C05F6C-2D76-C4E3-C57F-8CD792C5F9B4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47EEF55-742C-A6F7-E054-4BB61B614076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C7F096E-0F9C-E0E9-5E61-5439D328D2E5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39F1951-E18D-A840-C755-961A28A675EA}"/>
                </a:ext>
              </a:extLst>
            </p:cNvPr>
            <p:cNvGrpSpPr/>
            <p:nvPr/>
          </p:nvGrpSpPr>
          <p:grpSpPr>
            <a:xfrm>
              <a:off x="6870278" y="3323942"/>
              <a:ext cx="3165470" cy="288000"/>
              <a:chOff x="6870278" y="2021429"/>
              <a:chExt cx="3165470" cy="28800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F6CE30E-A1C3-A29C-C9BB-3FC2EBA57596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CD57532-FAC2-3C6C-DA78-379A0DC7C13E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2F51861-D4C7-9BCE-F0EE-4B43DB199E51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2C796AB-04DE-76B5-E7D9-6BDC34871159}"/>
                </a:ext>
              </a:extLst>
            </p:cNvPr>
            <p:cNvGrpSpPr/>
            <p:nvPr/>
          </p:nvGrpSpPr>
          <p:grpSpPr>
            <a:xfrm>
              <a:off x="6870278" y="3746825"/>
              <a:ext cx="3165470" cy="288000"/>
              <a:chOff x="6870278" y="2021429"/>
              <a:chExt cx="3165470" cy="288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CCEBBDD-7C50-71E3-F0DF-6E62C839F6F0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3C94E11-98A9-D713-CC9F-555AF9AFC0AC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CEC0FA3-34E9-B564-2276-ED4AED04A969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3B9E747-8E96-7279-1BDA-6FF566F000FD}"/>
                </a:ext>
              </a:extLst>
            </p:cNvPr>
            <p:cNvGrpSpPr/>
            <p:nvPr/>
          </p:nvGrpSpPr>
          <p:grpSpPr>
            <a:xfrm>
              <a:off x="6870278" y="4169708"/>
              <a:ext cx="3165470" cy="288000"/>
              <a:chOff x="6870278" y="2021429"/>
              <a:chExt cx="3165470" cy="2880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C34601F5-2C5B-F02B-2D70-2D5826CD20EB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C403EBB-5CAF-509F-9F97-BF66B138C05D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DCA15A-0A67-F8D3-F98B-E6319F1CD89A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E0FEE6D-29C9-F582-6EA7-F20688340EE0}"/>
                </a:ext>
              </a:extLst>
            </p:cNvPr>
            <p:cNvGrpSpPr/>
            <p:nvPr/>
          </p:nvGrpSpPr>
          <p:grpSpPr>
            <a:xfrm>
              <a:off x="6870278" y="4592591"/>
              <a:ext cx="3165470" cy="288000"/>
              <a:chOff x="6870278" y="2021429"/>
              <a:chExt cx="3165470" cy="28800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203D298-F9C5-868E-7F1E-4665DEFFA86D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2421839-ED20-714E-09A9-3B4F68A2FB6C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8AE7431-ABE2-A5F4-610A-28D2E17F2867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1A8F090-EEF3-73CE-4B8A-954FAE730E1C}"/>
                </a:ext>
              </a:extLst>
            </p:cNvPr>
            <p:cNvGrpSpPr/>
            <p:nvPr/>
          </p:nvGrpSpPr>
          <p:grpSpPr>
            <a:xfrm>
              <a:off x="6870278" y="5015474"/>
              <a:ext cx="3165470" cy="288000"/>
              <a:chOff x="6870278" y="2021429"/>
              <a:chExt cx="3165470" cy="28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188B02D-D50D-58EA-D25A-AE6CC2AB83F9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3AB67D7-201B-B87E-8A53-D2746EED8575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EA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54D79B4-F60F-E525-E8B0-0246267D8C38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DD266C8-5223-A9DE-FC9E-24099679643A}"/>
                </a:ext>
              </a:extLst>
            </p:cNvPr>
            <p:cNvGrpSpPr/>
            <p:nvPr/>
          </p:nvGrpSpPr>
          <p:grpSpPr>
            <a:xfrm>
              <a:off x="6870278" y="5438357"/>
              <a:ext cx="3165470" cy="288000"/>
              <a:chOff x="6870278" y="2021429"/>
              <a:chExt cx="3165470" cy="28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41AD38E-EF79-5BFA-014F-038C64AFD9A2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C9DF95A-926A-19F8-CE14-71A540F89B44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C3F2FCD-56A1-452E-EC59-E9BCF1913E3A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4ADD4A0-DF02-D8BF-B16E-6D1E7E9641A4}"/>
                </a:ext>
              </a:extLst>
            </p:cNvPr>
            <p:cNvGrpSpPr/>
            <p:nvPr/>
          </p:nvGrpSpPr>
          <p:grpSpPr>
            <a:xfrm>
              <a:off x="6870278" y="5861237"/>
              <a:ext cx="3165470" cy="288000"/>
              <a:chOff x="6870278" y="2021429"/>
              <a:chExt cx="3165470" cy="288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238C48BA-6C59-2E67-4F12-D489A40B7C7A}"/>
                  </a:ext>
                </a:extLst>
              </p:cNvPr>
              <p:cNvSpPr/>
              <p:nvPr/>
            </p:nvSpPr>
            <p:spPr>
              <a:xfrm>
                <a:off x="6870278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C84DF5FD-6273-1984-134E-F5C3C2EC481A}"/>
                  </a:ext>
                </a:extLst>
              </p:cNvPr>
              <p:cNvSpPr/>
              <p:nvPr/>
            </p:nvSpPr>
            <p:spPr>
              <a:xfrm>
                <a:off x="8351379" y="2021429"/>
                <a:ext cx="288000" cy="288000"/>
              </a:xfrm>
              <a:prstGeom prst="ellipse">
                <a:avLst/>
              </a:prstGeom>
              <a:solidFill>
                <a:srgbClr val="D863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B0E0261-B3C8-FF68-2F4F-B3EADE3F4676}"/>
                  </a:ext>
                </a:extLst>
              </p:cNvPr>
              <p:cNvSpPr/>
              <p:nvPr/>
            </p:nvSpPr>
            <p:spPr>
              <a:xfrm>
                <a:off x="9747748" y="2021429"/>
                <a:ext cx="288000" cy="288000"/>
              </a:xfrm>
              <a:prstGeom prst="ellipse">
                <a:avLst/>
              </a:prstGeom>
              <a:solidFill>
                <a:srgbClr val="76A7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BF27ECC8-F178-24F7-0CC8-BE72ED3E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6B647C3-13AC-797E-64D0-92BD747480C7}"/>
              </a:ext>
            </a:extLst>
          </p:cNvPr>
          <p:cNvGrpSpPr/>
          <p:nvPr/>
        </p:nvGrpSpPr>
        <p:grpSpPr>
          <a:xfrm>
            <a:off x="10583270" y="3526366"/>
            <a:ext cx="1302643" cy="903637"/>
            <a:chOff x="6790620" y="6023261"/>
            <a:chExt cx="1302643" cy="903637"/>
          </a:xfrm>
        </p:grpSpPr>
        <p:sp>
          <p:nvSpPr>
            <p:cNvPr id="82" name="Legend_series_2">
              <a:extLst>
                <a:ext uri="{FF2B5EF4-FFF2-40B4-BE49-F238E27FC236}">
                  <a16:creationId xmlns:a16="http://schemas.microsoft.com/office/drawing/2014/main" id="{50EDFAA5-51F9-9E0C-E358-1DA1CB553E92}"/>
                </a:ext>
              </a:extLst>
            </p:cNvPr>
            <p:cNvSpPr/>
            <p:nvPr/>
          </p:nvSpPr>
          <p:spPr>
            <a:xfrm>
              <a:off x="6790734" y="6174260"/>
              <a:ext cx="108000" cy="108000"/>
            </a:xfrm>
            <a:prstGeom prst="ellipse">
              <a:avLst/>
            </a:prstGeom>
            <a:solidFill>
              <a:srgbClr val="76A79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83" name="Textbox_series_2">
              <a:extLst>
                <a:ext uri="{FF2B5EF4-FFF2-40B4-BE49-F238E27FC236}">
                  <a16:creationId xmlns:a16="http://schemas.microsoft.com/office/drawing/2014/main" id="{FCC1A383-390C-6719-B5E0-5344F2CCB356}"/>
                </a:ext>
              </a:extLst>
            </p:cNvPr>
            <p:cNvSpPr txBox="1"/>
            <p:nvPr/>
          </p:nvSpPr>
          <p:spPr>
            <a:xfrm flipH="1">
              <a:off x="6931851" y="6023261"/>
              <a:ext cx="900000" cy="409999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505050">
                      <a:lumMod val="50000"/>
                    </a:srgbClr>
                  </a:solidFill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High Recall</a:t>
              </a:r>
              <a:r>
                <a:rPr kumimoji="0" lang="en-IN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  <p:sp>
          <p:nvSpPr>
            <p:cNvPr id="84" name="Legend_series_2">
              <a:extLst>
                <a:ext uri="{FF2B5EF4-FFF2-40B4-BE49-F238E27FC236}">
                  <a16:creationId xmlns:a16="http://schemas.microsoft.com/office/drawing/2014/main" id="{38BC6FAD-A3E3-3276-F221-3C337AB0A702}"/>
                </a:ext>
              </a:extLst>
            </p:cNvPr>
            <p:cNvSpPr/>
            <p:nvPr/>
          </p:nvSpPr>
          <p:spPr>
            <a:xfrm>
              <a:off x="6790620" y="6421910"/>
              <a:ext cx="108000" cy="108000"/>
            </a:xfrm>
            <a:prstGeom prst="ellipse">
              <a:avLst/>
            </a:prstGeom>
            <a:solidFill>
              <a:srgbClr val="EAC28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85" name="Textbox_series_2">
              <a:extLst>
                <a:ext uri="{FF2B5EF4-FFF2-40B4-BE49-F238E27FC236}">
                  <a16:creationId xmlns:a16="http://schemas.microsoft.com/office/drawing/2014/main" id="{AA9AFF62-ADA0-0AD0-FDA0-7E2DA12BEC33}"/>
                </a:ext>
              </a:extLst>
            </p:cNvPr>
            <p:cNvSpPr txBox="1"/>
            <p:nvPr/>
          </p:nvSpPr>
          <p:spPr>
            <a:xfrm flipH="1">
              <a:off x="6941263" y="6270080"/>
              <a:ext cx="1152000" cy="409999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505050">
                      <a:lumMod val="50000"/>
                    </a:srgbClr>
                  </a:solidFill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Moderate Recall</a:t>
              </a:r>
              <a:r>
                <a:rPr kumimoji="0" lang="en-IN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  <p:sp>
          <p:nvSpPr>
            <p:cNvPr id="86" name="Legend_series_2">
              <a:extLst>
                <a:ext uri="{FF2B5EF4-FFF2-40B4-BE49-F238E27FC236}">
                  <a16:creationId xmlns:a16="http://schemas.microsoft.com/office/drawing/2014/main" id="{F7A128FF-C1E7-4CE9-C455-9BF2CB758FD3}"/>
                </a:ext>
              </a:extLst>
            </p:cNvPr>
            <p:cNvSpPr/>
            <p:nvPr/>
          </p:nvSpPr>
          <p:spPr>
            <a:xfrm>
              <a:off x="6790734" y="6667898"/>
              <a:ext cx="108000" cy="108000"/>
            </a:xfrm>
            <a:prstGeom prst="ellipse">
              <a:avLst/>
            </a:prstGeom>
            <a:solidFill>
              <a:srgbClr val="D8634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87" name="Textbox_series_2">
              <a:extLst>
                <a:ext uri="{FF2B5EF4-FFF2-40B4-BE49-F238E27FC236}">
                  <a16:creationId xmlns:a16="http://schemas.microsoft.com/office/drawing/2014/main" id="{496CE85B-E3FC-5FF2-950A-4ACD9F5DF708}"/>
                </a:ext>
              </a:extLst>
            </p:cNvPr>
            <p:cNvSpPr txBox="1"/>
            <p:nvPr/>
          </p:nvSpPr>
          <p:spPr>
            <a:xfrm flipH="1">
              <a:off x="6938060" y="6516899"/>
              <a:ext cx="900000" cy="409999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505050">
                      <a:lumMod val="50000"/>
                    </a:srgbClr>
                  </a:solidFill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Low Recall</a:t>
              </a:r>
              <a:r>
                <a:rPr kumimoji="0" lang="en-IN" sz="1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</p:grpSp>
      <p:sp>
        <p:nvSpPr>
          <p:cNvPr id="3" name="Highlight#25">
            <a:extLst>
              <a:ext uri="{FF2B5EF4-FFF2-40B4-BE49-F238E27FC236}">
                <a16:creationId xmlns:a16="http://schemas.microsoft.com/office/drawing/2014/main" id="{FF0180A9-9327-6B38-2758-5AFB70C81C44}"/>
              </a:ext>
            </a:extLst>
          </p:cNvPr>
          <p:cNvSpPr txBox="1"/>
          <p:nvPr/>
        </p:nvSpPr>
        <p:spPr>
          <a:xfrm>
            <a:off x="8100990" y="3235711"/>
            <a:ext cx="788844" cy="2529019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Highlight#25">
            <a:extLst>
              <a:ext uri="{FF2B5EF4-FFF2-40B4-BE49-F238E27FC236}">
                <a16:creationId xmlns:a16="http://schemas.microsoft.com/office/drawing/2014/main" id="{25975647-74A2-B420-4D0D-E38A65D33F5C}"/>
              </a:ext>
            </a:extLst>
          </p:cNvPr>
          <p:cNvSpPr txBox="1"/>
          <p:nvPr/>
        </p:nvSpPr>
        <p:spPr>
          <a:xfrm>
            <a:off x="9504674" y="4486878"/>
            <a:ext cx="788844" cy="936957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Highlight#25">
            <a:extLst>
              <a:ext uri="{FF2B5EF4-FFF2-40B4-BE49-F238E27FC236}">
                <a16:creationId xmlns:a16="http://schemas.microsoft.com/office/drawing/2014/main" id="{452D662B-D313-8229-371D-F9DA7BC0BE94}"/>
              </a:ext>
            </a:extLst>
          </p:cNvPr>
          <p:cNvSpPr txBox="1"/>
          <p:nvPr/>
        </p:nvSpPr>
        <p:spPr>
          <a:xfrm>
            <a:off x="9504673" y="3263667"/>
            <a:ext cx="788844" cy="415589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270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BBD9-D1E4-5289-B31C-02E67184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504;p12">
            <a:extLst>
              <a:ext uri="{FF2B5EF4-FFF2-40B4-BE49-F238E27FC236}">
                <a16:creationId xmlns:a16="http://schemas.microsoft.com/office/drawing/2014/main" id="{0D8CAAAA-B572-AE01-CE82-3E3255B9A555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defTabSz="912572">
              <a:defRPr/>
            </a:pPr>
            <a:r>
              <a:rPr lang="en-US" sz="1000" b="1">
                <a:solidFill>
                  <a:srgbClr val="000000"/>
                </a:solidFill>
                <a:latin typeface="Johnson Display"/>
                <a:ea typeface="Verdana" panose="020B0604030504040204" pitchFamily="34" charset="0"/>
              </a:rPr>
              <a:t>[PRODUCT] </a:t>
            </a:r>
            <a:r>
              <a:rPr lang="en-GB" sz="1000" b="1">
                <a:solidFill>
                  <a:srgbClr val="505050">
                    <a:lumMod val="50000"/>
                  </a:srgbClr>
                </a:solidFill>
                <a:latin typeface="Johnson Display"/>
                <a:ea typeface="Verdana" panose="020B0604030504040204" pitchFamily="34" charset="0"/>
              </a:rPr>
              <a:t>MESSAGE EFFECTIVENESS – </a:t>
            </a:r>
            <a:r>
              <a:rPr lang="en-GB" sz="1000" b="1">
                <a:solidFill>
                  <a:srgbClr val="F75824"/>
                </a:solidFill>
                <a:latin typeface="Johnson Display"/>
                <a:ea typeface="Verdana" panose="020B0604030504040204" pitchFamily="34" charset="0"/>
              </a:rPr>
              <a:t>RYB+LAZ </a:t>
            </a:r>
            <a:r>
              <a:rPr lang="en-GB" sz="1000" b="1">
                <a:solidFill>
                  <a:srgbClr val="505050">
                    <a:lumMod val="50000"/>
                  </a:srgbClr>
                </a:solidFill>
                <a:latin typeface="Johnson Display"/>
                <a:ea typeface="Verdana" panose="020B0604030504040204" pitchFamily="34" charset="0"/>
              </a:rPr>
              <a:t>– Q4'25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CE580FA-E13C-CC67-D960-B7D1E0055E67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2607842"/>
              </p:ext>
            </p:extLst>
          </p:nvPr>
        </p:nvGraphicFramePr>
        <p:xfrm>
          <a:off x="3393539" y="1916862"/>
          <a:ext cx="1520994" cy="3794100"/>
        </p:xfrm>
        <a:graphic>
          <a:graphicData uri="http://schemas.openxmlformats.org/drawingml/2006/table">
            <a:tbl>
              <a:tblPr/>
              <a:tblGrid>
                <a:gridCol w="760497">
                  <a:extLst>
                    <a:ext uri="{9D8B030D-6E8A-4147-A177-3AD203B41FA5}">
                      <a16:colId xmlns:a16="http://schemas.microsoft.com/office/drawing/2014/main" val="1724400332"/>
                    </a:ext>
                  </a:extLst>
                </a:gridCol>
                <a:gridCol w="760497">
                  <a:extLst>
                    <a:ext uri="{9D8B030D-6E8A-4147-A177-3AD203B41FA5}">
                      <a16:colId xmlns:a16="http://schemas.microsoft.com/office/drawing/2014/main" val="2989238016"/>
                    </a:ext>
                  </a:extLst>
                </a:gridCol>
              </a:tblGrid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C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C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706337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C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03680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CA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790192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7CD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643275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7CD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443474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68%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D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3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347524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CA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DC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02364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DC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E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86768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5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463359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5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089486"/>
                  </a:ext>
                </a:extLst>
              </a:tr>
            </a:tbl>
          </a:graphicData>
        </a:graphic>
      </p:graphicFrame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56A8030-C812-8798-2585-1A411C8D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4" name="mr table">
            <a:extLst>
              <a:ext uri="{FF2B5EF4-FFF2-40B4-BE49-F238E27FC236}">
                <a16:creationId xmlns:a16="http://schemas.microsoft.com/office/drawing/2014/main" id="{D36B65E9-0291-D682-332E-2EC719B5CB85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0285410"/>
              </p:ext>
            </p:extLst>
          </p:nvPr>
        </p:nvGraphicFramePr>
        <p:xfrm>
          <a:off x="427381" y="1914368"/>
          <a:ext cx="2774137" cy="3796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137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– CNS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- OS Headline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– CNS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– NSCLC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- mOS Not Reached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128658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MOA – Inhibition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656482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Efficacy – mPFS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7306214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Indication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79855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– ARs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8086563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Safety – Proactive Therapy Management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9461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DC2D5B-4233-F550-7E5A-69D86A87CD1E}"/>
              </a:ext>
            </a:extLst>
          </p:cNvPr>
          <p:cNvSpPr txBox="1"/>
          <p:nvPr/>
        </p:nvSpPr>
        <p:spPr>
          <a:xfrm>
            <a:off x="1303817" y="1631688"/>
            <a:ext cx="102126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</a:t>
            </a:r>
            <a:r>
              <a:rPr kumimoji="0" lang="en-IN" sz="11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$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167F33-EBDC-B93E-27EC-9D8EDE9D2136}"/>
              </a:ext>
            </a:extLst>
          </p:cNvPr>
          <p:cNvSpPr txBox="1"/>
          <p:nvPr/>
        </p:nvSpPr>
        <p:spPr>
          <a:xfrm>
            <a:off x="5494677" y="1631688"/>
            <a:ext cx="157050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Believability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80CC68-E876-99DC-BD34-06E0176BA7EA}"/>
              </a:ext>
            </a:extLst>
          </p:cNvPr>
          <p:cNvSpPr txBox="1"/>
          <p:nvPr/>
        </p:nvSpPr>
        <p:spPr>
          <a:xfrm>
            <a:off x="7681273" y="1631688"/>
            <a:ext cx="1570509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Differentiation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487437-C62D-28B0-AD8C-A2E7DCF9712A}"/>
              </a:ext>
            </a:extLst>
          </p:cNvPr>
          <p:cNvSpPr txBox="1"/>
          <p:nvPr/>
        </p:nvSpPr>
        <p:spPr>
          <a:xfrm>
            <a:off x="9823328" y="1631688"/>
            <a:ext cx="157050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Motivating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5CEAEB-572C-2FB8-A6E9-7E0360F58849}"/>
              </a:ext>
            </a:extLst>
          </p:cNvPr>
          <p:cNvSpPr txBox="1"/>
          <p:nvPr/>
        </p:nvSpPr>
        <p:spPr>
          <a:xfrm>
            <a:off x="7408062" y="5680098"/>
            <a:ext cx="2116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85A77D-2649-903F-D656-0E7DEF8A2FCF}"/>
              </a:ext>
            </a:extLst>
          </p:cNvPr>
          <p:cNvSpPr txBox="1"/>
          <p:nvPr/>
        </p:nvSpPr>
        <p:spPr>
          <a:xfrm>
            <a:off x="3112889" y="5680098"/>
            <a:ext cx="21351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68059-51D8-6CD1-5ED2-419075A60E2D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Question text in speaker notes | ^Message effectiveness is the geometric mean of % of high ratings (6, 7 out of 7) for motivation, differentiation, and believability attributes of messages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Complete message text in speaker notes | No statistically significant difference with 95% confidence interval between the latest two quarters |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 indicates number of responses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|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FDFFC3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FDFFC3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edited during end of Oct’25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DCF4C4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added in Nov’25 (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d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DCF4C4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=34)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B0521E9-61D7-7359-5211-C53012787592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HCPs view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NCCN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messages as most differentiated; updated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CNS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and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OS headline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messages are rated less motivating, while updated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mOS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and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proactive therapy management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are perceived less differentiating QoQ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558FC8-784D-390C-AB66-D0F7DF13DE64}"/>
              </a:ext>
            </a:extLst>
          </p:cNvPr>
          <p:cNvSpPr txBox="1"/>
          <p:nvPr/>
        </p:nvSpPr>
        <p:spPr>
          <a:xfrm>
            <a:off x="5212336" y="5680098"/>
            <a:ext cx="21351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E4030A-2D38-A44F-3C7A-32BE94B42662}"/>
              </a:ext>
            </a:extLst>
          </p:cNvPr>
          <p:cNvSpPr txBox="1"/>
          <p:nvPr/>
        </p:nvSpPr>
        <p:spPr>
          <a:xfrm>
            <a:off x="9550117" y="5680098"/>
            <a:ext cx="2116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6" name="Reach">
            <a:extLst>
              <a:ext uri="{FF2B5EF4-FFF2-40B4-BE49-F238E27FC236}">
                <a16:creationId xmlns:a16="http://schemas.microsoft.com/office/drawing/2014/main" id="{0E85CE07-79A3-671B-AA1A-13C2AB0D2875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36740519"/>
              </p:ext>
            </p:extLst>
          </p:nvPr>
        </p:nvGraphicFramePr>
        <p:xfrm>
          <a:off x="5411372" y="1917292"/>
          <a:ext cx="1737118" cy="382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5" name="Shape_69984364">
            <a:extLst>
              <a:ext uri="{FF2B5EF4-FFF2-40B4-BE49-F238E27FC236}">
                <a16:creationId xmlns:a16="http://schemas.microsoft.com/office/drawing/2014/main" id="{21C70515-6411-9DC6-3195-AFF2CA609C94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09190230"/>
              </p:ext>
            </p:extLst>
          </p:nvPr>
        </p:nvGraphicFramePr>
        <p:xfrm>
          <a:off x="7597968" y="1916868"/>
          <a:ext cx="1737118" cy="382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EB847F6-F78A-0DF7-16BF-0D19FD406139}"/>
              </a:ext>
            </a:extLst>
          </p:cNvPr>
          <p:cNvSpPr txBox="1"/>
          <p:nvPr/>
        </p:nvSpPr>
        <p:spPr>
          <a:xfrm>
            <a:off x="3309596" y="1447511"/>
            <a:ext cx="18360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Message Effectiveness^</a:t>
            </a:r>
          </a:p>
        </p:txBody>
      </p:sp>
      <p:sp>
        <p:nvSpPr>
          <p:cNvPr id="18" name="Textbox_series_2">
            <a:extLst>
              <a:ext uri="{FF2B5EF4-FFF2-40B4-BE49-F238E27FC236}">
                <a16:creationId xmlns:a16="http://schemas.microsoft.com/office/drawing/2014/main" id="{2B77D3CF-E452-7425-0821-8A195207528E}"/>
              </a:ext>
            </a:extLst>
          </p:cNvPr>
          <p:cNvSpPr txBox="1"/>
          <p:nvPr/>
        </p:nvSpPr>
        <p:spPr>
          <a:xfrm flipH="1">
            <a:off x="3301941" y="1591565"/>
            <a:ext cx="965062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Q3'25</a:t>
            </a:r>
          </a:p>
        </p:txBody>
      </p:sp>
      <p:sp>
        <p:nvSpPr>
          <p:cNvPr id="20" name="Textbox_series_2">
            <a:extLst>
              <a:ext uri="{FF2B5EF4-FFF2-40B4-BE49-F238E27FC236}">
                <a16:creationId xmlns:a16="http://schemas.microsoft.com/office/drawing/2014/main" id="{7ED0B51F-328C-CC88-84EA-5E45363EF956}"/>
              </a:ext>
            </a:extLst>
          </p:cNvPr>
          <p:cNvSpPr txBox="1"/>
          <p:nvPr/>
        </p:nvSpPr>
        <p:spPr>
          <a:xfrm flipH="1">
            <a:off x="4069972" y="1591565"/>
            <a:ext cx="965062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Q4'25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2C6FFBB-0EAD-D120-E97E-E28E36908092}"/>
              </a:ext>
            </a:extLst>
          </p:cNvPr>
          <p:cNvGrpSpPr/>
          <p:nvPr/>
        </p:nvGrpSpPr>
        <p:grpSpPr>
          <a:xfrm>
            <a:off x="7796985" y="5863469"/>
            <a:ext cx="1745649" cy="341856"/>
            <a:chOff x="1414038" y="5693222"/>
            <a:chExt cx="1745649" cy="3418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A39BF41-D7BA-2B82-4092-226C2304A81F}"/>
                </a:ext>
              </a:extLst>
            </p:cNvPr>
            <p:cNvGrpSpPr/>
            <p:nvPr/>
          </p:nvGrpSpPr>
          <p:grpSpPr>
            <a:xfrm>
              <a:off x="1414038" y="5693222"/>
              <a:ext cx="1006652" cy="341856"/>
              <a:chOff x="77968" y="5861840"/>
              <a:chExt cx="1006652" cy="341856"/>
            </a:xfrm>
          </p:grpSpPr>
          <p:sp>
            <p:nvSpPr>
              <p:cNvPr id="30" name="Textbox_series_2">
                <a:extLst>
                  <a:ext uri="{FF2B5EF4-FFF2-40B4-BE49-F238E27FC236}">
                    <a16:creationId xmlns:a16="http://schemas.microsoft.com/office/drawing/2014/main" id="{C21AEE4A-A338-6020-AE9F-F877229C3409}"/>
                  </a:ext>
                </a:extLst>
              </p:cNvPr>
              <p:cNvSpPr txBox="1"/>
              <p:nvPr/>
            </p:nvSpPr>
            <p:spPr>
              <a:xfrm flipH="1">
                <a:off x="77968" y="5861840"/>
                <a:ext cx="1006652" cy="341856"/>
              </a:xfrm>
              <a:prstGeom prst="rect">
                <a:avLst/>
              </a:prstGeom>
              <a:noFill/>
            </p:spPr>
            <p:txBody>
              <a:bodyPr vert="horz"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Q3'25 </a:t>
                </a:r>
                <a:b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</a:b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(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d = 54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) </a:t>
                </a:r>
              </a:p>
            </p:txBody>
          </p:sp>
          <p:sp>
            <p:nvSpPr>
              <p:cNvPr id="31" name="Legend_series_2">
                <a:extLst>
                  <a:ext uri="{FF2B5EF4-FFF2-40B4-BE49-F238E27FC236}">
                    <a16:creationId xmlns:a16="http://schemas.microsoft.com/office/drawing/2014/main" id="{03D934E0-6A0E-1CAD-D569-2FB9A176BA7D}"/>
                  </a:ext>
                </a:extLst>
              </p:cNvPr>
              <p:cNvSpPr/>
              <p:nvPr/>
            </p:nvSpPr>
            <p:spPr>
              <a:xfrm>
                <a:off x="194454" y="5945327"/>
                <a:ext cx="109443" cy="107608"/>
              </a:xfrm>
              <a:prstGeom prst="ellipse">
                <a:avLst/>
              </a:prstGeom>
              <a:noFill/>
              <a:ln>
                <a:solidFill>
                  <a:srgbClr val="F75824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1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AA8B12B-D20F-2E6A-505D-B3341155D40C}"/>
                </a:ext>
              </a:extLst>
            </p:cNvPr>
            <p:cNvGrpSpPr/>
            <p:nvPr/>
          </p:nvGrpSpPr>
          <p:grpSpPr>
            <a:xfrm>
              <a:off x="2153035" y="5693222"/>
              <a:ext cx="1006652" cy="341856"/>
              <a:chOff x="77968" y="5861840"/>
              <a:chExt cx="1006652" cy="341856"/>
            </a:xfrm>
          </p:grpSpPr>
          <p:sp>
            <p:nvSpPr>
              <p:cNvPr id="10" name="Textbox_series_2">
                <a:extLst>
                  <a:ext uri="{FF2B5EF4-FFF2-40B4-BE49-F238E27FC236}">
                    <a16:creationId xmlns:a16="http://schemas.microsoft.com/office/drawing/2014/main" id="{145E9AC2-6723-98E1-A8F0-489F6734EB8B}"/>
                  </a:ext>
                </a:extLst>
              </p:cNvPr>
              <p:cNvSpPr txBox="1"/>
              <p:nvPr/>
            </p:nvSpPr>
            <p:spPr>
              <a:xfrm flipH="1">
                <a:off x="77968" y="5861840"/>
                <a:ext cx="1006652" cy="341856"/>
              </a:xfrm>
              <a:prstGeom prst="rect">
                <a:avLst/>
              </a:prstGeom>
              <a:noFill/>
            </p:spPr>
            <p:txBody>
              <a:bodyPr vert="horz"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Q4'25 </a:t>
                </a:r>
                <a:b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</a:b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(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d = 51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) </a:t>
                </a:r>
              </a:p>
            </p:txBody>
          </p:sp>
          <p:sp>
            <p:nvSpPr>
              <p:cNvPr id="28" name="Legend_series_2">
                <a:extLst>
                  <a:ext uri="{FF2B5EF4-FFF2-40B4-BE49-F238E27FC236}">
                    <a16:creationId xmlns:a16="http://schemas.microsoft.com/office/drawing/2014/main" id="{D40132C3-5307-D09A-FD76-E1B29367AC8E}"/>
                  </a:ext>
                </a:extLst>
              </p:cNvPr>
              <p:cNvSpPr/>
              <p:nvPr/>
            </p:nvSpPr>
            <p:spPr>
              <a:xfrm>
                <a:off x="194454" y="5945327"/>
                <a:ext cx="109443" cy="107608"/>
              </a:xfrm>
              <a:prstGeom prst="ellipse">
                <a:avLst/>
              </a:prstGeom>
              <a:solidFill>
                <a:srgbClr val="F7582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1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21" name="Shape_92164032">
            <a:extLst>
              <a:ext uri="{FF2B5EF4-FFF2-40B4-BE49-F238E27FC236}">
                <a16:creationId xmlns:a16="http://schemas.microsoft.com/office/drawing/2014/main" id="{C3596A96-71A5-F050-AA23-316E4F30E02B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202943847"/>
              </p:ext>
            </p:extLst>
          </p:nvPr>
        </p:nvGraphicFramePr>
        <p:xfrm>
          <a:off x="9740023" y="1910490"/>
          <a:ext cx="1737118" cy="382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03F8B25B-A0C3-E471-6311-17E39071479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12" name="Highlight#25">
            <a:extLst>
              <a:ext uri="{FF2B5EF4-FFF2-40B4-BE49-F238E27FC236}">
                <a16:creationId xmlns:a16="http://schemas.microsoft.com/office/drawing/2014/main" id="{56654DC1-8060-D520-9008-C5F7C5E3FD1D}"/>
              </a:ext>
            </a:extLst>
          </p:cNvPr>
          <p:cNvSpPr txBox="1"/>
          <p:nvPr/>
        </p:nvSpPr>
        <p:spPr>
          <a:xfrm>
            <a:off x="447675" y="1910490"/>
            <a:ext cx="2753843" cy="190967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9" name="Google Shape;229;p3">
            <a:extLst>
              <a:ext uri="{FF2B5EF4-FFF2-40B4-BE49-F238E27FC236}">
                <a16:creationId xmlns:a16="http://schemas.microsoft.com/office/drawing/2014/main" id="{AFF85EA6-DF15-278A-D851-5A18E4FB523B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B3499FF1-E127-E506-151E-D1FC9758058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35" name="Highlight#25">
            <a:extLst>
              <a:ext uri="{FF2B5EF4-FFF2-40B4-BE49-F238E27FC236}">
                <a16:creationId xmlns:a16="http://schemas.microsoft.com/office/drawing/2014/main" id="{350D58C5-56C0-EA62-1F6C-1FA0DDA404A1}"/>
              </a:ext>
            </a:extLst>
          </p:cNvPr>
          <p:cNvSpPr txBox="1"/>
          <p:nvPr/>
        </p:nvSpPr>
        <p:spPr>
          <a:xfrm>
            <a:off x="447675" y="5319718"/>
            <a:ext cx="2772000" cy="396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6" name="Highlight#25">
            <a:extLst>
              <a:ext uri="{FF2B5EF4-FFF2-40B4-BE49-F238E27FC236}">
                <a16:creationId xmlns:a16="http://schemas.microsoft.com/office/drawing/2014/main" id="{6BA99CCC-EE50-5CA0-6FFD-E7FCC6E26DD0}"/>
              </a:ext>
            </a:extLst>
          </p:cNvPr>
          <p:cNvSpPr txBox="1"/>
          <p:nvPr/>
        </p:nvSpPr>
        <p:spPr>
          <a:xfrm>
            <a:off x="7524828" y="2667324"/>
            <a:ext cx="1872000" cy="1080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7" name="Highlight#25">
            <a:extLst>
              <a:ext uri="{FF2B5EF4-FFF2-40B4-BE49-F238E27FC236}">
                <a16:creationId xmlns:a16="http://schemas.microsoft.com/office/drawing/2014/main" id="{FBC868BC-E181-8F1C-E9B3-2B32E097C098}"/>
              </a:ext>
            </a:extLst>
          </p:cNvPr>
          <p:cNvSpPr txBox="1"/>
          <p:nvPr/>
        </p:nvSpPr>
        <p:spPr>
          <a:xfrm>
            <a:off x="9652097" y="1935661"/>
            <a:ext cx="1872000" cy="720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8" name="Highlight#25">
            <a:extLst>
              <a:ext uri="{FF2B5EF4-FFF2-40B4-BE49-F238E27FC236}">
                <a16:creationId xmlns:a16="http://schemas.microsoft.com/office/drawing/2014/main" id="{4B893F96-153B-C2DE-E1E1-EB041D840085}"/>
              </a:ext>
            </a:extLst>
          </p:cNvPr>
          <p:cNvSpPr txBox="1"/>
          <p:nvPr/>
        </p:nvSpPr>
        <p:spPr>
          <a:xfrm>
            <a:off x="7524828" y="5191282"/>
            <a:ext cx="1872000" cy="365135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488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906D4-9C48-1A3B-0150-270D67C1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04;p12">
            <a:extLst>
              <a:ext uri="{FF2B5EF4-FFF2-40B4-BE49-F238E27FC236}">
                <a16:creationId xmlns:a16="http://schemas.microsoft.com/office/drawing/2014/main" id="{F3525A46-246C-BBF5-6055-2BE1B29DFBD8}"/>
              </a:ext>
            </a:extLst>
          </p:cNvPr>
          <p:cNvSpPr txBox="1"/>
          <p:nvPr/>
        </p:nvSpPr>
        <p:spPr>
          <a:xfrm>
            <a:off x="434597" y="1179221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Low Motivating Components of Messages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Q4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'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57390D0-C798-24B3-7769-580C2D7B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BBEBB-3B49-831A-9B03-03501A5F0A26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2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asked only to respondents who perceived the messages less motivating (rated &lt;6) | Industry average definitions found in slide 4 | Note: List of responses is not exhaustive </a:t>
            </a:r>
            <a:r>
              <a:rPr kumimoji="1" lang="en-IN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  <a:sym typeface="Arial"/>
              </a:rPr>
              <a:t>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| </a:t>
            </a:r>
            <a:r>
              <a:rPr kumimoji="1" lang="en-US" sz="900" i="1" kern="0" dirty="0">
                <a:solidFill>
                  <a:srgbClr val="FF0000"/>
                </a:solidFill>
                <a:latin typeface="Johnson Text" panose="020B0604020202020204" charset="0"/>
                <a:cs typeface="Johnson Text" panose="020B0604020202020204" charset="0"/>
                <a:sym typeface="Verdana"/>
              </a:rPr>
              <a:t>*Low Sample</a:t>
            </a:r>
            <a:endParaRPr kumimoji="1" lang="en-US" sz="900" i="1" kern="0" dirty="0">
              <a:solidFill>
                <a:srgbClr val="FFFFFF">
                  <a:lumMod val="50000"/>
                </a:srgbClr>
              </a:solidFill>
              <a:latin typeface="Johnson Text" panose="020B0604020202020204" charset="0"/>
              <a:cs typeface="Johnson Text" panose="020B0604020202020204" charset="0"/>
            </a:endParaRPr>
          </a:p>
        </p:txBody>
      </p:sp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4718AE60-2B34-D2AA-13EF-B114DEF785F1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B912025B-0E24-CC21-FE3E-E10B1BC19E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29421E-C059-B602-08CC-E270BED03021}"/>
              </a:ext>
            </a:extLst>
          </p:cNvPr>
          <p:cNvSpPr txBox="1"/>
          <p:nvPr/>
        </p:nvSpPr>
        <p:spPr>
          <a:xfrm>
            <a:off x="960117" y="6048978"/>
            <a:ext cx="1836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5EC688-8680-652D-AF31-6D734BF1F17E}"/>
              </a:ext>
            </a:extLst>
          </p:cNvPr>
          <p:cNvGrpSpPr/>
          <p:nvPr/>
        </p:nvGrpSpPr>
        <p:grpSpPr>
          <a:xfrm>
            <a:off x="393404" y="1525961"/>
            <a:ext cx="11405193" cy="468000"/>
            <a:chOff x="582831" y="960612"/>
            <a:chExt cx="11405193" cy="46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14F973-F0CB-91F1-AC6D-F1B938DB244C}"/>
                </a:ext>
              </a:extLst>
            </p:cNvPr>
            <p:cNvSpPr/>
            <p:nvPr/>
          </p:nvSpPr>
          <p:spPr>
            <a:xfrm>
              <a:off x="6096000" y="960612"/>
              <a:ext cx="5892024" cy="468000"/>
            </a:xfrm>
            <a:prstGeom prst="rect">
              <a:avLst/>
            </a:prstGeom>
            <a:solidFill>
              <a:srgbClr val="EB1700">
                <a:alpha val="14902"/>
              </a:srgbClr>
            </a:solidFill>
            <a:ln>
              <a:solidFill>
                <a:schemeClr val="accent1"/>
              </a:solidFill>
              <a:prstDash val="dash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0" tIns="91440" rIns="18288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HCPs were asked to highlight the part of the message they felt could be expanded upon to improve their motivation perceptions</a:t>
              </a:r>
              <a:endParaRPr kumimoji="0" lang="en-I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7D82EA-E81B-FC91-9240-5E248D0D94C1}"/>
                </a:ext>
              </a:extLst>
            </p:cNvPr>
            <p:cNvSpPr/>
            <p:nvPr/>
          </p:nvSpPr>
          <p:spPr>
            <a:xfrm>
              <a:off x="582831" y="960612"/>
              <a:ext cx="5522764" cy="468000"/>
            </a:xfrm>
            <a:prstGeom prst="rect">
              <a:avLst/>
            </a:prstGeom>
            <a:solidFill>
              <a:srgbClr val="EB1700">
                <a:alpha val="14902"/>
              </a:srgbClr>
            </a:solidFill>
            <a:ln>
              <a:solidFill>
                <a:schemeClr val="accent1"/>
              </a:solidFill>
              <a:prstDash val="dash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0" tIns="91440" rIns="18288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Text Highlighter</a:t>
              </a:r>
              <a:r>
                <a:rPr kumimoji="0" lang="en-IN" sz="1000" b="0" i="1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2</a:t>
              </a: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 is new feature on the ZoomRx survey platform that allows HCPs to highlight a part of text upon a prompt and follow up with a voice response.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C56FC0-A11C-907F-6B2E-3C119EB33234}"/>
              </a:ext>
            </a:extLst>
          </p:cNvPr>
          <p:cNvGrpSpPr/>
          <p:nvPr/>
        </p:nvGrpSpPr>
        <p:grpSpPr>
          <a:xfrm>
            <a:off x="4591195" y="6030085"/>
            <a:ext cx="2839750" cy="553998"/>
            <a:chOff x="2075717" y="1546769"/>
            <a:chExt cx="2839750" cy="55399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B550267-B850-248F-9489-91E38D0E0EA5}"/>
                </a:ext>
              </a:extLst>
            </p:cNvPr>
            <p:cNvGrpSpPr/>
            <p:nvPr/>
          </p:nvGrpSpPr>
          <p:grpSpPr>
            <a:xfrm>
              <a:off x="2075717" y="1546769"/>
              <a:ext cx="991363" cy="553998"/>
              <a:chOff x="2075717" y="1546769"/>
              <a:chExt cx="991363" cy="553998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E19D91-76F5-167F-89C2-04DBBDCF5A83}"/>
                  </a:ext>
                </a:extLst>
              </p:cNvPr>
              <p:cNvSpPr txBox="1"/>
              <p:nvPr/>
            </p:nvSpPr>
            <p:spPr>
              <a:xfrm>
                <a:off x="2239080" y="1546769"/>
                <a:ext cx="828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Highlighted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40%-49% times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6037713-3E8A-31E9-D0B4-4461F0FB4088}"/>
                  </a:ext>
                </a:extLst>
              </p:cNvPr>
              <p:cNvSpPr/>
              <p:nvPr/>
            </p:nvSpPr>
            <p:spPr>
              <a:xfrm>
                <a:off x="2075717" y="1749420"/>
                <a:ext cx="153700" cy="14869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4B612CC-405B-B844-B186-8CEC72B422F7}"/>
                </a:ext>
              </a:extLst>
            </p:cNvPr>
            <p:cNvGrpSpPr/>
            <p:nvPr/>
          </p:nvGrpSpPr>
          <p:grpSpPr>
            <a:xfrm>
              <a:off x="3418742" y="1546769"/>
              <a:ext cx="991363" cy="553998"/>
              <a:chOff x="3418742" y="1546769"/>
              <a:chExt cx="991363" cy="553998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DDABA9-248E-D3FF-BF23-5F824A8A5AAC}"/>
                  </a:ext>
                </a:extLst>
              </p:cNvPr>
              <p:cNvSpPr txBox="1"/>
              <p:nvPr/>
            </p:nvSpPr>
            <p:spPr>
              <a:xfrm>
                <a:off x="3582105" y="1546769"/>
                <a:ext cx="828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Highlighted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50%-59% times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8D130B4-2FB3-D21B-8328-C241A5EECD76}"/>
                  </a:ext>
                </a:extLst>
              </p:cNvPr>
              <p:cNvSpPr/>
              <p:nvPr/>
            </p:nvSpPr>
            <p:spPr>
              <a:xfrm>
                <a:off x="3418742" y="1749420"/>
                <a:ext cx="153700" cy="14869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A009534-416D-F2A8-AC98-486955EFD857}"/>
                </a:ext>
              </a:extLst>
            </p:cNvPr>
            <p:cNvSpPr/>
            <p:nvPr/>
          </p:nvSpPr>
          <p:spPr>
            <a:xfrm>
              <a:off x="4761767" y="1749420"/>
              <a:ext cx="153700" cy="1486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DE7ACC67-25F8-86BA-84E9-C50BB9707A83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2375979"/>
              </p:ext>
            </p:extLst>
          </p:nvPr>
        </p:nvGraphicFramePr>
        <p:xfrm>
          <a:off x="335017" y="2112610"/>
          <a:ext cx="11372400" cy="39118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54000">
                  <a:extLst>
                    <a:ext uri="{9D8B030D-6E8A-4147-A177-3AD203B41FA5}">
                      <a16:colId xmlns:a16="http://schemas.microsoft.com/office/drawing/2014/main" val="3783729330"/>
                    </a:ext>
                  </a:extLst>
                </a:gridCol>
                <a:gridCol w="1144800">
                  <a:extLst>
                    <a:ext uri="{9D8B030D-6E8A-4147-A177-3AD203B41FA5}">
                      <a16:colId xmlns:a16="http://schemas.microsoft.com/office/drawing/2014/main" val="464092043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969219889"/>
                    </a:ext>
                  </a:extLst>
                </a:gridCol>
                <a:gridCol w="4593600">
                  <a:extLst>
                    <a:ext uri="{9D8B030D-6E8A-4147-A177-3AD203B41FA5}">
                      <a16:colId xmlns:a16="http://schemas.microsoft.com/office/drawing/2014/main" val="960211463"/>
                    </a:ext>
                  </a:extLst>
                </a:gridCol>
              </a:tblGrid>
              <a:tr h="548765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/>
                          </a:solidFill>
                          <a:latin typeface="+mj-lt"/>
                        </a:rPr>
                        <a:t>Tags</a:t>
                      </a:r>
                      <a:endParaRPr lang="en-IN" sz="1100" baseline="300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/>
                          </a:solidFill>
                          <a:latin typeface="+mj-lt"/>
                        </a:rPr>
                        <a:t>Motivation</a:t>
                      </a:r>
                    </a:p>
                    <a:p>
                      <a:pPr algn="ctr"/>
                      <a:r>
                        <a:rPr lang="en-IN" sz="1000" b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(IA = 74%) </a:t>
                      </a:r>
                    </a:p>
                    <a:p>
                      <a:pPr algn="ctr"/>
                      <a:r>
                        <a:rPr lang="en-IN" sz="1000" b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(d = 51)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  <a:latin typeface="+mj-lt"/>
                        </a:rPr>
                        <a:t>M</a:t>
                      </a:r>
                      <a:r>
                        <a:rPr lang="en-IN" sz="1100" err="1">
                          <a:solidFill>
                            <a:schemeClr val="tx1"/>
                          </a:solidFill>
                          <a:latin typeface="+mj-lt"/>
                        </a:rPr>
                        <a:t>essages</a:t>
                      </a:r>
                      <a:endParaRPr lang="en-IN" sz="11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Why Highlighted Components were not Motivating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216618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- OS Headline</a:t>
                      </a:r>
                      <a:b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</a:b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(d = 16</a:t>
                      </a:r>
                      <a:r>
                        <a:rPr kumimoji="1" lang="en-US" sz="1000" i="0" kern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)</a:t>
                      </a:r>
                      <a:endParaRPr lang="en-IN" sz="1000" b="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 67%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7D4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Unmatched survival: RYBREVANT</a:t>
                      </a:r>
                      <a:r>
                        <a:rPr lang="en-US" sz="1000" b="0" i="1" baseline="300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b="0" i="1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 + LAZCLUZE</a:t>
                      </a:r>
                      <a:r>
                        <a:rPr lang="en-US" sz="1000" b="0" i="1" baseline="300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b="0" i="1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 delivers </a:t>
                      </a:r>
                      <a:r>
                        <a:rPr lang="en-US" sz="1000" b="1" i="1" dirty="0">
                          <a:solidFill>
                            <a:srgbClr val="FF6A5A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superior</a:t>
                      </a:r>
                      <a:r>
                        <a:rPr lang="en-US" sz="1000" b="0" i="1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overall survival</a:t>
                      </a:r>
                      <a:r>
                        <a:rPr lang="en-US" sz="1000" b="0" i="1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vs osimertinib with proven durability</a:t>
                      </a:r>
                      <a:endParaRPr lang="en-US" sz="1000" b="1" i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“Emphasize the stats.”</a:t>
                      </a:r>
                    </a:p>
                    <a:p>
                      <a:pPr marL="171450" marR="0" lvl="0" indent="-17145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</a:t>
                      </a:r>
                      <a:r>
                        <a:rPr lang="en-US" sz="900" b="1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Improved OS 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compared to single agent osimertinib</a:t>
                      </a:r>
                      <a:r>
                        <a:rPr lang="en-US" sz="900" b="0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.”</a:t>
                      </a:r>
                      <a:r>
                        <a:rPr lang="en-US" sz="900" b="1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“Tagrisso is standard of care so, something </a:t>
                      </a:r>
                      <a:r>
                        <a:rPr lang="en-US" sz="900" b="1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showing improvement is motivating</a:t>
                      </a:r>
                      <a:r>
                        <a:rPr lang="en-US" sz="900" b="0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.”</a:t>
                      </a:r>
                      <a:endParaRPr lang="en-US" sz="900" b="0" i="1" dirty="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75335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– CNS</a:t>
                      </a:r>
                      <a:b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</a:b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(d = 17</a:t>
                      </a:r>
                      <a:r>
                        <a:rPr kumimoji="1" lang="en-US" sz="1000" i="0" kern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)</a:t>
                      </a:r>
                      <a:endParaRPr lang="en-IN" sz="1000" b="0"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 65%</a:t>
                      </a:r>
                    </a:p>
                  </a:txBody>
                  <a:tcPr anchor="ctr">
                    <a:solidFill>
                      <a:srgbClr val="9AD5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2X Intracranial PFS at 36 months: </a:t>
                      </a:r>
                      <a:r>
                        <a:rPr lang="en-US" sz="1000" b="1" i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36%</a:t>
                      </a:r>
                      <a:r>
                        <a:rPr lang="en-US" sz="1000" b="0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with RYBREVANT</a:t>
                      </a:r>
                      <a:r>
                        <a:rPr lang="en-US" sz="1000" b="1" i="1" kern="1200" baseline="30000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b="1" i="1" kern="1200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+ LAZCLUZE</a:t>
                      </a:r>
                      <a:r>
                        <a:rPr lang="en-US" sz="1000" b="1" i="1" kern="1200" baseline="30000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b="0" i="1" kern="1200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and 18%</a:t>
                      </a:r>
                      <a:r>
                        <a:rPr lang="en-US" sz="1000" b="1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 dirty="0">
                          <a:solidFill>
                            <a:srgbClr val="FF6A5A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with Osimertinib</a:t>
                      </a:r>
                    </a:p>
                  </a:txBody>
                  <a:tcPr marL="22860" marR="2286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</a:t>
                      </a:r>
                      <a:r>
                        <a:rPr lang="en-US" sz="900" b="1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Doubling 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the long-term Intracranial PFS at </a:t>
                      </a:r>
                      <a:r>
                        <a:rPr lang="en-US" sz="900" b="1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36 months suggests superior CNS durability 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compared to the current standard, addressing a </a:t>
                      </a:r>
                      <a:r>
                        <a:rPr lang="en-US" sz="900" b="1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critical clinical need for brain metastases control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.”</a:t>
                      </a:r>
                    </a:p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</a:t>
                      </a:r>
                      <a:r>
                        <a:rPr lang="en-US" sz="900" b="0" i="1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RYBREVANT + LAZCLUZE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 was </a:t>
                      </a:r>
                      <a:r>
                        <a:rPr lang="en-US" sz="900" b="1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superior to osimertinib in patients with CNS metastases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.”</a:t>
                      </a:r>
                    </a:p>
                  </a:txBody>
                  <a:tcPr marL="22860" marR="22860" marT="15240" marB="152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57809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Safety – Proactive Therapy Management</a:t>
                      </a:r>
                      <a:b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</a:b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(d = 23</a:t>
                      </a:r>
                      <a:r>
                        <a:rPr kumimoji="1" lang="en-US" sz="1000" i="0" kern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)</a:t>
                      </a:r>
                      <a:endParaRPr lang="en-IN" sz="1000" b="0"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 49%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E0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lnSpc>
                          <a:spcPct val="150000"/>
                        </a:lnSpc>
                      </a:pPr>
                      <a:r>
                        <a:rPr lang="en-US" sz="1000" b="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Use </a:t>
                      </a:r>
                      <a:r>
                        <a:rPr lang="en-US" sz="1000" b="1" i="1" kern="1200">
                          <a:solidFill>
                            <a:srgbClr val="FF6A5A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proactive</a:t>
                      </a:r>
                      <a:r>
                        <a:rPr lang="en-US" sz="1000" b="0" i="1" kern="1200">
                          <a:solidFill>
                            <a:srgbClr val="FF6A5A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therapy management to help optimize outcomes. SKIPPirr and COCOON were two phase 2 trials evaluating prophylaxis strategies to reduce the incidence of infusion-related reactions and dermatologic ARs, respectively</a:t>
                      </a:r>
                      <a:endParaRPr lang="en-US" sz="1000" b="0" i="1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“If expanded upon, this section could better </a:t>
                      </a:r>
                      <a:r>
                        <a:rPr lang="en-US" sz="900" b="1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illustrate practical management steps and their effectiveness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. Demonstrating how these strategies improve tolerability would make the regimen more appealing and increase confidence in prescribing it.”</a:t>
                      </a:r>
                    </a:p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</a:t>
                      </a:r>
                      <a:r>
                        <a:rPr lang="en-US" sz="900" i="1" dirty="0">
                          <a:latin typeface="Johnson Text" panose="020B0604020202020204" charset="0"/>
                          <a:cs typeface="Johnson Text" panose="020B0604020202020204" charset="0"/>
                        </a:rPr>
                        <a:t>Expanding on </a:t>
                      </a:r>
                      <a:r>
                        <a:rPr lang="en-US" sz="900" b="1" i="1" dirty="0">
                          <a:latin typeface="Johnson Text" panose="020B0604020202020204" charset="0"/>
                          <a:cs typeface="Johnson Text" panose="020B0604020202020204" charset="0"/>
                        </a:rPr>
                        <a:t>specific prophylaxis strategies </a:t>
                      </a:r>
                      <a:r>
                        <a:rPr lang="en-US" sz="900" i="1" dirty="0">
                          <a:latin typeface="Johnson Text" panose="020B0604020202020204" charset="0"/>
                          <a:cs typeface="Johnson Text" panose="020B0604020202020204" charset="0"/>
                        </a:rPr>
                        <a:t>and clinical outcomes would make this more actionable and motivating, showing how these measures directly improve patient safety and tolerability when prescribing RYBREVANT + LAZCLUZE.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”</a:t>
                      </a:r>
                    </a:p>
                  </a:txBody>
                  <a:tcPr marL="22860" marR="22860" marT="15240" marB="1524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48482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7CB9826B-33B0-5377-8E7D-B8D881FFD1CC}"/>
              </a:ext>
            </a:extLst>
          </p:cNvPr>
          <p:cNvSpPr txBox="1"/>
          <p:nvPr/>
        </p:nvSpPr>
        <p:spPr>
          <a:xfrm>
            <a:off x="7440607" y="6107029"/>
            <a:ext cx="918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Highlighted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≥ 60% times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9B4F627-A351-EBF2-0CA6-EEDF1A2618E1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HCPs want efficacy messages to expand upon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superior OS and CNS durability vs osimertinib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; proactive management message needs to include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detailed prophylaxis strategies and outcomes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to elevate motivation perceptions</a:t>
            </a:r>
            <a:endParaRPr lang="en-US" sz="1800" i="1" dirty="0">
              <a:solidFill>
                <a:srgbClr val="FF0000"/>
              </a:solidFill>
              <a:latin typeface="Johnson Display"/>
              <a:ea typeface="Verdana"/>
            </a:endParaRPr>
          </a:p>
        </p:txBody>
      </p:sp>
      <p:sp>
        <p:nvSpPr>
          <p:cNvPr id="9" name="Google Shape;229;p3">
            <a:extLst>
              <a:ext uri="{FF2B5EF4-FFF2-40B4-BE49-F238E27FC236}">
                <a16:creationId xmlns:a16="http://schemas.microsoft.com/office/drawing/2014/main" id="{C96B05DD-6B33-2AF7-BA44-8327E4191791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39" name="Textbox_series_2">
            <a:extLst>
              <a:ext uri="{FF2B5EF4-FFF2-40B4-BE49-F238E27FC236}">
                <a16:creationId xmlns:a16="http://schemas.microsoft.com/office/drawing/2014/main" id="{38366A2B-32BD-B7A7-E424-2D24620D47CF}"/>
              </a:ext>
            </a:extLst>
          </p:cNvPr>
          <p:cNvSpPr txBox="1"/>
          <p:nvPr/>
        </p:nvSpPr>
        <p:spPr>
          <a:xfrm flipH="1">
            <a:off x="8361463" y="6082635"/>
            <a:ext cx="3060000" cy="432000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900" dirty="0"/>
              <a:t>T3B ratings across these messages remain </a:t>
            </a:r>
            <a:r>
              <a:rPr lang="en-US" sz="900" b="1" dirty="0"/>
              <a:t>stable and high </a:t>
            </a:r>
            <a:r>
              <a:rPr lang="en-US" sz="900" dirty="0"/>
              <a:t>(~90%) in Q4’25, indicating that HCPs do not perceive these messages as low in driving motivation</a:t>
            </a:r>
            <a:endParaRPr lang="en-US" sz="9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68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194DE-C847-D646-D5D6-B6BC6B3A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D10A6EE-7081-2CB8-106B-7EC7DFFF9B4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957936"/>
              </p:ext>
            </p:extLst>
          </p:nvPr>
        </p:nvGraphicFramePr>
        <p:xfrm>
          <a:off x="5076543" y="1866158"/>
          <a:ext cx="1143668" cy="4316358"/>
        </p:xfrm>
        <a:graphic>
          <a:graphicData uri="http://schemas.openxmlformats.org/drawingml/2006/table">
            <a:tbl>
              <a:tblPr/>
              <a:tblGrid>
                <a:gridCol w="571834">
                  <a:extLst>
                    <a:ext uri="{9D8B030D-6E8A-4147-A177-3AD203B41FA5}">
                      <a16:colId xmlns:a16="http://schemas.microsoft.com/office/drawing/2014/main" val="1149050933"/>
                    </a:ext>
                  </a:extLst>
                </a:gridCol>
                <a:gridCol w="571834">
                  <a:extLst>
                    <a:ext uri="{9D8B030D-6E8A-4147-A177-3AD203B41FA5}">
                      <a16:colId xmlns:a16="http://schemas.microsoft.com/office/drawing/2014/main" val="4186076320"/>
                    </a:ext>
                  </a:extLst>
                </a:gridCol>
              </a:tblGrid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6E1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C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559984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EC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798778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DD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6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062371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E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D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82138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DD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D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13755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D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211084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CE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D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715164"/>
                  </a:ext>
                </a:extLst>
              </a:tr>
              <a:tr h="3029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D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551896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EC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EC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61582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6E1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81%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202384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CE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D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258073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D9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685376"/>
                  </a:ext>
                </a:extLst>
              </a:tr>
              <a:tr h="3029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D2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D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83885"/>
                  </a:ext>
                </a:extLst>
              </a:tr>
              <a:tr h="3029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D9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CE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91267"/>
                  </a:ext>
                </a:extLst>
              </a:tr>
              <a:tr h="283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EC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637175"/>
                  </a:ext>
                </a:extLst>
              </a:tr>
            </a:tbl>
          </a:graphicData>
        </a:graphic>
      </p:graphicFrame>
      <p:sp>
        <p:nvSpPr>
          <p:cNvPr id="15" name="Google Shape;504;p12">
            <a:extLst>
              <a:ext uri="{FF2B5EF4-FFF2-40B4-BE49-F238E27FC236}">
                <a16:creationId xmlns:a16="http://schemas.microsoft.com/office/drawing/2014/main" id="{107CD9D0-FDAA-BED7-76D0-57DCA95D5FDE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defTabSz="913029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SALES REP PERFORMANCE – </a:t>
            </a:r>
            <a:r>
              <a:rPr lang="en-US" sz="1000" b="1" dirty="0">
                <a:latin typeface="Johnson Display"/>
                <a:ea typeface="Verdana"/>
              </a:rPr>
              <a:t>Q2'25 - Q4'25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graphicFrame>
        <p:nvGraphicFramePr>
          <p:cNvPr id="32" name="Attributes_Market">
            <a:extLst>
              <a:ext uri="{FF2B5EF4-FFF2-40B4-BE49-F238E27FC236}">
                <a16:creationId xmlns:a16="http://schemas.microsoft.com/office/drawing/2014/main" id="{156C2BDD-FA57-8D0C-8F59-991BD9A435C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64692369"/>
              </p:ext>
            </p:extLst>
          </p:nvPr>
        </p:nvGraphicFramePr>
        <p:xfrm>
          <a:off x="1130948" y="1854506"/>
          <a:ext cx="3634727" cy="430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3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Overall quality of sales call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able to address my questions about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96330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knowledge about [PRODUCT] for EGFR+ mNSCLC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633859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providing credible support for [PRODUCT] claims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454859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Delivering clear message about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03891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How well the rep was able to tailor the discussions to my needs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Rep being prepared for conversation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knowledge about EGFR+ mNSCLC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[COMPANY] rep made valuable use of my time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providing a compelling reason to prescribe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How organized the rep appears to be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326838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How engaging the rep is while discussing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430781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Providing a compelling reason to use broader molecular testing</a:t>
                      </a:r>
                      <a:r>
                        <a:rPr kumimoji="1" lang="en-US" sz="1000" b="0" i="1" u="none" strike="noStrike" kern="0" cap="none" spc="0" normalizeH="0" baseline="30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267942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was able to ask meaningful questions</a:t>
                      </a:r>
                      <a:r>
                        <a:rPr kumimoji="1" lang="en-US" sz="1000" b="0" i="1" u="none" strike="noStrike" kern="0" cap="none" spc="0" normalizeH="0" baseline="30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330274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Knowledge about competitor products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356433"/>
                  </a:ext>
                </a:extLst>
              </a:tr>
            </a:tbl>
          </a:graphicData>
        </a:graphic>
      </p:graphicFrame>
      <p:graphicFrame>
        <p:nvGraphicFramePr>
          <p:cNvPr id="33" name="SFE_market">
            <a:extLst>
              <a:ext uri="{FF2B5EF4-FFF2-40B4-BE49-F238E27FC236}">
                <a16:creationId xmlns:a16="http://schemas.microsoft.com/office/drawing/2014/main" id="{4684C264-F78B-091D-6102-DE995FA650F2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098116672"/>
              </p:ext>
            </p:extLst>
          </p:nvPr>
        </p:nvGraphicFramePr>
        <p:xfrm>
          <a:off x="6291775" y="1732636"/>
          <a:ext cx="2854132" cy="4505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D9D7113-898E-595F-1BF1-BA391CA78D35}"/>
              </a:ext>
            </a:extLst>
          </p:cNvPr>
          <p:cNvSpPr txBox="1"/>
          <p:nvPr/>
        </p:nvSpPr>
        <p:spPr>
          <a:xfrm>
            <a:off x="2038261" y="1522613"/>
            <a:ext cx="206525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Attributes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630BC8-3D1B-A7ED-C202-B3C253CA8AB7}"/>
              </a:ext>
            </a:extLst>
          </p:cNvPr>
          <p:cNvGrpSpPr/>
          <p:nvPr/>
        </p:nvGrpSpPr>
        <p:grpSpPr>
          <a:xfrm>
            <a:off x="10689470" y="2951622"/>
            <a:ext cx="1164528" cy="1412625"/>
            <a:chOff x="10797186" y="2817142"/>
            <a:chExt cx="1164528" cy="1412625"/>
          </a:xfrm>
        </p:grpSpPr>
        <p:sp>
          <p:nvSpPr>
            <p:cNvPr id="61" name="Textbox_series_2">
              <a:extLst>
                <a:ext uri="{FF2B5EF4-FFF2-40B4-BE49-F238E27FC236}">
                  <a16:creationId xmlns:a16="http://schemas.microsoft.com/office/drawing/2014/main" id="{E6ECC431-D5FA-E930-9885-1DB72C90E736}"/>
                </a:ext>
              </a:extLst>
            </p:cNvPr>
            <p:cNvSpPr txBox="1"/>
            <p:nvPr/>
          </p:nvSpPr>
          <p:spPr>
            <a:xfrm flipH="1">
              <a:off x="11002678" y="3259799"/>
              <a:ext cx="773023" cy="409783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Q4'25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5150EB-A269-4253-5B23-D31E650333AF}"/>
                </a:ext>
              </a:extLst>
            </p:cNvPr>
            <p:cNvGrpSpPr/>
            <p:nvPr/>
          </p:nvGrpSpPr>
          <p:grpSpPr>
            <a:xfrm>
              <a:off x="10816471" y="3611712"/>
              <a:ext cx="1145243" cy="618055"/>
              <a:chOff x="10816471" y="3611712"/>
              <a:chExt cx="1145243" cy="61805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C3590D3-C761-657E-7AA6-32D53C62EB96}"/>
                  </a:ext>
                </a:extLst>
              </p:cNvPr>
              <p:cNvGrpSpPr/>
              <p:nvPr/>
            </p:nvGrpSpPr>
            <p:grpSpPr>
              <a:xfrm>
                <a:off x="10816471" y="3611712"/>
                <a:ext cx="1145243" cy="249867"/>
                <a:chOff x="10816562" y="3092831"/>
                <a:chExt cx="987899" cy="249867"/>
              </a:xfrm>
            </p:grpSpPr>
            <p:sp>
              <p:nvSpPr>
                <p:cNvPr id="19" name="Legend_series_2">
                  <a:extLst>
                    <a:ext uri="{FF2B5EF4-FFF2-40B4-BE49-F238E27FC236}">
                      <a16:creationId xmlns:a16="http://schemas.microsoft.com/office/drawing/2014/main" id="{2150556A-7B8B-B0A3-D8CF-B38F90D6200B}"/>
                    </a:ext>
                  </a:extLst>
                </p:cNvPr>
                <p:cNvSpPr/>
                <p:nvPr/>
              </p:nvSpPr>
              <p:spPr>
                <a:xfrm>
                  <a:off x="10816562" y="3172788"/>
                  <a:ext cx="77635" cy="89953"/>
                </a:xfrm>
                <a:prstGeom prst="ellipse">
                  <a:avLst/>
                </a:prstGeom>
                <a:solidFill>
                  <a:srgbClr val="F7582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0" marR="0" lvl="0" indent="0" algn="ctr" defTabSz="91394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20" name="Textbox_series_2">
                  <a:extLst>
                    <a:ext uri="{FF2B5EF4-FFF2-40B4-BE49-F238E27FC236}">
                      <a16:creationId xmlns:a16="http://schemas.microsoft.com/office/drawing/2014/main" id="{F8F65296-CFA0-6E36-338A-AE0508662363}"/>
                    </a:ext>
                  </a:extLst>
                </p:cNvPr>
                <p:cNvSpPr txBox="1"/>
                <p:nvPr/>
              </p:nvSpPr>
              <p:spPr>
                <a:xfrm flipH="1">
                  <a:off x="10924877" y="3092831"/>
                  <a:ext cx="879584" cy="249867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J&amp;J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(s = </a:t>
                  </a:r>
                  <a:r>
                    <a:rPr lang="en-IN" sz="1000">
                      <a:solidFill>
                        <a:srgbClr val="505050">
                          <a:lumMod val="50000"/>
                        </a:srgbClr>
                      </a:solidFill>
                      <a:latin typeface="Johnson Text"/>
                      <a:ea typeface="Verdana" panose="020B0604030504040204" pitchFamily="34" charset="0"/>
                    </a:rPr>
                    <a:t>100</a:t>
                  </a:r>
                  <a:r>
                    <a:rPr kumimoji="0" lang="en-IN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)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9E95FDB-9670-5DC0-A283-0E489B695D9C}"/>
                  </a:ext>
                </a:extLst>
              </p:cNvPr>
              <p:cNvGrpSpPr/>
              <p:nvPr/>
            </p:nvGrpSpPr>
            <p:grpSpPr>
              <a:xfrm>
                <a:off x="10816471" y="3979900"/>
                <a:ext cx="1145230" cy="249867"/>
                <a:chOff x="10816568" y="2791806"/>
                <a:chExt cx="987888" cy="249867"/>
              </a:xfrm>
            </p:grpSpPr>
            <p:sp>
              <p:nvSpPr>
                <p:cNvPr id="12" name="Legend_series_2">
                  <a:extLst>
                    <a:ext uri="{FF2B5EF4-FFF2-40B4-BE49-F238E27FC236}">
                      <a16:creationId xmlns:a16="http://schemas.microsoft.com/office/drawing/2014/main" id="{1906D438-C463-BD41-BB7D-AB0EC726F799}"/>
                    </a:ext>
                  </a:extLst>
                </p:cNvPr>
                <p:cNvSpPr/>
                <p:nvPr/>
              </p:nvSpPr>
              <p:spPr>
                <a:xfrm>
                  <a:off x="10816568" y="2862238"/>
                  <a:ext cx="77635" cy="89953"/>
                </a:xfrm>
                <a:prstGeom prst="ellipse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0" marR="0" lvl="0" indent="0" algn="ctr" defTabSz="91394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13" name="Textbox_series_2">
                  <a:extLst>
                    <a:ext uri="{FF2B5EF4-FFF2-40B4-BE49-F238E27FC236}">
                      <a16:creationId xmlns:a16="http://schemas.microsoft.com/office/drawing/2014/main" id="{CBDFBD87-25F0-1751-9F57-FC07CADDB822}"/>
                    </a:ext>
                  </a:extLst>
                </p:cNvPr>
                <p:cNvSpPr txBox="1"/>
                <p:nvPr/>
              </p:nvSpPr>
              <p:spPr>
                <a:xfrm flipH="1">
                  <a:off x="10924872" y="2791806"/>
                  <a:ext cx="879584" cy="249867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IN" sz="1000">
                      <a:solidFill>
                        <a:srgbClr val="505050">
                          <a:lumMod val="50000"/>
                        </a:srgbClr>
                      </a:solidFill>
                      <a:latin typeface="Johnson Text"/>
                      <a:ea typeface="Verdana" panose="020B0604030504040204" pitchFamily="34" charset="0"/>
                    </a:rPr>
                    <a:t>AZ</a:t>
                  </a: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05050">
                          <a:lumMod val="50000"/>
                        </a:srgbClr>
                      </a:solidFill>
                      <a:effectLst/>
                      <a:uLnTx/>
                      <a:uFillTx/>
                      <a:latin typeface="Johnson Text"/>
                      <a:ea typeface="Verdana" panose="020B0604030504040204" pitchFamily="34" charset="0"/>
                      <a:cs typeface="+mn-cs"/>
                    </a:rPr>
                    <a:t>(s = 73)</a:t>
                  </a: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CBBD19-F41C-1F23-2875-8BE236414EAA}"/>
                </a:ext>
              </a:extLst>
            </p:cNvPr>
            <p:cNvGrpSpPr/>
            <p:nvPr/>
          </p:nvGrpSpPr>
          <p:grpSpPr>
            <a:xfrm>
              <a:off x="10797186" y="2817142"/>
              <a:ext cx="1125161" cy="521985"/>
              <a:chOff x="10806861" y="1955999"/>
              <a:chExt cx="1125161" cy="521985"/>
            </a:xfrm>
          </p:grpSpPr>
          <p:sp>
            <p:nvSpPr>
              <p:cNvPr id="7" name="Flowchart: Decision 6">
                <a:extLst>
                  <a:ext uri="{FF2B5EF4-FFF2-40B4-BE49-F238E27FC236}">
                    <a16:creationId xmlns:a16="http://schemas.microsoft.com/office/drawing/2014/main" id="{5930BA90-A9B3-DB37-6D7E-DB2DBFDDCC62}"/>
                  </a:ext>
                </a:extLst>
              </p:cNvPr>
              <p:cNvSpPr/>
              <p:nvPr/>
            </p:nvSpPr>
            <p:spPr>
              <a:xfrm>
                <a:off x="10806861" y="2210485"/>
                <a:ext cx="72000" cy="72000"/>
              </a:xfrm>
              <a:prstGeom prst="flowChartDecision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23" name="Textbox_series_2">
                <a:extLst>
                  <a:ext uri="{FF2B5EF4-FFF2-40B4-BE49-F238E27FC236}">
                    <a16:creationId xmlns:a16="http://schemas.microsoft.com/office/drawing/2014/main" id="{4F9408C0-C4CF-D333-39F3-698AE4F50E18}"/>
                  </a:ext>
                </a:extLst>
              </p:cNvPr>
              <p:cNvSpPr txBox="1"/>
              <p:nvPr/>
            </p:nvSpPr>
            <p:spPr>
              <a:xfrm flipH="1">
                <a:off x="10924920" y="1955999"/>
                <a:ext cx="1007102" cy="521985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noAutofit/>
              </a:bodyPr>
              <a:lstStyle/>
              <a:p>
                <a:pPr marL="0" marR="0" lvl="0" indent="0" algn="l" defTabSz="9125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NSCLC Industry Average</a:t>
                </a:r>
                <a:r>
                  <a:rPr kumimoji="0" lang="en-IN" sz="10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%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67860D5-D627-D64D-07B0-A7347DD64C3A}"/>
              </a:ext>
            </a:extLst>
          </p:cNvPr>
          <p:cNvSpPr txBox="1"/>
          <p:nvPr/>
        </p:nvSpPr>
        <p:spPr>
          <a:xfrm>
            <a:off x="8581938" y="1483285"/>
            <a:ext cx="206525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vs Q3'25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33A38A-3986-5D5F-CE2A-58FF3AD1F7D3}"/>
              </a:ext>
            </a:extLst>
          </p:cNvPr>
          <p:cNvSpPr txBox="1"/>
          <p:nvPr/>
        </p:nvSpPr>
        <p:spPr>
          <a:xfrm>
            <a:off x="6564404" y="6145225"/>
            <a:ext cx="2308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EB160D-FE35-6037-76AC-7EB3457A9AC3}"/>
              </a:ext>
            </a:extLst>
          </p:cNvPr>
          <p:cNvSpPr txBox="1"/>
          <p:nvPr/>
        </p:nvSpPr>
        <p:spPr>
          <a:xfrm>
            <a:off x="4616054" y="1444465"/>
            <a:ext cx="206525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J&amp;J</a:t>
            </a: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^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40E365-6308-B69E-ACCA-2425BC906822}"/>
              </a:ext>
            </a:extLst>
          </p:cNvPr>
          <p:cNvSpPr txBox="1"/>
          <p:nvPr/>
        </p:nvSpPr>
        <p:spPr>
          <a:xfrm>
            <a:off x="5011350" y="1630157"/>
            <a:ext cx="68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Q2'25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5A981B-2147-61A9-A27C-75F8B24D3032}"/>
              </a:ext>
            </a:extLst>
          </p:cNvPr>
          <p:cNvSpPr txBox="1"/>
          <p:nvPr/>
        </p:nvSpPr>
        <p:spPr>
          <a:xfrm>
            <a:off x="5601404" y="1631231"/>
            <a:ext cx="684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t>Q3'25</a:t>
            </a:r>
          </a:p>
        </p:txBody>
      </p:sp>
      <p:sp>
        <p:nvSpPr>
          <p:cNvPr id="34" name="Google Shape;229;p3">
            <a:extLst>
              <a:ext uri="{FF2B5EF4-FFF2-40B4-BE49-F238E27FC236}">
                <a16:creationId xmlns:a16="http://schemas.microsoft.com/office/drawing/2014/main" id="{543F29BA-72CF-B6CA-E2EC-7082FC3E84FB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0203F6-BA15-7004-02F1-AFFD3195F9FB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    Denotes statistically significant difference with 95% confidence interval between latest two quarters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%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Industry averages definitions found in slide 4 | ^Sample size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Industry averages not tracked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| No statistically significant difference with 95% confidence interval found between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J&amp;J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and AZ | </a:t>
            </a:r>
            <a:r>
              <a:rPr lang="en-US" sz="900" b="1" i="1" dirty="0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 dirty="0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 dirty="0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5BF3761-D871-0E58-66E0-B2A037C99CA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2" name="Google Shape;229;p3">
            <a:extLst>
              <a:ext uri="{FF2B5EF4-FFF2-40B4-BE49-F238E27FC236}">
                <a16:creationId xmlns:a16="http://schemas.microsoft.com/office/drawing/2014/main" id="{22D91F5A-AEC7-978F-57F2-E6085A56D57D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graphicFrame>
        <p:nvGraphicFramePr>
          <p:cNvPr id="35" name="Attribute Ratings">
            <a:extLst>
              <a:ext uri="{FF2B5EF4-FFF2-40B4-BE49-F238E27FC236}">
                <a16:creationId xmlns:a16="http://schemas.microsoft.com/office/drawing/2014/main" id="{64A632E3-5B44-CB3A-2E48-0979ED0C958C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38263586"/>
              </p:ext>
            </p:extLst>
          </p:nvPr>
        </p:nvGraphicFramePr>
        <p:xfrm>
          <a:off x="9232489" y="1876378"/>
          <a:ext cx="773024" cy="42670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512">
                  <a:extLst>
                    <a:ext uri="{9D8B030D-6E8A-4147-A177-3AD203B41FA5}">
                      <a16:colId xmlns:a16="http://schemas.microsoft.com/office/drawing/2014/main" val="2887132242"/>
                    </a:ext>
                  </a:extLst>
                </a:gridCol>
              </a:tblGrid>
              <a:tr h="2844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+3%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460651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+9%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+10%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4867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+2%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-3%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016436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+11%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590336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-1%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0%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+2%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+8%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+2%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+4%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+7%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+8%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-1%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72172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+5%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953833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+4%</a:t>
                      </a:r>
                      <a:endParaRPr lang="en-IN" sz="900" b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ea typeface="+mn-ea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+7%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555471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+7%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51459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0%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708333"/>
                  </a:ext>
                </a:extLst>
              </a:tr>
              <a:tr h="2844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+15%</a:t>
                      </a:r>
                      <a:endParaRPr lang="en-IN" sz="900" b="0" i="0" u="none" strike="noStrike" dirty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071773"/>
                  </a:ext>
                </a:extLst>
              </a:tr>
            </a:tbl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F3C0048D-8F60-F88E-2C07-9BF57B7684ED}"/>
              </a:ext>
            </a:extLst>
          </p:cNvPr>
          <p:cNvGrpSpPr/>
          <p:nvPr/>
        </p:nvGrpSpPr>
        <p:grpSpPr>
          <a:xfrm>
            <a:off x="8939205" y="1672728"/>
            <a:ext cx="1168336" cy="246222"/>
            <a:chOff x="9774410" y="1751954"/>
            <a:chExt cx="1527195" cy="38700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B8F75AB-E58C-7CC2-AA85-923DE6C72FB0}"/>
                </a:ext>
              </a:extLst>
            </p:cNvPr>
            <p:cNvSpPr txBox="1"/>
            <p:nvPr/>
          </p:nvSpPr>
          <p:spPr>
            <a:xfrm>
              <a:off x="9774410" y="1751954"/>
              <a:ext cx="1218992" cy="3870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J&amp;J</a:t>
              </a:r>
              <a:endPara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EC71BB1-B217-D6CB-CF2B-C315ABAB084E}"/>
                </a:ext>
              </a:extLst>
            </p:cNvPr>
            <p:cNvSpPr txBox="1"/>
            <p:nvPr/>
          </p:nvSpPr>
          <p:spPr>
            <a:xfrm>
              <a:off x="10617605" y="1751956"/>
              <a:ext cx="684000" cy="3870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AZ</a:t>
              </a:r>
              <a:endPara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0582F8C-FEF0-204D-144D-51FD31322A2C}"/>
              </a:ext>
            </a:extLst>
          </p:cNvPr>
          <p:cNvSpPr txBox="1"/>
          <p:nvPr/>
        </p:nvSpPr>
        <p:spPr>
          <a:xfrm>
            <a:off x="4441278" y="6145225"/>
            <a:ext cx="2308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A7490A-2D84-3C31-13CA-68FF39EC0C30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In Q4’25, J&amp;J reps lead AZ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across most attributes, significantly in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product knowledge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with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a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notable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gain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in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addressing product questions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 – 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delivering clear messages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 and competitor knowledge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remains an opportunity</a:t>
            </a:r>
            <a:endParaRPr lang="en-US" sz="1800">
              <a:solidFill>
                <a:srgbClr val="FF0000"/>
              </a:solidFill>
              <a:latin typeface="Johnson Display"/>
              <a:ea typeface="Verdana"/>
              <a:cs typeface="Johnson Display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810E26-3FA0-3ACD-AAA5-BFAE73185E65}"/>
              </a:ext>
            </a:extLst>
          </p:cNvPr>
          <p:cNvSpPr/>
          <p:nvPr/>
        </p:nvSpPr>
        <p:spPr>
          <a:xfrm>
            <a:off x="10153739" y="1531352"/>
            <a:ext cx="1899465" cy="1266819"/>
          </a:xfrm>
          <a:prstGeom prst="roundRect">
            <a:avLst/>
          </a:prstGeom>
          <a:solidFill>
            <a:srgbClr val="FEE6DE"/>
          </a:solidFill>
          <a:ln>
            <a:solidFill>
              <a:srgbClr val="F7582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900" b="1">
                <a:solidFill>
                  <a:srgbClr val="F95924"/>
                </a:solidFill>
                <a:latin typeface="Johnson Text" panose="020B0604020202020204" charset="0"/>
                <a:cs typeface="Johnson Text" panose="020B0604020202020204" charset="0"/>
              </a:rPr>
              <a:t>J&amp;J </a:t>
            </a:r>
            <a:r>
              <a:rPr lang="en-US" sz="900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interactions in which </a:t>
            </a:r>
            <a:r>
              <a:rPr lang="en-US" sz="900" b="1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reps controlled the narrative </a:t>
            </a:r>
            <a:r>
              <a:rPr lang="en-US" sz="900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(48% vs 55% in Q3’25) and</a:t>
            </a:r>
            <a:r>
              <a:rPr lang="en-US" sz="900" b="1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 spent more time on MARIPOSA discussions </a:t>
            </a:r>
            <a:r>
              <a:rPr lang="en-US" sz="900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are associated with stronger perceptions of </a:t>
            </a:r>
            <a:r>
              <a:rPr lang="en-US" sz="900" b="1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clear message delivery</a:t>
            </a:r>
            <a:endParaRPr kumimoji="0" lang="en-US" sz="900" b="1" i="0" u="non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ohnson Text" panose="020B0604020202020204" charset="0"/>
              <a:cs typeface="Johnson Text" panose="020B0604020202020204" charset="0"/>
            </a:endParaRPr>
          </a:p>
        </p:txBody>
      </p:sp>
      <p:sp>
        <p:nvSpPr>
          <p:cNvPr id="44" name="Slide Number Placeholder 1">
            <a:extLst>
              <a:ext uri="{FF2B5EF4-FFF2-40B4-BE49-F238E27FC236}">
                <a16:creationId xmlns:a16="http://schemas.microsoft.com/office/drawing/2014/main" id="{ECEA7B7E-F389-EB87-033D-1E3F1CAD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6" name="Arrow: Down 49">
            <a:extLst>
              <a:ext uri="{FF2B5EF4-FFF2-40B4-BE49-F238E27FC236}">
                <a16:creationId xmlns:a16="http://schemas.microsoft.com/office/drawing/2014/main" id="{80413477-C29A-7D6D-FF17-904B9789A883}"/>
              </a:ext>
            </a:extLst>
          </p:cNvPr>
          <p:cNvSpPr/>
          <p:nvPr/>
        </p:nvSpPr>
        <p:spPr>
          <a:xfrm>
            <a:off x="513954" y="2139747"/>
            <a:ext cx="415052" cy="3976381"/>
          </a:xfrm>
          <a:prstGeom prst="downArrow">
            <a:avLst/>
          </a:prstGeom>
          <a:gradFill flip="none" rotWithShape="1">
            <a:gsLst>
              <a:gs pos="0">
                <a:srgbClr val="00B050"/>
              </a:gs>
              <a:gs pos="50000">
                <a:schemeClr val="accent4">
                  <a:lumMod val="20000"/>
                  <a:lumOff val="80000"/>
                </a:schemeClr>
              </a:gs>
              <a:gs pos="100000">
                <a:srgbClr val="00206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766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Decreasing order of Stated Importance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DD7B13-9C90-0CC1-C3E8-F0069F617303}"/>
              </a:ext>
            </a:extLst>
          </p:cNvPr>
          <p:cNvSpPr/>
          <p:nvPr/>
        </p:nvSpPr>
        <p:spPr>
          <a:xfrm>
            <a:off x="9054406" y="2509334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04C5C1-E52C-01FF-A6D9-A7CF94040DE5}"/>
              </a:ext>
            </a:extLst>
          </p:cNvPr>
          <p:cNvSpPr/>
          <p:nvPr/>
        </p:nvSpPr>
        <p:spPr>
          <a:xfrm>
            <a:off x="4117392" y="6398727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BE5B689-C5F8-C4B9-1ACC-B92459AB7A25}"/>
              </a:ext>
            </a:extLst>
          </p:cNvPr>
          <p:cNvSpPr/>
          <p:nvPr/>
        </p:nvSpPr>
        <p:spPr>
          <a:xfrm>
            <a:off x="10153739" y="4545159"/>
            <a:ext cx="1899465" cy="737707"/>
          </a:xfrm>
          <a:prstGeom prst="roundRect">
            <a:avLst/>
          </a:prstGeom>
          <a:solidFill>
            <a:srgbClr val="7030A0">
              <a:alpha val="14902"/>
            </a:srgbClr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900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HCPs who have taken survey </a:t>
            </a:r>
            <a:r>
              <a:rPr lang="en-US" sz="900" b="1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in both Q3’25 and Q4’25 </a:t>
            </a:r>
            <a:r>
              <a:rPr lang="en-US" sz="900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predominantly drive the </a:t>
            </a:r>
            <a:r>
              <a:rPr lang="en-US" sz="900" b="1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increase in </a:t>
            </a:r>
            <a:r>
              <a:rPr lang="en-US" sz="900" b="1">
                <a:solidFill>
                  <a:srgbClr val="7030A0"/>
                </a:solidFill>
                <a:latin typeface="Johnson Text" panose="020B0604020202020204" charset="0"/>
                <a:cs typeface="Johnson Text" panose="020B0604020202020204" charset="0"/>
              </a:rPr>
              <a:t>AZ</a:t>
            </a:r>
            <a:r>
              <a:rPr lang="en-US" sz="900" b="1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 </a:t>
            </a:r>
            <a:r>
              <a:rPr lang="en-US" sz="900">
                <a:solidFill>
                  <a:schemeClr val="tx1"/>
                </a:solidFill>
                <a:latin typeface="Johnson Text" panose="020B0604020202020204" charset="0"/>
                <a:cs typeface="Johnson Text" panose="020B0604020202020204" charset="0"/>
              </a:rPr>
              <a:t>rep perceptions</a:t>
            </a: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ohnson Text" panose="020B0604020202020204" charset="0"/>
              <a:cs typeface="Johnson Text" panose="020B0604020202020204" charset="0"/>
            </a:endParaRPr>
          </a:p>
        </p:txBody>
      </p:sp>
      <p:sp>
        <p:nvSpPr>
          <p:cNvPr id="22" name="Highlight#25">
            <a:extLst>
              <a:ext uri="{FF2B5EF4-FFF2-40B4-BE49-F238E27FC236}">
                <a16:creationId xmlns:a16="http://schemas.microsoft.com/office/drawing/2014/main" id="{5009C1F5-A879-3053-F048-E84CE6B278D1}"/>
              </a:ext>
            </a:extLst>
          </p:cNvPr>
          <p:cNvSpPr txBox="1"/>
          <p:nvPr/>
        </p:nvSpPr>
        <p:spPr>
          <a:xfrm>
            <a:off x="1076325" y="2139561"/>
            <a:ext cx="3708000" cy="593165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4" name="Highlight#25">
            <a:extLst>
              <a:ext uri="{FF2B5EF4-FFF2-40B4-BE49-F238E27FC236}">
                <a16:creationId xmlns:a16="http://schemas.microsoft.com/office/drawing/2014/main" id="{6F1E9B96-E041-840C-BB32-4BCE3B259A40}"/>
              </a:ext>
            </a:extLst>
          </p:cNvPr>
          <p:cNvSpPr txBox="1"/>
          <p:nvPr/>
        </p:nvSpPr>
        <p:spPr>
          <a:xfrm>
            <a:off x="1076325" y="5850890"/>
            <a:ext cx="3708000" cy="333376"/>
          </a:xfrm>
          <a:prstGeom prst="rect">
            <a:avLst/>
          </a:prstGeom>
          <a:noFill/>
          <a:ln w="19050">
            <a:solidFill>
              <a:schemeClr val="tx2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1" name="Highlight#25">
            <a:extLst>
              <a:ext uri="{FF2B5EF4-FFF2-40B4-BE49-F238E27FC236}">
                <a16:creationId xmlns:a16="http://schemas.microsoft.com/office/drawing/2014/main" id="{8F16DB59-9C50-96F7-CAB3-4EB329F3F116}"/>
              </a:ext>
            </a:extLst>
          </p:cNvPr>
          <p:cNvSpPr txBox="1"/>
          <p:nvPr/>
        </p:nvSpPr>
        <p:spPr>
          <a:xfrm>
            <a:off x="1076325" y="2997200"/>
            <a:ext cx="3708000" cy="304800"/>
          </a:xfrm>
          <a:prstGeom prst="rect">
            <a:avLst/>
          </a:prstGeom>
          <a:noFill/>
          <a:ln w="19050">
            <a:solidFill>
              <a:schemeClr val="tx2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4279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C8AC20-7DBE-4BCB-74F2-EF57F165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989A89-DAC3-49F1-BCEF-5A281AE6176F}"/>
              </a:ext>
            </a:extLst>
          </p:cNvPr>
          <p:cNvCxnSpPr/>
          <p:nvPr/>
        </p:nvCxnSpPr>
        <p:spPr>
          <a:xfrm flipH="1">
            <a:off x="4029253" y="1466161"/>
            <a:ext cx="5877" cy="436635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2E6C68-0F19-EBFC-C216-A9EDC113AB28}"/>
              </a:ext>
            </a:extLst>
          </p:cNvPr>
          <p:cNvCxnSpPr>
            <a:cxnSpLocks/>
          </p:cNvCxnSpPr>
          <p:nvPr/>
        </p:nvCxnSpPr>
        <p:spPr>
          <a:xfrm flipH="1">
            <a:off x="8129613" y="1466160"/>
            <a:ext cx="5877" cy="436635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D391C4-976E-EFEA-62E4-67C46A257949}"/>
              </a:ext>
            </a:extLst>
          </p:cNvPr>
          <p:cNvSpPr/>
          <p:nvPr/>
        </p:nvSpPr>
        <p:spPr>
          <a:xfrm>
            <a:off x="329745" y="2123609"/>
            <a:ext cx="3310567" cy="3985126"/>
          </a:xfrm>
          <a:prstGeom prst="roundRect">
            <a:avLst/>
          </a:prstGeom>
          <a:solidFill>
            <a:srgbClr val="DCF4C4"/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BAAE4A-7430-93ED-2CD4-3A45E730A8D7}"/>
              </a:ext>
            </a:extLst>
          </p:cNvPr>
          <p:cNvSpPr/>
          <p:nvPr/>
        </p:nvSpPr>
        <p:spPr>
          <a:xfrm>
            <a:off x="4450052" y="2123609"/>
            <a:ext cx="3310567" cy="39851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547888-9A3B-B879-A15F-605EFBA97F1F}"/>
              </a:ext>
            </a:extLst>
          </p:cNvPr>
          <p:cNvSpPr/>
          <p:nvPr/>
        </p:nvSpPr>
        <p:spPr>
          <a:xfrm>
            <a:off x="8504331" y="2123609"/>
            <a:ext cx="3310567" cy="39851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DF8ECC-7A76-0DB3-72A6-2376FB1DAE05}"/>
              </a:ext>
            </a:extLst>
          </p:cNvPr>
          <p:cNvSpPr txBox="1"/>
          <p:nvPr/>
        </p:nvSpPr>
        <p:spPr>
          <a:xfrm>
            <a:off x="952400" y="1537023"/>
            <a:ext cx="206525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IN" sz="1100" b="1" dirty="0">
                <a:solidFill>
                  <a:srgbClr val="00B050"/>
                </a:solidFill>
                <a:latin typeface="Johnson Display"/>
                <a:ea typeface="Verdana"/>
              </a:rPr>
              <a:t>Strong Perceptions in Addressing questions</a:t>
            </a:r>
            <a:endParaRPr kumimoji="0" lang="en-IN" sz="11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4D1410-E1AC-30E8-E06D-F39BF807008A}"/>
              </a:ext>
            </a:extLst>
          </p:cNvPr>
          <p:cNvSpPr txBox="1"/>
          <p:nvPr/>
        </p:nvSpPr>
        <p:spPr>
          <a:xfrm>
            <a:off x="5067483" y="1537022"/>
            <a:ext cx="206525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IN" sz="1100" b="1" dirty="0">
                <a:solidFill>
                  <a:srgbClr val="FF0000"/>
                </a:solidFill>
                <a:latin typeface="Johnson Display"/>
                <a:ea typeface="Verdana"/>
              </a:rPr>
              <a:t>Opportunities to Improve Clear Message Delivery</a:t>
            </a:r>
            <a:endParaRPr lang="en-US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6D610-9655-CEE6-F5F8-C7CEC89D4288}"/>
              </a:ext>
            </a:extLst>
          </p:cNvPr>
          <p:cNvSpPr txBox="1"/>
          <p:nvPr/>
        </p:nvSpPr>
        <p:spPr>
          <a:xfrm>
            <a:off x="9121761" y="1537021"/>
            <a:ext cx="206525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IN" sz="1100" b="1" dirty="0">
                <a:solidFill>
                  <a:srgbClr val="FF0000"/>
                </a:solidFill>
                <a:latin typeface="Johnson Display"/>
                <a:ea typeface="Verdana"/>
              </a:rPr>
              <a:t>Opportunities to Improve Competitor Knowledge</a:t>
            </a:r>
            <a:endParaRPr lang="en-US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6EEDC3-21E5-78E9-92B5-77C4D42E5D09}"/>
              </a:ext>
            </a:extLst>
          </p:cNvPr>
          <p:cNvSpPr/>
          <p:nvPr/>
        </p:nvSpPr>
        <p:spPr>
          <a:xfrm>
            <a:off x="4530185" y="2485398"/>
            <a:ext cx="3139851" cy="792000"/>
          </a:xfrm>
          <a:prstGeom prst="roundRect">
            <a:avLst>
              <a:gd name="adj" fmla="val 615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CDBE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HCPs who perceive J&amp;J reps low on clear message delivery prefer a more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concise presentation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that uses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 visual aids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 and focuses on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key efficacy end points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Text" panose="020B0604020202020204" charset="0"/>
              <a:ea typeface="Open Sans" panose="020B0606030504020204" pitchFamily="34" charset="0"/>
              <a:cs typeface="Johnson Text" panose="020B0604020202020204" charset="0"/>
              <a:sym typeface="Arial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75F8AF9-64D0-FAFD-4B1E-709FC882A392}"/>
              </a:ext>
            </a:extLst>
          </p:cNvPr>
          <p:cNvSpPr txBox="1"/>
          <p:nvPr/>
        </p:nvSpPr>
        <p:spPr>
          <a:xfrm>
            <a:off x="4495683" y="5169986"/>
            <a:ext cx="328275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“Make the presentation more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precise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…..Only include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key efficacy end points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.”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609E3-E5CF-D9DC-ED5F-EB58C452AB3C}"/>
              </a:ext>
            </a:extLst>
          </p:cNvPr>
          <p:cNvSpPr txBox="1"/>
          <p:nvPr/>
        </p:nvSpPr>
        <p:spPr>
          <a:xfrm>
            <a:off x="4495683" y="4436394"/>
            <a:ext cx="328275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“Make it more focused using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pictures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. Make it more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visual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overall, with less lines and written stuff.”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AD81E-34FE-3C08-6B5F-75F99687A88B}"/>
              </a:ext>
            </a:extLst>
          </p:cNvPr>
          <p:cNvSpPr txBox="1"/>
          <p:nvPr/>
        </p:nvSpPr>
        <p:spPr>
          <a:xfrm>
            <a:off x="4495683" y="3548913"/>
            <a:ext cx="3282759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>
                <a:latin typeface="Johnson Text"/>
                <a:ea typeface="Verdana"/>
                <a:cs typeface="Johnson Text"/>
              </a:rPr>
              <a:t>“The interaction could have been more </a:t>
            </a:r>
            <a:r>
              <a:rPr lang="en-US" sz="1000" b="1" i="1">
                <a:latin typeface="Johnson Text"/>
                <a:ea typeface="Verdana"/>
                <a:cs typeface="Johnson Text"/>
              </a:rPr>
              <a:t>direct </a:t>
            </a:r>
            <a:r>
              <a:rPr lang="en-US" sz="1000" i="1">
                <a:latin typeface="Johnson Text"/>
                <a:ea typeface="Verdana"/>
                <a:cs typeface="Johnson Text"/>
              </a:rPr>
              <a:t>and </a:t>
            </a:r>
            <a:r>
              <a:rPr lang="en-US" sz="1000" b="1" i="1">
                <a:latin typeface="Johnson Text"/>
                <a:ea typeface="Verdana"/>
                <a:cs typeface="Johnson Text"/>
              </a:rPr>
              <a:t>comprehensive. </a:t>
            </a:r>
            <a:r>
              <a:rPr lang="en-US" sz="1000" i="1">
                <a:latin typeface="Johnson Text"/>
                <a:ea typeface="Verdana"/>
                <a:cs typeface="Johnson Text"/>
              </a:rPr>
              <a:t>The rep could have provided more patient support info.”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FF7AFB-A6C0-B619-FE23-ABAF791D3851}"/>
              </a:ext>
            </a:extLst>
          </p:cNvPr>
          <p:cNvSpPr txBox="1"/>
          <p:nvPr/>
        </p:nvSpPr>
        <p:spPr>
          <a:xfrm>
            <a:off x="8486508" y="3548913"/>
            <a:ext cx="328275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“The interaction could have been improved by providing more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comparative data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versus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Tagrisso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. Comparative data on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progression-free and overall survival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,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CNS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efficacy, response rates in patients with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brain metastasis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and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safety/tolerability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profiles would be most useful.”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91723E-16DB-44AA-D0D5-5206CAB78A55}"/>
              </a:ext>
            </a:extLst>
          </p:cNvPr>
          <p:cNvSpPr/>
          <p:nvPr/>
        </p:nvSpPr>
        <p:spPr>
          <a:xfrm>
            <a:off x="8589689" y="2485398"/>
            <a:ext cx="3139851" cy="792000"/>
          </a:xfrm>
          <a:prstGeom prst="roundRect">
            <a:avLst>
              <a:gd name="adj" fmla="val 615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CDBE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HCPs cite the need for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comparative data vs Tagrisso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including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specific efficacy and safety metrics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like PFS, OS, CNS outcomes and safety profile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Text" panose="020B0604020202020204" charset="0"/>
              <a:ea typeface="Open Sans" panose="020B0606030504020204" pitchFamily="34" charset="0"/>
              <a:cs typeface="Johnson Text" panose="020B0604020202020204" charset="0"/>
              <a:sym typeface="Arial"/>
            </a:endParaRP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FC65DFB3-B2AE-3D80-344F-7115BBF6C98E}"/>
              </a:ext>
            </a:extLst>
          </p:cNvPr>
          <p:cNvSpPr txBox="1"/>
          <p:nvPr/>
        </p:nvSpPr>
        <p:spPr>
          <a:xfrm>
            <a:off x="8486508" y="4828599"/>
            <a:ext cx="328275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>
                <a:latin typeface="Johnson Text"/>
                <a:ea typeface="Verdana"/>
                <a:cs typeface="Johnson Text"/>
              </a:rPr>
              <a:t>“How is efficacy when </a:t>
            </a:r>
            <a:r>
              <a:rPr lang="en-US" sz="1000" b="1" i="1">
                <a:latin typeface="Johnson Text"/>
                <a:ea typeface="Verdana"/>
                <a:cs typeface="Johnson Text"/>
              </a:rPr>
              <a:t>compared </a:t>
            </a:r>
            <a:r>
              <a:rPr lang="en-US" sz="1000" i="1">
                <a:latin typeface="Johnson Text"/>
                <a:ea typeface="Verdana"/>
                <a:cs typeface="Johnson Text"/>
              </a:rPr>
              <a:t>to other drugs, like specific </a:t>
            </a:r>
            <a:r>
              <a:rPr lang="en-US" sz="1000" b="1" i="1">
                <a:latin typeface="Johnson Text"/>
                <a:ea typeface="Verdana"/>
                <a:cs typeface="Johnson Text"/>
              </a:rPr>
              <a:t>PFS </a:t>
            </a:r>
            <a:r>
              <a:rPr lang="en-US" sz="1000" i="1">
                <a:latin typeface="Johnson Text"/>
                <a:ea typeface="Verdana"/>
                <a:cs typeface="Johnson Text"/>
              </a:rPr>
              <a:t>and </a:t>
            </a:r>
            <a:r>
              <a:rPr lang="en-US" sz="1000" b="1" i="1">
                <a:latin typeface="Johnson Text"/>
                <a:ea typeface="Verdana"/>
                <a:cs typeface="Johnson Text"/>
              </a:rPr>
              <a:t>time to progression</a:t>
            </a:r>
            <a:r>
              <a:rPr lang="en-US" sz="1000" i="1">
                <a:latin typeface="Johnson Text"/>
                <a:ea typeface="Verdana"/>
                <a:cs typeface="Johnson Text"/>
              </a:rPr>
              <a:t>?”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F37060-F990-BBE0-E942-98CB7ABC6BA6}"/>
              </a:ext>
            </a:extLst>
          </p:cNvPr>
          <p:cNvSpPr/>
          <p:nvPr/>
        </p:nvSpPr>
        <p:spPr>
          <a:xfrm>
            <a:off x="415103" y="2485398"/>
            <a:ext cx="3139851" cy="792000"/>
          </a:xfrm>
          <a:prstGeom prst="roundRect">
            <a:avLst>
              <a:gd name="adj" fmla="val 615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CDBE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HCPs who rate J&amp;J reps high on addressing questions highlight the reps’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strong product and indication knowledge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, and their willingness to spend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adequate time answering questions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Open Sans" panose="020B0606030504020204" pitchFamily="34" charset="0"/>
                <a:cs typeface="Johnson Text" panose="020B0604020202020204" charset="0"/>
                <a:sym typeface="Arial"/>
              </a:rPr>
              <a:t>on efficacy, safety, indications, and testing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Text" panose="020B0604020202020204" charset="0"/>
              <a:ea typeface="Open Sans" panose="020B0606030504020204" pitchFamily="34" charset="0"/>
              <a:cs typeface="Johnson Text" panose="020B0604020202020204" charset="0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87BA93-D807-5B7F-FE72-8B2FE9F893B9}"/>
              </a:ext>
            </a:extLst>
          </p:cNvPr>
          <p:cNvSpPr txBox="1"/>
          <p:nvPr/>
        </p:nvSpPr>
        <p:spPr>
          <a:xfrm>
            <a:off x="343649" y="3548913"/>
            <a:ext cx="328275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“The interaction was fine and does not need to be improved. The data presentation was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beneficial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, and the rep is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well-versed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. The OS not being met yet was most useful. Also, that it targets MET.”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3DB881-B4B2-9CDE-A101-9BC330FAB88B}"/>
              </a:ext>
            </a:extLst>
          </p:cNvPr>
          <p:cNvSpPr txBox="1"/>
          <p:nvPr/>
        </p:nvSpPr>
        <p:spPr>
          <a:xfrm>
            <a:off x="343649" y="4379769"/>
            <a:ext cx="328275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“The rep provided clear information about the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product and disease state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, and I liked their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ability to answer any questions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regarding the drug, such as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efficacy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,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safety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,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patient types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,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NGS testing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.”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08441A50-C01A-15A7-2959-E0825E9792D6}"/>
              </a:ext>
            </a:extLst>
          </p:cNvPr>
          <p:cNvSpPr txBox="1"/>
          <p:nvPr/>
        </p:nvSpPr>
        <p:spPr>
          <a:xfrm>
            <a:off x="343649" y="5200466"/>
            <a:ext cx="3282759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“I have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no recommendations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at this time. The rep spend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adequate time covering questions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on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patient indication 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and </a:t>
            </a:r>
            <a:r>
              <a:rPr lang="en-US" sz="1000" b="1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efficacy</a:t>
            </a:r>
            <a:r>
              <a:rPr lang="en-US" sz="1000" i="1" dirty="0"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.”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52A219AA-26B0-AB3A-E69D-D7DD73DCEF15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HCPs value J&amp;J reps’ comprehensive product knowledge and question handling, but cite opportunities to improve conciseness, visual delivery and in explaining comparative data vs </a:t>
            </a:r>
            <a:r>
              <a:rPr lang="en-US" sz="1800" err="1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Tagrisso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 on efficacy endpoints </a:t>
            </a:r>
            <a:endParaRPr lang="en-US" sz="1800" dirty="0">
              <a:solidFill>
                <a:srgbClr val="FF0000"/>
              </a:solidFill>
              <a:latin typeface="Johnson Display"/>
              <a:ea typeface="Verdana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6A8685D-49F0-D94A-809B-276D366F0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035" y="1463750"/>
            <a:ext cx="664184" cy="56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914F167-6D8C-C2C9-65AB-78DB87542E44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AI enabled question that generates custom follow up prompts to extract deeper insights from open-ended responses provided by HCPs | Question text in speaker notes | Note: List of responses is not exhaustive 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5A9745C-D9A1-81EF-7DF5-A53C626BB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313" y="1478481"/>
            <a:ext cx="592543" cy="5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05CC37E-A452-78DC-EAD0-6EB207A22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06" y="1490442"/>
            <a:ext cx="587382" cy="47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5305B6D-D5CC-985D-5712-1136D9CF12CD}"/>
              </a:ext>
            </a:extLst>
          </p:cNvPr>
          <p:cNvSpPr txBox="1"/>
          <p:nvPr/>
        </p:nvSpPr>
        <p:spPr>
          <a:xfrm>
            <a:off x="372524" y="3384117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1F698F"/>
                </a:solidFill>
                <a:latin typeface="Johnson Display"/>
                <a:cs typeface="Arial" panose="020B0604020202020204" pitchFamily="34" charset="0"/>
              </a:rPr>
              <a:t>Community HCP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F698F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8F4A1F-61E9-8A68-32E1-DF2EF866C31C}"/>
              </a:ext>
            </a:extLst>
          </p:cNvPr>
          <p:cNvSpPr txBox="1"/>
          <p:nvPr/>
        </p:nvSpPr>
        <p:spPr>
          <a:xfrm>
            <a:off x="372524" y="4213966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1F698F"/>
                </a:solidFill>
                <a:latin typeface="Johnson Display"/>
                <a:cs typeface="Arial" panose="020B0604020202020204" pitchFamily="34" charset="0"/>
              </a:rPr>
              <a:t>Community HCP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F698F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3D2B61-0705-DB40-9715-6F18C87CEAD1}"/>
              </a:ext>
            </a:extLst>
          </p:cNvPr>
          <p:cNvSpPr txBox="1"/>
          <p:nvPr/>
        </p:nvSpPr>
        <p:spPr>
          <a:xfrm>
            <a:off x="372524" y="5055642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1F698F"/>
                </a:solidFill>
                <a:latin typeface="Johnson Display"/>
                <a:cs typeface="Arial" panose="020B0604020202020204" pitchFamily="34" charset="0"/>
              </a:rPr>
              <a:t>Community HCP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F698F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B8D314-00D0-7F3B-A659-E7DEB855E318}"/>
              </a:ext>
            </a:extLst>
          </p:cNvPr>
          <p:cNvSpPr txBox="1"/>
          <p:nvPr/>
        </p:nvSpPr>
        <p:spPr>
          <a:xfrm>
            <a:off x="4495683" y="3395995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1F698F"/>
                </a:solidFill>
                <a:latin typeface="Johnson Display"/>
                <a:cs typeface="Arial" panose="020B0604020202020204" pitchFamily="34" charset="0"/>
              </a:rPr>
              <a:t>Community HCP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F698F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5F4024-3993-3870-7291-6183F45EFEE2}"/>
              </a:ext>
            </a:extLst>
          </p:cNvPr>
          <p:cNvSpPr txBox="1"/>
          <p:nvPr/>
        </p:nvSpPr>
        <p:spPr>
          <a:xfrm>
            <a:off x="4495683" y="4270019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1F698F"/>
                </a:solidFill>
                <a:latin typeface="Johnson Display"/>
                <a:cs typeface="Arial" panose="020B0604020202020204" pitchFamily="34" charset="0"/>
              </a:rPr>
              <a:t>Community HCP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F698F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F710C3-E5D7-B51D-F86C-BA966D98BE7D}"/>
              </a:ext>
            </a:extLst>
          </p:cNvPr>
          <p:cNvSpPr txBox="1"/>
          <p:nvPr/>
        </p:nvSpPr>
        <p:spPr>
          <a:xfrm>
            <a:off x="4495683" y="4993290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1F698F"/>
                </a:solidFill>
                <a:latin typeface="Johnson Display"/>
                <a:cs typeface="Arial" panose="020B0604020202020204" pitchFamily="34" charset="0"/>
              </a:rPr>
              <a:t>Community HCP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F698F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CE182E-0A16-8A23-8D96-8FEE3AD1813B}"/>
              </a:ext>
            </a:extLst>
          </p:cNvPr>
          <p:cNvSpPr txBox="1"/>
          <p:nvPr/>
        </p:nvSpPr>
        <p:spPr>
          <a:xfrm>
            <a:off x="8504331" y="3395995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77BEE3"/>
                </a:solidFill>
                <a:latin typeface="Johnson Display"/>
                <a:cs typeface="Arial" panose="020B0604020202020204" pitchFamily="34" charset="0"/>
              </a:rPr>
              <a:t>Academic HCP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77BEE3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1C2B3F-5356-0182-008D-BBC2AE85D545}"/>
              </a:ext>
            </a:extLst>
          </p:cNvPr>
          <p:cNvSpPr txBox="1"/>
          <p:nvPr/>
        </p:nvSpPr>
        <p:spPr>
          <a:xfrm>
            <a:off x="8504331" y="4655157"/>
            <a:ext cx="25200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000" b="1" kern="0" dirty="0">
                <a:solidFill>
                  <a:srgbClr val="1F698F"/>
                </a:solidFill>
                <a:latin typeface="Johnson Display"/>
                <a:cs typeface="Arial" panose="020B0604020202020204" pitchFamily="34" charset="0"/>
              </a:rPr>
              <a:t>Community HCP</a:t>
            </a:r>
            <a:endParaRPr lang="en-US" sz="1000" b="1" dirty="0">
              <a:solidFill>
                <a:srgbClr val="1F698F"/>
              </a:solidFill>
              <a:latin typeface="Johnson Display"/>
            </a:endParaRPr>
          </a:p>
        </p:txBody>
      </p:sp>
      <p:sp>
        <p:nvSpPr>
          <p:cNvPr id="2" name="Google Shape;229;p3">
            <a:extLst>
              <a:ext uri="{FF2B5EF4-FFF2-40B4-BE49-F238E27FC236}">
                <a16:creationId xmlns:a16="http://schemas.microsoft.com/office/drawing/2014/main" id="{9E9D7330-5D8F-28AF-9041-B612CB8E7936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7" name="Google Shape;504;p12">
            <a:extLst>
              <a:ext uri="{FF2B5EF4-FFF2-40B4-BE49-F238E27FC236}">
                <a16:creationId xmlns:a16="http://schemas.microsoft.com/office/drawing/2014/main" id="{E2E6A690-9E3F-E16F-9B00-FCA3B07BE3D8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defTabSz="913029">
              <a:defRPr/>
            </a:pPr>
            <a:r>
              <a:rPr lang="en-US" sz="1000" b="1" dirty="0">
                <a:solidFill>
                  <a:srgbClr val="000000"/>
                </a:solidFill>
                <a:latin typeface="Johnson Display"/>
                <a:ea typeface="Verdana"/>
              </a:rPr>
              <a:t>STRENGTHS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AND OPPORTUNITIES OF SALES REP INTERACTION 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RYB+LAZ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Q4'25​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76D74C22-9673-B978-7E99-4E7E7E77C0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47" name="Google Shape;229;p3">
            <a:extLst>
              <a:ext uri="{FF2B5EF4-FFF2-40B4-BE49-F238E27FC236}">
                <a16:creationId xmlns:a16="http://schemas.microsoft.com/office/drawing/2014/main" id="{C3BC3A75-8BD8-0D8F-7614-EE61A3D3B53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</p:spTree>
    <p:extLst>
      <p:ext uri="{BB962C8B-B14F-4D97-AF65-F5344CB8AC3E}">
        <p14:creationId xmlns:p14="http://schemas.microsoft.com/office/powerpoint/2010/main" val="1055538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4AB61-362C-8AAB-F79F-3BBA9067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504;p12">
            <a:extLst>
              <a:ext uri="{FF2B5EF4-FFF2-40B4-BE49-F238E27FC236}">
                <a16:creationId xmlns:a16="http://schemas.microsoft.com/office/drawing/2014/main" id="{377D34B1-8B6C-4523-44C9-9AD57CC510E4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lvl="0" defTabSz="913029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HIGH IMPACT INTERACTIONS</a:t>
            </a:r>
            <a:r>
              <a:rPr lang="en-US" sz="1000" b="1" dirty="0">
                <a:solidFill>
                  <a:srgbClr val="000000"/>
                </a:solidFill>
                <a:latin typeface="Johnson Display"/>
                <a:ea typeface="Verdana"/>
              </a:rPr>
              <a:t> – </a:t>
            </a:r>
            <a:r>
              <a:rPr lang="en-US" sz="1000" b="1" dirty="0">
                <a:latin typeface="Johnson Display"/>
                <a:ea typeface="Verdana"/>
              </a:rPr>
              <a:t>Q4'25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A8CE8217-C41E-2B5A-1C16-630659DC95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7" name="Google Shape;229;p3">
            <a:extLst>
              <a:ext uri="{FF2B5EF4-FFF2-40B4-BE49-F238E27FC236}">
                <a16:creationId xmlns:a16="http://schemas.microsoft.com/office/drawing/2014/main" id="{01E05F1F-57CA-FFCA-5560-2F50F8C1EFF1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64537-23C3-EA00-E608-17C005C12ECF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No statistically significant difference with 95% confidence interval found between RYB+LAZ and TAG+Chemo interactions |</a:t>
            </a:r>
            <a:r>
              <a:rPr kumimoji="1" lang="en-US" sz="900" i="1" kern="0" dirty="0">
                <a:solidFill>
                  <a:srgbClr val="7F7F7F"/>
                </a:solidFill>
              </a:rPr>
              <a:t>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No statistically significant difference with 95% confidence interval between latest two quarters |</a:t>
            </a:r>
            <a:r>
              <a:rPr kumimoji="1" lang="en-US" sz="900" i="1" kern="0" dirty="0">
                <a:solidFill>
                  <a:srgbClr val="7F7F7F"/>
                </a:solidFill>
              </a:rPr>
              <a:t> </a:t>
            </a:r>
            <a:r>
              <a:rPr lang="en-US" sz="900" b="1" i="1" dirty="0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 dirty="0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 dirty="0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6EC54-4AA6-4AEF-00D5-DAD09A714359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Strong rep performance drives higher likelihood to increase prescriptions for RYB+LAZ – this is particularly driven by academic HCP interactions in Q4'25</a:t>
            </a:r>
          </a:p>
        </p:txBody>
      </p:sp>
      <p:sp>
        <p:nvSpPr>
          <p:cNvPr id="28" name="Google Shape;229;p3">
            <a:extLst>
              <a:ext uri="{FF2B5EF4-FFF2-40B4-BE49-F238E27FC236}">
                <a16:creationId xmlns:a16="http://schemas.microsoft.com/office/drawing/2014/main" id="{97010DBB-4F9C-A0A7-EAAE-45C65A1DD271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cxnSp>
        <p:nvCxnSpPr>
          <p:cNvPr id="3" name="Google Shape;1660;p39">
            <a:extLst>
              <a:ext uri="{FF2B5EF4-FFF2-40B4-BE49-F238E27FC236}">
                <a16:creationId xmlns:a16="http://schemas.microsoft.com/office/drawing/2014/main" id="{D6BE73FC-7FC3-1569-9A57-8F32421676C8}"/>
              </a:ext>
            </a:extLst>
          </p:cNvPr>
          <p:cNvCxnSpPr>
            <a:cxnSpLocks/>
          </p:cNvCxnSpPr>
          <p:nvPr/>
        </p:nvCxnSpPr>
        <p:spPr>
          <a:xfrm>
            <a:off x="3468999" y="2178889"/>
            <a:ext cx="0" cy="1108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661;p39">
            <a:extLst>
              <a:ext uri="{FF2B5EF4-FFF2-40B4-BE49-F238E27FC236}">
                <a16:creationId xmlns:a16="http://schemas.microsoft.com/office/drawing/2014/main" id="{9C01BEA8-FA6D-F4CC-ED47-B44E1D2752D0}"/>
              </a:ext>
            </a:extLst>
          </p:cNvPr>
          <p:cNvSpPr/>
          <p:nvPr/>
        </p:nvSpPr>
        <p:spPr>
          <a:xfrm>
            <a:off x="1144692" y="2461326"/>
            <a:ext cx="22733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7883"/>
              </a:buClr>
              <a:buSzPts val="1200"/>
              <a:buFont typeface="Arial"/>
              <a:buNone/>
            </a:pPr>
            <a:r>
              <a:rPr lang="en-US" sz="1200" i="0" u="none" strike="noStrike" cap="none">
                <a:solidFill>
                  <a:srgbClr val="000000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rPr>
              <a:t>Please rate the overall </a:t>
            </a:r>
            <a:r>
              <a:rPr lang="en-US" sz="1200">
                <a:solidFill>
                  <a:srgbClr val="000000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rPr>
              <a:t>quality</a:t>
            </a:r>
            <a:r>
              <a:rPr lang="en-US" sz="1200" i="0" u="none" strike="noStrike" cap="none">
                <a:solidFill>
                  <a:srgbClr val="000000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rPr>
              <a:t> of the sales call.</a:t>
            </a:r>
            <a:endParaRPr lang="en-IN" sz="1200" i="0" u="none" strike="noStrike" cap="none">
              <a:solidFill>
                <a:srgbClr val="000000"/>
              </a:solidFill>
              <a:latin typeface="Johnson Text" panose="020B0604020202020204" charset="0"/>
              <a:ea typeface="Arial"/>
              <a:cs typeface="Johnson Text" panose="020B0604020202020204" charset="0"/>
              <a:sym typeface="Arial"/>
            </a:endParaRPr>
          </a:p>
        </p:txBody>
      </p:sp>
      <p:sp>
        <p:nvSpPr>
          <p:cNvPr id="23" name="Google Shape;1662;p39">
            <a:extLst>
              <a:ext uri="{FF2B5EF4-FFF2-40B4-BE49-F238E27FC236}">
                <a16:creationId xmlns:a16="http://schemas.microsoft.com/office/drawing/2014/main" id="{125EBE32-387E-D921-D1DE-F73F3DB5CB98}"/>
              </a:ext>
            </a:extLst>
          </p:cNvPr>
          <p:cNvSpPr/>
          <p:nvPr/>
        </p:nvSpPr>
        <p:spPr>
          <a:xfrm rot="5400000">
            <a:off x="3481470" y="2672771"/>
            <a:ext cx="108000" cy="11880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343736"/>
              </a:solidFill>
              <a:latin typeface="Europa-Regular" panose="020B0604020202020204" charset="0"/>
              <a:ea typeface="Arial"/>
              <a:cs typeface="Europa-Regular" panose="020B0604020202020204" charset="0"/>
              <a:sym typeface="Arial"/>
            </a:endParaRPr>
          </a:p>
        </p:txBody>
      </p:sp>
      <p:sp>
        <p:nvSpPr>
          <p:cNvPr id="25" name="Google Shape;1664;p39">
            <a:extLst>
              <a:ext uri="{FF2B5EF4-FFF2-40B4-BE49-F238E27FC236}">
                <a16:creationId xmlns:a16="http://schemas.microsoft.com/office/drawing/2014/main" id="{5C89FEDA-B1B7-C9B4-CA22-2BE5E3964405}"/>
              </a:ext>
            </a:extLst>
          </p:cNvPr>
          <p:cNvSpPr/>
          <p:nvPr/>
        </p:nvSpPr>
        <p:spPr>
          <a:xfrm>
            <a:off x="8498205" y="2255467"/>
            <a:ext cx="3132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397883"/>
              </a:buClr>
              <a:buSzPts val="1200"/>
            </a:pPr>
            <a:r>
              <a:rPr lang="en-US" sz="1200">
                <a:solidFill>
                  <a:srgbClr val="000000"/>
                </a:solidFill>
                <a:latin typeface="Johnson Text" panose="020B0604020202020204" charset="0"/>
                <a:cs typeface="Johnson Text" panose="020B0604020202020204" charset="0"/>
              </a:rPr>
              <a:t>After your recent interaction with the [COMPANY] sales rep, how likely are you to increase your prescribing of [PRODUCT] for the following setting / settings?</a:t>
            </a:r>
          </a:p>
        </p:txBody>
      </p:sp>
      <p:cxnSp>
        <p:nvCxnSpPr>
          <p:cNvPr id="27" name="Google Shape;1665;p39">
            <a:extLst>
              <a:ext uri="{FF2B5EF4-FFF2-40B4-BE49-F238E27FC236}">
                <a16:creationId xmlns:a16="http://schemas.microsoft.com/office/drawing/2014/main" id="{CE7324EC-8BAD-F725-694F-C3107DB426EE}"/>
              </a:ext>
            </a:extLst>
          </p:cNvPr>
          <p:cNvCxnSpPr>
            <a:cxnSpLocks/>
          </p:cNvCxnSpPr>
          <p:nvPr/>
        </p:nvCxnSpPr>
        <p:spPr>
          <a:xfrm>
            <a:off x="8426539" y="2139289"/>
            <a:ext cx="0" cy="1188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1666;p39">
            <a:extLst>
              <a:ext uri="{FF2B5EF4-FFF2-40B4-BE49-F238E27FC236}">
                <a16:creationId xmlns:a16="http://schemas.microsoft.com/office/drawing/2014/main" id="{F7CDB9E5-B58F-5352-E4D6-C366C6C4FDA2}"/>
              </a:ext>
            </a:extLst>
          </p:cNvPr>
          <p:cNvSpPr/>
          <p:nvPr/>
        </p:nvSpPr>
        <p:spPr>
          <a:xfrm rot="16200000">
            <a:off x="8318759" y="2634290"/>
            <a:ext cx="108000" cy="11880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343736"/>
              </a:solidFill>
              <a:latin typeface="Europa-Regular" panose="020B0604020202020204" charset="0"/>
              <a:ea typeface="Arial"/>
              <a:cs typeface="Europa-Regular" panose="020B0604020202020204" charset="0"/>
              <a:sym typeface="Arial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FEFCF9-B578-4C18-5DFF-CBD1E3FAB057}"/>
              </a:ext>
            </a:extLst>
          </p:cNvPr>
          <p:cNvGrpSpPr/>
          <p:nvPr/>
        </p:nvGrpSpPr>
        <p:grpSpPr>
          <a:xfrm>
            <a:off x="4098632" y="1684591"/>
            <a:ext cx="3710967" cy="2097396"/>
            <a:chOff x="3762511" y="2009830"/>
            <a:chExt cx="3978659" cy="2340000"/>
          </a:xfrm>
        </p:grpSpPr>
        <p:sp>
          <p:nvSpPr>
            <p:cNvPr id="32" name="Google Shape;1667;p39">
              <a:extLst>
                <a:ext uri="{FF2B5EF4-FFF2-40B4-BE49-F238E27FC236}">
                  <a16:creationId xmlns:a16="http://schemas.microsoft.com/office/drawing/2014/main" id="{DBC40AC9-0AFF-628B-FDED-767E68438270}"/>
                </a:ext>
              </a:extLst>
            </p:cNvPr>
            <p:cNvSpPr/>
            <p:nvPr/>
          </p:nvSpPr>
          <p:spPr>
            <a:xfrm>
              <a:off x="5401170" y="2009830"/>
              <a:ext cx="2340000" cy="2340000"/>
            </a:xfrm>
            <a:prstGeom prst="ellipse">
              <a:avLst/>
            </a:prstGeom>
            <a:solidFill>
              <a:srgbClr val="AED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1736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endParaRPr>
            </a:p>
          </p:txBody>
        </p:sp>
        <p:sp>
          <p:nvSpPr>
            <p:cNvPr id="34" name="Google Shape;1668;p39">
              <a:extLst>
                <a:ext uri="{FF2B5EF4-FFF2-40B4-BE49-F238E27FC236}">
                  <a16:creationId xmlns:a16="http://schemas.microsoft.com/office/drawing/2014/main" id="{D5B7F3E3-3C33-8FE9-7E52-135DD79D8076}"/>
                </a:ext>
              </a:extLst>
            </p:cNvPr>
            <p:cNvSpPr/>
            <p:nvPr/>
          </p:nvSpPr>
          <p:spPr>
            <a:xfrm>
              <a:off x="3762511" y="2009830"/>
              <a:ext cx="2340000" cy="2340000"/>
            </a:xfrm>
            <a:prstGeom prst="ellipse">
              <a:avLst/>
            </a:prstGeom>
            <a:solidFill>
              <a:srgbClr val="F5CDDB">
                <a:alpha val="4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3F4F3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endParaRPr>
            </a:p>
          </p:txBody>
        </p:sp>
        <p:sp>
          <p:nvSpPr>
            <p:cNvPr id="35" name="Google Shape;1669;p39">
              <a:extLst>
                <a:ext uri="{FF2B5EF4-FFF2-40B4-BE49-F238E27FC236}">
                  <a16:creationId xmlns:a16="http://schemas.microsoft.com/office/drawing/2014/main" id="{99044270-0982-B1F9-E0D4-97C330634A33}"/>
                </a:ext>
              </a:extLst>
            </p:cNvPr>
            <p:cNvSpPr txBox="1"/>
            <p:nvPr/>
          </p:nvSpPr>
          <p:spPr>
            <a:xfrm>
              <a:off x="3968323" y="2779741"/>
              <a:ext cx="1324341" cy="892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Overall Call Quality of the </a:t>
              </a:r>
              <a:r>
                <a:rPr lang="en-US" sz="1200" b="1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I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nteraction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(Rated </a:t>
              </a:r>
              <a:r>
                <a:rPr lang="en-US" sz="1000" b="1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6,</a:t>
              </a:r>
              <a:r>
                <a:rPr lang="en-US" sz="1000" b="1" i="0" u="none" strike="noStrike" cap="none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7)</a:t>
              </a:r>
              <a:endParaRPr lang="en-US" sz="1400" b="0" i="0" u="none" strike="noStrike" cap="none">
                <a:solidFill>
                  <a:srgbClr val="000000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endParaRPr>
            </a:p>
          </p:txBody>
        </p:sp>
        <p:sp>
          <p:nvSpPr>
            <p:cNvPr id="37" name="Google Shape;1670;p39">
              <a:extLst>
                <a:ext uri="{FF2B5EF4-FFF2-40B4-BE49-F238E27FC236}">
                  <a16:creationId xmlns:a16="http://schemas.microsoft.com/office/drawing/2014/main" id="{68DB6900-930D-9082-AC6C-1CCD203AFC11}"/>
                </a:ext>
              </a:extLst>
            </p:cNvPr>
            <p:cNvSpPr txBox="1"/>
            <p:nvPr/>
          </p:nvSpPr>
          <p:spPr>
            <a:xfrm>
              <a:off x="6165127" y="2687408"/>
              <a:ext cx="1324341" cy="10987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ctr">
                <a:buClr>
                  <a:srgbClr val="000000"/>
                </a:buClr>
                <a:buSzPts val="1200"/>
              </a:pPr>
              <a:r>
                <a:rPr lang="en-US" sz="1200" b="1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Likelihood to increase prescribing of PRODUCT</a:t>
              </a:r>
            </a:p>
            <a:p>
              <a:pPr lvl="0" algn="ctr">
                <a:buClr>
                  <a:srgbClr val="000000"/>
                </a:buClr>
                <a:buSzPts val="1200"/>
              </a:pPr>
              <a:r>
                <a:rPr lang="en-US" sz="1000" b="1" u="none" strike="noStrike" cap="none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(Rated 6,7)</a:t>
              </a:r>
              <a:endParaRPr lang="en-US" sz="1400" b="0" u="none" strike="noStrike" cap="none">
                <a:solidFill>
                  <a:srgbClr val="000000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endParaRPr>
            </a:p>
          </p:txBody>
        </p:sp>
        <p:sp>
          <p:nvSpPr>
            <p:cNvPr id="38" name="Google Shape;1672;p39">
              <a:extLst>
                <a:ext uri="{FF2B5EF4-FFF2-40B4-BE49-F238E27FC236}">
                  <a16:creationId xmlns:a16="http://schemas.microsoft.com/office/drawing/2014/main" id="{DA01C1EA-D85A-9765-428A-B911CC094633}"/>
                </a:ext>
              </a:extLst>
            </p:cNvPr>
            <p:cNvSpPr txBox="1"/>
            <p:nvPr/>
          </p:nvSpPr>
          <p:spPr>
            <a:xfrm>
              <a:off x="5187093" y="2918220"/>
              <a:ext cx="1142614" cy="583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Johnson Text" panose="020B0604020202020204" charset="0"/>
                  <a:ea typeface="Arial"/>
                  <a:cs typeface="Johnson Text" panose="020B0604020202020204" charset="0"/>
                  <a:sym typeface="Arial"/>
                </a:rPr>
                <a:t>High Impact</a:t>
              </a:r>
              <a:endParaRPr lang="en-US" sz="1400" b="0" i="0" u="none" strike="noStrike" cap="none">
                <a:solidFill>
                  <a:srgbClr val="000000"/>
                </a:solidFill>
                <a:latin typeface="Johnson Text" panose="020B0604020202020204" charset="0"/>
                <a:ea typeface="Arial"/>
                <a:cs typeface="Johnson Text" panose="020B0604020202020204" charset="0"/>
                <a:sym typeface="Arial"/>
              </a:endParaRPr>
            </a:p>
          </p:txBody>
        </p:sp>
      </p:grp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683EAF1-3AF1-6583-2BD7-3BB5BDC0C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446347"/>
              </p:ext>
            </p:extLst>
          </p:nvPr>
        </p:nvGraphicFramePr>
        <p:xfrm>
          <a:off x="7993260" y="3895841"/>
          <a:ext cx="3924000" cy="17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460">
                  <a:extLst>
                    <a:ext uri="{9D8B030D-6E8A-4147-A177-3AD203B41FA5}">
                      <a16:colId xmlns:a16="http://schemas.microsoft.com/office/drawing/2014/main" val="2651214669"/>
                    </a:ext>
                  </a:extLst>
                </a:gridCol>
                <a:gridCol w="1597336">
                  <a:extLst>
                    <a:ext uri="{9D8B030D-6E8A-4147-A177-3AD203B41FA5}">
                      <a16:colId xmlns:a16="http://schemas.microsoft.com/office/drawing/2014/main" val="2224259031"/>
                    </a:ext>
                  </a:extLst>
                </a:gridCol>
                <a:gridCol w="1257204">
                  <a:extLst>
                    <a:ext uri="{9D8B030D-6E8A-4147-A177-3AD203B41FA5}">
                      <a16:colId xmlns:a16="http://schemas.microsoft.com/office/drawing/2014/main" val="3492167995"/>
                    </a:ext>
                  </a:extLst>
                </a:gridCol>
              </a:tblGrid>
              <a:tr h="80537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Europa-Regular" panose="020B0604020202020204" charset="0"/>
                        <a:cs typeface="Europa-Regular" panose="020B0604020202020204" charset="0"/>
                      </a:endParaRPr>
                    </a:p>
                  </a:txBody>
                  <a:tcPr marL="101007" marR="101007" marT="45267" marB="4526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  <a:cs typeface="Europa-Regular" panose="020B0604020202020204" charset="0"/>
                        </a:rPr>
                        <a:t>High Likelihood to Increase Rx post rep Interaction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Europa-Regular" panose="020B0604020202020204" charset="0"/>
                        </a:rPr>
                        <a:t>(IA – 65%)</a:t>
                      </a:r>
                    </a:p>
                  </a:txBody>
                  <a:tcPr marL="101007" marR="101007" marT="45267" marB="4526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+mj-lt"/>
                          <a:cs typeface="Europa-Regular" panose="020B0604020202020204" charset="0"/>
                        </a:rPr>
                        <a:t>Other Interactions</a:t>
                      </a:r>
                    </a:p>
                  </a:txBody>
                  <a:tcPr marL="101007" marR="101007" marT="45267" marB="4526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86228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95924"/>
                          </a:solidFill>
                          <a:latin typeface="+mj-lt"/>
                          <a:cs typeface="Johnson Text" panose="020B0604020202020204" charset="0"/>
                        </a:rPr>
                        <a:t>RYB+LAZ</a:t>
                      </a:r>
                    </a:p>
                    <a:p>
                      <a:pPr algn="ctr"/>
                      <a:r>
                        <a:rPr lang="en-US" sz="10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(s = 100)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F95924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71%</a:t>
                      </a:r>
                    </a:p>
                  </a:txBody>
                  <a:tcPr marL="101007" marR="101007" marT="45267" marB="4526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101007" marR="101007" marT="45267" marB="4526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19429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7638A4"/>
                          </a:solidFill>
                          <a:latin typeface="+mj-lt"/>
                          <a:cs typeface="Johnson Text" panose="020B0604020202020204" charset="0"/>
                        </a:rPr>
                        <a:t>TAG+Chemo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(s = 64)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7638A4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66%</a:t>
                      </a:r>
                    </a:p>
                  </a:txBody>
                  <a:tcPr marL="101007" marR="101007" marT="45267" marB="4526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34%</a:t>
                      </a:r>
                    </a:p>
                  </a:txBody>
                  <a:tcPr marL="101007" marR="101007" marT="45267" marB="4526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944454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5719446-BDA8-5886-88CA-4D9D279C6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0404"/>
              </p:ext>
            </p:extLst>
          </p:nvPr>
        </p:nvGraphicFramePr>
        <p:xfrm>
          <a:off x="4325400" y="3931136"/>
          <a:ext cx="3240000" cy="1659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65121466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2425903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92167995"/>
                    </a:ext>
                  </a:extLst>
                </a:gridCol>
              </a:tblGrid>
              <a:tr h="738836">
                <a:tc>
                  <a:txBody>
                    <a:bodyPr/>
                    <a:lstStyle/>
                    <a:p>
                      <a:pPr algn="ctr"/>
                      <a:endParaRPr lang="en-US" sz="1000">
                        <a:solidFill>
                          <a:schemeClr val="tx1"/>
                        </a:solidFill>
                        <a:latin typeface="Europa-Regular" panose="020B0604020202020204" charset="0"/>
                        <a:cs typeface="Johnson Text" panose="020B0604020202020204" charset="0"/>
                      </a:endParaRPr>
                    </a:p>
                  </a:txBody>
                  <a:tcPr marL="132409" marR="132409" marT="59339" marB="59339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  <a:cs typeface="Johnson Text" panose="020B0604020202020204" charset="0"/>
                        </a:rPr>
                        <a:t>High Impact Interactions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</a:rPr>
                        <a:t>(IA – 55%)</a:t>
                      </a:r>
                      <a:endParaRPr lang="en-US" dirty="0">
                        <a:latin typeface="+mj-lt"/>
                      </a:endParaRPr>
                    </a:p>
                  </a:txBody>
                  <a:tcPr marL="89447" marR="89447" marT="52442" marB="5244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CE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+mj-lt"/>
                          <a:cs typeface="Johnson Text" panose="020B0604020202020204" charset="0"/>
                        </a:rPr>
                        <a:t>Other Interactions</a:t>
                      </a:r>
                    </a:p>
                  </a:txBody>
                  <a:tcPr marL="89447" marR="89447" marT="52442" marB="5244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862282"/>
                  </a:ext>
                </a:extLst>
              </a:tr>
              <a:tr h="4603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95924"/>
                          </a:solidFill>
                          <a:latin typeface="+mj-lt"/>
                          <a:cs typeface="Johnson Text" panose="020B0604020202020204" charset="0"/>
                        </a:rPr>
                        <a:t>RYB+LAZ</a:t>
                      </a:r>
                    </a:p>
                    <a:p>
                      <a:pPr algn="ctr"/>
                      <a:r>
                        <a:rPr lang="en-US" sz="1000" b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(s = 100)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95924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63%</a:t>
                      </a:r>
                    </a:p>
                  </a:txBody>
                  <a:tcPr marL="132409" marR="132409" marT="59339" marB="59339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CE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37%</a:t>
                      </a:r>
                    </a:p>
                  </a:txBody>
                  <a:tcPr marL="132409" marR="132409" marT="59339" marB="59339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397705"/>
                  </a:ext>
                </a:extLst>
              </a:tr>
              <a:tr h="4603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7638A4"/>
                          </a:solidFill>
                          <a:latin typeface="+mj-lt"/>
                          <a:cs typeface="Johnson Text" panose="020B0604020202020204" charset="0"/>
                        </a:rPr>
                        <a:t>TAG+Chemo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(s = 64)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7638A4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58%</a:t>
                      </a:r>
                    </a:p>
                  </a:txBody>
                  <a:tcPr marL="132409" marR="132409" marT="59339" marB="59339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CE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42%</a:t>
                      </a:r>
                    </a:p>
                  </a:txBody>
                  <a:tcPr marL="132409" marR="132409" marT="59339" marB="59339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944454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F608AC1-D560-BFD1-CA7A-3BEBECCB7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900331"/>
              </p:ext>
            </p:extLst>
          </p:nvPr>
        </p:nvGraphicFramePr>
        <p:xfrm>
          <a:off x="657540" y="3932434"/>
          <a:ext cx="3240000" cy="1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65121466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2425903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92167995"/>
                    </a:ext>
                  </a:extLst>
                </a:gridCol>
              </a:tblGrid>
              <a:tr h="731048">
                <a:tc>
                  <a:txBody>
                    <a:bodyPr/>
                    <a:lstStyle/>
                    <a:p>
                      <a:pPr algn="ctr"/>
                      <a:endParaRPr lang="en-US" sz="1000">
                        <a:solidFill>
                          <a:schemeClr val="tx1"/>
                        </a:solidFill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  <a:cs typeface="Johnson Text" panose="020B0604020202020204" charset="0"/>
                        </a:rPr>
                        <a:t>High Overall Call Quality</a:t>
                      </a:r>
                    </a:p>
                    <a:p>
                      <a:pPr algn="ctr"/>
                      <a:r>
                        <a:rPr 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Johnson Text" panose="020B0604020202020204" charset="0"/>
                        </a:rPr>
                        <a:t>(IA – 73%)</a:t>
                      </a:r>
                    </a:p>
                  </a:txBody>
                  <a:tcPr marL="89123" marR="89123" marT="52251" marB="522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  <a:latin typeface="+mj-lt"/>
                          <a:cs typeface="Johnson Text" panose="020B0604020202020204" charset="0"/>
                        </a:rPr>
                        <a:t>Other Interactions</a:t>
                      </a:r>
                    </a:p>
                  </a:txBody>
                  <a:tcPr marL="89123" marR="89123" marT="52251" marB="522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862282"/>
                  </a:ext>
                </a:extLst>
              </a:tr>
              <a:tr h="462896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95924"/>
                          </a:solidFill>
                          <a:latin typeface="+mj-lt"/>
                          <a:cs typeface="Johnson Text" panose="020B0604020202020204" charset="0"/>
                        </a:rPr>
                        <a:t>RYB+LAZ</a:t>
                      </a:r>
                    </a:p>
                    <a:p>
                      <a:pPr algn="ctr"/>
                      <a:r>
                        <a:rPr lang="en-US" sz="1000" b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(s = 100)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F95924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82%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18%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606311"/>
                  </a:ext>
                </a:extLst>
              </a:tr>
              <a:tr h="462896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7638A4"/>
                          </a:solidFill>
                          <a:latin typeface="+mj-lt"/>
                          <a:cs typeface="Johnson Text" panose="020B0604020202020204" charset="0"/>
                        </a:rPr>
                        <a:t>TAG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(s = 73)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7638A4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73%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27%</a:t>
                      </a:r>
                    </a:p>
                  </a:txBody>
                  <a:tcPr marL="115437" marR="115437" marT="51733" marB="5173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944454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D93D9CC1-9D08-042A-EDF0-313F8D926A48}"/>
              </a:ext>
            </a:extLst>
          </p:cNvPr>
          <p:cNvSpPr/>
          <p:nvPr/>
        </p:nvSpPr>
        <p:spPr>
          <a:xfrm>
            <a:off x="5303474" y="3877720"/>
            <a:ext cx="1280160" cy="1782695"/>
          </a:xfrm>
          <a:prstGeom prst="rect">
            <a:avLst/>
          </a:prstGeom>
          <a:noFill/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n-lt"/>
            </a:endParaRPr>
          </a:p>
        </p:txBody>
      </p:sp>
      <p:sp>
        <p:nvSpPr>
          <p:cNvPr id="5" name="Textbox_series_2">
            <a:extLst>
              <a:ext uri="{FF2B5EF4-FFF2-40B4-BE49-F238E27FC236}">
                <a16:creationId xmlns:a16="http://schemas.microsoft.com/office/drawing/2014/main" id="{718ACB40-8048-E79D-8220-40BC882D0BD2}"/>
              </a:ext>
            </a:extLst>
          </p:cNvPr>
          <p:cNvSpPr txBox="1"/>
          <p:nvPr/>
        </p:nvSpPr>
        <p:spPr>
          <a:xfrm flipH="1">
            <a:off x="5525834" y="5771612"/>
            <a:ext cx="6552000" cy="644098"/>
          </a:xfrm>
          <a:prstGeom prst="roundRect">
            <a:avLst/>
          </a:prstGeom>
          <a:solidFill>
            <a:srgbClr val="F95924">
              <a:alpha val="14902"/>
            </a:srgbClr>
          </a:solidFill>
          <a:ln>
            <a:solidFill>
              <a:srgbClr val="F959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i="0" u="non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Verdana"/>
                <a:cs typeface="Johnson Text"/>
              </a:rPr>
              <a:t>After 11 J&amp;J interactions, HCPs has considered only 4 of their next 10 eligible 1L EGFR mNSCLC patients for </a:t>
            </a:r>
            <a:r>
              <a:rPr kumimoji="0" lang="en-US" sz="900" b="1" i="0" u="non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Text"/>
                <a:ea typeface="Verdana"/>
                <a:cs typeface="Johnson Text"/>
              </a:rPr>
              <a:t>RYB+LAZ</a:t>
            </a:r>
            <a:endParaRPr lang="en-US" sz="900" b="1" i="0" u="non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Text"/>
              <a:ea typeface="Verdana"/>
              <a:cs typeface="Johnson Text"/>
            </a:endParaRP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latin typeface="Johnson Text"/>
                <a:ea typeface="Verdana"/>
                <a:cs typeface="Johnson Text"/>
              </a:rPr>
              <a:t>Directionally, </a:t>
            </a:r>
            <a:r>
              <a:rPr lang="en-US" sz="900" b="1" dirty="0">
                <a:latin typeface="Johnson Text"/>
                <a:ea typeface="Verdana"/>
                <a:cs typeface="Johnson Text"/>
              </a:rPr>
              <a:t>multi-targeted approach</a:t>
            </a:r>
            <a:r>
              <a:rPr lang="en-US" sz="900" dirty="0">
                <a:latin typeface="Johnson Text"/>
                <a:ea typeface="Verdana"/>
                <a:cs typeface="Johnson Text"/>
              </a:rPr>
              <a:t>, </a:t>
            </a:r>
            <a:r>
              <a:rPr lang="en-US" sz="900" b="1" dirty="0">
                <a:latin typeface="Johnson Text"/>
                <a:ea typeface="Verdana"/>
                <a:cs typeface="Johnson Text"/>
              </a:rPr>
              <a:t>reduction of MET amplification </a:t>
            </a:r>
            <a:r>
              <a:rPr lang="en-US" sz="900" dirty="0">
                <a:latin typeface="Johnson Text"/>
                <a:ea typeface="Verdana"/>
                <a:cs typeface="Johnson Text"/>
              </a:rPr>
              <a:t>and </a:t>
            </a:r>
            <a:r>
              <a:rPr lang="en-US" sz="900" b="1" dirty="0">
                <a:latin typeface="Johnson Text"/>
                <a:ea typeface="Verdana"/>
                <a:cs typeface="Johnson Text"/>
              </a:rPr>
              <a:t>better OS / PFS vs Tagrisso </a:t>
            </a:r>
            <a:r>
              <a:rPr lang="en-US" sz="900" dirty="0">
                <a:latin typeface="Johnson Text"/>
                <a:ea typeface="Verdana"/>
                <a:cs typeface="Johnson Text"/>
              </a:rPr>
              <a:t>are cited as reasons for better RYB+LAZ adoption</a:t>
            </a: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i="0" u="non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However, challenges in </a:t>
            </a:r>
            <a:r>
              <a:rPr kumimoji="0" lang="en-US" sz="900" b="1" i="0" u="non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toxicity management </a:t>
            </a:r>
            <a:r>
              <a:rPr kumimoji="0" lang="en-US" sz="900" i="0" u="non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are leading some HCPs to Rx </a:t>
            </a:r>
            <a:r>
              <a:rPr kumimoji="0" lang="en-US" sz="900" b="1" i="0" u="non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TAG+Chemo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48BF3B4-B516-5C2C-815C-00A3000B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4" name="Attribute Ratings">
            <a:extLst>
              <a:ext uri="{FF2B5EF4-FFF2-40B4-BE49-F238E27FC236}">
                <a16:creationId xmlns:a16="http://schemas.microsoft.com/office/drawing/2014/main" id="{76F52AFA-5C36-D0B3-268B-48071B2E3750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899623"/>
              </p:ext>
            </p:extLst>
          </p:nvPr>
        </p:nvGraphicFramePr>
        <p:xfrm>
          <a:off x="2295260" y="4654005"/>
          <a:ext cx="687893" cy="9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7893">
                  <a:extLst>
                    <a:ext uri="{9D8B030D-6E8A-4147-A177-3AD203B41FA5}">
                      <a16:colId xmlns:a16="http://schemas.microsoft.com/office/drawing/2014/main" val="2887132242"/>
                    </a:ext>
                  </a:extLst>
                </a:gridCol>
              </a:tblGrid>
              <a:tr h="464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  <a:endParaRPr lang="en-IN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  <a:endParaRPr lang="en-IN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Attribute Ratings">
            <a:extLst>
              <a:ext uri="{FF2B5EF4-FFF2-40B4-BE49-F238E27FC236}">
                <a16:creationId xmlns:a16="http://schemas.microsoft.com/office/drawing/2014/main" id="{22D48B4F-88ED-F4F6-53D5-F88592EA3E0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20054353"/>
              </p:ext>
            </p:extLst>
          </p:nvPr>
        </p:nvGraphicFramePr>
        <p:xfrm>
          <a:off x="5985517" y="4675778"/>
          <a:ext cx="687893" cy="9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7893">
                  <a:extLst>
                    <a:ext uri="{9D8B030D-6E8A-4147-A177-3AD203B41FA5}">
                      <a16:colId xmlns:a16="http://schemas.microsoft.com/office/drawing/2014/main" val="2887132242"/>
                    </a:ext>
                  </a:extLst>
                </a:gridCol>
              </a:tblGrid>
              <a:tr h="464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+6%</a:t>
                      </a:r>
                      <a:endParaRPr lang="en-IN" sz="900" b="0" i="0" u="none" strike="noStrike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  <a:endParaRPr lang="en-IN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Attribute Ratings">
            <a:extLst>
              <a:ext uri="{FF2B5EF4-FFF2-40B4-BE49-F238E27FC236}">
                <a16:creationId xmlns:a16="http://schemas.microsoft.com/office/drawing/2014/main" id="{D6EC36E4-C6EC-FF23-5C6E-C83522805AC8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69212691"/>
              </p:ext>
            </p:extLst>
          </p:nvPr>
        </p:nvGraphicFramePr>
        <p:xfrm>
          <a:off x="9958802" y="4680857"/>
          <a:ext cx="687893" cy="92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7893">
                  <a:extLst>
                    <a:ext uri="{9D8B030D-6E8A-4147-A177-3AD203B41FA5}">
                      <a16:colId xmlns:a16="http://schemas.microsoft.com/office/drawing/2014/main" val="2887132242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  <a:endParaRPr lang="en-IN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  <a:endParaRPr lang="en-IN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_series_2">
            <a:extLst>
              <a:ext uri="{FF2B5EF4-FFF2-40B4-BE49-F238E27FC236}">
                <a16:creationId xmlns:a16="http://schemas.microsoft.com/office/drawing/2014/main" id="{6F1BB85B-9742-263D-6B7D-B1C25CB6E584}"/>
              </a:ext>
            </a:extLst>
          </p:cNvPr>
          <p:cNvSpPr txBox="1"/>
          <p:nvPr/>
        </p:nvSpPr>
        <p:spPr>
          <a:xfrm flipH="1">
            <a:off x="1647426" y="5771612"/>
            <a:ext cx="3684165" cy="644098"/>
          </a:xfrm>
          <a:prstGeom prst="roundRect">
            <a:avLst/>
          </a:prstGeom>
          <a:solidFill>
            <a:srgbClr val="F95924">
              <a:alpha val="14902"/>
            </a:srgbClr>
          </a:solidFill>
          <a:ln>
            <a:solidFill>
              <a:srgbClr val="F959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00" b="1" dirty="0">
                <a:solidFill>
                  <a:srgbClr val="F95924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J&amp;J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 reps are more successful in driving high-impact interactions during </a:t>
            </a:r>
            <a:r>
              <a:rPr lang="en-US" sz="900" b="1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academic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 interactions QoQ (67% vs 41% in Q3’25), driven by significantly improved </a:t>
            </a:r>
            <a:r>
              <a:rPr lang="en-US" sz="900" b="1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intent to increase Rx 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among </a:t>
            </a:r>
            <a:r>
              <a:rPr lang="en-US" sz="900" b="1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academics 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(78% vs 47% in Q3’25)</a:t>
            </a:r>
            <a:endParaRPr kumimoji="0" lang="en-US" sz="900" i="0" u="none" kern="1200" cap="none" spc="0" normalizeH="0" baseline="0" noProof="0" dirty="0">
              <a:ln>
                <a:noFill/>
              </a:ln>
              <a:effectLst/>
              <a:uLnTx/>
              <a:uFillTx/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70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44F9-2202-4F18-84C2-D2779924AAEE}"/>
              </a:ext>
            </a:extLst>
          </p:cNvPr>
          <p:cNvSpPr>
            <a:spLocks noGrp="1"/>
          </p:cNvSpPr>
          <p:nvPr/>
        </p:nvSpPr>
        <p:spPr>
          <a:xfrm>
            <a:off x="-86939" y="180289"/>
            <a:ext cx="12174017" cy="819938"/>
          </a:xfrm>
          <a:prstGeom prst="rect">
            <a:avLst/>
          </a:prstGeom>
        </p:spPr>
        <p:txBody>
          <a:bodyPr vert="horz" lIns="91344" tIns="45672" rIns="91344" bIns="45672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67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1" i="0" u="none" strike="noStrike" kern="1200" cap="none" spc="0" normalizeH="0" baseline="0" noProof="0">
              <a:ln>
                <a:noFill/>
              </a:ln>
              <a:solidFill>
                <a:srgbClr val="09357A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1" name="Actions ryb">
            <a:extLst>
              <a:ext uri="{FF2B5EF4-FFF2-40B4-BE49-F238E27FC236}">
                <a16:creationId xmlns:a16="http://schemas.microsoft.com/office/drawing/2014/main" id="{9D21DE9E-962F-E2B9-79A4-EED6A5367F6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8136996"/>
              </p:ext>
            </p:extLst>
          </p:nvPr>
        </p:nvGraphicFramePr>
        <p:xfrm>
          <a:off x="4609779" y="2190302"/>
          <a:ext cx="2268000" cy="340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" name="Google Shape;504;p12">
            <a:extLst>
              <a:ext uri="{FF2B5EF4-FFF2-40B4-BE49-F238E27FC236}">
                <a16:creationId xmlns:a16="http://schemas.microsoft.com/office/drawing/2014/main" id="{B6A082EF-E2A1-33E7-FA63-3F0100331A44}"/>
              </a:ext>
            </a:extLst>
          </p:cNvPr>
          <p:cNvSpPr txBox="1"/>
          <p:nvPr/>
        </p:nvSpPr>
        <p:spPr>
          <a:xfrm>
            <a:off x="415237" y="1196456"/>
            <a:ext cx="11285771" cy="2717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85" tIns="45580" rIns="91185" bIns="45580" anchor="ctr" anchorCtr="0">
            <a:spAutoFit/>
          </a:bodyPr>
          <a:lstStyle/>
          <a:p>
            <a:pPr lvl="0" defTabSz="913029">
              <a:defRPr/>
            </a:pPr>
            <a:r>
              <a:rPr lang="en-US" sz="1000" b="1">
                <a:solidFill>
                  <a:srgbClr val="000000"/>
                </a:solidFill>
                <a:latin typeface="Johnson Display"/>
                <a:ea typeface="Verdana"/>
              </a:rPr>
              <a:t>SALES REPS CALL-TO-ACTION – Q4'25</a:t>
            </a:r>
            <a:endParaRPr lang="en-IN" sz="1000" b="1">
              <a:solidFill>
                <a:srgbClr val="000000"/>
              </a:solidFill>
              <a:latin typeface="Johnson Display"/>
              <a:ea typeface="Verdana"/>
            </a:endParaRP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01616DBC-981D-8D69-ED3C-2734136EB84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graphicFrame>
        <p:nvGraphicFramePr>
          <p:cNvPr id="9" name="Champtions actions">
            <a:extLst>
              <a:ext uri="{FF2B5EF4-FFF2-40B4-BE49-F238E27FC236}">
                <a16:creationId xmlns:a16="http://schemas.microsoft.com/office/drawing/2014/main" id="{8DEFFB9B-45A3-42D3-3B66-641613851AC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8617828"/>
              </p:ext>
            </p:extLst>
          </p:nvPr>
        </p:nvGraphicFramePr>
        <p:xfrm>
          <a:off x="7804883" y="2190302"/>
          <a:ext cx="2268000" cy="340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ED8297-FBFA-9515-66C1-69D7E37BCABC}"/>
              </a:ext>
            </a:extLst>
          </p:cNvPr>
          <p:cNvCxnSpPr>
            <a:cxnSpLocks/>
          </p:cNvCxnSpPr>
          <p:nvPr/>
        </p:nvCxnSpPr>
        <p:spPr>
          <a:xfrm flipV="1">
            <a:off x="7092016" y="1747594"/>
            <a:ext cx="0" cy="4536000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8009B7D-6C00-FF0F-3F42-B8198FB46721}"/>
              </a:ext>
            </a:extLst>
          </p:cNvPr>
          <p:cNvSpPr txBox="1"/>
          <p:nvPr/>
        </p:nvSpPr>
        <p:spPr>
          <a:xfrm>
            <a:off x="4900747" y="5591726"/>
            <a:ext cx="168606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IN" sz="100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% of Interactions</a:t>
            </a:r>
            <a:endParaRPr lang="en-IN" sz="1000">
              <a:solidFill>
                <a:srgbClr val="000000">
                  <a:lumMod val="85000"/>
                  <a:lumOff val="15000"/>
                </a:srgbClr>
              </a:solidFill>
              <a:latin typeface="Johnson Text" panose="020B0604020202020204" charset="0"/>
              <a:ea typeface="Verdana" panose="020B0604030504040204" pitchFamily="34" charset="0"/>
              <a:cs typeface="Johnson Text" panose="020B0604020202020204" charset="0"/>
            </a:endParaRPr>
          </a:p>
        </p:txBody>
      </p:sp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9B1AC905-6F5B-5B9E-54DD-380C35D6DBE4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48" name="Google Shape;229;p3">
            <a:extLst>
              <a:ext uri="{FF2B5EF4-FFF2-40B4-BE49-F238E27FC236}">
                <a16:creationId xmlns:a16="http://schemas.microsoft.com/office/drawing/2014/main" id="{7DF3A715-E025-E818-0689-70AB13C09885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lvl="0" algn="r" defTabSz="911204">
              <a:buClr>
                <a:srgbClr val="000000"/>
              </a:buClr>
              <a:defRPr/>
            </a:pPr>
            <a:r>
              <a:rPr lang="en-IN" sz="999" kern="0">
                <a:solidFill>
                  <a:srgbClr val="505050">
                    <a:lumMod val="50000"/>
                  </a:srgbClr>
                </a:solidFill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graphicFrame>
        <p:nvGraphicFramePr>
          <p:cNvPr id="7" name="Theme">
            <a:extLst>
              <a:ext uri="{FF2B5EF4-FFF2-40B4-BE49-F238E27FC236}">
                <a16:creationId xmlns:a16="http://schemas.microsoft.com/office/drawing/2014/main" id="{6C00555D-CD68-0A8F-C937-1FE924F0677C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53083464"/>
              </p:ext>
            </p:extLst>
          </p:nvPr>
        </p:nvGraphicFramePr>
        <p:xfrm>
          <a:off x="6378547" y="2190014"/>
          <a:ext cx="483290" cy="340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29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85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0</a:t>
                      </a:r>
                      <a:r>
                        <a:rPr lang="en-IN" sz="90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850500">
                <a:tc>
                  <a:txBody>
                    <a:bodyPr/>
                    <a:lstStyle/>
                    <a:p>
                      <a:pPr marL="0" marR="0" lvl="0" indent="0" algn="ctr" defTabSz="4567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+8%</a:t>
                      </a:r>
                      <a:endParaRPr lang="en-IN" sz="900" b="0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850500">
                <a:tc>
                  <a:txBody>
                    <a:bodyPr/>
                    <a:lstStyle/>
                    <a:p>
                      <a:pPr marL="0" marR="0" lvl="0" indent="0" algn="ctr" defTabSz="4567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  <a:endParaRPr lang="en-IN" sz="900" b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850500">
                <a:tc>
                  <a:txBody>
                    <a:bodyPr/>
                    <a:lstStyle/>
                    <a:p>
                      <a:pPr marL="0" marR="0" lvl="0" indent="0" algn="ctr" defTabSz="4567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  <a:endParaRPr lang="en-IN" sz="900" b="0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</a:tbl>
          </a:graphicData>
        </a:graphic>
      </p:graphicFrame>
      <p:graphicFrame>
        <p:nvGraphicFramePr>
          <p:cNvPr id="4" name="NPP Attributes">
            <a:extLst>
              <a:ext uri="{FF2B5EF4-FFF2-40B4-BE49-F238E27FC236}">
                <a16:creationId xmlns:a16="http://schemas.microsoft.com/office/drawing/2014/main" id="{1A84D595-8483-FAE4-3182-88293838D3A4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6714108"/>
              </p:ext>
            </p:extLst>
          </p:nvPr>
        </p:nvGraphicFramePr>
        <p:xfrm>
          <a:off x="1752493" y="2190302"/>
          <a:ext cx="2477818" cy="34014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77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0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/>
                          <a:cs typeface="Johnson Text" panose="020B0604020202020204" charset="0"/>
                        </a:rPr>
                        <a:t>Asked Whether Reps Provided Compelling Reason to Prescribe</a:t>
                      </a:r>
                      <a:endParaRPr kumimoji="0" lang="en-IN" sz="1000" b="0" i="0" u="sng" strike="noStrike" kern="1200" cap="none" spc="0" normalizeH="0" baseline="3000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/>
                          <a:cs typeface="Johnson Text" panose="020B0604020202020204" charset="0"/>
                        </a:rPr>
                        <a:t>Asked Whether Reps Changed the Opinion on Which Product to Choose</a:t>
                      </a:r>
                      <a:endParaRPr kumimoji="0" lang="en-IN" sz="1000" b="0" i="0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547070"/>
                  </a:ext>
                </a:extLst>
              </a:tr>
              <a:tr h="850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>
                          <a:solidFill>
                            <a:srgbClr val="000000"/>
                          </a:solidFill>
                          <a:latin typeface="Johnson Text"/>
                          <a:ea typeface="Verdana"/>
                          <a:cs typeface="Johnson Text"/>
                        </a:rPr>
                        <a:t>Asked to Prescribe (Branded closing)</a:t>
                      </a:r>
                      <a:endParaRPr kumimoji="0" lang="en-IN" sz="10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Johnson Text"/>
                        <a:ea typeface="Verdana"/>
                        <a:cs typeface="Johnson Text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087551"/>
                  </a:ext>
                </a:extLst>
              </a:tr>
              <a:tr h="850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latin typeface="Johnson Text" panose="020B0604020202020204" charset="0"/>
                          <a:ea typeface="Verdana"/>
                          <a:cs typeface="Johnson Text" panose="020B0604020202020204" charset="0"/>
                        </a:rPr>
                        <a:t>Asked Whether Company can Provide Staff Education</a:t>
                      </a:r>
                      <a:endParaRPr kumimoji="0" lang="en-IN" sz="10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5324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9065EAC-576A-FF53-F8E7-1F14B29938C8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Question text in speaker notes | No statistically significant difference with 95% confidence interval found between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RYB+LAZ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and TAG+Chemo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| No statistically significant difference with 95% confidence interval between latest two quarters |</a:t>
            </a:r>
            <a:r>
              <a:rPr kumimoji="1" lang="en-US" sz="900" i="1" kern="0" dirty="0">
                <a:solidFill>
                  <a:srgbClr val="7F7F7F"/>
                </a:solidFill>
              </a:rPr>
              <a:t> </a:t>
            </a:r>
            <a:r>
              <a:rPr lang="en-US" sz="900" b="1" i="1" dirty="0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 dirty="0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 dirty="0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 panose="020B0604020202020204" charset="0"/>
              <a:cs typeface="Johnson Text" panose="020B0604020202020204" charset="0"/>
            </a:endParaRPr>
          </a:p>
        </p:txBody>
      </p:sp>
      <p:sp>
        <p:nvSpPr>
          <p:cNvPr id="23" name="Google Shape;504;p12">
            <a:extLst>
              <a:ext uri="{FF2B5EF4-FFF2-40B4-BE49-F238E27FC236}">
                <a16:creationId xmlns:a16="http://schemas.microsoft.com/office/drawing/2014/main" id="{4E6A5FAB-AD93-8712-65A3-692E41518D1D}"/>
              </a:ext>
            </a:extLst>
          </p:cNvPr>
          <p:cNvSpPr txBox="1"/>
          <p:nvPr/>
        </p:nvSpPr>
        <p:spPr>
          <a:xfrm>
            <a:off x="4506280" y="1774694"/>
            <a:ext cx="2474998" cy="41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b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</a:b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100)</a:t>
            </a:r>
          </a:p>
        </p:txBody>
      </p:sp>
      <p:sp>
        <p:nvSpPr>
          <p:cNvPr id="24" name="Google Shape;504;p12">
            <a:extLst>
              <a:ext uri="{FF2B5EF4-FFF2-40B4-BE49-F238E27FC236}">
                <a16:creationId xmlns:a16="http://schemas.microsoft.com/office/drawing/2014/main" id="{3722A981-0177-7D8F-F13C-3B5932577556}"/>
              </a:ext>
            </a:extLst>
          </p:cNvPr>
          <p:cNvSpPr txBox="1"/>
          <p:nvPr/>
        </p:nvSpPr>
        <p:spPr>
          <a:xfrm>
            <a:off x="7701384" y="1795960"/>
            <a:ext cx="2474998" cy="41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TAG+Chemo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64)</a:t>
            </a:r>
          </a:p>
        </p:txBody>
      </p:sp>
      <p:graphicFrame>
        <p:nvGraphicFramePr>
          <p:cNvPr id="33" name="Shape_86338298">
            <a:extLst>
              <a:ext uri="{FF2B5EF4-FFF2-40B4-BE49-F238E27FC236}">
                <a16:creationId xmlns:a16="http://schemas.microsoft.com/office/drawing/2014/main" id="{4309989C-A096-A97F-3AFE-A60D2362AA6C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954889921"/>
              </p:ext>
            </p:extLst>
          </p:nvPr>
        </p:nvGraphicFramePr>
        <p:xfrm>
          <a:off x="9739643" y="2190014"/>
          <a:ext cx="483290" cy="340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29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85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85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-13%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850500">
                <a:tc>
                  <a:txBody>
                    <a:bodyPr/>
                    <a:lstStyle/>
                    <a:p>
                      <a:pPr marL="0" marR="0" lvl="0" indent="0" algn="ctr" defTabSz="4567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  <a:endParaRPr lang="en-IN" sz="900" b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850500">
                <a:tc>
                  <a:txBody>
                    <a:bodyPr/>
                    <a:lstStyle/>
                    <a:p>
                      <a:pPr marL="0" marR="0" lvl="0" indent="0" algn="ctr" defTabSz="4567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-13%</a:t>
                      </a:r>
                      <a:endParaRPr lang="en-IN" sz="900" b="0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C121D7-1736-E102-ADF7-48B5CBA5237E}"/>
              </a:ext>
            </a:extLst>
          </p:cNvPr>
          <p:cNvSpPr txBox="1"/>
          <p:nvPr/>
        </p:nvSpPr>
        <p:spPr>
          <a:xfrm>
            <a:off x="1682150" y="1835334"/>
            <a:ext cx="261850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100" b="1">
                <a:solidFill>
                  <a:srgbClr val="000000"/>
                </a:solidFill>
                <a:latin typeface="Johnson Display"/>
                <a:ea typeface="Verdana"/>
              </a:rPr>
              <a:t>Sales Reps Call-to-Action</a:t>
            </a:r>
            <a:endParaRPr kumimoji="0" lang="en-IN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22CB7-801A-4992-3950-D4FB35EEC6FA}"/>
              </a:ext>
            </a:extLst>
          </p:cNvPr>
          <p:cNvSpPr txBox="1"/>
          <p:nvPr/>
        </p:nvSpPr>
        <p:spPr>
          <a:xfrm>
            <a:off x="8095851" y="5591726"/>
            <a:ext cx="168606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IN" sz="100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% of Interactions</a:t>
            </a:r>
            <a:endParaRPr lang="en-IN" sz="1000">
              <a:solidFill>
                <a:srgbClr val="000000">
                  <a:lumMod val="85000"/>
                  <a:lumOff val="15000"/>
                </a:srgbClr>
              </a:solidFill>
              <a:latin typeface="Johnson Text" panose="020B0604020202020204" charset="0"/>
              <a:ea typeface="Verdana" panose="020B0604030504040204" pitchFamily="34" charset="0"/>
              <a:cs typeface="Johnson Text" panose="020B0604020202020204" charset="0"/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8D5C4D8-7CA1-6E97-D30C-32BA7329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 vert="horz" lIns="0" tIns="0" rIns="0" bIns="0" rtlCol="0" anchor="ctr"/>
          <a:lstStyle/>
          <a:p>
            <a:fld id="{AEC8D767-5246-2244-A4A3-B8AFB218393C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19A4B6E-AABC-B871-9D3C-FCCF932F14DA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J&amp;J reps maintain steady call-to-action delivery QoQ, with relative strength in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influencing Tx choice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providing staff education;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AZ retains their lead in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Rx motivation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branded closing</a:t>
            </a:r>
          </a:p>
        </p:txBody>
      </p:sp>
      <p:sp>
        <p:nvSpPr>
          <p:cNvPr id="5" name="Highlight#25">
            <a:extLst>
              <a:ext uri="{FF2B5EF4-FFF2-40B4-BE49-F238E27FC236}">
                <a16:creationId xmlns:a16="http://schemas.microsoft.com/office/drawing/2014/main" id="{F01733B0-A5EC-493B-8CC0-C8CCD1BDAEF9}"/>
              </a:ext>
            </a:extLst>
          </p:cNvPr>
          <p:cNvSpPr txBox="1"/>
          <p:nvPr/>
        </p:nvSpPr>
        <p:spPr>
          <a:xfrm>
            <a:off x="1695450" y="3038476"/>
            <a:ext cx="8791575" cy="847724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Highlight#25">
            <a:extLst>
              <a:ext uri="{FF2B5EF4-FFF2-40B4-BE49-F238E27FC236}">
                <a16:creationId xmlns:a16="http://schemas.microsoft.com/office/drawing/2014/main" id="{D1737394-B515-493A-ADDB-7133E3373BD1}"/>
              </a:ext>
            </a:extLst>
          </p:cNvPr>
          <p:cNvSpPr txBox="1"/>
          <p:nvPr/>
        </p:nvSpPr>
        <p:spPr>
          <a:xfrm>
            <a:off x="1695450" y="4752976"/>
            <a:ext cx="8791575" cy="847724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846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070D-44B0-0BA2-7400-91A5B93EE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42386-8824-CBA1-EDEB-309038BB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045CA18E-9482-1752-225B-046CB4D7A735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HIGH IMPACT INTERACTION DRIVERS SCORECARD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RYB+LAZ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Q4'25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B6703D9B-B34D-9640-2DF4-C412EEFB4C22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BBEE2-FA4F-A04C-9169-C2B38BF6588D}"/>
              </a:ext>
            </a:extLst>
          </p:cNvPr>
          <p:cNvSpPr/>
          <p:nvPr/>
        </p:nvSpPr>
        <p:spPr>
          <a:xfrm>
            <a:off x="415236" y="1726939"/>
            <a:ext cx="11285770" cy="3963901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18EE35D-E7DB-154D-2A08-A5F9D729F99F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3312336"/>
              </p:ext>
            </p:extLst>
          </p:nvPr>
        </p:nvGraphicFramePr>
        <p:xfrm>
          <a:off x="415237" y="2986802"/>
          <a:ext cx="11285769" cy="2352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D6D1DC6C-27D4-27B2-6CF2-FEE47CB9263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46844819"/>
              </p:ext>
            </p:extLst>
          </p:nvPr>
        </p:nvGraphicFramePr>
        <p:xfrm>
          <a:off x="412573" y="5089211"/>
          <a:ext cx="11285773" cy="607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77">
                  <a:extLst>
                    <a:ext uri="{9D8B030D-6E8A-4147-A177-3AD203B41FA5}">
                      <a16:colId xmlns:a16="http://schemas.microsoft.com/office/drawing/2014/main" val="1629667221"/>
                    </a:ext>
                  </a:extLst>
                </a:gridCol>
                <a:gridCol w="1024277">
                  <a:extLst>
                    <a:ext uri="{9D8B030D-6E8A-4147-A177-3AD203B41FA5}">
                      <a16:colId xmlns:a16="http://schemas.microsoft.com/office/drawing/2014/main" val="3450828797"/>
                    </a:ext>
                  </a:extLst>
                </a:gridCol>
                <a:gridCol w="1024277">
                  <a:extLst>
                    <a:ext uri="{9D8B030D-6E8A-4147-A177-3AD203B41FA5}">
                      <a16:colId xmlns:a16="http://schemas.microsoft.com/office/drawing/2014/main" val="3992749918"/>
                    </a:ext>
                  </a:extLst>
                </a:gridCol>
                <a:gridCol w="1024277">
                  <a:extLst>
                    <a:ext uri="{9D8B030D-6E8A-4147-A177-3AD203B41FA5}">
                      <a16:colId xmlns:a16="http://schemas.microsoft.com/office/drawing/2014/main" val="521574298"/>
                    </a:ext>
                  </a:extLst>
                </a:gridCol>
                <a:gridCol w="1024277">
                  <a:extLst>
                    <a:ext uri="{9D8B030D-6E8A-4147-A177-3AD203B41FA5}">
                      <a16:colId xmlns:a16="http://schemas.microsoft.com/office/drawing/2014/main" val="2179522924"/>
                    </a:ext>
                  </a:extLst>
                </a:gridCol>
                <a:gridCol w="1027398">
                  <a:extLst>
                    <a:ext uri="{9D8B030D-6E8A-4147-A177-3AD203B41FA5}">
                      <a16:colId xmlns:a16="http://schemas.microsoft.com/office/drawing/2014/main" val="1988808343"/>
                    </a:ext>
                  </a:extLst>
                </a:gridCol>
                <a:gridCol w="1027398">
                  <a:extLst>
                    <a:ext uri="{9D8B030D-6E8A-4147-A177-3AD203B41FA5}">
                      <a16:colId xmlns:a16="http://schemas.microsoft.com/office/drawing/2014/main" val="1799068466"/>
                    </a:ext>
                  </a:extLst>
                </a:gridCol>
                <a:gridCol w="1027398">
                  <a:extLst>
                    <a:ext uri="{9D8B030D-6E8A-4147-A177-3AD203B41FA5}">
                      <a16:colId xmlns:a16="http://schemas.microsoft.com/office/drawing/2014/main" val="957371294"/>
                    </a:ext>
                  </a:extLst>
                </a:gridCol>
                <a:gridCol w="1027398">
                  <a:extLst>
                    <a:ext uri="{9D8B030D-6E8A-4147-A177-3AD203B41FA5}">
                      <a16:colId xmlns:a16="http://schemas.microsoft.com/office/drawing/2014/main" val="1862500979"/>
                    </a:ext>
                  </a:extLst>
                </a:gridCol>
                <a:gridCol w="1027398">
                  <a:extLst>
                    <a:ext uri="{9D8B030D-6E8A-4147-A177-3AD203B41FA5}">
                      <a16:colId xmlns:a16="http://schemas.microsoft.com/office/drawing/2014/main" val="3755490678"/>
                    </a:ext>
                  </a:extLst>
                </a:gridCol>
                <a:gridCol w="1027398">
                  <a:extLst>
                    <a:ext uri="{9D8B030D-6E8A-4147-A177-3AD203B41FA5}">
                      <a16:colId xmlns:a16="http://schemas.microsoft.com/office/drawing/2014/main" val="2146351109"/>
                    </a:ext>
                  </a:extLst>
                </a:gridCol>
              </a:tblGrid>
              <a:tr h="6070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Rep led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Narrative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Patient Starter Kits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Product 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Brochure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Patient 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Profile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Branded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Closing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Guidelines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/ side effects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Efficacy- mOS Not Reached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- CNS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- OS Headline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NCCN-CNS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602551"/>
                  </a:ext>
                </a:extLst>
              </a:tr>
            </a:tbl>
          </a:graphicData>
        </a:graphic>
      </p:graphicFrame>
      <p:sp>
        <p:nvSpPr>
          <p:cNvPr id="33" name="Legend_series_2">
            <a:extLst>
              <a:ext uri="{FF2B5EF4-FFF2-40B4-BE49-F238E27FC236}">
                <a16:creationId xmlns:a16="http://schemas.microsoft.com/office/drawing/2014/main" id="{17D086C5-392E-5E52-4E1F-0B3F3DE7EF75}"/>
              </a:ext>
            </a:extLst>
          </p:cNvPr>
          <p:cNvSpPr/>
          <p:nvPr/>
        </p:nvSpPr>
        <p:spPr>
          <a:xfrm>
            <a:off x="5207702" y="6044793"/>
            <a:ext cx="108000" cy="108000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34" name="Textbox_series_2">
            <a:extLst>
              <a:ext uri="{FF2B5EF4-FFF2-40B4-BE49-F238E27FC236}">
                <a16:creationId xmlns:a16="http://schemas.microsoft.com/office/drawing/2014/main" id="{3E3AAAC8-AA40-AC01-8C3E-4AEFE01A125E}"/>
              </a:ext>
            </a:extLst>
          </p:cNvPr>
          <p:cNvSpPr txBox="1"/>
          <p:nvPr/>
        </p:nvSpPr>
        <p:spPr>
          <a:xfrm flipH="1">
            <a:off x="5314260" y="5973860"/>
            <a:ext cx="2103334" cy="249867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High Impact Interactions~     </a:t>
            </a:r>
            <a:b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63)</a:t>
            </a:r>
          </a:p>
        </p:txBody>
      </p:sp>
      <p:sp>
        <p:nvSpPr>
          <p:cNvPr id="31" name="Legend_series_2">
            <a:extLst>
              <a:ext uri="{FF2B5EF4-FFF2-40B4-BE49-F238E27FC236}">
                <a16:creationId xmlns:a16="http://schemas.microsoft.com/office/drawing/2014/main" id="{AED92243-989E-0908-DD90-93CAB0EE7076}"/>
              </a:ext>
            </a:extLst>
          </p:cNvPr>
          <p:cNvSpPr/>
          <p:nvPr/>
        </p:nvSpPr>
        <p:spPr>
          <a:xfrm>
            <a:off x="7046720" y="6044793"/>
            <a:ext cx="108000" cy="10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32" name="Textbox_series_2">
            <a:extLst>
              <a:ext uri="{FF2B5EF4-FFF2-40B4-BE49-F238E27FC236}">
                <a16:creationId xmlns:a16="http://schemas.microsoft.com/office/drawing/2014/main" id="{B8A66994-5BA0-1956-3A7C-53752554D697}"/>
              </a:ext>
            </a:extLst>
          </p:cNvPr>
          <p:cNvSpPr txBox="1"/>
          <p:nvPr/>
        </p:nvSpPr>
        <p:spPr>
          <a:xfrm flipH="1">
            <a:off x="7138276" y="5973860"/>
            <a:ext cx="1980019" cy="249867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Other Interactions</a:t>
            </a:r>
            <a:b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</a:t>
            </a:r>
            <a:r>
              <a:rPr lang="en-IN" sz="1000">
                <a:solidFill>
                  <a:srgbClr val="505050">
                    <a:lumMod val="50000"/>
                  </a:srgbClr>
                </a:solidFill>
                <a:latin typeface="Johnson Text"/>
                <a:ea typeface="Verdana" panose="020B0604030504040204" pitchFamily="34" charset="0"/>
              </a:rPr>
              <a:t>37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)</a:t>
            </a:r>
          </a:p>
        </p:txBody>
      </p:sp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9007C8E6-A8AB-7456-716D-9CA6D8FB4B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3" y="1090620"/>
            <a:ext cx="248013" cy="2480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2D6C58B-6D89-456B-DC11-349AE62F3BA4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Question text in speaker notes</a:t>
            </a:r>
            <a:r>
              <a:rPr kumimoji="1" lang="en-IN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     Denotes statistically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significant difference with 95% confidence interval between High Impact Interactions vs. other interactions | </a:t>
            </a:r>
            <a:r>
              <a:rPr kumimoji="1" lang="en-US" sz="900" b="0" i="1" u="none" strike="noStrike" kern="0" cap="none" spc="0" normalizeH="0" baseline="3000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1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Complete message text in speaker notes | High Impact Interactions are defined by interactions rated highly on Sales Call Quality and Likelihood to Increase Rx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0758D61-D878-F531-4B21-364632C8339B}"/>
              </a:ext>
            </a:extLst>
          </p:cNvPr>
          <p:cNvCxnSpPr>
            <a:cxnSpLocks/>
          </p:cNvCxnSpPr>
          <p:nvPr/>
        </p:nvCxnSpPr>
        <p:spPr>
          <a:xfrm>
            <a:off x="1385316" y="2377228"/>
            <a:ext cx="0" cy="3312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26F7728-4009-F17D-6B40-F1686B6E58FA}"/>
              </a:ext>
            </a:extLst>
          </p:cNvPr>
          <p:cNvGrpSpPr/>
          <p:nvPr/>
        </p:nvGrpSpPr>
        <p:grpSpPr>
          <a:xfrm>
            <a:off x="5841282" y="2496093"/>
            <a:ext cx="1470409" cy="747496"/>
            <a:chOff x="4023963" y="2160430"/>
            <a:chExt cx="1470409" cy="747496"/>
          </a:xfrm>
        </p:grpSpPr>
        <p:sp>
          <p:nvSpPr>
            <p:cNvPr id="30" name="Google Shape;1160;p116">
              <a:extLst>
                <a:ext uri="{FF2B5EF4-FFF2-40B4-BE49-F238E27FC236}">
                  <a16:creationId xmlns:a16="http://schemas.microsoft.com/office/drawing/2014/main" id="{D2DDE980-194B-C324-B764-6EA5C04CF48C}"/>
                </a:ext>
              </a:extLst>
            </p:cNvPr>
            <p:cNvSpPr/>
            <p:nvPr/>
          </p:nvSpPr>
          <p:spPr>
            <a:xfrm>
              <a:off x="4196730" y="2585040"/>
              <a:ext cx="1116014" cy="322886"/>
            </a:xfrm>
            <a:prstGeom prst="roundRect">
              <a:avLst>
                <a:gd name="adj" fmla="val 10564"/>
              </a:avLst>
            </a:prstGeom>
            <a:noFill/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1926" tIns="0" rIns="71926" bIns="0" anchor="ctr" anchorCtr="0">
              <a:no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5050"/>
                </a:buClr>
                <a:buSzPts val="1100"/>
                <a:buFontTx/>
                <a:buNone/>
                <a:tabLst/>
                <a:defRPr/>
              </a:pP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Avg. Topics: </a:t>
              </a:r>
            </a:p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5050"/>
                </a:buClr>
                <a:buSzPts val="1100"/>
                <a:buFontTx/>
                <a:buNone/>
                <a:tabLst/>
                <a:defRPr/>
              </a:pPr>
              <a:r>
                <a:rPr lang="en-GB" sz="1000" b="1" i="1">
                  <a:solidFill>
                    <a:srgbClr val="F75824"/>
                  </a:solidFill>
                  <a:latin typeface="Johnson Text"/>
                  <a:ea typeface="Verdana" panose="020B0604030504040204" pitchFamily="34" charset="0"/>
                </a:rPr>
                <a:t>3.7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 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|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 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3.1</a:t>
              </a:r>
            </a:p>
          </p:txBody>
        </p:sp>
        <p:sp>
          <p:nvSpPr>
            <p:cNvPr id="36" name="Textbox_series_2">
              <a:extLst>
                <a:ext uri="{FF2B5EF4-FFF2-40B4-BE49-F238E27FC236}">
                  <a16:creationId xmlns:a16="http://schemas.microsoft.com/office/drawing/2014/main" id="{3E10525D-C745-F2BA-2286-95D087C9646C}"/>
                </a:ext>
              </a:extLst>
            </p:cNvPr>
            <p:cNvSpPr txBox="1"/>
            <p:nvPr/>
          </p:nvSpPr>
          <p:spPr>
            <a:xfrm flipH="1">
              <a:off x="4023963" y="2160430"/>
              <a:ext cx="1470409" cy="481408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Topics Discussed</a:t>
              </a:r>
              <a:b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</a:b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7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(% of Interactions)</a:t>
              </a:r>
            </a:p>
          </p:txBody>
        </p:sp>
      </p:grpSp>
      <p:sp>
        <p:nvSpPr>
          <p:cNvPr id="50" name="Google Shape;229;p3">
            <a:extLst>
              <a:ext uri="{FF2B5EF4-FFF2-40B4-BE49-F238E27FC236}">
                <a16:creationId xmlns:a16="http://schemas.microsoft.com/office/drawing/2014/main" id="{AC9F5EA7-8224-07FF-03E8-D3965823CED4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F9746E-BF91-7AE0-C4BE-DF2F13682CD0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04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kumimoji="0" lang="en-US" sz="1800" b="1" i="0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To drive high impact interactions, J&amp;J reps should - 1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) lead the 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</a:rPr>
              <a:t>narrative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of discussion, 2</a:t>
            </a:r>
            <a:r>
              <a:rPr kumimoji="0" lang="en-US" sz="1800" b="1" i="0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)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actively leverage</a:t>
            </a:r>
            <a:r>
              <a:rPr kumimoji="0" lang="en-US" sz="1800" b="1" i="0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</a:t>
            </a:r>
            <a:r>
              <a:rPr kumimoji="0" lang="en-US" sz="1800" b="1" i="1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patient starter kits </a:t>
            </a:r>
            <a:r>
              <a:rPr kumimoji="0" lang="en-US" sz="1800" b="1" i="0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and </a:t>
            </a:r>
            <a:r>
              <a:rPr kumimoji="0" lang="en-US" sz="1800" b="1" i="1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brochures</a:t>
            </a:r>
            <a:r>
              <a:rPr kumimoji="0" lang="en-US" sz="1800" b="1" i="0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, 3)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 reinforce NCCN-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CNS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and 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OS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messages</a:t>
            </a:r>
            <a:r>
              <a:rPr kumimoji="0" lang="en-US" sz="1800" b="1" i="0" u="non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, and 4)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confidently deliver 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  <a:cs typeface="Johnson Display"/>
              </a:rPr>
              <a:t>branded close</a:t>
            </a:r>
            <a:endParaRPr lang="en-US" sz="1800" b="1" i="0" u="non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03BE08-B172-E843-63E9-CFEE65FA6788}"/>
              </a:ext>
            </a:extLst>
          </p:cNvPr>
          <p:cNvCxnSpPr>
            <a:cxnSpLocks/>
          </p:cNvCxnSpPr>
          <p:nvPr/>
        </p:nvCxnSpPr>
        <p:spPr>
          <a:xfrm flipH="1">
            <a:off x="416353" y="2382435"/>
            <a:ext cx="2106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FBD4602-367B-A2CD-F6BA-599B0A192CE6}"/>
              </a:ext>
            </a:extLst>
          </p:cNvPr>
          <p:cNvGrpSpPr/>
          <p:nvPr/>
        </p:nvGrpSpPr>
        <p:grpSpPr>
          <a:xfrm>
            <a:off x="612139" y="1629895"/>
            <a:ext cx="1676517" cy="652608"/>
            <a:chOff x="4041405" y="2074168"/>
            <a:chExt cx="1470409" cy="652608"/>
          </a:xfrm>
        </p:grpSpPr>
        <p:sp>
          <p:nvSpPr>
            <p:cNvPr id="51" name="Google Shape;1160;p116">
              <a:extLst>
                <a:ext uri="{FF2B5EF4-FFF2-40B4-BE49-F238E27FC236}">
                  <a16:creationId xmlns:a16="http://schemas.microsoft.com/office/drawing/2014/main" id="{CBFB61E1-1B03-6276-8A0A-037DE1D70CEE}"/>
                </a:ext>
              </a:extLst>
            </p:cNvPr>
            <p:cNvSpPr/>
            <p:nvPr/>
          </p:nvSpPr>
          <p:spPr>
            <a:xfrm>
              <a:off x="4214172" y="2403890"/>
              <a:ext cx="1116014" cy="322886"/>
            </a:xfrm>
            <a:prstGeom prst="roundRect">
              <a:avLst>
                <a:gd name="adj" fmla="val 10564"/>
              </a:avLst>
            </a:prstGeom>
            <a:noFill/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1926" tIns="0" rIns="71926" bIns="0" anchor="ctr" anchorCtr="0">
              <a:no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5050"/>
                </a:buClr>
                <a:buSzPts val="1100"/>
                <a:buFontTx/>
                <a:buNone/>
                <a:tabLst/>
                <a:defRPr/>
              </a:pP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Avg. Time Spent: </a:t>
              </a:r>
            </a:p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5050"/>
                </a:buClr>
                <a:buSzPts val="1100"/>
                <a:buFontTx/>
                <a:buNone/>
                <a:tabLst/>
                <a:defRPr/>
              </a:pP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16</a:t>
              </a: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 </a:t>
              </a: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|</a:t>
              </a: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 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16</a:t>
              </a:r>
            </a:p>
          </p:txBody>
        </p:sp>
        <p:sp>
          <p:nvSpPr>
            <p:cNvPr id="52" name="Textbox_series_2">
              <a:extLst>
                <a:ext uri="{FF2B5EF4-FFF2-40B4-BE49-F238E27FC236}">
                  <a16:creationId xmlns:a16="http://schemas.microsoft.com/office/drawing/2014/main" id="{F5741B86-880C-03E5-0C9A-DFD4DC3DDC03}"/>
                </a:ext>
              </a:extLst>
            </p:cNvPr>
            <p:cNvSpPr txBox="1"/>
            <p:nvPr/>
          </p:nvSpPr>
          <p:spPr>
            <a:xfrm flipH="1">
              <a:off x="4041405" y="2074168"/>
              <a:ext cx="1470409" cy="481408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Time Spent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765BF2-0CD9-A120-E8B6-A3D8C9FB52F6}"/>
              </a:ext>
            </a:extLst>
          </p:cNvPr>
          <p:cNvCxnSpPr>
            <a:cxnSpLocks/>
          </p:cNvCxnSpPr>
          <p:nvPr/>
        </p:nvCxnSpPr>
        <p:spPr>
          <a:xfrm>
            <a:off x="4529205" y="1722651"/>
            <a:ext cx="0" cy="397698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0356CC-4AB8-589A-5ECE-C9F42FF6CE29}"/>
              </a:ext>
            </a:extLst>
          </p:cNvPr>
          <p:cNvGrpSpPr/>
          <p:nvPr/>
        </p:nvGrpSpPr>
        <p:grpSpPr>
          <a:xfrm>
            <a:off x="8850264" y="2496093"/>
            <a:ext cx="1470409" cy="747496"/>
            <a:chOff x="8729500" y="2256758"/>
            <a:chExt cx="1470409" cy="747496"/>
          </a:xfrm>
        </p:grpSpPr>
        <p:sp>
          <p:nvSpPr>
            <p:cNvPr id="19" name="Google Shape;1160;p116">
              <a:extLst>
                <a:ext uri="{FF2B5EF4-FFF2-40B4-BE49-F238E27FC236}">
                  <a16:creationId xmlns:a16="http://schemas.microsoft.com/office/drawing/2014/main" id="{8B3CD6D1-0D0A-3E5D-371F-E1F31505D719}"/>
                </a:ext>
              </a:extLst>
            </p:cNvPr>
            <p:cNvSpPr/>
            <p:nvPr/>
          </p:nvSpPr>
          <p:spPr>
            <a:xfrm>
              <a:off x="8902267" y="2681368"/>
              <a:ext cx="1116014" cy="322886"/>
            </a:xfrm>
            <a:prstGeom prst="roundRect">
              <a:avLst>
                <a:gd name="adj" fmla="val 10564"/>
              </a:avLst>
            </a:prstGeom>
            <a:noFill/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1926" tIns="0" rIns="71926" bIns="0" anchor="ctr" anchorCtr="0">
              <a:no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5050"/>
                </a:buClr>
                <a:buSzPts val="1100"/>
                <a:buFontTx/>
                <a:buNone/>
                <a:tabLst/>
                <a:defRPr/>
              </a:pP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Avg. Messages: </a:t>
              </a:r>
            </a:p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5050"/>
                </a:buClr>
                <a:buSzPts val="1100"/>
                <a:buFontTx/>
                <a:buNone/>
                <a:tabLst/>
                <a:defRPr/>
              </a:pP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4.1 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|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 </a:t>
              </a:r>
              <a:r>
                <a:rPr lang="en-GB" sz="1000" b="1" i="1">
                  <a:solidFill>
                    <a:srgbClr val="FFFFFF">
                      <a:lumMod val="50000"/>
                    </a:srgbClr>
                  </a:solidFill>
                  <a:latin typeface="Johnson Text"/>
                  <a:ea typeface="Verdana" panose="020B0604030504040204" pitchFamily="34" charset="0"/>
                </a:rPr>
                <a:t>2</a:t>
              </a:r>
              <a:r>
                <a: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.7</a:t>
              </a:r>
              <a:endParaRPr kumimoji="0" lang="en-GB" sz="1000" b="1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20" name="Textbox_series_2">
              <a:extLst>
                <a:ext uri="{FF2B5EF4-FFF2-40B4-BE49-F238E27FC236}">
                  <a16:creationId xmlns:a16="http://schemas.microsoft.com/office/drawing/2014/main" id="{610C4E4A-ACA8-BFCE-895D-D3426E546EB8}"/>
                </a:ext>
              </a:extLst>
            </p:cNvPr>
            <p:cNvSpPr txBox="1"/>
            <p:nvPr/>
          </p:nvSpPr>
          <p:spPr>
            <a:xfrm flipH="1">
              <a:off x="8729500" y="2256758"/>
              <a:ext cx="1470409" cy="481408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Message Recall</a:t>
              </a:r>
              <a:r>
                <a:rPr kumimoji="0" lang="en-IN" sz="1100" b="1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1</a:t>
              </a:r>
              <a:b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</a:b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75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(% of Interactions)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30AEAC35-D434-6FC5-01BC-8CB7A9B821F7}"/>
              </a:ext>
            </a:extLst>
          </p:cNvPr>
          <p:cNvSpPr/>
          <p:nvPr/>
        </p:nvSpPr>
        <p:spPr>
          <a:xfrm>
            <a:off x="4121260" y="6528547"/>
            <a:ext cx="144001" cy="143999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2" name="Textbox_series_2">
            <a:extLst>
              <a:ext uri="{FF2B5EF4-FFF2-40B4-BE49-F238E27FC236}">
                <a16:creationId xmlns:a16="http://schemas.microsoft.com/office/drawing/2014/main" id="{8D19B154-BEB6-4467-0B60-D84F229E877A}"/>
              </a:ext>
            </a:extLst>
          </p:cNvPr>
          <p:cNvSpPr txBox="1"/>
          <p:nvPr/>
        </p:nvSpPr>
        <p:spPr>
          <a:xfrm flipH="1">
            <a:off x="316062" y="2458047"/>
            <a:ext cx="1246182" cy="82358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Rep Led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Narrative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(% of 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Interactions </a:t>
            </a:r>
            <a:b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Rated 6, 7)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599179-FA51-5A9D-8301-9553E891F971}"/>
              </a:ext>
            </a:extLst>
          </p:cNvPr>
          <p:cNvCxnSpPr>
            <a:cxnSpLocks/>
          </p:cNvCxnSpPr>
          <p:nvPr/>
        </p:nvCxnSpPr>
        <p:spPr>
          <a:xfrm>
            <a:off x="2515982" y="2377228"/>
            <a:ext cx="0" cy="3312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ABB396-15C8-4E88-5B56-502BBDE9DC54}"/>
              </a:ext>
            </a:extLst>
          </p:cNvPr>
          <p:cNvCxnSpPr>
            <a:cxnSpLocks/>
          </p:cNvCxnSpPr>
          <p:nvPr/>
        </p:nvCxnSpPr>
        <p:spPr>
          <a:xfrm>
            <a:off x="2523072" y="1722651"/>
            <a:ext cx="0" cy="397698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FC16C0-34A4-DA9A-2642-52C732EEA08F}"/>
              </a:ext>
            </a:extLst>
          </p:cNvPr>
          <p:cNvCxnSpPr>
            <a:cxnSpLocks/>
          </p:cNvCxnSpPr>
          <p:nvPr/>
        </p:nvCxnSpPr>
        <p:spPr>
          <a:xfrm>
            <a:off x="5532365" y="1722651"/>
            <a:ext cx="0" cy="397698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_series_2">
            <a:extLst>
              <a:ext uri="{FF2B5EF4-FFF2-40B4-BE49-F238E27FC236}">
                <a16:creationId xmlns:a16="http://schemas.microsoft.com/office/drawing/2014/main" id="{322ACF0D-16E0-9DBD-A45C-6AE4CDD98CCE}"/>
              </a:ext>
            </a:extLst>
          </p:cNvPr>
          <p:cNvSpPr txBox="1"/>
          <p:nvPr/>
        </p:nvSpPr>
        <p:spPr>
          <a:xfrm flipH="1">
            <a:off x="1409004" y="2458047"/>
            <a:ext cx="1097697" cy="82358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 fontAlgn="b">
              <a:buNone/>
            </a:pPr>
            <a:r>
              <a:rPr lang="en-IN" sz="1100" b="1">
                <a:solidFill>
                  <a:srgbClr val="000000"/>
                </a:solidFill>
                <a:latin typeface="Johnson Display" panose="020B0604020202020204" charset="0"/>
                <a:cs typeface="Johnson Display" panose="020B0604020202020204" charset="0"/>
              </a:rPr>
              <a:t>Patient Starter Kits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(% of Interactions)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B87B73-D9DC-AAFE-AFD1-E1756A72CAD2}"/>
              </a:ext>
            </a:extLst>
          </p:cNvPr>
          <p:cNvCxnSpPr>
            <a:cxnSpLocks/>
          </p:cNvCxnSpPr>
          <p:nvPr/>
        </p:nvCxnSpPr>
        <p:spPr>
          <a:xfrm>
            <a:off x="7565314" y="1728409"/>
            <a:ext cx="0" cy="397698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_series_2">
            <a:extLst>
              <a:ext uri="{FF2B5EF4-FFF2-40B4-BE49-F238E27FC236}">
                <a16:creationId xmlns:a16="http://schemas.microsoft.com/office/drawing/2014/main" id="{2CED606A-894C-5C65-5646-386AB86F43FD}"/>
              </a:ext>
            </a:extLst>
          </p:cNvPr>
          <p:cNvSpPr txBox="1"/>
          <p:nvPr/>
        </p:nvSpPr>
        <p:spPr>
          <a:xfrm flipH="1">
            <a:off x="4485748" y="2458047"/>
            <a:ext cx="1097697" cy="82358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 fontAlgn="b">
              <a:buNone/>
            </a:pPr>
            <a:r>
              <a:rPr lang="en-IN" sz="1100" b="1">
                <a:solidFill>
                  <a:srgbClr val="000000"/>
                </a:solidFill>
                <a:latin typeface="Johnson Display" panose="020B0604020202020204" charset="0"/>
                <a:cs typeface="Johnson Display" panose="020B0604020202020204" charset="0"/>
              </a:rPr>
              <a:t>Branded Closing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(% of Interactions)</a:t>
            </a:r>
          </a:p>
        </p:txBody>
      </p:sp>
      <p:sp>
        <p:nvSpPr>
          <p:cNvPr id="25" name="Textbox_series_2">
            <a:extLst>
              <a:ext uri="{FF2B5EF4-FFF2-40B4-BE49-F238E27FC236}">
                <a16:creationId xmlns:a16="http://schemas.microsoft.com/office/drawing/2014/main" id="{B5E2B95D-A56C-6AB7-C977-A4AE04FC505D}"/>
              </a:ext>
            </a:extLst>
          </p:cNvPr>
          <p:cNvSpPr txBox="1"/>
          <p:nvPr/>
        </p:nvSpPr>
        <p:spPr>
          <a:xfrm flipH="1">
            <a:off x="3016386" y="2458047"/>
            <a:ext cx="1097697" cy="823589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 fontAlgn="b">
              <a:buNone/>
            </a:pPr>
            <a:r>
              <a:rPr lang="en-IN" sz="1100" b="1">
                <a:solidFill>
                  <a:srgbClr val="000000"/>
                </a:solidFill>
                <a:latin typeface="Johnson Display" panose="020B0604020202020204" charset="0"/>
                <a:cs typeface="Johnson Display" panose="020B0604020202020204" charset="0"/>
              </a:rPr>
              <a:t>Visual Aid Types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75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(% of Interactions)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9F80A87-FC3D-7446-487F-82FEDAA2B4AF}"/>
              </a:ext>
            </a:extLst>
          </p:cNvPr>
          <p:cNvSpPr/>
          <p:nvPr/>
        </p:nvSpPr>
        <p:spPr>
          <a:xfrm>
            <a:off x="951676" y="3771063"/>
            <a:ext cx="144007" cy="144001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0CB90F-C6D4-EBC0-BC28-E6D9BD5C239A}"/>
              </a:ext>
            </a:extLst>
          </p:cNvPr>
          <p:cNvSpPr/>
          <p:nvPr/>
        </p:nvSpPr>
        <p:spPr>
          <a:xfrm>
            <a:off x="3002819" y="3779689"/>
            <a:ext cx="144007" cy="144001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5B3E5A3-B864-CC1B-CCC9-479DE750BE2A}"/>
              </a:ext>
            </a:extLst>
          </p:cNvPr>
          <p:cNvSpPr/>
          <p:nvPr/>
        </p:nvSpPr>
        <p:spPr>
          <a:xfrm>
            <a:off x="6070122" y="4018352"/>
            <a:ext cx="144007" cy="144001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B26190-5C3F-E93F-2484-1FF81D8A3379}"/>
              </a:ext>
            </a:extLst>
          </p:cNvPr>
          <p:cNvSpPr/>
          <p:nvPr/>
        </p:nvSpPr>
        <p:spPr>
          <a:xfrm>
            <a:off x="8121857" y="4025069"/>
            <a:ext cx="144007" cy="144001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490195-DE4C-F50E-1DC3-F010BBEF8C3D}"/>
              </a:ext>
            </a:extLst>
          </p:cNvPr>
          <p:cNvSpPr/>
          <p:nvPr/>
        </p:nvSpPr>
        <p:spPr>
          <a:xfrm>
            <a:off x="11210244" y="4130675"/>
            <a:ext cx="144007" cy="144001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3" name="Textbox_series_2">
            <a:extLst>
              <a:ext uri="{FF2B5EF4-FFF2-40B4-BE49-F238E27FC236}">
                <a16:creationId xmlns:a16="http://schemas.microsoft.com/office/drawing/2014/main" id="{EC5715D9-95A1-124F-11CD-0CD01A61F79D}"/>
              </a:ext>
            </a:extLst>
          </p:cNvPr>
          <p:cNvSpPr txBox="1"/>
          <p:nvPr/>
        </p:nvSpPr>
        <p:spPr>
          <a:xfrm flipH="1">
            <a:off x="593260" y="5867644"/>
            <a:ext cx="4009218" cy="408623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dash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lvl="0" defTabSz="912116"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J&amp;J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interactions where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1L </a:t>
            </a:r>
            <a:r>
              <a:rPr lang="en-US" sz="9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EGFR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setting was discussed first and discussed most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are more successful in driving high impact interactions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4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DF72-441D-852B-65A0-74459D6A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504;p12">
            <a:extLst>
              <a:ext uri="{FF2B5EF4-FFF2-40B4-BE49-F238E27FC236}">
                <a16:creationId xmlns:a16="http://schemas.microsoft.com/office/drawing/2014/main" id="{1E496FEC-4549-36AC-ACD4-0DF6632F3034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SALES REP PERFORMANCE - MARIPOSA PRIORITIZED vs NOT 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RYB+LAZ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Q4'25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2B9AA6-9257-56E7-B63C-4701071B0613}"/>
              </a:ext>
            </a:extLst>
          </p:cNvPr>
          <p:cNvSpPr txBox="1"/>
          <p:nvPr/>
        </p:nvSpPr>
        <p:spPr>
          <a:xfrm>
            <a:off x="1524943" y="1455938"/>
            <a:ext cx="206525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Attributes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266E73-962E-D7BF-0CEA-2E47574E20F7}"/>
              </a:ext>
            </a:extLst>
          </p:cNvPr>
          <p:cNvSpPr txBox="1"/>
          <p:nvPr/>
        </p:nvSpPr>
        <p:spPr>
          <a:xfrm>
            <a:off x="6496959" y="5941390"/>
            <a:ext cx="18583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 (Rated 6, 7)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34" name="Google Shape;229;p3">
            <a:extLst>
              <a:ext uri="{FF2B5EF4-FFF2-40B4-BE49-F238E27FC236}">
                <a16:creationId xmlns:a16="http://schemas.microsoft.com/office/drawing/2014/main" id="{2BC96FCC-38CA-00A1-0DA9-CE19F8E72979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BA13F-A76D-081F-975A-C112F2BC4D9D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Question text in speaker notes |      Denotes statistically significant difference with 95% confidence interval found between MARIPOSA setting discussed first and MARIPOSA setting discussed later |    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Denotes statistically significant difference with 95% confidence interval found between MARIPOSA setting discussed most and MARIPOSA setting discussed Less | </a:t>
            </a:r>
            <a:r>
              <a:rPr kumimoji="1" lang="en-IN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  <a:sym typeface="Arial"/>
              </a:rPr>
              <a:t>s indicates no of interactions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*Low Sample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 panose="020B0604020202020204" charset="0"/>
              <a:cs typeface="Johnson Text" panose="020B0604020202020204" charset="0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9728CBF-EC6A-7B4E-0F42-6163633CB7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22" name="Arrow: Down 49">
            <a:extLst>
              <a:ext uri="{FF2B5EF4-FFF2-40B4-BE49-F238E27FC236}">
                <a16:creationId xmlns:a16="http://schemas.microsoft.com/office/drawing/2014/main" id="{9FA56331-9F79-4B20-E969-1915E0B6DEB3}"/>
              </a:ext>
            </a:extLst>
          </p:cNvPr>
          <p:cNvSpPr/>
          <p:nvPr/>
        </p:nvSpPr>
        <p:spPr>
          <a:xfrm>
            <a:off x="248051" y="1996872"/>
            <a:ext cx="415052" cy="3976381"/>
          </a:xfrm>
          <a:prstGeom prst="downArrow">
            <a:avLst/>
          </a:prstGeom>
          <a:gradFill flip="none" rotWithShape="1">
            <a:gsLst>
              <a:gs pos="0">
                <a:srgbClr val="00B050"/>
              </a:gs>
              <a:gs pos="50000">
                <a:schemeClr val="accent4">
                  <a:lumMod val="20000"/>
                  <a:lumOff val="80000"/>
                </a:schemeClr>
              </a:gs>
              <a:gs pos="100000">
                <a:srgbClr val="00206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766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Decreasing order of Stated Importance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Google Shape;229;p3">
            <a:extLst>
              <a:ext uri="{FF2B5EF4-FFF2-40B4-BE49-F238E27FC236}">
                <a16:creationId xmlns:a16="http://schemas.microsoft.com/office/drawing/2014/main" id="{1302C077-FAB5-0590-7C9B-6D1D76185067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0CDBCDB-996E-14C7-EBE2-F70994F2D057}"/>
              </a:ext>
            </a:extLst>
          </p:cNvPr>
          <p:cNvSpPr/>
          <p:nvPr/>
        </p:nvSpPr>
        <p:spPr>
          <a:xfrm>
            <a:off x="4128936" y="6390911"/>
            <a:ext cx="144001" cy="143999"/>
          </a:xfrm>
          <a:prstGeom prst="ellipse">
            <a:avLst/>
          </a:prstGeom>
          <a:solidFill>
            <a:srgbClr val="FF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06C71C-EBB3-E79A-BC1F-87F15DAAB534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92001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Increase time spent on 1L </a:t>
            </a:r>
            <a:r>
              <a:rPr lang="en-US" sz="1800" dirty="0" err="1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cEGFR</a:t>
            </a: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 </a:t>
            </a:r>
            <a:r>
              <a:rPr lang="en-US" sz="1800" err="1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mNSCLC</a:t>
            </a: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  <a:cs typeface="Johnson Display"/>
              </a:rPr>
              <a:t> discussions to strengthen control of the narrative, thereby elevating both intent to increase RYB+LAZ prescriptions and rep perceptions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2F0C2DC-AFD6-FA76-E2D5-AC1E8895F3B4}"/>
              </a:ext>
            </a:extLst>
          </p:cNvPr>
          <p:cNvGrpSpPr/>
          <p:nvPr/>
        </p:nvGrpSpPr>
        <p:grpSpPr>
          <a:xfrm>
            <a:off x="5325710" y="6009815"/>
            <a:ext cx="1537059" cy="316033"/>
            <a:chOff x="10816566" y="3267239"/>
            <a:chExt cx="987901" cy="249867"/>
          </a:xfrm>
        </p:grpSpPr>
        <p:sp>
          <p:nvSpPr>
            <p:cNvPr id="59" name="Legend_series_2">
              <a:extLst>
                <a:ext uri="{FF2B5EF4-FFF2-40B4-BE49-F238E27FC236}">
                  <a16:creationId xmlns:a16="http://schemas.microsoft.com/office/drawing/2014/main" id="{EAFA7D01-6534-37F9-009C-B25AE9A7E84E}"/>
                </a:ext>
              </a:extLst>
            </p:cNvPr>
            <p:cNvSpPr/>
            <p:nvPr/>
          </p:nvSpPr>
          <p:spPr>
            <a:xfrm>
              <a:off x="10816566" y="3347197"/>
              <a:ext cx="77635" cy="89953"/>
            </a:xfrm>
            <a:prstGeom prst="ellipse">
              <a:avLst/>
            </a:prstGeom>
            <a:solidFill>
              <a:srgbClr val="FFCDC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60" name="Textbox_series_2">
              <a:extLst>
                <a:ext uri="{FF2B5EF4-FFF2-40B4-BE49-F238E27FC236}">
                  <a16:creationId xmlns:a16="http://schemas.microsoft.com/office/drawing/2014/main" id="{C8B51AD2-A9C2-1FEE-A53D-1E371289F386}"/>
                </a:ext>
              </a:extLst>
            </p:cNvPr>
            <p:cNvSpPr txBox="1"/>
            <p:nvPr/>
          </p:nvSpPr>
          <p:spPr>
            <a:xfrm flipH="1">
              <a:off x="10924883" y="3267239"/>
              <a:ext cx="879584" cy="249867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MARIPOSA – Discussed Later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21</a:t>
              </a:r>
              <a:r>
                <a:rPr kumimoji="1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  <a:sym typeface="Verdana"/>
                </a:rPr>
                <a:t>*</a:t>
              </a: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0316AD8-D017-B85D-39FD-4D5EBE9F7B61}"/>
              </a:ext>
            </a:extLst>
          </p:cNvPr>
          <p:cNvGrpSpPr/>
          <p:nvPr/>
        </p:nvGrpSpPr>
        <p:grpSpPr>
          <a:xfrm>
            <a:off x="4207067" y="6027455"/>
            <a:ext cx="1572523" cy="316033"/>
            <a:chOff x="10816567" y="2157246"/>
            <a:chExt cx="1010695" cy="249867"/>
          </a:xfrm>
        </p:grpSpPr>
        <p:sp>
          <p:nvSpPr>
            <p:cNvPr id="57" name="Legend_series_2">
              <a:extLst>
                <a:ext uri="{FF2B5EF4-FFF2-40B4-BE49-F238E27FC236}">
                  <a16:creationId xmlns:a16="http://schemas.microsoft.com/office/drawing/2014/main" id="{380F8EC9-C463-0F06-0E95-931AE4C92738}"/>
                </a:ext>
              </a:extLst>
            </p:cNvPr>
            <p:cNvSpPr/>
            <p:nvPr/>
          </p:nvSpPr>
          <p:spPr>
            <a:xfrm>
              <a:off x="10816567" y="2237202"/>
              <a:ext cx="77635" cy="89953"/>
            </a:xfrm>
            <a:prstGeom prst="ellipse">
              <a:avLst/>
            </a:prstGeom>
            <a:solidFill>
              <a:srgbClr val="FF6A5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58" name="Textbox_series_2">
              <a:extLst>
                <a:ext uri="{FF2B5EF4-FFF2-40B4-BE49-F238E27FC236}">
                  <a16:creationId xmlns:a16="http://schemas.microsoft.com/office/drawing/2014/main" id="{7DD30992-D817-4D43-A5CD-0B612ED56A1A}"/>
                </a:ext>
              </a:extLst>
            </p:cNvPr>
            <p:cNvSpPr txBox="1"/>
            <p:nvPr/>
          </p:nvSpPr>
          <p:spPr>
            <a:xfrm flipH="1">
              <a:off x="10924883" y="2157246"/>
              <a:ext cx="902379" cy="249867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MARIPOSA – Discussed First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79)</a:t>
              </a:r>
            </a:p>
          </p:txBody>
        </p:sp>
      </p:grp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C7E45F5-DC5F-3DCB-C6B3-4235A4B1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16" name="Attributes_Market">
            <a:extLst>
              <a:ext uri="{FF2B5EF4-FFF2-40B4-BE49-F238E27FC236}">
                <a16:creationId xmlns:a16="http://schemas.microsoft.com/office/drawing/2014/main" id="{995EC04D-63C2-A5B9-CF29-B471E00638DE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902043"/>
              </p:ext>
            </p:extLst>
          </p:nvPr>
        </p:nvGraphicFramePr>
        <p:xfrm>
          <a:off x="681203" y="1711631"/>
          <a:ext cx="3634727" cy="430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3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Overall quality of sales call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able to address my questions about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96330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knowledge about [PRODUCT] for EGFR+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mNSCLC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633859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providing credible support for [PRODUCT] claims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454859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Delivering clear message about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03891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How well the rep was able to tailor the discussions to my needs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Rep being prepared for conversation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knowledge about EGFR+ mNSCLC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[COMPANY] rep made valuable use of my time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providing a compelling reason to prescribe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How organized the rep appears to be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326838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How engaging the rep is while discussing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430781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Providing a compelling reason to use broader molecular testing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267942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was able to ask meaningful questions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330274"/>
                  </a:ext>
                </a:extLst>
              </a:tr>
              <a:tr h="286800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Knowledge about competitor products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356433"/>
                  </a:ext>
                </a:extLst>
              </a:tr>
            </a:tbl>
          </a:graphicData>
        </a:graphic>
      </p:graphicFrame>
      <p:graphicFrame>
        <p:nvGraphicFramePr>
          <p:cNvPr id="17" name="Shape_61914646">
            <a:extLst>
              <a:ext uri="{FF2B5EF4-FFF2-40B4-BE49-F238E27FC236}">
                <a16:creationId xmlns:a16="http://schemas.microsoft.com/office/drawing/2014/main" id="{46703B96-F996-6033-6140-D6D78C133E6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92626910"/>
              </p:ext>
            </p:extLst>
          </p:nvPr>
        </p:nvGraphicFramePr>
        <p:xfrm>
          <a:off x="7355068" y="1544252"/>
          <a:ext cx="2570400" cy="4505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F5A5087-E8EA-69D6-F05B-4307A899274F}"/>
              </a:ext>
            </a:extLst>
          </p:cNvPr>
          <p:cNvGrpSpPr/>
          <p:nvPr/>
        </p:nvGrpSpPr>
        <p:grpSpPr>
          <a:xfrm>
            <a:off x="9610333" y="5974535"/>
            <a:ext cx="1537059" cy="316033"/>
            <a:chOff x="10816566" y="3267239"/>
            <a:chExt cx="987901" cy="249867"/>
          </a:xfrm>
        </p:grpSpPr>
        <p:sp>
          <p:nvSpPr>
            <p:cNvPr id="13" name="Legend_series_2">
              <a:extLst>
                <a:ext uri="{FF2B5EF4-FFF2-40B4-BE49-F238E27FC236}">
                  <a16:creationId xmlns:a16="http://schemas.microsoft.com/office/drawing/2014/main" id="{62AD974D-4E07-1E94-9A04-731EDF01BB0B}"/>
                </a:ext>
              </a:extLst>
            </p:cNvPr>
            <p:cNvSpPr/>
            <p:nvPr/>
          </p:nvSpPr>
          <p:spPr>
            <a:xfrm>
              <a:off x="10816566" y="3347197"/>
              <a:ext cx="77635" cy="8995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18" name="Textbox_series_2">
              <a:extLst>
                <a:ext uri="{FF2B5EF4-FFF2-40B4-BE49-F238E27FC236}">
                  <a16:creationId xmlns:a16="http://schemas.microsoft.com/office/drawing/2014/main" id="{47F6846F-E8EB-34F7-EDB0-A76057C1EBD2}"/>
                </a:ext>
              </a:extLst>
            </p:cNvPr>
            <p:cNvSpPr txBox="1"/>
            <p:nvPr/>
          </p:nvSpPr>
          <p:spPr>
            <a:xfrm flipH="1">
              <a:off x="10924883" y="3267239"/>
              <a:ext cx="879584" cy="249867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MARIPOSA – </a:t>
              </a: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Discussed Less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20</a:t>
              </a:r>
              <a:r>
                <a:rPr kumimoji="1" lang="en-US" sz="9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  <a:sym typeface="Verdana"/>
                </a:rPr>
                <a:t>*</a:t>
              </a: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48A96D-350B-0607-BD6B-43D70D941AA4}"/>
              </a:ext>
            </a:extLst>
          </p:cNvPr>
          <p:cNvGrpSpPr/>
          <p:nvPr/>
        </p:nvGrpSpPr>
        <p:grpSpPr>
          <a:xfrm>
            <a:off x="8444064" y="5992175"/>
            <a:ext cx="1572523" cy="316033"/>
            <a:chOff x="10816567" y="2157246"/>
            <a:chExt cx="1010695" cy="249867"/>
          </a:xfrm>
        </p:grpSpPr>
        <p:sp>
          <p:nvSpPr>
            <p:cNvPr id="20" name="Legend_series_2">
              <a:extLst>
                <a:ext uri="{FF2B5EF4-FFF2-40B4-BE49-F238E27FC236}">
                  <a16:creationId xmlns:a16="http://schemas.microsoft.com/office/drawing/2014/main" id="{1EC2F6F7-56B6-79C6-03F1-E883C562539C}"/>
                </a:ext>
              </a:extLst>
            </p:cNvPr>
            <p:cNvSpPr/>
            <p:nvPr/>
          </p:nvSpPr>
          <p:spPr>
            <a:xfrm>
              <a:off x="10816567" y="2237202"/>
              <a:ext cx="77635" cy="89953"/>
            </a:xfrm>
            <a:prstGeom prst="ellipse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23" name="Textbox_series_2">
              <a:extLst>
                <a:ext uri="{FF2B5EF4-FFF2-40B4-BE49-F238E27FC236}">
                  <a16:creationId xmlns:a16="http://schemas.microsoft.com/office/drawing/2014/main" id="{84E512A6-6F7C-E285-A165-70F0AD4DDCB1}"/>
                </a:ext>
              </a:extLst>
            </p:cNvPr>
            <p:cNvSpPr txBox="1"/>
            <p:nvPr/>
          </p:nvSpPr>
          <p:spPr>
            <a:xfrm flipH="1">
              <a:off x="10924883" y="2157246"/>
              <a:ext cx="902379" cy="249867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MARIPOSA – Discussed </a:t>
              </a: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Most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</a:t>
              </a:r>
              <a:r>
                <a:rPr lang="en-IN" sz="1000" dirty="0">
                  <a:solidFill>
                    <a:srgbClr val="505050">
                      <a:lumMod val="50000"/>
                    </a:srgbClr>
                  </a:solidFill>
                  <a:latin typeface="Johnson Text"/>
                  <a:ea typeface="Verdana" panose="020B0604030504040204" pitchFamily="34" charset="0"/>
                </a:rPr>
                <a:t>80</a:t>
              </a: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</a:t>
              </a:r>
            </a:p>
          </p:txBody>
        </p:sp>
      </p:grpSp>
      <p:graphicFrame>
        <p:nvGraphicFramePr>
          <p:cNvPr id="29" name="Shape_22436182">
            <a:extLst>
              <a:ext uri="{FF2B5EF4-FFF2-40B4-BE49-F238E27FC236}">
                <a16:creationId xmlns:a16="http://schemas.microsoft.com/office/drawing/2014/main" id="{235F2252-9249-0F5D-9DDC-138A618D7B17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72356491"/>
              </p:ext>
            </p:extLst>
          </p:nvPr>
        </p:nvGraphicFramePr>
        <p:xfrm>
          <a:off x="4485551" y="1565350"/>
          <a:ext cx="2568806" cy="4505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Oval 29">
            <a:extLst>
              <a:ext uri="{FF2B5EF4-FFF2-40B4-BE49-F238E27FC236}">
                <a16:creationId xmlns:a16="http://schemas.microsoft.com/office/drawing/2014/main" id="{E89FB9C4-706D-874B-E97E-2F4001A55F6B}"/>
              </a:ext>
            </a:extLst>
          </p:cNvPr>
          <p:cNvSpPr/>
          <p:nvPr/>
        </p:nvSpPr>
        <p:spPr>
          <a:xfrm>
            <a:off x="6979338" y="4373636"/>
            <a:ext cx="144001" cy="143999"/>
          </a:xfrm>
          <a:prstGeom prst="ellipse">
            <a:avLst/>
          </a:prstGeom>
          <a:solidFill>
            <a:srgbClr val="FF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FD54E94-E3FD-51BF-AE20-A5496FEACC33}"/>
              </a:ext>
            </a:extLst>
          </p:cNvPr>
          <p:cNvSpPr/>
          <p:nvPr/>
        </p:nvSpPr>
        <p:spPr>
          <a:xfrm>
            <a:off x="6979338" y="5231099"/>
            <a:ext cx="144001" cy="143999"/>
          </a:xfrm>
          <a:prstGeom prst="ellipse">
            <a:avLst/>
          </a:prstGeom>
          <a:solidFill>
            <a:srgbClr val="FF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A9A3B0C-0EC8-1CAD-926A-7E8CFA651612}"/>
              </a:ext>
            </a:extLst>
          </p:cNvPr>
          <p:cNvSpPr/>
          <p:nvPr/>
        </p:nvSpPr>
        <p:spPr>
          <a:xfrm>
            <a:off x="6979338" y="1767618"/>
            <a:ext cx="144001" cy="143999"/>
          </a:xfrm>
          <a:prstGeom prst="ellipse">
            <a:avLst/>
          </a:prstGeom>
          <a:solidFill>
            <a:srgbClr val="FF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4B6044-5CBD-CBD7-BF8D-4BF38F395EF2}"/>
              </a:ext>
            </a:extLst>
          </p:cNvPr>
          <p:cNvSpPr/>
          <p:nvPr/>
        </p:nvSpPr>
        <p:spPr>
          <a:xfrm>
            <a:off x="9842959" y="2649611"/>
            <a:ext cx="144001" cy="143999"/>
          </a:xfrm>
          <a:prstGeom prst="ellipse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6691995-AEAD-2C8F-FA80-5FF5ABD60DC7}"/>
              </a:ext>
            </a:extLst>
          </p:cNvPr>
          <p:cNvSpPr/>
          <p:nvPr/>
        </p:nvSpPr>
        <p:spPr>
          <a:xfrm>
            <a:off x="9842958" y="5240624"/>
            <a:ext cx="144001" cy="143999"/>
          </a:xfrm>
          <a:prstGeom prst="ellipse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EA6D2C0-5909-837D-C179-EDC389734D9A}"/>
              </a:ext>
            </a:extLst>
          </p:cNvPr>
          <p:cNvSpPr/>
          <p:nvPr/>
        </p:nvSpPr>
        <p:spPr>
          <a:xfrm>
            <a:off x="9842958" y="4091377"/>
            <a:ext cx="144001" cy="143999"/>
          </a:xfrm>
          <a:prstGeom prst="ellipse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4A3B84C-5FF3-B13B-409A-04CFAEF47D9E}"/>
              </a:ext>
            </a:extLst>
          </p:cNvPr>
          <p:cNvSpPr/>
          <p:nvPr/>
        </p:nvSpPr>
        <p:spPr>
          <a:xfrm>
            <a:off x="6979338" y="4643827"/>
            <a:ext cx="144001" cy="143999"/>
          </a:xfrm>
          <a:prstGeom prst="ellipse">
            <a:avLst/>
          </a:prstGeom>
          <a:solidFill>
            <a:srgbClr val="FF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B76D29A-D42D-71BF-6423-D1A47B145323}"/>
              </a:ext>
            </a:extLst>
          </p:cNvPr>
          <p:cNvSpPr/>
          <p:nvPr/>
        </p:nvSpPr>
        <p:spPr>
          <a:xfrm>
            <a:off x="3325741" y="6529743"/>
            <a:ext cx="144001" cy="143999"/>
          </a:xfrm>
          <a:prstGeom prst="ellipse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5" name="Textbox_series_2">
            <a:extLst>
              <a:ext uri="{FF2B5EF4-FFF2-40B4-BE49-F238E27FC236}">
                <a16:creationId xmlns:a16="http://schemas.microsoft.com/office/drawing/2014/main" id="{CDC8E699-5154-C29E-D46F-2C9E280646DE}"/>
              </a:ext>
            </a:extLst>
          </p:cNvPr>
          <p:cNvSpPr txBox="1"/>
          <p:nvPr/>
        </p:nvSpPr>
        <p:spPr>
          <a:xfrm flipH="1">
            <a:off x="10027597" y="2864872"/>
            <a:ext cx="2124000" cy="1174790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dash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Directionally,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J&amp;J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reps are successful at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controlling the narrative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when they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spend most time discussing MARIPOSA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(53%) vs interactions where less time is spent on MARIPOSA vs other settings (30%)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  <p:sp>
        <p:nvSpPr>
          <p:cNvPr id="40" name="Textbox_series_2">
            <a:extLst>
              <a:ext uri="{FF2B5EF4-FFF2-40B4-BE49-F238E27FC236}">
                <a16:creationId xmlns:a16="http://schemas.microsoft.com/office/drawing/2014/main" id="{0765E26E-F2D9-754A-9A4D-13176D0B3FFF}"/>
              </a:ext>
            </a:extLst>
          </p:cNvPr>
          <p:cNvSpPr txBox="1"/>
          <p:nvPr/>
        </p:nvSpPr>
        <p:spPr>
          <a:xfrm flipH="1">
            <a:off x="10027598" y="4745599"/>
            <a:ext cx="2124000" cy="715089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dash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defRPr/>
            </a:pPr>
            <a:r>
              <a:rPr lang="en-US" sz="900" b="1"/>
              <a:t>Intent to increase </a:t>
            </a:r>
            <a:r>
              <a:rPr lang="en-US" sz="900" b="1">
                <a:solidFill>
                  <a:srgbClr val="F75824"/>
                </a:solidFill>
              </a:rPr>
              <a:t>RYB+LAZ </a:t>
            </a:r>
            <a:r>
              <a:rPr lang="en-US" sz="900" b="1"/>
              <a:t>Rx </a:t>
            </a:r>
            <a:r>
              <a:rPr lang="en-US" sz="900"/>
              <a:t>is notably higher during interactions where </a:t>
            </a:r>
            <a:r>
              <a:rPr lang="en-US" sz="900" b="1"/>
              <a:t>MARIPOSA is discussed 1</a:t>
            </a:r>
            <a:r>
              <a:rPr lang="en-US" sz="900" b="1" baseline="30000"/>
              <a:t>st</a:t>
            </a:r>
            <a:r>
              <a:rPr lang="en-US" sz="900" b="1"/>
              <a:t> or later</a:t>
            </a:r>
            <a:endParaRPr lang="en-US" sz="9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1098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DFF6-1066-F869-6EDF-0A8B3DC7C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04;p12">
            <a:extLst>
              <a:ext uri="{FF2B5EF4-FFF2-40B4-BE49-F238E27FC236}">
                <a16:creationId xmlns:a16="http://schemas.microsoft.com/office/drawing/2014/main" id="{E65E98B4-52A1-7D51-2ED7-791101DAE8E5}"/>
              </a:ext>
            </a:extLst>
          </p:cNvPr>
          <p:cNvSpPr txBox="1"/>
          <p:nvPr/>
        </p:nvSpPr>
        <p:spPr>
          <a:xfrm>
            <a:off x="415237" y="1196280"/>
            <a:ext cx="11285771" cy="2721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85" tIns="45580" rIns="91185" bIns="45580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BRANDED CLOSING and HIGH-QUALITY INTERACTIONS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– Q4'25 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29" name="Google Shape;504;p12">
            <a:extLst>
              <a:ext uri="{FF2B5EF4-FFF2-40B4-BE49-F238E27FC236}">
                <a16:creationId xmlns:a16="http://schemas.microsoft.com/office/drawing/2014/main" id="{891EF98B-6071-3B54-7558-32E9F0C1FDC3}"/>
              </a:ext>
            </a:extLst>
          </p:cNvPr>
          <p:cNvSpPr txBox="1"/>
          <p:nvPr/>
        </p:nvSpPr>
        <p:spPr>
          <a:xfrm>
            <a:off x="2356333" y="1774694"/>
            <a:ext cx="2474998" cy="41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b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</a:b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100)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1D452B-19E9-99DC-7293-D81CE447443A}"/>
              </a:ext>
            </a:extLst>
          </p:cNvPr>
          <p:cNvSpPr txBox="1"/>
          <p:nvPr/>
        </p:nvSpPr>
        <p:spPr>
          <a:xfrm>
            <a:off x="2635232" y="5971068"/>
            <a:ext cx="1917201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  <a:endParaRPr kumimoji="0" lang="en-IN" sz="9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3" name="Google Shape;229;p3">
            <a:extLst>
              <a:ext uri="{FF2B5EF4-FFF2-40B4-BE49-F238E27FC236}">
                <a16:creationId xmlns:a16="http://schemas.microsoft.com/office/drawing/2014/main" id="{DBBFBAEA-2CAA-960A-A85F-65914BD35F17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69191B6-BE91-FEE2-7EF3-0891D293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2EBC4-7D8E-6283-B3E4-2F7CD208FA00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No statistically significant difference with 95% confidence interval found between RYB+LAZ and </a:t>
            </a:r>
            <a:r>
              <a:rPr kumimoji="1" lang="en-US" sz="900" b="0" i="1" u="none" strike="noStrike" kern="0" cap="none" spc="0" normalizeH="0" baseline="0" noProof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TAG+Chemo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|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No statistically significant difference with 95% confidence interval found between latest two quarters</a:t>
            </a:r>
            <a:r>
              <a:rPr kumimoji="1" lang="en-US" sz="900" i="1" kern="0">
                <a:solidFill>
                  <a:srgbClr val="7F7F7F"/>
                </a:solidFill>
              </a:rPr>
              <a:t> |</a:t>
            </a:r>
            <a:endParaRPr kumimoji="1" lang="en-US" sz="900" b="0" i="1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423264CD-8F29-C486-CF3C-45B6E7CE2E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mpions">
                <a:extLst>
                  <a:ext uri="{FF2B5EF4-FFF2-40B4-BE49-F238E27FC236}">
                    <a16:creationId xmlns:a16="http://schemas.microsoft.com/office/drawing/2014/main" id="{D3CD433B-F91F-32CF-1963-364B6F99E409}"/>
                  </a:ext>
                </a:extLst>
              </p:cNvPr>
              <p:cNvGraphicFramePr/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815926799"/>
                  </p:ext>
                </p:extLst>
              </p:nvPr>
            </p:nvGraphicFramePr>
            <p:xfrm>
              <a:off x="1045032" y="2242295"/>
              <a:ext cx="5097600" cy="370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2" name="Champions">
                <a:extLst>
                  <a:ext uri="{FF2B5EF4-FFF2-40B4-BE49-F238E27FC236}">
                    <a16:creationId xmlns:a16="http://schemas.microsoft.com/office/drawing/2014/main" id="{D3CD433B-F91F-32CF-1963-364B6F99E4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5032" y="2242295"/>
                <a:ext cx="5097600" cy="370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AA1CCFF-DE42-28D8-EF7F-78253573A9D0}"/>
              </a:ext>
            </a:extLst>
          </p:cNvPr>
          <p:cNvSpPr txBox="1"/>
          <p:nvPr/>
        </p:nvSpPr>
        <p:spPr>
          <a:xfrm>
            <a:off x="1288097" y="3837837"/>
            <a:ext cx="1776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>
                <a:solidFill>
                  <a:srgbClr val="000000"/>
                </a:solidFill>
                <a:latin typeface="Johnson Text"/>
              </a:rPr>
              <a:t>45</a:t>
            </a: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(+5%)</a:t>
            </a:r>
            <a:b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Missed Opportunities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(High Quality, Not Closed)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867F4D-19B9-6395-59F2-854261F05880}"/>
              </a:ext>
            </a:extLst>
          </p:cNvPr>
          <p:cNvSpPr txBox="1"/>
          <p:nvPr/>
        </p:nvSpPr>
        <p:spPr>
          <a:xfrm>
            <a:off x="3508443" y="5076737"/>
            <a:ext cx="2087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18% (-2%)</a:t>
            </a:r>
            <a:b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Poor Interactions (Low Quality)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5DF6A-410A-53D5-C672-93CBE7346579}"/>
              </a:ext>
            </a:extLst>
          </p:cNvPr>
          <p:cNvSpPr txBox="1"/>
          <p:nvPr/>
        </p:nvSpPr>
        <p:spPr>
          <a:xfrm>
            <a:off x="3273546" y="3280936"/>
            <a:ext cx="2664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37% (-3%) </a:t>
            </a:r>
            <a:b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Successful Interactions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(High Quality, Closed)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18330B-B1BB-7F7D-8F9D-B28FB0ACD5D5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168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</a:rPr>
              <a:t>Although J&amp;J matches AZ in successfully closed interactions (high quality + closed), missed opportunities highlight the need for more consistent branded closing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1" name="Google Shape;504;p12">
            <a:extLst>
              <a:ext uri="{FF2B5EF4-FFF2-40B4-BE49-F238E27FC236}">
                <a16:creationId xmlns:a16="http://schemas.microsoft.com/office/drawing/2014/main" id="{9136713D-EBDB-7672-ACFB-DCD039F528D0}"/>
              </a:ext>
            </a:extLst>
          </p:cNvPr>
          <p:cNvSpPr txBox="1"/>
          <p:nvPr/>
        </p:nvSpPr>
        <p:spPr>
          <a:xfrm>
            <a:off x="7437275" y="1774694"/>
            <a:ext cx="2474998" cy="41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TAG+Chemo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64)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BF0DB-76D6-7E92-0E32-DB507ED1E5FD}"/>
              </a:ext>
            </a:extLst>
          </p:cNvPr>
          <p:cNvSpPr txBox="1"/>
          <p:nvPr/>
        </p:nvSpPr>
        <p:spPr>
          <a:xfrm>
            <a:off x="7716174" y="5971068"/>
            <a:ext cx="1917201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  <a:endParaRPr kumimoji="0" lang="en-IN" sz="9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6" name="Champions">
                <a:extLst>
                  <a:ext uri="{FF2B5EF4-FFF2-40B4-BE49-F238E27FC236}">
                    <a16:creationId xmlns:a16="http://schemas.microsoft.com/office/drawing/2014/main" id="{1C662A7A-0087-A7C4-2422-9F69B2E37EB2}"/>
                  </a:ext>
                </a:extLst>
              </p:cNvPr>
              <p:cNvGraphicFramePr/>
              <p:nvPr>
                <p:custDataLst>
                  <p:tags r:id="rId2"/>
                </p:custDataLst>
                <p:extLst>
                  <p:ext uri="{D42A27DB-BD31-4B8C-83A1-F6EECF244321}">
                    <p14:modId xmlns:p14="http://schemas.microsoft.com/office/powerpoint/2010/main" val="2481025028"/>
                  </p:ext>
                </p:extLst>
              </p:nvPr>
            </p:nvGraphicFramePr>
            <p:xfrm>
              <a:off x="6125974" y="2242295"/>
              <a:ext cx="5097600" cy="370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 xmlns="">
          <p:pic>
            <p:nvPicPr>
              <p:cNvPr id="16" name="Champions">
                <a:extLst>
                  <a:ext uri="{FF2B5EF4-FFF2-40B4-BE49-F238E27FC236}">
                    <a16:creationId xmlns:a16="http://schemas.microsoft.com/office/drawing/2014/main" id="{1C662A7A-0087-A7C4-2422-9F69B2E37E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5974" y="2242295"/>
                <a:ext cx="5097600" cy="3708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0AE4E07-23B4-C4EE-1EE4-9DDC18A0C852}"/>
              </a:ext>
            </a:extLst>
          </p:cNvPr>
          <p:cNvSpPr txBox="1"/>
          <p:nvPr/>
        </p:nvSpPr>
        <p:spPr>
          <a:xfrm>
            <a:off x="8182765" y="3760893"/>
            <a:ext cx="1637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>
                <a:solidFill>
                  <a:srgbClr val="000000"/>
                </a:solidFill>
                <a:latin typeface="Johnson Text"/>
              </a:rPr>
              <a:t>33</a:t>
            </a: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(+4%)</a:t>
            </a:r>
            <a:b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Missed Opportunities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(High Quality, Not Closed)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417BB6-71DF-CB3C-7020-96B044D66070}"/>
              </a:ext>
            </a:extLst>
          </p:cNvPr>
          <p:cNvSpPr txBox="1"/>
          <p:nvPr/>
        </p:nvSpPr>
        <p:spPr>
          <a:xfrm>
            <a:off x="9678613" y="3760893"/>
            <a:ext cx="15115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28% (-1%)</a:t>
            </a:r>
            <a:b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Poor Interactions 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(Low Quality)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74F697-DB32-BC72-149A-A0E6B0A1FD4E}"/>
              </a:ext>
            </a:extLst>
          </p:cNvPr>
          <p:cNvSpPr txBox="1"/>
          <p:nvPr/>
        </p:nvSpPr>
        <p:spPr>
          <a:xfrm>
            <a:off x="6224740" y="3837837"/>
            <a:ext cx="20266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39% (-3%) </a:t>
            </a:r>
            <a:b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Successful Interactions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(High Quality, Closed)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0" name="Google Shape;229;p3">
            <a:extLst>
              <a:ext uri="{FF2B5EF4-FFF2-40B4-BE49-F238E27FC236}">
                <a16:creationId xmlns:a16="http://schemas.microsoft.com/office/drawing/2014/main" id="{C10C3ABC-D8B4-70A2-A39C-1ED769132BE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algn="r" defTabSz="911204">
              <a:buClr>
                <a:srgbClr val="000000"/>
              </a:buClr>
              <a:defRPr/>
            </a:pPr>
            <a:r>
              <a:rPr lang="en-IN" sz="950" kern="0">
                <a:solidFill>
                  <a:srgbClr val="505050">
                    <a:lumMod val="50000"/>
                  </a:srgbClr>
                </a:solidFill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90531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90E4-AEAD-EAD5-07D9-1B4A5D72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25FA7AF-9FCD-5B2A-4096-347EA4084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643250"/>
              </p:ext>
            </p:extLst>
          </p:nvPr>
        </p:nvGraphicFramePr>
        <p:xfrm>
          <a:off x="3874463" y="1776943"/>
          <a:ext cx="7740000" cy="4724432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512000">
                  <a:extLst>
                    <a:ext uri="{9D8B030D-6E8A-4147-A177-3AD203B41FA5}">
                      <a16:colId xmlns:a16="http://schemas.microsoft.com/office/drawing/2014/main" val="3762557343"/>
                    </a:ext>
                  </a:extLst>
                </a:gridCol>
                <a:gridCol w="2843137">
                  <a:extLst>
                    <a:ext uri="{9D8B030D-6E8A-4147-A177-3AD203B41FA5}">
                      <a16:colId xmlns:a16="http://schemas.microsoft.com/office/drawing/2014/main" val="93380247"/>
                    </a:ext>
                  </a:extLst>
                </a:gridCol>
                <a:gridCol w="1764863">
                  <a:extLst>
                    <a:ext uri="{9D8B030D-6E8A-4147-A177-3AD203B41FA5}">
                      <a16:colId xmlns:a16="http://schemas.microsoft.com/office/drawing/2014/main" val="117588055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371010123"/>
                    </a:ext>
                  </a:extLst>
                </a:gridCol>
              </a:tblGrid>
              <a:tr h="295277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High Impact Interactions</a:t>
                      </a: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314162"/>
                  </a:ext>
                </a:extLst>
              </a:tr>
              <a:tr h="295277">
                <a:tc rowSpan="2">
                  <a:txBody>
                    <a:bodyPr/>
                    <a:lstStyle/>
                    <a:p>
                      <a:pPr algn="r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MARIPOSA Discussions</a:t>
                      </a: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MARIPOSA Discussed 1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st</a:t>
                      </a:r>
                      <a:r>
                        <a:rPr lang="en-US" sz="10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(% of Interactions)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073515"/>
                  </a:ext>
                </a:extLst>
              </a:tr>
              <a:tr h="295277">
                <a:tc vMerge="1">
                  <a:txBody>
                    <a:bodyPr/>
                    <a:lstStyle/>
                    <a:p>
                      <a:pPr algn="r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Time Spent on MARIPOSA (% of Time)</a:t>
                      </a: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00945"/>
                  </a:ext>
                </a:extLst>
              </a:tr>
              <a:tr h="295277">
                <a:tc gridSpan="2">
                  <a:txBody>
                    <a:bodyPr/>
                    <a:lstStyle/>
                    <a:p>
                      <a:pPr algn="r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Rep Led Narrative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(% of Interactions Rated 6,7)</a:t>
                      </a: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442413"/>
                  </a:ext>
                </a:extLst>
              </a:tr>
              <a:tr h="295277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Visual Aid Usage </a:t>
                      </a: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(% of Interactions)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688233"/>
                  </a:ext>
                </a:extLst>
              </a:tr>
              <a:tr h="295277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Patient Starter Kits </a:t>
                      </a: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(% of Interactions)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920765"/>
                  </a:ext>
                </a:extLst>
              </a:tr>
              <a:tr h="295277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Branded Closing </a:t>
                      </a: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(% of Interactions)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28778"/>
                  </a:ext>
                </a:extLst>
              </a:tr>
              <a:tr h="295277">
                <a:tc rowSpan="2">
                  <a:txBody>
                    <a:bodyPr/>
                    <a:lstStyle/>
                    <a:p>
                      <a:pPr algn="r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Topics Discussed :</a:t>
                      </a:r>
                    </a:p>
                    <a:p>
                      <a:pPr algn="r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(% of Interactions)</a:t>
                      </a: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NCCN Guidelines</a:t>
                      </a: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925590"/>
                  </a:ext>
                </a:extLst>
              </a:tr>
              <a:tr h="2952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/ side effects</a:t>
                      </a: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571612"/>
                  </a:ext>
                </a:extLst>
              </a:tr>
              <a:tr h="295277">
                <a:tc rowSpan="4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Message Recall</a:t>
                      </a:r>
                      <a:r>
                        <a:rPr kumimoji="0" lang="en-US" sz="10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1</a:t>
                      </a:r>
                      <a:b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</a:b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(% of Interactions)</a:t>
                      </a: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– CNS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572519"/>
                  </a:ext>
                </a:extLst>
              </a:tr>
              <a:tr h="295277">
                <a:tc vMerge="1">
                  <a:txBody>
                    <a:bodyPr/>
                    <a:lstStyle/>
                    <a:p>
                      <a:pPr algn="r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- mOS Not Reached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11732"/>
                  </a:ext>
                </a:extLst>
              </a:tr>
              <a:tr h="295277">
                <a:tc vMerge="1">
                  <a:txBody>
                    <a:bodyPr/>
                    <a:lstStyle/>
                    <a:p>
                      <a:pPr algn="r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NCCN-CNS</a:t>
                      </a:r>
                      <a:r>
                        <a:rPr kumimoji="1" lang="en-US" sz="1000" i="1" kern="0" baseline="3000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2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39082"/>
                  </a:ext>
                </a:extLst>
              </a:tr>
              <a:tr h="295277">
                <a:tc vMerge="1">
                  <a:txBody>
                    <a:bodyPr/>
                    <a:lstStyle/>
                    <a:p>
                      <a:pPr algn="r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- OS Headline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430969"/>
                  </a:ext>
                </a:extLst>
              </a:tr>
              <a:tr h="295277">
                <a:tc row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Rep Performance: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05050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(% of Interactions Rated 6, 7)</a:t>
                      </a: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knowledge about [PRODUCT]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69338"/>
                  </a:ext>
                </a:extLst>
              </a:tr>
              <a:tr h="295277">
                <a:tc vMerge="1">
                  <a:txBody>
                    <a:bodyPr/>
                    <a:lstStyle/>
                    <a:p>
                      <a:pPr algn="r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providing a compelling reason to prescribe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946453"/>
                  </a:ext>
                </a:extLst>
              </a:tr>
              <a:tr h="295277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Intent to Increase Rx </a:t>
                      </a: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(% of Interactions Rated 6,7)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T="41390" marB="413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86114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9CBD4-D30C-44FD-9519-F548F812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C1FED13F-952D-4535-6CA1-ED72C7056E57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PERFORMANCE SCORECARD by PRACTICE SETTING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RYB+LAZ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Q4'25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5D1C2DA8-1DA0-846B-44A3-47641E219957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25D07EFC-FD6C-4C8F-12D7-489591FB07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3" y="1090620"/>
            <a:ext cx="248013" cy="2480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3DCA133-9160-C6A2-7F1B-201108C2BDFD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Question text in speaker notes</a:t>
            </a:r>
            <a:r>
              <a:rPr kumimoji="1" lang="en-IN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     </a:t>
            </a:r>
            <a:r>
              <a:rPr kumimoji="1" lang="en-IN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Denotes statistically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significant difference with 95% confidence interval between </a:t>
            </a:r>
            <a:r>
              <a:rPr kumimoji="1" lang="en-US" sz="900" i="1" kern="0" dirty="0" err="1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Acad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vs. Comm |      </a:t>
            </a:r>
            <a:r>
              <a:rPr kumimoji="1" lang="en-IN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Denotes statistically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significant difference with 95% confidence interval between latest two quarters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1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Complete message text in speaker notes | </a:t>
            </a:r>
            <a:r>
              <a:rPr kumimoji="1" lang="en-US" sz="900" i="1" kern="0" baseline="3000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2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Messages added in Nov’25 | </a:t>
            </a:r>
            <a:r>
              <a:rPr kumimoji="1" lang="en-US" sz="900" i="1" kern="0" dirty="0">
                <a:solidFill>
                  <a:srgbClr val="FF0000"/>
                </a:solidFill>
              </a:rPr>
              <a:t>*Low Sample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AB259F-CF63-61F3-EF00-CC9DDF08E00C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04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J&amp;J rep interactions are stronger among academics in Q4'25; 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using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visual aids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frequently to deliver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CNS 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and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efficacy 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messages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and providing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patient starter kits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could elevate impact among community HCP interactions</a:t>
            </a:r>
            <a:endParaRPr kumimoji="0" lang="en-US" sz="1800" b="1" u="non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74C77-3C77-518C-CDEC-4D86D5407CF6}"/>
              </a:ext>
            </a:extLst>
          </p:cNvPr>
          <p:cNvSpPr txBox="1"/>
          <p:nvPr/>
        </p:nvSpPr>
        <p:spPr>
          <a:xfrm>
            <a:off x="3945834" y="1499411"/>
            <a:ext cx="4373217" cy="27199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Interaction Details and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35407-2D42-D60A-1A91-6838B7CF35F1}"/>
              </a:ext>
            </a:extLst>
          </p:cNvPr>
          <p:cNvSpPr txBox="1"/>
          <p:nvPr/>
        </p:nvSpPr>
        <p:spPr>
          <a:xfrm>
            <a:off x="8890828" y="1419939"/>
            <a:ext cx="958021" cy="2411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Academic</a:t>
            </a:r>
          </a:p>
          <a:p>
            <a:pPr lvl="0" algn="ctr"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</a:t>
            </a:r>
            <a:r>
              <a:rPr lang="en-GB" sz="1000">
                <a:solidFill>
                  <a:srgbClr val="000000">
                    <a:lumMod val="85000"/>
                    <a:lumOff val="15000"/>
                  </a:srgbClr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27</a:t>
            </a:r>
            <a:r>
              <a:rPr kumimoji="1" lang="en-US" sz="1000" i="1" kern="0">
                <a:solidFill>
                  <a:srgbClr val="FF0000"/>
                </a:solidFill>
              </a:rPr>
              <a:t>*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59725-DAE1-6771-E96C-17EF4A143145}"/>
              </a:ext>
            </a:extLst>
          </p:cNvPr>
          <p:cNvSpPr txBox="1"/>
          <p:nvPr/>
        </p:nvSpPr>
        <p:spPr>
          <a:xfrm>
            <a:off x="10470203" y="1419939"/>
            <a:ext cx="1045521" cy="2411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>
                <a:solidFill>
                  <a:srgbClr val="000000">
                    <a:lumMod val="85000"/>
                    <a:lumOff val="15000"/>
                  </a:srgbClr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Community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</a:t>
            </a:r>
            <a:r>
              <a:rPr lang="en-GB" sz="1000">
                <a:solidFill>
                  <a:srgbClr val="000000">
                    <a:lumMod val="85000"/>
                    <a:lumOff val="15000"/>
                  </a:srgbClr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73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)</a:t>
            </a:r>
          </a:p>
        </p:txBody>
      </p:sp>
      <p:sp>
        <p:nvSpPr>
          <p:cNvPr id="14" name="Google Shape;441;p8">
            <a:extLst>
              <a:ext uri="{FF2B5EF4-FFF2-40B4-BE49-F238E27FC236}">
                <a16:creationId xmlns:a16="http://schemas.microsoft.com/office/drawing/2014/main" id="{1A747B38-0D10-EFB1-E85E-3C4C3A3655E3}"/>
              </a:ext>
            </a:extLst>
          </p:cNvPr>
          <p:cNvSpPr/>
          <p:nvPr/>
        </p:nvSpPr>
        <p:spPr>
          <a:xfrm>
            <a:off x="41736" y="1625059"/>
            <a:ext cx="3780000" cy="4743250"/>
          </a:xfrm>
          <a:prstGeom prst="round1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5050"/>
              </a:buClr>
              <a:buSzPts val="11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Key Findings</a:t>
            </a:r>
          </a:p>
          <a:p>
            <a:pPr marL="91440" lvl="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defRPr/>
            </a:pP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J&amp;J reps succeed in driving significantly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higher impact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 among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Academic 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HCPs QoQ, driven by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stronger execution 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of critical drivers</a:t>
            </a:r>
          </a:p>
          <a:p>
            <a:pPr marL="288000" indent="-18000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MARIPOSA 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is discussed 1</a:t>
            </a:r>
            <a:r>
              <a:rPr lang="en-US" sz="1200" baseline="300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st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 more often, enabling HCPs to gain more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control of the narrative</a:t>
            </a:r>
            <a:endParaRPr lang="en-US" sz="1200" dirty="0">
              <a:solidFill>
                <a:srgbClr val="000000"/>
              </a:solidFill>
              <a:latin typeface="Johnson Text" panose="020B0604020202020204" charset="0"/>
              <a:ea typeface="Verdana"/>
              <a:cs typeface="Johnson Text" panose="020B0604020202020204" charset="0"/>
            </a:endParaRPr>
          </a:p>
          <a:p>
            <a:pPr marL="288000" lvl="0" indent="-18000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Higher use of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visual aids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 has helped improve recall of highly impactful and effective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CNS  and OS 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messages vs community interactions</a:t>
            </a:r>
          </a:p>
          <a:p>
            <a:pPr marL="288000" lvl="0" indent="-18000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Branded closing 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more interactions helps improve intent to increase RYB+LAZ Rx</a:t>
            </a:r>
          </a:p>
          <a:p>
            <a:pPr marL="288000" lvl="0" indent="-18000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Strong perceptions on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product knowledge 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and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compellingness</a:t>
            </a:r>
          </a:p>
          <a:p>
            <a:pPr marL="90000" lvl="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defRPr/>
            </a:pP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J&amp;J reps continue to drive high impact among community HCPs. To further elevate impact, J&amp;J reps can  –</a:t>
            </a:r>
          </a:p>
          <a:p>
            <a:pPr marL="288000" lvl="0" indent="-17145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Leverage visual aids to discuss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OS and CNS messages </a:t>
            </a:r>
          </a:p>
          <a:p>
            <a:pPr marL="288000" lvl="0" indent="-171450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Provide </a:t>
            </a:r>
            <a:r>
              <a:rPr lang="en-US" sz="1200" b="1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patient starter kits </a:t>
            </a:r>
            <a:r>
              <a:rPr lang="en-US" sz="1200" dirty="0">
                <a:solidFill>
                  <a:srgbClr val="00000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more often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E56D733-6C3C-13C3-048B-5EB56DA9A5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1285895"/>
              </p:ext>
            </p:extLst>
          </p:nvPr>
        </p:nvGraphicFramePr>
        <p:xfrm>
          <a:off x="8266597" y="1771269"/>
          <a:ext cx="1596857" cy="4730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DE74259-FA8F-0D08-0390-2AB1EEB033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4418653"/>
              </p:ext>
            </p:extLst>
          </p:nvPr>
        </p:nvGraphicFramePr>
        <p:xfrm>
          <a:off x="10023084" y="1771269"/>
          <a:ext cx="1596857" cy="4730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5F20553C-7AF7-A8C2-B232-51B4ACBF518B}"/>
              </a:ext>
            </a:extLst>
          </p:cNvPr>
          <p:cNvSpPr/>
          <p:nvPr/>
        </p:nvSpPr>
        <p:spPr>
          <a:xfrm>
            <a:off x="4128326" y="6542549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1" name="Google Shape;229;p3">
            <a:extLst>
              <a:ext uri="{FF2B5EF4-FFF2-40B4-BE49-F238E27FC236}">
                <a16:creationId xmlns:a16="http://schemas.microsoft.com/office/drawing/2014/main" id="{0B152A84-3B1F-41D1-2492-B051FABDEB48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Personal Promotions</a:t>
            </a:r>
          </a:p>
        </p:txBody>
      </p:sp>
      <p:graphicFrame>
        <p:nvGraphicFramePr>
          <p:cNvPr id="22" name="Shape_5119743">
            <a:extLst>
              <a:ext uri="{FF2B5EF4-FFF2-40B4-BE49-F238E27FC236}">
                <a16:creationId xmlns:a16="http://schemas.microsoft.com/office/drawing/2014/main" id="{D48D713B-83C6-DA86-41BF-087DAEA7C2DF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8925458"/>
              </p:ext>
            </p:extLst>
          </p:nvPr>
        </p:nvGraphicFramePr>
        <p:xfrm>
          <a:off x="11175870" y="1769070"/>
          <a:ext cx="431337" cy="4725216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31337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469258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57571222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46206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95057057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52176078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A6A6A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1043107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4044438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A6A6A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508374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A6A6A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15848735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450507"/>
                  </a:ext>
                </a:extLst>
              </a:tr>
            </a:tbl>
          </a:graphicData>
        </a:graphic>
      </p:graphicFrame>
      <p:graphicFrame>
        <p:nvGraphicFramePr>
          <p:cNvPr id="23" name="Shape_5119743">
            <a:extLst>
              <a:ext uri="{FF2B5EF4-FFF2-40B4-BE49-F238E27FC236}">
                <a16:creationId xmlns:a16="http://schemas.microsoft.com/office/drawing/2014/main" id="{8DDCA72F-D1D2-F1BF-4B9A-64F20BEDB9E8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60269911"/>
              </p:ext>
            </p:extLst>
          </p:nvPr>
        </p:nvGraphicFramePr>
        <p:xfrm>
          <a:off x="9572480" y="1769070"/>
          <a:ext cx="431337" cy="4725216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31337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469258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57571222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46206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95057057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52176078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A6A6A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1043107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4044438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5083749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15848735"/>
                  </a:ext>
                </a:extLst>
              </a:tr>
              <a:tr h="2953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16113479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3E293A19-805A-4F52-E10D-7DF917475A06}"/>
              </a:ext>
            </a:extLst>
          </p:cNvPr>
          <p:cNvSpPr/>
          <p:nvPr/>
        </p:nvSpPr>
        <p:spPr>
          <a:xfrm>
            <a:off x="9505334" y="5684741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6EF3F4-1620-0C2F-352A-127E8891DABD}"/>
              </a:ext>
            </a:extLst>
          </p:cNvPr>
          <p:cNvSpPr/>
          <p:nvPr/>
        </p:nvSpPr>
        <p:spPr>
          <a:xfrm>
            <a:off x="9243251" y="6533024"/>
            <a:ext cx="144006" cy="144001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795033-237D-7626-DBE8-9CE9DD6256C9}"/>
              </a:ext>
            </a:extLst>
          </p:cNvPr>
          <p:cNvSpPr/>
          <p:nvPr/>
        </p:nvSpPr>
        <p:spPr>
          <a:xfrm>
            <a:off x="11014901" y="5397066"/>
            <a:ext cx="144006" cy="144001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1" name="Highlight#25">
            <a:extLst>
              <a:ext uri="{FF2B5EF4-FFF2-40B4-BE49-F238E27FC236}">
                <a16:creationId xmlns:a16="http://schemas.microsoft.com/office/drawing/2014/main" id="{59EAC42B-30C4-8464-9C4A-FCF097131771}"/>
              </a:ext>
            </a:extLst>
          </p:cNvPr>
          <p:cNvSpPr txBox="1"/>
          <p:nvPr/>
        </p:nvSpPr>
        <p:spPr>
          <a:xfrm>
            <a:off x="3838574" y="2962275"/>
            <a:ext cx="7858126" cy="590549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2" name="Highlight#25">
            <a:extLst>
              <a:ext uri="{FF2B5EF4-FFF2-40B4-BE49-F238E27FC236}">
                <a16:creationId xmlns:a16="http://schemas.microsoft.com/office/drawing/2014/main" id="{393A1520-9135-BDB3-95ED-E4ADB7D82D1D}"/>
              </a:ext>
            </a:extLst>
          </p:cNvPr>
          <p:cNvSpPr txBox="1"/>
          <p:nvPr/>
        </p:nvSpPr>
        <p:spPr>
          <a:xfrm>
            <a:off x="3848100" y="4448176"/>
            <a:ext cx="7839075" cy="1168776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F27E9E-2155-FD30-245D-4E474CABD534}"/>
              </a:ext>
            </a:extLst>
          </p:cNvPr>
          <p:cNvSpPr/>
          <p:nvPr/>
        </p:nvSpPr>
        <p:spPr>
          <a:xfrm>
            <a:off x="9476931" y="6279024"/>
            <a:ext cx="144006" cy="144001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950652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C4E3-1FD1-A42D-1F8F-A7034ED8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6C7A-BDDB-3456-0238-D919E463A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11815755" cy="3447098"/>
          </a:xfrm>
        </p:spPr>
        <p:txBody>
          <a:bodyPr/>
          <a:lstStyle/>
          <a:p>
            <a:pPr lvl="0" defTabSz="9142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00" dirty="0"/>
              <a:t>Key Findings –   </a:t>
            </a:r>
            <a:r>
              <a:rPr lang="en-US" sz="6400" dirty="0"/>
              <a:t>Promotional Effectiveness x Perception Metrics</a:t>
            </a:r>
            <a:endParaRPr kumimoji="0" lang="en-US" sz="64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681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CFFF-1678-5F16-DEF8-EE599358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E1C4022-1504-63FD-0A8C-25B2D8E0169E}"/>
              </a:ext>
            </a:extLst>
          </p:cNvPr>
          <p:cNvGrpSpPr/>
          <p:nvPr/>
        </p:nvGrpSpPr>
        <p:grpSpPr>
          <a:xfrm>
            <a:off x="1144684" y="1680399"/>
            <a:ext cx="9893107" cy="4311642"/>
            <a:chOff x="1144684" y="1842959"/>
            <a:chExt cx="9893107" cy="4311642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7E0544CA-A3B8-1BFE-0B29-E063AB62AA52}"/>
                </a:ext>
              </a:extLst>
            </p:cNvPr>
            <p:cNvGraphicFramePr/>
            <p:nvPr/>
          </p:nvGraphicFramePr>
          <p:xfrm>
            <a:off x="7840998" y="2008101"/>
            <a:ext cx="3078480" cy="40751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0AD137-CCDC-EA74-554F-EB07FCB7918C}"/>
                </a:ext>
              </a:extLst>
            </p:cNvPr>
            <p:cNvSpPr/>
            <p:nvPr/>
          </p:nvSpPr>
          <p:spPr>
            <a:xfrm>
              <a:off x="7743191" y="2101451"/>
              <a:ext cx="3294600" cy="3967426"/>
            </a:xfrm>
            <a:prstGeom prst="roundRect">
              <a:avLst>
                <a:gd name="adj" fmla="val 58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1F62920-9D2D-6378-6481-77B75142B9F0}"/>
                </a:ext>
              </a:extLst>
            </p:cNvPr>
            <p:cNvSpPr/>
            <p:nvPr/>
          </p:nvSpPr>
          <p:spPr>
            <a:xfrm>
              <a:off x="9458059" y="3960269"/>
              <a:ext cx="1407544" cy="1698336"/>
            </a:xfrm>
            <a:prstGeom prst="rect">
              <a:avLst/>
            </a:prstGeom>
            <a:solidFill>
              <a:srgbClr val="FFF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312C2A4-D8CE-D2E7-28B9-778FCDD02504}"/>
                </a:ext>
              </a:extLst>
            </p:cNvPr>
            <p:cNvGrpSpPr/>
            <p:nvPr/>
          </p:nvGrpSpPr>
          <p:grpSpPr>
            <a:xfrm>
              <a:off x="8056794" y="2415865"/>
              <a:ext cx="2808810" cy="3253955"/>
              <a:chOff x="435854" y="2291419"/>
              <a:chExt cx="2808810" cy="3253955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D70F3C2-818C-E125-9F4E-9D0E52675814}"/>
                  </a:ext>
                </a:extLst>
              </p:cNvPr>
              <p:cNvSpPr/>
              <p:nvPr/>
            </p:nvSpPr>
            <p:spPr>
              <a:xfrm>
                <a:off x="1834785" y="2295230"/>
                <a:ext cx="1409877" cy="1540593"/>
              </a:xfrm>
              <a:prstGeom prst="rect">
                <a:avLst/>
              </a:prstGeom>
              <a:solidFill>
                <a:srgbClr val="BFF9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34C7117-749C-9B4E-3C50-84E9A5519745}"/>
                  </a:ext>
                </a:extLst>
              </p:cNvPr>
              <p:cNvSpPr/>
              <p:nvPr/>
            </p:nvSpPr>
            <p:spPr>
              <a:xfrm>
                <a:off x="439664" y="2291419"/>
                <a:ext cx="1398929" cy="1544405"/>
              </a:xfrm>
              <a:prstGeom prst="rect">
                <a:avLst/>
              </a:prstGeom>
              <a:solidFill>
                <a:srgbClr val="D2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3BB4D48-6D44-C2A0-A5D6-08B60CF5B9DB}"/>
                  </a:ext>
                </a:extLst>
              </p:cNvPr>
              <p:cNvGrpSpPr/>
              <p:nvPr/>
            </p:nvGrpSpPr>
            <p:grpSpPr>
              <a:xfrm>
                <a:off x="435854" y="2305374"/>
                <a:ext cx="2808810" cy="3240000"/>
                <a:chOff x="408836" y="2147553"/>
                <a:chExt cx="2808810" cy="3240000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A323A31-8B99-8F92-66DA-7D1BE3091DFF}"/>
                    </a:ext>
                  </a:extLst>
                </p:cNvPr>
                <p:cNvCxnSpPr/>
                <p:nvPr/>
              </p:nvCxnSpPr>
              <p:spPr>
                <a:xfrm>
                  <a:off x="1807767" y="2147553"/>
                  <a:ext cx="0" cy="3240000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  <a:prstDash val="sysDot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449E1136-9620-ADE8-E843-11377C8C3B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813241" y="2273598"/>
                  <a:ext cx="0" cy="2808810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  <a:prstDash val="sysDot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3421C5-0CD0-59C2-FBD9-8661704FDE95}"/>
                </a:ext>
              </a:extLst>
            </p:cNvPr>
            <p:cNvSpPr txBox="1"/>
            <p:nvPr/>
          </p:nvSpPr>
          <p:spPr>
            <a:xfrm>
              <a:off x="9522913" y="2467820"/>
              <a:ext cx="1280383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Critical drivers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5C95B9-7C0E-745D-A259-3209C9183D3C}"/>
                </a:ext>
              </a:extLst>
            </p:cNvPr>
            <p:cNvSpPr txBox="1"/>
            <p:nvPr/>
          </p:nvSpPr>
          <p:spPr>
            <a:xfrm>
              <a:off x="8081616" y="2467820"/>
              <a:ext cx="1255796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13307C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Hidden drivers</a:t>
              </a:r>
            </a:p>
          </p:txBody>
        </p:sp>
        <p:sp>
          <p:nvSpPr>
            <p:cNvPr id="26" name="Google Shape;461;p9">
              <a:extLst>
                <a:ext uri="{FF2B5EF4-FFF2-40B4-BE49-F238E27FC236}">
                  <a16:creationId xmlns:a16="http://schemas.microsoft.com/office/drawing/2014/main" id="{3765F0DB-5AE1-26D8-C6AF-616C9E408EDE}"/>
                </a:ext>
              </a:extLst>
            </p:cNvPr>
            <p:cNvSpPr txBox="1"/>
            <p:nvPr/>
          </p:nvSpPr>
          <p:spPr>
            <a:xfrm>
              <a:off x="8597363" y="5784793"/>
              <a:ext cx="1716720" cy="157896"/>
            </a:xfrm>
            <a:prstGeom prst="rect">
              <a:avLst/>
            </a:prstGeom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Johnson Text" panose="020B0604020202020204" charset="0"/>
                  <a:ea typeface="Calibri"/>
                  <a:cs typeface="Johnson Text" panose="020B0604020202020204" charset="0"/>
                  <a:sym typeface="Calibri"/>
                </a:rPr>
                <a:t>Stated Importance Score</a:t>
              </a:r>
            </a:p>
          </p:txBody>
        </p:sp>
        <p:sp>
          <p:nvSpPr>
            <p:cNvPr id="10" name="Google Shape;461;p9">
              <a:extLst>
                <a:ext uri="{FF2B5EF4-FFF2-40B4-BE49-F238E27FC236}">
                  <a16:creationId xmlns:a16="http://schemas.microsoft.com/office/drawing/2014/main" id="{A60743B7-09AC-6DA3-78FE-B2078560F740}"/>
                </a:ext>
              </a:extLst>
            </p:cNvPr>
            <p:cNvSpPr txBox="1"/>
            <p:nvPr/>
          </p:nvSpPr>
          <p:spPr>
            <a:xfrm rot="16200000">
              <a:off x="7048725" y="3901649"/>
              <a:ext cx="1716720" cy="288102"/>
            </a:xfrm>
            <a:prstGeom prst="rect">
              <a:avLst/>
            </a:prstGeom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Johnson Text" panose="020B0604020202020204" charset="0"/>
                  <a:ea typeface="Calibri"/>
                  <a:cs typeface="Johnson Text" panose="020B0604020202020204" charset="0"/>
                  <a:sym typeface="Calibri"/>
                </a:rPr>
                <a:t>Derived Importance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51D4A18-5460-C85F-B139-2EBCCB215CA5}"/>
                </a:ext>
              </a:extLst>
            </p:cNvPr>
            <p:cNvSpPr/>
            <p:nvPr/>
          </p:nvSpPr>
          <p:spPr>
            <a:xfrm>
              <a:off x="1144684" y="2187174"/>
              <a:ext cx="5741684" cy="3967427"/>
            </a:xfrm>
            <a:prstGeom prst="roundRect">
              <a:avLst>
                <a:gd name="adj" fmla="val 3581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3" name="Google Shape;239;p4">
              <a:extLst>
                <a:ext uri="{FF2B5EF4-FFF2-40B4-BE49-F238E27FC236}">
                  <a16:creationId xmlns:a16="http://schemas.microsoft.com/office/drawing/2014/main" id="{99B03BAE-D9F3-7D20-53AF-EF3B3E4917B3}"/>
                </a:ext>
              </a:extLst>
            </p:cNvPr>
            <p:cNvSpPr/>
            <p:nvPr/>
          </p:nvSpPr>
          <p:spPr>
            <a:xfrm>
              <a:off x="2592887" y="2578766"/>
              <a:ext cx="1939224" cy="1215567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D112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Trebuchet MS"/>
                  <a:cs typeface="Johnson Text" panose="020B0604020202020204" charset="0"/>
                  <a:sym typeface="Trebuchet MS"/>
                </a:rPr>
                <a:t>Respondents allocate 100 points across attributes, indicating which they perceive as most and least impactful.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endParaRPr>
            </a:p>
          </p:txBody>
        </p:sp>
        <p:sp>
          <p:nvSpPr>
            <p:cNvPr id="5" name="Google Shape;241;p4">
              <a:extLst>
                <a:ext uri="{FF2B5EF4-FFF2-40B4-BE49-F238E27FC236}">
                  <a16:creationId xmlns:a16="http://schemas.microsoft.com/office/drawing/2014/main" id="{8C00759A-3E2B-0180-4861-9C57D0AEDA0E}"/>
                </a:ext>
              </a:extLst>
            </p:cNvPr>
            <p:cNvSpPr/>
            <p:nvPr/>
          </p:nvSpPr>
          <p:spPr>
            <a:xfrm>
              <a:off x="1248647" y="2601588"/>
              <a:ext cx="1111993" cy="110165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Display"/>
                <a:ea typeface="Trebuchet MS"/>
                <a:cs typeface="Arial" panose="020B0604020202020204" pitchFamily="34" charset="0"/>
                <a:sym typeface="Trebuchet MS"/>
              </a:endParaRP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Display"/>
                  <a:ea typeface="Trebuchet MS"/>
                  <a:cs typeface="Arial" panose="020B0604020202020204" pitchFamily="34" charset="0"/>
                  <a:sym typeface="Trebuchet MS"/>
                </a:rPr>
                <a:t>Survey Methodology</a:t>
              </a: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Display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17" name="Google Shape;243;p4">
              <a:extLst>
                <a:ext uri="{FF2B5EF4-FFF2-40B4-BE49-F238E27FC236}">
                  <a16:creationId xmlns:a16="http://schemas.microsoft.com/office/drawing/2014/main" id="{F57872CC-1328-D47E-C406-11B49DD70A6E}"/>
                </a:ext>
              </a:extLst>
            </p:cNvPr>
            <p:cNvSpPr/>
            <p:nvPr/>
          </p:nvSpPr>
          <p:spPr>
            <a:xfrm>
              <a:off x="4728508" y="2579445"/>
              <a:ext cx="1943103" cy="1214074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2F549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45700" rIns="36000" bIns="457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Trebuchet MS"/>
                  <a:cs typeface="Johnson Text" panose="020B0604020202020204" charset="0"/>
                  <a:sym typeface="Trebuchet MS"/>
                </a:rPr>
                <a:t>The derived importance analysis is based on two key inputs: anticipated future product usage and HCP perceptions of how well the product performs on both clinical and non-clinical attributes.</a:t>
              </a:r>
            </a:p>
          </p:txBody>
        </p:sp>
        <p:sp>
          <p:nvSpPr>
            <p:cNvPr id="4" name="Google Shape;240;p4">
              <a:extLst>
                <a:ext uri="{FF2B5EF4-FFF2-40B4-BE49-F238E27FC236}">
                  <a16:creationId xmlns:a16="http://schemas.microsoft.com/office/drawing/2014/main" id="{980387BE-1D1D-8F01-9FF9-316EFB5213AB}"/>
                </a:ext>
              </a:extLst>
            </p:cNvPr>
            <p:cNvSpPr/>
            <p:nvPr/>
          </p:nvSpPr>
          <p:spPr>
            <a:xfrm>
              <a:off x="2592887" y="3927511"/>
              <a:ext cx="1939224" cy="1110235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D112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A score is derived from the exercise where the higher the score, the greater importance HCPs believe that attribute has in their treatment. </a:t>
              </a:r>
            </a:p>
          </p:txBody>
        </p:sp>
        <p:sp>
          <p:nvSpPr>
            <p:cNvPr id="14" name="Google Shape;242;p4">
              <a:extLst>
                <a:ext uri="{FF2B5EF4-FFF2-40B4-BE49-F238E27FC236}">
                  <a16:creationId xmlns:a16="http://schemas.microsoft.com/office/drawing/2014/main" id="{9F0C4C7C-8A71-8D5C-7F07-0E2041649709}"/>
                </a:ext>
              </a:extLst>
            </p:cNvPr>
            <p:cNvSpPr/>
            <p:nvPr/>
          </p:nvSpPr>
          <p:spPr>
            <a:xfrm>
              <a:off x="1248647" y="3931801"/>
              <a:ext cx="1111993" cy="110165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Display"/>
                <a:ea typeface="Trebuchet MS"/>
                <a:cs typeface="Arial" panose="020B0604020202020204" pitchFamily="34" charset="0"/>
                <a:sym typeface="Trebuchet MS"/>
              </a:endParaRP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Display"/>
                  <a:ea typeface="Trebuchet MS"/>
                  <a:cs typeface="Arial" panose="020B0604020202020204" pitchFamily="34" charset="0"/>
                  <a:sym typeface="Trebuchet MS"/>
                </a:rPr>
                <a:t>Analytical Output</a:t>
              </a: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Display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18" name="Google Shape;244;p4">
              <a:extLst>
                <a:ext uri="{FF2B5EF4-FFF2-40B4-BE49-F238E27FC236}">
                  <a16:creationId xmlns:a16="http://schemas.microsoft.com/office/drawing/2014/main" id="{154FE0E6-8B8D-FF87-653A-612857A1D3B0}"/>
                </a:ext>
              </a:extLst>
            </p:cNvPr>
            <p:cNvSpPr/>
            <p:nvPr/>
          </p:nvSpPr>
          <p:spPr>
            <a:xfrm>
              <a:off x="4728508" y="3931801"/>
              <a:ext cx="1943103" cy="1101655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2F549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A score is created for the 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correlation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between the product attribute and their anticipated usage of that product. This shows how an attribute impacts adoption.</a:t>
              </a:r>
            </a:p>
          </p:txBody>
        </p:sp>
        <p:sp>
          <p:nvSpPr>
            <p:cNvPr id="19" name="Google Shape;782;p18">
              <a:extLst>
                <a:ext uri="{FF2B5EF4-FFF2-40B4-BE49-F238E27FC236}">
                  <a16:creationId xmlns:a16="http://schemas.microsoft.com/office/drawing/2014/main" id="{F96FEC05-0F71-4B3E-EE64-2FB713A2D976}"/>
                </a:ext>
              </a:extLst>
            </p:cNvPr>
            <p:cNvSpPr txBox="1"/>
            <p:nvPr/>
          </p:nvSpPr>
          <p:spPr>
            <a:xfrm>
              <a:off x="2805076" y="2189154"/>
              <a:ext cx="1542212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D83F64"/>
                  </a:solidFill>
                  <a:effectLst/>
                  <a:uLnTx/>
                  <a:uFillTx/>
                  <a:latin typeface="Johnson Display"/>
                  <a:ea typeface="Calibri"/>
                  <a:cs typeface="Arial" panose="020B0604020202020204" pitchFamily="34" charset="0"/>
                  <a:sym typeface="Calibri"/>
                </a:rPr>
                <a:t>Stated Importance</a:t>
              </a:r>
              <a:endPara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D83F64"/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" name="Google Shape;782;p18">
              <a:extLst>
                <a:ext uri="{FF2B5EF4-FFF2-40B4-BE49-F238E27FC236}">
                  <a16:creationId xmlns:a16="http://schemas.microsoft.com/office/drawing/2014/main" id="{48383AA9-9539-CBBA-20C6-379342FBC7BF}"/>
                </a:ext>
              </a:extLst>
            </p:cNvPr>
            <p:cNvSpPr txBox="1"/>
            <p:nvPr/>
          </p:nvSpPr>
          <p:spPr>
            <a:xfrm>
              <a:off x="4867025" y="2189154"/>
              <a:ext cx="1696433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F5496"/>
                  </a:solidFill>
                  <a:effectLst/>
                  <a:uLnTx/>
                  <a:uFillTx/>
                  <a:latin typeface="Johnson Display"/>
                  <a:ea typeface="Calibri"/>
                  <a:cs typeface="Arial" panose="020B0604020202020204" pitchFamily="34" charset="0"/>
                  <a:sym typeface="Calibri"/>
                </a:rPr>
                <a:t>Derived Importance</a:t>
              </a:r>
              <a:endPara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" name="Google Shape;242;p4">
              <a:extLst>
                <a:ext uri="{FF2B5EF4-FFF2-40B4-BE49-F238E27FC236}">
                  <a16:creationId xmlns:a16="http://schemas.microsoft.com/office/drawing/2014/main" id="{20C3580B-3A14-3DB3-9822-A55D2DB85545}"/>
                </a:ext>
              </a:extLst>
            </p:cNvPr>
            <p:cNvSpPr/>
            <p:nvPr/>
          </p:nvSpPr>
          <p:spPr>
            <a:xfrm>
              <a:off x="2335768" y="5171738"/>
              <a:ext cx="4105672" cy="73152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Johnson Text" panose="020B0604020202020204" charset="0"/>
                  <a:ea typeface="Trebuchet MS"/>
                  <a:cs typeface="Johnson Text" panose="020B0604020202020204" charset="0"/>
                  <a:sym typeface="Trebuchet MS"/>
                </a:rPr>
                <a:t>Although HCPs may perceive certain attributes as important in treatment selection, derived importance analysis can uncover which attributes truly influence product usage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endParaRPr>
            </a:p>
          </p:txBody>
        </p:sp>
        <p:sp>
          <p:nvSpPr>
            <p:cNvPr id="2" name="Arrow: Striped Right 1">
              <a:extLst>
                <a:ext uri="{FF2B5EF4-FFF2-40B4-BE49-F238E27FC236}">
                  <a16:creationId xmlns:a16="http://schemas.microsoft.com/office/drawing/2014/main" id="{7550CCB6-4A26-2380-D7FD-6EED140E8173}"/>
                </a:ext>
              </a:extLst>
            </p:cNvPr>
            <p:cNvSpPr/>
            <p:nvPr/>
          </p:nvSpPr>
          <p:spPr>
            <a:xfrm>
              <a:off x="7064198" y="3828116"/>
              <a:ext cx="608493" cy="433529"/>
            </a:xfrm>
            <a:prstGeom prst="striped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659533-3B6B-25D1-6CA1-61B6799E971E}"/>
                </a:ext>
              </a:extLst>
            </p:cNvPr>
            <p:cNvSpPr txBox="1"/>
            <p:nvPr/>
          </p:nvSpPr>
          <p:spPr>
            <a:xfrm>
              <a:off x="9635535" y="3987317"/>
              <a:ext cx="1080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Fundamentals</a:t>
              </a:r>
            </a:p>
          </p:txBody>
        </p:sp>
        <p:sp>
          <p:nvSpPr>
            <p:cNvPr id="36" name="Google Shape;244;p4">
              <a:extLst>
                <a:ext uri="{FF2B5EF4-FFF2-40B4-BE49-F238E27FC236}">
                  <a16:creationId xmlns:a16="http://schemas.microsoft.com/office/drawing/2014/main" id="{478D0C76-50B4-82C9-C1D4-9F49F6FD1D00}"/>
                </a:ext>
              </a:extLst>
            </p:cNvPr>
            <p:cNvSpPr/>
            <p:nvPr/>
          </p:nvSpPr>
          <p:spPr>
            <a:xfrm>
              <a:off x="8106712" y="2780670"/>
              <a:ext cx="1296660" cy="974473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13307C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High actual impact, low perceived importance</a:t>
              </a: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3307C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Trebuchet MS"/>
              </a:endParaRPr>
            </a:p>
          </p:txBody>
        </p:sp>
        <p:sp>
          <p:nvSpPr>
            <p:cNvPr id="37" name="Google Shape;244;p4">
              <a:extLst>
                <a:ext uri="{FF2B5EF4-FFF2-40B4-BE49-F238E27FC236}">
                  <a16:creationId xmlns:a16="http://schemas.microsoft.com/office/drawing/2014/main" id="{48EC272E-5BB0-5B4F-52DA-83827916BFD7}"/>
                </a:ext>
              </a:extLst>
            </p:cNvPr>
            <p:cNvSpPr/>
            <p:nvPr/>
          </p:nvSpPr>
          <p:spPr>
            <a:xfrm>
              <a:off x="9517617" y="2780670"/>
              <a:ext cx="1296660" cy="974473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High actual impact, high perceived importance</a:t>
              </a:r>
            </a:p>
          </p:txBody>
        </p:sp>
        <p:sp>
          <p:nvSpPr>
            <p:cNvPr id="40" name="Google Shape;244;p4">
              <a:extLst>
                <a:ext uri="{FF2B5EF4-FFF2-40B4-BE49-F238E27FC236}">
                  <a16:creationId xmlns:a16="http://schemas.microsoft.com/office/drawing/2014/main" id="{432FC878-F2CF-395B-79BF-9CF613527279}"/>
                </a:ext>
              </a:extLst>
            </p:cNvPr>
            <p:cNvSpPr/>
            <p:nvPr/>
          </p:nvSpPr>
          <p:spPr>
            <a:xfrm>
              <a:off x="8106712" y="4366933"/>
              <a:ext cx="1296660" cy="857238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Low actual impact, low perceived importance</a:t>
              </a:r>
            </a:p>
          </p:txBody>
        </p:sp>
        <p:sp>
          <p:nvSpPr>
            <p:cNvPr id="41" name="Google Shape;244;p4">
              <a:extLst>
                <a:ext uri="{FF2B5EF4-FFF2-40B4-BE49-F238E27FC236}">
                  <a16:creationId xmlns:a16="http://schemas.microsoft.com/office/drawing/2014/main" id="{E1C3C52B-661A-A5BB-ADC4-A387FD3278A8}"/>
                </a:ext>
              </a:extLst>
            </p:cNvPr>
            <p:cNvSpPr/>
            <p:nvPr/>
          </p:nvSpPr>
          <p:spPr>
            <a:xfrm>
              <a:off x="9517617" y="4321263"/>
              <a:ext cx="1296660" cy="948578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Trebuchet MS"/>
                </a:rPr>
                <a:t>Low actual impact, high perceived importance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BA3C1F-5F28-E068-6C14-2DEC5FA521DE}"/>
                </a:ext>
              </a:extLst>
            </p:cNvPr>
            <p:cNvSpPr txBox="1"/>
            <p:nvPr/>
          </p:nvSpPr>
          <p:spPr>
            <a:xfrm>
              <a:off x="8169449" y="3987317"/>
              <a:ext cx="1171186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Non - essentials</a:t>
              </a:r>
            </a:p>
          </p:txBody>
        </p:sp>
        <p:sp>
          <p:nvSpPr>
            <p:cNvPr id="64" name="Google Shape;321;p5">
              <a:extLst>
                <a:ext uri="{FF2B5EF4-FFF2-40B4-BE49-F238E27FC236}">
                  <a16:creationId xmlns:a16="http://schemas.microsoft.com/office/drawing/2014/main" id="{A7DFF4E1-EFBA-A9E3-CB9D-D55B0E5CD08D}"/>
                </a:ext>
              </a:extLst>
            </p:cNvPr>
            <p:cNvSpPr/>
            <p:nvPr/>
          </p:nvSpPr>
          <p:spPr>
            <a:xfrm>
              <a:off x="2665126" y="1842959"/>
              <a:ext cx="2719850" cy="258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r>
                <a:rPr kumimoji="0" lang="en-US" sz="1200" b="1" i="0" u="sng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Johnson Display"/>
                  <a:ea typeface="Calibri" panose="020F0502020204030204" pitchFamily="34" charset="0"/>
                  <a:cs typeface="Calibri" panose="020F0502020204030204" pitchFamily="34" charset="0"/>
                </a:rPr>
                <a:t>Analysis Methodology</a:t>
              </a:r>
              <a:endPara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Johnson Display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46" name="Google Shape;321;p5">
              <a:extLst>
                <a:ext uri="{FF2B5EF4-FFF2-40B4-BE49-F238E27FC236}">
                  <a16:creationId xmlns:a16="http://schemas.microsoft.com/office/drawing/2014/main" id="{EE5FDBC5-4A20-1275-3074-686F4D08618D}"/>
                </a:ext>
              </a:extLst>
            </p:cNvPr>
            <p:cNvSpPr/>
            <p:nvPr/>
          </p:nvSpPr>
          <p:spPr>
            <a:xfrm>
              <a:off x="8377061" y="1842959"/>
              <a:ext cx="2026860" cy="258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r>
                <a:rPr kumimoji="0" lang="en-US" sz="1200" b="1" i="0" u="sng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Johnson Display"/>
                  <a:ea typeface="Calibri" panose="020F0502020204030204" pitchFamily="34" charset="0"/>
                  <a:cs typeface="Calibri" panose="020F0502020204030204" pitchFamily="34" charset="0"/>
                </a:rPr>
                <a:t>Attribute Classification</a:t>
              </a:r>
              <a:endPara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Johnson Display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F79501E-AC10-690F-5221-97A7E0845A07}"/>
              </a:ext>
            </a:extLst>
          </p:cNvPr>
          <p:cNvSpPr txBox="1"/>
          <p:nvPr/>
        </p:nvSpPr>
        <p:spPr>
          <a:xfrm>
            <a:off x="9633202" y="3957583"/>
            <a:ext cx="10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Cost of entry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9ACEAE-C807-AB4B-10F2-EE4F581607D9}"/>
              </a:ext>
            </a:extLst>
          </p:cNvPr>
          <p:cNvSpPr txBox="1"/>
          <p:nvPr/>
        </p:nvSpPr>
        <p:spPr>
          <a:xfrm>
            <a:off x="8169514" y="3957583"/>
            <a:ext cx="10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Low priority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6B5F301-F80A-03F2-81D6-D2DFCACA6D68}"/>
              </a:ext>
            </a:extLst>
          </p:cNvPr>
          <p:cNvSpPr txBox="1">
            <a:spLocks/>
          </p:cNvSpPr>
          <p:nvPr/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1" name="Google Shape;504;p12">
            <a:extLst>
              <a:ext uri="{FF2B5EF4-FFF2-40B4-BE49-F238E27FC236}">
                <a16:creationId xmlns:a16="http://schemas.microsoft.com/office/drawing/2014/main" id="{03C89A44-F386-CC60-06F3-419E211B8DAF}"/>
              </a:ext>
            </a:extLst>
          </p:cNvPr>
          <p:cNvSpPr txBox="1"/>
          <p:nvPr/>
        </p:nvSpPr>
        <p:spPr>
          <a:xfrm>
            <a:off x="415237" y="1196280"/>
            <a:ext cx="11285771" cy="2721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85" tIns="45580" rIns="91185" bIns="45580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METHODOLOGY: STATED VS DERIVED ATTRIBUTE IMPORTANCE</a:t>
            </a:r>
          </a:p>
        </p:txBody>
      </p:sp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6F41725-F3BD-75C5-BB25-8AB0CD68C9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42" name="Google Shape;229;p3">
            <a:extLst>
              <a:ext uri="{FF2B5EF4-FFF2-40B4-BE49-F238E27FC236}">
                <a16:creationId xmlns:a16="http://schemas.microsoft.com/office/drawing/2014/main" id="{E8F6D11D-500A-B64B-4E91-BBC6AEFB0B1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lvl="0" algn="r" defTabSz="911204">
              <a:buClr>
                <a:srgbClr val="000000"/>
              </a:buClr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lang="en-US" sz="1000" dirty="0"/>
              <a:t>Promotional Effectiveness x Perception Metrics</a:t>
            </a:r>
            <a:endParaRPr kumimoji="0" lang="en-IN" sz="999" b="0" i="0" u="none" strike="noStrike" kern="0" cap="none" spc="0" normalizeH="0" baseline="0" noProof="0" dirty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EF1B12C9-2829-6AAD-AB43-522A8F3BF1D8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76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To identify the factors that drive prescribing, we compare what HCPs report as influencing their prescribing decisions with what drives those decisions using a stated vs. derived analysis</a:t>
            </a:r>
            <a:endParaRPr lang="en-US" sz="1800" i="1" dirty="0">
              <a:solidFill>
                <a:srgbClr val="FF0000"/>
              </a:solidFill>
              <a:highlight>
                <a:srgbClr val="FFFF00"/>
              </a:highlight>
              <a:latin typeface="Johnson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3691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A3C71EA2-B98B-89E4-82F9-F8D00933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99011A3-26C2-A3C9-7C80-0B7ED91C83D2}"/>
              </a:ext>
            </a:extLst>
          </p:cNvPr>
          <p:cNvSpPr txBox="1"/>
          <p:nvPr/>
        </p:nvSpPr>
        <p:spPr>
          <a:xfrm>
            <a:off x="2401964" y="6201486"/>
            <a:ext cx="8472513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Stated attribute importance captured at an overall level | Analysis consolidated for patients with / without CNS metastasis | Question text mentioned in speaker notes | Based on responses collected from 236 HCPs | IA is calculated as the average of stated and derived importance for RYB and TAG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9753AA1-3118-A12C-7B6E-601E24C50653}"/>
              </a:ext>
            </a:extLst>
          </p:cNvPr>
          <p:cNvGrpSpPr/>
          <p:nvPr/>
        </p:nvGrpSpPr>
        <p:grpSpPr>
          <a:xfrm>
            <a:off x="1466014" y="1988605"/>
            <a:ext cx="9196341" cy="3490063"/>
            <a:chOff x="2836669" y="2150344"/>
            <a:chExt cx="2857913" cy="337119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CED8688-AB2C-9F49-384D-3B4D70C97BB3}"/>
                </a:ext>
              </a:extLst>
            </p:cNvPr>
            <p:cNvCxnSpPr/>
            <p:nvPr/>
          </p:nvCxnSpPr>
          <p:spPr>
            <a:xfrm>
              <a:off x="3954110" y="2168164"/>
              <a:ext cx="0" cy="3353375"/>
            </a:xfrm>
            <a:prstGeom prst="line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D09B6DE-5CE3-4FAB-B156-E9B0E2199F2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65629" y="2557955"/>
              <a:ext cx="0" cy="2857905"/>
            </a:xfrm>
            <a:prstGeom prst="line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78A9177-E2BB-1CDC-3932-0EF2E941358F}"/>
                </a:ext>
              </a:extLst>
            </p:cNvPr>
            <p:cNvSpPr/>
            <p:nvPr/>
          </p:nvSpPr>
          <p:spPr>
            <a:xfrm>
              <a:off x="3956084" y="2150346"/>
              <a:ext cx="1738498" cy="1836552"/>
            </a:xfrm>
            <a:prstGeom prst="rect">
              <a:avLst/>
            </a:prstGeom>
            <a:solidFill>
              <a:srgbClr val="00E668">
                <a:alpha val="25000"/>
              </a:srgb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10BC11C-8589-9171-56A5-9210E37F3318}"/>
                </a:ext>
              </a:extLst>
            </p:cNvPr>
            <p:cNvSpPr/>
            <p:nvPr/>
          </p:nvSpPr>
          <p:spPr>
            <a:xfrm>
              <a:off x="2836671" y="2150344"/>
              <a:ext cx="1118625" cy="1836557"/>
            </a:xfrm>
            <a:prstGeom prst="rect">
              <a:avLst/>
            </a:prstGeom>
            <a:solidFill>
              <a:schemeClr val="accent5">
                <a:lumMod val="75000"/>
                <a:alpha val="19000"/>
              </a:scheme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CD8E9B5-6AE6-FBC3-C9FC-85F8A6CC2906}"/>
                </a:ext>
              </a:extLst>
            </p:cNvPr>
            <p:cNvSpPr/>
            <p:nvPr/>
          </p:nvSpPr>
          <p:spPr>
            <a:xfrm>
              <a:off x="3953322" y="3986906"/>
              <a:ext cx="1741253" cy="1534631"/>
            </a:xfrm>
            <a:prstGeom prst="rect">
              <a:avLst/>
            </a:prstGeom>
            <a:solidFill>
              <a:srgbClr val="FFC000">
                <a:alpha val="16000"/>
              </a:srgb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4F3FB1D-84A8-CBC5-C832-22D84CC0025C}"/>
                </a:ext>
              </a:extLst>
            </p:cNvPr>
            <p:cNvSpPr/>
            <p:nvPr/>
          </p:nvSpPr>
          <p:spPr>
            <a:xfrm>
              <a:off x="2836669" y="3986906"/>
              <a:ext cx="1116646" cy="1534635"/>
            </a:xfrm>
            <a:prstGeom prst="rect">
              <a:avLst/>
            </a:prstGeom>
            <a:solidFill>
              <a:srgbClr val="F2F2F2">
                <a:alpha val="50000"/>
              </a:srgb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sp>
        <p:nvSpPr>
          <p:cNvPr id="71" name="Google Shape;461;p9">
            <a:extLst>
              <a:ext uri="{FF2B5EF4-FFF2-40B4-BE49-F238E27FC236}">
                <a16:creationId xmlns:a16="http://schemas.microsoft.com/office/drawing/2014/main" id="{D81A93BD-8A59-4AB7-801E-679BB500BE4D}"/>
              </a:ext>
            </a:extLst>
          </p:cNvPr>
          <p:cNvSpPr txBox="1"/>
          <p:nvPr/>
        </p:nvSpPr>
        <p:spPr>
          <a:xfrm rot="16200000">
            <a:off x="142203" y="3529556"/>
            <a:ext cx="2256990" cy="37788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Derived Importance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(Correlation with future usage)</a:t>
            </a:r>
          </a:p>
        </p:txBody>
      </p:sp>
      <p:sp>
        <p:nvSpPr>
          <p:cNvPr id="84" name="Google Shape;461;p9">
            <a:extLst>
              <a:ext uri="{FF2B5EF4-FFF2-40B4-BE49-F238E27FC236}">
                <a16:creationId xmlns:a16="http://schemas.microsoft.com/office/drawing/2014/main" id="{4DF35A03-4830-C293-E5D3-2FB730E4CD3C}"/>
              </a:ext>
            </a:extLst>
          </p:cNvPr>
          <p:cNvSpPr txBox="1"/>
          <p:nvPr/>
        </p:nvSpPr>
        <p:spPr>
          <a:xfrm>
            <a:off x="4526276" y="5603911"/>
            <a:ext cx="2982614" cy="3353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Stated Importance Score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(Share of points allocated across attributes)</a:t>
            </a:r>
          </a:p>
        </p:txBody>
      </p:sp>
      <p:sp>
        <p:nvSpPr>
          <p:cNvPr id="109" name="Google Shape;244;p4">
            <a:extLst>
              <a:ext uri="{FF2B5EF4-FFF2-40B4-BE49-F238E27FC236}">
                <a16:creationId xmlns:a16="http://schemas.microsoft.com/office/drawing/2014/main" id="{168A0745-7A91-A1B1-9D6E-A3F91CB92BD8}"/>
              </a:ext>
            </a:extLst>
          </p:cNvPr>
          <p:cNvSpPr/>
          <p:nvPr/>
        </p:nvSpPr>
        <p:spPr>
          <a:xfrm>
            <a:off x="1390752" y="1508075"/>
            <a:ext cx="3353313" cy="498979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1" u="none" strike="noStrike" kern="1200" cap="none" spc="0" normalizeH="0" baseline="0" noProof="0">
                <a:ln>
                  <a:noFill/>
                </a:ln>
                <a:solidFill>
                  <a:srgbClr val="004686">
                    <a:lumMod val="60000"/>
                    <a:lumOff val="4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/>
                <a:sym typeface="Arial"/>
              </a:rPr>
              <a:t>Hidden drivers: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4686">
                    <a:lumMod val="60000"/>
                    <a:lumOff val="4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  <a:sym typeface="Trebuchet MS"/>
              </a:rPr>
              <a:t>High actual impact, low perceived importance</a:t>
            </a:r>
          </a:p>
        </p:txBody>
      </p:sp>
      <p:sp>
        <p:nvSpPr>
          <p:cNvPr id="110" name="Google Shape;244;p4">
            <a:extLst>
              <a:ext uri="{FF2B5EF4-FFF2-40B4-BE49-F238E27FC236}">
                <a16:creationId xmlns:a16="http://schemas.microsoft.com/office/drawing/2014/main" id="{0D3955A1-2659-5FC4-AD12-AD8107536079}"/>
              </a:ext>
            </a:extLst>
          </p:cNvPr>
          <p:cNvSpPr/>
          <p:nvPr/>
        </p:nvSpPr>
        <p:spPr>
          <a:xfrm>
            <a:off x="7291099" y="1508075"/>
            <a:ext cx="3353313" cy="498979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Display"/>
                <a:ea typeface="+mn-ea"/>
                <a:cs typeface="Arial"/>
                <a:sym typeface="Arial"/>
              </a:rPr>
              <a:t>Critical drivers: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  <a:sym typeface="Trebuchet MS"/>
              </a:rPr>
              <a:t>High actual impact, high perceived importance</a:t>
            </a:r>
          </a:p>
        </p:txBody>
      </p:sp>
      <p:sp>
        <p:nvSpPr>
          <p:cNvPr id="111" name="Google Shape;244;p4">
            <a:extLst>
              <a:ext uri="{FF2B5EF4-FFF2-40B4-BE49-F238E27FC236}">
                <a16:creationId xmlns:a16="http://schemas.microsoft.com/office/drawing/2014/main" id="{0AE9AB80-4867-2149-FFA2-7CCCE1143B64}"/>
              </a:ext>
            </a:extLst>
          </p:cNvPr>
          <p:cNvSpPr/>
          <p:nvPr/>
        </p:nvSpPr>
        <p:spPr>
          <a:xfrm>
            <a:off x="7725956" y="5440267"/>
            <a:ext cx="2918458" cy="498979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+mn-ea"/>
                <a:cs typeface="Arial"/>
                <a:sym typeface="Arial"/>
              </a:rPr>
              <a:t>Fundamentals: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Trebuchet MS"/>
              </a:rPr>
              <a:t>Low actual impact, high perceived importance</a:t>
            </a:r>
          </a:p>
        </p:txBody>
      </p:sp>
      <p:sp>
        <p:nvSpPr>
          <p:cNvPr id="112" name="Google Shape;244;p4">
            <a:extLst>
              <a:ext uri="{FF2B5EF4-FFF2-40B4-BE49-F238E27FC236}">
                <a16:creationId xmlns:a16="http://schemas.microsoft.com/office/drawing/2014/main" id="{F5F07D7E-9652-D8D1-2A7D-01D295AB9773}"/>
              </a:ext>
            </a:extLst>
          </p:cNvPr>
          <p:cNvSpPr/>
          <p:nvPr/>
        </p:nvSpPr>
        <p:spPr>
          <a:xfrm>
            <a:off x="1390752" y="5440267"/>
            <a:ext cx="2918459" cy="498979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/>
                <a:sym typeface="Arial"/>
              </a:rPr>
              <a:t>Non-essentials: 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  <a:sym typeface="Trebuchet MS"/>
              </a:rPr>
              <a:t>Low actual impact, low perceived importance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DC5FC4B-F60C-3BFB-5C5B-CDD78133A479}"/>
              </a:ext>
            </a:extLst>
          </p:cNvPr>
          <p:cNvGraphicFramePr/>
          <p:nvPr/>
        </p:nvGraphicFramePr>
        <p:xfrm>
          <a:off x="1238136" y="1820324"/>
          <a:ext cx="9636341" cy="3830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7B65A6DE-82BA-EF18-1F7A-10ED665E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 vert="horz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oogle Shape;504;p12">
            <a:extLst>
              <a:ext uri="{FF2B5EF4-FFF2-40B4-BE49-F238E27FC236}">
                <a16:creationId xmlns:a16="http://schemas.microsoft.com/office/drawing/2014/main" id="{77FB9B2C-2C7C-BD9F-7B8B-757CE5A65DA0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STATED vs DERIVED DRIVERS REVEALING DISTINCT PRESCRIBING LEVERS for 1L EGFR + mNSCLC – 2025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5E4455-0BAD-AD19-D7D0-714BF33B8782}"/>
              </a:ext>
            </a:extLst>
          </p:cNvPr>
          <p:cNvSpPr/>
          <p:nvPr/>
        </p:nvSpPr>
        <p:spPr>
          <a:xfrm rot="21039657">
            <a:off x="8747760" y="2590002"/>
            <a:ext cx="1402080" cy="640878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A1DC77-A4CF-6717-B170-84163B14DB46}"/>
              </a:ext>
            </a:extLst>
          </p:cNvPr>
          <p:cNvSpPr/>
          <p:nvPr/>
        </p:nvSpPr>
        <p:spPr>
          <a:xfrm rot="475239">
            <a:off x="5100938" y="3004126"/>
            <a:ext cx="2555510" cy="98483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8B26A60-8DB4-FBD7-6A91-55F1971471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9" name="Google Shape;229;p3">
            <a:extLst>
              <a:ext uri="{FF2B5EF4-FFF2-40B4-BE49-F238E27FC236}">
                <a16:creationId xmlns:a16="http://schemas.microsoft.com/office/drawing/2014/main" id="{84460D53-2F92-A7A5-A3D6-D50BD41C8CD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lvl="0" algn="r" defTabSz="911204">
              <a:buClr>
                <a:srgbClr val="000000"/>
              </a:buClr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lang="en-US" sz="1000" dirty="0"/>
              <a:t>Promotional Effectiveness x Perception Metrics</a:t>
            </a:r>
            <a:endParaRPr kumimoji="0" lang="en-IN" sz="999" b="0" i="0" u="none" strike="noStrike" kern="0" cap="none" spc="0" normalizeH="0" baseline="0" noProof="0" dirty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136FE6-3B75-77D4-9AFC-472F5F961A6F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76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Overall,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efficacy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,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safety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, and alignment with clinical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guidelines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such as NCCN are the primary drivers influencing future prescriptions in the 1L EGFR+ mNSCLC market</a:t>
            </a:r>
            <a:endParaRPr lang="en-US" sz="1800" i="1" dirty="0">
              <a:solidFill>
                <a:srgbClr val="FF0000"/>
              </a:solidFill>
              <a:highlight>
                <a:srgbClr val="FFFF00"/>
              </a:highlight>
              <a:latin typeface="Johnson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414106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01D7808B-7C80-AE38-A724-EFC342ED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B3B81359-D16E-2846-9A58-BDFFD383063F}"/>
              </a:ext>
            </a:extLst>
          </p:cNvPr>
          <p:cNvGrpSpPr/>
          <p:nvPr/>
        </p:nvGrpSpPr>
        <p:grpSpPr>
          <a:xfrm>
            <a:off x="1801481" y="2096472"/>
            <a:ext cx="5979821" cy="2895306"/>
            <a:chOff x="1801481" y="2096472"/>
            <a:chExt cx="5979821" cy="289530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BD309C8-FE84-32D9-E66A-C496C658369E}"/>
                </a:ext>
              </a:extLst>
            </p:cNvPr>
            <p:cNvCxnSpPr/>
            <p:nvPr/>
          </p:nvCxnSpPr>
          <p:spPr>
            <a:xfrm>
              <a:off x="4140423" y="2111776"/>
              <a:ext cx="0" cy="2880000"/>
            </a:xfrm>
            <a:prstGeom prst="line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A2D81B-8A39-4CBC-6B24-57DD09D0965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93303" y="677793"/>
              <a:ext cx="0" cy="5975999"/>
            </a:xfrm>
            <a:prstGeom prst="line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59C2DF7-641D-BE68-5475-575C9E4D917B}"/>
                </a:ext>
              </a:extLst>
            </p:cNvPr>
            <p:cNvSpPr/>
            <p:nvPr/>
          </p:nvSpPr>
          <p:spPr>
            <a:xfrm>
              <a:off x="4148178" y="2096475"/>
              <a:ext cx="3632400" cy="1569600"/>
            </a:xfrm>
            <a:prstGeom prst="rect">
              <a:avLst/>
            </a:prstGeom>
            <a:solidFill>
              <a:srgbClr val="00E668">
                <a:alpha val="25000"/>
              </a:srgb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4931AAF-13E4-8795-553C-98A227FC9C21}"/>
                </a:ext>
              </a:extLst>
            </p:cNvPr>
            <p:cNvSpPr/>
            <p:nvPr/>
          </p:nvSpPr>
          <p:spPr>
            <a:xfrm>
              <a:off x="1801481" y="2096472"/>
              <a:ext cx="2340000" cy="1562061"/>
            </a:xfrm>
            <a:prstGeom prst="rect">
              <a:avLst/>
            </a:prstGeom>
            <a:solidFill>
              <a:schemeClr val="accent5">
                <a:lumMod val="75000"/>
                <a:alpha val="19000"/>
              </a:scheme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36F86EA-7950-6E73-3C22-AF17EFCCBEAC}"/>
                </a:ext>
              </a:extLst>
            </p:cNvPr>
            <p:cNvSpPr/>
            <p:nvPr/>
          </p:nvSpPr>
          <p:spPr>
            <a:xfrm>
              <a:off x="4151973" y="3665789"/>
              <a:ext cx="3629316" cy="1325986"/>
            </a:xfrm>
            <a:prstGeom prst="rect">
              <a:avLst/>
            </a:prstGeom>
            <a:solidFill>
              <a:srgbClr val="FFC000">
                <a:alpha val="16000"/>
              </a:srgb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69F3D5-A4CC-075F-25D3-F23FF02E983B}"/>
                </a:ext>
              </a:extLst>
            </p:cNvPr>
            <p:cNvSpPr/>
            <p:nvPr/>
          </p:nvSpPr>
          <p:spPr>
            <a:xfrm>
              <a:off x="1805288" y="3665792"/>
              <a:ext cx="2335136" cy="1325986"/>
            </a:xfrm>
            <a:prstGeom prst="rect">
              <a:avLst/>
            </a:prstGeom>
            <a:solidFill>
              <a:srgbClr val="F2F2F2">
                <a:alpha val="50000"/>
              </a:srgbClr>
            </a:solidFill>
            <a:ln w="12700" cap="flat">
              <a:noFill/>
              <a:prstDash val="solid"/>
              <a:miter/>
            </a:ln>
          </p:spPr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graphicFrame>
        <p:nvGraphicFramePr>
          <p:cNvPr id="79" name="Chart 78">
            <a:extLst>
              <a:ext uri="{FF2B5EF4-FFF2-40B4-BE49-F238E27FC236}">
                <a16:creationId xmlns:a16="http://schemas.microsoft.com/office/drawing/2014/main" id="{11E711BC-4A7B-793A-2A4B-F3DE8F497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8963211"/>
              </p:ext>
            </p:extLst>
          </p:nvPr>
        </p:nvGraphicFramePr>
        <p:xfrm>
          <a:off x="1657207" y="1956868"/>
          <a:ext cx="6261939" cy="3177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084F98-1A7B-66EA-6279-218F5254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D8CFA-4E64-B9E2-3CFB-33F529B738B4}"/>
              </a:ext>
            </a:extLst>
          </p:cNvPr>
          <p:cNvSpPr txBox="1"/>
          <p:nvPr/>
        </p:nvSpPr>
        <p:spPr>
          <a:xfrm>
            <a:off x="2401964" y="6201486"/>
            <a:ext cx="8472513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Stated attribute importance captured at an overall level | Analysis consolidated for patients with / without CNS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metastasis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| Question text mentioned in speaker notes | Based on responses collected from 236 HCPs | IA is calculated as the average of stated and derived importance for RYB and TAG</a:t>
            </a:r>
          </a:p>
        </p:txBody>
      </p:sp>
      <p:sp>
        <p:nvSpPr>
          <p:cNvPr id="71" name="Google Shape;461;p9">
            <a:extLst>
              <a:ext uri="{FF2B5EF4-FFF2-40B4-BE49-F238E27FC236}">
                <a16:creationId xmlns:a16="http://schemas.microsoft.com/office/drawing/2014/main" id="{ABF7472D-FB0E-5EF2-3E09-7CAE9F47473A}"/>
              </a:ext>
            </a:extLst>
          </p:cNvPr>
          <p:cNvSpPr txBox="1"/>
          <p:nvPr/>
        </p:nvSpPr>
        <p:spPr>
          <a:xfrm rot="16200000">
            <a:off x="563218" y="3422790"/>
            <a:ext cx="1872367" cy="24555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Derived Importance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(Correlation with future usage)</a:t>
            </a:r>
          </a:p>
        </p:txBody>
      </p:sp>
      <p:sp>
        <p:nvSpPr>
          <p:cNvPr id="84" name="Google Shape;461;p9">
            <a:extLst>
              <a:ext uri="{FF2B5EF4-FFF2-40B4-BE49-F238E27FC236}">
                <a16:creationId xmlns:a16="http://schemas.microsoft.com/office/drawing/2014/main" id="{CA2306F1-848E-59AB-4B87-B248D0CD18DA}"/>
              </a:ext>
            </a:extLst>
          </p:cNvPr>
          <p:cNvSpPr txBox="1"/>
          <p:nvPr/>
        </p:nvSpPr>
        <p:spPr>
          <a:xfrm>
            <a:off x="3793924" y="5095677"/>
            <a:ext cx="1938178" cy="4139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Stated Importance Score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(Share of points allocated across attributes)</a:t>
            </a:r>
          </a:p>
        </p:txBody>
      </p:sp>
      <p:sp>
        <p:nvSpPr>
          <p:cNvPr id="109" name="Google Shape;244;p4">
            <a:extLst>
              <a:ext uri="{FF2B5EF4-FFF2-40B4-BE49-F238E27FC236}">
                <a16:creationId xmlns:a16="http://schemas.microsoft.com/office/drawing/2014/main" id="{409735C1-5CF8-9F8A-886A-D9B3689C8188}"/>
              </a:ext>
            </a:extLst>
          </p:cNvPr>
          <p:cNvSpPr/>
          <p:nvPr/>
        </p:nvSpPr>
        <p:spPr>
          <a:xfrm>
            <a:off x="1756381" y="1697831"/>
            <a:ext cx="2179068" cy="413946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>
                <a:ln>
                  <a:noFill/>
                </a:ln>
                <a:solidFill>
                  <a:srgbClr val="004686">
                    <a:lumMod val="60000"/>
                    <a:lumOff val="4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/>
                <a:sym typeface="Arial"/>
              </a:rPr>
              <a:t>Hidden drivers: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4686">
                    <a:lumMod val="60000"/>
                    <a:lumOff val="4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  <a:sym typeface="Trebuchet MS"/>
              </a:rPr>
              <a:t>High actual impact, low perceived importance</a:t>
            </a:r>
          </a:p>
        </p:txBody>
      </p:sp>
      <p:sp>
        <p:nvSpPr>
          <p:cNvPr id="110" name="Google Shape;244;p4">
            <a:extLst>
              <a:ext uri="{FF2B5EF4-FFF2-40B4-BE49-F238E27FC236}">
                <a16:creationId xmlns:a16="http://schemas.microsoft.com/office/drawing/2014/main" id="{469076A5-DB70-7FB3-EB45-30F52CB966C4}"/>
              </a:ext>
            </a:extLst>
          </p:cNvPr>
          <p:cNvSpPr/>
          <p:nvPr/>
        </p:nvSpPr>
        <p:spPr>
          <a:xfrm>
            <a:off x="5590576" y="1697831"/>
            <a:ext cx="2179068" cy="413946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Display"/>
                <a:ea typeface="+mn-ea"/>
                <a:cs typeface="Arial"/>
                <a:sym typeface="Arial"/>
              </a:rPr>
              <a:t>Critical drivers: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  <a:sym typeface="Trebuchet MS"/>
              </a:rPr>
              <a:t>High actual impact, high perceived importance</a:t>
            </a:r>
          </a:p>
        </p:txBody>
      </p:sp>
      <p:sp>
        <p:nvSpPr>
          <p:cNvPr id="111" name="Google Shape;244;p4">
            <a:extLst>
              <a:ext uri="{FF2B5EF4-FFF2-40B4-BE49-F238E27FC236}">
                <a16:creationId xmlns:a16="http://schemas.microsoft.com/office/drawing/2014/main" id="{DF5534FE-9C3F-6224-DA2D-96384AF642DB}"/>
              </a:ext>
            </a:extLst>
          </p:cNvPr>
          <p:cNvSpPr/>
          <p:nvPr/>
        </p:nvSpPr>
        <p:spPr>
          <a:xfrm>
            <a:off x="5873157" y="4959921"/>
            <a:ext cx="1896488" cy="413946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+mn-ea"/>
                <a:cs typeface="Arial"/>
                <a:sym typeface="Arial"/>
              </a:rPr>
              <a:t>Fundamentals: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  <a:sym typeface="Trebuchet MS"/>
              </a:rPr>
              <a:t>Low actual impact, high perceived importance</a:t>
            </a:r>
          </a:p>
        </p:txBody>
      </p:sp>
      <p:sp>
        <p:nvSpPr>
          <p:cNvPr id="112" name="Google Shape;244;p4">
            <a:extLst>
              <a:ext uri="{FF2B5EF4-FFF2-40B4-BE49-F238E27FC236}">
                <a16:creationId xmlns:a16="http://schemas.microsoft.com/office/drawing/2014/main" id="{E8DB4DC2-F772-1CF2-150E-FA9DF52C46BA}"/>
              </a:ext>
            </a:extLst>
          </p:cNvPr>
          <p:cNvSpPr/>
          <p:nvPr/>
        </p:nvSpPr>
        <p:spPr>
          <a:xfrm>
            <a:off x="1756381" y="4959921"/>
            <a:ext cx="1896489" cy="413946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/>
                <a:sym typeface="Arial"/>
              </a:rPr>
              <a:t>Non-essentials: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  <a:sym typeface="Trebuchet MS"/>
              </a:rPr>
              <a:t>Low actual impact, low perceived importance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0BCC40-F597-3776-3C7D-D7CB15606EE7}"/>
              </a:ext>
            </a:extLst>
          </p:cNvPr>
          <p:cNvGrpSpPr/>
          <p:nvPr/>
        </p:nvGrpSpPr>
        <p:grpSpPr>
          <a:xfrm>
            <a:off x="3850483" y="5519753"/>
            <a:ext cx="1875387" cy="246221"/>
            <a:chOff x="4675146" y="5711336"/>
            <a:chExt cx="1875387" cy="24622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D7450F-ED2C-D9DC-F8C7-3F67C87FA15C}"/>
                </a:ext>
              </a:extLst>
            </p:cNvPr>
            <p:cNvGrpSpPr/>
            <p:nvPr/>
          </p:nvGrpSpPr>
          <p:grpSpPr>
            <a:xfrm>
              <a:off x="4675146" y="5711336"/>
              <a:ext cx="906298" cy="246221"/>
              <a:chOff x="3425672" y="5749796"/>
              <a:chExt cx="906298" cy="24622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B69FD3-F993-3F0C-933E-BE24B4623B1C}"/>
                  </a:ext>
                </a:extLst>
              </p:cNvPr>
              <p:cNvSpPr/>
              <p:nvPr/>
            </p:nvSpPr>
            <p:spPr>
              <a:xfrm>
                <a:off x="3425672" y="5818906"/>
                <a:ext cx="108000" cy="108000"/>
              </a:xfrm>
              <a:prstGeom prst="ellipse">
                <a:avLst/>
              </a:prstGeom>
              <a:solidFill>
                <a:srgbClr val="F758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50A351-1601-9A15-E7E7-A51BF0F55ED9}"/>
                  </a:ext>
                </a:extLst>
              </p:cNvPr>
              <p:cNvSpPr txBox="1"/>
              <p:nvPr/>
            </p:nvSpPr>
            <p:spPr>
              <a:xfrm>
                <a:off x="3533672" y="5749796"/>
                <a:ext cx="79829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+mn-cs"/>
                  </a:rPr>
                  <a:t>RYB+LAZ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BFB89FE-1D21-931A-0C3C-2B443B7FAF5D}"/>
                </a:ext>
              </a:extLst>
            </p:cNvPr>
            <p:cNvGrpSpPr/>
            <p:nvPr/>
          </p:nvGrpSpPr>
          <p:grpSpPr>
            <a:xfrm>
              <a:off x="5644235" y="5711336"/>
              <a:ext cx="906298" cy="246221"/>
              <a:chOff x="3425672" y="5749796"/>
              <a:chExt cx="906298" cy="246221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C0AC696-1C92-8171-72B1-B08B1717849E}"/>
                  </a:ext>
                </a:extLst>
              </p:cNvPr>
              <p:cNvSpPr/>
              <p:nvPr/>
            </p:nvSpPr>
            <p:spPr>
              <a:xfrm>
                <a:off x="3425672" y="5818906"/>
                <a:ext cx="108000" cy="108000"/>
              </a:xfrm>
              <a:prstGeom prst="ellipse">
                <a:avLst/>
              </a:prstGeom>
              <a:solidFill>
                <a:srgbClr val="7638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A4CB5C-C568-8D9D-66D2-40A54628BFDC}"/>
                  </a:ext>
                </a:extLst>
              </p:cNvPr>
              <p:cNvSpPr txBox="1"/>
              <p:nvPr/>
            </p:nvSpPr>
            <p:spPr>
              <a:xfrm>
                <a:off x="3533672" y="5749796"/>
                <a:ext cx="79829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+mn-cs"/>
                  </a:rPr>
                  <a:t>TAG</a:t>
                </a:r>
              </a:p>
            </p:txBody>
          </p:sp>
        </p:grpSp>
      </p:grpSp>
      <p:graphicFrame>
        <p:nvGraphicFramePr>
          <p:cNvPr id="7" name="Shape_92176854">
            <a:extLst>
              <a:ext uri="{FF2B5EF4-FFF2-40B4-BE49-F238E27FC236}">
                <a16:creationId xmlns:a16="http://schemas.microsoft.com/office/drawing/2014/main" id="{DC6552F1-51A9-C301-2604-7C1FD3DFCE90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61229"/>
              </p:ext>
            </p:extLst>
          </p:nvPr>
        </p:nvGraphicFramePr>
        <p:xfrm>
          <a:off x="8115507" y="2047875"/>
          <a:ext cx="3628797" cy="36905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49889">
                  <a:extLst>
                    <a:ext uri="{9D8B030D-6E8A-4147-A177-3AD203B41FA5}">
                      <a16:colId xmlns:a16="http://schemas.microsoft.com/office/drawing/2014/main" val="2167667136"/>
                    </a:ext>
                  </a:extLst>
                </a:gridCol>
                <a:gridCol w="2978908">
                  <a:extLst>
                    <a:ext uri="{9D8B030D-6E8A-4147-A177-3AD203B41FA5}">
                      <a16:colId xmlns:a16="http://schemas.microsoft.com/office/drawing/2014/main" val="3206011262"/>
                    </a:ext>
                  </a:extLst>
                </a:gridCol>
              </a:tblGrid>
              <a:tr h="2649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68775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/ Tolerability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Guideline Recommendations (NCCN)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Route of administration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Dosing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040772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Effect on Quality of 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24116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Mechanism of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079566"/>
                  </a:ext>
                </a:extLst>
              </a:tr>
              <a:tr h="428203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Access and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359508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8E11C0E-6AD5-AB07-053A-7C7694DD6F8F}"/>
              </a:ext>
            </a:extLst>
          </p:cNvPr>
          <p:cNvSpPr/>
          <p:nvPr/>
        </p:nvSpPr>
        <p:spPr>
          <a:xfrm>
            <a:off x="6496900" y="2279727"/>
            <a:ext cx="580591" cy="1325986"/>
          </a:xfrm>
          <a:prstGeom prst="rect">
            <a:avLst/>
          </a:prstGeom>
          <a:noFill/>
          <a:ln w="28575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29134707-35EC-3071-C430-662F535E22E9}"/>
              </a:ext>
            </a:extLst>
          </p:cNvPr>
          <p:cNvSpPr/>
          <p:nvPr/>
        </p:nvSpPr>
        <p:spPr>
          <a:xfrm>
            <a:off x="5096827" y="2753093"/>
            <a:ext cx="1740021" cy="542794"/>
          </a:xfrm>
          <a:prstGeom prst="wedgeRectCallout">
            <a:avLst>
              <a:gd name="adj1" fmla="val 29230"/>
              <a:gd name="adj2" fmla="val -74374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HCPs </a:t>
            </a:r>
            <a:r>
              <a:rPr kumimoji="0" 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state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that product efficacy is the most important attribute when considering therapies in the NSCLC space.</a:t>
            </a:r>
          </a:p>
        </p:txBody>
      </p:sp>
      <p:sp>
        <p:nvSpPr>
          <p:cNvPr id="6" name="Textbox_series_2">
            <a:extLst>
              <a:ext uri="{FF2B5EF4-FFF2-40B4-BE49-F238E27FC236}">
                <a16:creationId xmlns:a16="http://schemas.microsoft.com/office/drawing/2014/main" id="{0A7FC35E-3D29-C429-FAB3-00E4F59A4235}"/>
              </a:ext>
            </a:extLst>
          </p:cNvPr>
          <p:cNvSpPr txBox="1"/>
          <p:nvPr/>
        </p:nvSpPr>
        <p:spPr>
          <a:xfrm flipH="1">
            <a:off x="2889467" y="5850683"/>
            <a:ext cx="4188024" cy="518160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RYB+</a:t>
            </a:r>
            <a:r>
              <a:rPr lang="en-US" sz="900" b="1" i="1" dirty="0">
                <a:solidFill>
                  <a:srgbClr val="F75824"/>
                </a:solidFill>
                <a:latin typeface="Johnson Text"/>
                <a:ea typeface="+mn-lt"/>
                <a:cs typeface="Johnson Text"/>
              </a:rPr>
              <a:t>LAZ</a:t>
            </a:r>
            <a:r>
              <a:rPr lang="en-US" sz="900" b="1" i="1" dirty="0">
                <a:latin typeface="Johnson Text"/>
                <a:ea typeface="+mn-lt"/>
                <a:cs typeface="Johnson Text"/>
              </a:rPr>
              <a:t>'s </a:t>
            </a:r>
            <a:r>
              <a:rPr lang="en-US" sz="900" b="1" dirty="0">
                <a:latin typeface="Johnson Text"/>
                <a:ea typeface="+mn-lt"/>
                <a:cs typeface="Johnson Text"/>
              </a:rPr>
              <a:t>NCCN</a:t>
            </a:r>
            <a:r>
              <a:rPr kumimoji="0" lang="en-US" sz="9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+mn-lt"/>
                <a:cs typeface="Johnson Text"/>
              </a:rPr>
              <a:t> </a:t>
            </a:r>
            <a:r>
              <a:rPr lang="en-US" sz="900" dirty="0">
                <a:latin typeface="Johnson Text"/>
                <a:ea typeface="+mn-lt"/>
                <a:cs typeface="Johnson Text"/>
              </a:rPr>
              <a:t>message </a:t>
            </a:r>
            <a:r>
              <a:rPr lang="en-US" sz="900" dirty="0">
                <a:solidFill>
                  <a:srgbClr val="000000">
                    <a:lumMod val="85000"/>
                    <a:lumOff val="15000"/>
                  </a:srgbClr>
                </a:solidFill>
                <a:latin typeface="Johnson Text"/>
                <a:ea typeface="+mn-lt"/>
                <a:cs typeface="Johnson Text"/>
              </a:rPr>
              <a:t>is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 recalled more </a:t>
            </a:r>
            <a:r>
              <a:rPr lang="en-US" sz="900" dirty="0">
                <a:solidFill>
                  <a:srgbClr val="000000">
                    <a:lumMod val="85000"/>
                    <a:lumOff val="15000"/>
                  </a:srgbClr>
                </a:solidFill>
                <a:latin typeface="Johnson Text"/>
                <a:ea typeface="+mn-lt"/>
                <a:cs typeface="Johnson Text"/>
              </a:rPr>
              <a:t>frequently (</a:t>
            </a:r>
            <a:r>
              <a:rPr lang="en-US" sz="900" dirty="0">
                <a:solidFill>
                  <a:srgbClr val="F75824"/>
                </a:solidFill>
                <a:latin typeface="Johnson Text"/>
                <a:ea typeface="+mn-lt"/>
                <a:cs typeface="Johnson Text"/>
              </a:rPr>
              <a:t>49% </a:t>
            </a:r>
            <a:r>
              <a:rPr lang="en-US" sz="900" dirty="0">
                <a:solidFill>
                  <a:srgbClr val="000000">
                    <a:lumMod val="85000"/>
                    <a:lumOff val="15000"/>
                  </a:srgbClr>
                </a:solidFill>
                <a:latin typeface="Johnson Text"/>
                <a:ea typeface="+mn-lt"/>
                <a:cs typeface="Johnson Text"/>
              </a:rPr>
              <a:t>vs </a:t>
            </a:r>
            <a:r>
              <a:rPr lang="en-US" sz="900" dirty="0">
                <a:solidFill>
                  <a:srgbClr val="7030A0"/>
                </a:solidFill>
                <a:latin typeface="Johnson Text"/>
                <a:ea typeface="+mn-lt"/>
                <a:cs typeface="Johnson Text"/>
              </a:rPr>
              <a:t>41%</a:t>
            </a:r>
            <a:r>
              <a:rPr lang="en-US" sz="900" dirty="0">
                <a:solidFill>
                  <a:srgbClr val="000000">
                    <a:lumMod val="85000"/>
                    <a:lumOff val="15000"/>
                  </a:srgbClr>
                </a:solidFill>
                <a:latin typeface="Johnson Text"/>
                <a:ea typeface="+mn-lt"/>
                <a:cs typeface="Johnson Text"/>
              </a:rPr>
              <a:t>) and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perceived more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effective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71%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vs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64%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) compared to that of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Text"/>
                <a:ea typeface="+mn-lt"/>
                <a:cs typeface="Johnson Text"/>
              </a:rPr>
              <a:t>TAG+Chemo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/>
              <a:ea typeface="+mn-ea"/>
              <a:cs typeface="Johnson Text"/>
            </a:endParaRPr>
          </a:p>
        </p:txBody>
      </p:sp>
      <p:sp>
        <p:nvSpPr>
          <p:cNvPr id="19" name="Google Shape;504;p12">
            <a:extLst>
              <a:ext uri="{FF2B5EF4-FFF2-40B4-BE49-F238E27FC236}">
                <a16:creationId xmlns:a16="http://schemas.microsoft.com/office/drawing/2014/main" id="{0998E1C1-65ED-AA41-1FEC-83A993B7C56D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STATED vs DERIVED DRIVERS REVEALING DISTINCT PRESCRIBING LEVERS for 1L EGFR + mNSCLC 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RYB+LAZ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vs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TAG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- 2025</a:t>
            </a:r>
          </a:p>
        </p:txBody>
      </p:sp>
      <p:sp>
        <p:nvSpPr>
          <p:cNvPr id="31" name="Textbox_series_2">
            <a:extLst>
              <a:ext uri="{FF2B5EF4-FFF2-40B4-BE49-F238E27FC236}">
                <a16:creationId xmlns:a16="http://schemas.microsoft.com/office/drawing/2014/main" id="{98ADFE29-6E6B-D91E-9357-9DE48580472D}"/>
              </a:ext>
            </a:extLst>
          </p:cNvPr>
          <p:cNvSpPr txBox="1"/>
          <p:nvPr/>
        </p:nvSpPr>
        <p:spPr>
          <a:xfrm flipH="1">
            <a:off x="3881506" y="2111117"/>
            <a:ext cx="2124000" cy="567067"/>
          </a:xfrm>
          <a:prstGeom prst="wedgeRoundRectCallout">
            <a:avLst>
              <a:gd name="adj1" fmla="val 26010"/>
              <a:gd name="adj2" fmla="val 86281"/>
              <a:gd name="adj3" fmla="val 16667"/>
            </a:avLst>
          </a:prstGeom>
          <a:solidFill>
            <a:srgbClr val="FEE6DE"/>
          </a:solidFill>
          <a:ln>
            <a:solidFill>
              <a:srgbClr val="F75824"/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900" dirty="0"/>
              <a:t>Positive perceptions of </a:t>
            </a:r>
            <a:r>
              <a:rPr lang="en-US" sz="900" b="1" dirty="0">
                <a:solidFill>
                  <a:srgbClr val="F75824"/>
                </a:solidFill>
              </a:rPr>
              <a:t>RYB+LAZ</a:t>
            </a:r>
            <a:r>
              <a:rPr lang="en-US" sz="900" b="1" dirty="0"/>
              <a:t>’s</a:t>
            </a:r>
            <a:r>
              <a:rPr lang="en-US" sz="900" b="1" dirty="0">
                <a:solidFill>
                  <a:srgbClr val="F75824"/>
                </a:solidFill>
              </a:rPr>
              <a:t> </a:t>
            </a:r>
            <a:r>
              <a:rPr lang="en-US" sz="900" b="1" dirty="0"/>
              <a:t>NCCN guidelines influence HCPs’ prescribing behavior </a:t>
            </a:r>
            <a:r>
              <a:rPr lang="en-US" sz="900" dirty="0"/>
              <a:t>more strongly vs positive perceptions of </a:t>
            </a:r>
            <a:r>
              <a:rPr lang="en-US" sz="900" b="1" dirty="0">
                <a:solidFill>
                  <a:srgbClr val="7030A0"/>
                </a:solidFill>
              </a:rPr>
              <a:t>AZ</a:t>
            </a:r>
            <a:endParaRPr kumimoji="0" lang="en-US" sz="900" b="1" i="0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55B058-CBD2-4ABF-49B2-729B70C6F70E}"/>
              </a:ext>
            </a:extLst>
          </p:cNvPr>
          <p:cNvSpPr/>
          <p:nvPr/>
        </p:nvSpPr>
        <p:spPr>
          <a:xfrm rot="4235314">
            <a:off x="4003514" y="3021551"/>
            <a:ext cx="764290" cy="505325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210DFF76-3D55-D502-689B-200B52279E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6FCB1F2-2279-0C50-A082-82F49ACD8F07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76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Directionally, stronger perception of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NCCN guidelines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is more effective in driving future use of RYB+LAZ vs AZ; NCCN messages of RYB+LAZ outperform TAG+Chemo in delivery and effectiveness</a:t>
            </a:r>
            <a:endParaRPr lang="en-US" sz="1800" i="1" dirty="0">
              <a:solidFill>
                <a:srgbClr val="FF0000"/>
              </a:solidFill>
              <a:highlight>
                <a:srgbClr val="FFFF00"/>
              </a:highlight>
              <a:latin typeface="Johnson Display"/>
            </a:endParaRPr>
          </a:p>
        </p:txBody>
      </p:sp>
      <p:sp>
        <p:nvSpPr>
          <p:cNvPr id="23" name="Google Shape;229;p3">
            <a:extLst>
              <a:ext uri="{FF2B5EF4-FFF2-40B4-BE49-F238E27FC236}">
                <a16:creationId xmlns:a16="http://schemas.microsoft.com/office/drawing/2014/main" id="{D3C6382D-16FE-C61F-4652-FF5EFA8D22AB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lvl="0" algn="r" defTabSz="911204">
              <a:buClr>
                <a:srgbClr val="000000"/>
              </a:buClr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lang="en-US" sz="1000" dirty="0"/>
              <a:t>Promotional Effectiveness x Perception Metrics</a:t>
            </a:r>
            <a:endParaRPr kumimoji="0" lang="en-IN" sz="999" b="0" i="0" u="none" strike="noStrike" kern="0" cap="none" spc="0" normalizeH="0" baseline="0" noProof="0" dirty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01304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4EC5AB62-65A9-FE31-60D9-239516AF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Shape_92176854">
            <a:extLst>
              <a:ext uri="{FF2B5EF4-FFF2-40B4-BE49-F238E27FC236}">
                <a16:creationId xmlns:a16="http://schemas.microsoft.com/office/drawing/2014/main" id="{296D0184-4056-C2D1-5B8F-7CFD13CE02EC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4383381"/>
              </p:ext>
            </p:extLst>
          </p:nvPr>
        </p:nvGraphicFramePr>
        <p:xfrm>
          <a:off x="373337" y="1633289"/>
          <a:ext cx="9356677" cy="35933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6676">
                  <a:extLst>
                    <a:ext uri="{9D8B030D-6E8A-4147-A177-3AD203B41FA5}">
                      <a16:colId xmlns:a16="http://schemas.microsoft.com/office/drawing/2014/main" val="2167667136"/>
                    </a:ext>
                  </a:extLst>
                </a:gridCol>
                <a:gridCol w="2298291">
                  <a:extLst>
                    <a:ext uri="{9D8B030D-6E8A-4147-A177-3AD203B41FA5}">
                      <a16:colId xmlns:a16="http://schemas.microsoft.com/office/drawing/2014/main" val="3206011262"/>
                    </a:ext>
                  </a:extLst>
                </a:gridCol>
                <a:gridCol w="3170855">
                  <a:extLst>
                    <a:ext uri="{9D8B030D-6E8A-4147-A177-3AD203B41FA5}">
                      <a16:colId xmlns:a16="http://schemas.microsoft.com/office/drawing/2014/main" val="3069948463"/>
                    </a:ext>
                  </a:extLst>
                </a:gridCol>
                <a:gridCol w="3170855">
                  <a:extLst>
                    <a:ext uri="{9D8B030D-6E8A-4147-A177-3AD203B41FA5}">
                      <a16:colId xmlns:a16="http://schemas.microsoft.com/office/drawing/2014/main" val="3431988909"/>
                    </a:ext>
                  </a:extLst>
                </a:gridCol>
              </a:tblGrid>
              <a:tr h="2203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F75824"/>
                          </a:solidFill>
                          <a:latin typeface="+mj-lt"/>
                        </a:rPr>
                        <a:t>RYB+LAZ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7638A4"/>
                          </a:solidFill>
                          <a:latin typeface="+mj-lt"/>
                        </a:rPr>
                        <a:t>TAG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68775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Guideline Recommendations (NCCN)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1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Mechanism of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1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Dosing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1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Access and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1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40772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Effect on Quality of 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24116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Route of administration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079566"/>
                  </a:ext>
                </a:extLst>
              </a:tr>
              <a:tr h="418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2626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/ Tolerability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35950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033477-4687-A1A8-526D-46A3A9BD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F93806-64A4-5BEF-892B-29B887D859D5}"/>
              </a:ext>
            </a:extLst>
          </p:cNvPr>
          <p:cNvSpPr txBox="1"/>
          <p:nvPr/>
        </p:nvSpPr>
        <p:spPr>
          <a:xfrm>
            <a:off x="2401964" y="6201486"/>
            <a:ext cx="8472513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1218988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Stated attribute importance captured at an overall level | Analysis consolidated for patients with / without CNS metastasis | Question text mentioned in speaker notes | Based on responses collected from 236 HCPs | Analysis assesses whether HCPs reporting perception metrics had a recent sales rep interaction within the past 30 days, base size mentioned in speaker notes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     </a:t>
            </a:r>
            <a:r>
              <a:rPr kumimoji="1" lang="en-IN" sz="900" i="1" kern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Denotes statistically </a:t>
            </a:r>
            <a:r>
              <a:rPr kumimoji="1" lang="en-US" sz="900" i="1" kern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significant difference with 95% confidence interval between Detailed vs. Not Detailed by Sales Rep</a:t>
            </a:r>
            <a:endParaRPr kumimoji="1" lang="en-US" sz="900" b="0" i="1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</p:txBody>
      </p:sp>
      <p:sp>
        <p:nvSpPr>
          <p:cNvPr id="4" name="Google Shape;504;p12">
            <a:extLst>
              <a:ext uri="{FF2B5EF4-FFF2-40B4-BE49-F238E27FC236}">
                <a16:creationId xmlns:a16="http://schemas.microsoft.com/office/drawing/2014/main" id="{575FA194-329F-66B3-10A3-C0F722BDE28C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ATTRIBUTE RATINGS BY REP INTERACTION STATUS 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RYB+LAZ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vs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TAG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- 2025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E260FF-03AC-A796-F8BE-B8E8A414A31A}"/>
              </a:ext>
            </a:extLst>
          </p:cNvPr>
          <p:cNvGrpSpPr/>
          <p:nvPr/>
        </p:nvGrpSpPr>
        <p:grpSpPr>
          <a:xfrm>
            <a:off x="9851471" y="3903940"/>
            <a:ext cx="2249089" cy="1327705"/>
            <a:chOff x="9909687" y="3922228"/>
            <a:chExt cx="2434522" cy="1327705"/>
          </a:xfrm>
        </p:grpSpPr>
        <p:sp>
          <p:nvSpPr>
            <p:cNvPr id="60" name="Google Shape;244;p4">
              <a:extLst>
                <a:ext uri="{FF2B5EF4-FFF2-40B4-BE49-F238E27FC236}">
                  <a16:creationId xmlns:a16="http://schemas.microsoft.com/office/drawing/2014/main" id="{AF670478-F866-4B86-C5FD-4681B816CDCF}"/>
                </a:ext>
              </a:extLst>
            </p:cNvPr>
            <p:cNvSpPr/>
            <p:nvPr/>
          </p:nvSpPr>
          <p:spPr>
            <a:xfrm>
              <a:off x="9909687" y="4653762"/>
              <a:ext cx="2434522" cy="596171"/>
            </a:xfrm>
            <a:prstGeom prst="rect">
              <a:avLst/>
            </a:prstGeom>
            <a:solidFill>
              <a:srgbClr val="D2F1FF"/>
            </a:solidFill>
            <a:ln w="12700" cap="flat" cmpd="sng">
              <a:solidFill>
                <a:schemeClr val="bg1">
                  <a:lumMod val="75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1" i="1" u="none" strike="noStrike" kern="1200" cap="none" spc="0" normalizeH="0" baseline="0" noProof="0">
                  <a:ln>
                    <a:noFill/>
                  </a:ln>
                  <a:solidFill>
                    <a:srgbClr val="00468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Hidden drivers: </a:t>
              </a: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468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Attributes having </a:t>
              </a: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00468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Johnson Display"/>
                  <a:ea typeface="+mn-ea"/>
                  <a:cs typeface="Arial" panose="020B0604020202020204" pitchFamily="34" charset="0"/>
                  <a:sym typeface="Trebuchet MS"/>
                </a:rPr>
                <a:t>High actual impact, low perceived importance based on therapy area level drivers</a:t>
              </a:r>
            </a:p>
          </p:txBody>
        </p:sp>
        <p:sp>
          <p:nvSpPr>
            <p:cNvPr id="61" name="Google Shape;244;p4">
              <a:extLst>
                <a:ext uri="{FF2B5EF4-FFF2-40B4-BE49-F238E27FC236}">
                  <a16:creationId xmlns:a16="http://schemas.microsoft.com/office/drawing/2014/main" id="{0A514CEB-5867-7372-1E9F-8C34908FB84A}"/>
                </a:ext>
              </a:extLst>
            </p:cNvPr>
            <p:cNvSpPr/>
            <p:nvPr/>
          </p:nvSpPr>
          <p:spPr>
            <a:xfrm>
              <a:off x="9909687" y="3922228"/>
              <a:ext cx="2434522" cy="596171"/>
            </a:xfrm>
            <a:prstGeom prst="rect">
              <a:avLst/>
            </a:prstGeom>
            <a:solidFill>
              <a:srgbClr val="BFF9D9"/>
            </a:solidFill>
            <a:ln w="12700" cap="flat" cmpd="sng">
              <a:solidFill>
                <a:schemeClr val="bg1">
                  <a:lumMod val="75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1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Critical drivers: </a:t>
              </a: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Attributes having</a:t>
              </a:r>
              <a:r>
                <a:rPr kumimoji="0" lang="en-IN" sz="900" b="1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 </a:t>
              </a: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 panose="020B0604020202020204" pitchFamily="34" charset="0"/>
                  <a:sym typeface="Trebuchet MS"/>
                </a:rPr>
                <a:t>high actual impact, high perceived importance based on therapy area level drivers</a:t>
              </a:r>
            </a:p>
          </p:txBody>
        </p:sp>
      </p:grp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8EABBFC-ED86-92BD-85CC-C35A1F64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782360"/>
              </p:ext>
            </p:extLst>
          </p:nvPr>
        </p:nvGraphicFramePr>
        <p:xfrm>
          <a:off x="3386471" y="1732794"/>
          <a:ext cx="3173100" cy="3628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511;p10">
            <a:extLst>
              <a:ext uri="{FF2B5EF4-FFF2-40B4-BE49-F238E27FC236}">
                <a16:creationId xmlns:a16="http://schemas.microsoft.com/office/drawing/2014/main" id="{729E8B7B-F073-50A2-945F-AD4FE5B1EACF}"/>
              </a:ext>
            </a:extLst>
          </p:cNvPr>
          <p:cNvSpPr txBox="1"/>
          <p:nvPr/>
        </p:nvSpPr>
        <p:spPr>
          <a:xfrm>
            <a:off x="4204687" y="5281086"/>
            <a:ext cx="153666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% of HCPs Rated 6, 7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 panose="020B0604020202020204" charset="0"/>
              <a:ea typeface="Arial"/>
              <a:cs typeface="Johnson Text" panose="020B0604020202020204" charset="0"/>
              <a:sym typeface="Arial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2C3CACD-5F7C-A157-FF6F-36602C4538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0202910"/>
              </p:ext>
            </p:extLst>
          </p:nvPr>
        </p:nvGraphicFramePr>
        <p:xfrm>
          <a:off x="6567579" y="1727924"/>
          <a:ext cx="3173100" cy="3628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Google Shape;511;p10">
            <a:extLst>
              <a:ext uri="{FF2B5EF4-FFF2-40B4-BE49-F238E27FC236}">
                <a16:creationId xmlns:a16="http://schemas.microsoft.com/office/drawing/2014/main" id="{0B7986DF-33EA-4440-4283-E7DB7303B2F9}"/>
              </a:ext>
            </a:extLst>
          </p:cNvPr>
          <p:cNvSpPr txBox="1"/>
          <p:nvPr/>
        </p:nvSpPr>
        <p:spPr>
          <a:xfrm>
            <a:off x="7502713" y="5274659"/>
            <a:ext cx="153666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Calibri"/>
                <a:cs typeface="Johnson Text" panose="020B0604020202020204" charset="0"/>
                <a:sym typeface="Calibri"/>
              </a:rPr>
              <a:t>% of HCPs Rated 6, 7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Text" panose="020B0604020202020204" charset="0"/>
              <a:ea typeface="Arial"/>
              <a:cs typeface="Johnson Text" panose="020B0604020202020204" charset="0"/>
              <a:sym typeface="Arial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5C5471-78EC-283D-F18B-737A0898041D}"/>
              </a:ext>
            </a:extLst>
          </p:cNvPr>
          <p:cNvGrpSpPr/>
          <p:nvPr/>
        </p:nvGrpSpPr>
        <p:grpSpPr>
          <a:xfrm>
            <a:off x="3397197" y="5521816"/>
            <a:ext cx="5397606" cy="492443"/>
            <a:chOff x="2596965" y="5521816"/>
            <a:chExt cx="5397606" cy="49244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11A1E5F-8357-B77D-C3E4-73C915BA28C3}"/>
                </a:ext>
              </a:extLst>
            </p:cNvPr>
            <p:cNvGrpSpPr/>
            <p:nvPr/>
          </p:nvGrpSpPr>
          <p:grpSpPr>
            <a:xfrm>
              <a:off x="2596965" y="5521816"/>
              <a:ext cx="1701250" cy="492443"/>
              <a:chOff x="3522874" y="5451294"/>
              <a:chExt cx="1701250" cy="492443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AE1B0B1-1797-16DE-182A-0D32D8FD9CE0}"/>
                  </a:ext>
                </a:extLst>
              </p:cNvPr>
              <p:cNvSpPr/>
              <p:nvPr/>
            </p:nvSpPr>
            <p:spPr>
              <a:xfrm>
                <a:off x="3522874" y="552040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7087DB2-2978-E48F-8CB2-C3E9F5535281}"/>
                  </a:ext>
                </a:extLst>
              </p:cNvPr>
              <p:cNvSpPr txBox="1"/>
              <p:nvPr/>
            </p:nvSpPr>
            <p:spPr>
              <a:xfrm>
                <a:off x="3630874" y="5451294"/>
                <a:ext cx="1593250" cy="4924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Not detailed by sales rep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RYB+LAZ: (n = 152)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TAG: (n = 163)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BE309CD-1DE3-3AC4-9220-AE1F72A534E6}"/>
                </a:ext>
              </a:extLst>
            </p:cNvPr>
            <p:cNvGrpSpPr/>
            <p:nvPr/>
          </p:nvGrpSpPr>
          <p:grpSpPr>
            <a:xfrm>
              <a:off x="4566566" y="5521816"/>
              <a:ext cx="1565140" cy="492443"/>
              <a:chOff x="5426290" y="5451294"/>
              <a:chExt cx="1565140" cy="492443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B6027EA-9E62-8918-7305-AD4B1291C73E}"/>
                  </a:ext>
                </a:extLst>
              </p:cNvPr>
              <p:cNvSpPr/>
              <p:nvPr/>
            </p:nvSpPr>
            <p:spPr>
              <a:xfrm>
                <a:off x="5545720" y="5520404"/>
                <a:ext cx="108000" cy="108000"/>
              </a:xfrm>
              <a:prstGeom prst="ellipse">
                <a:avLst/>
              </a:prstGeom>
              <a:solidFill>
                <a:srgbClr val="7638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E9254DF-70A1-8653-6370-76E6B8E14B31}"/>
                  </a:ext>
                </a:extLst>
              </p:cNvPr>
              <p:cNvSpPr txBox="1"/>
              <p:nvPr/>
            </p:nvSpPr>
            <p:spPr>
              <a:xfrm>
                <a:off x="5653720" y="5451294"/>
                <a:ext cx="1337710" cy="4924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Overall Rating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RYB+LAZ: (n = 236)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TAG: (n = 236)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8B97881-B9E2-B347-874E-E3EB8B413D5B}"/>
                  </a:ext>
                </a:extLst>
              </p:cNvPr>
              <p:cNvSpPr/>
              <p:nvPr/>
            </p:nvSpPr>
            <p:spPr>
              <a:xfrm>
                <a:off x="5426290" y="5520404"/>
                <a:ext cx="108000" cy="108000"/>
              </a:xfrm>
              <a:prstGeom prst="ellipse">
                <a:avLst/>
              </a:prstGeom>
              <a:solidFill>
                <a:srgbClr val="F758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67AD1AD-8477-C559-3D0F-A0053ABBE691}"/>
                </a:ext>
              </a:extLst>
            </p:cNvPr>
            <p:cNvGrpSpPr/>
            <p:nvPr/>
          </p:nvGrpSpPr>
          <p:grpSpPr>
            <a:xfrm>
              <a:off x="6400057" y="5521816"/>
              <a:ext cx="1594514" cy="492443"/>
              <a:chOff x="6848446" y="5451294"/>
              <a:chExt cx="1594514" cy="492443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BD6670F-D2AA-3A51-53A2-F0BDF4BE419F}"/>
                  </a:ext>
                </a:extLst>
              </p:cNvPr>
              <p:cNvSpPr/>
              <p:nvPr/>
            </p:nvSpPr>
            <p:spPr>
              <a:xfrm>
                <a:off x="6967876" y="552040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7638A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A0F1B3C-E514-53F8-91D3-E8774A23A544}"/>
                  </a:ext>
                </a:extLst>
              </p:cNvPr>
              <p:cNvSpPr txBox="1"/>
              <p:nvPr/>
            </p:nvSpPr>
            <p:spPr>
              <a:xfrm>
                <a:off x="7075876" y="5451294"/>
                <a:ext cx="1367084" cy="4924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Detailed by sales rep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RYB+LAZ: (n = 84)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1" u="none" strike="noStrike" kern="1200" cap="none" spc="0" normalizeH="0" baseline="0" noProof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Johnson Text" panose="020B0604020202020204" charset="0"/>
                    <a:ea typeface="+mn-ea"/>
                    <a:cs typeface="Johnson Text" panose="020B0604020202020204" charset="0"/>
                  </a:rPr>
                  <a:t>TAG: (n = 73)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65EB766-DC62-7985-0323-47B105556DF6}"/>
                  </a:ext>
                </a:extLst>
              </p:cNvPr>
              <p:cNvSpPr/>
              <p:nvPr/>
            </p:nvSpPr>
            <p:spPr>
              <a:xfrm>
                <a:off x="6848446" y="552040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758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</a:endParaRPr>
              </a:p>
            </p:txBody>
          </p:sp>
        </p:grpSp>
      </p:grp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2117D483-8ADC-4909-68C7-59787DFE93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6D5A00-B0E9-62C3-E4C9-97850031821A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76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Calibri"/>
                <a:cs typeface="Johnson Display"/>
              </a:rPr>
              <a:t>To bridge RYB+LAZ gap in perception, HCPs visited by J&amp;J reps are positively influenced; TAG perception is predominantly driven by strong baseline perceptions, with rep detailing providing only moderate incremental impact</a:t>
            </a:r>
            <a:endParaRPr lang="en-US" sz="1800" i="1" dirty="0">
              <a:solidFill>
                <a:srgbClr val="FF0000"/>
              </a:solidFill>
              <a:highlight>
                <a:srgbClr val="FFFF00"/>
              </a:highlight>
              <a:latin typeface="Johnson Display"/>
            </a:endParaRPr>
          </a:p>
        </p:txBody>
      </p:sp>
      <p:sp>
        <p:nvSpPr>
          <p:cNvPr id="15" name="Google Shape;229;p3">
            <a:extLst>
              <a:ext uri="{FF2B5EF4-FFF2-40B4-BE49-F238E27FC236}">
                <a16:creationId xmlns:a16="http://schemas.microsoft.com/office/drawing/2014/main" id="{15314850-7749-CFA5-2453-1330638368F6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lvl="0" algn="r" defTabSz="911204">
              <a:buClr>
                <a:srgbClr val="000000"/>
              </a:buClr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lang="en-US" sz="1000" dirty="0"/>
              <a:t>Promotional Effectiveness x Perception Metrics</a:t>
            </a:r>
            <a:endParaRPr kumimoji="0" lang="en-IN" sz="999" b="0" i="0" u="none" strike="noStrike" kern="0" cap="none" spc="0" normalizeH="0" baseline="0" noProof="0" dirty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7F5FDE-A515-D4D4-5C83-60344F546303}"/>
              </a:ext>
            </a:extLst>
          </p:cNvPr>
          <p:cNvSpPr/>
          <p:nvPr/>
        </p:nvSpPr>
        <p:spPr>
          <a:xfrm>
            <a:off x="6258664" y="1905166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864E73-15B4-47A8-3F80-60281D65AA88}"/>
              </a:ext>
            </a:extLst>
          </p:cNvPr>
          <p:cNvSpPr/>
          <p:nvPr/>
        </p:nvSpPr>
        <p:spPr>
          <a:xfrm>
            <a:off x="6258664" y="2329919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B888F5-046F-D844-BD34-143B0173450C}"/>
              </a:ext>
            </a:extLst>
          </p:cNvPr>
          <p:cNvSpPr/>
          <p:nvPr/>
        </p:nvSpPr>
        <p:spPr>
          <a:xfrm>
            <a:off x="6258664" y="2745277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96AF02-A8A3-B71D-AA7F-9AB3C9E1C58D}"/>
              </a:ext>
            </a:extLst>
          </p:cNvPr>
          <p:cNvSpPr/>
          <p:nvPr/>
        </p:nvSpPr>
        <p:spPr>
          <a:xfrm>
            <a:off x="5847690" y="3299540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5D3078-14F1-64D7-591D-FAB02C02ED2B}"/>
              </a:ext>
            </a:extLst>
          </p:cNvPr>
          <p:cNvSpPr/>
          <p:nvPr/>
        </p:nvSpPr>
        <p:spPr>
          <a:xfrm>
            <a:off x="5795694" y="3710124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631800-3CF2-A970-5470-7B4EBA5C8FEE}"/>
              </a:ext>
            </a:extLst>
          </p:cNvPr>
          <p:cNvSpPr/>
          <p:nvPr/>
        </p:nvSpPr>
        <p:spPr>
          <a:xfrm>
            <a:off x="5754457" y="4131466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32284B-08E5-E5B4-ACEB-BC6DFC7BB1D4}"/>
              </a:ext>
            </a:extLst>
          </p:cNvPr>
          <p:cNvSpPr/>
          <p:nvPr/>
        </p:nvSpPr>
        <p:spPr>
          <a:xfrm>
            <a:off x="5637916" y="4520534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7AECA04-4299-4F2A-A2B0-502665A45ED2}"/>
              </a:ext>
            </a:extLst>
          </p:cNvPr>
          <p:cNvSpPr/>
          <p:nvPr/>
        </p:nvSpPr>
        <p:spPr>
          <a:xfrm>
            <a:off x="9364151" y="2307076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6F9DB3-7A40-ACE0-0F75-760F2B1F20B8}"/>
              </a:ext>
            </a:extLst>
          </p:cNvPr>
          <p:cNvSpPr/>
          <p:nvPr/>
        </p:nvSpPr>
        <p:spPr>
          <a:xfrm>
            <a:off x="9269125" y="2739175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5F3BC7-AD32-A8A0-90A5-E50638E0BDA7}"/>
              </a:ext>
            </a:extLst>
          </p:cNvPr>
          <p:cNvSpPr/>
          <p:nvPr/>
        </p:nvSpPr>
        <p:spPr>
          <a:xfrm>
            <a:off x="9346222" y="3160517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33B033-FD8E-5E7F-4E88-EBDCADD8D300}"/>
              </a:ext>
            </a:extLst>
          </p:cNvPr>
          <p:cNvSpPr/>
          <p:nvPr/>
        </p:nvSpPr>
        <p:spPr>
          <a:xfrm>
            <a:off x="9315742" y="4399439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D9C512-BE2B-1629-D6E5-A462718D03C2}"/>
              </a:ext>
            </a:extLst>
          </p:cNvPr>
          <p:cNvSpPr/>
          <p:nvPr/>
        </p:nvSpPr>
        <p:spPr>
          <a:xfrm>
            <a:off x="9392838" y="4949872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12340C-C6BC-F6BC-AAFD-E89C5716214E}"/>
              </a:ext>
            </a:extLst>
          </p:cNvPr>
          <p:cNvSpPr/>
          <p:nvPr/>
        </p:nvSpPr>
        <p:spPr>
          <a:xfrm>
            <a:off x="5198496" y="6547454"/>
            <a:ext cx="144006" cy="144001"/>
          </a:xfrm>
          <a:prstGeom prst="ellipse">
            <a:avLst/>
          </a:prstGeom>
          <a:solidFill>
            <a:srgbClr val="1F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975599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7332-B57D-D115-16EC-5A8C3E64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FCB960E4-F3D2-B134-FF41-26DDA630833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0647578"/>
              </p:ext>
            </p:extLst>
          </p:nvPr>
        </p:nvGraphicFramePr>
        <p:xfrm>
          <a:off x="1476510" y="2020973"/>
          <a:ext cx="782236" cy="3708904"/>
        </p:xfrm>
        <a:graphic>
          <a:graphicData uri="http://schemas.openxmlformats.org/drawingml/2006/table">
            <a:tbl>
              <a:tblPr/>
              <a:tblGrid>
                <a:gridCol w="782236">
                  <a:extLst>
                    <a:ext uri="{9D8B030D-6E8A-4147-A177-3AD203B41FA5}">
                      <a16:colId xmlns:a16="http://schemas.microsoft.com/office/drawing/2014/main" val="2771736834"/>
                    </a:ext>
                  </a:extLst>
                </a:gridCol>
              </a:tblGrid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575369"/>
                  </a:ext>
                </a:extLst>
              </a:tr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E3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28919"/>
                  </a:ext>
                </a:extLst>
              </a:tr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04199"/>
                  </a:ext>
                </a:extLst>
              </a:tr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344911"/>
                  </a:ext>
                </a:extLst>
              </a:tr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74044"/>
                  </a:ext>
                </a:extLst>
              </a:tr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210153"/>
                  </a:ext>
                </a:extLst>
              </a:tr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229885"/>
                  </a:ext>
                </a:extLst>
              </a:tr>
              <a:tr h="463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474432"/>
                  </a:ext>
                </a:extLst>
              </a:tr>
            </a:tbl>
          </a:graphicData>
        </a:graphic>
      </p:graphicFrame>
      <p:sp>
        <p:nvSpPr>
          <p:cNvPr id="15" name="Google Shape;504;p12">
            <a:extLst>
              <a:ext uri="{FF2B5EF4-FFF2-40B4-BE49-F238E27FC236}">
                <a16:creationId xmlns:a16="http://schemas.microsoft.com/office/drawing/2014/main" id="{6CD6BA89-277B-CBB9-DF11-0CA7B8B11296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OVERALL PERCEPTIONS among PATIENTS –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graphicFrame>
        <p:nvGraphicFramePr>
          <p:cNvPr id="32" name="Attributes_Market">
            <a:extLst>
              <a:ext uri="{FF2B5EF4-FFF2-40B4-BE49-F238E27FC236}">
                <a16:creationId xmlns:a16="http://schemas.microsoft.com/office/drawing/2014/main" id="{D2139896-44A2-7F0F-E9A9-C2ACE99C1EA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18408812"/>
              </p:ext>
            </p:extLst>
          </p:nvPr>
        </p:nvGraphicFramePr>
        <p:xfrm>
          <a:off x="2333949" y="2013529"/>
          <a:ext cx="2308875" cy="374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0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/ Tolerability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9633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Guideline Recommendations (NCCN)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rgbClr val="BFF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6338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Effect on Quality of Life</a:t>
                      </a:r>
                    </a:p>
                  </a:txBody>
                  <a:tcPr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4548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Route of administration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0389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Mechanism of Action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Access and Coverage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Dosing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3" name="SFE_market">
            <a:extLst>
              <a:ext uri="{FF2B5EF4-FFF2-40B4-BE49-F238E27FC236}">
                <a16:creationId xmlns:a16="http://schemas.microsoft.com/office/drawing/2014/main" id="{D37E781B-119E-3CF3-4A97-2D63116AD710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81978112"/>
              </p:ext>
            </p:extLst>
          </p:nvPr>
        </p:nvGraphicFramePr>
        <p:xfrm>
          <a:off x="4844315" y="2004701"/>
          <a:ext cx="2854132" cy="36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547EF5F-155E-0495-4B18-FF91E70B3A62}"/>
              </a:ext>
            </a:extLst>
          </p:cNvPr>
          <p:cNvSpPr txBox="1"/>
          <p:nvPr/>
        </p:nvSpPr>
        <p:spPr>
          <a:xfrm>
            <a:off x="5170383" y="1710793"/>
            <a:ext cx="206525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Attributes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EDB35EF-078C-D935-2A51-4C7754B8E6CF}"/>
              </a:ext>
            </a:extLst>
          </p:cNvPr>
          <p:cNvGrpSpPr/>
          <p:nvPr/>
        </p:nvGrpSpPr>
        <p:grpSpPr>
          <a:xfrm>
            <a:off x="10275488" y="3248737"/>
            <a:ext cx="1145245" cy="249867"/>
            <a:chOff x="10816566" y="3256121"/>
            <a:chExt cx="987901" cy="249867"/>
          </a:xfrm>
        </p:grpSpPr>
        <p:sp>
          <p:nvSpPr>
            <p:cNvPr id="19" name="Legend_series_2">
              <a:extLst>
                <a:ext uri="{FF2B5EF4-FFF2-40B4-BE49-F238E27FC236}">
                  <a16:creationId xmlns:a16="http://schemas.microsoft.com/office/drawing/2014/main" id="{838C14E9-8354-A9D0-63C0-04BC16E9AA7C}"/>
                </a:ext>
              </a:extLst>
            </p:cNvPr>
            <p:cNvSpPr/>
            <p:nvPr/>
          </p:nvSpPr>
          <p:spPr>
            <a:xfrm>
              <a:off x="10816566" y="3322607"/>
              <a:ext cx="77635" cy="89953"/>
            </a:xfrm>
            <a:prstGeom prst="ellipse">
              <a:avLst/>
            </a:prstGeom>
            <a:solidFill>
              <a:srgbClr val="F758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20" name="Textbox_series_2">
              <a:extLst>
                <a:ext uri="{FF2B5EF4-FFF2-40B4-BE49-F238E27FC236}">
                  <a16:creationId xmlns:a16="http://schemas.microsoft.com/office/drawing/2014/main" id="{D0E6CB5F-B07C-AA33-BBBE-8C55A27A5689}"/>
                </a:ext>
              </a:extLst>
            </p:cNvPr>
            <p:cNvSpPr txBox="1"/>
            <p:nvPr/>
          </p:nvSpPr>
          <p:spPr>
            <a:xfrm flipH="1">
              <a:off x="10924883" y="3256121"/>
              <a:ext cx="879584" cy="249867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RYB+LAZ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(n = 63)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D119B1-7CCC-961C-A837-056287234190}"/>
              </a:ext>
            </a:extLst>
          </p:cNvPr>
          <p:cNvGrpSpPr/>
          <p:nvPr/>
        </p:nvGrpSpPr>
        <p:grpSpPr>
          <a:xfrm>
            <a:off x="10276137" y="3695047"/>
            <a:ext cx="1144068" cy="249867"/>
            <a:chOff x="10817134" y="3033218"/>
            <a:chExt cx="986886" cy="249867"/>
          </a:xfrm>
        </p:grpSpPr>
        <p:sp>
          <p:nvSpPr>
            <p:cNvPr id="12" name="Legend_series_2">
              <a:extLst>
                <a:ext uri="{FF2B5EF4-FFF2-40B4-BE49-F238E27FC236}">
                  <a16:creationId xmlns:a16="http://schemas.microsoft.com/office/drawing/2014/main" id="{BDFAB8C8-9CF1-FAB2-46C2-0B693E3B247C}"/>
                </a:ext>
              </a:extLst>
            </p:cNvPr>
            <p:cNvSpPr/>
            <p:nvPr/>
          </p:nvSpPr>
          <p:spPr>
            <a:xfrm>
              <a:off x="10817134" y="3109229"/>
              <a:ext cx="77635" cy="89953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13" name="Textbox_series_2">
              <a:extLst>
                <a:ext uri="{FF2B5EF4-FFF2-40B4-BE49-F238E27FC236}">
                  <a16:creationId xmlns:a16="http://schemas.microsoft.com/office/drawing/2014/main" id="{84FE2635-EB6A-23C2-7E24-6255800A4D65}"/>
                </a:ext>
              </a:extLst>
            </p:cNvPr>
            <p:cNvSpPr txBox="1"/>
            <p:nvPr/>
          </p:nvSpPr>
          <p:spPr>
            <a:xfrm flipH="1">
              <a:off x="10924436" y="3033218"/>
              <a:ext cx="879584" cy="249867"/>
            </a:xfrm>
            <a:prstGeom prst="rect">
              <a:avLst/>
            </a:prstGeom>
            <a:noFill/>
          </p:spPr>
          <p:txBody>
            <a:bodyPr vert="horz"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TAG+Chemo</a:t>
              </a:r>
              <a:endParaRPr kumimoji="0" lang="en-IN" sz="1000" b="0" i="0" u="none" strike="noStrike" kern="120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(n = 63)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9E4BFEA-B442-8DB8-ED97-A2AB57255525}"/>
              </a:ext>
            </a:extLst>
          </p:cNvPr>
          <p:cNvSpPr txBox="1"/>
          <p:nvPr/>
        </p:nvSpPr>
        <p:spPr>
          <a:xfrm>
            <a:off x="5035126" y="5729878"/>
            <a:ext cx="24725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HCPs Rated 6, 7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C5973F7F-B2BD-945F-DB48-09759750101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37" name="Google Shape;594;p57">
            <a:extLst>
              <a:ext uri="{FF2B5EF4-FFF2-40B4-BE49-F238E27FC236}">
                <a16:creationId xmlns:a16="http://schemas.microsoft.com/office/drawing/2014/main" id="{9024B5F6-E05F-D32B-2139-5E16AD7D7DF7}"/>
              </a:ext>
            </a:extLst>
          </p:cNvPr>
          <p:cNvSpPr txBox="1"/>
          <p:nvPr/>
        </p:nvSpPr>
        <p:spPr>
          <a:xfrm>
            <a:off x="849330" y="1584678"/>
            <a:ext cx="2065257" cy="473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algn="ctr" defTabSz="913486">
              <a:defRPr sz="999" b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  <a:sym typeface="Calibri"/>
              </a:rPr>
              <a:t>Stated Attribute Importance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  <a:sym typeface="Calibri"/>
              </a:rPr>
              <a:t>(n = 63)</a:t>
            </a:r>
          </a:p>
        </p:txBody>
      </p:sp>
      <p:sp>
        <p:nvSpPr>
          <p:cNvPr id="2" name="Google Shape;229;p3">
            <a:extLst>
              <a:ext uri="{FF2B5EF4-FFF2-40B4-BE49-F238E27FC236}">
                <a16:creationId xmlns:a16="http://schemas.microsoft.com/office/drawing/2014/main" id="{42FE686D-8122-A33D-D8B4-F887E106755F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lvl="0" algn="r" defTabSz="911204">
              <a:buClr>
                <a:srgbClr val="000000"/>
              </a:buClr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lang="en-US" sz="1000"/>
              <a:t>Promotional Effectiveness x Perception Metrics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442E18-DA78-9F6B-FDF3-D07C2DBD985C}"/>
              </a:ext>
            </a:extLst>
          </p:cNvPr>
          <p:cNvSpPr txBox="1"/>
          <p:nvPr/>
        </p:nvSpPr>
        <p:spPr>
          <a:xfrm>
            <a:off x="495061" y="5729878"/>
            <a:ext cx="27323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Points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Arrow: Down 49">
            <a:extLst>
              <a:ext uri="{FF2B5EF4-FFF2-40B4-BE49-F238E27FC236}">
                <a16:creationId xmlns:a16="http://schemas.microsoft.com/office/drawing/2014/main" id="{B6C9FFB5-8CE5-FD55-67EF-63D02FE6D5BC}"/>
              </a:ext>
            </a:extLst>
          </p:cNvPr>
          <p:cNvSpPr/>
          <p:nvPr/>
        </p:nvSpPr>
        <p:spPr>
          <a:xfrm>
            <a:off x="900471" y="2013529"/>
            <a:ext cx="415052" cy="3744001"/>
          </a:xfrm>
          <a:prstGeom prst="downArrow">
            <a:avLst/>
          </a:prstGeom>
          <a:gradFill flip="none" rotWithShape="1">
            <a:gsLst>
              <a:gs pos="0">
                <a:srgbClr val="00B050"/>
              </a:gs>
              <a:gs pos="50000">
                <a:schemeClr val="accent4">
                  <a:lumMod val="20000"/>
                  <a:lumOff val="80000"/>
                </a:schemeClr>
              </a:gs>
              <a:gs pos="100000">
                <a:srgbClr val="00206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766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Decreasing order of Stated Importance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DA8EAD9-EB66-8FA9-80AA-0795DB122FC0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76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EB1700"/>
                </a:solidFill>
                <a:latin typeface="Johnson Display"/>
              </a:rPr>
              <a:t>J&amp;J high impact interactions in Q4’25 lead to improved RYB+LAZ perceptions across most attributes vs start of 2025, and now closely trail TAG+Chemo</a:t>
            </a:r>
            <a:endParaRPr lang="en-US" sz="1800" i="1" dirty="0">
              <a:solidFill>
                <a:srgbClr val="FF0000"/>
              </a:solidFill>
              <a:highlight>
                <a:srgbClr val="FFFF00"/>
              </a:highlight>
              <a:latin typeface="Johnson Display"/>
            </a:endParaRPr>
          </a:p>
        </p:txBody>
      </p:sp>
      <p:graphicFrame>
        <p:nvGraphicFramePr>
          <p:cNvPr id="58" name="Attribute Ratings">
            <a:extLst>
              <a:ext uri="{FF2B5EF4-FFF2-40B4-BE49-F238E27FC236}">
                <a16:creationId xmlns:a16="http://schemas.microsoft.com/office/drawing/2014/main" id="{DC146B68-F4A1-E1CD-38E0-21983B720E88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42158333"/>
              </p:ext>
            </p:extLst>
          </p:nvPr>
        </p:nvGraphicFramePr>
        <p:xfrm>
          <a:off x="8035345" y="1945364"/>
          <a:ext cx="887883" cy="3812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+13%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+12%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A275B0BA-46FA-0450-9569-59BCE30ECA0E}"/>
              </a:ext>
            </a:extLst>
          </p:cNvPr>
          <p:cNvSpPr txBox="1"/>
          <p:nvPr/>
        </p:nvSpPr>
        <p:spPr>
          <a:xfrm>
            <a:off x="8065826" y="1646885"/>
            <a:ext cx="82692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0645B5-0BE0-390B-D16B-C49004091792}"/>
              </a:ext>
            </a:extLst>
          </p:cNvPr>
          <p:cNvSpPr txBox="1"/>
          <p:nvPr/>
        </p:nvSpPr>
        <p:spPr>
          <a:xfrm>
            <a:off x="7890597" y="1441607"/>
            <a:ext cx="206525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vs Q3'25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F40340-822A-B4C2-2507-1F7CA73F031C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      Denotes statistically significant difference with 95% confidence interval found between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RYB+LAZ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and TAG+Chemo | No statistically significant difference with 95% confidence interval found between latest two quarters </a:t>
            </a:r>
            <a:r>
              <a:rPr kumimoji="1" lang="en-US" sz="900" i="1" kern="0">
                <a:solidFill>
                  <a:srgbClr val="7F7F7F"/>
                </a:solidFill>
              </a:rPr>
              <a:t>| </a:t>
            </a:r>
            <a:r>
              <a:rPr lang="en-US" sz="900" b="1" i="1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| </a:t>
            </a:r>
            <a:r>
              <a:rPr kumimoji="1" lang="en-US" sz="900" i="1" kern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Analysis consolidated for patients with / without CNS metastasis </a:t>
            </a:r>
            <a:endParaRPr kumimoji="1" lang="en-US" sz="900" b="0" i="1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AD9D93B-E483-A065-BA1E-640AA6EE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5266617-4A87-2B5E-E087-517240123BD9}"/>
              </a:ext>
            </a:extLst>
          </p:cNvPr>
          <p:cNvSpPr/>
          <p:nvPr/>
        </p:nvSpPr>
        <p:spPr>
          <a:xfrm>
            <a:off x="4133168" y="6403128"/>
            <a:ext cx="144001" cy="143999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graphicFrame>
        <p:nvGraphicFramePr>
          <p:cNvPr id="5" name="Attribute Ratings">
            <a:extLst>
              <a:ext uri="{FF2B5EF4-FFF2-40B4-BE49-F238E27FC236}">
                <a16:creationId xmlns:a16="http://schemas.microsoft.com/office/drawing/2014/main" id="{A13E79E1-44C7-ED26-093D-BC4336A668BA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99489981"/>
              </p:ext>
            </p:extLst>
          </p:nvPr>
        </p:nvGraphicFramePr>
        <p:xfrm>
          <a:off x="8921389" y="1938269"/>
          <a:ext cx="887883" cy="3812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+12%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+13%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+14%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+12%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+15%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31A0C3-7DD4-1ADE-DAB8-95F9D8A09773}"/>
              </a:ext>
            </a:extLst>
          </p:cNvPr>
          <p:cNvSpPr txBox="1"/>
          <p:nvPr/>
        </p:nvSpPr>
        <p:spPr>
          <a:xfrm>
            <a:off x="8845539" y="1618524"/>
            <a:ext cx="99713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TAG+Chemo</a:t>
            </a: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45DFECC-A56D-244C-B0C6-7E14D9F00D4E}"/>
              </a:ext>
            </a:extLst>
          </p:cNvPr>
          <p:cNvGrpSpPr/>
          <p:nvPr/>
        </p:nvGrpSpPr>
        <p:grpSpPr>
          <a:xfrm>
            <a:off x="9885493" y="4600070"/>
            <a:ext cx="2249089" cy="1327705"/>
            <a:chOff x="9909687" y="3922228"/>
            <a:chExt cx="2434522" cy="1327705"/>
          </a:xfrm>
        </p:grpSpPr>
        <p:sp>
          <p:nvSpPr>
            <p:cNvPr id="28" name="Google Shape;244;p4">
              <a:extLst>
                <a:ext uri="{FF2B5EF4-FFF2-40B4-BE49-F238E27FC236}">
                  <a16:creationId xmlns:a16="http://schemas.microsoft.com/office/drawing/2014/main" id="{6E9C6830-86F1-7F58-B1AA-79AC8E005408}"/>
                </a:ext>
              </a:extLst>
            </p:cNvPr>
            <p:cNvSpPr/>
            <p:nvPr/>
          </p:nvSpPr>
          <p:spPr>
            <a:xfrm>
              <a:off x="9909687" y="4653762"/>
              <a:ext cx="2434522" cy="596171"/>
            </a:xfrm>
            <a:prstGeom prst="rect">
              <a:avLst/>
            </a:prstGeom>
            <a:solidFill>
              <a:srgbClr val="D2F1FF"/>
            </a:solidFill>
            <a:ln w="12700" cap="flat" cmpd="sng">
              <a:solidFill>
                <a:schemeClr val="bg1">
                  <a:lumMod val="75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1" i="1" u="none" strike="noStrike" kern="1200" cap="none" spc="0" normalizeH="0" baseline="0" noProof="0">
                  <a:ln>
                    <a:noFill/>
                  </a:ln>
                  <a:solidFill>
                    <a:srgbClr val="00468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Hidden drivers: </a:t>
              </a: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468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Attributes having </a:t>
              </a: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00468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Johnson Display"/>
                  <a:ea typeface="+mn-ea"/>
                  <a:cs typeface="Arial" panose="020B0604020202020204" pitchFamily="34" charset="0"/>
                  <a:sym typeface="Trebuchet MS"/>
                </a:rPr>
                <a:t>High actual impact, low perceived importance based on therapy area level drivers</a:t>
              </a:r>
            </a:p>
          </p:txBody>
        </p:sp>
        <p:sp>
          <p:nvSpPr>
            <p:cNvPr id="29" name="Google Shape;244;p4">
              <a:extLst>
                <a:ext uri="{FF2B5EF4-FFF2-40B4-BE49-F238E27FC236}">
                  <a16:creationId xmlns:a16="http://schemas.microsoft.com/office/drawing/2014/main" id="{667C18AF-8FFF-8D6C-7963-B1D07D3AD017}"/>
                </a:ext>
              </a:extLst>
            </p:cNvPr>
            <p:cNvSpPr/>
            <p:nvPr/>
          </p:nvSpPr>
          <p:spPr>
            <a:xfrm>
              <a:off x="9909687" y="3922228"/>
              <a:ext cx="2434522" cy="596171"/>
            </a:xfrm>
            <a:prstGeom prst="rect">
              <a:avLst/>
            </a:prstGeom>
            <a:solidFill>
              <a:srgbClr val="BFF9D9"/>
            </a:solidFill>
            <a:ln w="12700" cap="flat" cmpd="sng">
              <a:solidFill>
                <a:schemeClr val="bg1">
                  <a:lumMod val="75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1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Critical drivers: </a:t>
              </a: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Attributes having</a:t>
              </a:r>
              <a:r>
                <a:rPr kumimoji="0" lang="en-IN" sz="900" b="1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/>
                  <a:sym typeface="Arial"/>
                </a:rPr>
                <a:t> </a:t>
              </a: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00863D"/>
                  </a:solidFill>
                  <a:effectLst/>
                  <a:uLnTx/>
                  <a:uFillTx/>
                  <a:latin typeface="Johnson Display"/>
                  <a:ea typeface="+mn-ea"/>
                  <a:cs typeface="Arial" panose="020B0604020202020204" pitchFamily="34" charset="0"/>
                  <a:sym typeface="Trebuchet MS"/>
                </a:rPr>
                <a:t>high actual impact, high perceived importance based on therapy area level drivers</a:t>
              </a:r>
            </a:p>
          </p:txBody>
        </p:sp>
      </p:grpSp>
      <p:sp>
        <p:nvSpPr>
          <p:cNvPr id="30" name="Textbox_series_2">
            <a:extLst>
              <a:ext uri="{FF2B5EF4-FFF2-40B4-BE49-F238E27FC236}">
                <a16:creationId xmlns:a16="http://schemas.microsoft.com/office/drawing/2014/main" id="{06BFBE39-B269-4FA1-3C5B-1CC993C92A4E}"/>
              </a:ext>
            </a:extLst>
          </p:cNvPr>
          <p:cNvSpPr txBox="1"/>
          <p:nvPr/>
        </p:nvSpPr>
        <p:spPr>
          <a:xfrm flipH="1">
            <a:off x="9922511" y="2090146"/>
            <a:ext cx="2245195" cy="868323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dash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2116">
              <a:defRPr/>
            </a:pPr>
            <a:r>
              <a:rPr lang="en-US" sz="900" b="1">
                <a:solidFill>
                  <a:srgbClr val="F75824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J&amp;J </a:t>
            </a:r>
            <a:r>
              <a:rPr lang="en-US" sz="900" b="1">
                <a:latin typeface="Johnson Text" panose="020B0604020202020204" charset="0"/>
                <a:ea typeface="Verdana"/>
                <a:cs typeface="Johnson Text" panose="020B0604020202020204" charset="0"/>
              </a:rPr>
              <a:t>high impact interactions </a:t>
            </a:r>
            <a:r>
              <a:rPr lang="en-US" sz="900">
                <a:latin typeface="Johnson Text" panose="020B0604020202020204" charset="0"/>
                <a:ea typeface="Verdana"/>
                <a:cs typeface="Johnson Text" panose="020B0604020202020204" charset="0"/>
              </a:rPr>
              <a:t>lead to significantly higher </a:t>
            </a:r>
            <a:r>
              <a:rPr lang="en-US" sz="900" b="1">
                <a:solidFill>
                  <a:srgbClr val="F75824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RYB+LAZ </a:t>
            </a:r>
            <a:r>
              <a:rPr lang="en-US" sz="900">
                <a:latin typeface="Johnson Text" panose="020B0604020202020204" charset="0"/>
                <a:ea typeface="Verdana"/>
                <a:cs typeface="Johnson Text" panose="020B0604020202020204" charset="0"/>
              </a:rPr>
              <a:t>perceptions across most attributes (esp. </a:t>
            </a:r>
            <a:r>
              <a:rPr lang="en-US" sz="900" b="1">
                <a:latin typeface="Johnson Text" panose="020B0604020202020204" charset="0"/>
                <a:ea typeface="Verdana"/>
                <a:cs typeface="Johnson Text" panose="020B0604020202020204" charset="0"/>
              </a:rPr>
              <a:t>efficacy </a:t>
            </a:r>
            <a:r>
              <a:rPr lang="en-US" sz="900">
                <a:latin typeface="Johnson Text" panose="020B0604020202020204" charset="0"/>
                <a:ea typeface="Verdana"/>
                <a:cs typeface="Johnson Text" panose="020B0604020202020204" charset="0"/>
              </a:rPr>
              <a:t>and </a:t>
            </a:r>
            <a:r>
              <a:rPr lang="en-US" sz="900" b="1">
                <a:latin typeface="Johnson Text" panose="020B0604020202020204" charset="0"/>
                <a:ea typeface="Verdana"/>
                <a:cs typeface="Johnson Text" panose="020B0604020202020204" charset="0"/>
              </a:rPr>
              <a:t>NCCN Guidelines</a:t>
            </a:r>
            <a:r>
              <a:rPr lang="en-US" sz="900">
                <a:latin typeface="Johnson Text" panose="020B0604020202020204" charset="0"/>
                <a:ea typeface="Verdana"/>
                <a:cs typeface="Johnson Text" panose="020B0604020202020204" charset="0"/>
              </a:rPr>
              <a:t>) compared to low impact interactions</a:t>
            </a:r>
            <a:endParaRPr lang="en-US" sz="900" b="1"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  <p:sp>
        <p:nvSpPr>
          <p:cNvPr id="10" name="Legend_series_2">
            <a:extLst>
              <a:ext uri="{FF2B5EF4-FFF2-40B4-BE49-F238E27FC236}">
                <a16:creationId xmlns:a16="http://schemas.microsoft.com/office/drawing/2014/main" id="{947DE291-C854-F71C-0C16-AF59322CD6D1}"/>
              </a:ext>
            </a:extLst>
          </p:cNvPr>
          <p:cNvSpPr/>
          <p:nvPr/>
        </p:nvSpPr>
        <p:spPr>
          <a:xfrm>
            <a:off x="10297263" y="4186085"/>
            <a:ext cx="90000" cy="89953"/>
          </a:xfrm>
          <a:prstGeom prst="diamond">
            <a:avLst/>
          </a:prstGeom>
          <a:noFill/>
          <a:ln cap="rnd">
            <a:solidFill>
              <a:srgbClr val="F7582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4" name="Textbox_series_2">
            <a:extLst>
              <a:ext uri="{FF2B5EF4-FFF2-40B4-BE49-F238E27FC236}">
                <a16:creationId xmlns:a16="http://schemas.microsoft.com/office/drawing/2014/main" id="{85C75C98-40FB-EA6A-BABF-324B207F387A}"/>
              </a:ext>
            </a:extLst>
          </p:cNvPr>
          <p:cNvSpPr txBox="1"/>
          <p:nvPr/>
        </p:nvSpPr>
        <p:spPr>
          <a:xfrm flipH="1">
            <a:off x="10422830" y="4114801"/>
            <a:ext cx="1192225" cy="359228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RYB+LAZ Q1’25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(n = 63)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DB5C5D-EACD-E3CB-AFC1-4E91ADC3A5D1}"/>
              </a:ext>
            </a:extLst>
          </p:cNvPr>
          <p:cNvCxnSpPr>
            <a:cxnSpLocks/>
          </p:cNvCxnSpPr>
          <p:nvPr/>
        </p:nvCxnSpPr>
        <p:spPr>
          <a:xfrm>
            <a:off x="6418579" y="2230647"/>
            <a:ext cx="48175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F59F3A4-FFF4-8905-4B30-C9E546610B7B}"/>
              </a:ext>
            </a:extLst>
          </p:cNvPr>
          <p:cNvCxnSpPr>
            <a:cxnSpLocks/>
          </p:cNvCxnSpPr>
          <p:nvPr/>
        </p:nvCxnSpPr>
        <p:spPr>
          <a:xfrm>
            <a:off x="5368713" y="2696316"/>
            <a:ext cx="24045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C9E4181-C107-84C0-658E-030E2894D7E1}"/>
              </a:ext>
            </a:extLst>
          </p:cNvPr>
          <p:cNvCxnSpPr>
            <a:cxnSpLocks/>
          </p:cNvCxnSpPr>
          <p:nvPr/>
        </p:nvCxnSpPr>
        <p:spPr>
          <a:xfrm>
            <a:off x="6139181" y="3170448"/>
            <a:ext cx="799253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88F6C9E-9EE8-E22F-9F79-564DB5CC3EE2}"/>
              </a:ext>
            </a:extLst>
          </p:cNvPr>
          <p:cNvCxnSpPr>
            <a:cxnSpLocks/>
          </p:cNvCxnSpPr>
          <p:nvPr/>
        </p:nvCxnSpPr>
        <p:spPr>
          <a:xfrm>
            <a:off x="6240778" y="4583138"/>
            <a:ext cx="384389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8CD2A47-1155-81BB-D3A7-CE131888CF2E}"/>
              </a:ext>
            </a:extLst>
          </p:cNvPr>
          <p:cNvCxnSpPr>
            <a:cxnSpLocks/>
          </p:cNvCxnSpPr>
          <p:nvPr/>
        </p:nvCxnSpPr>
        <p:spPr>
          <a:xfrm>
            <a:off x="5609167" y="5053038"/>
            <a:ext cx="19050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1260C9C-CE70-C919-77AC-D6BF3C8600A0}"/>
              </a:ext>
            </a:extLst>
          </p:cNvPr>
          <p:cNvCxnSpPr>
            <a:cxnSpLocks/>
          </p:cNvCxnSpPr>
          <p:nvPr/>
        </p:nvCxnSpPr>
        <p:spPr>
          <a:xfrm>
            <a:off x="5429671" y="5522938"/>
            <a:ext cx="36999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567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976C-1B52-3ACC-676D-3E61C46F6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EF13-1BA1-30B4-0C4C-2711471A0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4" y="261082"/>
            <a:ext cx="11088000" cy="2757678"/>
          </a:xfrm>
        </p:spPr>
        <p:txBody>
          <a:bodyPr/>
          <a:lstStyle/>
          <a:p>
            <a:r>
              <a:rPr lang="en-US" sz="9600" dirty="0"/>
              <a:t>Key Findings –   </a:t>
            </a:r>
            <a:br>
              <a:rPr lang="en-US" sz="9600" dirty="0"/>
            </a:br>
            <a:r>
              <a:rPr lang="en-US" sz="6400" dirty="0"/>
              <a:t>Non-Sales Rep Promotions (Overall)</a:t>
            </a:r>
          </a:p>
        </p:txBody>
      </p:sp>
    </p:spTree>
    <p:extLst>
      <p:ext uri="{BB962C8B-B14F-4D97-AF65-F5344CB8AC3E}">
        <p14:creationId xmlns:p14="http://schemas.microsoft.com/office/powerpoint/2010/main" val="2454403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44A69-BB08-6FE3-9759-FA9E68A1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Freq_QoQ">
            <a:extLst>
              <a:ext uri="{FF2B5EF4-FFF2-40B4-BE49-F238E27FC236}">
                <a16:creationId xmlns:a16="http://schemas.microsoft.com/office/drawing/2014/main" id="{9EC51575-CFEB-BECF-5CFB-1B8AE5ACB97C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9004402"/>
              </p:ext>
            </p:extLst>
          </p:nvPr>
        </p:nvGraphicFramePr>
        <p:xfrm>
          <a:off x="4460052" y="2726305"/>
          <a:ext cx="4237200" cy="1897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5" name="Google Shape;504;p12">
            <a:extLst>
              <a:ext uri="{FF2B5EF4-FFF2-40B4-BE49-F238E27FC236}">
                <a16:creationId xmlns:a16="http://schemas.microsoft.com/office/drawing/2014/main" id="{64FFC779-FC57-2266-BA83-D2B4C01B69B2}"/>
              </a:ext>
            </a:extLst>
          </p:cNvPr>
          <p:cNvSpPr txBox="1"/>
          <p:nvPr/>
        </p:nvSpPr>
        <p:spPr>
          <a:xfrm>
            <a:off x="434597" y="1179485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NON-SALES REP PROMOTIONS for ALL HCPs (i.e. ads, emails, medical resources or events)</a:t>
            </a:r>
          </a:p>
        </p:txBody>
      </p:sp>
      <p:pic>
        <p:nvPicPr>
          <p:cNvPr id="106" name="Picture 105" descr="Icon&#10;&#10;Description automatically generated">
            <a:extLst>
              <a:ext uri="{FF2B5EF4-FFF2-40B4-BE49-F238E27FC236}">
                <a16:creationId xmlns:a16="http://schemas.microsoft.com/office/drawing/2014/main" id="{3D359DE4-2EAF-AD4A-F129-7CE32731E9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D14B9F5D-5FB2-5E51-7270-1104C307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F98735-2928-91A2-A3A3-272F3F8214DA}"/>
              </a:ext>
            </a:extLst>
          </p:cNvPr>
          <p:cNvSpPr txBox="1"/>
          <p:nvPr/>
        </p:nvSpPr>
        <p:spPr>
          <a:xfrm>
            <a:off x="2401964" y="6530196"/>
            <a:ext cx="9360000" cy="32780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defTabSz="1218988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No statistically significant difference with a 95% confidence interval between the latest two quarters | Local outliers removed | Slide includes data from ZoomRx Activity Screener |      Denotes statistically significant difference with a 95% confidence interval between J&amp;J and AZ </a:t>
            </a:r>
            <a:r>
              <a:rPr kumimoji="1" lang="en-IN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| </a:t>
            </a:r>
            <a:r>
              <a:rPr kumimoji="1" lang="en-IN" sz="900" i="1" kern="0" dirty="0">
                <a:solidFill>
                  <a:srgbClr val="0070C0"/>
                </a:solidFill>
                <a:latin typeface="Johnson Text" panose="020B0604020202020204" charset="0"/>
                <a:cs typeface="Johnson Text" panose="020B060402020202020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ZoomRx Digital Tracker Methodology Slide</a:t>
            </a:r>
            <a:endParaRPr kumimoji="1" lang="en-US" sz="900" i="1" kern="0" dirty="0">
              <a:solidFill>
                <a:srgbClr val="0070C0"/>
              </a:solidFill>
            </a:endParaRP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BA82816A-5AE1-4D5A-D911-943285022E8E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2A79EB50-D309-F0A7-58BB-A388139B4412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9A26559-E23F-8FE5-3F6E-1E35EFCFC3F4}"/>
              </a:ext>
            </a:extLst>
          </p:cNvPr>
          <p:cNvGrpSpPr/>
          <p:nvPr/>
        </p:nvGrpSpPr>
        <p:grpSpPr>
          <a:xfrm>
            <a:off x="5275172" y="5290534"/>
            <a:ext cx="3286303" cy="246221"/>
            <a:chOff x="4023663" y="3496149"/>
            <a:chExt cx="3286303" cy="246221"/>
          </a:xfrm>
        </p:grpSpPr>
        <p:sp>
          <p:nvSpPr>
            <p:cNvPr id="27" name="Legend_series_2">
              <a:extLst>
                <a:ext uri="{FF2B5EF4-FFF2-40B4-BE49-F238E27FC236}">
                  <a16:creationId xmlns:a16="http://schemas.microsoft.com/office/drawing/2014/main" id="{ED09CD7E-7835-3B02-596F-F3DD370ED294}"/>
                </a:ext>
              </a:extLst>
            </p:cNvPr>
            <p:cNvSpPr/>
            <p:nvPr/>
          </p:nvSpPr>
          <p:spPr>
            <a:xfrm>
              <a:off x="4359418" y="3565427"/>
              <a:ext cx="109500" cy="107664"/>
            </a:xfrm>
            <a:prstGeom prst="rect">
              <a:avLst/>
            </a:prstGeom>
            <a:solidFill>
              <a:srgbClr val="F758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_series_4">
              <a:extLst>
                <a:ext uri="{FF2B5EF4-FFF2-40B4-BE49-F238E27FC236}">
                  <a16:creationId xmlns:a16="http://schemas.microsoft.com/office/drawing/2014/main" id="{BF9D8606-33EA-8B46-5661-1199C172C3A2}"/>
                </a:ext>
              </a:extLst>
            </p:cNvPr>
            <p:cNvSpPr txBox="1"/>
            <p:nvPr/>
          </p:nvSpPr>
          <p:spPr>
            <a:xfrm>
              <a:off x="4462081" y="3496149"/>
              <a:ext cx="1277865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J&amp;J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67758BD-AFD3-634E-7518-2A4A6596647E}"/>
                </a:ext>
              </a:extLst>
            </p:cNvPr>
            <p:cNvGrpSpPr/>
            <p:nvPr/>
          </p:nvGrpSpPr>
          <p:grpSpPr>
            <a:xfrm>
              <a:off x="4023663" y="3582740"/>
              <a:ext cx="264183" cy="73038"/>
              <a:chOff x="4555473" y="6212382"/>
              <a:chExt cx="264595" cy="73152"/>
            </a:xfrm>
          </p:grpSpPr>
          <p:sp>
            <p:nvSpPr>
              <p:cNvPr id="83" name="Flowchart: Connector 82">
                <a:extLst>
                  <a:ext uri="{FF2B5EF4-FFF2-40B4-BE49-F238E27FC236}">
                    <a16:creationId xmlns:a16="http://schemas.microsoft.com/office/drawing/2014/main" id="{D3FF43E8-CE73-9FB8-4D92-A6E888DFAFCC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F75824"/>
              </a:solidFill>
              <a:ln>
                <a:solidFill>
                  <a:srgbClr val="F7582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88C3647A-FDFA-EBE0-57FA-F1F43FF36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F7582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_series_3">
              <a:extLst>
                <a:ext uri="{FF2B5EF4-FFF2-40B4-BE49-F238E27FC236}">
                  <a16:creationId xmlns:a16="http://schemas.microsoft.com/office/drawing/2014/main" id="{9C68D17B-1A8F-6C7C-F2C2-7C11D6584B49}"/>
                </a:ext>
              </a:extLst>
            </p:cNvPr>
            <p:cNvSpPr txBox="1"/>
            <p:nvPr/>
          </p:nvSpPr>
          <p:spPr>
            <a:xfrm>
              <a:off x="6026007" y="3496149"/>
              <a:ext cx="1283959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AZ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F2D0441-AFE5-F4E6-F1FC-6289690DD190}"/>
                </a:ext>
              </a:extLst>
            </p:cNvPr>
            <p:cNvGrpSpPr/>
            <p:nvPr/>
          </p:nvGrpSpPr>
          <p:grpSpPr>
            <a:xfrm>
              <a:off x="5574885" y="3582740"/>
              <a:ext cx="264183" cy="73038"/>
              <a:chOff x="4555473" y="6212382"/>
              <a:chExt cx="264595" cy="73152"/>
            </a:xfrm>
          </p:grpSpPr>
          <p:sp>
            <p:nvSpPr>
              <p:cNvPr id="60" name="Flowchart: Connector 59">
                <a:extLst>
                  <a:ext uri="{FF2B5EF4-FFF2-40B4-BE49-F238E27FC236}">
                    <a16:creationId xmlns:a16="http://schemas.microsoft.com/office/drawing/2014/main" id="{1121D406-60C2-EAC8-C502-6B03CD15E20B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8334BF5-8281-08F7-F4ED-3B51CDE8E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7030A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Legend_series_2">
              <a:extLst>
                <a:ext uri="{FF2B5EF4-FFF2-40B4-BE49-F238E27FC236}">
                  <a16:creationId xmlns:a16="http://schemas.microsoft.com/office/drawing/2014/main" id="{4C91AD96-4CA1-6345-B639-16E0E7F723DD}"/>
                </a:ext>
              </a:extLst>
            </p:cNvPr>
            <p:cNvSpPr/>
            <p:nvPr/>
          </p:nvSpPr>
          <p:spPr>
            <a:xfrm>
              <a:off x="5923751" y="3565427"/>
              <a:ext cx="109500" cy="107664"/>
            </a:xfrm>
            <a:prstGeom prst="rect">
              <a:avLst/>
            </a:prstGeom>
            <a:solidFill>
              <a:srgbClr val="7638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</p:grpSp>
      <p:graphicFrame>
        <p:nvGraphicFramePr>
          <p:cNvPr id="85" name="Reach_QoQ">
            <a:extLst>
              <a:ext uri="{FF2B5EF4-FFF2-40B4-BE49-F238E27FC236}">
                <a16:creationId xmlns:a16="http://schemas.microsoft.com/office/drawing/2014/main" id="{0CC664DA-9CA3-CB29-E3EF-520C0EEB331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77817552"/>
              </p:ext>
            </p:extLst>
          </p:nvPr>
        </p:nvGraphicFramePr>
        <p:xfrm>
          <a:off x="578647" y="2811984"/>
          <a:ext cx="4237200" cy="19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6" name="Google Shape;504;p12">
            <a:extLst>
              <a:ext uri="{FF2B5EF4-FFF2-40B4-BE49-F238E27FC236}">
                <a16:creationId xmlns:a16="http://schemas.microsoft.com/office/drawing/2014/main" id="{DB0D913E-94A9-B83D-9436-D5EE1F87773E}"/>
              </a:ext>
            </a:extLst>
          </p:cNvPr>
          <p:cNvSpPr txBox="1"/>
          <p:nvPr/>
        </p:nvSpPr>
        <p:spPr>
          <a:xfrm>
            <a:off x="1285128" y="2379953"/>
            <a:ext cx="2478471" cy="26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ct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Reach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28EA209-38E3-91A0-A3C0-AB6EFDF134B5}"/>
              </a:ext>
            </a:extLst>
          </p:cNvPr>
          <p:cNvSpPr txBox="1"/>
          <p:nvPr/>
        </p:nvSpPr>
        <p:spPr>
          <a:xfrm rot="16200000">
            <a:off x="96204" y="3535971"/>
            <a:ext cx="1427374" cy="24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HCPs</a:t>
            </a:r>
          </a:p>
        </p:txBody>
      </p:sp>
      <p:graphicFrame>
        <p:nvGraphicFramePr>
          <p:cNvPr id="93" name="SoV_QoQ">
            <a:extLst>
              <a:ext uri="{FF2B5EF4-FFF2-40B4-BE49-F238E27FC236}">
                <a16:creationId xmlns:a16="http://schemas.microsoft.com/office/drawing/2014/main" id="{6F233C2E-5878-DA7B-9630-A7B4B45F523B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61662063"/>
              </p:ext>
            </p:extLst>
          </p:nvPr>
        </p:nvGraphicFramePr>
        <p:xfrm>
          <a:off x="8648583" y="2917167"/>
          <a:ext cx="3094975" cy="148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5" name="Google Shape;504;p12">
            <a:extLst>
              <a:ext uri="{FF2B5EF4-FFF2-40B4-BE49-F238E27FC236}">
                <a16:creationId xmlns:a16="http://schemas.microsoft.com/office/drawing/2014/main" id="{BBD2BA8E-2E25-F9ED-5FD0-3B1D11EC04E2}"/>
              </a:ext>
            </a:extLst>
          </p:cNvPr>
          <p:cNvSpPr txBox="1"/>
          <p:nvPr/>
        </p:nvSpPr>
        <p:spPr>
          <a:xfrm>
            <a:off x="8956835" y="2379953"/>
            <a:ext cx="2478471" cy="26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ct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Share of Voice (SOV)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24BF699-2B6B-4718-5A23-08D2B6F79D14}"/>
              </a:ext>
            </a:extLst>
          </p:cNvPr>
          <p:cNvSpPr txBox="1"/>
          <p:nvPr/>
        </p:nvSpPr>
        <p:spPr>
          <a:xfrm rot="16200000">
            <a:off x="7774817" y="3535970"/>
            <a:ext cx="1427374" cy="24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Promotions</a:t>
            </a:r>
          </a:p>
        </p:txBody>
      </p:sp>
      <p:sp>
        <p:nvSpPr>
          <p:cNvPr id="97" name="Google Shape;504;p12">
            <a:extLst>
              <a:ext uri="{FF2B5EF4-FFF2-40B4-BE49-F238E27FC236}">
                <a16:creationId xmlns:a16="http://schemas.microsoft.com/office/drawing/2014/main" id="{57936DE8-7D76-1DCC-987B-1DEF2131B6CD}"/>
              </a:ext>
            </a:extLst>
          </p:cNvPr>
          <p:cNvSpPr txBox="1"/>
          <p:nvPr/>
        </p:nvSpPr>
        <p:spPr>
          <a:xfrm>
            <a:off x="5284191" y="2390498"/>
            <a:ext cx="2478471" cy="26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ct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Frequency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C56C685-839F-F25D-0B83-D1E12926A329}"/>
              </a:ext>
            </a:extLst>
          </p:cNvPr>
          <p:cNvSpPr txBox="1"/>
          <p:nvPr/>
        </p:nvSpPr>
        <p:spPr>
          <a:xfrm rot="16200000">
            <a:off x="3943406" y="3535970"/>
            <a:ext cx="1598962" cy="24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Avg. # of Promotions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07A95F3-1B58-E2D1-51EF-35DFB5195DC5}"/>
              </a:ext>
            </a:extLst>
          </p:cNvPr>
          <p:cNvGrpSpPr/>
          <p:nvPr/>
        </p:nvGrpSpPr>
        <p:grpSpPr>
          <a:xfrm>
            <a:off x="1043824" y="4466484"/>
            <a:ext cx="3306846" cy="399853"/>
            <a:chOff x="1029124" y="3057510"/>
            <a:chExt cx="3306846" cy="399853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130C11F-8598-CA17-617F-91497638DE36}"/>
                </a:ext>
              </a:extLst>
            </p:cNvPr>
            <p:cNvSpPr txBox="1"/>
            <p:nvPr/>
          </p:nvSpPr>
          <p:spPr>
            <a:xfrm>
              <a:off x="1029124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 defTabSz="913486">
                <a:defRPr/>
              </a:pP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Q3'25</a:t>
              </a:r>
              <a:b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</a:b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(n = 130) </a:t>
              </a:r>
              <a:endParaRPr lang="en-IN" sz="999">
                <a:solidFill>
                  <a:srgbClr val="000000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63494C8-BCA8-3FD2-0845-3B37DED7A945}"/>
                </a:ext>
              </a:extLst>
            </p:cNvPr>
            <p:cNvSpPr txBox="1"/>
            <p:nvPr/>
          </p:nvSpPr>
          <p:spPr>
            <a:xfrm>
              <a:off x="3006733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Q4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'25</a:t>
              </a:r>
              <a:b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</a:b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(n = </a:t>
              </a: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135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 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B6F450C-FBF5-D749-04C5-719AAD00222D}"/>
              </a:ext>
            </a:extLst>
          </p:cNvPr>
          <p:cNvGrpSpPr/>
          <p:nvPr/>
        </p:nvGrpSpPr>
        <p:grpSpPr>
          <a:xfrm>
            <a:off x="8913552" y="4466484"/>
            <a:ext cx="2565036" cy="399853"/>
            <a:chOff x="969496" y="3207426"/>
            <a:chExt cx="2565036" cy="399853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720C4BA-07FF-0ABE-0545-787E7EA618B0}"/>
                </a:ext>
              </a:extLst>
            </p:cNvPr>
            <p:cNvSpPr txBox="1"/>
            <p:nvPr/>
          </p:nvSpPr>
          <p:spPr>
            <a:xfrm>
              <a:off x="969496" y="3207426"/>
              <a:ext cx="1015882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 defTabSz="913486">
                <a:defRPr/>
              </a:pP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Q3'25</a:t>
              </a:r>
              <a:b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</a:b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(s = 889) </a:t>
              </a:r>
              <a:endParaRPr lang="en-IN" sz="999">
                <a:solidFill>
                  <a:srgbClr val="000000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EF4CBC6-D15A-0CAA-0D2D-6967EBFEE084}"/>
                </a:ext>
              </a:extLst>
            </p:cNvPr>
            <p:cNvSpPr txBox="1"/>
            <p:nvPr/>
          </p:nvSpPr>
          <p:spPr>
            <a:xfrm>
              <a:off x="2518650" y="3207426"/>
              <a:ext cx="1015882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Q4'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25</a:t>
              </a:r>
              <a:b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</a:b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</a:t>
              </a:r>
              <a:r>
                <a:rPr lang="en-US" sz="999">
                  <a:solidFill>
                    <a:srgbClr val="000000"/>
                  </a:solidFill>
                  <a:latin typeface="Johnson Text"/>
                  <a:ea typeface="Verdana" panose="020B0604030504040204" pitchFamily="34" charset="0"/>
                </a:rPr>
                <a:t>977</a:t>
              </a: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 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D40404-97EF-C7BF-549F-6A330EE22424}"/>
              </a:ext>
            </a:extLst>
          </p:cNvPr>
          <p:cNvGrpSpPr/>
          <p:nvPr/>
        </p:nvGrpSpPr>
        <p:grpSpPr>
          <a:xfrm>
            <a:off x="4925229" y="4466484"/>
            <a:ext cx="3306846" cy="399853"/>
            <a:chOff x="1029124" y="3057510"/>
            <a:chExt cx="3306846" cy="39985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14AAB7-0213-2569-66AE-B59E82D5925C}"/>
                </a:ext>
              </a:extLst>
            </p:cNvPr>
            <p:cNvSpPr txBox="1"/>
            <p:nvPr/>
          </p:nvSpPr>
          <p:spPr>
            <a:xfrm>
              <a:off x="1029124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 defTabSz="913486">
                <a:defRPr/>
              </a:pP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Q3'25</a:t>
              </a:r>
              <a:b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</a:b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(n = 130) </a:t>
              </a:r>
              <a:endParaRPr lang="en-IN" sz="999">
                <a:solidFill>
                  <a:srgbClr val="000000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A3265F-59AF-6AD1-BD75-3A82F2EB0BE5}"/>
                </a:ext>
              </a:extLst>
            </p:cNvPr>
            <p:cNvSpPr txBox="1"/>
            <p:nvPr/>
          </p:nvSpPr>
          <p:spPr>
            <a:xfrm>
              <a:off x="3006733" y="3057510"/>
              <a:ext cx="1329237" cy="399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 defTabSz="913486">
                <a:defRPr/>
              </a:pP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Q4'25</a:t>
              </a:r>
              <a:b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</a:br>
              <a:r>
                <a:rPr lang="en-US" sz="999">
                  <a:solidFill>
                    <a:srgbClr val="000000"/>
                  </a:solidFill>
                  <a:ea typeface="Verdana" panose="020B0604030504040204" pitchFamily="34" charset="0"/>
                </a:rPr>
                <a:t>(n = 135) </a:t>
              </a:r>
              <a:endParaRPr lang="en-IN" sz="999">
                <a:solidFill>
                  <a:srgbClr val="000000"/>
                </a:solidFill>
                <a:ea typeface="Verdana" panose="020B060403050404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224D636-AD16-BFE5-AF22-428238FAB3D3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312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J&amp;J continues to outperform AZ in non-sales rep promotional SoV, driven by higher frequency of promotions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E2D8B4-0EDB-D786-0F81-CD88C9D7C376}"/>
              </a:ext>
            </a:extLst>
          </p:cNvPr>
          <p:cNvSpPr/>
          <p:nvPr/>
        </p:nvSpPr>
        <p:spPr>
          <a:xfrm>
            <a:off x="11361832" y="3897764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4CA0C8-8D6D-D404-AC40-31DEB1452121}"/>
              </a:ext>
            </a:extLst>
          </p:cNvPr>
          <p:cNvSpPr/>
          <p:nvPr/>
        </p:nvSpPr>
        <p:spPr>
          <a:xfrm>
            <a:off x="4159680" y="6537871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ADB3AA-F8EF-0C6C-079C-DE60C4A67136}"/>
              </a:ext>
            </a:extLst>
          </p:cNvPr>
          <p:cNvGrpSpPr/>
          <p:nvPr/>
        </p:nvGrpSpPr>
        <p:grpSpPr>
          <a:xfrm>
            <a:off x="4060459" y="5594701"/>
            <a:ext cx="4523571" cy="616237"/>
            <a:chOff x="7979610" y="4927600"/>
            <a:chExt cx="4523571" cy="616237"/>
          </a:xfrm>
        </p:grpSpPr>
        <p:sp>
          <p:nvSpPr>
            <p:cNvPr id="9" name="Textbox_series_2">
              <a:extLst>
                <a:ext uri="{FF2B5EF4-FFF2-40B4-BE49-F238E27FC236}">
                  <a16:creationId xmlns:a16="http://schemas.microsoft.com/office/drawing/2014/main" id="{6371E500-DAC1-9118-3BD0-FCFCA5947126}"/>
                </a:ext>
              </a:extLst>
            </p:cNvPr>
            <p:cNvSpPr txBox="1"/>
            <p:nvPr/>
          </p:nvSpPr>
          <p:spPr>
            <a:xfrm flipH="1">
              <a:off x="7979610" y="5064811"/>
              <a:ext cx="4523571" cy="479026"/>
            </a:xfrm>
            <a:prstGeom prst="roundRect">
              <a:avLst/>
            </a:prstGeom>
            <a:solidFill>
              <a:schemeClr val="bg1">
                <a:lumMod val="50000"/>
                <a:alpha val="14902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lgDash"/>
            </a:ln>
          </p:spPr>
          <p:txBody>
            <a:bodyPr vert="horz" wrap="square" lIns="91440" tIns="45720" rIns="91440" bIns="45720" rtlCol="0" anchor="b">
              <a:no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1" lang="en-US" sz="900" b="1" u="none" strike="noStrike" kern="0" cap="none" spc="0" normalizeH="0" baseline="0" noProof="0" dirty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J&amp;J</a:t>
              </a:r>
              <a:r>
                <a:rPr kumimoji="1" lang="en-US" sz="900" u="none" strike="noStrike" kern="0" cap="none" spc="0" normalizeH="0" baseline="0" noProof="0" dirty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 </a:t>
              </a:r>
              <a:r>
                <a:rPr kumimoji="1" lang="en-US" sz="9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team uses intensive </a:t>
              </a:r>
              <a:r>
                <a:rPr kumimoji="1" lang="en-US" sz="9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frequency targeting </a:t>
              </a:r>
              <a:r>
                <a:rPr kumimoji="1" lang="en-US" sz="9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(frequency - 24 promotions/user vs 13.5 for </a:t>
              </a:r>
              <a:r>
                <a:rPr kumimoji="1" lang="en-US" sz="900" b="1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AZ</a:t>
              </a:r>
              <a:r>
                <a:rPr kumimoji="1" lang="en-US" sz="90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) while </a:t>
              </a:r>
              <a:r>
                <a:rPr kumimoji="1" lang="en-US" sz="9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Johnson Text"/>
                  <a:ea typeface="+mn-ea"/>
                  <a:cs typeface="+mn-cs"/>
                </a:rPr>
                <a:t>reach is similar</a:t>
              </a:r>
              <a:r>
                <a:rPr kumimoji="1" lang="en-US" sz="900" b="1" kern="0" dirty="0">
                  <a:latin typeface="Johnson Text"/>
                </a:rPr>
                <a:t> </a:t>
              </a:r>
              <a:r>
                <a:rPr kumimoji="1" lang="en-US" sz="900" kern="0" dirty="0">
                  <a:latin typeface="Johnson Text"/>
                </a:rPr>
                <a:t>for both brands</a:t>
              </a:r>
              <a:endParaRPr kumimoji="0" lang="en-US" sz="9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E092F74-5946-82E2-4A3B-C01546D707A5}"/>
                </a:ext>
              </a:extLst>
            </p:cNvPr>
            <p:cNvSpPr/>
            <p:nvPr/>
          </p:nvSpPr>
          <p:spPr>
            <a:xfrm>
              <a:off x="8062565" y="4927600"/>
              <a:ext cx="2412000" cy="25975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  <a:latin typeface="Johnson Text" panose="020B0604020202020204" charset="0"/>
                  <a:cs typeface="Johnson Text" panose="020B0604020202020204" charset="0"/>
                </a:rPr>
                <a:t>ZoomRx Digital Tracking Tool Insights  </a:t>
              </a:r>
            </a:p>
          </p:txBody>
        </p:sp>
      </p:grpSp>
      <p:sp>
        <p:nvSpPr>
          <p:cNvPr id="19" name="Highlight#25">
            <a:extLst>
              <a:ext uri="{FF2B5EF4-FFF2-40B4-BE49-F238E27FC236}">
                <a16:creationId xmlns:a16="http://schemas.microsoft.com/office/drawing/2014/main" id="{696A24B4-FFCE-1A5A-F301-C79FF2C08BCE}"/>
              </a:ext>
            </a:extLst>
          </p:cNvPr>
          <p:cNvSpPr txBox="1"/>
          <p:nvPr/>
        </p:nvSpPr>
        <p:spPr>
          <a:xfrm>
            <a:off x="4953200" y="2859279"/>
            <a:ext cx="3196213" cy="2104963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185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9CED-D655-2A9E-DE5E-5D280F48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84E1B989-6B26-6CD2-02E6-6ADA80483A07}"/>
              </a:ext>
            </a:extLst>
          </p:cNvPr>
          <p:cNvGrpSpPr/>
          <p:nvPr/>
        </p:nvGrpSpPr>
        <p:grpSpPr>
          <a:xfrm>
            <a:off x="2627512" y="4247545"/>
            <a:ext cx="6931152" cy="1872452"/>
            <a:chOff x="2569980" y="4368800"/>
            <a:chExt cx="6913746" cy="1873427"/>
          </a:xfrm>
        </p:grpSpPr>
        <p:graphicFrame>
          <p:nvGraphicFramePr>
            <p:cNvPr id="35" name="Chart 34">
              <a:extLst>
                <a:ext uri="{FF2B5EF4-FFF2-40B4-BE49-F238E27FC236}">
                  <a16:creationId xmlns:a16="http://schemas.microsoft.com/office/drawing/2014/main" id="{7BD172A6-DEC4-F295-8933-1C4B507817BB}"/>
                </a:ext>
              </a:extLst>
            </p:cNvPr>
            <p:cNvGraphicFramePr/>
            <p:nvPr>
              <p:custDataLst>
                <p:tags r:id="rId2"/>
              </p:custDataLst>
            </p:nvPr>
          </p:nvGraphicFramePr>
          <p:xfrm>
            <a:off x="2569980" y="4368800"/>
            <a:ext cx="6913746" cy="18289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D74E26D-9F66-4D4B-CB23-49285853BFD9}"/>
                </a:ext>
              </a:extLst>
            </p:cNvPr>
            <p:cNvSpPr txBox="1"/>
            <p:nvPr/>
          </p:nvSpPr>
          <p:spPr>
            <a:xfrm>
              <a:off x="2956050" y="4472538"/>
              <a:ext cx="62735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Arial" panose="020B0604020202020204" pitchFamily="34" charset="0"/>
                </a:rPr>
                <a:t>Share by Categories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4DC01A-5899-97FE-16E3-C72D66F6D6F1}"/>
                </a:ext>
              </a:extLst>
            </p:cNvPr>
            <p:cNvSpPr txBox="1"/>
            <p:nvPr/>
          </p:nvSpPr>
          <p:spPr>
            <a:xfrm>
              <a:off x="5122971" y="5996006"/>
              <a:ext cx="19550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 panose="020B0604020202020204" pitchFamily="34" charset="0"/>
                </a:rPr>
                <a:t>% of Promotions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8E40DF-06AC-5EAB-BB83-EFD564E6179C}"/>
              </a:ext>
            </a:extLst>
          </p:cNvPr>
          <p:cNvGrpSpPr/>
          <p:nvPr/>
        </p:nvGrpSpPr>
        <p:grpSpPr>
          <a:xfrm>
            <a:off x="9793607" y="4727907"/>
            <a:ext cx="2191142" cy="1136857"/>
            <a:chOff x="9702167" y="4561339"/>
            <a:chExt cx="2191142" cy="1136857"/>
          </a:xfrm>
        </p:grpSpPr>
        <p:sp>
          <p:nvSpPr>
            <p:cNvPr id="58" name="Textbox_series_4">
              <a:extLst>
                <a:ext uri="{FF2B5EF4-FFF2-40B4-BE49-F238E27FC236}">
                  <a16:creationId xmlns:a16="http://schemas.microsoft.com/office/drawing/2014/main" id="{A2703FFB-776D-1994-C762-C2C5450F0A13}"/>
                </a:ext>
              </a:extLst>
            </p:cNvPr>
            <p:cNvSpPr txBox="1"/>
            <p:nvPr/>
          </p:nvSpPr>
          <p:spPr>
            <a:xfrm>
              <a:off x="9791692" y="4561339"/>
              <a:ext cx="1195902" cy="24609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Advertisements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56" name="Textbox_series_4">
              <a:extLst>
                <a:ext uri="{FF2B5EF4-FFF2-40B4-BE49-F238E27FC236}">
                  <a16:creationId xmlns:a16="http://schemas.microsoft.com/office/drawing/2014/main" id="{A2C2B69F-2F07-92D8-E6E1-686FD60B4C2A}"/>
                </a:ext>
              </a:extLst>
            </p:cNvPr>
            <p:cNvSpPr txBox="1"/>
            <p:nvPr/>
          </p:nvSpPr>
          <p:spPr>
            <a:xfrm>
              <a:off x="9791695" y="4848177"/>
              <a:ext cx="2101614" cy="24609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Email and Direct Communication</a:t>
              </a:r>
            </a:p>
          </p:txBody>
        </p:sp>
        <p:sp>
          <p:nvSpPr>
            <p:cNvPr id="54" name="Textbox_series_3">
              <a:extLst>
                <a:ext uri="{FF2B5EF4-FFF2-40B4-BE49-F238E27FC236}">
                  <a16:creationId xmlns:a16="http://schemas.microsoft.com/office/drawing/2014/main" id="{C73D5AB4-3CE8-9A6F-F6BF-0FEBF0D6EF4C}"/>
                </a:ext>
              </a:extLst>
            </p:cNvPr>
            <p:cNvSpPr txBox="1"/>
            <p:nvPr/>
          </p:nvSpPr>
          <p:spPr>
            <a:xfrm>
              <a:off x="9791690" y="5452103"/>
              <a:ext cx="1648700" cy="24609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Events or Communication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57" name="Legend_series_4">
              <a:extLst>
                <a:ext uri="{FF2B5EF4-FFF2-40B4-BE49-F238E27FC236}">
                  <a16:creationId xmlns:a16="http://schemas.microsoft.com/office/drawing/2014/main" id="{A5707D9A-E9D1-8864-4B36-18959AE841E0}"/>
                </a:ext>
              </a:extLst>
            </p:cNvPr>
            <p:cNvSpPr/>
            <p:nvPr/>
          </p:nvSpPr>
          <p:spPr>
            <a:xfrm>
              <a:off x="9702167" y="4917223"/>
              <a:ext cx="108000" cy="108000"/>
            </a:xfrm>
            <a:prstGeom prst="rect">
              <a:avLst/>
            </a:prstGeom>
            <a:solidFill>
              <a:srgbClr val="9EDC7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55" name="Legend_series_4">
              <a:extLst>
                <a:ext uri="{FF2B5EF4-FFF2-40B4-BE49-F238E27FC236}">
                  <a16:creationId xmlns:a16="http://schemas.microsoft.com/office/drawing/2014/main" id="{1DF212A7-0BDA-C1E9-5AAC-8C9CF9E13CF2}"/>
                </a:ext>
              </a:extLst>
            </p:cNvPr>
            <p:cNvSpPr/>
            <p:nvPr/>
          </p:nvSpPr>
          <p:spPr>
            <a:xfrm>
              <a:off x="9702167" y="5220098"/>
              <a:ext cx="108000" cy="108000"/>
            </a:xfrm>
            <a:prstGeom prst="rect">
              <a:avLst/>
            </a:prstGeom>
            <a:solidFill>
              <a:srgbClr val="F084CC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53" name="Legend_series_3">
              <a:extLst>
                <a:ext uri="{FF2B5EF4-FFF2-40B4-BE49-F238E27FC236}">
                  <a16:creationId xmlns:a16="http://schemas.microsoft.com/office/drawing/2014/main" id="{E08E1278-93FB-68E0-FB9D-F3DE11CE8514}"/>
                </a:ext>
              </a:extLst>
            </p:cNvPr>
            <p:cNvSpPr/>
            <p:nvPr/>
          </p:nvSpPr>
          <p:spPr>
            <a:xfrm>
              <a:off x="9702167" y="4630385"/>
              <a:ext cx="108000" cy="108000"/>
            </a:xfrm>
            <a:prstGeom prst="rect">
              <a:avLst/>
            </a:prstGeom>
            <a:solidFill>
              <a:srgbClr val="77BEE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51" name="Legend_series_4">
              <a:extLst>
                <a:ext uri="{FF2B5EF4-FFF2-40B4-BE49-F238E27FC236}">
                  <a16:creationId xmlns:a16="http://schemas.microsoft.com/office/drawing/2014/main" id="{2E81165A-B047-563A-F1D5-EA78F2B8A07A}"/>
                </a:ext>
              </a:extLst>
            </p:cNvPr>
            <p:cNvSpPr/>
            <p:nvPr/>
          </p:nvSpPr>
          <p:spPr>
            <a:xfrm>
              <a:off x="9702167" y="5521149"/>
              <a:ext cx="108000" cy="108000"/>
            </a:xfrm>
            <a:prstGeom prst="rect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endParaRPr>
            </a:p>
          </p:txBody>
        </p:sp>
        <p:sp>
          <p:nvSpPr>
            <p:cNvPr id="52" name="Textbox_series_4">
              <a:extLst>
                <a:ext uri="{FF2B5EF4-FFF2-40B4-BE49-F238E27FC236}">
                  <a16:creationId xmlns:a16="http://schemas.microsoft.com/office/drawing/2014/main" id="{852C83F2-9397-DAD8-36EE-7351FBBF3D8D}"/>
                </a:ext>
              </a:extLst>
            </p:cNvPr>
            <p:cNvSpPr txBox="1"/>
            <p:nvPr/>
          </p:nvSpPr>
          <p:spPr>
            <a:xfrm>
              <a:off x="9791689" y="5151052"/>
              <a:ext cx="1280410" cy="24609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 panose="020B0604020202020204" charset="0"/>
                  <a:ea typeface="Verdana" panose="020B0604030504040204" pitchFamily="34" charset="0"/>
                  <a:cs typeface="Johnson Text" panose="020B0604020202020204" charset="0"/>
                </a:rPr>
                <a:t>Medical Resources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523FCC5-87D7-8D97-98E9-8813AB5D0E65}"/>
              </a:ext>
            </a:extLst>
          </p:cNvPr>
          <p:cNvGrpSpPr/>
          <p:nvPr/>
        </p:nvGrpSpPr>
        <p:grpSpPr>
          <a:xfrm>
            <a:off x="2626775" y="1294602"/>
            <a:ext cx="7058818" cy="2707878"/>
            <a:chOff x="2569243" y="1415178"/>
            <a:chExt cx="7062496" cy="2709289"/>
          </a:xfrm>
        </p:grpSpPr>
        <p:graphicFrame>
          <p:nvGraphicFramePr>
            <p:cNvPr id="63" name="Chart 62">
              <a:extLst>
                <a:ext uri="{FF2B5EF4-FFF2-40B4-BE49-F238E27FC236}">
                  <a16:creationId xmlns:a16="http://schemas.microsoft.com/office/drawing/2014/main" id="{031DB459-491A-DF92-0157-DBC53DAAF453}"/>
                </a:ext>
              </a:extLst>
            </p:cNvPr>
            <p:cNvGraphicFramePr/>
            <p:nvPr>
              <p:custDataLst>
                <p:tags r:id="rId1"/>
              </p:custDataLst>
            </p:nvPr>
          </p:nvGraphicFramePr>
          <p:xfrm>
            <a:off x="2569243" y="1415178"/>
            <a:ext cx="7062496" cy="26072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155B890-0640-1989-B885-6F17845C753E}"/>
                </a:ext>
              </a:extLst>
            </p:cNvPr>
            <p:cNvSpPr txBox="1"/>
            <p:nvPr/>
          </p:nvSpPr>
          <p:spPr>
            <a:xfrm>
              <a:off x="3271388" y="1632068"/>
              <a:ext cx="56428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99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Arial" panose="020B0604020202020204" pitchFamily="34" charset="0"/>
                </a:rPr>
                <a:t>Share by Products</a:t>
              </a:r>
              <a:endParaRPr kumimoji="0" lang="en-US" sz="1099" b="0" i="0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A0CEB26-F6C8-A3C8-A7E1-7CECD9CB3753}"/>
                </a:ext>
              </a:extLst>
            </p:cNvPr>
            <p:cNvSpPr txBox="1"/>
            <p:nvPr/>
          </p:nvSpPr>
          <p:spPr>
            <a:xfrm>
              <a:off x="5113648" y="3878246"/>
              <a:ext cx="19550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 panose="020B0604020202020204" pitchFamily="34" charset="0"/>
                </a:rPr>
                <a:t>% of Promotions</a:t>
              </a:r>
            </a:p>
          </p:txBody>
        </p:sp>
      </p:grpSp>
      <p:sp>
        <p:nvSpPr>
          <p:cNvPr id="67" name="Textbox_series_4">
            <a:extLst>
              <a:ext uri="{FF2B5EF4-FFF2-40B4-BE49-F238E27FC236}">
                <a16:creationId xmlns:a16="http://schemas.microsoft.com/office/drawing/2014/main" id="{F1C43B4C-347E-4F90-5493-8BAD1A0D6B74}"/>
              </a:ext>
            </a:extLst>
          </p:cNvPr>
          <p:cNvSpPr txBox="1"/>
          <p:nvPr/>
        </p:nvSpPr>
        <p:spPr>
          <a:xfrm>
            <a:off x="-9407" y="1866549"/>
            <a:ext cx="2625603" cy="4153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Events or Communications</a:t>
            </a:r>
          </a:p>
          <a:p>
            <a:pPr marL="0" marR="0" lvl="0" indent="0" algn="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397)</a:t>
            </a:r>
          </a:p>
        </p:txBody>
      </p:sp>
      <p:sp>
        <p:nvSpPr>
          <p:cNvPr id="68" name="Textbox_series_4">
            <a:extLst>
              <a:ext uri="{FF2B5EF4-FFF2-40B4-BE49-F238E27FC236}">
                <a16:creationId xmlns:a16="http://schemas.microsoft.com/office/drawing/2014/main" id="{07DD8D60-AE9A-6F1F-C0FE-AD0A478F6EA4}"/>
              </a:ext>
            </a:extLst>
          </p:cNvPr>
          <p:cNvSpPr txBox="1"/>
          <p:nvPr/>
        </p:nvSpPr>
        <p:spPr>
          <a:xfrm>
            <a:off x="119176" y="2818449"/>
            <a:ext cx="2511773" cy="4153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Email and Direct Communications</a:t>
            </a:r>
          </a:p>
          <a:p>
            <a:pPr marL="0" marR="0" lvl="0" indent="0" algn="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530)</a:t>
            </a:r>
          </a:p>
        </p:txBody>
      </p:sp>
      <p:sp>
        <p:nvSpPr>
          <p:cNvPr id="69" name="Textbox_series_3">
            <a:extLst>
              <a:ext uri="{FF2B5EF4-FFF2-40B4-BE49-F238E27FC236}">
                <a16:creationId xmlns:a16="http://schemas.microsoft.com/office/drawing/2014/main" id="{D851745C-1BE4-0AAA-6D58-520769EE8F8E}"/>
              </a:ext>
            </a:extLst>
          </p:cNvPr>
          <p:cNvSpPr txBox="1"/>
          <p:nvPr/>
        </p:nvSpPr>
        <p:spPr>
          <a:xfrm>
            <a:off x="-1" y="3320323"/>
            <a:ext cx="2625603" cy="4153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Advertisements</a:t>
            </a:r>
            <a:b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</a:br>
            <a:r>
              <a:rPr kumimoji="0" lang="en-US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477)</a:t>
            </a:r>
            <a:endParaRPr kumimoji="0" lang="en-IN" sz="999" b="0" i="0" u="none" strike="noStrike" kern="120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Text" panose="020B0604020202020204" charset="0"/>
              <a:ea typeface="Verdana" panose="020B0604030504040204" pitchFamily="34" charset="0"/>
              <a:cs typeface="Johnson Text" panose="020B0604020202020204" charset="0"/>
            </a:endParaRPr>
          </a:p>
        </p:txBody>
      </p:sp>
      <p:sp>
        <p:nvSpPr>
          <p:cNvPr id="70" name="Textbox_series_4">
            <a:extLst>
              <a:ext uri="{FF2B5EF4-FFF2-40B4-BE49-F238E27FC236}">
                <a16:creationId xmlns:a16="http://schemas.microsoft.com/office/drawing/2014/main" id="{EBAC29CD-05F9-178D-B6CB-7C6CB8850B9C}"/>
              </a:ext>
            </a:extLst>
          </p:cNvPr>
          <p:cNvSpPr txBox="1"/>
          <p:nvPr/>
        </p:nvSpPr>
        <p:spPr>
          <a:xfrm>
            <a:off x="119177" y="2353842"/>
            <a:ext cx="2497020" cy="4153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Medical Resources</a:t>
            </a:r>
          </a:p>
          <a:p>
            <a:pPr marL="0" marR="0" lvl="0" indent="0" algn="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(s = 432)</a:t>
            </a:r>
            <a:endParaRPr kumimoji="0" lang="en-IN" sz="999" b="0" i="0" u="none" strike="noStrike" kern="120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Text" panose="020B0604020202020204" charset="0"/>
              <a:ea typeface="Verdana" panose="020B0604030504040204" pitchFamily="34" charset="0"/>
              <a:cs typeface="Johnson Text" panose="020B060402020202020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372FCEF-42E9-A63A-54CB-83A42ACC8183}"/>
              </a:ext>
            </a:extLst>
          </p:cNvPr>
          <p:cNvCxnSpPr/>
          <p:nvPr/>
        </p:nvCxnSpPr>
        <p:spPr>
          <a:xfrm>
            <a:off x="677915" y="4148426"/>
            <a:ext cx="10979033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F11265-F7CE-AD84-00C8-9D9ED28A598D}"/>
              </a:ext>
            </a:extLst>
          </p:cNvPr>
          <p:cNvGrpSpPr/>
          <p:nvPr/>
        </p:nvGrpSpPr>
        <p:grpSpPr>
          <a:xfrm>
            <a:off x="9793607" y="2440277"/>
            <a:ext cx="1297699" cy="702928"/>
            <a:chOff x="9830415" y="2394477"/>
            <a:chExt cx="1297699" cy="702928"/>
          </a:xfrm>
        </p:grpSpPr>
        <p:sp>
          <p:nvSpPr>
            <p:cNvPr id="43" name="Legend_series_4">
              <a:extLst>
                <a:ext uri="{FF2B5EF4-FFF2-40B4-BE49-F238E27FC236}">
                  <a16:creationId xmlns:a16="http://schemas.microsoft.com/office/drawing/2014/main" id="{2D32046E-EF9D-288F-BFC5-4213E8E47E23}"/>
                </a:ext>
              </a:extLst>
            </p:cNvPr>
            <p:cNvSpPr/>
            <p:nvPr/>
          </p:nvSpPr>
          <p:spPr>
            <a:xfrm>
              <a:off x="9830415" y="2920358"/>
              <a:ext cx="108000" cy="108000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999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44" name="Textbox_series_4">
              <a:extLst>
                <a:ext uri="{FF2B5EF4-FFF2-40B4-BE49-F238E27FC236}">
                  <a16:creationId xmlns:a16="http://schemas.microsoft.com/office/drawing/2014/main" id="{BD5F55AA-4307-313D-1831-EBC39AEE095D}"/>
                </a:ext>
              </a:extLst>
            </p:cNvPr>
            <p:cNvSpPr txBox="1"/>
            <p:nvPr/>
          </p:nvSpPr>
          <p:spPr>
            <a:xfrm>
              <a:off x="10031057" y="2851312"/>
              <a:ext cx="1097057" cy="24609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99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AZ</a:t>
              </a:r>
            </a:p>
          </p:txBody>
        </p:sp>
        <p:sp>
          <p:nvSpPr>
            <p:cNvPr id="41" name="Legend_series_3">
              <a:extLst>
                <a:ext uri="{FF2B5EF4-FFF2-40B4-BE49-F238E27FC236}">
                  <a16:creationId xmlns:a16="http://schemas.microsoft.com/office/drawing/2014/main" id="{04CB0096-FF9A-8BF5-F93C-AE3B4DF43690}"/>
                </a:ext>
              </a:extLst>
            </p:cNvPr>
            <p:cNvSpPr/>
            <p:nvPr/>
          </p:nvSpPr>
          <p:spPr>
            <a:xfrm>
              <a:off x="9830415" y="2463523"/>
              <a:ext cx="108000" cy="108000"/>
            </a:xfrm>
            <a:prstGeom prst="rect">
              <a:avLst/>
            </a:prstGeom>
            <a:solidFill>
              <a:srgbClr val="F95924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999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42" name="Textbox_series_3">
              <a:extLst>
                <a:ext uri="{FF2B5EF4-FFF2-40B4-BE49-F238E27FC236}">
                  <a16:creationId xmlns:a16="http://schemas.microsoft.com/office/drawing/2014/main" id="{1935D08C-3A8F-683F-BFB2-7D4AB6353D89}"/>
                </a:ext>
              </a:extLst>
            </p:cNvPr>
            <p:cNvSpPr txBox="1"/>
            <p:nvPr/>
          </p:nvSpPr>
          <p:spPr>
            <a:xfrm>
              <a:off x="10010415" y="2394477"/>
              <a:ext cx="1097374" cy="24609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1" i="0" u="none" strike="noStrike" kern="1200" cap="none" spc="0" normalizeH="0" baseline="0" noProof="0">
                  <a:ln>
                    <a:noFill/>
                  </a:ln>
                  <a:solidFill>
                    <a:srgbClr val="F26435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J&amp;J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79635D-416D-0908-DE03-C6A3CD1861C1}"/>
              </a:ext>
            </a:extLst>
          </p:cNvPr>
          <p:cNvGrpSpPr/>
          <p:nvPr/>
        </p:nvGrpSpPr>
        <p:grpSpPr>
          <a:xfrm>
            <a:off x="390549" y="4773495"/>
            <a:ext cx="2297549" cy="1064572"/>
            <a:chOff x="331850" y="4894981"/>
            <a:chExt cx="2298746" cy="1065118"/>
          </a:xfrm>
        </p:grpSpPr>
        <p:sp>
          <p:nvSpPr>
            <p:cNvPr id="60" name="Textbox_series_4">
              <a:extLst>
                <a:ext uri="{FF2B5EF4-FFF2-40B4-BE49-F238E27FC236}">
                  <a16:creationId xmlns:a16="http://schemas.microsoft.com/office/drawing/2014/main" id="{6601B47B-5E49-944A-5805-A1DA64846566}"/>
                </a:ext>
              </a:extLst>
            </p:cNvPr>
            <p:cNvSpPr txBox="1"/>
            <p:nvPr/>
          </p:nvSpPr>
          <p:spPr>
            <a:xfrm>
              <a:off x="331850" y="4894981"/>
              <a:ext cx="2285464" cy="41558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F95924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J&amp;J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endParaRPr>
            </a:p>
            <a:p>
              <a:pPr marL="0" marR="0" lvl="0" indent="0" algn="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1117)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61" name="Textbox_series_3">
              <a:extLst>
                <a:ext uri="{FF2B5EF4-FFF2-40B4-BE49-F238E27FC236}">
                  <a16:creationId xmlns:a16="http://schemas.microsoft.com/office/drawing/2014/main" id="{7BAAB61E-9A53-CE51-3A3E-D6469C2E5922}"/>
                </a:ext>
              </a:extLst>
            </p:cNvPr>
            <p:cNvSpPr txBox="1"/>
            <p:nvPr/>
          </p:nvSpPr>
          <p:spPr>
            <a:xfrm>
              <a:off x="1691908" y="5544513"/>
              <a:ext cx="938688" cy="41558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AZ</a:t>
              </a:r>
            </a:p>
            <a:p>
              <a:pPr marL="0" marR="0" lvl="0" indent="0" algn="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719)</a:t>
              </a:r>
              <a:endPara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2C2C815-DCA4-9CB6-9382-3D1104B7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D6E03C-DF96-8E8C-3200-E267BDEAAF1A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Local outliers removed | s corresponds to total number of promotions | Slide includes data from ZoomRx Activity Screener | No statistically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significant difference with a 95% confidence interval between the latest two quarters | </a:t>
            </a: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+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/</a:t>
            </a: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-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denotes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increase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/ 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of greater than 5% from the previous quarter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Google Shape;504;p12">
            <a:extLst>
              <a:ext uri="{FF2B5EF4-FFF2-40B4-BE49-F238E27FC236}">
                <a16:creationId xmlns:a16="http://schemas.microsoft.com/office/drawing/2014/main" id="{B4BCF38D-4335-881B-0F83-6E6E34148FA9}"/>
              </a:ext>
            </a:extLst>
          </p:cNvPr>
          <p:cNvSpPr txBox="1"/>
          <p:nvPr/>
        </p:nvSpPr>
        <p:spPr>
          <a:xfrm>
            <a:off x="421367" y="1197364"/>
            <a:ext cx="11279893" cy="2720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NON-SALES REP PROMOTIONS SHARE by PRODUCTS and CATEGORIES – Q4'25</a:t>
            </a: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4C277D17-B6B2-B6D6-9FC8-18A4EA8BF9F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C3895E-C705-585E-7D61-41DFE1E700F4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J&amp;J retains #1 position in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the share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non-personal promotional activity across all channels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</a:endParaRPr>
          </a:p>
        </p:txBody>
      </p:sp>
      <p:sp>
        <p:nvSpPr>
          <p:cNvPr id="4" name="Google Shape;229;p3">
            <a:extLst>
              <a:ext uri="{FF2B5EF4-FFF2-40B4-BE49-F238E27FC236}">
                <a16:creationId xmlns:a16="http://schemas.microsoft.com/office/drawing/2014/main" id="{70759964-B48D-E5F9-5D91-D1DB7004FB64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7" name="Google Shape;504;p12">
            <a:extLst>
              <a:ext uri="{FF2B5EF4-FFF2-40B4-BE49-F238E27FC236}">
                <a16:creationId xmlns:a16="http://schemas.microsoft.com/office/drawing/2014/main" id="{9F6CECFF-3730-7C7C-4E31-0359E9E13FBA}"/>
              </a:ext>
            </a:extLst>
          </p:cNvPr>
          <p:cNvSpPr txBox="1"/>
          <p:nvPr/>
        </p:nvSpPr>
        <p:spPr>
          <a:xfrm>
            <a:off x="4566959" y="1688693"/>
            <a:ext cx="648014" cy="23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33" tIns="45604" rIns="91233" bIns="45604" anchor="ctr" anchorCtr="0">
            <a:spAutoFit/>
          </a:bodyPr>
          <a:lstStyle/>
          <a:p>
            <a:pPr marL="0" marR="0" lvl="0" indent="0" algn="ctr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900" b="1" i="1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/>
                <a:cs typeface="Verdana"/>
                <a:sym typeface="Verdana"/>
              </a:rPr>
              <a:t>+6%</a:t>
            </a: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2312CBBC-2155-EBF4-8DB6-EF2EB7338778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73223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C4A74DF4-77D7-35E1-6E57-0AE91DC6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97DBB67-4E87-DE5C-AC9A-C72F6C11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22A892-1AAA-95F0-6085-25078115E2D3}"/>
              </a:ext>
            </a:extLst>
          </p:cNvPr>
          <p:cNvSpPr txBox="1"/>
          <p:nvPr/>
        </p:nvSpPr>
        <p:spPr>
          <a:xfrm>
            <a:off x="2667007" y="6201486"/>
            <a:ext cx="9105893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114"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| </a:t>
            </a:r>
            <a:r>
              <a:rPr kumimoji="1" lang="en-US" sz="900" i="1" kern="0">
                <a:solidFill>
                  <a:srgbClr val="7F7F7F"/>
                </a:solidFill>
                <a:latin typeface="Johnson Text"/>
                <a:sym typeface="Verdana"/>
              </a:rPr>
              <a:t>   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 statistically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significant difference with a 95% confidence interval between J&amp;J and AZ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|      Denotes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statistically significant difference with 95% confidence interval between latest two quarters 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|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Channels arranged according to decreasing value of preference </a:t>
            </a:r>
            <a:r>
              <a:rPr kumimoji="1" lang="en-GB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| </a:t>
            </a:r>
            <a:r>
              <a:rPr kumimoji="1" lang="en-US" sz="900" b="1" i="1" u="none" strike="noStrike" kern="0" cap="none" spc="0" normalizeH="0" baseline="0" noProof="0">
                <a:ln>
                  <a:noFill/>
                </a:ln>
                <a:solidFill>
                  <a:srgbClr val="005426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Highlighted channels are highly preferred and influenceable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| </a:t>
            </a:r>
            <a:r>
              <a:rPr kumimoji="1" lang="en-US" sz="900" b="0" i="1" u="none" strike="noStrike" kern="0" cap="none" spc="0" normalizeH="0" baseline="3000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%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Industry average definitions found in slide 4</a:t>
            </a:r>
            <a:r>
              <a:rPr kumimoji="1" lang="en-IN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| </a:t>
            </a:r>
            <a:r>
              <a:rPr kumimoji="1" lang="en-IN" sz="900" b="0" i="1" u="none" strike="noStrike" kern="0" cap="none" spc="0" normalizeH="0" baseline="3000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$</a:t>
            </a:r>
            <a:r>
              <a:rPr kumimoji="1" lang="en-GB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Industry average not tracked </a:t>
            </a:r>
            <a:r>
              <a:rPr kumimoji="1" lang="en-US" sz="900" i="1" kern="0">
                <a:solidFill>
                  <a:srgbClr val="7F7F7F"/>
                </a:solidFill>
              </a:rPr>
              <a:t>| </a:t>
            </a:r>
            <a:r>
              <a:rPr lang="en-US" sz="900" b="1" i="1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1" i="1" u="none" strike="noStrike" kern="0" cap="none" spc="0" normalizeH="0" baseline="0" noProof="0">
              <a:ln>
                <a:noFill/>
              </a:ln>
              <a:solidFill>
                <a:srgbClr val="005426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2" name="Preference">
            <a:extLst>
              <a:ext uri="{FF2B5EF4-FFF2-40B4-BE49-F238E27FC236}">
                <a16:creationId xmlns:a16="http://schemas.microsoft.com/office/drawing/2014/main" id="{FFF7B567-5B52-2CA7-C75A-9680400007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8993341"/>
              </p:ext>
            </p:extLst>
          </p:nvPr>
        </p:nvGraphicFramePr>
        <p:xfrm>
          <a:off x="137776" y="1823168"/>
          <a:ext cx="5408884" cy="3998176"/>
        </p:xfrm>
        <a:graphic>
          <a:graphicData uri="http://schemas.openxmlformats.org/drawingml/2006/table">
            <a:tbl>
              <a:tblPr firstRow="1" bandRow="1"/>
              <a:tblGrid>
                <a:gridCol w="4611928">
                  <a:extLst>
                    <a:ext uri="{9D8B030D-6E8A-4147-A177-3AD203B41FA5}">
                      <a16:colId xmlns:a16="http://schemas.microsoft.com/office/drawing/2014/main" val="3347910282"/>
                    </a:ext>
                  </a:extLst>
                </a:gridCol>
                <a:gridCol w="796956">
                  <a:extLst>
                    <a:ext uri="{9D8B030D-6E8A-4147-A177-3AD203B41FA5}">
                      <a16:colId xmlns:a16="http://schemas.microsoft.com/office/drawing/2014/main" val="1381675069"/>
                    </a:ext>
                  </a:extLst>
                </a:gridCol>
              </a:tblGrid>
              <a:tr h="285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Scientific or medical journals</a:t>
                      </a: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ED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28%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50352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Professional, medical or new websites</a:t>
                      </a:r>
                      <a:endParaRPr lang="en-US" sz="1000" b="1" i="0" u="none" strike="noStrike" kern="1200">
                        <a:solidFill>
                          <a:srgbClr val="005426"/>
                        </a:solidFill>
                        <a:effectLst/>
                        <a:latin typeface="Johnson Text" panose="020B0604020202020204" charset="0"/>
                        <a:ea typeface="+mn-ea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ED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C1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074266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426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Email from pharmaceutical manufacturers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ED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D2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969829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426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Official websites of pharmaceutical products</a:t>
                      </a:r>
                      <a:endParaRPr lang="en-US" sz="1000" b="1" i="0" u="none" strike="noStrike">
                        <a:solidFill>
                          <a:srgbClr val="005426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ED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19%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D5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604512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426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Email from individual sales representatives</a:t>
                      </a:r>
                      <a:endParaRPr lang="en-US" sz="1000" b="1" i="0" u="none" strike="noStrike">
                        <a:solidFill>
                          <a:srgbClr val="005426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17%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DA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5057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426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Medical conferences</a:t>
                      </a:r>
                      <a:endParaRPr lang="en-US" sz="1000" b="1" i="0" u="none" strike="noStrike">
                        <a:solidFill>
                          <a:srgbClr val="005426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17%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DA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311755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Seminars, webinars or speaker programs</a:t>
                      </a: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E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422425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Newsletters</a:t>
                      </a:r>
                      <a:endParaRPr lang="en-US" sz="1000" b="0" i="0" u="none" strike="noStrike" kern="1200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ea typeface="+mn-ea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192161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426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Online ads</a:t>
                      </a:r>
                      <a:endParaRPr lang="en-US" sz="1000" b="1" i="0" u="none" strike="noStrike">
                        <a:solidFill>
                          <a:srgbClr val="005426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06294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Ads in print media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629692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Online communication with HCPs via professional websites</a:t>
                      </a:r>
                      <a:r>
                        <a:rPr kumimoji="1" lang="en-US" sz="1000" b="0" i="1" u="none" strike="noStrike" kern="0" cap="none" spc="0" normalizeH="0" baseline="30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45948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In office advertising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026427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Other networking or communication</a:t>
                      </a:r>
                      <a:r>
                        <a:rPr kumimoji="1" lang="en-US" sz="1000" b="0" i="1" u="none" strike="noStrike" kern="0" cap="none" spc="0" normalizeH="0" baseline="30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922678"/>
                  </a:ext>
                </a:extLst>
              </a:tr>
              <a:tr h="285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Text or SMS messages</a:t>
                      </a: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289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2181AB-B7FD-490E-573B-7F4E91C281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90316" y="1416202"/>
            <a:ext cx="2088543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Preference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(Q3'25 + Q4'25)</a:t>
            </a:r>
            <a:endParaRPr kumimoji="0" lang="en-IN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(n = </a:t>
            </a:r>
            <a:r>
              <a:rPr lang="en-IN" sz="1000">
                <a:solidFill>
                  <a:srgbClr val="000000"/>
                </a:solidFill>
                <a:latin typeface="Johnson Text"/>
                <a:ea typeface="Verdana" panose="020B0604030504040204" pitchFamily="34" charset="0"/>
              </a:rPr>
              <a:t>124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A79692-7BAB-72FA-E62C-F64D8E439D7F}"/>
              </a:ext>
            </a:extLst>
          </p:cNvPr>
          <p:cNvSpPr txBox="1"/>
          <p:nvPr/>
        </p:nvSpPr>
        <p:spPr>
          <a:xfrm>
            <a:off x="1071057" y="1493146"/>
            <a:ext cx="27000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Non-Sales Rep Promotions Channels</a:t>
            </a:r>
          </a:p>
        </p:txBody>
      </p:sp>
      <p:graphicFrame>
        <p:nvGraphicFramePr>
          <p:cNvPr id="14" name="Reach">
            <a:extLst>
              <a:ext uri="{FF2B5EF4-FFF2-40B4-BE49-F238E27FC236}">
                <a16:creationId xmlns:a16="http://schemas.microsoft.com/office/drawing/2014/main" id="{301E760E-1105-15B3-B599-7EFCBAE5AF7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6697904"/>
              </p:ext>
            </p:extLst>
          </p:nvPr>
        </p:nvGraphicFramePr>
        <p:xfrm>
          <a:off x="5546456" y="1771239"/>
          <a:ext cx="4349077" cy="4159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4E27F53-F923-B413-D1F2-F1C13B431C8A}"/>
              </a:ext>
            </a:extLst>
          </p:cNvPr>
          <p:cNvSpPr txBox="1"/>
          <p:nvPr/>
        </p:nvSpPr>
        <p:spPr>
          <a:xfrm>
            <a:off x="7142364" y="1493146"/>
            <a:ext cx="11880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Reach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Q4'25</a:t>
            </a:r>
            <a:endParaRPr kumimoji="0" lang="en-IN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D29D75-AF89-B62C-31AD-2A64A4193462}"/>
              </a:ext>
            </a:extLst>
          </p:cNvPr>
          <p:cNvSpPr txBox="1"/>
          <p:nvPr/>
        </p:nvSpPr>
        <p:spPr>
          <a:xfrm>
            <a:off x="6467534" y="5952238"/>
            <a:ext cx="26562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% of HCPs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2E899D-7330-3D29-B1B3-6C2C3AAD8429}"/>
              </a:ext>
            </a:extLst>
          </p:cNvPr>
          <p:cNvSpPr txBox="1"/>
          <p:nvPr/>
        </p:nvSpPr>
        <p:spPr>
          <a:xfrm>
            <a:off x="3825858" y="5875294"/>
            <a:ext cx="265628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% of HCPs</a:t>
            </a:r>
            <a:br>
              <a:rPr kumimoji="0" lang="en-IN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</a:br>
            <a:r>
              <a:rPr kumimoji="0" lang="en-IN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Ranked 1, 2, 3 </a:t>
            </a:r>
          </a:p>
        </p:txBody>
      </p:sp>
      <p:graphicFrame>
        <p:nvGraphicFramePr>
          <p:cNvPr id="77" name="PP Recall">
            <a:extLst>
              <a:ext uri="{FF2B5EF4-FFF2-40B4-BE49-F238E27FC236}">
                <a16:creationId xmlns:a16="http://schemas.microsoft.com/office/drawing/2014/main" id="{9906AF3D-C03C-5F3B-91D9-AB4E45B3722E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502974"/>
              </p:ext>
            </p:extLst>
          </p:nvPr>
        </p:nvGraphicFramePr>
        <p:xfrm>
          <a:off x="9759331" y="1810469"/>
          <a:ext cx="666017" cy="4022816"/>
        </p:xfrm>
        <a:graphic>
          <a:graphicData uri="http://schemas.openxmlformats.org/drawingml/2006/table">
            <a:tbl>
              <a:tblPr firstRow="1" bandRow="1"/>
              <a:tblGrid>
                <a:gridCol w="666017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+11%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+15%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+8%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570210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947268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286757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187234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769944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860066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425912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80076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08FA324B-D4F8-3CCC-36CD-4D31AE6244CB}"/>
              </a:ext>
            </a:extLst>
          </p:cNvPr>
          <p:cNvSpPr txBox="1"/>
          <p:nvPr/>
        </p:nvSpPr>
        <p:spPr>
          <a:xfrm>
            <a:off x="9022141" y="1408508"/>
            <a:ext cx="2129239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GB"/>
            </a:defPPr>
            <a:lvl1pPr algn="ctr">
              <a:defRPr kumimoji="0" sz="11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 RYB+LAZ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 Reach Delta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Q3'25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49A08C-EEA6-5C8E-4BBB-6AD427BF4ACA}"/>
              </a:ext>
            </a:extLst>
          </p:cNvPr>
          <p:cNvSpPr/>
          <p:nvPr/>
        </p:nvSpPr>
        <p:spPr>
          <a:xfrm>
            <a:off x="137776" y="5942468"/>
            <a:ext cx="410889" cy="246221"/>
          </a:xfrm>
          <a:prstGeom prst="rect">
            <a:avLst/>
          </a:prstGeom>
          <a:solidFill>
            <a:srgbClr val="CEE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E2DFC-FA3E-65DC-C126-5F8FF1B77B3A}"/>
              </a:ext>
            </a:extLst>
          </p:cNvPr>
          <p:cNvSpPr txBox="1"/>
          <p:nvPr/>
        </p:nvSpPr>
        <p:spPr>
          <a:xfrm>
            <a:off x="-189238" y="5942468"/>
            <a:ext cx="420004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     Shaded cells represent highly preferred channels  </a:t>
            </a: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C4CB3C60-EA15-6101-04C8-2919C44E4F4F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397397-13A6-DCD3-AC0C-B4931E46B3D8}"/>
              </a:ext>
            </a:extLst>
          </p:cNvPr>
          <p:cNvGrpSpPr/>
          <p:nvPr/>
        </p:nvGrpSpPr>
        <p:grpSpPr>
          <a:xfrm>
            <a:off x="10641545" y="3105282"/>
            <a:ext cx="1261069" cy="1390460"/>
            <a:chOff x="10833900" y="3012480"/>
            <a:chExt cx="1261069" cy="139046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ED1A9FD-C237-72CC-CADB-86CAB466E79C}"/>
                </a:ext>
              </a:extLst>
            </p:cNvPr>
            <p:cNvGrpSpPr/>
            <p:nvPr/>
          </p:nvGrpSpPr>
          <p:grpSpPr>
            <a:xfrm>
              <a:off x="10833900" y="3561970"/>
              <a:ext cx="1098284" cy="840970"/>
              <a:chOff x="10833900" y="3429000"/>
              <a:chExt cx="1098284" cy="840970"/>
            </a:xfrm>
          </p:grpSpPr>
          <p:sp>
            <p:nvSpPr>
              <p:cNvPr id="16" name="Textbox_series_2">
                <a:extLst>
                  <a:ext uri="{FF2B5EF4-FFF2-40B4-BE49-F238E27FC236}">
                    <a16:creationId xmlns:a16="http://schemas.microsoft.com/office/drawing/2014/main" id="{9E9E7D82-5A55-97BF-8E6B-18ADFDF1807D}"/>
                  </a:ext>
                </a:extLst>
              </p:cNvPr>
              <p:cNvSpPr txBox="1"/>
              <p:nvPr/>
            </p:nvSpPr>
            <p:spPr>
              <a:xfrm flipH="1">
                <a:off x="10967122" y="3429000"/>
                <a:ext cx="965062" cy="341856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J&amp;J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/>
                    <a:cs typeface="+mn-cs"/>
                  </a:rPr>
                  <a:t>(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/>
                    <a:cs typeface="+mn-cs"/>
                  </a:rPr>
                  <a:t>n = 52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/>
                    <a:cs typeface="+mn-cs"/>
                  </a:rPr>
                  <a:t>) 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18" name="Legend_series_2">
                <a:extLst>
                  <a:ext uri="{FF2B5EF4-FFF2-40B4-BE49-F238E27FC236}">
                    <a16:creationId xmlns:a16="http://schemas.microsoft.com/office/drawing/2014/main" id="{C609F36F-0271-0079-D2EF-80BDB7986FB2}"/>
                  </a:ext>
                </a:extLst>
              </p:cNvPr>
              <p:cNvSpPr/>
              <p:nvPr/>
            </p:nvSpPr>
            <p:spPr>
              <a:xfrm>
                <a:off x="10833900" y="3564181"/>
                <a:ext cx="108000" cy="108000"/>
              </a:xfrm>
              <a:prstGeom prst="ellipse">
                <a:avLst/>
              </a:prstGeom>
              <a:solidFill>
                <a:srgbClr val="F7582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23" name="Textbox_series_2">
                <a:extLst>
                  <a:ext uri="{FF2B5EF4-FFF2-40B4-BE49-F238E27FC236}">
                    <a16:creationId xmlns:a16="http://schemas.microsoft.com/office/drawing/2014/main" id="{BA430574-9A18-66EE-4573-CAA07B07E037}"/>
                  </a:ext>
                </a:extLst>
              </p:cNvPr>
              <p:cNvSpPr txBox="1"/>
              <p:nvPr/>
            </p:nvSpPr>
            <p:spPr>
              <a:xfrm flipH="1">
                <a:off x="10947730" y="3928114"/>
                <a:ext cx="965061" cy="341856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t">
                <a:noAutofit/>
              </a:bodyPr>
              <a:lstStyle>
                <a:defPPr>
                  <a:defRPr lang="en-GB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000" b="0" i="0" u="none" strike="noStrike" cap="none" spc="0" normalizeH="0" baseline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ea typeface="Verdana" panose="020B060403050404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AZ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(n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 = 53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) </a:t>
                </a:r>
              </a:p>
            </p:txBody>
          </p:sp>
          <p:sp>
            <p:nvSpPr>
              <p:cNvPr id="25" name="Legend_series_2">
                <a:extLst>
                  <a:ext uri="{FF2B5EF4-FFF2-40B4-BE49-F238E27FC236}">
                    <a16:creationId xmlns:a16="http://schemas.microsoft.com/office/drawing/2014/main" id="{83CF2ECD-9BA6-CB63-27F5-ED6DB4238251}"/>
                  </a:ext>
                </a:extLst>
              </p:cNvPr>
              <p:cNvSpPr/>
              <p:nvPr/>
            </p:nvSpPr>
            <p:spPr>
              <a:xfrm>
                <a:off x="10833900" y="4062024"/>
                <a:ext cx="108000" cy="108000"/>
              </a:xfrm>
              <a:prstGeom prst="ellipse">
                <a:avLst/>
              </a:prstGeom>
              <a:solidFill>
                <a:srgbClr val="7030A0"/>
              </a:solidFill>
              <a:ln w="127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D76E122-C5AF-3B84-EDAE-A903E2D17AF9}"/>
                </a:ext>
              </a:extLst>
            </p:cNvPr>
            <p:cNvGrpSpPr/>
            <p:nvPr/>
          </p:nvGrpSpPr>
          <p:grpSpPr>
            <a:xfrm>
              <a:off x="10851594" y="3012480"/>
              <a:ext cx="1243375" cy="521985"/>
              <a:chOff x="10851594" y="3012480"/>
              <a:chExt cx="1243375" cy="521985"/>
            </a:xfrm>
          </p:grpSpPr>
          <p:sp>
            <p:nvSpPr>
              <p:cNvPr id="11" name="Flowchart: Decision 10">
                <a:extLst>
                  <a:ext uri="{FF2B5EF4-FFF2-40B4-BE49-F238E27FC236}">
                    <a16:creationId xmlns:a16="http://schemas.microsoft.com/office/drawing/2014/main" id="{AAD325DD-7F75-D953-C449-ECB95DA34565}"/>
                  </a:ext>
                </a:extLst>
              </p:cNvPr>
              <p:cNvSpPr/>
              <p:nvPr/>
            </p:nvSpPr>
            <p:spPr>
              <a:xfrm>
                <a:off x="10851594" y="3242301"/>
                <a:ext cx="72000" cy="72000"/>
              </a:xfrm>
              <a:prstGeom prst="flowChartDecision">
                <a:avLst/>
              </a:prstGeom>
              <a:solidFill>
                <a:srgbClr val="8C8C8C"/>
              </a:solidFill>
              <a:ln>
                <a:solidFill>
                  <a:srgbClr val="8C8C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12" name="Textbox_series_2">
                <a:extLst>
                  <a:ext uri="{FF2B5EF4-FFF2-40B4-BE49-F238E27FC236}">
                    <a16:creationId xmlns:a16="http://schemas.microsoft.com/office/drawing/2014/main" id="{B0181C18-E2F5-02F3-A69A-90C2BEC9DC08}"/>
                  </a:ext>
                </a:extLst>
              </p:cNvPr>
              <p:cNvSpPr txBox="1"/>
              <p:nvPr/>
            </p:nvSpPr>
            <p:spPr>
              <a:xfrm flipH="1">
                <a:off x="10969652" y="3012480"/>
                <a:ext cx="1125317" cy="521985"/>
              </a:xfrm>
              <a:prstGeom prst="rect">
                <a:avLst/>
              </a:prstGeom>
              <a:noFill/>
            </p:spPr>
            <p:txBody>
              <a:bodyPr vert="horz" wrap="square" rtlCol="0" anchor="ctr">
                <a:noAutofit/>
              </a:bodyPr>
              <a:lstStyle/>
              <a:p>
                <a:pPr marL="0" marR="0" lvl="0" indent="0" algn="l" defTabSz="9125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NSCLC Industry Average</a:t>
                </a:r>
                <a:r>
                  <a:rPr kumimoji="0" lang="en-IN" sz="10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%</a:t>
                </a:r>
              </a:p>
            </p:txBody>
          </p:sp>
        </p:grpSp>
      </p:grpSp>
      <p:sp>
        <p:nvSpPr>
          <p:cNvPr id="8" name="Google Shape;504;p12">
            <a:extLst>
              <a:ext uri="{FF2B5EF4-FFF2-40B4-BE49-F238E27FC236}">
                <a16:creationId xmlns:a16="http://schemas.microsoft.com/office/drawing/2014/main" id="{B8A828F3-5103-DCBB-6745-5F19D96D5155}"/>
              </a:ext>
            </a:extLst>
          </p:cNvPr>
          <p:cNvSpPr txBox="1"/>
          <p:nvPr/>
        </p:nvSpPr>
        <p:spPr>
          <a:xfrm>
            <a:off x="434597" y="1179485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NON-SALES REP PROMOTIONS REACH AND PREFERENCE for ALL HCPs</a:t>
            </a: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0EB70042-CC68-AD0D-C992-9243AFBA22B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7" name="Google Shape;229;p3">
            <a:extLst>
              <a:ext uri="{FF2B5EF4-FFF2-40B4-BE49-F238E27FC236}">
                <a16:creationId xmlns:a16="http://schemas.microsoft.com/office/drawing/2014/main" id="{FD133DBC-A052-9F2C-06C0-4785D9056B71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0538F81-3B32-85D7-15C5-11EBFA03A16E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167709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J&amp;J’s reach across majority of highly preferred and influential channels improves notably; however, HCPs’ J&amp;J online ad recall has declined, and now trails AZ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5BFD3FC-8C2D-7D17-D1A2-8CB18EFFA62E}"/>
              </a:ext>
            </a:extLst>
          </p:cNvPr>
          <p:cNvSpPr/>
          <p:nvPr/>
        </p:nvSpPr>
        <p:spPr>
          <a:xfrm>
            <a:off x="8946343" y="6397481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7" name="Textbox_series_2">
            <a:extLst>
              <a:ext uri="{FF2B5EF4-FFF2-40B4-BE49-F238E27FC236}">
                <a16:creationId xmlns:a16="http://schemas.microsoft.com/office/drawing/2014/main" id="{716F1FBB-F726-0A6F-9A79-213650C2A7F2}"/>
              </a:ext>
            </a:extLst>
          </p:cNvPr>
          <p:cNvSpPr txBox="1"/>
          <p:nvPr/>
        </p:nvSpPr>
        <p:spPr>
          <a:xfrm flipH="1">
            <a:off x="10508616" y="4602347"/>
            <a:ext cx="1545608" cy="1021556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dash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2116">
              <a:defRPr/>
            </a:pP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The decline in reach of </a:t>
            </a:r>
            <a:r>
              <a:rPr lang="en-US" sz="900" b="1" dirty="0">
                <a:solidFill>
                  <a:srgbClr val="F75824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RYB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 online ads was predominantly driven by </a:t>
            </a:r>
            <a:r>
              <a:rPr lang="en-US" sz="900" b="1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HCPs who participated in the survey only in Q4’25</a:t>
            </a:r>
          </a:p>
        </p:txBody>
      </p:sp>
      <p:sp>
        <p:nvSpPr>
          <p:cNvPr id="24" name="Highlight#25">
            <a:extLst>
              <a:ext uri="{FF2B5EF4-FFF2-40B4-BE49-F238E27FC236}">
                <a16:creationId xmlns:a16="http://schemas.microsoft.com/office/drawing/2014/main" id="{78BF8EE6-EE8F-2AB6-EE36-42F3DC1139DA}"/>
              </a:ext>
            </a:extLst>
          </p:cNvPr>
          <p:cNvSpPr txBox="1"/>
          <p:nvPr/>
        </p:nvSpPr>
        <p:spPr>
          <a:xfrm>
            <a:off x="137776" y="4107064"/>
            <a:ext cx="5400000" cy="2808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0D9D67-A899-57F6-DDC9-6057865F4E4D}"/>
              </a:ext>
            </a:extLst>
          </p:cNvPr>
          <p:cNvSpPr/>
          <p:nvPr/>
        </p:nvSpPr>
        <p:spPr>
          <a:xfrm>
            <a:off x="10256096" y="2743295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23E7872-5890-E83C-2825-D50AD40385E0}"/>
              </a:ext>
            </a:extLst>
          </p:cNvPr>
          <p:cNvSpPr/>
          <p:nvPr/>
        </p:nvSpPr>
        <p:spPr>
          <a:xfrm>
            <a:off x="4378192" y="6400333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1" name="Textbox_series_2">
            <a:extLst>
              <a:ext uri="{FF2B5EF4-FFF2-40B4-BE49-F238E27FC236}">
                <a16:creationId xmlns:a16="http://schemas.microsoft.com/office/drawing/2014/main" id="{CD721899-82BC-6239-1A67-A8305121A57C}"/>
              </a:ext>
            </a:extLst>
          </p:cNvPr>
          <p:cNvSpPr txBox="1"/>
          <p:nvPr/>
        </p:nvSpPr>
        <p:spPr>
          <a:xfrm flipH="1">
            <a:off x="10508616" y="2030755"/>
            <a:ext cx="1545608" cy="1128880"/>
          </a:xfrm>
          <a:prstGeom prst="roundRect">
            <a:avLst/>
          </a:prstGeom>
          <a:solidFill>
            <a:schemeClr val="bg1">
              <a:lumMod val="50000"/>
              <a:alpha val="14902"/>
            </a:schemeClr>
          </a:solidFill>
          <a:ln>
            <a:solidFill>
              <a:schemeClr val="bg1">
                <a:lumMod val="50000"/>
              </a:schemeClr>
            </a:solidFill>
            <a:prstDash val="lgDash"/>
          </a:ln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sz="9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+mn-ea"/>
                <a:cs typeface="+mn-cs"/>
              </a:rPr>
              <a:t>nccn.org,</a:t>
            </a:r>
            <a:r>
              <a:rPr kumimoji="1" lang="en-US" sz="9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+mn-ea"/>
                <a:cs typeface="+mn-cs"/>
              </a:rPr>
              <a:t> </a:t>
            </a:r>
            <a:r>
              <a:rPr kumimoji="1" lang="en-US" sz="9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+mn-ea"/>
                <a:cs typeface="+mn-cs"/>
              </a:rPr>
              <a:t>nejm.org</a:t>
            </a:r>
            <a:r>
              <a:rPr kumimoji="1" lang="en-US" sz="9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+mn-ea"/>
                <a:cs typeface="+mn-cs"/>
              </a:rPr>
              <a:t> and </a:t>
            </a:r>
            <a:r>
              <a:rPr kumimoji="1" lang="en-US" sz="9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+mn-ea"/>
                <a:cs typeface="+mn-cs"/>
              </a:rPr>
              <a:t>ascopubs.org</a:t>
            </a:r>
            <a:r>
              <a:rPr kumimoji="1" lang="en-US" sz="9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Johnson Text"/>
                <a:ea typeface="+mn-ea"/>
                <a:cs typeface="+mn-cs"/>
              </a:rPr>
              <a:t> continued to be the most preferred scientific or journal articles for clinical updates, FDA announcements, or emerging data</a:t>
            </a:r>
            <a:endParaRPr kumimoji="0" lang="en-US" sz="9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286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1529-4A34-5407-DAB4-0EA94558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9E5377-89E0-ED43-206E-93A107BE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806777A2-982F-C7E2-BA46-162BEAD9B08A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NON-SALES REP PROMOTIONS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EFFECTIVENESS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for ALL HCPs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graphicFrame>
        <p:nvGraphicFramePr>
          <p:cNvPr id="5" name="NPP Attributes">
            <a:extLst>
              <a:ext uri="{FF2B5EF4-FFF2-40B4-BE49-F238E27FC236}">
                <a16:creationId xmlns:a16="http://schemas.microsoft.com/office/drawing/2014/main" id="{05F76C20-CB59-2AE4-CEDC-B79D6BA0F90B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3322236"/>
              </p:ext>
            </p:extLst>
          </p:nvPr>
        </p:nvGraphicFramePr>
        <p:xfrm>
          <a:off x="783691" y="2501710"/>
          <a:ext cx="2477818" cy="290542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77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4237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Overall effectiveness of channel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en-US" sz="1000" i="0" kern="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Relevance / Usefulness of information in channel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547070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Clarity of information in channel</a:t>
                      </a:r>
                      <a:r>
                        <a:rPr kumimoji="1" lang="en-IN" sz="1000" i="0" kern="0" baseline="3000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$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087551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en-US" sz="1000" i="0" kern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Credibility of information in channel</a:t>
                      </a:r>
                      <a:r>
                        <a:rPr kumimoji="1" lang="en-IN" sz="1000" i="0" kern="0" baseline="3000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$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53241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en-IN" sz="1000" i="0" kern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Motivating to take action</a:t>
                      </a:r>
                      <a:r>
                        <a:rPr kumimoji="1" lang="en-IN" sz="1000" i="0" kern="0" baseline="3000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$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62325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en-US" sz="1000" i="0" kern="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Differentiation of information in channel</a:t>
                      </a:r>
                      <a:r>
                        <a:rPr kumimoji="1" lang="en-IN" sz="1000" i="0" kern="0" baseline="30000" dirty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$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339741"/>
                  </a:ext>
                </a:extLst>
              </a:tr>
            </a:tbl>
          </a:graphicData>
        </a:graphic>
      </p:graphicFrame>
      <p:sp>
        <p:nvSpPr>
          <p:cNvPr id="6" name="Google Shape;504;p12">
            <a:extLst>
              <a:ext uri="{FF2B5EF4-FFF2-40B4-BE49-F238E27FC236}">
                <a16:creationId xmlns:a16="http://schemas.microsoft.com/office/drawing/2014/main" id="{434C508F-E520-7F25-B82C-13E9751B6FA3}"/>
              </a:ext>
            </a:extLst>
          </p:cNvPr>
          <p:cNvSpPr txBox="1"/>
          <p:nvPr/>
        </p:nvSpPr>
        <p:spPr>
          <a:xfrm>
            <a:off x="1076237" y="1985597"/>
            <a:ext cx="1900738" cy="261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Attributes</a:t>
            </a:r>
            <a:endParaRPr kumimoji="0" lang="en-IN" sz="800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504;p12">
            <a:extLst>
              <a:ext uri="{FF2B5EF4-FFF2-40B4-BE49-F238E27FC236}">
                <a16:creationId xmlns:a16="http://schemas.microsoft.com/office/drawing/2014/main" id="{66A60DB3-EEAD-AD35-31DD-72A6BE7D1BA7}"/>
              </a:ext>
            </a:extLst>
          </p:cNvPr>
          <p:cNvSpPr txBox="1"/>
          <p:nvPr/>
        </p:nvSpPr>
        <p:spPr>
          <a:xfrm>
            <a:off x="2641560" y="1901171"/>
            <a:ext cx="1900738" cy="43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Industry</a:t>
            </a:r>
            <a:b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</a:br>
            <a: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Average</a:t>
            </a:r>
            <a:r>
              <a:rPr kumimoji="0" lang="en-IN" sz="1098" b="1" i="0" u="none" strike="noStrike" kern="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%</a:t>
            </a:r>
            <a:endParaRPr kumimoji="0" lang="en-IN" sz="800" b="0" i="0" u="none" strike="noStrike" kern="0" cap="none" spc="0" normalizeH="0" baseline="3000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0" name="RYB NPP Effectiveness">
            <a:extLst>
              <a:ext uri="{FF2B5EF4-FFF2-40B4-BE49-F238E27FC236}">
                <a16:creationId xmlns:a16="http://schemas.microsoft.com/office/drawing/2014/main" id="{CB172605-EDBE-6425-1F25-1165A9C01C3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12209074"/>
              </p:ext>
            </p:extLst>
          </p:nvPr>
        </p:nvGraphicFramePr>
        <p:xfrm>
          <a:off x="4049402" y="2401280"/>
          <a:ext cx="3352062" cy="3140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Google Shape;504;p12">
            <a:extLst>
              <a:ext uri="{FF2B5EF4-FFF2-40B4-BE49-F238E27FC236}">
                <a16:creationId xmlns:a16="http://schemas.microsoft.com/office/drawing/2014/main" id="{95A9E454-98F9-4E30-F4B0-D992C533FC60}"/>
              </a:ext>
            </a:extLst>
          </p:cNvPr>
          <p:cNvSpPr txBox="1"/>
          <p:nvPr/>
        </p:nvSpPr>
        <p:spPr>
          <a:xfrm>
            <a:off x="4701030" y="1908675"/>
            <a:ext cx="2048806" cy="415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99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1</a:t>
            </a:r>
            <a:r>
              <a:rPr lang="en-IN" sz="999">
                <a:solidFill>
                  <a:srgbClr val="505050">
                    <a:lumMod val="50000"/>
                  </a:srgbClr>
                </a:solidFill>
                <a:latin typeface="Johnson Text"/>
                <a:ea typeface="Verdana" panose="020B0604030504040204" pitchFamily="34" charset="0"/>
              </a:rPr>
              <a:t>49</a:t>
            </a: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)</a:t>
            </a:r>
          </a:p>
        </p:txBody>
      </p:sp>
      <p:graphicFrame>
        <p:nvGraphicFramePr>
          <p:cNvPr id="23" name="TAG_NPP">
            <a:extLst>
              <a:ext uri="{FF2B5EF4-FFF2-40B4-BE49-F238E27FC236}">
                <a16:creationId xmlns:a16="http://schemas.microsoft.com/office/drawing/2014/main" id="{397D13EC-A4C0-88B3-0604-BE95BCC1299B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41904290"/>
              </p:ext>
            </p:extLst>
          </p:nvPr>
        </p:nvGraphicFramePr>
        <p:xfrm>
          <a:off x="7676791" y="2421600"/>
          <a:ext cx="3472876" cy="3140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Google Shape;504;p12">
            <a:extLst>
              <a:ext uri="{FF2B5EF4-FFF2-40B4-BE49-F238E27FC236}">
                <a16:creationId xmlns:a16="http://schemas.microsoft.com/office/drawing/2014/main" id="{AD41F744-CEC4-4D78-C3C2-B96B722CD040}"/>
              </a:ext>
            </a:extLst>
          </p:cNvPr>
          <p:cNvSpPr txBox="1"/>
          <p:nvPr/>
        </p:nvSpPr>
        <p:spPr>
          <a:xfrm>
            <a:off x="8351905" y="1901182"/>
            <a:ext cx="2122649" cy="43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99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TAGRISSO</a:t>
            </a: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100</a:t>
            </a:r>
            <a:r>
              <a:rPr lang="en-IN" sz="999">
                <a:latin typeface="Johnson Text"/>
                <a:ea typeface="Verdana" panose="020B0604030504040204" pitchFamily="34" charset="0"/>
              </a:rPr>
              <a:t>)</a:t>
            </a:r>
            <a:endParaRPr kumimoji="0" lang="en-IN" sz="999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0E5D15-9D30-2BCC-3819-EE0DD866A756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defTabSz="1218988"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Attributes ordered according to decreasing value for RYB+LAZ | Question text in speaker notes | s corresponds to the total number of promotions | </a:t>
            </a:r>
            <a:r>
              <a:rPr kumimoji="1" lang="en-US" sz="900" b="0" i="1" u="none" strike="noStrike" kern="0" cap="none" spc="0" normalizeH="0" baseline="3000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%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Industry average definitions found in slide 4 | No statistically significant difference with 95% confidence interval found between RYB+LAZ and </a:t>
            </a:r>
            <a:r>
              <a:rPr kumimoji="1" lang="en-US" sz="900" i="1" kern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TAG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 | No statistically significant difference with 95% confidence interval found between latest two quarters </a:t>
            </a:r>
            <a:r>
              <a:rPr kumimoji="1" lang="en-IN" sz="900" i="1" kern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| </a:t>
            </a:r>
            <a:r>
              <a:rPr kumimoji="1" lang="en-IN" sz="900" i="1" kern="0" baseline="3000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$</a:t>
            </a:r>
            <a:r>
              <a:rPr kumimoji="1" lang="en-GB" sz="900" i="1" kern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  <a:sym typeface="Verdana"/>
              </a:rPr>
              <a:t>Industry average not tracked </a:t>
            </a:r>
            <a:r>
              <a:rPr kumimoji="1" lang="en-US" sz="900" i="1" kern="0">
                <a:solidFill>
                  <a:srgbClr val="7F7F7F"/>
                </a:solidFill>
              </a:rPr>
              <a:t>| </a:t>
            </a:r>
            <a:r>
              <a:rPr lang="en-US" sz="900" b="1" i="1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1" i="1" kern="0">
              <a:solidFill>
                <a:srgbClr val="005426"/>
              </a:solidFill>
              <a:latin typeface="Johnson Text" panose="020B0604020202020204" charset="0"/>
              <a:cs typeface="Johnson Text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BDF7E-2D8B-E203-8081-1A6BC63EB048}"/>
              </a:ext>
            </a:extLst>
          </p:cNvPr>
          <p:cNvSpPr txBox="1"/>
          <p:nvPr/>
        </p:nvSpPr>
        <p:spPr>
          <a:xfrm>
            <a:off x="4397985" y="5556211"/>
            <a:ext cx="2654897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% of Promotions Rated 6, 7</a:t>
            </a:r>
          </a:p>
        </p:txBody>
      </p:sp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D5B5B15D-C8CB-DAA1-CF3A-7735DBD0BE6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graphicFrame>
        <p:nvGraphicFramePr>
          <p:cNvPr id="4" name="Attributes">
            <a:extLst>
              <a:ext uri="{FF2B5EF4-FFF2-40B4-BE49-F238E27FC236}">
                <a16:creationId xmlns:a16="http://schemas.microsoft.com/office/drawing/2014/main" id="{79F5701D-D439-1D21-4BDD-29CEF93AE58B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425709465"/>
              </p:ext>
            </p:extLst>
          </p:nvPr>
        </p:nvGraphicFramePr>
        <p:xfrm>
          <a:off x="3267811" y="2501710"/>
          <a:ext cx="640024" cy="290542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40024">
                  <a:extLst>
                    <a:ext uri="{9D8B030D-6E8A-4147-A177-3AD203B41FA5}">
                      <a16:colId xmlns:a16="http://schemas.microsoft.com/office/drawing/2014/main" val="2571161444"/>
                    </a:ext>
                  </a:extLst>
                </a:gridCol>
              </a:tblGrid>
              <a:tr h="4842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62%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60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547070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64%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087551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63%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53241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65%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62325"/>
                  </a:ext>
                </a:extLst>
              </a:tr>
              <a:tr h="4842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61%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339741"/>
                  </a:ext>
                </a:extLst>
              </a:tr>
            </a:tbl>
          </a:graphicData>
        </a:graphic>
      </p:graphicFrame>
      <p:sp>
        <p:nvSpPr>
          <p:cNvPr id="30" name="Title 1">
            <a:extLst>
              <a:ext uri="{FF2B5EF4-FFF2-40B4-BE49-F238E27FC236}">
                <a16:creationId xmlns:a16="http://schemas.microsoft.com/office/drawing/2014/main" id="{1E9E7BAC-69BB-9D81-B61F-E34CBD793A5B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Overall effectiveness of J&amp;J non-sales rep promotions remains stable and on par with AZ in Q4’25, but lags in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clarity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credibility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differentiation</a:t>
            </a:r>
          </a:p>
        </p:txBody>
      </p:sp>
      <p:sp>
        <p:nvSpPr>
          <p:cNvPr id="14" name="Google Shape;229;p3">
            <a:extLst>
              <a:ext uri="{FF2B5EF4-FFF2-40B4-BE49-F238E27FC236}">
                <a16:creationId xmlns:a16="http://schemas.microsoft.com/office/drawing/2014/main" id="{835A15A4-50CF-9CA9-F1B0-89DDAC3186ED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29" name="Google Shape;229;p3">
            <a:extLst>
              <a:ext uri="{FF2B5EF4-FFF2-40B4-BE49-F238E27FC236}">
                <a16:creationId xmlns:a16="http://schemas.microsoft.com/office/drawing/2014/main" id="{A783E24D-E3B3-5EA6-8342-403471EAFBF5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6" name="PP Recall">
            <a:extLst>
              <a:ext uri="{FF2B5EF4-FFF2-40B4-BE49-F238E27FC236}">
                <a16:creationId xmlns:a16="http://schemas.microsoft.com/office/drawing/2014/main" id="{FBE58843-8078-6F19-75EA-3C5DE63F3550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814262302"/>
              </p:ext>
            </p:extLst>
          </p:nvPr>
        </p:nvGraphicFramePr>
        <p:xfrm>
          <a:off x="6814755" y="2501710"/>
          <a:ext cx="572516" cy="29052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7858380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</a:tbl>
          </a:graphicData>
        </a:graphic>
      </p:graphicFrame>
      <p:graphicFrame>
        <p:nvGraphicFramePr>
          <p:cNvPr id="33" name="Shape_73829154">
            <a:extLst>
              <a:ext uri="{FF2B5EF4-FFF2-40B4-BE49-F238E27FC236}">
                <a16:creationId xmlns:a16="http://schemas.microsoft.com/office/drawing/2014/main" id="{5B36F4CF-E812-1139-9A41-532F08E7F458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515967399"/>
              </p:ext>
            </p:extLst>
          </p:nvPr>
        </p:nvGraphicFramePr>
        <p:xfrm>
          <a:off x="10512170" y="2501710"/>
          <a:ext cx="572516" cy="29052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+9%</a:t>
                      </a:r>
                      <a:endParaRPr lang="en-IN" sz="900" b="0" i="0" u="none" strike="noStrike">
                        <a:solidFill>
                          <a:srgbClr val="00B05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+8%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7858380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437915F-6808-9D5E-807C-BBFD4C07E7E7}"/>
              </a:ext>
            </a:extLst>
          </p:cNvPr>
          <p:cNvSpPr txBox="1"/>
          <p:nvPr/>
        </p:nvSpPr>
        <p:spPr>
          <a:xfrm>
            <a:off x="6036394" y="1900782"/>
            <a:ext cx="2129239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GB"/>
            </a:defPPr>
            <a:lvl1pPr algn="ctr">
              <a:defRPr kumimoji="0" sz="11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Delta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Q3'25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3DE7D9-20D0-B780-2F17-814EB6BE222F}"/>
              </a:ext>
            </a:extLst>
          </p:cNvPr>
          <p:cNvSpPr txBox="1"/>
          <p:nvPr/>
        </p:nvSpPr>
        <p:spPr>
          <a:xfrm>
            <a:off x="9733809" y="1900782"/>
            <a:ext cx="2129239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GB"/>
            </a:defPPr>
            <a:lvl1pPr algn="ctr">
              <a:defRPr kumimoji="0" sz="11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Delta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Q3'25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DC63F6-F695-967C-4DC3-10C6155BF00A}"/>
              </a:ext>
            </a:extLst>
          </p:cNvPr>
          <p:cNvSpPr txBox="1"/>
          <p:nvPr/>
        </p:nvSpPr>
        <p:spPr>
          <a:xfrm>
            <a:off x="8085781" y="5556211"/>
            <a:ext cx="2654897" cy="246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 defTabSz="913486">
              <a:buClr>
                <a:srgbClr val="000000"/>
              </a:buClr>
              <a:defRPr/>
            </a:pPr>
            <a:r>
              <a:rPr lang="en-IN" sz="999" kern="0">
                <a:solidFill>
                  <a:srgbClr val="000000"/>
                </a:solidFill>
                <a:ea typeface="Verdana" panose="020B0604030504040204" pitchFamily="34" charset="0"/>
                <a:cs typeface="Arial"/>
                <a:sym typeface="Arial"/>
              </a:rPr>
              <a:t>% of Promotions Rated 6, 7</a:t>
            </a:r>
          </a:p>
        </p:txBody>
      </p:sp>
      <p:sp>
        <p:nvSpPr>
          <p:cNvPr id="8" name="Highlight#25">
            <a:extLst>
              <a:ext uri="{FF2B5EF4-FFF2-40B4-BE49-F238E27FC236}">
                <a16:creationId xmlns:a16="http://schemas.microsoft.com/office/drawing/2014/main" id="{16AF7373-6666-9EB1-E2AD-DABD67D890AE}"/>
              </a:ext>
            </a:extLst>
          </p:cNvPr>
          <p:cNvSpPr txBox="1"/>
          <p:nvPr/>
        </p:nvSpPr>
        <p:spPr>
          <a:xfrm>
            <a:off x="779126" y="2487814"/>
            <a:ext cx="10644524" cy="503036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Highlight#25">
            <a:extLst>
              <a:ext uri="{FF2B5EF4-FFF2-40B4-BE49-F238E27FC236}">
                <a16:creationId xmlns:a16="http://schemas.microsoft.com/office/drawing/2014/main" id="{3A138EE6-1B89-357D-F03D-05D96EBCBBB4}"/>
              </a:ext>
            </a:extLst>
          </p:cNvPr>
          <p:cNvSpPr txBox="1"/>
          <p:nvPr/>
        </p:nvSpPr>
        <p:spPr>
          <a:xfrm>
            <a:off x="779126" y="3464592"/>
            <a:ext cx="10644524" cy="972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5" name="Highlight#25">
            <a:extLst>
              <a:ext uri="{FF2B5EF4-FFF2-40B4-BE49-F238E27FC236}">
                <a16:creationId xmlns:a16="http://schemas.microsoft.com/office/drawing/2014/main" id="{F7B2BAC8-64E7-D044-5824-566EE3C28196}"/>
              </a:ext>
            </a:extLst>
          </p:cNvPr>
          <p:cNvSpPr txBox="1"/>
          <p:nvPr/>
        </p:nvSpPr>
        <p:spPr>
          <a:xfrm>
            <a:off x="779126" y="4917065"/>
            <a:ext cx="10644524" cy="503036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277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57B49-BD8E-4560-B10E-1BCCF33F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E54C-497E-D075-9017-3998CFA5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4" y="261082"/>
            <a:ext cx="11088000" cy="2757678"/>
          </a:xfrm>
        </p:spPr>
        <p:txBody>
          <a:bodyPr/>
          <a:lstStyle/>
          <a:p>
            <a:r>
              <a:rPr lang="en-US" sz="9600" dirty="0"/>
              <a:t>Key Findings –   </a:t>
            </a:r>
            <a:br>
              <a:rPr lang="en-US" sz="9600" dirty="0"/>
            </a:br>
            <a:r>
              <a:rPr lang="en-US" sz="6400" dirty="0"/>
              <a:t>Non-Sales Rep Promotions (Channel Level)</a:t>
            </a:r>
          </a:p>
        </p:txBody>
      </p:sp>
    </p:spTree>
    <p:extLst>
      <p:ext uri="{BB962C8B-B14F-4D97-AF65-F5344CB8AC3E}">
        <p14:creationId xmlns:p14="http://schemas.microsoft.com/office/powerpoint/2010/main" val="1284998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C86F-EDE8-0364-ABAF-07CE8D08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C2799C-1154-4550-EC94-7C71C677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AF967031-36E2-2D43-77CD-648F232A138E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NON-SALES REP PROMOTIONS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PERCEPTIONS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for ALL HCPs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Channel Level – 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graphicFrame>
        <p:nvGraphicFramePr>
          <p:cNvPr id="5" name="NPP Attributes">
            <a:extLst>
              <a:ext uri="{FF2B5EF4-FFF2-40B4-BE49-F238E27FC236}">
                <a16:creationId xmlns:a16="http://schemas.microsoft.com/office/drawing/2014/main" id="{098D2E3F-0E64-ACDF-7452-7C3D82E2A463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0920862"/>
              </p:ext>
            </p:extLst>
          </p:nvPr>
        </p:nvGraphicFramePr>
        <p:xfrm>
          <a:off x="218167" y="2011454"/>
          <a:ext cx="1612033" cy="364477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12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4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Overall effectiveness of channel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Relevance / Usefulness of information in channel</a:t>
                      </a:r>
                      <a:endParaRPr lang="en-IN" sz="10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547070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Clarity of information in channel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087551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Credibility of information in channel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53241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Motivating to take action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62325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  <a:sym typeface="Arial"/>
                        </a:rPr>
                        <a:t>Differentiation of information in channel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339741"/>
                  </a:ext>
                </a:extLst>
              </a:tr>
            </a:tbl>
          </a:graphicData>
        </a:graphic>
      </p:graphicFrame>
      <p:sp>
        <p:nvSpPr>
          <p:cNvPr id="6" name="Google Shape;504;p12">
            <a:extLst>
              <a:ext uri="{FF2B5EF4-FFF2-40B4-BE49-F238E27FC236}">
                <a16:creationId xmlns:a16="http://schemas.microsoft.com/office/drawing/2014/main" id="{FA239644-5CF2-7162-4F8F-ADC9ED8BDD7B}"/>
              </a:ext>
            </a:extLst>
          </p:cNvPr>
          <p:cNvSpPr txBox="1"/>
          <p:nvPr/>
        </p:nvSpPr>
        <p:spPr>
          <a:xfrm>
            <a:off x="596955" y="1618584"/>
            <a:ext cx="854456" cy="261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Attributes</a:t>
            </a:r>
            <a:endParaRPr kumimoji="0" lang="en-IN" sz="800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504;p12">
            <a:extLst>
              <a:ext uri="{FF2B5EF4-FFF2-40B4-BE49-F238E27FC236}">
                <a16:creationId xmlns:a16="http://schemas.microsoft.com/office/drawing/2014/main" id="{2A56B7F6-95B8-B99F-6AA5-CFBAC602E2FB}"/>
              </a:ext>
            </a:extLst>
          </p:cNvPr>
          <p:cNvSpPr txBox="1"/>
          <p:nvPr/>
        </p:nvSpPr>
        <p:spPr>
          <a:xfrm>
            <a:off x="1722257" y="1534158"/>
            <a:ext cx="824016" cy="43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126"/>
              </a:buClr>
              <a:buSzPts val="1100"/>
              <a:buFontTx/>
              <a:buNone/>
              <a:tabLst/>
              <a:defRPr/>
            </a:pPr>
            <a: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Industry</a:t>
            </a:r>
            <a:b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</a:br>
            <a:r>
              <a:rPr kumimoji="0" lang="en-IN" sz="1098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Average</a:t>
            </a:r>
            <a:r>
              <a:rPr kumimoji="0" lang="en-IN" sz="1098" b="1" i="0" u="none" strike="noStrike" kern="0" cap="none" spc="0" normalizeH="0" baseline="3000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%</a:t>
            </a:r>
            <a:endParaRPr kumimoji="0" lang="en-IN" sz="800" b="0" i="0" u="none" strike="noStrike" kern="0" cap="none" spc="0" normalizeH="0" baseline="3000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562E7-CF4F-38A9-2CDC-384BFA75AA22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1218988"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Attributes ordered according to decreasing overall value for RYB+LAZ in Q4'25 | Question text in speaker notes | s corresponds to the total number of promotions | </a:t>
            </a:r>
            <a:r>
              <a:rPr kumimoji="1" lang="en-US" sz="900" b="0" i="1" u="none" strike="noStrike" kern="0" cap="none" spc="0" normalizeH="0" baseline="3000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%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Industry average definitions found in slide 4</a:t>
            </a:r>
            <a:r>
              <a:rPr kumimoji="1" lang="en-US" sz="900" i="1" kern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  <a:sym typeface="Verdana"/>
              </a:rPr>
              <a:t> | No statistically </a:t>
            </a:r>
            <a:r>
              <a:rPr kumimoji="1" lang="en-US" sz="900" i="1" kern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significant difference with a 95% confidence interval between latest two quarters | </a:t>
            </a:r>
            <a:r>
              <a:rPr kumimoji="1" lang="en-US" sz="900" i="1" kern="0" baseline="3000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1</a:t>
            </a:r>
            <a:r>
              <a:rPr kumimoji="1" lang="en-US" sz="900" i="1" kern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Industry averages not tracked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</a:t>
            </a:r>
            <a:r>
              <a:rPr kumimoji="1" lang="en-US" sz="900" i="1" kern="0">
                <a:solidFill>
                  <a:srgbClr val="7F7F7F"/>
                </a:solidFill>
              </a:rPr>
              <a:t>| </a:t>
            </a:r>
            <a:r>
              <a:rPr kumimoji="1" lang="en-US" sz="900" i="1" kern="0">
                <a:solidFill>
                  <a:srgbClr val="FF0000"/>
                </a:solidFill>
              </a:rPr>
              <a:t>*Low Sample </a:t>
            </a:r>
            <a:r>
              <a:rPr kumimoji="1" lang="en-US" sz="900" i="1" kern="0">
                <a:solidFill>
                  <a:srgbClr val="7F7F7F"/>
                </a:solidFill>
              </a:rPr>
              <a:t>| </a:t>
            </a:r>
            <a:r>
              <a:rPr lang="en-US" sz="900" b="1" i="1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i="1" kern="0">
              <a:solidFill>
                <a:srgbClr val="FF0000"/>
              </a:solidFill>
            </a:endParaRPr>
          </a:p>
        </p:txBody>
      </p:sp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F1E3A68-DD83-27E6-9504-5921D0FE5B5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13E93B5-206C-E3B1-81CC-E38018BD2FB7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</a:rPr>
              <a:t>Pharma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websites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emails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medical conferences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are J&amp;J’s most effective non-personal channels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 – opportunities exist to drive perceptions of J&amp;J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online ads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seminars</a:t>
            </a:r>
          </a:p>
        </p:txBody>
      </p:sp>
      <p:graphicFrame>
        <p:nvGraphicFramePr>
          <p:cNvPr id="4" name="Attributes">
            <a:extLst>
              <a:ext uri="{FF2B5EF4-FFF2-40B4-BE49-F238E27FC236}">
                <a16:creationId xmlns:a16="http://schemas.microsoft.com/office/drawing/2014/main" id="{A141E383-6080-34B5-689F-64FF531ECE5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52990505"/>
              </p:ext>
            </p:extLst>
          </p:nvPr>
        </p:nvGraphicFramePr>
        <p:xfrm>
          <a:off x="1828145" y="2011454"/>
          <a:ext cx="612240" cy="364477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12240">
                  <a:extLst>
                    <a:ext uri="{9D8B030D-6E8A-4147-A177-3AD203B41FA5}">
                      <a16:colId xmlns:a16="http://schemas.microsoft.com/office/drawing/2014/main" val="2571161444"/>
                    </a:ext>
                  </a:extLst>
                </a:gridCol>
              </a:tblGrid>
              <a:tr h="6074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62%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60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547070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64%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087551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63%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53241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65%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62325"/>
                  </a:ext>
                </a:extLst>
              </a:tr>
              <a:tr h="6074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61%</a:t>
                      </a:r>
                    </a:p>
                  </a:txBody>
                  <a:tcPr marL="91392" marR="91392" marT="45696" marB="4569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339741"/>
                  </a:ext>
                </a:extLst>
              </a:tr>
            </a:tbl>
          </a:graphicData>
        </a:graphic>
      </p:graphicFrame>
      <p:sp>
        <p:nvSpPr>
          <p:cNvPr id="72" name="Google Shape;504;p12">
            <a:extLst>
              <a:ext uri="{FF2B5EF4-FFF2-40B4-BE49-F238E27FC236}">
                <a16:creationId xmlns:a16="http://schemas.microsoft.com/office/drawing/2014/main" id="{D3CC3498-A3C8-D57F-C1EA-B78F5B8E964C}"/>
              </a:ext>
            </a:extLst>
          </p:cNvPr>
          <p:cNvSpPr txBox="1"/>
          <p:nvPr/>
        </p:nvSpPr>
        <p:spPr>
          <a:xfrm>
            <a:off x="4637999" y="1541660"/>
            <a:ext cx="1329453" cy="415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99" b="1">
                <a:solidFill>
                  <a:srgbClr val="000000"/>
                </a:solidFill>
                <a:latin typeface="Johnson Display"/>
                <a:ea typeface="Verdana" panose="020B0604030504040204" pitchFamily="34" charset="0"/>
              </a:rPr>
              <a:t>Emails</a:t>
            </a:r>
            <a:endParaRPr kumimoji="0" lang="en-IN" sz="1099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65)</a:t>
            </a:r>
          </a:p>
        </p:txBody>
      </p:sp>
      <p:graphicFrame>
        <p:nvGraphicFramePr>
          <p:cNvPr id="8" name="RYB_NPP">
            <a:extLst>
              <a:ext uri="{FF2B5EF4-FFF2-40B4-BE49-F238E27FC236}">
                <a16:creationId xmlns:a16="http://schemas.microsoft.com/office/drawing/2014/main" id="{1A432DEC-6190-61AA-13BB-0F13B917E214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48123068"/>
              </p:ext>
            </p:extLst>
          </p:nvPr>
        </p:nvGraphicFramePr>
        <p:xfrm>
          <a:off x="4394490" y="1859363"/>
          <a:ext cx="144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28" name="Google Shape;504;p12">
            <a:extLst>
              <a:ext uri="{FF2B5EF4-FFF2-40B4-BE49-F238E27FC236}">
                <a16:creationId xmlns:a16="http://schemas.microsoft.com/office/drawing/2014/main" id="{426F6F7A-E7AA-8584-32BB-D9E7181D481E}"/>
              </a:ext>
            </a:extLst>
          </p:cNvPr>
          <p:cNvSpPr txBox="1"/>
          <p:nvPr/>
        </p:nvSpPr>
        <p:spPr>
          <a:xfrm>
            <a:off x="6453876" y="1541660"/>
            <a:ext cx="1354047" cy="415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Online Ads</a:t>
            </a: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32)</a:t>
            </a:r>
          </a:p>
        </p:txBody>
      </p:sp>
      <p:graphicFrame>
        <p:nvGraphicFramePr>
          <p:cNvPr id="29" name="Shape_71328194">
            <a:extLst>
              <a:ext uri="{FF2B5EF4-FFF2-40B4-BE49-F238E27FC236}">
                <a16:creationId xmlns:a16="http://schemas.microsoft.com/office/drawing/2014/main" id="{A6CED74D-AFBA-6EB1-660E-2D89EBA49D3D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85654320"/>
              </p:ext>
            </p:extLst>
          </p:nvPr>
        </p:nvGraphicFramePr>
        <p:xfrm>
          <a:off x="6205862" y="1859363"/>
          <a:ext cx="144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62" name="Shape_24614881">
            <a:extLst>
              <a:ext uri="{FF2B5EF4-FFF2-40B4-BE49-F238E27FC236}">
                <a16:creationId xmlns:a16="http://schemas.microsoft.com/office/drawing/2014/main" id="{05EB686A-61BB-617D-CC0C-DE324F95B78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810041579"/>
              </p:ext>
            </p:extLst>
          </p:nvPr>
        </p:nvGraphicFramePr>
        <p:xfrm>
          <a:off x="2556768" y="1859363"/>
          <a:ext cx="144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63" name="Google Shape;504;p12">
            <a:extLst>
              <a:ext uri="{FF2B5EF4-FFF2-40B4-BE49-F238E27FC236}">
                <a16:creationId xmlns:a16="http://schemas.microsoft.com/office/drawing/2014/main" id="{E0D06126-8F66-D573-8EE5-1F12257C7260}"/>
              </a:ext>
            </a:extLst>
          </p:cNvPr>
          <p:cNvSpPr txBox="1"/>
          <p:nvPr/>
        </p:nvSpPr>
        <p:spPr>
          <a:xfrm>
            <a:off x="2680210" y="1541660"/>
            <a:ext cx="1595935" cy="415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Websites</a:t>
            </a: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</a:t>
            </a:r>
            <a:r>
              <a:rPr lang="en-IN" sz="999">
                <a:solidFill>
                  <a:srgbClr val="505050">
                    <a:lumMod val="50000"/>
                  </a:srgbClr>
                </a:solidFill>
                <a:latin typeface="Johnson Text"/>
                <a:ea typeface="Verdana" panose="020B0604030504040204" pitchFamily="34" charset="0"/>
              </a:rPr>
              <a:t>19</a:t>
            </a: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*</a:t>
            </a: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)</a:t>
            </a:r>
          </a:p>
        </p:txBody>
      </p:sp>
      <p:graphicFrame>
        <p:nvGraphicFramePr>
          <p:cNvPr id="9" name="Shape_98962596">
            <a:extLst>
              <a:ext uri="{FF2B5EF4-FFF2-40B4-BE49-F238E27FC236}">
                <a16:creationId xmlns:a16="http://schemas.microsoft.com/office/drawing/2014/main" id="{8C80C48E-FD36-04B1-95A0-1D58EF3DED83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417466004"/>
              </p:ext>
            </p:extLst>
          </p:nvPr>
        </p:nvGraphicFramePr>
        <p:xfrm>
          <a:off x="8050835" y="1859363"/>
          <a:ext cx="144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2" name="Google Shape;504;p12">
            <a:extLst>
              <a:ext uri="{FF2B5EF4-FFF2-40B4-BE49-F238E27FC236}">
                <a16:creationId xmlns:a16="http://schemas.microsoft.com/office/drawing/2014/main" id="{703EBFB5-FC50-2A16-4218-0C42CE20CB71}"/>
              </a:ext>
            </a:extLst>
          </p:cNvPr>
          <p:cNvSpPr txBox="1"/>
          <p:nvPr/>
        </p:nvSpPr>
        <p:spPr>
          <a:xfrm>
            <a:off x="8259525" y="1541660"/>
            <a:ext cx="1477412" cy="415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Seminar / Webinar</a:t>
            </a: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17</a:t>
            </a: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*</a:t>
            </a: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24D444-AFF3-924A-91D7-393174CEE551}"/>
              </a:ext>
            </a:extLst>
          </p:cNvPr>
          <p:cNvSpPr txBox="1"/>
          <p:nvPr/>
        </p:nvSpPr>
        <p:spPr>
          <a:xfrm>
            <a:off x="6184119" y="5771272"/>
            <a:ext cx="17280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+mn-cs"/>
              </a:rPr>
              <a:t>% of Promotions Rated 6,7</a:t>
            </a:r>
            <a:endParaRPr lang="en-US" sz="1000">
              <a:ea typeface="Verdana"/>
              <a:cs typeface="+mn-cs"/>
            </a:endParaRPr>
          </a:p>
        </p:txBody>
      </p:sp>
      <p:sp>
        <p:nvSpPr>
          <p:cNvPr id="50" name="Google Shape;229;p3">
            <a:extLst>
              <a:ext uri="{FF2B5EF4-FFF2-40B4-BE49-F238E27FC236}">
                <a16:creationId xmlns:a16="http://schemas.microsoft.com/office/drawing/2014/main" id="{D5618A6C-A8C9-CD3B-673F-87BA70A7E3C1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– 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9" name="Shape_79756798">
            <a:extLst>
              <a:ext uri="{FF2B5EF4-FFF2-40B4-BE49-F238E27FC236}">
                <a16:creationId xmlns:a16="http://schemas.microsoft.com/office/drawing/2014/main" id="{22F0BCF2-7690-4E7A-F08D-53FBFC1AB0CB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583608537"/>
              </p:ext>
            </p:extLst>
          </p:nvPr>
        </p:nvGraphicFramePr>
        <p:xfrm>
          <a:off x="9940533" y="1859363"/>
          <a:ext cx="144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40" name="Google Shape;504;p12">
            <a:extLst>
              <a:ext uri="{FF2B5EF4-FFF2-40B4-BE49-F238E27FC236}">
                <a16:creationId xmlns:a16="http://schemas.microsoft.com/office/drawing/2014/main" id="{A98162C7-A20F-A56C-AC1D-F6A1678B7351}"/>
              </a:ext>
            </a:extLst>
          </p:cNvPr>
          <p:cNvSpPr txBox="1"/>
          <p:nvPr/>
        </p:nvSpPr>
        <p:spPr>
          <a:xfrm>
            <a:off x="10149222" y="1541660"/>
            <a:ext cx="1595935" cy="415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329" tIns="45652" rIns="91329" bIns="45652" anchor="ctr" anchorCtr="0">
            <a:spAutoFit/>
          </a:bodyPr>
          <a:lstStyle/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Medical Conferences</a:t>
            </a:r>
          </a:p>
          <a:p>
            <a:pPr marL="0" marR="0" lvl="0" indent="0" algn="ctr" defTabSz="913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16</a:t>
            </a: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*</a:t>
            </a: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)</a:t>
            </a:r>
          </a:p>
        </p:txBody>
      </p:sp>
      <p:graphicFrame>
        <p:nvGraphicFramePr>
          <p:cNvPr id="16" name="PP Recall">
            <a:extLst>
              <a:ext uri="{FF2B5EF4-FFF2-40B4-BE49-F238E27FC236}">
                <a16:creationId xmlns:a16="http://schemas.microsoft.com/office/drawing/2014/main" id="{1E924840-81C9-400B-7970-70E876364ADF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8310434"/>
              </p:ext>
            </p:extLst>
          </p:nvPr>
        </p:nvGraphicFramePr>
        <p:xfrm>
          <a:off x="5611603" y="1980974"/>
          <a:ext cx="572516" cy="36720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-11%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</a:tbl>
          </a:graphicData>
        </a:graphic>
      </p:graphicFrame>
      <p:graphicFrame>
        <p:nvGraphicFramePr>
          <p:cNvPr id="21" name="Shape_80585575">
            <a:extLst>
              <a:ext uri="{FF2B5EF4-FFF2-40B4-BE49-F238E27FC236}">
                <a16:creationId xmlns:a16="http://schemas.microsoft.com/office/drawing/2014/main" id="{E1B08638-338D-836A-81FE-33133BA86990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695721009"/>
              </p:ext>
            </p:extLst>
          </p:nvPr>
        </p:nvGraphicFramePr>
        <p:xfrm>
          <a:off x="7233889" y="1980974"/>
          <a:ext cx="572516" cy="36720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</a:tbl>
          </a:graphicData>
        </a:graphic>
      </p:graphicFrame>
      <p:graphicFrame>
        <p:nvGraphicFramePr>
          <p:cNvPr id="33" name="Shape_57639954">
            <a:extLst>
              <a:ext uri="{FF2B5EF4-FFF2-40B4-BE49-F238E27FC236}">
                <a16:creationId xmlns:a16="http://schemas.microsoft.com/office/drawing/2014/main" id="{CE990F57-ABF0-98B2-DA07-9B22214C5BE3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839810929"/>
              </p:ext>
            </p:extLst>
          </p:nvPr>
        </p:nvGraphicFramePr>
        <p:xfrm>
          <a:off x="9392999" y="1980974"/>
          <a:ext cx="572516" cy="36720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+27%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+9%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</a:tbl>
          </a:graphicData>
        </a:graphic>
      </p:graphicFrame>
      <p:sp>
        <p:nvSpPr>
          <p:cNvPr id="10" name="Google Shape;229;p3">
            <a:extLst>
              <a:ext uri="{FF2B5EF4-FFF2-40B4-BE49-F238E27FC236}">
                <a16:creationId xmlns:a16="http://schemas.microsoft.com/office/drawing/2014/main" id="{AC92D29E-7782-54E8-1CA2-7EE59BA50701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aphicFrame>
        <p:nvGraphicFramePr>
          <p:cNvPr id="12" name="Shape_73159276">
            <a:extLst>
              <a:ext uri="{FF2B5EF4-FFF2-40B4-BE49-F238E27FC236}">
                <a16:creationId xmlns:a16="http://schemas.microsoft.com/office/drawing/2014/main" id="{5F9B21D4-EEF5-1316-4CF5-6972F2F024E7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749207152"/>
              </p:ext>
            </p:extLst>
          </p:nvPr>
        </p:nvGraphicFramePr>
        <p:xfrm>
          <a:off x="3852973" y="1980974"/>
          <a:ext cx="572516" cy="36720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</a:tbl>
          </a:graphicData>
        </a:graphic>
      </p:graphicFrame>
      <p:graphicFrame>
        <p:nvGraphicFramePr>
          <p:cNvPr id="13" name="Shape_305588">
            <a:extLst>
              <a:ext uri="{FF2B5EF4-FFF2-40B4-BE49-F238E27FC236}">
                <a16:creationId xmlns:a16="http://schemas.microsoft.com/office/drawing/2014/main" id="{5DF55041-5E7D-A820-C52A-852342EB6243}"/>
              </a:ext>
            </a:extLst>
          </p:cNvPr>
          <p:cNvGraphicFramePr>
            <a:graphicFrameLocks noGrp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4169042947"/>
              </p:ext>
            </p:extLst>
          </p:nvPr>
        </p:nvGraphicFramePr>
        <p:xfrm>
          <a:off x="11284529" y="1980974"/>
          <a:ext cx="572516" cy="36720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+12%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+18%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-35%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+6%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+7%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</a:tbl>
          </a:graphicData>
        </a:graphic>
      </p:graphicFrame>
      <p:sp>
        <p:nvSpPr>
          <p:cNvPr id="11" name="Highlight#25">
            <a:extLst>
              <a:ext uri="{FF2B5EF4-FFF2-40B4-BE49-F238E27FC236}">
                <a16:creationId xmlns:a16="http://schemas.microsoft.com/office/drawing/2014/main" id="{1ADA2AF3-F7DD-2443-3C70-57B59E5C60BA}"/>
              </a:ext>
            </a:extLst>
          </p:cNvPr>
          <p:cNvSpPr txBox="1"/>
          <p:nvPr/>
        </p:nvSpPr>
        <p:spPr>
          <a:xfrm>
            <a:off x="6162675" y="1504950"/>
            <a:ext cx="3762375" cy="428625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7335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45B8-B887-C441-CE70-7D3FA163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EC7AB9-6D21-AF3E-BF50-120986BF85FB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3540112"/>
              </p:ext>
            </p:extLst>
          </p:nvPr>
        </p:nvGraphicFramePr>
        <p:xfrm>
          <a:off x="2009033" y="2303521"/>
          <a:ext cx="8460000" cy="3780940"/>
        </p:xfrm>
        <a:graphic>
          <a:graphicData uri="http://schemas.openxmlformats.org/drawingml/2006/table">
            <a:tbl>
              <a:tblPr firstRow="1" bandRow="1"/>
              <a:tblGrid>
                <a:gridCol w="1410000">
                  <a:extLst>
                    <a:ext uri="{9D8B030D-6E8A-4147-A177-3AD203B41FA5}">
                      <a16:colId xmlns:a16="http://schemas.microsoft.com/office/drawing/2014/main" val="2559294124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1081241644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1115832839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3280921295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2911676104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1726727103"/>
                    </a:ext>
                  </a:extLst>
                </a:gridCol>
              </a:tblGrid>
              <a:tr h="3780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Indication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47%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D6A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40%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CB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50%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4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41%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B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31%</a:t>
                      </a:r>
                      <a:endParaRPr lang="en-US" sz="1000" b="0" i="0" u="none" strike="noStrike" baseline="3000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4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588000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– NSCLC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48%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D5A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33%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45%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8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46%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53387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MOA – Inhibition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8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E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229314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NCCN – CNS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4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8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27932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F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B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1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68838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– mPFS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D6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2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4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998226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- OS Headline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2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E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7241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– CNS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F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1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B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989321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- mOS Not Reached</a:t>
                      </a: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F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2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A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486027"/>
                  </a:ext>
                </a:extLst>
              </a:tr>
              <a:tr h="378094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Safety – ARs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D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A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D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90873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84BCAF-13F9-58CC-EB7B-6393A9FA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Google Shape;229;p3">
            <a:extLst>
              <a:ext uri="{FF2B5EF4-FFF2-40B4-BE49-F238E27FC236}">
                <a16:creationId xmlns:a16="http://schemas.microsoft.com/office/drawing/2014/main" id="{0C0C587A-80B8-2524-4A74-7CB28199C669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</a:t>
            </a:r>
            <a:r>
              <a:rPr kumimoji="0" lang="en-US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– Non-Sales Rep Promotions</a:t>
            </a:r>
            <a:endParaRPr kumimoji="0" lang="en-IN" sz="999" b="0" i="0" u="none" strike="noStrike" kern="0" cap="none" spc="0" normalizeH="0" baseline="0" noProof="0" dirty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744D8-A260-432A-47D8-1B01FDFF2599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>
              <a:buClr>
                <a:srgbClr val="7F7F7F"/>
              </a:buClr>
              <a:buSzPts val="900"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Question text in speaker notes | ^Complete message text in speaker notes | Messages are ordered by decreasing order of overall recall | No </a:t>
            </a:r>
            <a:r>
              <a:rPr kumimoji="1" lang="en-US" sz="900" i="1" kern="0" dirty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  <a:sym typeface="Verdana"/>
              </a:rPr>
              <a:t>statistically </a:t>
            </a:r>
            <a:r>
              <a:rPr kumimoji="1" lang="en-US" sz="900" i="1" kern="0" dirty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significant difference with a 95% confidence interval between latest two quarters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*Low Sample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Messages added in Nov’25 (s = 17</a:t>
            </a:r>
            <a:r>
              <a:rPr kumimoji="1" lang="en-US" sz="900" i="1" kern="0" dirty="0">
                <a:solidFill>
                  <a:srgbClr val="FF0000"/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*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, 50, 24</a:t>
            </a:r>
            <a:r>
              <a:rPr kumimoji="1" lang="en-US" sz="900" i="1" kern="0" dirty="0">
                <a:solidFill>
                  <a:srgbClr val="FF0000"/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*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, 11</a:t>
            </a:r>
            <a:r>
              <a:rPr kumimoji="1" lang="en-US" sz="900" i="1" kern="0" dirty="0">
                <a:solidFill>
                  <a:srgbClr val="FF0000"/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*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, 13</a:t>
            </a:r>
            <a:r>
              <a:rPr kumimoji="1" lang="en-US" sz="900" i="1" kern="0" dirty="0">
                <a:solidFill>
                  <a:srgbClr val="FF0000"/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*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)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FDFFC3"/>
                </a:highlight>
                <a:latin typeface="Johnson Text" panose="020B0604020202020204" charset="0"/>
                <a:cs typeface="Johnson Text" panose="020B0604020202020204" charset="0"/>
              </a:rPr>
              <a:t>| Messages edited during end of Oct’25 </a:t>
            </a:r>
            <a:r>
              <a:rPr kumimoji="1" lang="en-US" sz="900" i="1" kern="0" dirty="0">
                <a:solidFill>
                  <a:srgbClr val="7F7F7F"/>
                </a:solidFill>
              </a:rPr>
              <a:t>| </a:t>
            </a:r>
            <a:r>
              <a:rPr lang="en-US" sz="900" b="1" i="1" dirty="0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 dirty="0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 dirty="0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 panose="020B0604020202020204" charset="0"/>
              <a:cs typeface="Johnson Text" panose="020B0604020202020204" charset="0"/>
              <a:sym typeface="Verdan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7A133-4AB2-8EE3-0385-3E0B374BDA0A}"/>
              </a:ext>
            </a:extLst>
          </p:cNvPr>
          <p:cNvSpPr txBox="1"/>
          <p:nvPr/>
        </p:nvSpPr>
        <p:spPr>
          <a:xfrm>
            <a:off x="5988902" y="6165174"/>
            <a:ext cx="1954021" cy="24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 panose="020B0604020202020204" pitchFamily="34" charset="0"/>
              </a:rPr>
              <a:t>% of Promotions</a:t>
            </a:r>
          </a:p>
        </p:txBody>
      </p:sp>
      <p:sp>
        <p:nvSpPr>
          <p:cNvPr id="7" name="Google Shape;504;p12">
            <a:extLst>
              <a:ext uri="{FF2B5EF4-FFF2-40B4-BE49-F238E27FC236}">
                <a16:creationId xmlns:a16="http://schemas.microsoft.com/office/drawing/2014/main" id="{6743FFE9-EF9D-925E-A27C-F51658E50002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NON-SALES REP PROMOTIONS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Aided MESSAGE RECALL by CHANNELS 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– Q4'25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7EB3CC17-D38A-2ADA-7B56-1FC4E4063F8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85" y="1068760"/>
            <a:ext cx="248400" cy="2484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0925ABF-C3F8-995A-9213-6B6E669F9148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Recall of RYB+LAZ messages from J&amp;J online ads declines notably QoQ, with recall of highly effective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CNS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NCCN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messages lagging other channels</a:t>
            </a:r>
          </a:p>
        </p:txBody>
      </p:sp>
      <p:sp>
        <p:nvSpPr>
          <p:cNvPr id="4" name="Google Shape;229;p3">
            <a:extLst>
              <a:ext uri="{FF2B5EF4-FFF2-40B4-BE49-F238E27FC236}">
                <a16:creationId xmlns:a16="http://schemas.microsoft.com/office/drawing/2014/main" id="{2D61BFDA-BFCE-BA0A-1352-440290F43FF9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aphicFrame>
        <p:nvGraphicFramePr>
          <p:cNvPr id="8" name="PP Recall">
            <a:extLst>
              <a:ext uri="{FF2B5EF4-FFF2-40B4-BE49-F238E27FC236}">
                <a16:creationId xmlns:a16="http://schemas.microsoft.com/office/drawing/2014/main" id="{132BB4AE-5375-2E8F-78FE-9C1018A1DC8E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18439568"/>
              </p:ext>
            </p:extLst>
          </p:nvPr>
        </p:nvGraphicFramePr>
        <p:xfrm>
          <a:off x="4286937" y="2307488"/>
          <a:ext cx="572516" cy="377221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4947268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286757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5090382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-6%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4396958"/>
                  </a:ext>
                </a:extLst>
              </a:tr>
            </a:tbl>
          </a:graphicData>
        </a:graphic>
      </p:graphicFrame>
      <p:graphicFrame>
        <p:nvGraphicFramePr>
          <p:cNvPr id="9" name="Shape_91513316">
            <a:extLst>
              <a:ext uri="{FF2B5EF4-FFF2-40B4-BE49-F238E27FC236}">
                <a16:creationId xmlns:a16="http://schemas.microsoft.com/office/drawing/2014/main" id="{739CA09F-B349-EBAA-BD8E-7A22FE2564F7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54423891"/>
              </p:ext>
            </p:extLst>
          </p:nvPr>
        </p:nvGraphicFramePr>
        <p:xfrm>
          <a:off x="5702644" y="2307488"/>
          <a:ext cx="572516" cy="377221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237A44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+14%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-11%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4947268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286757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1439237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</a:t>
                      </a: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7470098"/>
                  </a:ext>
                </a:extLst>
              </a:tr>
            </a:tbl>
          </a:graphicData>
        </a:graphic>
      </p:graphicFrame>
      <p:graphicFrame>
        <p:nvGraphicFramePr>
          <p:cNvPr id="10" name="Shape_15654328">
            <a:extLst>
              <a:ext uri="{FF2B5EF4-FFF2-40B4-BE49-F238E27FC236}">
                <a16:creationId xmlns:a16="http://schemas.microsoft.com/office/drawing/2014/main" id="{F8E8A0E8-001F-D7B1-C0D8-5D6BA1478579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40950344"/>
              </p:ext>
            </p:extLst>
          </p:nvPr>
        </p:nvGraphicFramePr>
        <p:xfrm>
          <a:off x="7118351" y="2307488"/>
          <a:ext cx="572516" cy="377221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+7%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-13%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</a:t>
                      </a: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4947268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-12%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286757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9916843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-6%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324981"/>
                  </a:ext>
                </a:extLst>
              </a:tr>
            </a:tbl>
          </a:graphicData>
        </a:graphic>
      </p:graphicFrame>
      <p:graphicFrame>
        <p:nvGraphicFramePr>
          <p:cNvPr id="12" name="Shape_43192784">
            <a:extLst>
              <a:ext uri="{FF2B5EF4-FFF2-40B4-BE49-F238E27FC236}">
                <a16:creationId xmlns:a16="http://schemas.microsoft.com/office/drawing/2014/main" id="{DF40CE53-5793-E1BB-52BB-61C63B859AC9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86831541"/>
              </p:ext>
            </p:extLst>
          </p:nvPr>
        </p:nvGraphicFramePr>
        <p:xfrm>
          <a:off x="8534058" y="2307488"/>
          <a:ext cx="572516" cy="377221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237A44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+16%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237A44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+17%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4947268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+16%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286757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0870313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-38%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252695"/>
                  </a:ext>
                </a:extLst>
              </a:tr>
            </a:tbl>
          </a:graphicData>
        </a:graphic>
      </p:graphicFrame>
      <p:graphicFrame>
        <p:nvGraphicFramePr>
          <p:cNvPr id="17" name="Shape_55407956">
            <a:extLst>
              <a:ext uri="{FF2B5EF4-FFF2-40B4-BE49-F238E27FC236}">
                <a16:creationId xmlns:a16="http://schemas.microsoft.com/office/drawing/2014/main" id="{474C442F-E70B-28B9-392A-2DC554455EF4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80463231"/>
              </p:ext>
            </p:extLst>
          </p:nvPr>
        </p:nvGraphicFramePr>
        <p:xfrm>
          <a:off x="9884555" y="2307488"/>
          <a:ext cx="572516" cy="377221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5426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-6%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9443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-13%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4947268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286757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-12%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9691196"/>
                  </a:ext>
                </a:extLst>
              </a:tr>
              <a:tr h="377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-23%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639759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A7E5A1-45B9-2EE5-ADFC-36DCA16BD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697444"/>
              </p:ext>
            </p:extLst>
          </p:nvPr>
        </p:nvGraphicFramePr>
        <p:xfrm>
          <a:off x="2009033" y="1536132"/>
          <a:ext cx="8460000" cy="759060"/>
        </p:xfrm>
        <a:graphic>
          <a:graphicData uri="http://schemas.openxmlformats.org/drawingml/2006/table">
            <a:tbl>
              <a:tblPr firstRow="1" bandRow="1"/>
              <a:tblGrid>
                <a:gridCol w="1410000">
                  <a:extLst>
                    <a:ext uri="{9D8B030D-6E8A-4147-A177-3AD203B41FA5}">
                      <a16:colId xmlns:a16="http://schemas.microsoft.com/office/drawing/2014/main" val="3943241952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4234154398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3436411690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2093021727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3334695591"/>
                    </a:ext>
                  </a:extLst>
                </a:gridCol>
                <a:gridCol w="1410000">
                  <a:extLst>
                    <a:ext uri="{9D8B030D-6E8A-4147-A177-3AD203B41FA5}">
                      <a16:colId xmlns:a16="http://schemas.microsoft.com/office/drawing/2014/main" val="619270768"/>
                    </a:ext>
                  </a:extLst>
                </a:gridCol>
              </a:tblGrid>
              <a:tr h="3810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Tag^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Websites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C7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Emails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4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Online Ads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BE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Seminar / Webinar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Medical Conferences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65566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19</a:t>
                      </a: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65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32</a:t>
                      </a: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17</a:t>
                      </a: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16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*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5113" marR="5113" marT="51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61623"/>
                  </a:ext>
                </a:extLst>
              </a:tr>
            </a:tbl>
          </a:graphicData>
        </a:graphic>
      </p:graphicFrame>
      <p:sp>
        <p:nvSpPr>
          <p:cNvPr id="21" name="Highlight#25">
            <a:extLst>
              <a:ext uri="{FF2B5EF4-FFF2-40B4-BE49-F238E27FC236}">
                <a16:creationId xmlns:a16="http://schemas.microsoft.com/office/drawing/2014/main" id="{2D01CD17-0660-2CBF-06BC-326D97BB6497}"/>
              </a:ext>
            </a:extLst>
          </p:cNvPr>
          <p:cNvSpPr txBox="1"/>
          <p:nvPr/>
        </p:nvSpPr>
        <p:spPr>
          <a:xfrm>
            <a:off x="2023368" y="2682739"/>
            <a:ext cx="8442000" cy="378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2" name="Highlight#25">
            <a:extLst>
              <a:ext uri="{FF2B5EF4-FFF2-40B4-BE49-F238E27FC236}">
                <a16:creationId xmlns:a16="http://schemas.microsoft.com/office/drawing/2014/main" id="{98215F5A-2C05-4ECA-FA9B-A617564C96AC}"/>
              </a:ext>
            </a:extLst>
          </p:cNvPr>
          <p:cNvSpPr txBox="1"/>
          <p:nvPr/>
        </p:nvSpPr>
        <p:spPr>
          <a:xfrm>
            <a:off x="2023368" y="3436194"/>
            <a:ext cx="8442000" cy="378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Highlight#25">
            <a:extLst>
              <a:ext uri="{FF2B5EF4-FFF2-40B4-BE49-F238E27FC236}">
                <a16:creationId xmlns:a16="http://schemas.microsoft.com/office/drawing/2014/main" id="{4970F648-9122-972B-F71C-E0F832023A85}"/>
              </a:ext>
            </a:extLst>
          </p:cNvPr>
          <p:cNvSpPr txBox="1"/>
          <p:nvPr/>
        </p:nvSpPr>
        <p:spPr>
          <a:xfrm>
            <a:off x="2023368" y="4947333"/>
            <a:ext cx="8442000" cy="378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75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0C86-FD63-76A9-DA74-A7812913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CC731158-EB34-D315-0C7A-A9AA7FC7ECAF}"/>
              </a:ext>
            </a:extLst>
          </p:cNvPr>
          <p:cNvSpPr txBox="1"/>
          <p:nvPr/>
        </p:nvSpPr>
        <p:spPr>
          <a:xfrm>
            <a:off x="421367" y="1197435"/>
            <a:ext cx="11279893" cy="2719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PERFORMANCE SCORECARD – Online Ads – Q4'25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F179C2F-325B-ABD3-710B-4750FD7146F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F9BE8C-E631-D4C7-0582-457B2521756D}"/>
              </a:ext>
            </a:extLst>
          </p:cNvPr>
          <p:cNvSpPr txBox="1"/>
          <p:nvPr/>
        </p:nvSpPr>
        <p:spPr>
          <a:xfrm>
            <a:off x="2401964" y="6201486"/>
            <a:ext cx="938056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Question text in speaker notes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s corresponds to the total number of promotions |      Denotes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significant difference with a 95% confidence interval between RYB+LAZ and TAG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|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Full message text in speaker notes | </a:t>
            </a:r>
            <a:r>
              <a:rPr kumimoji="0" lang="en-US" sz="900" b="0" i="0" u="none" strike="noStrike" kern="0" cap="none" spc="0" normalizeH="0" baseline="3000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1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Top 5 recalled topics, messages and actions taken of RYB+LAZ shown here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     </a:t>
            </a:r>
            <a:r>
              <a:rPr kumimoji="1" lang="en-US" sz="900" i="1" kern="0" dirty="0">
                <a:solidFill>
                  <a:srgbClr val="7F7F7F"/>
                </a:solidFill>
              </a:rPr>
              <a:t>Denotes statistically significant difference with 95% confidence interval found between latest two quarters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*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Low Sample 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Messages added in Nov’25 (s = 24</a:t>
            </a:r>
            <a:r>
              <a:rPr kumimoji="1" lang="en-US" sz="900" i="1" kern="0" dirty="0">
                <a:solidFill>
                  <a:srgbClr val="FF0000"/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*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 for Q4’25)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FDFFC3"/>
                </a:highlight>
                <a:latin typeface="Johnson Text" panose="020B0604020202020204" charset="0"/>
                <a:cs typeface="Johnson Text" panose="020B0604020202020204" charset="0"/>
              </a:rPr>
              <a:t>| Messages edited during end of Oct’25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highlight>
                <a:srgbClr val="FDFFC3"/>
              </a:highlight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69C19623-A387-94A9-4093-8A3AC30F5C38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FCBD75-277E-84BB-1845-D35387254D51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J&amp;J online ads lag AZ in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clarity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credibility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differentiation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 likely driven by the lower recall of highly effective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OS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NCCN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CNS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messages in Q4’25 </a:t>
            </a:r>
          </a:p>
        </p:txBody>
      </p:sp>
      <p:graphicFrame>
        <p:nvGraphicFramePr>
          <p:cNvPr id="6" name="Shape_13685876">
            <a:extLst>
              <a:ext uri="{FF2B5EF4-FFF2-40B4-BE49-F238E27FC236}">
                <a16:creationId xmlns:a16="http://schemas.microsoft.com/office/drawing/2014/main" id="{2BDDB20D-4A7F-D928-CBD6-53A8B74B4F03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8963377"/>
              </p:ext>
            </p:extLst>
          </p:nvPr>
        </p:nvGraphicFramePr>
        <p:xfrm>
          <a:off x="2090051" y="2071760"/>
          <a:ext cx="1833739" cy="178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C53E611-90E7-AC74-A4F5-A6BBC83BFADE}"/>
              </a:ext>
            </a:extLst>
          </p:cNvPr>
          <p:cNvSpPr/>
          <p:nvPr/>
        </p:nvSpPr>
        <p:spPr>
          <a:xfrm>
            <a:off x="283254" y="1831688"/>
            <a:ext cx="3709393" cy="261610"/>
          </a:xfrm>
          <a:prstGeom prst="rect">
            <a:avLst/>
          </a:prstGeom>
          <a:solidFill>
            <a:srgbClr val="FEE3DA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Topics Recall</a:t>
            </a:r>
            <a:r>
              <a:rPr lang="en-US" sz="1100" baseline="30000">
                <a:solidFill>
                  <a:prstClr val="black"/>
                </a:solidFill>
                <a:latin typeface="Johnson Display"/>
              </a:rPr>
              <a:t>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560E1D-8B88-883F-DA82-CD7AEC9BEDA5}"/>
              </a:ext>
            </a:extLst>
          </p:cNvPr>
          <p:cNvSpPr/>
          <p:nvPr/>
        </p:nvSpPr>
        <p:spPr>
          <a:xfrm>
            <a:off x="287079" y="3988279"/>
            <a:ext cx="3701757" cy="261610"/>
          </a:xfrm>
          <a:prstGeom prst="rect">
            <a:avLst/>
          </a:prstGeom>
          <a:solidFill>
            <a:srgbClr val="FEE3DA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Message Recall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E83AB6-353F-DA07-5D78-63E8579A5200}"/>
              </a:ext>
            </a:extLst>
          </p:cNvPr>
          <p:cNvSpPr/>
          <p:nvPr/>
        </p:nvSpPr>
        <p:spPr>
          <a:xfrm>
            <a:off x="276619" y="1498753"/>
            <a:ext cx="3712464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 panose="020B0604020202020204" charset="0"/>
                <a:ea typeface="Arial" panose="020B0503030403020204" pitchFamily="34" charset="0"/>
                <a:cs typeface="Johnson Display" panose="020B0604020202020204" charset="0"/>
              </a:rPr>
              <a:t>Message and Topic Recall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6F882-2E22-7431-33AD-788684F12D28}"/>
              </a:ext>
            </a:extLst>
          </p:cNvPr>
          <p:cNvSpPr/>
          <p:nvPr/>
        </p:nvSpPr>
        <p:spPr>
          <a:xfrm>
            <a:off x="279443" y="1514848"/>
            <a:ext cx="3709393" cy="487104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D4C8A2-68DD-C451-8E65-1E46F27E34C5}"/>
              </a:ext>
            </a:extLst>
          </p:cNvPr>
          <p:cNvSpPr/>
          <p:nvPr/>
        </p:nvSpPr>
        <p:spPr>
          <a:xfrm>
            <a:off x="4241304" y="1836017"/>
            <a:ext cx="3869865" cy="247191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DA429-EF2F-8C63-BC6D-5497CF97D7F7}"/>
              </a:ext>
            </a:extLst>
          </p:cNvPr>
          <p:cNvSpPr/>
          <p:nvPr/>
        </p:nvSpPr>
        <p:spPr>
          <a:xfrm>
            <a:off x="8200643" y="1496942"/>
            <a:ext cx="3861196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Arial" panose="020B0503030403020204" pitchFamily="34" charset="0"/>
                <a:cs typeface="Calibri" panose="020F0502020204030204" pitchFamily="34" charset="0"/>
              </a:rPr>
              <a:t>Actions Taken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432DEF-1DC9-5B8A-877F-AEEA6483B433}"/>
              </a:ext>
            </a:extLst>
          </p:cNvPr>
          <p:cNvSpPr/>
          <p:nvPr/>
        </p:nvSpPr>
        <p:spPr>
          <a:xfrm>
            <a:off x="8204454" y="1836017"/>
            <a:ext cx="3861196" cy="247191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336A8F-CA1F-AE2F-9F75-9E3EA918C17B}"/>
              </a:ext>
            </a:extLst>
          </p:cNvPr>
          <p:cNvSpPr txBox="1"/>
          <p:nvPr/>
        </p:nvSpPr>
        <p:spPr>
          <a:xfrm>
            <a:off x="2239856" y="4295627"/>
            <a:ext cx="1245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rPr>
              <a:t>Message Recall</a:t>
            </a:r>
            <a:r>
              <a:rPr kumimoji="0" lang="en-US" sz="1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1</a:t>
            </a:r>
            <a:endParaRPr kumimoji="0" lang="en-GB" sz="1000" b="0" i="0" u="none" strike="noStrike" kern="0" cap="none" spc="0" normalizeH="0" baseline="3000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Display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6" name="RYB Recall">
            <a:extLst>
              <a:ext uri="{FF2B5EF4-FFF2-40B4-BE49-F238E27FC236}">
                <a16:creationId xmlns:a16="http://schemas.microsoft.com/office/drawing/2014/main" id="{DB65009D-E5AD-9DF7-387A-B67D2CCA5AF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8670792"/>
              </p:ext>
            </p:extLst>
          </p:nvPr>
        </p:nvGraphicFramePr>
        <p:xfrm>
          <a:off x="2032348" y="4590164"/>
          <a:ext cx="1956488" cy="1641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37" name="RYB Mess.">
            <a:extLst>
              <a:ext uri="{FF2B5EF4-FFF2-40B4-BE49-F238E27FC236}">
                <a16:creationId xmlns:a16="http://schemas.microsoft.com/office/drawing/2014/main" id="{97318DD6-7C7B-C360-E112-496AFEB825B7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45279450"/>
              </p:ext>
            </p:extLst>
          </p:nvPr>
        </p:nvGraphicFramePr>
        <p:xfrm>
          <a:off x="460148" y="4579515"/>
          <a:ext cx="1561138" cy="1621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138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305526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Indication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436300"/>
                  </a:ext>
                </a:extLst>
              </a:tr>
              <a:tr h="305526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- OS Headline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358439"/>
                  </a:ext>
                </a:extLst>
              </a:tr>
              <a:tr h="399157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- mOS Not Reached</a:t>
                      </a:r>
                      <a:endParaRPr lang="en-IN" sz="1000" b="0" i="0" u="none" strike="noStrike" baseline="30000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  <a:tr h="30552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NCCN – NSCLC</a:t>
                      </a:r>
                      <a:r>
                        <a:rPr kumimoji="0" lang="en-IN" sz="10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2</a:t>
                      </a:r>
                      <a:endParaRPr lang="en-IN" sz="1000" b="0" i="0" u="none" strike="noStrike" baseline="30000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1269"/>
                  </a:ext>
                </a:extLst>
              </a:tr>
              <a:tr h="305526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NCCN – CNS</a:t>
                      </a:r>
                      <a:r>
                        <a:rPr kumimoji="0" lang="en-IN" sz="10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2</a:t>
                      </a:r>
                      <a:endParaRPr lang="en-US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45693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06E589AF-6B8A-6542-E771-05C799B33B26}"/>
              </a:ext>
            </a:extLst>
          </p:cNvPr>
          <p:cNvSpPr txBox="1"/>
          <p:nvPr/>
        </p:nvSpPr>
        <p:spPr>
          <a:xfrm>
            <a:off x="965227" y="4287933"/>
            <a:ext cx="69243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Tags</a:t>
            </a:r>
            <a:r>
              <a:rPr kumimoji="1" lang="en-US" sz="1000" b="0" i="1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$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39" name="LTP - Champions">
            <a:extLst>
              <a:ext uri="{FF2B5EF4-FFF2-40B4-BE49-F238E27FC236}">
                <a16:creationId xmlns:a16="http://schemas.microsoft.com/office/drawing/2014/main" id="{E541F7BC-E3F5-E562-94F9-C95890459681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2251514"/>
              </p:ext>
            </p:extLst>
          </p:nvPr>
        </p:nvGraphicFramePr>
        <p:xfrm>
          <a:off x="4251973" y="4914285"/>
          <a:ext cx="5346348" cy="621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40" name="Shape_22484833">
            <a:extLst>
              <a:ext uri="{FF2B5EF4-FFF2-40B4-BE49-F238E27FC236}">
                <a16:creationId xmlns:a16="http://schemas.microsoft.com/office/drawing/2014/main" id="{16062FD8-1BF9-C72F-466F-302AE9764379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710903069"/>
              </p:ext>
            </p:extLst>
          </p:nvPr>
        </p:nvGraphicFramePr>
        <p:xfrm>
          <a:off x="10237353" y="2084074"/>
          <a:ext cx="1908000" cy="191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41" name="Shape_55768174">
            <a:extLst>
              <a:ext uri="{FF2B5EF4-FFF2-40B4-BE49-F238E27FC236}">
                <a16:creationId xmlns:a16="http://schemas.microsoft.com/office/drawing/2014/main" id="{7FCFDFFC-F231-A217-FBDC-6E51F3B0DF1F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73514017"/>
              </p:ext>
            </p:extLst>
          </p:nvPr>
        </p:nvGraphicFramePr>
        <p:xfrm>
          <a:off x="4251973" y="5588640"/>
          <a:ext cx="5346348" cy="621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E69498D1-84DC-0702-2269-37105D8AD477}"/>
              </a:ext>
            </a:extLst>
          </p:cNvPr>
          <p:cNvSpPr/>
          <p:nvPr/>
        </p:nvSpPr>
        <p:spPr>
          <a:xfrm>
            <a:off x="4929660" y="1869289"/>
            <a:ext cx="74781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Attribute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7F39C1-32FF-059E-32C9-517C538A2741}"/>
              </a:ext>
            </a:extLst>
          </p:cNvPr>
          <p:cNvSpPr/>
          <p:nvPr/>
        </p:nvSpPr>
        <p:spPr>
          <a:xfrm>
            <a:off x="9028085" y="1869289"/>
            <a:ext cx="74781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Actions</a:t>
            </a:r>
            <a:r>
              <a:rPr kumimoji="0" lang="en-US" sz="1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B6D0BB-4A8B-6CEF-763A-57CE3E2E773B}"/>
              </a:ext>
            </a:extLst>
          </p:cNvPr>
          <p:cNvSpPr txBox="1"/>
          <p:nvPr/>
        </p:nvSpPr>
        <p:spPr>
          <a:xfrm>
            <a:off x="10533178" y="3995973"/>
            <a:ext cx="124934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Promotions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1942C3-D70D-9EA7-1EE5-5172F659E10F}"/>
              </a:ext>
            </a:extLst>
          </p:cNvPr>
          <p:cNvSpPr/>
          <p:nvPr/>
        </p:nvSpPr>
        <p:spPr>
          <a:xfrm>
            <a:off x="4241361" y="4339929"/>
            <a:ext cx="5188902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 panose="020B0604020202020204" charset="0"/>
                <a:ea typeface="+mn-ea"/>
                <a:cs typeface="Johnson Display" panose="020B0604020202020204" charset="0"/>
              </a:rPr>
              <a:t>Perception about Amount of Information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 panose="020B0604020202020204" charset="0"/>
                <a:ea typeface="+mn-ea"/>
                <a:cs typeface="Johnson Display" panose="020B0604020202020204" charset="0"/>
              </a:rPr>
              <a:t>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Display" panose="020B0604020202020204" charset="0"/>
              <a:ea typeface="Arial" panose="020B0503030403020204" pitchFamily="34" charset="0"/>
              <a:cs typeface="Johnson Display" panose="020B060402020202020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99FBE26-BC97-93CC-5271-CBA8E50886BF}"/>
              </a:ext>
            </a:extLst>
          </p:cNvPr>
          <p:cNvSpPr/>
          <p:nvPr/>
        </p:nvSpPr>
        <p:spPr>
          <a:xfrm>
            <a:off x="4240911" y="4679003"/>
            <a:ext cx="5189352" cy="171735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4E1368D-9C4C-B227-3897-C0FBE5ADE9DA}"/>
              </a:ext>
            </a:extLst>
          </p:cNvPr>
          <p:cNvGrpSpPr/>
          <p:nvPr/>
        </p:nvGrpSpPr>
        <p:grpSpPr>
          <a:xfrm>
            <a:off x="10010238" y="5105594"/>
            <a:ext cx="1445200" cy="763025"/>
            <a:chOff x="9464238" y="4746702"/>
            <a:chExt cx="1437350" cy="763025"/>
          </a:xfrm>
        </p:grpSpPr>
        <p:sp>
          <p:nvSpPr>
            <p:cNvPr id="64" name="Legend_series_2">
              <a:extLst>
                <a:ext uri="{FF2B5EF4-FFF2-40B4-BE49-F238E27FC236}">
                  <a16:creationId xmlns:a16="http://schemas.microsoft.com/office/drawing/2014/main" id="{16A011B8-A872-B598-427F-F9C66736FB12}"/>
                </a:ext>
              </a:extLst>
            </p:cNvPr>
            <p:cNvSpPr/>
            <p:nvPr/>
          </p:nvSpPr>
          <p:spPr>
            <a:xfrm>
              <a:off x="9799993" y="4924427"/>
              <a:ext cx="109500" cy="107664"/>
            </a:xfrm>
            <a:prstGeom prst="rect">
              <a:avLst/>
            </a:prstGeom>
            <a:solidFill>
              <a:srgbClr val="F758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65" name="Textbox_series_4">
              <a:extLst>
                <a:ext uri="{FF2B5EF4-FFF2-40B4-BE49-F238E27FC236}">
                  <a16:creationId xmlns:a16="http://schemas.microsoft.com/office/drawing/2014/main" id="{A813ADA7-71C9-6E30-837F-BB875F430CCC}"/>
                </a:ext>
              </a:extLst>
            </p:cNvPr>
            <p:cNvSpPr txBox="1"/>
            <p:nvPr/>
          </p:nvSpPr>
          <p:spPr>
            <a:xfrm>
              <a:off x="9938822" y="4746702"/>
              <a:ext cx="962766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RYB+LAZ</a:t>
              </a:r>
            </a:p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32)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AB02D97-F196-3C00-91CC-4B86BA2EDEBE}"/>
                </a:ext>
              </a:extLst>
            </p:cNvPr>
            <p:cNvGrpSpPr/>
            <p:nvPr/>
          </p:nvGrpSpPr>
          <p:grpSpPr>
            <a:xfrm>
              <a:off x="9464238" y="4941740"/>
              <a:ext cx="264183" cy="73038"/>
              <a:chOff x="4555473" y="6212382"/>
              <a:chExt cx="264595" cy="73152"/>
            </a:xfrm>
          </p:grpSpPr>
          <p:sp>
            <p:nvSpPr>
              <p:cNvPr id="72" name="Flowchart: Connector 71">
                <a:extLst>
                  <a:ext uri="{FF2B5EF4-FFF2-40B4-BE49-F238E27FC236}">
                    <a16:creationId xmlns:a16="http://schemas.microsoft.com/office/drawing/2014/main" id="{F4BF39A7-57FA-E9DB-9A61-72140B4C21F3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F75824"/>
              </a:solidFill>
              <a:ln>
                <a:solidFill>
                  <a:srgbClr val="F7582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6FD5175-0C71-B90D-5C83-A0968EE3FD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F7582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_series_3">
              <a:extLst>
                <a:ext uri="{FF2B5EF4-FFF2-40B4-BE49-F238E27FC236}">
                  <a16:creationId xmlns:a16="http://schemas.microsoft.com/office/drawing/2014/main" id="{EEE120D8-1267-0045-DF52-49F2E989DB2F}"/>
                </a:ext>
              </a:extLst>
            </p:cNvPr>
            <p:cNvSpPr txBox="1"/>
            <p:nvPr/>
          </p:nvSpPr>
          <p:spPr>
            <a:xfrm>
              <a:off x="9938822" y="5109617"/>
              <a:ext cx="962766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TAGRISSO</a:t>
              </a:r>
            </a:p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 = 25</a:t>
              </a:r>
              <a:r>
                <a:rPr kumimoji="1" lang="en-US" sz="10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Johnson Text" panose="020B0604020202020204" charset="0"/>
                  <a:ea typeface="+mn-ea"/>
                  <a:cs typeface="Johnson Text" panose="020B0604020202020204" charset="0"/>
                  <a:sym typeface="Verdana"/>
                </a:rPr>
                <a:t>*</a:t>
              </a: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A5EF54D-0769-A322-177E-7055DA64DA7C}"/>
                </a:ext>
              </a:extLst>
            </p:cNvPr>
            <p:cNvGrpSpPr/>
            <p:nvPr/>
          </p:nvGrpSpPr>
          <p:grpSpPr>
            <a:xfrm>
              <a:off x="9464238" y="5268038"/>
              <a:ext cx="264183" cy="73038"/>
              <a:chOff x="4555473" y="6212382"/>
              <a:chExt cx="264595" cy="73152"/>
            </a:xfrm>
          </p:grpSpPr>
          <p:sp>
            <p:nvSpPr>
              <p:cNvPr id="70" name="Flowchart: Connector 69">
                <a:extLst>
                  <a:ext uri="{FF2B5EF4-FFF2-40B4-BE49-F238E27FC236}">
                    <a16:creationId xmlns:a16="http://schemas.microsoft.com/office/drawing/2014/main" id="{44E8DB28-F5C5-A74C-7CCB-AD6A5644AF78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07B8FB4-64E4-646C-A7F3-09CC67593F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7030A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Legend_series_2">
              <a:extLst>
                <a:ext uri="{FF2B5EF4-FFF2-40B4-BE49-F238E27FC236}">
                  <a16:creationId xmlns:a16="http://schemas.microsoft.com/office/drawing/2014/main" id="{B29A1172-5B61-1308-34FD-A4534BFF5F42}"/>
                </a:ext>
              </a:extLst>
            </p:cNvPr>
            <p:cNvSpPr/>
            <p:nvPr/>
          </p:nvSpPr>
          <p:spPr>
            <a:xfrm>
              <a:off x="9799993" y="5248367"/>
              <a:ext cx="109500" cy="107664"/>
            </a:xfrm>
            <a:prstGeom prst="rect">
              <a:avLst/>
            </a:prstGeom>
            <a:solidFill>
              <a:srgbClr val="7638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ABA8D2D7-6C85-5B0E-6060-5138D92A084D}"/>
              </a:ext>
            </a:extLst>
          </p:cNvPr>
          <p:cNvSpPr txBox="1"/>
          <p:nvPr/>
        </p:nvSpPr>
        <p:spPr>
          <a:xfrm>
            <a:off x="6277501" y="4107859"/>
            <a:ext cx="172416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Promotions Rated 6,7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602E06-7828-D14E-E6C4-BFF6F7F7A76F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636614398"/>
              </p:ext>
            </p:extLst>
          </p:nvPr>
        </p:nvGraphicFramePr>
        <p:xfrm>
          <a:off x="8334849" y="2161845"/>
          <a:ext cx="1915200" cy="18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00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Prescribed the product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8882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Directed patient to enroll in patient support program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69142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Researched the product independently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383477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Discussed the product with appropriate patients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903517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Read a publication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B2AE19-4371-D136-F109-D76D74BF0F65}"/>
              </a:ext>
            </a:extLst>
          </p:cNvPr>
          <p:cNvSpPr txBox="1"/>
          <p:nvPr/>
        </p:nvSpPr>
        <p:spPr>
          <a:xfrm>
            <a:off x="4658603" y="6161887"/>
            <a:ext cx="354204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+mn-cs"/>
              </a:rPr>
              <a:t>% of Promotions with Right Amount of Detail (Rated 3, 4, 5)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87319-EFA0-2619-12C6-49DAD48ED064}"/>
              </a:ext>
            </a:extLst>
          </p:cNvPr>
          <p:cNvSpPr txBox="1"/>
          <p:nvPr/>
        </p:nvSpPr>
        <p:spPr>
          <a:xfrm>
            <a:off x="2382248" y="3742591"/>
            <a:ext cx="124934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Promotions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767477-2CA4-9C27-5117-D4F412D44C2B}"/>
              </a:ext>
            </a:extLst>
          </p:cNvPr>
          <p:cNvSpPr/>
          <p:nvPr/>
        </p:nvSpPr>
        <p:spPr>
          <a:xfrm>
            <a:off x="4239768" y="1498119"/>
            <a:ext cx="3869864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 panose="020B0604020202020204" charset="0"/>
                <a:ea typeface="+mn-ea"/>
                <a:cs typeface="Johnson Display" panose="020B0604020202020204" charset="0"/>
              </a:rPr>
              <a:t>NPP Effectiveness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Display" panose="020B0604020202020204" charset="0"/>
              <a:ea typeface="Arial" panose="020B0503030403020204" pitchFamily="34" charset="0"/>
              <a:cs typeface="Johnson Display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4C8708-E3A5-FACC-6ACA-EC92A06ACD3D}"/>
              </a:ext>
            </a:extLst>
          </p:cNvPr>
          <p:cNvSpPr txBox="1"/>
          <p:nvPr/>
        </p:nvSpPr>
        <p:spPr>
          <a:xfrm>
            <a:off x="2333000" y="6198677"/>
            <a:ext cx="124934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Promotions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24" name="Google Shape;229;p3">
            <a:extLst>
              <a:ext uri="{FF2B5EF4-FFF2-40B4-BE49-F238E27FC236}">
                <a16:creationId xmlns:a16="http://schemas.microsoft.com/office/drawing/2014/main" id="{37B4E6D5-2C54-FECC-AAA1-7F0DD68A425E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6" name="Topics">
            <a:extLst>
              <a:ext uri="{FF2B5EF4-FFF2-40B4-BE49-F238E27FC236}">
                <a16:creationId xmlns:a16="http://schemas.microsoft.com/office/drawing/2014/main" id="{83825FA2-E260-269B-78D3-0217D0DEF771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907731386"/>
              </p:ext>
            </p:extLst>
          </p:nvPr>
        </p:nvGraphicFramePr>
        <p:xfrm>
          <a:off x="460148" y="2330224"/>
          <a:ext cx="1561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138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</a:t>
                      </a: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4363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Specific indication</a:t>
                      </a: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584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NCCN guidelines</a:t>
                      </a: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Safety / Side effects</a:t>
                      </a: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1706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Tolerability</a:t>
                      </a: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93040"/>
                  </a:ext>
                </a:extLst>
              </a:tr>
            </a:tbl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8D944E0E-9174-321B-167C-4AE7F475F6F2}"/>
              </a:ext>
            </a:extLst>
          </p:cNvPr>
          <p:cNvSpPr/>
          <p:nvPr/>
        </p:nvSpPr>
        <p:spPr>
          <a:xfrm>
            <a:off x="6641517" y="6398727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7BF965-528F-E4B3-B5A4-15805E55B1EE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673320738"/>
              </p:ext>
            </p:extLst>
          </p:nvPr>
        </p:nvGraphicFramePr>
        <p:xfrm>
          <a:off x="4347713" y="2112402"/>
          <a:ext cx="1912890" cy="2066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890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34434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Overall effectiveness of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733188"/>
                  </a:ext>
                </a:extLst>
              </a:tr>
              <a:tr h="34434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Credibility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383477"/>
                  </a:ext>
                </a:extLst>
              </a:tr>
              <a:tr h="344349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Relevance / Usefulness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58439"/>
                  </a:ext>
                </a:extLst>
              </a:tr>
              <a:tr h="344349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Clarity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  <a:tr h="344349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Motivating to take action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92075"/>
                  </a:ext>
                </a:extLst>
              </a:tr>
              <a:tr h="344349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Differentiation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375785"/>
                  </a:ext>
                </a:extLst>
              </a:tr>
            </a:tbl>
          </a:graphicData>
        </a:graphic>
      </p:graphicFrame>
      <p:graphicFrame>
        <p:nvGraphicFramePr>
          <p:cNvPr id="20" name="Shape_84579797">
            <a:extLst>
              <a:ext uri="{FF2B5EF4-FFF2-40B4-BE49-F238E27FC236}">
                <a16:creationId xmlns:a16="http://schemas.microsoft.com/office/drawing/2014/main" id="{8BCD232A-03B0-D3E7-7D06-D95B4A05212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068414195"/>
              </p:ext>
            </p:extLst>
          </p:nvPr>
        </p:nvGraphicFramePr>
        <p:xfrm>
          <a:off x="6311648" y="1969529"/>
          <a:ext cx="1908000" cy="222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25" name="PP Recall">
            <a:extLst>
              <a:ext uri="{FF2B5EF4-FFF2-40B4-BE49-F238E27FC236}">
                <a16:creationId xmlns:a16="http://schemas.microsoft.com/office/drawing/2014/main" id="{DEBA8044-B75D-B534-7D4D-A939A37CD4A8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904311726"/>
              </p:ext>
            </p:extLst>
          </p:nvPr>
        </p:nvGraphicFramePr>
        <p:xfrm>
          <a:off x="3439249" y="4570422"/>
          <a:ext cx="572516" cy="1620830"/>
        </p:xfrm>
        <a:graphic>
          <a:graphicData uri="http://schemas.openxmlformats.org/drawingml/2006/table">
            <a:tbl>
              <a:tblPr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3241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+7%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3241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3241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3241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3241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</a:tbl>
          </a:graphicData>
        </a:graphic>
      </p:graphicFrame>
      <p:sp>
        <p:nvSpPr>
          <p:cNvPr id="26" name="Oval 25">
            <a:extLst>
              <a:ext uri="{FF2B5EF4-FFF2-40B4-BE49-F238E27FC236}">
                <a16:creationId xmlns:a16="http://schemas.microsoft.com/office/drawing/2014/main" id="{CAE1FC5E-35CB-E8D9-E81C-E87DBE2878E8}"/>
              </a:ext>
            </a:extLst>
          </p:cNvPr>
          <p:cNvSpPr/>
          <p:nvPr/>
        </p:nvSpPr>
        <p:spPr>
          <a:xfrm>
            <a:off x="8114205" y="6527146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4" name="Slide Number Placeholder 1">
            <a:extLst>
              <a:ext uri="{FF2B5EF4-FFF2-40B4-BE49-F238E27FC236}">
                <a16:creationId xmlns:a16="http://schemas.microsoft.com/office/drawing/2014/main" id="{25C226F6-7DF0-5CD5-62F9-C488BCF4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91452D-C4C2-0A2D-83B0-9FD4B57F3E92}"/>
              </a:ext>
            </a:extLst>
          </p:cNvPr>
          <p:cNvSpPr/>
          <p:nvPr/>
        </p:nvSpPr>
        <p:spPr>
          <a:xfrm>
            <a:off x="2537996" y="2069202"/>
            <a:ext cx="1037949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Recall</a:t>
            </a:r>
            <a:r>
              <a:rPr kumimoji="0" lang="en-US" sz="1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45A7205-F421-C2C6-9417-AAD2147F629C}"/>
              </a:ext>
            </a:extLst>
          </p:cNvPr>
          <p:cNvSpPr/>
          <p:nvPr/>
        </p:nvSpPr>
        <p:spPr>
          <a:xfrm>
            <a:off x="923644" y="2069202"/>
            <a:ext cx="575662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Topic</a:t>
            </a:r>
            <a:endParaRPr lang="en-IN" sz="1000" baseline="30000">
              <a:latin typeface="Johnson Text" panose="020B0604020202020204" charset="0"/>
              <a:cs typeface="Johnson Text" panose="020B060402020202020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3ABBCB-4799-0A02-581B-6537F00873BA}"/>
              </a:ext>
            </a:extLst>
          </p:cNvPr>
          <p:cNvSpPr/>
          <p:nvPr/>
        </p:nvSpPr>
        <p:spPr>
          <a:xfrm>
            <a:off x="3819640" y="2397723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B6BA24-1531-837D-E779-99ECD6CAFAA1}"/>
              </a:ext>
            </a:extLst>
          </p:cNvPr>
          <p:cNvSpPr/>
          <p:nvPr/>
        </p:nvSpPr>
        <p:spPr>
          <a:xfrm>
            <a:off x="3819640" y="3627096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7" name="Highlight#25">
            <a:extLst>
              <a:ext uri="{FF2B5EF4-FFF2-40B4-BE49-F238E27FC236}">
                <a16:creationId xmlns:a16="http://schemas.microsoft.com/office/drawing/2014/main" id="{B4E68CD7-F4A8-2240-2D71-73FD86973A8A}"/>
              </a:ext>
            </a:extLst>
          </p:cNvPr>
          <p:cNvSpPr txBox="1"/>
          <p:nvPr/>
        </p:nvSpPr>
        <p:spPr>
          <a:xfrm>
            <a:off x="4346783" y="2438899"/>
            <a:ext cx="3762000" cy="324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Highlight#25">
            <a:extLst>
              <a:ext uri="{FF2B5EF4-FFF2-40B4-BE49-F238E27FC236}">
                <a16:creationId xmlns:a16="http://schemas.microsoft.com/office/drawing/2014/main" id="{286D025C-D999-89A4-C161-FCA68776CD16}"/>
              </a:ext>
            </a:extLst>
          </p:cNvPr>
          <p:cNvSpPr txBox="1"/>
          <p:nvPr/>
        </p:nvSpPr>
        <p:spPr>
          <a:xfrm>
            <a:off x="4346783" y="3106617"/>
            <a:ext cx="3762000" cy="3240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1" name="Highlight#25">
            <a:extLst>
              <a:ext uri="{FF2B5EF4-FFF2-40B4-BE49-F238E27FC236}">
                <a16:creationId xmlns:a16="http://schemas.microsoft.com/office/drawing/2014/main" id="{EC38C8FA-6FF0-5793-CEA2-D14403890891}"/>
              </a:ext>
            </a:extLst>
          </p:cNvPr>
          <p:cNvSpPr txBox="1"/>
          <p:nvPr/>
        </p:nvSpPr>
        <p:spPr>
          <a:xfrm>
            <a:off x="4346783" y="3776236"/>
            <a:ext cx="3762000" cy="37080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5" name="Highlight#25">
            <a:extLst>
              <a:ext uri="{FF2B5EF4-FFF2-40B4-BE49-F238E27FC236}">
                <a16:creationId xmlns:a16="http://schemas.microsoft.com/office/drawing/2014/main" id="{BBF9FAC6-1179-8FB2-CC00-F50E3614DE76}"/>
              </a:ext>
            </a:extLst>
          </p:cNvPr>
          <p:cNvSpPr txBox="1"/>
          <p:nvPr/>
        </p:nvSpPr>
        <p:spPr>
          <a:xfrm>
            <a:off x="458927" y="4879217"/>
            <a:ext cx="3492000" cy="1337653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850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A7FD5-32B1-0534-1177-50F5E828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29664C-637C-F2E2-3128-6F55EE06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C3D478DD-96A8-AC9A-9BDF-F3970B188EC4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lvl="0" defTabSz="913029">
              <a:defRPr/>
            </a:pPr>
            <a:r>
              <a:rPr lang="en-US" sz="1000" b="1">
                <a:solidFill>
                  <a:srgbClr val="000000"/>
                </a:solidFill>
                <a:latin typeface="Johnson Display"/>
                <a:ea typeface="Verdana" panose="020B0604030504040204" pitchFamily="34" charset="0"/>
              </a:rPr>
              <a:t>ZoomRx DIGITAL TRACKER INSIGHTS - Online Ads – </a:t>
            </a:r>
            <a:r>
              <a:rPr lang="en-US" sz="1000" b="1">
                <a:solidFill>
                  <a:srgbClr val="F75824"/>
                </a:solidFill>
                <a:latin typeface="Johnson Display"/>
                <a:ea typeface="Verdana" panose="020B0604030504040204" pitchFamily="34" charset="0"/>
              </a:rPr>
              <a:t>RYB+LAZ </a:t>
            </a:r>
            <a:r>
              <a:rPr lang="en-US" sz="1000" b="1">
                <a:solidFill>
                  <a:srgbClr val="000000"/>
                </a:solidFill>
                <a:latin typeface="Johnson Display"/>
                <a:ea typeface="Verdana" panose="020B0604030504040204" pitchFamily="34" charset="0"/>
              </a:rPr>
              <a:t>– Q4'25</a:t>
            </a:r>
            <a:endParaRPr lang="en-IN" sz="1000" b="1">
              <a:solidFill>
                <a:srgbClr val="F75824"/>
              </a:solidFill>
              <a:latin typeface="Johnson Display"/>
              <a:ea typeface="Verdana" panose="020B0604030504040204" pitchFamily="34" charset="0"/>
            </a:endParaRPr>
          </a:p>
        </p:txBody>
      </p:sp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43BC3333-F4D2-26D9-7936-59C172A222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3" y="1090620"/>
            <a:ext cx="248013" cy="2480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B9E681B-C4B1-E871-B918-E43BBEC2030D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1</a:t>
            </a:r>
            <a:r>
              <a:rPr kumimoji="1" lang="en-IN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Banner ads displayed here are not exhaustive | </a:t>
            </a:r>
            <a:r>
              <a:rPr kumimoji="1" lang="en-IN" sz="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ZoomRx Digital Tracker Methodology Slide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F463B5-EEDD-EF85-A054-B795E84F005A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04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HCPs are more frequently exposed to RYB+LAZ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indication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PFS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messages through online ads, with limited visibility to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OS; NCCN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ads are not captured in Q4’25 – implying a strong opportunity to optimize content</a:t>
            </a:r>
          </a:p>
        </p:txBody>
      </p:sp>
      <p:sp>
        <p:nvSpPr>
          <p:cNvPr id="14" name="Google Shape;441;p8">
            <a:extLst>
              <a:ext uri="{FF2B5EF4-FFF2-40B4-BE49-F238E27FC236}">
                <a16:creationId xmlns:a16="http://schemas.microsoft.com/office/drawing/2014/main" id="{64682ABC-7C17-8BC8-17CF-D685A354EA4D}"/>
              </a:ext>
            </a:extLst>
          </p:cNvPr>
          <p:cNvSpPr/>
          <p:nvPr/>
        </p:nvSpPr>
        <p:spPr>
          <a:xfrm>
            <a:off x="41736" y="1625059"/>
            <a:ext cx="2801781" cy="4743250"/>
          </a:xfrm>
          <a:prstGeom prst="round1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5050"/>
              </a:buClr>
              <a:buSzPts val="11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Key Findings</a:t>
            </a:r>
          </a:p>
          <a:p>
            <a:pPr marL="9144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5050"/>
              </a:buClr>
              <a:buSzPts val="1100"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  <a:p>
            <a:pPr marL="171450" indent="-171450" defTabSz="912116">
              <a:buFont typeface="Arial" panose="020B0604020202020204" pitchFamily="34" charset="0"/>
              <a:buChar char="•"/>
              <a:defRPr/>
            </a:pPr>
            <a:r>
              <a:rPr kumimoji="1" lang="en-US" sz="1200" kern="0" dirty="0"/>
              <a:t>HCPs are more frequently exposed to J&amp;J online ads (</a:t>
            </a:r>
            <a:r>
              <a:rPr kumimoji="1" lang="en-US" sz="1200" kern="0" dirty="0">
                <a:solidFill>
                  <a:srgbClr val="F75824"/>
                </a:solidFill>
              </a:rPr>
              <a:t>42.4 </a:t>
            </a:r>
            <a:r>
              <a:rPr kumimoji="1" lang="en-US" sz="1200" kern="0" dirty="0"/>
              <a:t>ads/user vs </a:t>
            </a:r>
            <a:r>
              <a:rPr kumimoji="1" lang="en-US" sz="1200" kern="0" dirty="0">
                <a:solidFill>
                  <a:srgbClr val="7030A0"/>
                </a:solidFill>
              </a:rPr>
              <a:t>16</a:t>
            </a:r>
            <a:r>
              <a:rPr kumimoji="1" lang="en-US" sz="1200" kern="0" dirty="0"/>
              <a:t>) vs </a:t>
            </a:r>
            <a:r>
              <a:rPr kumimoji="1" lang="en-US" sz="1200" b="1" kern="0" dirty="0">
                <a:solidFill>
                  <a:srgbClr val="7030A0"/>
                </a:solidFill>
              </a:rPr>
              <a:t>AZ </a:t>
            </a:r>
            <a:r>
              <a:rPr kumimoji="1" lang="en-US" sz="1200" kern="0" dirty="0"/>
              <a:t>who has </a:t>
            </a:r>
            <a:r>
              <a:rPr kumimoji="1" lang="en-US" sz="1200" b="1" kern="0" dirty="0"/>
              <a:t>broader reach </a:t>
            </a:r>
            <a:r>
              <a:rPr kumimoji="1" lang="en-US" sz="1200" kern="0" dirty="0"/>
              <a:t>(</a:t>
            </a:r>
            <a:r>
              <a:rPr kumimoji="1" lang="en-US" sz="1200" kern="0" dirty="0">
                <a:solidFill>
                  <a:srgbClr val="7030A0"/>
                </a:solidFill>
              </a:rPr>
              <a:t>73% </a:t>
            </a:r>
            <a:r>
              <a:rPr kumimoji="1" lang="en-US" sz="1200" kern="0" dirty="0"/>
              <a:t>vs </a:t>
            </a:r>
            <a:r>
              <a:rPr kumimoji="1" lang="en-US" sz="1200" kern="0" dirty="0">
                <a:solidFill>
                  <a:srgbClr val="F75824"/>
                </a:solidFill>
              </a:rPr>
              <a:t>48%)</a:t>
            </a:r>
            <a:endParaRPr lang="en-US" sz="1200" b="1" dirty="0">
              <a:latin typeface="Johnson Text" panose="020B0604020202020204" charset="0"/>
              <a:ea typeface="Verdana"/>
              <a:cs typeface="Johnson Text" panose="020B0604020202020204" charset="0"/>
            </a:endParaRPr>
          </a:p>
          <a:p>
            <a:pPr marL="171450" lvl="0" indent="-171450" defTabSz="912116">
              <a:buFont typeface="Arial" panose="020B0604020202020204" pitchFamily="34" charset="0"/>
              <a:buChar char="•"/>
              <a:defRPr/>
            </a:pPr>
            <a:endParaRPr kumimoji="1" lang="en-US" sz="1200" kern="0" dirty="0">
              <a:solidFill>
                <a:srgbClr val="000000"/>
              </a:solidFill>
              <a:latin typeface="Johnson Text" panose="020B0604020202020204" charset="0"/>
              <a:cs typeface="Johnson Text" panose="020B0604020202020204" charset="0"/>
            </a:endParaRPr>
          </a:p>
          <a:p>
            <a:pPr marL="171450" lvl="0" indent="-171450" defTabSz="912116">
              <a:buFont typeface="Arial" panose="020B0604020202020204" pitchFamily="34" charset="0"/>
              <a:buChar char="•"/>
              <a:defRPr/>
            </a:pPr>
            <a:r>
              <a:rPr kumimoji="1" lang="en-US" sz="1200" kern="0" dirty="0">
                <a:solidFill>
                  <a:srgbClr val="000000"/>
                </a:solidFill>
                <a:latin typeface="Johnson Text" panose="020B0604020202020204" charset="0"/>
                <a:cs typeface="Johnson Text" panose="020B0604020202020204" charset="0"/>
              </a:rPr>
              <a:t>30% of J&amp;J online ads focus on 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 panose="020B0604020202020204" charset="0"/>
                <a:cs typeface="Johnson Text" panose="020B0604020202020204" charset="0"/>
              </a:rPr>
              <a:t>indication – 1L </a:t>
            </a:r>
            <a:r>
              <a:rPr kumimoji="1" lang="en-US" sz="1200" kern="0" dirty="0">
                <a:solidFill>
                  <a:srgbClr val="000000"/>
                </a:solidFill>
                <a:latin typeface="Johnson Text" panose="020B0604020202020204" charset="0"/>
                <a:cs typeface="Johnson Text" panose="020B0604020202020204" charset="0"/>
              </a:rPr>
              <a:t>treatment (10%) and general mentions of 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 panose="020B0604020202020204" charset="0"/>
                <a:cs typeface="Johnson Text" panose="020B0604020202020204" charset="0"/>
              </a:rPr>
              <a:t>indication</a:t>
            </a:r>
            <a:r>
              <a:rPr kumimoji="1" lang="en-US" sz="1200" kern="0" dirty="0">
                <a:solidFill>
                  <a:srgbClr val="000000"/>
                </a:solidFill>
                <a:latin typeface="Johnson Text" panose="020B0604020202020204" charset="0"/>
                <a:cs typeface="Johnson Text" panose="020B0604020202020204" charset="0"/>
              </a:rPr>
              <a:t> (20%)</a:t>
            </a:r>
          </a:p>
          <a:p>
            <a:pPr marL="171450" indent="-171450" defTabSz="912116">
              <a:buFont typeface="Arial" panose="020B0604020202020204" pitchFamily="34" charset="0"/>
              <a:buChar char="•"/>
              <a:defRPr/>
            </a:pPr>
            <a:endParaRPr kumimoji="1" lang="en-US" sz="1200" kern="0" dirty="0">
              <a:solidFill>
                <a:srgbClr val="000000"/>
              </a:solidFill>
              <a:latin typeface="Johnson Text"/>
              <a:cs typeface="Johnson Text"/>
            </a:endParaRPr>
          </a:p>
          <a:p>
            <a:pPr marL="171450" lvl="0" indent="-171450" defTabSz="912116">
              <a:buFont typeface="Arial" panose="020B0604020202020204" pitchFamily="34" charset="0"/>
              <a:buChar char="•"/>
              <a:defRPr/>
            </a:pP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24% of J&amp;J online ads focus on efficacy – 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/>
                <a:cs typeface="Johnson Text"/>
              </a:rPr>
              <a:t>PFS </a:t>
            </a: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(7.1-month improvement in median PFS vs osimertinib)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/>
                <a:cs typeface="Johnson Text"/>
              </a:rPr>
              <a:t> </a:t>
            </a: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is promoted notably higher vs 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/>
                <a:cs typeface="Johnson Text"/>
              </a:rPr>
              <a:t>OS </a:t>
            </a: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results (</a:t>
            </a:r>
            <a:r>
              <a:rPr kumimoji="1" lang="pt-BR" sz="1200" kern="0" dirty="0">
                <a:solidFill>
                  <a:srgbClr val="000000"/>
                </a:solidFill>
                <a:latin typeface="Johnson Text"/>
                <a:cs typeface="Johnson Text"/>
              </a:rPr>
              <a:t>Final OS data from MARIPOSA trial)</a:t>
            </a:r>
            <a:endParaRPr lang="pt-BR" sz="1200" kern="0" dirty="0">
              <a:solidFill>
                <a:srgbClr val="000000"/>
              </a:solidFill>
              <a:latin typeface="Johnson Text"/>
              <a:cs typeface="Johnson Text"/>
            </a:endParaRPr>
          </a:p>
          <a:p>
            <a:pPr marL="171450" indent="-171450" defTabSz="912116">
              <a:buFont typeface="Arial" panose="020B0604020202020204" pitchFamily="34" charset="0"/>
              <a:buChar char="•"/>
              <a:defRPr/>
            </a:pPr>
            <a:endParaRPr kumimoji="1" lang="pt-BR" sz="1200" kern="0" dirty="0">
              <a:solidFill>
                <a:srgbClr val="000000"/>
              </a:solidFill>
              <a:latin typeface="Johnson Text"/>
              <a:cs typeface="Johnson Text"/>
            </a:endParaRPr>
          </a:p>
          <a:p>
            <a:pPr marL="171450" lvl="0" indent="-171450" defTabSz="912116">
              <a:buFont typeface="Arial" panose="020B0604020202020204" pitchFamily="34" charset="0"/>
              <a:buChar char="•"/>
              <a:defRPr/>
            </a:pP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Only ~2% of ads cover 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/>
                <a:cs typeface="Johnson Text"/>
              </a:rPr>
              <a:t>MOA </a:t>
            </a: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and 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/>
                <a:cs typeface="Johnson Text"/>
              </a:rPr>
              <a:t>CNS </a:t>
            </a: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aspects</a:t>
            </a:r>
            <a:endParaRPr lang="en-US" sz="1200" kern="0" dirty="0">
              <a:solidFill>
                <a:srgbClr val="000000"/>
              </a:solidFill>
              <a:latin typeface="Johnson Text"/>
              <a:cs typeface="Johnson Text"/>
            </a:endParaRPr>
          </a:p>
          <a:p>
            <a:pPr marL="171450" indent="-171450" defTabSz="912116">
              <a:buFont typeface="Arial" panose="020B0604020202020204" pitchFamily="34" charset="0"/>
              <a:buChar char="•"/>
              <a:defRPr/>
            </a:pPr>
            <a:endParaRPr kumimoji="1" lang="en-US" sz="1200" kern="0" dirty="0">
              <a:solidFill>
                <a:srgbClr val="000000"/>
              </a:solidFill>
              <a:latin typeface="Johnson Text"/>
              <a:cs typeface="Johnson Text"/>
            </a:endParaRPr>
          </a:p>
          <a:p>
            <a:pPr marL="171450" lvl="0" indent="-171450" defTabSz="912116">
              <a:buFont typeface="Arial" panose="020B0604020202020204" pitchFamily="34" charset="0"/>
              <a:buChar char="•"/>
              <a:defRPr/>
            </a:pPr>
            <a:r>
              <a:rPr kumimoji="1" lang="en-US" sz="1200" b="1" kern="0" dirty="0">
                <a:solidFill>
                  <a:srgbClr val="000000"/>
                </a:solidFill>
                <a:latin typeface="Johnson Text"/>
                <a:cs typeface="Johnson Text"/>
              </a:rPr>
              <a:t>NCCN </a:t>
            </a:r>
            <a:r>
              <a:rPr kumimoji="1" lang="en-US" sz="1200" kern="0" dirty="0">
                <a:solidFill>
                  <a:srgbClr val="000000"/>
                </a:solidFill>
                <a:latin typeface="Johnson Text"/>
                <a:cs typeface="Johnson Text"/>
              </a:rPr>
              <a:t>related online ads are </a:t>
            </a:r>
            <a:r>
              <a:rPr kumimoji="1" lang="en-US" sz="1200" b="1" kern="0" dirty="0">
                <a:solidFill>
                  <a:srgbClr val="000000"/>
                </a:solidFill>
                <a:latin typeface="Johnson Text"/>
                <a:cs typeface="Johnson Text"/>
              </a:rPr>
              <a:t>not captured</a:t>
            </a:r>
            <a:endParaRPr lang="en-US" sz="1200" b="1" kern="0" dirty="0">
              <a:solidFill>
                <a:srgbClr val="000000"/>
              </a:solidFill>
              <a:latin typeface="Johnson Text"/>
              <a:cs typeface="Johnson Text"/>
            </a:endParaRPr>
          </a:p>
          <a:p>
            <a:pPr lvl="0" defTabSz="912116">
              <a:defRPr/>
            </a:pPr>
            <a:endParaRPr kumimoji="1" lang="en-US" sz="1200" b="1" kern="0" dirty="0">
              <a:solidFill>
                <a:srgbClr val="F084CC"/>
              </a:solidFill>
              <a:latin typeface="+mj-lt"/>
            </a:endParaRPr>
          </a:p>
        </p:txBody>
      </p:sp>
      <p:sp>
        <p:nvSpPr>
          <p:cNvPr id="13" name="Google Shape;229;p3">
            <a:extLst>
              <a:ext uri="{FF2B5EF4-FFF2-40B4-BE49-F238E27FC236}">
                <a16:creationId xmlns:a16="http://schemas.microsoft.com/office/drawing/2014/main" id="{E5A49B1E-3AE0-3036-0BCB-298A3EED7BD6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– 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229;p3">
            <a:extLst>
              <a:ext uri="{FF2B5EF4-FFF2-40B4-BE49-F238E27FC236}">
                <a16:creationId xmlns:a16="http://schemas.microsoft.com/office/drawing/2014/main" id="{DBC89BED-778A-9E2E-6D77-84F399B6EB8E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DA03A47-6D44-2923-1D0C-4E342F5318DF}"/>
              </a:ext>
            </a:extLst>
          </p:cNvPr>
          <p:cNvSpPr/>
          <p:nvPr/>
        </p:nvSpPr>
        <p:spPr>
          <a:xfrm>
            <a:off x="3020166" y="1553204"/>
            <a:ext cx="8964000" cy="4788000"/>
          </a:xfrm>
          <a:prstGeom prst="roundRect">
            <a:avLst>
              <a:gd name="adj" fmla="val 617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4A9FE59-32F0-97E6-6A4C-CEC8D236E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234" y="2035785"/>
            <a:ext cx="2668829" cy="31469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Google Shape;435;p2">
            <a:extLst>
              <a:ext uri="{FF2B5EF4-FFF2-40B4-BE49-F238E27FC236}">
                <a16:creationId xmlns:a16="http://schemas.microsoft.com/office/drawing/2014/main" id="{8D8E98B1-9B2F-6D33-E6CD-A5A928A3420F}"/>
              </a:ext>
            </a:extLst>
          </p:cNvPr>
          <p:cNvSpPr txBox="1"/>
          <p:nvPr/>
        </p:nvSpPr>
        <p:spPr>
          <a:xfrm>
            <a:off x="3068323" y="1936134"/>
            <a:ext cx="1188720" cy="29790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75824"/>
            </a:solidFill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n-GB" sz="1000" b="1" kern="0">
                <a:solidFill>
                  <a:srgbClr val="000000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  <a:sym typeface="Arial"/>
              </a:rPr>
              <a:t>Campaign 1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9B223F9-348C-C59F-6DDB-86F674979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554" y="2035784"/>
            <a:ext cx="2825895" cy="31371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435;p2">
            <a:extLst>
              <a:ext uri="{FF2B5EF4-FFF2-40B4-BE49-F238E27FC236}">
                <a16:creationId xmlns:a16="http://schemas.microsoft.com/office/drawing/2014/main" id="{D0255A1B-A047-E8A4-186E-2490AD4AEE1F}"/>
              </a:ext>
            </a:extLst>
          </p:cNvPr>
          <p:cNvSpPr txBox="1"/>
          <p:nvPr/>
        </p:nvSpPr>
        <p:spPr>
          <a:xfrm>
            <a:off x="5889419" y="1936134"/>
            <a:ext cx="1188720" cy="29790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75824"/>
            </a:solidFill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n-GB" sz="1000" b="1" kern="0">
                <a:solidFill>
                  <a:srgbClr val="000000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  <a:sym typeface="Arial"/>
              </a:rPr>
              <a:t>Campaign 2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E6CD059-DBBD-A3BF-1CC6-916FE20A6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012" y="2035784"/>
            <a:ext cx="2863997" cy="3125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Google Shape;435;p2">
            <a:extLst>
              <a:ext uri="{FF2B5EF4-FFF2-40B4-BE49-F238E27FC236}">
                <a16:creationId xmlns:a16="http://schemas.microsoft.com/office/drawing/2014/main" id="{19B0AC41-86F9-1A8C-339F-2A27E3FDD194}"/>
              </a:ext>
            </a:extLst>
          </p:cNvPr>
          <p:cNvSpPr txBox="1"/>
          <p:nvPr/>
        </p:nvSpPr>
        <p:spPr>
          <a:xfrm>
            <a:off x="8899216" y="1936134"/>
            <a:ext cx="1188720" cy="29790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75824"/>
            </a:solidFill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n-GB" sz="1000" b="1" kern="0">
                <a:solidFill>
                  <a:srgbClr val="000000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  <a:sym typeface="Arial"/>
              </a:rPr>
              <a:t>Campaign 3</a:t>
            </a:r>
          </a:p>
        </p:txBody>
      </p:sp>
      <p:sp>
        <p:nvSpPr>
          <p:cNvPr id="52" name="Google Shape;590;p10">
            <a:extLst>
              <a:ext uri="{FF2B5EF4-FFF2-40B4-BE49-F238E27FC236}">
                <a16:creationId xmlns:a16="http://schemas.microsoft.com/office/drawing/2014/main" id="{8D5A35C5-EF64-8166-4A3C-A78521002AE2}"/>
              </a:ext>
            </a:extLst>
          </p:cNvPr>
          <p:cNvSpPr txBox="1"/>
          <p:nvPr/>
        </p:nvSpPr>
        <p:spPr>
          <a:xfrm>
            <a:off x="4802166" y="1559423"/>
            <a:ext cx="5400000" cy="386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defRPr/>
            </a:pPr>
            <a:r>
              <a:rPr lang="en-IN" sz="1200" b="1" kern="0">
                <a:solidFill>
                  <a:srgbClr val="000000"/>
                </a:solidFill>
                <a:latin typeface="+mj-lt"/>
                <a:ea typeface="Verdana" panose="020B0604030504040204" pitchFamily="34" charset="0"/>
                <a:cs typeface="Verdana"/>
                <a:sym typeface="Verdana"/>
              </a:rPr>
              <a:t>RYBREVANT Banner Ad Campaigns from ZoomRx Digital Tracker</a:t>
            </a:r>
            <a:r>
              <a:rPr lang="en-IN" sz="1200" b="1" kern="0" baseline="30000">
                <a:solidFill>
                  <a:srgbClr val="000000"/>
                </a:solidFill>
                <a:latin typeface="+mj-lt"/>
                <a:ea typeface="Verdana" panose="020B0604030504040204" pitchFamily="34" charset="0"/>
                <a:cs typeface="Verdana"/>
                <a:sym typeface="Verdana"/>
              </a:rPr>
              <a:t>1</a:t>
            </a:r>
            <a:endParaRPr lang="en-IN" sz="1200" b="1" kern="0" baseline="30000">
              <a:solidFill>
                <a:srgbClr val="000000"/>
              </a:solidFill>
              <a:latin typeface="+mj-lt"/>
              <a:ea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FF04C4B-45D0-B678-2E45-58E0609F3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6964" y="5388984"/>
            <a:ext cx="6902805" cy="8064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Google Shape;435;p2">
            <a:extLst>
              <a:ext uri="{FF2B5EF4-FFF2-40B4-BE49-F238E27FC236}">
                <a16:creationId xmlns:a16="http://schemas.microsoft.com/office/drawing/2014/main" id="{BF02522E-779C-2DC7-9D89-B0041B062325}"/>
              </a:ext>
            </a:extLst>
          </p:cNvPr>
          <p:cNvSpPr txBox="1"/>
          <p:nvPr/>
        </p:nvSpPr>
        <p:spPr>
          <a:xfrm>
            <a:off x="4169300" y="5284999"/>
            <a:ext cx="1188720" cy="29790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75824"/>
            </a:solidFill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n-GB" sz="1000" b="1" kern="0">
                <a:solidFill>
                  <a:srgbClr val="000000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  <a:sym typeface="Arial"/>
              </a:rPr>
              <a:t>Campaign 4</a:t>
            </a:r>
          </a:p>
        </p:txBody>
      </p:sp>
    </p:spTree>
    <p:extLst>
      <p:ext uri="{BB962C8B-B14F-4D97-AF65-F5344CB8AC3E}">
        <p14:creationId xmlns:p14="http://schemas.microsoft.com/office/powerpoint/2010/main" val="1510253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8DD6-4F72-200E-C1F7-AA22BEAD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Shape_13685876">
            <a:extLst>
              <a:ext uri="{FF2B5EF4-FFF2-40B4-BE49-F238E27FC236}">
                <a16:creationId xmlns:a16="http://schemas.microsoft.com/office/drawing/2014/main" id="{E4A6D217-51C4-4A2F-9BDC-24A9AA3B442C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1164084"/>
              </p:ext>
            </p:extLst>
          </p:nvPr>
        </p:nvGraphicFramePr>
        <p:xfrm>
          <a:off x="2090051" y="2071760"/>
          <a:ext cx="1833739" cy="178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9AB8A4-B350-AFB6-825B-DA8D2762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CB610FF9-B6C6-DF43-A06A-DC928E9F2DF4}"/>
              </a:ext>
            </a:extLst>
          </p:cNvPr>
          <p:cNvSpPr txBox="1"/>
          <p:nvPr/>
        </p:nvSpPr>
        <p:spPr>
          <a:xfrm>
            <a:off x="421367" y="1197435"/>
            <a:ext cx="11279893" cy="2719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PERFORMANCE SCORECARD – Emails –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2D75C2D-F4AD-2B26-F139-4CA72D64FF4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CEC9B3-5AB2-B5CB-06F4-6B4117B70E19}"/>
              </a:ext>
            </a:extLst>
          </p:cNvPr>
          <p:cNvSpPr txBox="1"/>
          <p:nvPr/>
        </p:nvSpPr>
        <p:spPr>
          <a:xfrm>
            <a:off x="2401964" y="6201486"/>
            <a:ext cx="9307124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Question text in speaker notes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s corresponds to the total number of promotions | No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significant difference with a 95% confidence interval between RYB+LAZ and TAG+/-Chemo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 |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 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Full message text in speaker notes | </a:t>
            </a:r>
            <a:r>
              <a:rPr kumimoji="0" lang="en-US" sz="900" b="0" i="0" u="none" strike="noStrike" kern="0" cap="none" spc="0" normalizeH="0" baseline="3000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1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  <a:sym typeface="Verdana"/>
              </a:rPr>
              <a:t>Top 5 recalled topics, messages and actions taken of RYB+LAZ shown here 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Messages added in Nov’25 (s = 50 for Q4’25)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 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FDFFC3"/>
                </a:highlight>
                <a:latin typeface="Johnson Text" panose="020B0604020202020204" charset="0"/>
                <a:cs typeface="Johnson Text" panose="020B0604020202020204" charset="0"/>
              </a:rPr>
              <a:t>Messages edited during end of Oct’25</a:t>
            </a:r>
            <a:endParaRPr kumimoji="1" lang="en-US" sz="900" i="1" kern="0" dirty="0">
              <a:solidFill>
                <a:srgbClr val="FFFFFF">
                  <a:lumMod val="50000"/>
                </a:srgbClr>
              </a:solidFill>
              <a:sym typeface="Verdana"/>
            </a:endParaRP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399ECE5C-3B40-650F-B1F8-2A4C83B599CE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7FA7832-6B62-2C3B-B1C4-346311A4B0C3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J&amp;J emails lead AZ in overall effectiveness, with comparable performance across other attributes; newly introduced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</a:rPr>
              <a:t>NCCN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messages have top recall among HCPs</a:t>
            </a:r>
            <a:endParaRPr lang="en-US" sz="1800" i="1" dirty="0">
              <a:solidFill>
                <a:srgbClr val="FF0000"/>
              </a:solidFill>
              <a:latin typeface="Johnson Display"/>
              <a:ea typeface="Verdan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EC646-6DE2-8936-8E32-1B0B33936D34}"/>
              </a:ext>
            </a:extLst>
          </p:cNvPr>
          <p:cNvSpPr/>
          <p:nvPr/>
        </p:nvSpPr>
        <p:spPr>
          <a:xfrm>
            <a:off x="283254" y="1831688"/>
            <a:ext cx="3709393" cy="261610"/>
          </a:xfrm>
          <a:prstGeom prst="rect">
            <a:avLst/>
          </a:prstGeom>
          <a:solidFill>
            <a:srgbClr val="FEE3DA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Topics Recall</a:t>
            </a:r>
            <a:r>
              <a:rPr lang="en-US" sz="1100" baseline="30000">
                <a:solidFill>
                  <a:prstClr val="black"/>
                </a:solidFill>
                <a:latin typeface="Johnson Display"/>
              </a:rPr>
              <a:t>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1787B1-E843-76FB-6022-115A913545C6}"/>
              </a:ext>
            </a:extLst>
          </p:cNvPr>
          <p:cNvSpPr/>
          <p:nvPr/>
        </p:nvSpPr>
        <p:spPr>
          <a:xfrm>
            <a:off x="287079" y="3988279"/>
            <a:ext cx="3701757" cy="261610"/>
          </a:xfrm>
          <a:prstGeom prst="rect">
            <a:avLst/>
          </a:prstGeom>
          <a:solidFill>
            <a:srgbClr val="FEE3DA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Message Recall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1C0030-CFCC-19A3-FD9A-FBEEE0DB360F}"/>
              </a:ext>
            </a:extLst>
          </p:cNvPr>
          <p:cNvSpPr/>
          <p:nvPr/>
        </p:nvSpPr>
        <p:spPr>
          <a:xfrm>
            <a:off x="276619" y="1498753"/>
            <a:ext cx="3712464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Arial" panose="020B0503030403020204" pitchFamily="34" charset="0"/>
                <a:cs typeface="Calibri" panose="020F0502020204030204" pitchFamily="34" charset="0"/>
              </a:rPr>
              <a:t>Message and Topic Recall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5A80BA-C909-65FC-317D-9C9899FC9E66}"/>
              </a:ext>
            </a:extLst>
          </p:cNvPr>
          <p:cNvSpPr/>
          <p:nvPr/>
        </p:nvSpPr>
        <p:spPr>
          <a:xfrm>
            <a:off x="279443" y="1514848"/>
            <a:ext cx="3709393" cy="486163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E0A7FB-8D56-093F-F1BF-371D1A1B237E}"/>
              </a:ext>
            </a:extLst>
          </p:cNvPr>
          <p:cNvSpPr/>
          <p:nvPr/>
        </p:nvSpPr>
        <p:spPr>
          <a:xfrm>
            <a:off x="4241304" y="1836017"/>
            <a:ext cx="3869865" cy="247191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22578E-5A70-8A90-D287-4BDF279FB672}"/>
              </a:ext>
            </a:extLst>
          </p:cNvPr>
          <p:cNvSpPr/>
          <p:nvPr/>
        </p:nvSpPr>
        <p:spPr>
          <a:xfrm>
            <a:off x="8200643" y="1496942"/>
            <a:ext cx="3861196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Arial" panose="020B0503030403020204" pitchFamily="34" charset="0"/>
                <a:cs typeface="Calibri" panose="020F0502020204030204" pitchFamily="34" charset="0"/>
              </a:rPr>
              <a:t>Actions Taken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5373AD-9EAF-365B-200E-E99D76CEAEC1}"/>
              </a:ext>
            </a:extLst>
          </p:cNvPr>
          <p:cNvSpPr/>
          <p:nvPr/>
        </p:nvSpPr>
        <p:spPr>
          <a:xfrm>
            <a:off x="8204454" y="1836017"/>
            <a:ext cx="3861196" cy="247191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9" name="Topics">
            <a:extLst>
              <a:ext uri="{FF2B5EF4-FFF2-40B4-BE49-F238E27FC236}">
                <a16:creationId xmlns:a16="http://schemas.microsoft.com/office/drawing/2014/main" id="{8562E5BB-5D17-FCDC-4473-381B9E3159F6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8975125"/>
              </p:ext>
            </p:extLst>
          </p:nvPr>
        </p:nvGraphicFramePr>
        <p:xfrm>
          <a:off x="460148" y="2330224"/>
          <a:ext cx="1561138" cy="153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138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4363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NCCN guidelines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584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Specific indication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Tolerability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170605"/>
                  </a:ext>
                </a:extLst>
              </a:tr>
              <a:tr h="310307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Description of new clinical trial data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93040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0B7F728F-6922-F035-9DF1-647E56DDE04E}"/>
              </a:ext>
            </a:extLst>
          </p:cNvPr>
          <p:cNvSpPr/>
          <p:nvPr/>
        </p:nvSpPr>
        <p:spPr>
          <a:xfrm>
            <a:off x="2537996" y="2069202"/>
            <a:ext cx="1037949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Recall</a:t>
            </a:r>
            <a:r>
              <a:rPr kumimoji="0" lang="en-US" sz="1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450BE9-5B0D-E2DF-C138-0ACACD537DC9}"/>
              </a:ext>
            </a:extLst>
          </p:cNvPr>
          <p:cNvSpPr/>
          <p:nvPr/>
        </p:nvSpPr>
        <p:spPr>
          <a:xfrm>
            <a:off x="923644" y="2069202"/>
            <a:ext cx="575662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Topic</a:t>
            </a:r>
            <a:endParaRPr lang="en-IN" sz="1000" baseline="30000">
              <a:latin typeface="Johnson Text" panose="020B0604020202020204" charset="0"/>
              <a:cs typeface="Johnson Text" panose="020B060402020202020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B70B7-1789-64BE-1967-ECFCE2B003F0}"/>
              </a:ext>
            </a:extLst>
          </p:cNvPr>
          <p:cNvSpPr txBox="1"/>
          <p:nvPr/>
        </p:nvSpPr>
        <p:spPr>
          <a:xfrm>
            <a:off x="2240991" y="4295627"/>
            <a:ext cx="1245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rPr>
              <a:t>Message Recall</a:t>
            </a:r>
            <a:r>
              <a:rPr lang="en-US" sz="1000" baseline="30000">
                <a:solidFill>
                  <a:prstClr val="black"/>
                </a:solidFill>
                <a:latin typeface="Johnson Display"/>
              </a:rPr>
              <a:t>1</a:t>
            </a:r>
            <a:endParaRPr kumimoji="0" lang="en-GB" sz="10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Display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6" name="RYB Recall">
            <a:extLst>
              <a:ext uri="{FF2B5EF4-FFF2-40B4-BE49-F238E27FC236}">
                <a16:creationId xmlns:a16="http://schemas.microsoft.com/office/drawing/2014/main" id="{7EC4DB49-1877-6B02-69BF-D97F40F30A6B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04448785"/>
              </p:ext>
            </p:extLst>
          </p:nvPr>
        </p:nvGraphicFramePr>
        <p:xfrm>
          <a:off x="2028747" y="4618739"/>
          <a:ext cx="1958400" cy="1571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37" name="RYB Mess.">
            <a:extLst>
              <a:ext uri="{FF2B5EF4-FFF2-40B4-BE49-F238E27FC236}">
                <a16:creationId xmlns:a16="http://schemas.microsoft.com/office/drawing/2014/main" id="{0EC39249-DBBE-8772-2995-E10F43762993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216366801"/>
              </p:ext>
            </p:extLst>
          </p:nvPr>
        </p:nvGraphicFramePr>
        <p:xfrm>
          <a:off x="460148" y="4618739"/>
          <a:ext cx="1561138" cy="1530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138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27536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– CNS</a:t>
                      </a:r>
                      <a:endParaRPr lang="en-IN" sz="1000" b="0" i="0" u="none" strike="noStrike" baseline="30000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436300"/>
                  </a:ext>
                </a:extLst>
              </a:tr>
              <a:tr h="28627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- NSCLC</a:t>
                      </a: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358439"/>
                  </a:ext>
                </a:extLst>
              </a:tr>
              <a:tr h="28627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MOA – Inhibition</a:t>
                      </a:r>
                      <a:endParaRPr lang="en-IN" sz="1000" b="0" i="0" u="none" strike="noStrike" baseline="30000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  <a:tr h="3711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1269"/>
                  </a:ext>
                </a:extLst>
              </a:tr>
              <a:tr h="286275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Indication</a:t>
                      </a:r>
                      <a:endParaRPr lang="en-IN" sz="1000" b="0" i="0" u="none" strike="noStrike" dirty="0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45720" marR="27432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45693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0F5B4D7-2F10-FADE-9B3D-F3BBE09730D1}"/>
              </a:ext>
            </a:extLst>
          </p:cNvPr>
          <p:cNvSpPr txBox="1"/>
          <p:nvPr/>
        </p:nvSpPr>
        <p:spPr>
          <a:xfrm>
            <a:off x="965227" y="4287933"/>
            <a:ext cx="69243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913943"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</a:t>
            </a:r>
            <a:r>
              <a:rPr lang="en-IN" sz="1000">
                <a:solidFill>
                  <a:srgbClr val="000000">
                    <a:lumMod val="85000"/>
                    <a:lumOff val="15000"/>
                  </a:srgbClr>
                </a:solidFill>
                <a:latin typeface="Johnson Display"/>
                <a:ea typeface="Verdana" panose="020B0604030504040204" pitchFamily="34" charset="0"/>
              </a:rPr>
              <a:t>s</a:t>
            </a:r>
            <a:r>
              <a:rPr kumimoji="1" lang="en-US" sz="1000" i="1" kern="0" baseline="30000">
                <a:latin typeface="Johnson Text" panose="020B0604020202020204" charset="0"/>
                <a:cs typeface="Johnson Text" panose="020B0604020202020204" charset="0"/>
              </a:rPr>
              <a:t>$</a:t>
            </a:r>
            <a:endParaRPr lang="en-IN" sz="1000" baseline="30000">
              <a:latin typeface="Johnson Text" panose="020B0604020202020204" charset="0"/>
              <a:cs typeface="Johnson Text" panose="020B0604020202020204" charset="0"/>
            </a:endParaRPr>
          </a:p>
        </p:txBody>
      </p:sp>
      <p:graphicFrame>
        <p:nvGraphicFramePr>
          <p:cNvPr id="39" name="LTP - Champions">
            <a:extLst>
              <a:ext uri="{FF2B5EF4-FFF2-40B4-BE49-F238E27FC236}">
                <a16:creationId xmlns:a16="http://schemas.microsoft.com/office/drawing/2014/main" id="{20A7E809-021F-1DC0-0663-7B1869509C5A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277210940"/>
              </p:ext>
            </p:extLst>
          </p:nvPr>
        </p:nvGraphicFramePr>
        <p:xfrm>
          <a:off x="6622182" y="4894511"/>
          <a:ext cx="3414991" cy="60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40" name="Shape_28521363">
            <a:extLst>
              <a:ext uri="{FF2B5EF4-FFF2-40B4-BE49-F238E27FC236}">
                <a16:creationId xmlns:a16="http://schemas.microsoft.com/office/drawing/2014/main" id="{82B1CF11-1807-93D2-D45A-E172CE640117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65274018"/>
              </p:ext>
            </p:extLst>
          </p:nvPr>
        </p:nvGraphicFramePr>
        <p:xfrm>
          <a:off x="10281708" y="2032216"/>
          <a:ext cx="1872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41" name="Shape_38977897">
            <a:extLst>
              <a:ext uri="{FF2B5EF4-FFF2-40B4-BE49-F238E27FC236}">
                <a16:creationId xmlns:a16="http://schemas.microsoft.com/office/drawing/2014/main" id="{34259DA5-0C97-6A31-92C3-D1510882DD1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05913653"/>
              </p:ext>
            </p:extLst>
          </p:nvPr>
        </p:nvGraphicFramePr>
        <p:xfrm>
          <a:off x="6622183" y="5578338"/>
          <a:ext cx="3415050" cy="60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AB1A4DE4-957E-EA8F-F8A1-DBE28B357466}"/>
              </a:ext>
            </a:extLst>
          </p:cNvPr>
          <p:cNvSpPr/>
          <p:nvPr/>
        </p:nvSpPr>
        <p:spPr>
          <a:xfrm>
            <a:off x="9028085" y="1869289"/>
            <a:ext cx="74781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Actions</a:t>
            </a:r>
            <a:r>
              <a:rPr kumimoji="0" lang="en-US" sz="10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558DF9-CDC5-A140-85FE-F3E4C050DACC}"/>
              </a:ext>
            </a:extLst>
          </p:cNvPr>
          <p:cNvSpPr/>
          <p:nvPr/>
        </p:nvSpPr>
        <p:spPr>
          <a:xfrm>
            <a:off x="4240911" y="4679003"/>
            <a:ext cx="5189352" cy="171735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58C"/>
              </a:solidFill>
              <a:effectLst/>
              <a:uLnTx/>
              <a:uFillTx/>
              <a:latin typeface="Calibri (Body)"/>
              <a:ea typeface="Arial" panose="020B0503030403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49AEC7-6569-5745-6340-8A505ECCFFE0}"/>
              </a:ext>
            </a:extLst>
          </p:cNvPr>
          <p:cNvSpPr/>
          <p:nvPr/>
        </p:nvSpPr>
        <p:spPr>
          <a:xfrm>
            <a:off x="4929660" y="1838809"/>
            <a:ext cx="74781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Attributes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48F0CC5-E24A-DADA-88A8-2B4730C31D29}"/>
              </a:ext>
            </a:extLst>
          </p:cNvPr>
          <p:cNvSpPr/>
          <p:nvPr/>
        </p:nvSpPr>
        <p:spPr>
          <a:xfrm>
            <a:off x="4239768" y="1498119"/>
            <a:ext cx="3869864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0000"/>
                </a:solidFill>
                <a:latin typeface="Johnson Display" panose="020B0604020202020204" charset="0"/>
                <a:cs typeface="Johnson Display" panose="020B0604020202020204" charset="0"/>
              </a:rPr>
              <a:t>NPP</a:t>
            </a:r>
            <a:r>
              <a:rPr lang="en-US" sz="1400" b="1" i="0" u="none" strike="noStrike">
                <a:solidFill>
                  <a:srgbClr val="000000"/>
                </a:solidFill>
                <a:effectLst/>
                <a:latin typeface="Johnson Display" panose="020B0604020202020204" charset="0"/>
                <a:cs typeface="Johnson Display" panose="020B0604020202020204" charset="0"/>
              </a:rPr>
              <a:t> Effectiveness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Display" panose="020B0604020202020204" charset="0"/>
              <a:ea typeface="Arial" panose="020B0503030403020204" pitchFamily="34" charset="0"/>
              <a:cs typeface="Johnson Display" panose="020B060402020202020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A5BDE11-65B6-80E3-0FC1-404A954B7CFF}"/>
              </a:ext>
            </a:extLst>
          </p:cNvPr>
          <p:cNvSpPr/>
          <p:nvPr/>
        </p:nvSpPr>
        <p:spPr>
          <a:xfrm>
            <a:off x="4241361" y="4339929"/>
            <a:ext cx="5188902" cy="339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0" u="none" strike="noStrike">
                <a:solidFill>
                  <a:srgbClr val="000000"/>
                </a:solidFill>
                <a:effectLst/>
                <a:latin typeface="Johnson Display" panose="020B0604020202020204" charset="0"/>
                <a:cs typeface="Johnson Display" panose="020B0604020202020204" charset="0"/>
              </a:rPr>
              <a:t>Perception about Amount of Information</a:t>
            </a:r>
            <a:r>
              <a:rPr lang="en-US" sz="1400" b="1">
                <a:latin typeface="Johnson Display" panose="020B0604020202020204" charset="0"/>
                <a:cs typeface="Johnson Display" panose="020B0604020202020204" charset="0"/>
              </a:rPr>
              <a:t>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Display" panose="020B0604020202020204" charset="0"/>
              <a:ea typeface="Arial" panose="020B0503030403020204" pitchFamily="34" charset="0"/>
              <a:cs typeface="Johnson Display" panose="020B0604020202020204" charset="0"/>
            </a:endParaRPr>
          </a:p>
        </p:txBody>
      </p:sp>
      <p:graphicFrame>
        <p:nvGraphicFramePr>
          <p:cNvPr id="44" name="Shape_1241437">
            <a:extLst>
              <a:ext uri="{FF2B5EF4-FFF2-40B4-BE49-F238E27FC236}">
                <a16:creationId xmlns:a16="http://schemas.microsoft.com/office/drawing/2014/main" id="{C440663E-44AD-BD59-3D7A-48F9B67CC398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34625238"/>
              </p:ext>
            </p:extLst>
          </p:nvPr>
        </p:nvGraphicFramePr>
        <p:xfrm>
          <a:off x="4251973" y="4884468"/>
          <a:ext cx="5346348" cy="621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45" name="Shape_61956101">
            <a:extLst>
              <a:ext uri="{FF2B5EF4-FFF2-40B4-BE49-F238E27FC236}">
                <a16:creationId xmlns:a16="http://schemas.microsoft.com/office/drawing/2014/main" id="{5A2226AA-6CD7-B4C9-470E-4D1887AF4484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32869762"/>
              </p:ext>
            </p:extLst>
          </p:nvPr>
        </p:nvGraphicFramePr>
        <p:xfrm>
          <a:off x="4251973" y="5558823"/>
          <a:ext cx="5346348" cy="621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63" name="Google Shape;229;p3">
            <a:extLst>
              <a:ext uri="{FF2B5EF4-FFF2-40B4-BE49-F238E27FC236}">
                <a16:creationId xmlns:a16="http://schemas.microsoft.com/office/drawing/2014/main" id="{F67BB3B0-E487-078C-BC4A-83615497A1DC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–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8D6A4E76-B05A-5528-F130-41CFBC3DB4C9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076115142"/>
              </p:ext>
            </p:extLst>
          </p:nvPr>
        </p:nvGraphicFramePr>
        <p:xfrm>
          <a:off x="8334849" y="2132028"/>
          <a:ext cx="1915200" cy="18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00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Researched the product independently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8882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Discussed the product with appropriate patients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69142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Read a publication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383477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Read the prescribing information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903517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Reviewed product website / videos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59956118-9DE9-6B45-D975-9A8C61C2C312}"/>
              </a:ext>
            </a:extLst>
          </p:cNvPr>
          <p:cNvSpPr txBox="1"/>
          <p:nvPr/>
        </p:nvSpPr>
        <p:spPr>
          <a:xfrm>
            <a:off x="4658603" y="6161887"/>
            <a:ext cx="354204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+mn-cs"/>
              </a:rPr>
              <a:t>% of Promotions with Right Amount of Detail (</a:t>
            </a:r>
            <a:r>
              <a:rPr lang="en-IN" sz="1000">
                <a:solidFill>
                  <a:srgbClr val="000000"/>
                </a:solidFill>
                <a:latin typeface="Johnson Text"/>
                <a:ea typeface="Verdana"/>
              </a:rPr>
              <a:t>Rated 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+mn-cs"/>
              </a:rPr>
              <a:t>3, 4, 5)</a:t>
            </a:r>
            <a:endParaRPr lang="en-US" sz="1000">
              <a:ea typeface="Verdan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9C4D65-D67D-AD08-3A06-38B25FBA6A35}"/>
              </a:ext>
            </a:extLst>
          </p:cNvPr>
          <p:cNvSpPr txBox="1"/>
          <p:nvPr/>
        </p:nvSpPr>
        <p:spPr>
          <a:xfrm>
            <a:off x="10533178" y="3995973"/>
            <a:ext cx="124934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</a:t>
            </a:r>
            <a:r>
              <a:rPr lang="en-US" sz="1000">
                <a:solidFill>
                  <a:srgbClr val="000000"/>
                </a:solidFill>
                <a:latin typeface="Johnson Text"/>
                <a:ea typeface="Verdana" panose="020B0604030504040204" pitchFamily="34" charset="0"/>
              </a:rPr>
              <a:t>Promotions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5C10A0-EFD4-F4FC-2C41-850D0C79E361}"/>
              </a:ext>
            </a:extLst>
          </p:cNvPr>
          <p:cNvSpPr txBox="1"/>
          <p:nvPr/>
        </p:nvSpPr>
        <p:spPr>
          <a:xfrm>
            <a:off x="6277501" y="4047120"/>
            <a:ext cx="172416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</a:t>
            </a:r>
            <a:r>
              <a:rPr lang="en-US" sz="1000">
                <a:solidFill>
                  <a:srgbClr val="000000"/>
                </a:solidFill>
                <a:latin typeface="Johnson Text"/>
                <a:ea typeface="Verdana" panose="020B0604030504040204" pitchFamily="34" charset="0"/>
              </a:rPr>
              <a:t>Promotions Rated 6,7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D0F114-E361-6790-1C9E-9E226648EF03}"/>
              </a:ext>
            </a:extLst>
          </p:cNvPr>
          <p:cNvSpPr txBox="1"/>
          <p:nvPr/>
        </p:nvSpPr>
        <p:spPr>
          <a:xfrm>
            <a:off x="2382248" y="3742591"/>
            <a:ext cx="124934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</a:t>
            </a:r>
            <a:r>
              <a:rPr lang="en-US" sz="1000">
                <a:solidFill>
                  <a:srgbClr val="000000"/>
                </a:solidFill>
                <a:latin typeface="Johnson Text"/>
                <a:ea typeface="Verdana" panose="020B0604030504040204" pitchFamily="34" charset="0"/>
              </a:rPr>
              <a:t>Promotions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3BDEBC-B6D8-F55F-9FC0-C25E962C059D}"/>
              </a:ext>
            </a:extLst>
          </p:cNvPr>
          <p:cNvSpPr txBox="1"/>
          <p:nvPr/>
        </p:nvSpPr>
        <p:spPr>
          <a:xfrm>
            <a:off x="2333000" y="6127557"/>
            <a:ext cx="124934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</a:t>
            </a:r>
            <a:r>
              <a:rPr lang="en-US" sz="1000">
                <a:solidFill>
                  <a:srgbClr val="000000"/>
                </a:solidFill>
                <a:latin typeface="Johnson Text"/>
                <a:ea typeface="Verdana" panose="020B0604030504040204" pitchFamily="34" charset="0"/>
              </a:rPr>
              <a:t>Promotions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CF13FA7-8EDE-844D-5366-1D594E98D786}"/>
              </a:ext>
            </a:extLst>
          </p:cNvPr>
          <p:cNvGrpSpPr/>
          <p:nvPr/>
        </p:nvGrpSpPr>
        <p:grpSpPr>
          <a:xfrm>
            <a:off x="10010238" y="5361058"/>
            <a:ext cx="1445200" cy="763025"/>
            <a:chOff x="9464238" y="4746702"/>
            <a:chExt cx="1437350" cy="763025"/>
          </a:xfrm>
        </p:grpSpPr>
        <p:sp>
          <p:nvSpPr>
            <p:cNvPr id="73" name="Legend_series_2">
              <a:extLst>
                <a:ext uri="{FF2B5EF4-FFF2-40B4-BE49-F238E27FC236}">
                  <a16:creationId xmlns:a16="http://schemas.microsoft.com/office/drawing/2014/main" id="{AAB2948F-CD2A-51DD-8807-A416712E21D9}"/>
                </a:ext>
              </a:extLst>
            </p:cNvPr>
            <p:cNvSpPr/>
            <p:nvPr/>
          </p:nvSpPr>
          <p:spPr>
            <a:xfrm>
              <a:off x="9799993" y="4924427"/>
              <a:ext cx="109500" cy="107664"/>
            </a:xfrm>
            <a:prstGeom prst="rect">
              <a:avLst/>
            </a:prstGeom>
            <a:solidFill>
              <a:srgbClr val="F758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74" name="Textbox_series_4">
              <a:extLst>
                <a:ext uri="{FF2B5EF4-FFF2-40B4-BE49-F238E27FC236}">
                  <a16:creationId xmlns:a16="http://schemas.microsoft.com/office/drawing/2014/main" id="{837E0C99-8F72-4E1F-54AF-6DD9BAEE21C4}"/>
                </a:ext>
              </a:extLst>
            </p:cNvPr>
            <p:cNvSpPr txBox="1"/>
            <p:nvPr/>
          </p:nvSpPr>
          <p:spPr>
            <a:xfrm>
              <a:off x="9938822" y="4746702"/>
              <a:ext cx="962766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RYB+LAZ</a:t>
              </a:r>
            </a:p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>
                  <a:solidFill>
                    <a:srgbClr val="505050">
                      <a:lumMod val="50000"/>
                    </a:srgbClr>
                  </a:solidFill>
                  <a:latin typeface="Johnson Text"/>
                  <a:ea typeface="Verdana" panose="020B0604030504040204" pitchFamily="34" charset="0"/>
                </a:rPr>
                <a:t>(s = 65)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3EF5A2F-3F71-438F-495C-A64D2C72D719}"/>
                </a:ext>
              </a:extLst>
            </p:cNvPr>
            <p:cNvGrpSpPr/>
            <p:nvPr/>
          </p:nvGrpSpPr>
          <p:grpSpPr>
            <a:xfrm>
              <a:off x="9464238" y="4941740"/>
              <a:ext cx="264183" cy="73038"/>
              <a:chOff x="4555473" y="6212382"/>
              <a:chExt cx="264595" cy="73152"/>
            </a:xfrm>
          </p:grpSpPr>
          <p:sp>
            <p:nvSpPr>
              <p:cNvPr id="85" name="Flowchart: Connector 84">
                <a:extLst>
                  <a:ext uri="{FF2B5EF4-FFF2-40B4-BE49-F238E27FC236}">
                    <a16:creationId xmlns:a16="http://schemas.microsoft.com/office/drawing/2014/main" id="{41720D28-B117-57C5-5311-C6342AD9D709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F75824"/>
              </a:solidFill>
              <a:ln>
                <a:solidFill>
                  <a:srgbClr val="F7582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904F0090-4F3A-9BAA-B19D-EB5374088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F7582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_series_3">
              <a:extLst>
                <a:ext uri="{FF2B5EF4-FFF2-40B4-BE49-F238E27FC236}">
                  <a16:creationId xmlns:a16="http://schemas.microsoft.com/office/drawing/2014/main" id="{35CA6CFA-2B1D-D7D5-16BA-0C40E73DA1F8}"/>
                </a:ext>
              </a:extLst>
            </p:cNvPr>
            <p:cNvSpPr txBox="1"/>
            <p:nvPr/>
          </p:nvSpPr>
          <p:spPr>
            <a:xfrm>
              <a:off x="9938822" y="5109617"/>
              <a:ext cx="962766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TAGRISSO</a:t>
              </a:r>
            </a:p>
            <a:p>
              <a:pPr marL="0" marR="0" lvl="0" indent="0" algn="l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srgbClr val="505050">
                      <a:lumMod val="50000"/>
                    </a:srgbClr>
                  </a:solidFill>
                  <a:latin typeface="Johnson Text"/>
                  <a:ea typeface="Verdana" panose="020B0604030504040204" pitchFamily="34" charset="0"/>
                </a:rPr>
                <a:t>(s = 46</a:t>
              </a:r>
              <a:r>
                <a:rPr lang="en-IN" sz="1000">
                  <a:solidFill>
                    <a:srgbClr val="505050">
                      <a:lumMod val="50000"/>
                    </a:srgbClr>
                  </a:solidFill>
                  <a:latin typeface="Johnson Text"/>
                  <a:ea typeface="Verdana" panose="020B0604030504040204" pitchFamily="34" charset="0"/>
                </a:rPr>
                <a:t>)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C49EB8D-2762-AAC7-A546-ABDE4B5B1966}"/>
                </a:ext>
              </a:extLst>
            </p:cNvPr>
            <p:cNvGrpSpPr/>
            <p:nvPr/>
          </p:nvGrpSpPr>
          <p:grpSpPr>
            <a:xfrm>
              <a:off x="9464238" y="5268038"/>
              <a:ext cx="264183" cy="73038"/>
              <a:chOff x="4555473" y="6212382"/>
              <a:chExt cx="264595" cy="73152"/>
            </a:xfrm>
          </p:grpSpPr>
          <p:sp>
            <p:nvSpPr>
              <p:cNvPr id="83" name="Flowchart: Connector 82">
                <a:extLst>
                  <a:ext uri="{FF2B5EF4-FFF2-40B4-BE49-F238E27FC236}">
                    <a16:creationId xmlns:a16="http://schemas.microsoft.com/office/drawing/2014/main" id="{817B8686-E3D0-8D1A-9E16-97864367BB9C}"/>
                  </a:ext>
                </a:extLst>
              </p:cNvPr>
              <p:cNvSpPr/>
              <p:nvPr/>
            </p:nvSpPr>
            <p:spPr>
              <a:xfrm>
                <a:off x="4651194" y="6212382"/>
                <a:ext cx="73152" cy="73152"/>
              </a:xfrm>
              <a:prstGeom prst="flowChartConnector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30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85D0890A-0618-B7AF-CB4A-3EA8C90DD7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473" y="6248958"/>
                <a:ext cx="264595" cy="0"/>
              </a:xfrm>
              <a:prstGeom prst="line">
                <a:avLst/>
              </a:prstGeom>
              <a:ln w="12700">
                <a:solidFill>
                  <a:srgbClr val="7030A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Legend_series_2">
              <a:extLst>
                <a:ext uri="{FF2B5EF4-FFF2-40B4-BE49-F238E27FC236}">
                  <a16:creationId xmlns:a16="http://schemas.microsoft.com/office/drawing/2014/main" id="{0CF7373F-B6C5-6322-64EE-154D56706818}"/>
                </a:ext>
              </a:extLst>
            </p:cNvPr>
            <p:cNvSpPr/>
            <p:nvPr/>
          </p:nvSpPr>
          <p:spPr>
            <a:xfrm>
              <a:off x="9799993" y="5248367"/>
              <a:ext cx="109500" cy="107664"/>
            </a:xfrm>
            <a:prstGeom prst="rect">
              <a:avLst/>
            </a:prstGeom>
            <a:solidFill>
              <a:srgbClr val="7638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21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422A43-9143-37CE-0CC7-F920F6C0CE3B}"/>
              </a:ext>
            </a:extLst>
          </p:cNvPr>
          <p:cNvGraphicFramePr>
            <a:graphicFrameLocks noGrp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345227262"/>
              </p:ext>
            </p:extLst>
          </p:nvPr>
        </p:nvGraphicFramePr>
        <p:xfrm>
          <a:off x="4346783" y="2112402"/>
          <a:ext cx="1913820" cy="2066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820">
                  <a:extLst>
                    <a:ext uri="{9D8B030D-6E8A-4147-A177-3AD203B41FA5}">
                      <a16:colId xmlns:a16="http://schemas.microsoft.com/office/drawing/2014/main" val="171607566"/>
                    </a:ext>
                  </a:extLst>
                </a:gridCol>
              </a:tblGrid>
              <a:tr h="34530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Overall effectiveness of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733188"/>
                  </a:ext>
                </a:extLst>
              </a:tr>
              <a:tr h="34530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Clarity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383477"/>
                  </a:ext>
                </a:extLst>
              </a:tr>
              <a:tr h="34530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Credibility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58439"/>
                  </a:ext>
                </a:extLst>
              </a:tr>
              <a:tr h="33959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Relevance / Usefulness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2735"/>
                  </a:ext>
                </a:extLst>
              </a:tr>
              <a:tr h="34530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Motivating to take action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92075"/>
                  </a:ext>
                </a:extLst>
              </a:tr>
              <a:tr h="345301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Differentiation of information in channel</a:t>
                      </a:r>
                    </a:p>
                  </a:txBody>
                  <a:tcPr marL="76200" marR="27432" marT="635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375785"/>
                  </a:ext>
                </a:extLst>
              </a:tr>
            </a:tbl>
          </a:graphicData>
        </a:graphic>
      </p:graphicFrame>
      <p:graphicFrame>
        <p:nvGraphicFramePr>
          <p:cNvPr id="9" name="Shape_79243435">
            <a:extLst>
              <a:ext uri="{FF2B5EF4-FFF2-40B4-BE49-F238E27FC236}">
                <a16:creationId xmlns:a16="http://schemas.microsoft.com/office/drawing/2014/main" id="{C63B6BDF-781D-509B-A463-7A5775C66F83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194431136"/>
              </p:ext>
            </p:extLst>
          </p:nvPr>
        </p:nvGraphicFramePr>
        <p:xfrm>
          <a:off x="6311647" y="1969529"/>
          <a:ext cx="1908000" cy="222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aphicFrame>
        <p:nvGraphicFramePr>
          <p:cNvPr id="19" name="PP Recall">
            <a:extLst>
              <a:ext uri="{FF2B5EF4-FFF2-40B4-BE49-F238E27FC236}">
                <a16:creationId xmlns:a16="http://schemas.microsoft.com/office/drawing/2014/main" id="{F284EF40-5567-D4E3-2B3B-D34C62FBF280}"/>
              </a:ext>
            </a:extLst>
          </p:cNvPr>
          <p:cNvGraphicFramePr>
            <a:graphicFrameLocks noGrp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22292782"/>
              </p:ext>
            </p:extLst>
          </p:nvPr>
        </p:nvGraphicFramePr>
        <p:xfrm>
          <a:off x="3439249" y="4618048"/>
          <a:ext cx="572516" cy="1515600"/>
        </p:xfrm>
        <a:graphic>
          <a:graphicData uri="http://schemas.openxmlformats.org/drawingml/2006/table">
            <a:tbl>
              <a:tblPr firstRow="1" bandRow="1"/>
              <a:tblGrid>
                <a:gridCol w="572516">
                  <a:extLst>
                    <a:ext uri="{9D8B030D-6E8A-4147-A177-3AD203B41FA5}">
                      <a16:colId xmlns:a16="http://schemas.microsoft.com/office/drawing/2014/main" val="2424153373"/>
                    </a:ext>
                  </a:extLst>
                </a:gridCol>
              </a:tblGrid>
              <a:tr h="303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1847844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0858191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+14%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3503605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330684"/>
                  </a:ext>
                </a:extLst>
              </a:tr>
              <a:tr h="303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2765330"/>
                  </a:ext>
                </a:extLst>
              </a:tr>
            </a:tbl>
          </a:graphicData>
        </a:graphic>
      </p:graphicFrame>
      <p:sp>
        <p:nvSpPr>
          <p:cNvPr id="14" name="Highlight#25">
            <a:extLst>
              <a:ext uri="{FF2B5EF4-FFF2-40B4-BE49-F238E27FC236}">
                <a16:creationId xmlns:a16="http://schemas.microsoft.com/office/drawing/2014/main" id="{FC375303-6C8D-8EA6-52CE-C82EB201B83B}"/>
              </a:ext>
            </a:extLst>
          </p:cNvPr>
          <p:cNvSpPr txBox="1"/>
          <p:nvPr/>
        </p:nvSpPr>
        <p:spPr>
          <a:xfrm>
            <a:off x="4346783" y="2042659"/>
            <a:ext cx="3762000" cy="378084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5" name="Highlight#25">
            <a:extLst>
              <a:ext uri="{FF2B5EF4-FFF2-40B4-BE49-F238E27FC236}">
                <a16:creationId xmlns:a16="http://schemas.microsoft.com/office/drawing/2014/main" id="{CA716999-0F79-138F-9B5C-08E5802FA404}"/>
              </a:ext>
            </a:extLst>
          </p:cNvPr>
          <p:cNvSpPr txBox="1"/>
          <p:nvPr/>
        </p:nvSpPr>
        <p:spPr>
          <a:xfrm>
            <a:off x="458927" y="4625218"/>
            <a:ext cx="3492000" cy="571280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6" name="Textbox_series_2">
            <a:extLst>
              <a:ext uri="{FF2B5EF4-FFF2-40B4-BE49-F238E27FC236}">
                <a16:creationId xmlns:a16="http://schemas.microsoft.com/office/drawing/2014/main" id="{38438B39-A9E6-1C62-EDA2-7B0B90B41793}"/>
              </a:ext>
            </a:extLst>
          </p:cNvPr>
          <p:cNvSpPr txBox="1"/>
          <p:nvPr/>
        </p:nvSpPr>
        <p:spPr>
          <a:xfrm flipH="1">
            <a:off x="9604375" y="4610185"/>
            <a:ext cx="2298239" cy="561856"/>
          </a:xfrm>
          <a:prstGeom prst="roundRect">
            <a:avLst/>
          </a:prstGeom>
          <a:solidFill>
            <a:srgbClr val="F75824">
              <a:alpha val="14902"/>
            </a:srgbClr>
          </a:solidFill>
          <a:ln>
            <a:solidFill>
              <a:srgbClr val="F75824"/>
            </a:solidFill>
            <a:prstDash val="dash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2116">
              <a:defRPr/>
            </a:pP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HCPs were more likely to use “</a:t>
            </a:r>
            <a:r>
              <a:rPr lang="en-US" sz="900" b="1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CONTACT ME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” feature in </a:t>
            </a:r>
            <a:r>
              <a:rPr lang="en-US" sz="900" b="1" dirty="0">
                <a:solidFill>
                  <a:srgbClr val="F75824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J&amp;J 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emails (20%) vs </a:t>
            </a:r>
            <a:r>
              <a:rPr lang="en-US" sz="900" b="1" dirty="0">
                <a:solidFill>
                  <a:srgbClr val="7030A0"/>
                </a:solidFill>
                <a:latin typeface="Johnson Text" panose="020B0604020202020204" charset="0"/>
                <a:ea typeface="Verdana"/>
                <a:cs typeface="Johnson Text" panose="020B0604020202020204" charset="0"/>
              </a:rPr>
              <a:t>AZ </a:t>
            </a:r>
            <a:r>
              <a:rPr lang="en-US" sz="900" dirty="0">
                <a:latin typeface="Johnson Text" panose="020B0604020202020204" charset="0"/>
                <a:ea typeface="Verdana"/>
                <a:cs typeface="Johnson Text" panose="020B0604020202020204" charset="0"/>
              </a:rPr>
              <a:t>(7%)</a:t>
            </a:r>
            <a:endParaRPr lang="en-US" sz="900" b="1" dirty="0">
              <a:latin typeface="Johnson Text" panose="020B0604020202020204" charset="0"/>
              <a:ea typeface="Verdana"/>
              <a:cs typeface="Johnson Tex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569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744C-81C2-1B1E-A38E-32F05ECA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404EB-F661-0D8F-5BD2-1CB128F2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03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786C43CE-3DC5-0FB0-7B89-D370BA423031}"/>
              </a:ext>
            </a:extLst>
          </p:cNvPr>
          <p:cNvSpPr txBox="1"/>
          <p:nvPr/>
        </p:nvSpPr>
        <p:spPr>
          <a:xfrm>
            <a:off x="424323" y="1198483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lvl="0" defTabSz="913029">
              <a:defRPr/>
            </a:pPr>
            <a:r>
              <a:rPr lang="en-US" sz="1000" b="1" err="1">
                <a:solidFill>
                  <a:srgbClr val="000000"/>
                </a:solidFill>
                <a:latin typeface="Johnson Display"/>
                <a:ea typeface="Verdana" panose="020B0604030504040204" pitchFamily="34" charset="0"/>
              </a:rPr>
              <a:t>ZoomRx</a:t>
            </a:r>
            <a:r>
              <a:rPr lang="en-US" sz="1000" b="1">
                <a:solidFill>
                  <a:srgbClr val="000000"/>
                </a:solidFill>
                <a:latin typeface="Johnson Display"/>
                <a:ea typeface="Verdana" panose="020B0604030504040204" pitchFamily="34" charset="0"/>
              </a:rPr>
              <a:t> PERXCEPT TRACKER INSIGHTS – Emails – </a:t>
            </a:r>
            <a:r>
              <a:rPr lang="en-US" sz="1000" b="1">
                <a:solidFill>
                  <a:srgbClr val="F75824"/>
                </a:solidFill>
                <a:latin typeface="Johnson Display"/>
                <a:ea typeface="Verdana" panose="020B0604030504040204" pitchFamily="34" charset="0"/>
              </a:rPr>
              <a:t>RYB+LAZ </a:t>
            </a:r>
            <a:r>
              <a:rPr lang="en-US" sz="1000" b="1">
                <a:solidFill>
                  <a:srgbClr val="000000"/>
                </a:solidFill>
                <a:latin typeface="Johnson Display"/>
                <a:ea typeface="Verdana" panose="020B0604030504040204" pitchFamily="34" charset="0"/>
              </a:rPr>
              <a:t>– Q4'25</a:t>
            </a:r>
            <a:endParaRPr lang="en-IN" sz="1000" b="1">
              <a:solidFill>
                <a:srgbClr val="F75824"/>
              </a:solidFill>
              <a:latin typeface="Johnson Display"/>
              <a:ea typeface="Verdana" panose="020B0604030504040204" pitchFamily="34" charset="0"/>
            </a:endParaRPr>
          </a:p>
        </p:txBody>
      </p:sp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B221E2C1-E463-3E12-DCF4-ADCFDA0519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3" y="1090620"/>
            <a:ext cx="248013" cy="248013"/>
          </a:xfrm>
          <a:prstGeom prst="rect">
            <a:avLst/>
          </a:prstGeom>
        </p:spPr>
      </p:pic>
      <p:sp>
        <p:nvSpPr>
          <p:cNvPr id="13" name="Google Shape;229;p3">
            <a:extLst>
              <a:ext uri="{FF2B5EF4-FFF2-40B4-BE49-F238E27FC236}">
                <a16:creationId xmlns:a16="http://schemas.microsoft.com/office/drawing/2014/main" id="{DFC777AD-B83C-29AC-89D3-EE84DE6E8D6F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Key Findings </a:t>
            </a:r>
            <a:r>
              <a:rPr kumimoji="0" lang="en-US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– Non-Sales Rep Promotions</a:t>
            </a:r>
            <a:endParaRPr kumimoji="0" lang="en-IN" sz="999" b="0" i="0" u="none" strike="noStrike" kern="0" cap="none" spc="0" normalizeH="0" baseline="0" noProof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Johnson Display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229;p3">
            <a:extLst>
              <a:ext uri="{FF2B5EF4-FFF2-40B4-BE49-F238E27FC236}">
                <a16:creationId xmlns:a16="http://schemas.microsoft.com/office/drawing/2014/main" id="{F8FD724A-3BB6-31A4-E9B3-719914B1F8BB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12D27C-F37F-09BA-70D9-A92536B5D15B}"/>
              </a:ext>
            </a:extLst>
          </p:cNvPr>
          <p:cNvSpPr/>
          <p:nvPr/>
        </p:nvSpPr>
        <p:spPr>
          <a:xfrm>
            <a:off x="3027680" y="1583190"/>
            <a:ext cx="8856000" cy="4752000"/>
          </a:xfrm>
          <a:prstGeom prst="roundRect">
            <a:avLst>
              <a:gd name="adj" fmla="val 617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7" name="Google Shape;590;p10">
            <a:extLst>
              <a:ext uri="{FF2B5EF4-FFF2-40B4-BE49-F238E27FC236}">
                <a16:creationId xmlns:a16="http://schemas.microsoft.com/office/drawing/2014/main" id="{24076FA8-3D49-73C5-D951-C659B08AE90C}"/>
              </a:ext>
            </a:extLst>
          </p:cNvPr>
          <p:cNvSpPr txBox="1"/>
          <p:nvPr/>
        </p:nvSpPr>
        <p:spPr>
          <a:xfrm>
            <a:off x="4755680" y="1651804"/>
            <a:ext cx="5400000" cy="386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Verdana"/>
                <a:sym typeface="Verdana"/>
              </a:rPr>
              <a:t>RYBREVANT Emails from ZoomRx Digital Tracker</a:t>
            </a:r>
            <a:r>
              <a:rPr kumimoji="0" lang="en-IN" sz="12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Verdana"/>
                <a:sym typeface="Verdana"/>
              </a:rPr>
              <a:t>1</a:t>
            </a:r>
            <a:endParaRPr kumimoji="0" lang="en-IN" sz="12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4BF7414B-D4B5-35B0-4B7A-C0AD0F701492}"/>
              </a:ext>
            </a:extLst>
          </p:cNvPr>
          <p:cNvSpPr txBox="1"/>
          <p:nvPr/>
        </p:nvSpPr>
        <p:spPr bwMode="gray">
          <a:xfrm>
            <a:off x="3035995" y="1976412"/>
            <a:ext cx="2194842" cy="469900"/>
          </a:xfrm>
          <a:prstGeom prst="rect">
            <a:avLst/>
          </a:prstGeom>
          <a:solidFill>
            <a:srgbClr val="F75824"/>
          </a:solidFill>
          <a:ln>
            <a:solidFill>
              <a:schemeClr val="bg1"/>
            </a:solidFill>
          </a:ln>
        </p:spPr>
        <p:txBody>
          <a:bodyPr wrap="square" lIns="45720" tIns="4572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CNS data for 1L </a:t>
            </a:r>
            <a:r>
              <a:rPr kumimoji="0" lang="en-GB" sz="14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EGFE+mNSCLC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A68F9A6F-B364-29FD-21FF-89A17B7AE7E3}"/>
              </a:ext>
            </a:extLst>
          </p:cNvPr>
          <p:cNvSpPr txBox="1"/>
          <p:nvPr/>
        </p:nvSpPr>
        <p:spPr bwMode="gray">
          <a:xfrm>
            <a:off x="7398445" y="1976412"/>
            <a:ext cx="2194842" cy="469900"/>
          </a:xfrm>
          <a:prstGeom prst="rect">
            <a:avLst/>
          </a:prstGeom>
          <a:solidFill>
            <a:srgbClr val="F75824"/>
          </a:solidFill>
          <a:ln>
            <a:solidFill>
              <a:schemeClr val="bg1"/>
            </a:solidFill>
          </a:ln>
        </p:spPr>
        <p:txBody>
          <a:bodyPr wrap="square" lIns="45720" tIns="4572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Updated NCCN Guideline on NSCLC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21B3BA-C0E3-21E0-42CC-2E91495F4310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sz="900" b="0" i="1" u="none" strike="noStrike" kern="0" cap="none" spc="0" normalizeH="0" baseline="3000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1</a:t>
            </a:r>
            <a:r>
              <a:rPr kumimoji="1" lang="en-IN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Emails displayed here are not exhaustive | </a:t>
            </a:r>
            <a:r>
              <a:rPr kumimoji="1" lang="en-IN" sz="900" b="0" i="1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ZoomRx Digital Tracker Methodology Slide</a:t>
            </a:r>
            <a:endParaRPr kumimoji="1" lang="en-US" sz="900" b="0" i="1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05E295C-1FD6-FB70-4F76-E7B30D403EBD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04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Unlike online ads, J&amp;J emails provide greater exposure to highly effective content on CNS, OS and NCCN guidelines, which likely explains their higher overall effectiveness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9FC601-A730-6D2C-AE07-90EAEDD812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281" r="9813"/>
          <a:stretch>
            <a:fillRect/>
          </a:stretch>
        </p:blipFill>
        <p:spPr>
          <a:xfrm>
            <a:off x="3099435" y="2504741"/>
            <a:ext cx="2095500" cy="377223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B88E55-DBDC-E79E-540C-59D8A4E943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98" r="5933"/>
          <a:stretch>
            <a:fillRect/>
          </a:stretch>
        </p:blipFill>
        <p:spPr>
          <a:xfrm>
            <a:off x="7490460" y="2498483"/>
            <a:ext cx="2085975" cy="3759441"/>
          </a:xfrm>
          <a:prstGeom prst="rect">
            <a:avLst/>
          </a:prstGeom>
        </p:spPr>
      </p:pic>
      <p:sp>
        <p:nvSpPr>
          <p:cNvPr id="28" name="TextBox 4">
            <a:extLst>
              <a:ext uri="{FF2B5EF4-FFF2-40B4-BE49-F238E27FC236}">
                <a16:creationId xmlns:a16="http://schemas.microsoft.com/office/drawing/2014/main" id="{A720ACCD-FE5F-A3D0-FCFD-D91EB47CAC8F}"/>
              </a:ext>
            </a:extLst>
          </p:cNvPr>
          <p:cNvSpPr txBox="1"/>
          <p:nvPr/>
        </p:nvSpPr>
        <p:spPr bwMode="gray">
          <a:xfrm>
            <a:off x="9579670" y="1966887"/>
            <a:ext cx="2194842" cy="469900"/>
          </a:xfrm>
          <a:prstGeom prst="rect">
            <a:avLst/>
          </a:prstGeom>
          <a:solidFill>
            <a:srgbClr val="F75824"/>
          </a:solidFill>
          <a:ln>
            <a:solidFill>
              <a:schemeClr val="bg1"/>
            </a:solidFill>
          </a:ln>
        </p:spPr>
        <p:txBody>
          <a:bodyPr wrap="square" lIns="45720" tIns="4572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NCCN Regimen for CNS Metastasis Patient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EDC9742-537C-CD80-A3F4-D76CDD702E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25" t="2191" r="5464" b="1712"/>
          <a:stretch>
            <a:fillRect/>
          </a:stretch>
        </p:blipFill>
        <p:spPr>
          <a:xfrm>
            <a:off x="9614535" y="2486025"/>
            <a:ext cx="2133600" cy="3762375"/>
          </a:xfrm>
          <a:prstGeom prst="rect">
            <a:avLst/>
          </a:prstGeom>
        </p:spPr>
      </p:pic>
      <p:sp>
        <p:nvSpPr>
          <p:cNvPr id="11" name="Google Shape;441;p8">
            <a:extLst>
              <a:ext uri="{FF2B5EF4-FFF2-40B4-BE49-F238E27FC236}">
                <a16:creationId xmlns:a16="http://schemas.microsoft.com/office/drawing/2014/main" id="{79413719-158C-77AC-D94C-46586B8B7C20}"/>
              </a:ext>
            </a:extLst>
          </p:cNvPr>
          <p:cNvSpPr/>
          <p:nvPr/>
        </p:nvSpPr>
        <p:spPr>
          <a:xfrm>
            <a:off x="41736" y="1625059"/>
            <a:ext cx="2800800" cy="4743250"/>
          </a:xfrm>
          <a:prstGeom prst="round1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5050"/>
              </a:buClr>
              <a:buSzPts val="11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Key Findings</a:t>
            </a:r>
          </a:p>
          <a:p>
            <a:pPr marL="9144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5050"/>
              </a:buClr>
              <a:buSzPts val="1100"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65% of J&amp;J emails focus on </a:t>
            </a:r>
            <a:r>
              <a: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indication </a:t>
            </a: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– </a:t>
            </a:r>
            <a:r>
              <a:rPr kumimoji="1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First-line treatment for adult patients with locally advanced or metastatic NSCLC</a:t>
            </a: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sz="12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29% of J&amp;J online ads focus on efficacy – </a:t>
            </a:r>
            <a:r>
              <a: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CNS </a:t>
            </a: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(</a:t>
            </a:r>
            <a:r>
              <a:rPr kumimoji="1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CNS data for first-line EGFR+ mNSCLC treatment</a:t>
            </a: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)</a:t>
            </a:r>
            <a:r>
              <a: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</a:t>
            </a: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and </a:t>
            </a:r>
            <a:r>
              <a: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OS </a:t>
            </a: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results (</a:t>
            </a:r>
            <a:r>
              <a:rPr kumimoji="1" lang="pt-B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Final OS data from MARIPOSA trial)</a:t>
            </a:r>
            <a:endParaRPr kumimoji="1" 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pt-B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</a:endParaRP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Directionally, </a:t>
            </a:r>
            <a:r>
              <a: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NCCN guidelines </a:t>
            </a: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is also shared via emails</a:t>
            </a:r>
            <a:r>
              <a:rPr kumimoji="1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Verdana"/>
                <a:cs typeface="Johnson Text" panose="020B0604020202020204" charset="0"/>
              </a:rPr>
              <a:t> – </a:t>
            </a:r>
          </a:p>
          <a:p>
            <a:pPr marL="17145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anose="020B0604020202020204" charset="0"/>
              <a:ea typeface="Verdana"/>
              <a:cs typeface="Johnson Text" panose="020B0604020202020204" charset="0"/>
            </a:endParaRPr>
          </a:p>
          <a:p>
            <a:pPr marL="36000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1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Discover this NCCN preferred EGFR+ mNSCLC treatment</a:t>
            </a:r>
          </a:p>
          <a:p>
            <a:pPr marL="360000" marR="0" lvl="0" indent="-171450" algn="l" defTabSz="912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1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Do you know this regimen is NCCN preferred for brain metastases in patient EGFR+ mNSCLC?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DE35B371-BD01-6C9A-C0C5-486885787B01}"/>
              </a:ext>
            </a:extLst>
          </p:cNvPr>
          <p:cNvSpPr txBox="1"/>
          <p:nvPr/>
        </p:nvSpPr>
        <p:spPr bwMode="gray">
          <a:xfrm>
            <a:off x="5193725" y="1976412"/>
            <a:ext cx="2194842" cy="469900"/>
          </a:xfrm>
          <a:prstGeom prst="rect">
            <a:avLst/>
          </a:prstGeom>
          <a:solidFill>
            <a:srgbClr val="F75824"/>
          </a:solidFill>
          <a:ln>
            <a:solidFill>
              <a:schemeClr val="bg1"/>
            </a:solidFill>
          </a:ln>
        </p:spPr>
        <p:txBody>
          <a:bodyPr wrap="square" lIns="45720" tIns="4572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sub Q therapy for the 1L treatment of mNSCLC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1A68F52-120D-C5CF-A153-EACDF9481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9540" y="2479136"/>
            <a:ext cx="2190750" cy="379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45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4D40-07C6-C7B7-1837-A2859C7B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D7B0-5D20-C33A-3326-7B0F62083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1477328"/>
          </a:xfrm>
        </p:spPr>
        <p:txBody>
          <a:bodyPr/>
          <a:lstStyle/>
          <a:p>
            <a:pPr marL="0" marR="0" lvl="0" indent="0" algn="l" defTabSz="914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0697876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9AC7-DBD2-452B-B497-37CD1B1B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504;p12">
            <a:extLst>
              <a:ext uri="{FF2B5EF4-FFF2-40B4-BE49-F238E27FC236}">
                <a16:creationId xmlns:a16="http://schemas.microsoft.com/office/drawing/2014/main" id="{AB757ADA-7EAF-08B7-C411-89670DB66705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[PRODUCT] MESSAGE RECALL for ALL HCPs 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FB37D2-B6A3-9112-5A6A-2438E990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E1242EF1-D907-CE77-24EC-06A875BBF507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AB079E70-62FE-F263-89D2-6F70D4FB636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ED7C18B-C817-477D-466E-D9CA5348AA8B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Recall of highly impactful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OS headline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and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efficacy-CNS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messages has increased steadily through Oct’25 R3M but has declined since then, possibly due to the message updates implemented in Sept’25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B9EAD4-6562-0130-3E55-B47AF2385024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Question text in speaker notes | No statistically significant difference with 95% confidence interval between latest two R3Ms ​|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Full message text in speaker notes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FDFFC3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edited during end of Oct’25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DCF4C4"/>
                </a:highlight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Messages added in Nov’25 (s = 71 for Dec’25 R3M)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highlight>
                <a:srgbClr val="DCF4C4"/>
              </a:highlight>
              <a:uLnTx/>
              <a:uFillTx/>
              <a:latin typeface="Johnson Text" panose="020B0604020202020204" charset="0"/>
              <a:ea typeface="+mn-ea"/>
              <a:cs typeface="Johnson Text" panose="020B0604020202020204" charset="0"/>
              <a:sym typeface="Verdana"/>
            </a:endParaRPr>
          </a:p>
        </p:txBody>
      </p:sp>
      <p:graphicFrame>
        <p:nvGraphicFramePr>
          <p:cNvPr id="5" name="Attributes">
            <a:extLst>
              <a:ext uri="{FF2B5EF4-FFF2-40B4-BE49-F238E27FC236}">
                <a16:creationId xmlns:a16="http://schemas.microsoft.com/office/drawing/2014/main" id="{ADDF0036-42EA-48D2-B5F7-76229BE1D493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3539050"/>
              </p:ext>
            </p:extLst>
          </p:nvPr>
        </p:nvGraphicFramePr>
        <p:xfrm>
          <a:off x="611367" y="2072318"/>
          <a:ext cx="3276000" cy="3888530"/>
        </p:xfrm>
        <a:graphic>
          <a:graphicData uri="http://schemas.openxmlformats.org/drawingml/2006/table">
            <a:tbl>
              <a:tblPr/>
              <a:tblGrid>
                <a:gridCol w="3276000">
                  <a:extLst>
                    <a:ext uri="{9D8B030D-6E8A-4147-A177-3AD203B41FA5}">
                      <a16:colId xmlns:a16="http://schemas.microsoft.com/office/drawing/2014/main" val="3882033834"/>
                    </a:ext>
                  </a:extLst>
                </a:gridCol>
              </a:tblGrid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NCCN - NSCLC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56724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Efficacy – mPFS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016862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Indication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175790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1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/>
                      </a:endParaRP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28337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Efficacy - mOS Not Reached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445564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MOA – Inhibition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667767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Efficacy - OS Headline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886637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Efficacy – CNS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421436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NCCN - CNS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574024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Safety – ARs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1807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70671EA-6C96-7188-6411-DAF13B0A652E}"/>
              </a:ext>
            </a:extLst>
          </p:cNvPr>
          <p:cNvSpPr txBox="1"/>
          <p:nvPr/>
        </p:nvSpPr>
        <p:spPr>
          <a:xfrm>
            <a:off x="1757085" y="1653191"/>
            <a:ext cx="984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rPr>
              <a:t>Message Tag</a:t>
            </a:r>
            <a:r>
              <a:rPr kumimoji="0" lang="en-GB" sz="1100" b="1" i="0" u="none" strike="noStrike" kern="0" cap="none" spc="0" normalizeH="0" baseline="3000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rPr>
              <a:t>$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AB535E2-01B6-36C8-EAD1-6A678918C38F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945025" y="1526198"/>
          <a:ext cx="7817964" cy="466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497">
                  <a:extLst>
                    <a:ext uri="{9D8B030D-6E8A-4147-A177-3AD203B41FA5}">
                      <a16:colId xmlns:a16="http://schemas.microsoft.com/office/drawing/2014/main" val="217860672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988987343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1021446290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242012092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1480200814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826056288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251768767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1838690506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64669091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2814146932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73859268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429418662"/>
                    </a:ext>
                  </a:extLst>
                </a:gridCol>
              </a:tblGrid>
              <a:tr h="388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Jan’25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81)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Feb’25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81)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Mar’25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100)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Apr’25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111)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May’25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122)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Jun’25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105)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Jul’25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107)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Aug’25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92)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Sep’25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103)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Oct’25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91)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Nov’25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  <a:b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98)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Dec’25 </a:t>
                      </a:r>
                    </a:p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(s = 100)</a:t>
                      </a:r>
                      <a:endParaRPr lang="en-IN" sz="1000" b="1" i="0" u="none" strike="noStrike" dirty="0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344467"/>
                  </a:ext>
                </a:extLst>
              </a:tr>
            </a:tbl>
          </a:graphicData>
        </a:graphic>
      </p:graphicFrame>
      <p:graphicFrame>
        <p:nvGraphicFramePr>
          <p:cNvPr id="25" name="Shape_33928932">
            <a:extLst>
              <a:ext uri="{FF2B5EF4-FFF2-40B4-BE49-F238E27FC236}">
                <a16:creationId xmlns:a16="http://schemas.microsoft.com/office/drawing/2014/main" id="{6BF7F8CA-7C53-0B25-FCD7-3E9C8348D22C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3885803" y="2072318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7E5598-951B-A804-4D6A-94CB56A81F2B}"/>
              </a:ext>
            </a:extLst>
          </p:cNvPr>
          <p:cNvSpPr txBox="1"/>
          <p:nvPr/>
        </p:nvSpPr>
        <p:spPr>
          <a:xfrm>
            <a:off x="7287185" y="6031359"/>
            <a:ext cx="113364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</p:txBody>
      </p:sp>
      <p:graphicFrame>
        <p:nvGraphicFramePr>
          <p:cNvPr id="6" name="Shape_33928932">
            <a:extLst>
              <a:ext uri="{FF2B5EF4-FFF2-40B4-BE49-F238E27FC236}">
                <a16:creationId xmlns:a16="http://schemas.microsoft.com/office/drawing/2014/main" id="{6C70A3BE-9A95-D03D-2A9C-B9CFA81BD48F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3885803" y="2459586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7" name="Shape_33928932">
            <a:extLst>
              <a:ext uri="{FF2B5EF4-FFF2-40B4-BE49-F238E27FC236}">
                <a16:creationId xmlns:a16="http://schemas.microsoft.com/office/drawing/2014/main" id="{FA3BD9DD-6323-1ACC-1726-8BF291A34B86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3885803" y="2846854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8" name="Shape_33928932">
            <a:extLst>
              <a:ext uri="{FF2B5EF4-FFF2-40B4-BE49-F238E27FC236}">
                <a16:creationId xmlns:a16="http://schemas.microsoft.com/office/drawing/2014/main" id="{6B9340A4-BE74-BB5C-0348-AB454D0E8DDB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3885803" y="3234122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12" name="Shape_33928932">
            <a:extLst>
              <a:ext uri="{FF2B5EF4-FFF2-40B4-BE49-F238E27FC236}">
                <a16:creationId xmlns:a16="http://schemas.microsoft.com/office/drawing/2014/main" id="{D6CC2E26-AEEF-455B-C0DD-D21C2BCF8BFD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3885803" y="3621390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14" name="Shape_33928932">
            <a:extLst>
              <a:ext uri="{FF2B5EF4-FFF2-40B4-BE49-F238E27FC236}">
                <a16:creationId xmlns:a16="http://schemas.microsoft.com/office/drawing/2014/main" id="{5C2A359F-AC6E-1DF6-488E-8099283B545E}"/>
              </a:ext>
            </a:extLst>
          </p:cNvPr>
          <p:cNvGraphicFramePr/>
          <p:nvPr>
            <p:custDataLst>
              <p:tags r:id="rId8"/>
            </p:custDataLst>
          </p:nvPr>
        </p:nvGraphicFramePr>
        <p:xfrm>
          <a:off x="3885803" y="4008658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15" name="Shape_33928932">
            <a:extLst>
              <a:ext uri="{FF2B5EF4-FFF2-40B4-BE49-F238E27FC236}">
                <a16:creationId xmlns:a16="http://schemas.microsoft.com/office/drawing/2014/main" id="{9C98C88B-A87F-242C-DE85-18C859C4A43B}"/>
              </a:ext>
            </a:extLst>
          </p:cNvPr>
          <p:cNvGraphicFramePr/>
          <p:nvPr>
            <p:custDataLst>
              <p:tags r:id="rId9"/>
            </p:custDataLst>
          </p:nvPr>
        </p:nvGraphicFramePr>
        <p:xfrm>
          <a:off x="3885803" y="4395926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16" name="Shape_33928932">
            <a:extLst>
              <a:ext uri="{FF2B5EF4-FFF2-40B4-BE49-F238E27FC236}">
                <a16:creationId xmlns:a16="http://schemas.microsoft.com/office/drawing/2014/main" id="{12A5351E-9190-83F3-3013-DD2C62FDF069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3885803" y="4783194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aphicFrame>
        <p:nvGraphicFramePr>
          <p:cNvPr id="17" name="Shape_33928932">
            <a:extLst>
              <a:ext uri="{FF2B5EF4-FFF2-40B4-BE49-F238E27FC236}">
                <a16:creationId xmlns:a16="http://schemas.microsoft.com/office/drawing/2014/main" id="{024EE1D2-A738-2343-C693-3ADA37183130}"/>
              </a:ext>
            </a:extLst>
          </p:cNvPr>
          <p:cNvGraphicFramePr/>
          <p:nvPr>
            <p:custDataLst>
              <p:tags r:id="rId11"/>
            </p:custDataLst>
          </p:nvPr>
        </p:nvGraphicFramePr>
        <p:xfrm>
          <a:off x="3885803" y="5170462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aphicFrame>
        <p:nvGraphicFramePr>
          <p:cNvPr id="18" name="Shape_33928932">
            <a:extLst>
              <a:ext uri="{FF2B5EF4-FFF2-40B4-BE49-F238E27FC236}">
                <a16:creationId xmlns:a16="http://schemas.microsoft.com/office/drawing/2014/main" id="{C57E26AD-F9F9-2274-EED1-3F1063A84E48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3885803" y="5557728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3" name="Google Shape;229;p3">
            <a:extLst>
              <a:ext uri="{FF2B5EF4-FFF2-40B4-BE49-F238E27FC236}">
                <a16:creationId xmlns:a16="http://schemas.microsoft.com/office/drawing/2014/main" id="{B206C553-9CF8-0D3A-B8C4-3F323AF8D5A2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20" name="Highlight#25">
            <a:extLst>
              <a:ext uri="{FF2B5EF4-FFF2-40B4-BE49-F238E27FC236}">
                <a16:creationId xmlns:a16="http://schemas.microsoft.com/office/drawing/2014/main" id="{6ADCC19E-C183-CBBA-BAD8-EEB2CB6DB506}"/>
              </a:ext>
            </a:extLst>
          </p:cNvPr>
          <p:cNvSpPr txBox="1"/>
          <p:nvPr/>
        </p:nvSpPr>
        <p:spPr>
          <a:xfrm>
            <a:off x="556876" y="4411864"/>
            <a:ext cx="11463674" cy="769736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22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E4612-BF4B-182C-88D8-F4BA22E9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504;p12">
            <a:extLst>
              <a:ext uri="{FF2B5EF4-FFF2-40B4-BE49-F238E27FC236}">
                <a16:creationId xmlns:a16="http://schemas.microsoft.com/office/drawing/2014/main" id="{41F9E1BB-6AD5-0EC5-BAEA-ACBC628AF525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[PRODUCT] MESSAGE EFFECTIVENESS for ALL HCPs 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3EB39-A83F-DEBD-B0C6-3D3C3E19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83910652-0FA9-C042-644F-8ACC1D2490FE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5972CBE6-9A3C-CD4C-E0D0-A2014CF75BF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4093D4-83FE-F61A-DBDD-1DE7FE76324F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^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Message effectiveness is the geometric mean of % of high ratings (6, 7 out of 7) for motivation, differentiation, and believability attributes of messages</a:t>
            </a: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/>
                <a:cs typeface="Johnson Text" panose="020B0604020202020204" charset="0"/>
                <a:sym typeface="Verdana"/>
              </a:rPr>
              <a:t>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No statistically significant difference with 95% confidence interval between latest two R3Ms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| Question text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Full message text in speaker notes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FDFFC3"/>
                </a:highlight>
                <a:uLnTx/>
                <a:uFillTx/>
                <a:latin typeface="Johnson Text"/>
                <a:ea typeface="+mn-ea"/>
                <a:cs typeface="+mn-cs"/>
              </a:rPr>
              <a:t>Messages edited during end of Oct’25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highlight>
                  <a:srgbClr val="DCF4C4"/>
                </a:highlight>
                <a:uLnTx/>
                <a:uFillTx/>
                <a:latin typeface="Johnson Text"/>
                <a:ea typeface="+mn-ea"/>
                <a:cs typeface="+mn-cs"/>
              </a:rPr>
              <a:t>Messages added in Nov’25 (d = 34 for Dec’25 R3M)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highlight>
                <a:srgbClr val="DCF4C4"/>
              </a:highlight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graphicFrame>
        <p:nvGraphicFramePr>
          <p:cNvPr id="5" name="Attributes">
            <a:extLst>
              <a:ext uri="{FF2B5EF4-FFF2-40B4-BE49-F238E27FC236}">
                <a16:creationId xmlns:a16="http://schemas.microsoft.com/office/drawing/2014/main" id="{D0BC7928-0695-0565-6449-FB91306C056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9980499"/>
              </p:ext>
            </p:extLst>
          </p:nvPr>
        </p:nvGraphicFramePr>
        <p:xfrm>
          <a:off x="611367" y="2072318"/>
          <a:ext cx="3276000" cy="3888530"/>
        </p:xfrm>
        <a:graphic>
          <a:graphicData uri="http://schemas.openxmlformats.org/drawingml/2006/table">
            <a:tbl>
              <a:tblPr/>
              <a:tblGrid>
                <a:gridCol w="3276000">
                  <a:extLst>
                    <a:ext uri="{9D8B030D-6E8A-4147-A177-3AD203B41FA5}">
                      <a16:colId xmlns:a16="http://schemas.microsoft.com/office/drawing/2014/main" val="3882033834"/>
                    </a:ext>
                  </a:extLst>
                </a:gridCol>
              </a:tblGrid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Efficacy – CNS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56724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Efficacy - OS Headline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016862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NCCN - CNS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175790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NCCN - NSCLC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28337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Efficacay - mOS Not Reached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445564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MOA – Inhibition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667767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Efficacy – mPFS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886637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Indication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421436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/>
                        </a:rPr>
                        <a:t>Safety – Ars</a:t>
                      </a: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574024"/>
                  </a:ext>
                </a:extLst>
              </a:tr>
              <a:tr h="3888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000" b="0" i="0" u="none" strike="noStrike" dirty="0">
                        <a:solidFill>
                          <a:srgbClr val="333333"/>
                        </a:solidFill>
                        <a:effectLst/>
                        <a:latin typeface="Johnson Text" panose="020B0604020202020204"/>
                      </a:endParaRPr>
                    </a:p>
                  </a:txBody>
                  <a:tcPr marL="7620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1807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094579-CB63-344E-24BA-C0C9A4B27215}"/>
              </a:ext>
            </a:extLst>
          </p:cNvPr>
          <p:cNvSpPr txBox="1"/>
          <p:nvPr/>
        </p:nvSpPr>
        <p:spPr>
          <a:xfrm>
            <a:off x="1757085" y="1653191"/>
            <a:ext cx="984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rPr>
              <a:t>Message Tag</a:t>
            </a:r>
            <a:r>
              <a:rPr kumimoji="0" lang="en-GB" sz="1100" b="1" i="0" u="none" strike="noStrike" kern="0" cap="none" spc="0" normalizeH="0" baseline="3000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rPr>
              <a:t>$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0B6F968-B878-7BA8-052C-00A4980F45B8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926553" y="1526198"/>
          <a:ext cx="7817964" cy="466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497">
                  <a:extLst>
                    <a:ext uri="{9D8B030D-6E8A-4147-A177-3AD203B41FA5}">
                      <a16:colId xmlns:a16="http://schemas.microsoft.com/office/drawing/2014/main" val="217860672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988987343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1021446290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242012092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1480200814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826056288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251768767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1838690506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64669091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2814146932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738592687"/>
                    </a:ext>
                  </a:extLst>
                </a:gridCol>
                <a:gridCol w="651497">
                  <a:extLst>
                    <a:ext uri="{9D8B030D-6E8A-4147-A177-3AD203B41FA5}">
                      <a16:colId xmlns:a16="http://schemas.microsoft.com/office/drawing/2014/main" val="3429418662"/>
                    </a:ext>
                  </a:extLst>
                </a:gridCol>
              </a:tblGrid>
              <a:tr h="388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Jan’25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54)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Feb’25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58)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Mar’25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55)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Apr’25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50)</a:t>
                      </a:r>
                      <a:endParaRPr lang="en-IN" sz="1000" b="0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May’25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56)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Jun’25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51)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Jul’25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59)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Aug’25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53)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Sep’25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54)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Oct’25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46)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Nov’25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  <a:b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44)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Dec’25 </a:t>
                      </a:r>
                    </a:p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R3M</a:t>
                      </a:r>
                    </a:p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(d = 51)</a:t>
                      </a:r>
                      <a:endParaRPr lang="en-IN" sz="1000" b="1" i="0" u="none" strike="noStrike">
                        <a:solidFill>
                          <a:srgbClr val="FF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344467"/>
                  </a:ext>
                </a:extLst>
              </a:tr>
            </a:tbl>
          </a:graphicData>
        </a:graphic>
      </p:graphicFrame>
      <p:graphicFrame>
        <p:nvGraphicFramePr>
          <p:cNvPr id="25" name="Shape_33928932">
            <a:extLst>
              <a:ext uri="{FF2B5EF4-FFF2-40B4-BE49-F238E27FC236}">
                <a16:creationId xmlns:a16="http://schemas.microsoft.com/office/drawing/2014/main" id="{2BB5843E-A1B0-D281-B231-82519BC1C678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3895171" y="2072318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47" name="Shape_70498591">
            <a:extLst>
              <a:ext uri="{FF2B5EF4-FFF2-40B4-BE49-F238E27FC236}">
                <a16:creationId xmlns:a16="http://schemas.microsoft.com/office/drawing/2014/main" id="{6C2301E1-D61C-8B4F-DD80-2AD728C4FFE6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3895171" y="2460779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48" name="Shape_8649579">
            <a:extLst>
              <a:ext uri="{FF2B5EF4-FFF2-40B4-BE49-F238E27FC236}">
                <a16:creationId xmlns:a16="http://schemas.microsoft.com/office/drawing/2014/main" id="{995181C6-D2CE-F7EE-E732-243FD70629D1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3895171" y="2849240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49" name="Shape_94455728">
            <a:extLst>
              <a:ext uri="{FF2B5EF4-FFF2-40B4-BE49-F238E27FC236}">
                <a16:creationId xmlns:a16="http://schemas.microsoft.com/office/drawing/2014/main" id="{DD267D77-7D42-6FB9-6395-3CF1566CC31A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3895171" y="3237701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50" name="Shape_98124290">
            <a:extLst>
              <a:ext uri="{FF2B5EF4-FFF2-40B4-BE49-F238E27FC236}">
                <a16:creationId xmlns:a16="http://schemas.microsoft.com/office/drawing/2014/main" id="{23D2C1E5-1B51-D72E-5C26-A5AC9735D30B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3895171" y="3626162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51" name="Shape_57692331">
            <a:extLst>
              <a:ext uri="{FF2B5EF4-FFF2-40B4-BE49-F238E27FC236}">
                <a16:creationId xmlns:a16="http://schemas.microsoft.com/office/drawing/2014/main" id="{074D8C00-9EE0-4BA2-C709-908C09E324BB}"/>
              </a:ext>
            </a:extLst>
          </p:cNvPr>
          <p:cNvGraphicFramePr/>
          <p:nvPr>
            <p:custDataLst>
              <p:tags r:id="rId8"/>
            </p:custDataLst>
          </p:nvPr>
        </p:nvGraphicFramePr>
        <p:xfrm>
          <a:off x="3895171" y="4014623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52" name="Shape_36335830">
            <a:extLst>
              <a:ext uri="{FF2B5EF4-FFF2-40B4-BE49-F238E27FC236}">
                <a16:creationId xmlns:a16="http://schemas.microsoft.com/office/drawing/2014/main" id="{879B884F-91E1-3B61-1FF7-B6E49D789A30}"/>
              </a:ext>
            </a:extLst>
          </p:cNvPr>
          <p:cNvGraphicFramePr/>
          <p:nvPr>
            <p:custDataLst>
              <p:tags r:id="rId9"/>
            </p:custDataLst>
          </p:nvPr>
        </p:nvGraphicFramePr>
        <p:xfrm>
          <a:off x="3895171" y="4403084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53" name="Shape_29558170">
            <a:extLst>
              <a:ext uri="{FF2B5EF4-FFF2-40B4-BE49-F238E27FC236}">
                <a16:creationId xmlns:a16="http://schemas.microsoft.com/office/drawing/2014/main" id="{2E29429A-B5CA-8492-6BAB-740F88E75444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3895171" y="4791545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aphicFrame>
        <p:nvGraphicFramePr>
          <p:cNvPr id="54" name="Shape_66405177">
            <a:extLst>
              <a:ext uri="{FF2B5EF4-FFF2-40B4-BE49-F238E27FC236}">
                <a16:creationId xmlns:a16="http://schemas.microsoft.com/office/drawing/2014/main" id="{B49672AC-2EB8-0E53-4751-F020BF96BC5E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631369582"/>
              </p:ext>
            </p:extLst>
          </p:nvPr>
        </p:nvGraphicFramePr>
        <p:xfrm>
          <a:off x="3895171" y="5180006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aphicFrame>
        <p:nvGraphicFramePr>
          <p:cNvPr id="55" name="Shape_36636802">
            <a:extLst>
              <a:ext uri="{FF2B5EF4-FFF2-40B4-BE49-F238E27FC236}">
                <a16:creationId xmlns:a16="http://schemas.microsoft.com/office/drawing/2014/main" id="{44AFC437-D636-43C6-7F3D-84773AE19227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3895171" y="5568464"/>
          <a:ext cx="8121600" cy="389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B8389975-2DC8-BD12-ACE9-E4852C90AAE9}"/>
              </a:ext>
            </a:extLst>
          </p:cNvPr>
          <p:cNvSpPr txBox="1"/>
          <p:nvPr/>
        </p:nvSpPr>
        <p:spPr>
          <a:xfrm>
            <a:off x="7088586" y="6031359"/>
            <a:ext cx="1734770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ctr">
              <a:defRPr/>
            </a:pPr>
            <a:r>
              <a:rPr lang="en-IN" sz="1000" dirty="0">
                <a:solidFill>
                  <a:srgbClr val="000000"/>
                </a:solidFill>
                <a:ea typeface="Verdana" panose="020B0604030504040204" pitchFamily="34" charset="0"/>
              </a:rPr>
              <a:t>% of Responses Rated 6, 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784B9F-09B4-8F5F-087B-187C74841255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RYB + LAZ’s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efficacy (OS and CNS)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messages are perceived #1 in effectiveness consistently since launch; newly introduced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NCCN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messages resonate strongly with HCPs</a:t>
            </a:r>
          </a:p>
        </p:txBody>
      </p:sp>
      <p:sp>
        <p:nvSpPr>
          <p:cNvPr id="4" name="Google Shape;229;p3">
            <a:extLst>
              <a:ext uri="{FF2B5EF4-FFF2-40B4-BE49-F238E27FC236}">
                <a16:creationId xmlns:a16="http://schemas.microsoft.com/office/drawing/2014/main" id="{B79B1527-06D2-E942-9580-AC09DA491B76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6" name="Highlight#25">
            <a:extLst>
              <a:ext uri="{FF2B5EF4-FFF2-40B4-BE49-F238E27FC236}">
                <a16:creationId xmlns:a16="http://schemas.microsoft.com/office/drawing/2014/main" id="{43CD62AF-8DF0-F30F-04C7-6F735258C1AA}"/>
              </a:ext>
            </a:extLst>
          </p:cNvPr>
          <p:cNvSpPr txBox="1"/>
          <p:nvPr/>
        </p:nvSpPr>
        <p:spPr>
          <a:xfrm>
            <a:off x="556876" y="2097288"/>
            <a:ext cx="11463674" cy="1528873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5250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8D8DEF-749B-1038-D6F5-44C081DB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4" name="Attributes">
            <a:extLst>
              <a:ext uri="{FF2B5EF4-FFF2-40B4-BE49-F238E27FC236}">
                <a16:creationId xmlns:a16="http://schemas.microsoft.com/office/drawing/2014/main" id="{EAC50C12-E90D-9C69-0536-581C417C6359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9797201"/>
              </p:ext>
            </p:extLst>
          </p:nvPr>
        </p:nvGraphicFramePr>
        <p:xfrm>
          <a:off x="619993" y="1500483"/>
          <a:ext cx="3276000" cy="4536920"/>
        </p:xfrm>
        <a:graphic>
          <a:graphicData uri="http://schemas.openxmlformats.org/drawingml/2006/table">
            <a:tbl>
              <a:tblPr/>
              <a:tblGrid>
                <a:gridCol w="3276000">
                  <a:extLst>
                    <a:ext uri="{9D8B030D-6E8A-4147-A177-3AD203B41FA5}">
                      <a16:colId xmlns:a16="http://schemas.microsoft.com/office/drawing/2014/main" val="3882033834"/>
                    </a:ext>
                  </a:extLst>
                </a:gridCol>
              </a:tblGrid>
              <a:tr h="567115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Overall quality of sales call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56724"/>
                  </a:ext>
                </a:extLst>
              </a:tr>
              <a:tr h="56711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knowledge about [PRODUCT] for EGFR+ mNSCLC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016862"/>
                  </a:ext>
                </a:extLst>
              </a:tr>
              <a:tr h="567115">
                <a:tc>
                  <a:txBody>
                    <a:bodyPr/>
                    <a:lstStyle/>
                    <a:p>
                      <a:pPr algn="r" rtl="0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How organized the rep appears to be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175790"/>
                  </a:ext>
                </a:extLst>
              </a:tr>
              <a:tr h="56711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providing a compelling reason to prescribe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28337"/>
                  </a:ext>
                </a:extLst>
              </a:tr>
              <a:tr h="56711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providing credible support for [PRODUCT] claims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445564"/>
                  </a:ext>
                </a:extLst>
              </a:tr>
              <a:tr h="56711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How engaging the rep is while discussing [PRODUCT]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667767"/>
                  </a:ext>
                </a:extLst>
              </a:tr>
              <a:tr h="567115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Rep being prepared for conversation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886637"/>
                  </a:ext>
                </a:extLst>
              </a:tr>
              <a:tr h="56711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Rep knowledge about EGFR+ mNSCLC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4214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CF44C5-60CE-1E41-698B-7D99A49754A7}"/>
              </a:ext>
            </a:extLst>
          </p:cNvPr>
          <p:cNvSpPr txBox="1"/>
          <p:nvPr/>
        </p:nvSpPr>
        <p:spPr>
          <a:xfrm>
            <a:off x="1025926" y="1167617"/>
            <a:ext cx="2464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Arial" panose="020B0604020202020204" pitchFamily="34" charset="0"/>
              </a:rPr>
              <a:t>Sales Rep Performance Attributes</a:t>
            </a:r>
          </a:p>
        </p:txBody>
      </p:sp>
      <p:sp>
        <p:nvSpPr>
          <p:cNvPr id="6" name="Arrow: Down 49">
            <a:extLst>
              <a:ext uri="{FF2B5EF4-FFF2-40B4-BE49-F238E27FC236}">
                <a16:creationId xmlns:a16="http://schemas.microsoft.com/office/drawing/2014/main" id="{F42F6D67-20E6-C94F-3634-98D18D23EEC0}"/>
              </a:ext>
            </a:extLst>
          </p:cNvPr>
          <p:cNvSpPr/>
          <p:nvPr/>
        </p:nvSpPr>
        <p:spPr>
          <a:xfrm>
            <a:off x="91585" y="1500485"/>
            <a:ext cx="528407" cy="4536918"/>
          </a:xfrm>
          <a:prstGeom prst="downArrow">
            <a:avLst/>
          </a:prstGeom>
          <a:gradFill flip="none" rotWithShape="1">
            <a:gsLst>
              <a:gs pos="0">
                <a:srgbClr val="00B050"/>
              </a:gs>
              <a:gs pos="50000">
                <a:schemeClr val="accent4">
                  <a:lumMod val="20000"/>
                  <a:lumOff val="80000"/>
                </a:schemeClr>
              </a:gs>
              <a:gs pos="100000">
                <a:srgbClr val="002060">
                  <a:tint val="23500"/>
                  <a:satMod val="160000"/>
                </a:srgbClr>
              </a:gs>
            </a:gsLst>
            <a:lin ang="5400000" scaled="1"/>
            <a:tileRect/>
          </a:gra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766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  <a:sym typeface="Arial"/>
              </a:rPr>
              <a:t>Decreasing order of Stated Importance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4D043A-567C-6FCA-F892-25A80AF9683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6078284"/>
              </p:ext>
            </p:extLst>
          </p:nvPr>
        </p:nvGraphicFramePr>
        <p:xfrm>
          <a:off x="3583401" y="1040624"/>
          <a:ext cx="7898358" cy="4242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6393">
                  <a:extLst>
                    <a:ext uri="{9D8B030D-6E8A-4147-A177-3AD203B41FA5}">
                      <a16:colId xmlns:a16="http://schemas.microsoft.com/office/drawing/2014/main" val="1032365635"/>
                    </a:ext>
                  </a:extLst>
                </a:gridCol>
                <a:gridCol w="1316393">
                  <a:extLst>
                    <a:ext uri="{9D8B030D-6E8A-4147-A177-3AD203B41FA5}">
                      <a16:colId xmlns:a16="http://schemas.microsoft.com/office/drawing/2014/main" val="2420120927"/>
                    </a:ext>
                  </a:extLst>
                </a:gridCol>
                <a:gridCol w="1316393">
                  <a:extLst>
                    <a:ext uri="{9D8B030D-6E8A-4147-A177-3AD203B41FA5}">
                      <a16:colId xmlns:a16="http://schemas.microsoft.com/office/drawing/2014/main" val="1480200814"/>
                    </a:ext>
                  </a:extLst>
                </a:gridCol>
                <a:gridCol w="1316393">
                  <a:extLst>
                    <a:ext uri="{9D8B030D-6E8A-4147-A177-3AD203B41FA5}">
                      <a16:colId xmlns:a16="http://schemas.microsoft.com/office/drawing/2014/main" val="3826056288"/>
                    </a:ext>
                  </a:extLst>
                </a:gridCol>
                <a:gridCol w="1316393">
                  <a:extLst>
                    <a:ext uri="{9D8B030D-6E8A-4147-A177-3AD203B41FA5}">
                      <a16:colId xmlns:a16="http://schemas.microsoft.com/office/drawing/2014/main" val="1408928781"/>
                    </a:ext>
                  </a:extLst>
                </a:gridCol>
                <a:gridCol w="1316393">
                  <a:extLst>
                    <a:ext uri="{9D8B030D-6E8A-4147-A177-3AD203B41FA5}">
                      <a16:colId xmlns:a16="http://schemas.microsoft.com/office/drawing/2014/main" val="1292885911"/>
                    </a:ext>
                  </a:extLst>
                </a:gridCol>
              </a:tblGrid>
              <a:tr h="42423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Q3 2024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Q4 2024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Q1 2025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Q2 2025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Q3 2025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3F3F3F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Q4 2025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3444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EFD626D-9663-908A-091B-626155C481A3}"/>
              </a:ext>
            </a:extLst>
          </p:cNvPr>
          <p:cNvSpPr txBox="1"/>
          <p:nvPr/>
        </p:nvSpPr>
        <p:spPr>
          <a:xfrm>
            <a:off x="2794204" y="810906"/>
            <a:ext cx="737385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QoQ Trends for Sale Rep Performance Attributes</a:t>
            </a:r>
            <a:endParaRPr kumimoji="0" lang="en-GB" sz="1200" b="1" i="0" u="none" strike="noStrike" kern="1200" cap="none" spc="0" normalizeH="0" baseline="3000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12D4DC-0CBB-F920-B287-D30B186288FE}"/>
              </a:ext>
            </a:extLst>
          </p:cNvPr>
          <p:cNvGrpSpPr/>
          <p:nvPr/>
        </p:nvGrpSpPr>
        <p:grpSpPr>
          <a:xfrm>
            <a:off x="6597665" y="6182895"/>
            <a:ext cx="2232875" cy="246221"/>
            <a:chOff x="6629982" y="5889014"/>
            <a:chExt cx="2232875" cy="24622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960C7F-BF0D-1892-E690-748F05DB3942}"/>
                </a:ext>
              </a:extLst>
            </p:cNvPr>
            <p:cNvSpPr/>
            <p:nvPr/>
          </p:nvSpPr>
          <p:spPr>
            <a:xfrm>
              <a:off x="6629982" y="5960638"/>
              <a:ext cx="108000" cy="108000"/>
            </a:xfrm>
            <a:prstGeom prst="ellipse">
              <a:avLst/>
            </a:prstGeom>
            <a:solidFill>
              <a:srgbClr val="F75824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4AB47E-F845-51C1-1612-F7B525DE7D67}"/>
                </a:ext>
              </a:extLst>
            </p:cNvPr>
            <p:cNvSpPr txBox="1"/>
            <p:nvPr/>
          </p:nvSpPr>
          <p:spPr>
            <a:xfrm>
              <a:off x="6727183" y="5889014"/>
              <a:ext cx="10063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+mn-ea"/>
                  <a:cs typeface="Arial" panose="020B0604020202020204" pitchFamily="34" charset="0"/>
                </a:rPr>
                <a:t>J&amp;J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6EF1CD-DB53-D832-CF28-7031B64D580F}"/>
                </a:ext>
              </a:extLst>
            </p:cNvPr>
            <p:cNvSpPr txBox="1"/>
            <p:nvPr/>
          </p:nvSpPr>
          <p:spPr>
            <a:xfrm>
              <a:off x="7845031" y="5889014"/>
              <a:ext cx="10178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+mn-ea"/>
                  <a:cs typeface="Arial" panose="020B0604020202020204" pitchFamily="34" charset="0"/>
                </a:rPr>
                <a:t>AZ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864371-D24C-4682-6B03-CDDAF8863614}"/>
                </a:ext>
              </a:extLst>
            </p:cNvPr>
            <p:cNvSpPr/>
            <p:nvPr/>
          </p:nvSpPr>
          <p:spPr>
            <a:xfrm>
              <a:off x="7760769" y="5960638"/>
              <a:ext cx="108000" cy="108000"/>
            </a:xfrm>
            <a:prstGeom prst="ellipse">
              <a:avLst/>
            </a:prstGeom>
            <a:solidFill>
              <a:srgbClr val="7638A4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graphicFrame>
        <p:nvGraphicFramePr>
          <p:cNvPr id="14" name="Shape_33928932">
            <a:extLst>
              <a:ext uri="{FF2B5EF4-FFF2-40B4-BE49-F238E27FC236}">
                <a16:creationId xmlns:a16="http://schemas.microsoft.com/office/drawing/2014/main" id="{AE917ED3-30AF-FA75-0002-EB9F583DEFFF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34418024"/>
              </p:ext>
            </p:extLst>
          </p:nvPr>
        </p:nvGraphicFramePr>
        <p:xfrm>
          <a:off x="3583401" y="1564784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15" name="Shape_75031814">
            <a:extLst>
              <a:ext uri="{FF2B5EF4-FFF2-40B4-BE49-F238E27FC236}">
                <a16:creationId xmlns:a16="http://schemas.microsoft.com/office/drawing/2014/main" id="{7F0F0EFB-15EA-549F-B4BB-2333ED420F10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581270576"/>
              </p:ext>
            </p:extLst>
          </p:nvPr>
        </p:nvGraphicFramePr>
        <p:xfrm>
          <a:off x="3583401" y="2132110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16" name="Shape_49638980">
            <a:extLst>
              <a:ext uri="{FF2B5EF4-FFF2-40B4-BE49-F238E27FC236}">
                <a16:creationId xmlns:a16="http://schemas.microsoft.com/office/drawing/2014/main" id="{3A20FAFB-7088-F6D6-AEDE-E70D50B118FE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217622348"/>
              </p:ext>
            </p:extLst>
          </p:nvPr>
        </p:nvGraphicFramePr>
        <p:xfrm>
          <a:off x="3583401" y="2699436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17" name="Shape_4325485">
            <a:extLst>
              <a:ext uri="{FF2B5EF4-FFF2-40B4-BE49-F238E27FC236}">
                <a16:creationId xmlns:a16="http://schemas.microsoft.com/office/drawing/2014/main" id="{90504B04-848D-F940-ACFD-825C5381F107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10976639"/>
              </p:ext>
            </p:extLst>
          </p:nvPr>
        </p:nvGraphicFramePr>
        <p:xfrm>
          <a:off x="3583401" y="3266762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18" name="Shape_67038152">
            <a:extLst>
              <a:ext uri="{FF2B5EF4-FFF2-40B4-BE49-F238E27FC236}">
                <a16:creationId xmlns:a16="http://schemas.microsoft.com/office/drawing/2014/main" id="{E4E3DB23-E675-44AD-AB19-CCF1BC90B1FD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00753967"/>
              </p:ext>
            </p:extLst>
          </p:nvPr>
        </p:nvGraphicFramePr>
        <p:xfrm>
          <a:off x="3583401" y="3834088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19" name="Shape_69674326">
            <a:extLst>
              <a:ext uri="{FF2B5EF4-FFF2-40B4-BE49-F238E27FC236}">
                <a16:creationId xmlns:a16="http://schemas.microsoft.com/office/drawing/2014/main" id="{0B81783A-689D-E1F9-C574-F14AC1754150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706476065"/>
              </p:ext>
            </p:extLst>
          </p:nvPr>
        </p:nvGraphicFramePr>
        <p:xfrm>
          <a:off x="3583401" y="4401414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20" name="Shape_67947872">
            <a:extLst>
              <a:ext uri="{FF2B5EF4-FFF2-40B4-BE49-F238E27FC236}">
                <a16:creationId xmlns:a16="http://schemas.microsoft.com/office/drawing/2014/main" id="{7FB7F82C-52F3-344A-E322-907573832956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541183864"/>
              </p:ext>
            </p:extLst>
          </p:nvPr>
        </p:nvGraphicFramePr>
        <p:xfrm>
          <a:off x="3583401" y="4968740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21" name="Shape_58114474">
            <a:extLst>
              <a:ext uri="{FF2B5EF4-FFF2-40B4-BE49-F238E27FC236}">
                <a16:creationId xmlns:a16="http://schemas.microsoft.com/office/drawing/2014/main" id="{3865716E-6C63-FE66-8276-368D4A54BFEB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500916398"/>
              </p:ext>
            </p:extLst>
          </p:nvPr>
        </p:nvGraphicFramePr>
        <p:xfrm>
          <a:off x="3583401" y="5536065"/>
          <a:ext cx="81216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656C419A-2342-6FF9-E46A-AAA84970E22E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6007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Since MARIPOSA approval, J&amp;J reps has achieved an all-time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high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across most rep performance attributes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F34277-4D81-DE71-F128-1362213F576F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Sample sizes in speaker notes |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      Denotes statistically significant difference with 95% confidence interval found between RYB+LAZ and TAG interactions in current quarter</a:t>
            </a:r>
            <a:endParaRPr kumimoji="1" lang="en-US" sz="900" b="0" i="1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320C22-928C-3358-A644-07100D1901AD}"/>
              </a:ext>
            </a:extLst>
          </p:cNvPr>
          <p:cNvSpPr/>
          <p:nvPr/>
        </p:nvSpPr>
        <p:spPr>
          <a:xfrm>
            <a:off x="5789396" y="6542906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8D89B3-6067-CD69-DC0A-063DB92B87D2}"/>
              </a:ext>
            </a:extLst>
          </p:cNvPr>
          <p:cNvSpPr/>
          <p:nvPr/>
        </p:nvSpPr>
        <p:spPr>
          <a:xfrm>
            <a:off x="11228171" y="2239151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" name="Google Shape;229;p3">
            <a:extLst>
              <a:ext uri="{FF2B5EF4-FFF2-40B4-BE49-F238E27FC236}">
                <a16:creationId xmlns:a16="http://schemas.microsoft.com/office/drawing/2014/main" id="{D80E8FAA-FE08-6ACF-A531-7A1AB719C9C6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CCF17A-D475-0DFB-73A6-0EE4C2B9ADAD}"/>
              </a:ext>
            </a:extLst>
          </p:cNvPr>
          <p:cNvSpPr txBox="1"/>
          <p:nvPr/>
        </p:nvSpPr>
        <p:spPr>
          <a:xfrm>
            <a:off x="6766401" y="5980584"/>
            <a:ext cx="1755610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 Rated 6, 7</a:t>
            </a:r>
          </a:p>
        </p:txBody>
      </p:sp>
      <p:sp>
        <p:nvSpPr>
          <p:cNvPr id="26" name="Google Shape;229;p3">
            <a:extLst>
              <a:ext uri="{FF2B5EF4-FFF2-40B4-BE49-F238E27FC236}">
                <a16:creationId xmlns:a16="http://schemas.microsoft.com/office/drawing/2014/main" id="{A183BCE9-5BC4-6EBC-D0A4-3BE2AF54CE29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77535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6A7F-E0A3-DAFE-7E29-7FDCD7E24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Visual Aids Used">
            <a:extLst>
              <a:ext uri="{FF2B5EF4-FFF2-40B4-BE49-F238E27FC236}">
                <a16:creationId xmlns:a16="http://schemas.microsoft.com/office/drawing/2014/main" id="{A96AE5BD-4003-3E09-B479-9BDF31149A1C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2606693"/>
              </p:ext>
            </p:extLst>
          </p:nvPr>
        </p:nvGraphicFramePr>
        <p:xfrm>
          <a:off x="3082133" y="2846364"/>
          <a:ext cx="2052000" cy="20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Google Shape;504;p12">
            <a:extLst>
              <a:ext uri="{FF2B5EF4-FFF2-40B4-BE49-F238E27FC236}">
                <a16:creationId xmlns:a16="http://schemas.microsoft.com/office/drawing/2014/main" id="{7BD7953A-E785-6AAA-D375-44876A18AFB9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POST INTERACTION PERCEPTIONS among PATIENTS with CNS METASTASIS and without CNS METASTASIS  –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sp>
        <p:nvSpPr>
          <p:cNvPr id="34" name="Google Shape;229;p3">
            <a:extLst>
              <a:ext uri="{FF2B5EF4-FFF2-40B4-BE49-F238E27FC236}">
                <a16:creationId xmlns:a16="http://schemas.microsoft.com/office/drawing/2014/main" id="{12112AAF-CD7B-349E-4EE7-A668FB880430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F4D6B328-4A19-6498-7635-72B4D57DB24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cxnSp>
        <p:nvCxnSpPr>
          <p:cNvPr id="10" name="Google Shape;346;p4">
            <a:extLst>
              <a:ext uri="{FF2B5EF4-FFF2-40B4-BE49-F238E27FC236}">
                <a16:creationId xmlns:a16="http://schemas.microsoft.com/office/drawing/2014/main" id="{7929AB1D-646B-DE70-59EC-405A062728C2}"/>
              </a:ext>
            </a:extLst>
          </p:cNvPr>
          <p:cNvCxnSpPr>
            <a:cxnSpLocks/>
          </p:cNvCxnSpPr>
          <p:nvPr/>
        </p:nvCxnSpPr>
        <p:spPr>
          <a:xfrm>
            <a:off x="6096000" y="2535324"/>
            <a:ext cx="0" cy="2396255"/>
          </a:xfrm>
          <a:prstGeom prst="straightConnector1">
            <a:avLst/>
          </a:prstGeom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959F270-B83E-CA5B-A1C6-AE8424AB43A8}"/>
              </a:ext>
            </a:extLst>
          </p:cNvPr>
          <p:cNvSpPr txBox="1"/>
          <p:nvPr/>
        </p:nvSpPr>
        <p:spPr>
          <a:xfrm>
            <a:off x="1617756" y="1662136"/>
            <a:ext cx="3410509" cy="4320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Likelihood to Increase Rx Post-Rep Interaction – </a:t>
            </a: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With CNS Metastasis </a:t>
            </a:r>
            <a:endParaRPr kumimoji="0" lang="en-IN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CD126B2-C802-E982-B1FA-A99B12F0F6BB}"/>
              </a:ext>
            </a:extLst>
          </p:cNvPr>
          <p:cNvSpPr>
            <a:spLocks noGrp="1"/>
          </p:cNvSpPr>
          <p:nvPr/>
        </p:nvSpPr>
        <p:spPr>
          <a:xfrm>
            <a:off x="-2" y="144212"/>
            <a:ext cx="12276000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RYB+LAZ ties with </a:t>
            </a:r>
            <a:r>
              <a:rPr kumimoji="0" lang="en-US" sz="1800" b="1" i="0" u="non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TAG+Chemo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in driving </a:t>
            </a:r>
            <a:r>
              <a:rPr kumimoji="0" lang="en-US" sz="1800" b="1" i="0" u="non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HCPs'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intent to increase Rx among patients with CNS metastasis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 while QoQ gains among patients without CNS metastasis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help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 RYB+LAZ take the lead</a:t>
            </a:r>
            <a:endParaRPr kumimoji="0" lang="en-US" sz="1800" b="1" i="0" u="non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DC49B8-A0B7-9AAE-1413-8EB18DACC945}"/>
              </a:ext>
            </a:extLst>
          </p:cNvPr>
          <p:cNvSpPr txBox="1"/>
          <p:nvPr/>
        </p:nvSpPr>
        <p:spPr>
          <a:xfrm>
            <a:off x="3488974" y="2818461"/>
            <a:ext cx="123525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TAG+Chemo</a:t>
            </a:r>
            <a:endParaRPr kumimoji="0" lang="en-IN" sz="11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8882DF-C53C-0DBA-9A26-0CCB63E03518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marL="0" marR="0" lvl="0" indent="0" algn="l" defTabSz="6854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No statistically significant difference with 95% confidence interval found between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RYB+LAZ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and TAG+Chemo | No statistically significant difference with 95% confidence interval found between latest two quarters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3E20B1E-A216-4324-BD8A-AA01907F5CE0}"/>
              </a:ext>
            </a:extLst>
          </p:cNvPr>
          <p:cNvGrpSpPr/>
          <p:nvPr/>
        </p:nvGrpSpPr>
        <p:grpSpPr>
          <a:xfrm>
            <a:off x="4740859" y="5195307"/>
            <a:ext cx="1116077" cy="393850"/>
            <a:chOff x="742783" y="4626822"/>
            <a:chExt cx="1060507" cy="39385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105AE2B-50C7-6CF7-3E01-9BD4ED7D79B1}"/>
                </a:ext>
              </a:extLst>
            </p:cNvPr>
            <p:cNvGrpSpPr/>
            <p:nvPr/>
          </p:nvGrpSpPr>
          <p:grpSpPr>
            <a:xfrm>
              <a:off x="742783" y="4626822"/>
              <a:ext cx="1060507" cy="153888"/>
              <a:chOff x="742783" y="4539738"/>
              <a:chExt cx="1060507" cy="153888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37007E8-29A6-0F6A-CDC7-6DAB73275832}"/>
                  </a:ext>
                </a:extLst>
              </p:cNvPr>
              <p:cNvSpPr/>
              <p:nvPr/>
            </p:nvSpPr>
            <p:spPr>
              <a:xfrm>
                <a:off x="742783" y="4557246"/>
                <a:ext cx="118872" cy="118872"/>
              </a:xfrm>
              <a:prstGeom prst="rect">
                <a:avLst/>
              </a:prstGeom>
              <a:solidFill>
                <a:srgbClr val="F75824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EF52CB7-C8B1-C2A5-E787-4C15EE1D401E}"/>
                  </a:ext>
                </a:extLst>
              </p:cNvPr>
              <p:cNvSpPr txBox="1"/>
              <p:nvPr/>
            </p:nvSpPr>
            <p:spPr>
              <a:xfrm>
                <a:off x="936180" y="4539738"/>
                <a:ext cx="86711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Q4'25 (s = 103)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03BDBAB-79C4-C90B-FA6A-241294BFDECC}"/>
                </a:ext>
              </a:extLst>
            </p:cNvPr>
            <p:cNvGrpSpPr/>
            <p:nvPr/>
          </p:nvGrpSpPr>
          <p:grpSpPr>
            <a:xfrm>
              <a:off x="742783" y="4866784"/>
              <a:ext cx="1060507" cy="153888"/>
              <a:chOff x="742783" y="4866784"/>
              <a:chExt cx="1060507" cy="153888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C5FB07E-FD58-B1A9-120E-D620CAB4F855}"/>
                  </a:ext>
                </a:extLst>
              </p:cNvPr>
              <p:cNvSpPr/>
              <p:nvPr/>
            </p:nvSpPr>
            <p:spPr>
              <a:xfrm>
                <a:off x="742783" y="4884292"/>
                <a:ext cx="118872" cy="118872"/>
              </a:xfrm>
              <a:prstGeom prst="rect">
                <a:avLst/>
              </a:prstGeom>
              <a:solidFill>
                <a:srgbClr val="FBAB9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6B81B15-5E47-B6CA-0081-40CCEBBD38BA}"/>
                  </a:ext>
                </a:extLst>
              </p:cNvPr>
              <p:cNvSpPr txBox="1"/>
              <p:nvPr/>
            </p:nvSpPr>
            <p:spPr>
              <a:xfrm>
                <a:off x="936180" y="4866784"/>
                <a:ext cx="86711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Q3'25 (s =105)</a:t>
                </a:r>
              </a:p>
            </p:txBody>
          </p:sp>
        </p:grpSp>
      </p:grpSp>
      <p:graphicFrame>
        <p:nvGraphicFramePr>
          <p:cNvPr id="16" name="Shape_78503200">
            <a:extLst>
              <a:ext uri="{FF2B5EF4-FFF2-40B4-BE49-F238E27FC236}">
                <a16:creationId xmlns:a16="http://schemas.microsoft.com/office/drawing/2014/main" id="{E901E9F5-222B-7787-8421-BA7EB0D0063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84577718"/>
              </p:ext>
            </p:extLst>
          </p:nvPr>
        </p:nvGraphicFramePr>
        <p:xfrm>
          <a:off x="1056067" y="2846364"/>
          <a:ext cx="2052000" cy="20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768D051F-7E2D-AD1A-3D52-9E4B174B883D}"/>
              </a:ext>
            </a:extLst>
          </p:cNvPr>
          <p:cNvSpPr txBox="1"/>
          <p:nvPr/>
        </p:nvSpPr>
        <p:spPr>
          <a:xfrm>
            <a:off x="1462908" y="2823431"/>
            <a:ext cx="123525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endParaRPr kumimoji="0" lang="en-IN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3" name="Shape_34989486">
            <a:extLst>
              <a:ext uri="{FF2B5EF4-FFF2-40B4-BE49-F238E27FC236}">
                <a16:creationId xmlns:a16="http://schemas.microsoft.com/office/drawing/2014/main" id="{1EE12F40-173B-6B31-D6FC-8D958B93CA17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51071611"/>
              </p:ext>
            </p:extLst>
          </p:nvPr>
        </p:nvGraphicFramePr>
        <p:xfrm>
          <a:off x="7100987" y="2918355"/>
          <a:ext cx="2052000" cy="20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876E75-B2CA-7B14-FBF1-A9110CE32760}"/>
              </a:ext>
            </a:extLst>
          </p:cNvPr>
          <p:cNvSpPr txBox="1"/>
          <p:nvPr/>
        </p:nvSpPr>
        <p:spPr>
          <a:xfrm>
            <a:off x="7508330" y="2823431"/>
            <a:ext cx="123525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endParaRPr kumimoji="0" lang="en-IN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9DDFF-AF2A-EF0E-28EC-F28F8AD73E8D}"/>
              </a:ext>
            </a:extLst>
          </p:cNvPr>
          <p:cNvSpPr txBox="1"/>
          <p:nvPr/>
        </p:nvSpPr>
        <p:spPr>
          <a:xfrm>
            <a:off x="9420217" y="2818461"/>
            <a:ext cx="123525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TAG+Chemo</a:t>
            </a:r>
            <a:endParaRPr kumimoji="0" lang="en-IN" sz="11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30" name="Shape_84970507">
            <a:extLst>
              <a:ext uri="{FF2B5EF4-FFF2-40B4-BE49-F238E27FC236}">
                <a16:creationId xmlns:a16="http://schemas.microsoft.com/office/drawing/2014/main" id="{9B39FBFA-D4BE-9E86-46F9-3715BCDF3321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24499404"/>
              </p:ext>
            </p:extLst>
          </p:nvPr>
        </p:nvGraphicFramePr>
        <p:xfrm>
          <a:off x="9012874" y="2918355"/>
          <a:ext cx="2052000" cy="20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8C7FB90-C9C9-2BB9-C82C-DAE58F0AFF42}"/>
              </a:ext>
            </a:extLst>
          </p:cNvPr>
          <p:cNvSpPr txBox="1"/>
          <p:nvPr/>
        </p:nvSpPr>
        <p:spPr>
          <a:xfrm>
            <a:off x="7307619" y="1662693"/>
            <a:ext cx="341050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Likelihood to Increase Rx Post-Rep Interaction – </a:t>
            </a: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Without CNS Metastasis </a:t>
            </a:r>
            <a:endParaRPr kumimoji="0" lang="en-IN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Google Shape;229;p3">
            <a:extLst>
              <a:ext uri="{FF2B5EF4-FFF2-40B4-BE49-F238E27FC236}">
                <a16:creationId xmlns:a16="http://schemas.microsoft.com/office/drawing/2014/main" id="{1DD3C190-902C-30C3-E4A3-5A66E8ED134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6506EF24-4591-5435-07F4-6E061E7B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571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F81767F-6764-4DF8-1F52-1B232AA52CCE}"/>
              </a:ext>
            </a:extLst>
          </p:cNvPr>
          <p:cNvGrpSpPr/>
          <p:nvPr/>
        </p:nvGrpSpPr>
        <p:grpSpPr>
          <a:xfrm>
            <a:off x="6335066" y="5195307"/>
            <a:ext cx="1116077" cy="393850"/>
            <a:chOff x="742783" y="4626822"/>
            <a:chExt cx="1060507" cy="39385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7399442-F7C6-F216-2889-DC3CD62FEE42}"/>
                </a:ext>
              </a:extLst>
            </p:cNvPr>
            <p:cNvGrpSpPr/>
            <p:nvPr/>
          </p:nvGrpSpPr>
          <p:grpSpPr>
            <a:xfrm>
              <a:off x="742783" y="4626822"/>
              <a:ext cx="1060507" cy="153888"/>
              <a:chOff x="742783" y="4539738"/>
              <a:chExt cx="1060507" cy="15388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84B273E-719A-D0DB-A609-2E67F303DD7F}"/>
                  </a:ext>
                </a:extLst>
              </p:cNvPr>
              <p:cNvSpPr/>
              <p:nvPr/>
            </p:nvSpPr>
            <p:spPr>
              <a:xfrm>
                <a:off x="742783" y="4557246"/>
                <a:ext cx="118872" cy="118872"/>
              </a:xfrm>
              <a:prstGeom prst="rect">
                <a:avLst/>
              </a:prstGeom>
              <a:solidFill>
                <a:srgbClr val="7638A4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82D199-29E9-F2C6-53CA-6949EFDB590A}"/>
                  </a:ext>
                </a:extLst>
              </p:cNvPr>
              <p:cNvSpPr txBox="1"/>
              <p:nvPr/>
            </p:nvSpPr>
            <p:spPr>
              <a:xfrm>
                <a:off x="936180" y="4539738"/>
                <a:ext cx="86711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Q4'25 (s = </a:t>
                </a:r>
                <a:r>
                  <a:rPr lang="en-GB" sz="1000" kern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73</a:t>
                </a: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85B75A6-675C-E05F-128A-5B657C2242D6}"/>
                </a:ext>
              </a:extLst>
            </p:cNvPr>
            <p:cNvGrpSpPr/>
            <p:nvPr/>
          </p:nvGrpSpPr>
          <p:grpSpPr>
            <a:xfrm>
              <a:off x="742783" y="4866784"/>
              <a:ext cx="1060507" cy="153888"/>
              <a:chOff x="742783" y="4866784"/>
              <a:chExt cx="1060507" cy="15388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D109A51-6E56-D8F7-61AA-87BFF9723B6E}"/>
                  </a:ext>
                </a:extLst>
              </p:cNvPr>
              <p:cNvSpPr/>
              <p:nvPr/>
            </p:nvSpPr>
            <p:spPr>
              <a:xfrm>
                <a:off x="742783" y="4884292"/>
                <a:ext cx="118872" cy="118872"/>
              </a:xfrm>
              <a:prstGeom prst="rect">
                <a:avLst/>
              </a:prstGeom>
              <a:solidFill>
                <a:srgbClr val="AD88C8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A611F1-64BB-337C-B1A0-C78E46F507FD}"/>
                  </a:ext>
                </a:extLst>
              </p:cNvPr>
              <p:cNvSpPr txBox="1"/>
              <p:nvPr/>
            </p:nvSpPr>
            <p:spPr>
              <a:xfrm>
                <a:off x="936180" y="4866784"/>
                <a:ext cx="86711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Q3'25 (s =</a:t>
                </a:r>
                <a:r>
                  <a:rPr lang="en-GB" sz="1000" kern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73</a:t>
                </a: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1568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1F68-BDB4-0572-5841-8368709E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8C39FF-C1D0-AE35-ADA5-F8444084FB83}"/>
              </a:ext>
            </a:extLst>
          </p:cNvPr>
          <p:cNvSpPr txBox="1"/>
          <p:nvPr/>
        </p:nvSpPr>
        <p:spPr>
          <a:xfrm>
            <a:off x="5047389" y="68935"/>
            <a:ext cx="147352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61F4949-B907-33D7-65B5-F6FEFBD6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BD41DE-5E49-B809-2F38-B83AB843A6DD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| No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statistically significant difference with 95% confidence interval found between J&amp;J and AZ values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 | 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No</a:t>
            </a:r>
            <a:r>
              <a:rPr kumimoji="1" lang="en-US" sz="9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 statistically significant difference with 95% confidence interval found between latest two quarters</a:t>
            </a:r>
            <a:r>
              <a:rPr kumimoji="1" lang="en-US" sz="900" i="1" kern="0">
                <a:solidFill>
                  <a:srgbClr val="7F7F7F"/>
                </a:solidFill>
              </a:rPr>
              <a:t> | </a:t>
            </a:r>
            <a:r>
              <a:rPr lang="en-US" sz="900" b="1" i="1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0" i="1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C29644-D40D-884F-0935-04F0A8CCCB96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</a:rPr>
              <a:t>One J&amp;J team execution </a:t>
            </a:r>
            <a:r>
              <a:rPr lang="en-US" sz="1800">
                <a:solidFill>
                  <a:srgbClr val="EB1700"/>
                </a:solidFill>
                <a:latin typeface="Johnson Display"/>
                <a:ea typeface="Verdana"/>
              </a:rPr>
              <a:t>declines</a:t>
            </a: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</a:rPr>
              <a:t> notably QoQ, particularly in connecting HCPs with </a:t>
            </a:r>
            <a:r>
              <a:rPr lang="en-US" sz="1800">
                <a:solidFill>
                  <a:srgbClr val="EB1700"/>
                </a:solidFill>
                <a:latin typeface="Johnson Display"/>
                <a:ea typeface="Verdana"/>
              </a:rPr>
              <a:t>MSLs </a:t>
            </a:r>
            <a:r>
              <a:rPr lang="en-US" sz="1800" dirty="0">
                <a:solidFill>
                  <a:srgbClr val="EB1700"/>
                </a:solidFill>
                <a:latin typeface="Johnson Display"/>
                <a:ea typeface="Verdana"/>
              </a:rPr>
              <a:t>and </a:t>
            </a:r>
            <a:r>
              <a:rPr lang="en-US" sz="1800">
                <a:solidFill>
                  <a:srgbClr val="EB1700"/>
                </a:solidFill>
                <a:latin typeface="Johnson Display"/>
                <a:ea typeface="Verdana"/>
              </a:rPr>
              <a:t>OCEs</a:t>
            </a:r>
            <a:endParaRPr lang="en-US" sz="1800" i="1" dirty="0">
              <a:solidFill>
                <a:srgbClr val="EB1700"/>
              </a:solidFill>
              <a:latin typeface="Johnson Display"/>
              <a:ea typeface="Verdana"/>
            </a:endParaRPr>
          </a:p>
        </p:txBody>
      </p:sp>
      <p:graphicFrame>
        <p:nvGraphicFramePr>
          <p:cNvPr id="2" name="Other reps">
            <a:extLst>
              <a:ext uri="{FF2B5EF4-FFF2-40B4-BE49-F238E27FC236}">
                <a16:creationId xmlns:a16="http://schemas.microsoft.com/office/drawing/2014/main" id="{E3271F78-E865-2835-846F-C559CF294DF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4729254"/>
              </p:ext>
            </p:extLst>
          </p:nvPr>
        </p:nvGraphicFramePr>
        <p:xfrm>
          <a:off x="1707449" y="2288007"/>
          <a:ext cx="2984503" cy="324121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2984503">
                  <a:extLst>
                    <a:ext uri="{9D8B030D-6E8A-4147-A177-3AD203B41FA5}">
                      <a16:colId xmlns:a16="http://schemas.microsoft.com/office/drawing/2014/main" val="59715391"/>
                    </a:ext>
                  </a:extLst>
                </a:gridCol>
              </a:tblGrid>
              <a:tr h="648242">
                <a:tc>
                  <a:txBody>
                    <a:bodyPr/>
                    <a:lstStyle/>
                    <a:p>
                      <a:pPr marL="180000" indent="-360000" algn="r" fontAlgn="ctr"/>
                      <a:r>
                        <a:rPr kumimoji="0" lang="fr-F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Medical Science Liaison (MSL)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4479247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marL="180000" marR="0" lvl="0" indent="-3600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Field Reimbursement Manager (FRM)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077009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marL="180000" marR="0" lvl="0" indent="-3600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Key Account Manager (KAM)</a:t>
                      </a:r>
                      <a:endParaRPr lang="fr-FR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323111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marL="180000" marR="0" lvl="0" indent="-36000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Clinical Nurse Educator (CNE)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7874832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algn="r"/>
                      <a:r>
                        <a:rPr lang="en-US" sz="1000">
                          <a:latin typeface="Johnson Text" panose="020B0604020202020204" charset="0"/>
                          <a:cs typeface="Johnson Text" panose="020B0604020202020204" charset="0"/>
                        </a:rPr>
                        <a:t>Did not connect with another representative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5024175"/>
                  </a:ext>
                </a:extLst>
              </a:tr>
            </a:tbl>
          </a:graphicData>
        </a:graphic>
      </p:graphicFrame>
      <p:graphicFrame>
        <p:nvGraphicFramePr>
          <p:cNvPr id="5" name="MSL accompanied other reps">
            <a:extLst>
              <a:ext uri="{FF2B5EF4-FFF2-40B4-BE49-F238E27FC236}">
                <a16:creationId xmlns:a16="http://schemas.microsoft.com/office/drawing/2014/main" id="{58461464-BB07-8D52-4ECD-DBB05D8EBE5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09324139"/>
              </p:ext>
            </p:extLst>
          </p:nvPr>
        </p:nvGraphicFramePr>
        <p:xfrm>
          <a:off x="4691952" y="2306669"/>
          <a:ext cx="3693784" cy="3212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9C73463-F678-B9DC-959A-14B4A4D2BE02}"/>
              </a:ext>
            </a:extLst>
          </p:cNvPr>
          <p:cNvGrpSpPr/>
          <p:nvPr/>
        </p:nvGrpSpPr>
        <p:grpSpPr>
          <a:xfrm>
            <a:off x="5630114" y="5770972"/>
            <a:ext cx="2400981" cy="400110"/>
            <a:chOff x="5484111" y="6082329"/>
            <a:chExt cx="2400981" cy="4001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B4F9548-1B50-3D5D-613B-7537938649CF}"/>
                </a:ext>
              </a:extLst>
            </p:cNvPr>
            <p:cNvGrpSpPr/>
            <p:nvPr/>
          </p:nvGrpSpPr>
          <p:grpSpPr>
            <a:xfrm>
              <a:off x="5484111" y="6082329"/>
              <a:ext cx="1210639" cy="400110"/>
              <a:chOff x="6885744" y="5652835"/>
              <a:chExt cx="1035428" cy="40011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64AE1E2-CF35-D970-2770-8440ECDC5AD0}"/>
                  </a:ext>
                </a:extLst>
              </p:cNvPr>
              <p:cNvGrpSpPr/>
              <p:nvPr/>
            </p:nvGrpSpPr>
            <p:grpSpPr>
              <a:xfrm>
                <a:off x="6885744" y="5652835"/>
                <a:ext cx="1035428" cy="400110"/>
                <a:chOff x="11225162" y="1575928"/>
                <a:chExt cx="1035428" cy="400110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DD5C0BCA-18C7-0D0B-717E-0F3EC02E5D69}"/>
                    </a:ext>
                  </a:extLst>
                </p:cNvPr>
                <p:cNvSpPr/>
                <p:nvPr/>
              </p:nvSpPr>
              <p:spPr>
                <a:xfrm>
                  <a:off x="11225162" y="1655379"/>
                  <a:ext cx="92370" cy="108000"/>
                </a:xfrm>
                <a:prstGeom prst="ellipse">
                  <a:avLst/>
                </a:prstGeom>
                <a:solidFill>
                  <a:srgbClr val="F75824"/>
                </a:solidFill>
                <a:ln w="190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4DC590B-E226-F6A6-3A9F-44D415EBAA56}"/>
                    </a:ext>
                  </a:extLst>
                </p:cNvPr>
                <p:cNvSpPr txBox="1"/>
                <p:nvPr/>
              </p:nvSpPr>
              <p:spPr>
                <a:xfrm>
                  <a:off x="11322363" y="1575928"/>
                  <a:ext cx="9382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Johnson Text"/>
                      <a:ea typeface="+mn-ea"/>
                      <a:cs typeface="Arial" panose="020B0604020202020204" pitchFamily="34" charset="0"/>
                    </a:rPr>
                    <a:t>J&amp;J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Johnson Text"/>
                      <a:ea typeface="+mn-ea"/>
                      <a:cs typeface="Arial" panose="020B0604020202020204" pitchFamily="34" charset="0"/>
                    </a:rPr>
                    <a:t>(s = </a:t>
                  </a:r>
                  <a:r>
                    <a:rPr lang="en-GB" sz="1000" kern="0">
                      <a:solidFill>
                        <a:srgbClr val="000000"/>
                      </a:solidFill>
                      <a:latin typeface="Johnson Text"/>
                      <a:cs typeface="Arial" panose="020B0604020202020204" pitchFamily="34" charset="0"/>
                    </a:rPr>
                    <a:t>100</a:t>
                  </a:r>
                  <a:r>
                    <a:rPr kumimoji="0" lang="en-GB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Johnson Text"/>
                      <a:ea typeface="+mn-ea"/>
                      <a:cs typeface="Arial" panose="020B0604020202020204" pitchFamily="34" charset="0"/>
                    </a:rPr>
                    <a:t>)</a:t>
                  </a:r>
                  <a:endParaRPr kumimoji="0" lang="en-GB" sz="1000" b="0" i="0" u="none" strike="noStrike" kern="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651BC2B-91E7-FDCF-2DA9-C714D162DC5C}"/>
                  </a:ext>
                </a:extLst>
              </p:cNvPr>
              <p:cNvSpPr/>
              <p:nvPr/>
            </p:nvSpPr>
            <p:spPr>
              <a:xfrm>
                <a:off x="7828802" y="5721316"/>
                <a:ext cx="92370" cy="108000"/>
              </a:xfrm>
              <a:prstGeom prst="ellipse">
                <a:avLst/>
              </a:prstGeom>
              <a:solidFill>
                <a:srgbClr val="7638A4"/>
              </a:solidFill>
              <a:ln w="12700" cap="flat" cmpd="sng" algn="ctr">
                <a:solidFill>
                  <a:srgbClr val="7638A4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F90A90-546B-680D-2D6E-B1FB3A097FA7}"/>
                </a:ext>
              </a:extLst>
            </p:cNvPr>
            <p:cNvSpPr txBox="1"/>
            <p:nvPr/>
          </p:nvSpPr>
          <p:spPr>
            <a:xfrm>
              <a:off x="6793259" y="6082329"/>
              <a:ext cx="109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+mn-ea"/>
                  <a:cs typeface="Arial" panose="020B0604020202020204" pitchFamily="34" charset="0"/>
                </a:rPr>
                <a:t>AZ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+mn-ea"/>
                  <a:cs typeface="Arial" panose="020B0604020202020204" pitchFamily="34" charset="0"/>
                </a:rPr>
                <a:t>(s = 73)</a:t>
              </a:r>
              <a:endParaRPr kumimoji="0" lang="en-GB" sz="10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9443192-038D-2EEE-3BDC-5E652AB086DD}"/>
              </a:ext>
            </a:extLst>
          </p:cNvPr>
          <p:cNvSpPr txBox="1"/>
          <p:nvPr/>
        </p:nvSpPr>
        <p:spPr>
          <a:xfrm>
            <a:off x="5046593" y="5479648"/>
            <a:ext cx="298450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</p:txBody>
      </p:sp>
      <p:sp>
        <p:nvSpPr>
          <p:cNvPr id="24" name="Google Shape;3084;p80">
            <a:extLst>
              <a:ext uri="{FF2B5EF4-FFF2-40B4-BE49-F238E27FC236}">
                <a16:creationId xmlns:a16="http://schemas.microsoft.com/office/drawing/2014/main" id="{217D1CF7-6235-1169-4D2B-0F310ADB6CD4}"/>
              </a:ext>
            </a:extLst>
          </p:cNvPr>
          <p:cNvSpPr/>
          <p:nvPr/>
        </p:nvSpPr>
        <p:spPr>
          <a:xfrm>
            <a:off x="1852524" y="1875657"/>
            <a:ext cx="2694353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+mn-ea"/>
                <a:cs typeface="Calibri" panose="020F0502020204030204" pitchFamily="34" charset="0"/>
              </a:rPr>
              <a:t>Representative Types</a:t>
            </a: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74B7533F-4044-0356-2570-DF31CB6B9397}"/>
              </a:ext>
            </a:extLst>
          </p:cNvPr>
          <p:cNvSpPr txBox="1"/>
          <p:nvPr/>
        </p:nvSpPr>
        <p:spPr>
          <a:xfrm>
            <a:off x="415237" y="1196280"/>
            <a:ext cx="11285771" cy="2721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85" tIns="45580" rIns="91185" bIns="45580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REPS SET UP FOLLOW-UP MEETING with ANOTHER REPRESENTATIVE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A6694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D7836BB-3298-4AA9-9194-C1184280768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6" y="1016596"/>
            <a:ext cx="248400" cy="248400"/>
          </a:xfrm>
          <a:prstGeom prst="rect">
            <a:avLst/>
          </a:prstGeom>
        </p:spPr>
      </p:pic>
      <p:sp>
        <p:nvSpPr>
          <p:cNvPr id="16" name="Google Shape;229;p3">
            <a:extLst>
              <a:ext uri="{FF2B5EF4-FFF2-40B4-BE49-F238E27FC236}">
                <a16:creationId xmlns:a16="http://schemas.microsoft.com/office/drawing/2014/main" id="{41B4D85C-A5D2-BCA9-ACB8-B86C79C74EA0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aphicFrame>
        <p:nvGraphicFramePr>
          <p:cNvPr id="33" name="Attribute Ratings">
            <a:extLst>
              <a:ext uri="{FF2B5EF4-FFF2-40B4-BE49-F238E27FC236}">
                <a16:creationId xmlns:a16="http://schemas.microsoft.com/office/drawing/2014/main" id="{1CD7DAD3-ACBB-EAFD-F99F-C869FD4EACFF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14194458"/>
              </p:ext>
            </p:extLst>
          </p:nvPr>
        </p:nvGraphicFramePr>
        <p:xfrm>
          <a:off x="8758326" y="2288007"/>
          <a:ext cx="1113726" cy="32412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6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63">
                  <a:extLst>
                    <a:ext uri="{9D8B030D-6E8A-4147-A177-3AD203B41FA5}">
                      <a16:colId xmlns:a16="http://schemas.microsoft.com/office/drawing/2014/main" val="2887132242"/>
                    </a:ext>
                  </a:extLst>
                </a:gridCol>
              </a:tblGrid>
              <a:tr h="648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kern="120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C72074E7-B049-9469-F525-59E08201B191}"/>
              </a:ext>
            </a:extLst>
          </p:cNvPr>
          <p:cNvGrpSpPr/>
          <p:nvPr/>
        </p:nvGrpSpPr>
        <p:grpSpPr>
          <a:xfrm>
            <a:off x="8617138" y="2021710"/>
            <a:ext cx="1308680" cy="246221"/>
            <a:chOff x="9953169" y="1822346"/>
            <a:chExt cx="1308680" cy="24622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4C6AD6-625C-E345-0FB2-BC9C0E282E09}"/>
                </a:ext>
              </a:extLst>
            </p:cNvPr>
            <p:cNvSpPr txBox="1"/>
            <p:nvPr/>
          </p:nvSpPr>
          <p:spPr>
            <a:xfrm>
              <a:off x="9953169" y="1822346"/>
              <a:ext cx="79200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F75824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J&amp;J</a:t>
              </a:r>
              <a:endPara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B5B276-2E98-64F7-3238-731F8776B93E}"/>
                </a:ext>
              </a:extLst>
            </p:cNvPr>
            <p:cNvSpPr txBox="1"/>
            <p:nvPr/>
          </p:nvSpPr>
          <p:spPr>
            <a:xfrm>
              <a:off x="10577849" y="1822346"/>
              <a:ext cx="68400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AZ</a:t>
              </a:r>
              <a:endPara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6470555-9352-2824-3F40-8D7C103B8301}"/>
              </a:ext>
            </a:extLst>
          </p:cNvPr>
          <p:cNvSpPr txBox="1"/>
          <p:nvPr/>
        </p:nvSpPr>
        <p:spPr>
          <a:xfrm>
            <a:off x="8261431" y="1751656"/>
            <a:ext cx="206525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vs Q3'25</a:t>
            </a:r>
          </a:p>
        </p:txBody>
      </p:sp>
      <p:sp>
        <p:nvSpPr>
          <p:cNvPr id="10" name="Google Shape;229;p3">
            <a:extLst>
              <a:ext uri="{FF2B5EF4-FFF2-40B4-BE49-F238E27FC236}">
                <a16:creationId xmlns:a16="http://schemas.microsoft.com/office/drawing/2014/main" id="{3B746851-3B8D-C13D-0B53-96EC1512BB12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25" name="Highlight#25">
            <a:extLst>
              <a:ext uri="{FF2B5EF4-FFF2-40B4-BE49-F238E27FC236}">
                <a16:creationId xmlns:a16="http://schemas.microsoft.com/office/drawing/2014/main" id="{0EB2170F-4FEA-EDB2-614A-C6989067DF91}"/>
              </a:ext>
            </a:extLst>
          </p:cNvPr>
          <p:cNvSpPr txBox="1"/>
          <p:nvPr/>
        </p:nvSpPr>
        <p:spPr>
          <a:xfrm>
            <a:off x="1726476" y="2267299"/>
            <a:ext cx="8145576" cy="656514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6" name="Highlight#25">
            <a:extLst>
              <a:ext uri="{FF2B5EF4-FFF2-40B4-BE49-F238E27FC236}">
                <a16:creationId xmlns:a16="http://schemas.microsoft.com/office/drawing/2014/main" id="{FC96FF08-A62F-E9A5-68D6-D7BE36E85965}"/>
              </a:ext>
            </a:extLst>
          </p:cNvPr>
          <p:cNvSpPr txBox="1"/>
          <p:nvPr/>
        </p:nvSpPr>
        <p:spPr>
          <a:xfrm>
            <a:off x="1726476" y="4251414"/>
            <a:ext cx="8145576" cy="656514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2144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D89A-E387-DEC2-E7C0-2F569526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04;p12">
            <a:extLst>
              <a:ext uri="{FF2B5EF4-FFF2-40B4-BE49-F238E27FC236}">
                <a16:creationId xmlns:a16="http://schemas.microsoft.com/office/drawing/2014/main" id="{1B2D7BDD-B08B-3ABB-B51D-E1552E519C6F}"/>
              </a:ext>
            </a:extLst>
          </p:cNvPr>
          <p:cNvSpPr txBox="1"/>
          <p:nvPr/>
        </p:nvSpPr>
        <p:spPr>
          <a:xfrm>
            <a:off x="434597" y="1179221"/>
            <a:ext cx="11274018" cy="2719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Highly Motivating Components of Messages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Q4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'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/>
              <a:cs typeface="+mn-c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BB731B5-9564-3D5D-F7F3-5BDF3424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CD5B4-538F-38B5-4180-D2BE2194D76F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2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asked only to respondents who perceived the messages highly motivating (rated 6, 7) | Industry average definitions found in slide 4 | Note: List of responses is not exhaustive</a:t>
            </a:r>
            <a:endParaRPr kumimoji="1" lang="en-US" sz="900" i="1" kern="0" dirty="0">
              <a:solidFill>
                <a:srgbClr val="FF0000"/>
              </a:solidFill>
            </a:endParaRPr>
          </a:p>
        </p:txBody>
      </p:sp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E92A05B1-6203-6C72-C7A7-570E4B3AA16D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8306E8CF-39CA-0B18-68E5-55645D576F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9BC56D-1FF8-145E-A7F0-3FEF4CBB3348}"/>
              </a:ext>
            </a:extLst>
          </p:cNvPr>
          <p:cNvSpPr txBox="1"/>
          <p:nvPr/>
        </p:nvSpPr>
        <p:spPr>
          <a:xfrm>
            <a:off x="960117" y="6048978"/>
            <a:ext cx="1836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BA968D-F9A2-0DE1-BDA5-5F089359B13C}"/>
              </a:ext>
            </a:extLst>
          </p:cNvPr>
          <p:cNvGrpSpPr/>
          <p:nvPr/>
        </p:nvGrpSpPr>
        <p:grpSpPr>
          <a:xfrm>
            <a:off x="393404" y="1525961"/>
            <a:ext cx="11405193" cy="468000"/>
            <a:chOff x="582831" y="960612"/>
            <a:chExt cx="11405193" cy="46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55CB55-FDAE-D3EC-A79B-ED584CBAE169}"/>
                </a:ext>
              </a:extLst>
            </p:cNvPr>
            <p:cNvSpPr/>
            <p:nvPr/>
          </p:nvSpPr>
          <p:spPr>
            <a:xfrm>
              <a:off x="6096000" y="960612"/>
              <a:ext cx="5892024" cy="468000"/>
            </a:xfrm>
            <a:prstGeom prst="rect">
              <a:avLst/>
            </a:prstGeom>
            <a:solidFill>
              <a:srgbClr val="EB1700">
                <a:alpha val="14902"/>
              </a:srgbClr>
            </a:solidFill>
            <a:ln>
              <a:solidFill>
                <a:schemeClr val="accent1"/>
              </a:solidFill>
              <a:prstDash val="dash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0" tIns="91440" rIns="18288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HCPs were asked to highlight the part of the message they felt was extremely motivating (if motivation ratings </a:t>
              </a:r>
              <a:r>
                <a:rPr kumimoji="0" lang="en-IN" sz="1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6,7)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7D15B19-D939-94D7-4963-E4BE48F6F053}"/>
                </a:ext>
              </a:extLst>
            </p:cNvPr>
            <p:cNvSpPr/>
            <p:nvPr/>
          </p:nvSpPr>
          <p:spPr>
            <a:xfrm>
              <a:off x="582831" y="960612"/>
              <a:ext cx="5522764" cy="468000"/>
            </a:xfrm>
            <a:prstGeom prst="rect">
              <a:avLst/>
            </a:prstGeom>
            <a:solidFill>
              <a:srgbClr val="EB1700">
                <a:alpha val="14902"/>
              </a:srgbClr>
            </a:solidFill>
            <a:ln>
              <a:solidFill>
                <a:schemeClr val="accent1"/>
              </a:solidFill>
              <a:prstDash val="dash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0" tIns="91440" rIns="18288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Text Highlighter</a:t>
              </a:r>
              <a:r>
                <a:rPr kumimoji="0" lang="en-IN" sz="1000" b="0" i="1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2</a:t>
              </a: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Johnson Text"/>
                  <a:ea typeface="+mn-ea"/>
                  <a:cs typeface="Arial"/>
                  <a:sym typeface="Arial"/>
                </a:rPr>
                <a:t> is new feature on the ZoomRx survey platform that allows HCPs to highlight a part of text upon a prompt and follow up with a voice response.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3ED276-822C-7FEC-2910-02351430FDD3}"/>
              </a:ext>
            </a:extLst>
          </p:cNvPr>
          <p:cNvGrpSpPr/>
          <p:nvPr/>
        </p:nvGrpSpPr>
        <p:grpSpPr>
          <a:xfrm>
            <a:off x="4591195" y="6030085"/>
            <a:ext cx="2839750" cy="553998"/>
            <a:chOff x="2075717" y="1546769"/>
            <a:chExt cx="2839750" cy="55399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54FED04-DAA9-6A6A-49A0-EA3CA9F79DE6}"/>
                </a:ext>
              </a:extLst>
            </p:cNvPr>
            <p:cNvGrpSpPr/>
            <p:nvPr/>
          </p:nvGrpSpPr>
          <p:grpSpPr>
            <a:xfrm>
              <a:off x="2075717" y="1546769"/>
              <a:ext cx="991363" cy="553998"/>
              <a:chOff x="2075717" y="1546769"/>
              <a:chExt cx="991363" cy="553998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22ADC6E-E854-ABAD-949B-C428029FED4C}"/>
                  </a:ext>
                </a:extLst>
              </p:cNvPr>
              <p:cNvSpPr txBox="1"/>
              <p:nvPr/>
            </p:nvSpPr>
            <p:spPr>
              <a:xfrm>
                <a:off x="2239080" y="1546769"/>
                <a:ext cx="828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Highlighted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40%-49% times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45134DB-59E0-659F-87B7-1445753D4F54}"/>
                  </a:ext>
                </a:extLst>
              </p:cNvPr>
              <p:cNvSpPr/>
              <p:nvPr/>
            </p:nvSpPr>
            <p:spPr>
              <a:xfrm>
                <a:off x="2075717" y="1749420"/>
                <a:ext cx="153700" cy="148696"/>
              </a:xfrm>
              <a:prstGeom prst="rect">
                <a:avLst/>
              </a:prstGeom>
              <a:solidFill>
                <a:srgbClr val="00E6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A5E98AE-ADF5-B313-6D9D-67E549A3D4BE}"/>
                </a:ext>
              </a:extLst>
            </p:cNvPr>
            <p:cNvGrpSpPr/>
            <p:nvPr/>
          </p:nvGrpSpPr>
          <p:grpSpPr>
            <a:xfrm>
              <a:off x="3418742" y="1546769"/>
              <a:ext cx="991363" cy="553998"/>
              <a:chOff x="3418742" y="1546769"/>
              <a:chExt cx="991363" cy="553998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3C9615C-521B-CB6D-0EEB-9480011C9721}"/>
                  </a:ext>
                </a:extLst>
              </p:cNvPr>
              <p:cNvSpPr txBox="1"/>
              <p:nvPr/>
            </p:nvSpPr>
            <p:spPr>
              <a:xfrm>
                <a:off x="3582105" y="1546769"/>
                <a:ext cx="8280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Highlighted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Johnson Text"/>
                    <a:ea typeface="+mn-ea"/>
                    <a:cs typeface="Arial" panose="020B0604020202020204" pitchFamily="34" charset="0"/>
                    <a:sym typeface="Arial"/>
                  </a:rPr>
                  <a:t>50%-59% times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47120E3-E2AA-4A74-F7B3-BC010559DD06}"/>
                  </a:ext>
                </a:extLst>
              </p:cNvPr>
              <p:cNvSpPr/>
              <p:nvPr/>
            </p:nvSpPr>
            <p:spPr>
              <a:xfrm>
                <a:off x="3418742" y="1749420"/>
                <a:ext cx="153700" cy="148696"/>
              </a:xfrm>
              <a:prstGeom prst="rect">
                <a:avLst/>
              </a:prstGeom>
              <a:solidFill>
                <a:srgbClr val="00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Johnson Text"/>
                  <a:ea typeface="+mn-ea"/>
                  <a:cs typeface="+mn-cs"/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2ACCC56-2FB9-AA3C-71A0-21E5BEEABDD3}"/>
                </a:ext>
              </a:extLst>
            </p:cNvPr>
            <p:cNvSpPr/>
            <p:nvPr/>
          </p:nvSpPr>
          <p:spPr>
            <a:xfrm>
              <a:off x="4761767" y="1749420"/>
              <a:ext cx="153700" cy="1486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5D63894A-3213-6CD2-53AA-7A7ED8276369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2537853"/>
              </p:ext>
            </p:extLst>
          </p:nvPr>
        </p:nvGraphicFramePr>
        <p:xfrm>
          <a:off x="335017" y="2112610"/>
          <a:ext cx="11372400" cy="384641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54000">
                  <a:extLst>
                    <a:ext uri="{9D8B030D-6E8A-4147-A177-3AD203B41FA5}">
                      <a16:colId xmlns:a16="http://schemas.microsoft.com/office/drawing/2014/main" val="3783729330"/>
                    </a:ext>
                  </a:extLst>
                </a:gridCol>
                <a:gridCol w="1144800">
                  <a:extLst>
                    <a:ext uri="{9D8B030D-6E8A-4147-A177-3AD203B41FA5}">
                      <a16:colId xmlns:a16="http://schemas.microsoft.com/office/drawing/2014/main" val="464092043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969219889"/>
                    </a:ext>
                  </a:extLst>
                </a:gridCol>
                <a:gridCol w="4593600">
                  <a:extLst>
                    <a:ext uri="{9D8B030D-6E8A-4147-A177-3AD203B41FA5}">
                      <a16:colId xmlns:a16="http://schemas.microsoft.com/office/drawing/2014/main" val="960211463"/>
                    </a:ext>
                  </a:extLst>
                </a:gridCol>
              </a:tblGrid>
              <a:tr h="548765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/>
                          </a:solidFill>
                          <a:latin typeface="+mj-lt"/>
                        </a:rPr>
                        <a:t>Tags</a:t>
                      </a:r>
                      <a:endParaRPr lang="en-IN" sz="1100" baseline="300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/>
                          </a:solidFill>
                          <a:latin typeface="+mj-lt"/>
                        </a:rPr>
                        <a:t>Motivation</a:t>
                      </a:r>
                    </a:p>
                    <a:p>
                      <a:pPr algn="ctr"/>
                      <a:r>
                        <a:rPr lang="en-IN" sz="1000" b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(IA = 74%) </a:t>
                      </a:r>
                    </a:p>
                    <a:p>
                      <a:pPr algn="ctr"/>
                      <a:r>
                        <a:rPr lang="en-IN" sz="1000" b="0">
                          <a:solidFill>
                            <a:schemeClr val="tx1"/>
                          </a:solidFill>
                          <a:latin typeface="Johnson Text" panose="020B0604020202020204" charset="0"/>
                          <a:cs typeface="Johnson Text" panose="020B0604020202020204" charset="0"/>
                        </a:rPr>
                        <a:t>(d = 51)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  <a:latin typeface="+mj-lt"/>
                        </a:rPr>
                        <a:t>M</a:t>
                      </a:r>
                      <a:r>
                        <a:rPr lang="en-IN" sz="1100" err="1">
                          <a:solidFill>
                            <a:schemeClr val="tx1"/>
                          </a:solidFill>
                          <a:latin typeface="+mj-lt"/>
                        </a:rPr>
                        <a:t>essages</a:t>
                      </a:r>
                      <a:endParaRPr lang="en-IN" sz="11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Why Highlighted Components were Motivating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216618"/>
                  </a:ext>
                </a:extLst>
              </a:tr>
              <a:tr h="104442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- OS Headline</a:t>
                      </a:r>
                      <a:b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</a:b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(d = 34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)</a:t>
                      </a:r>
                      <a:endParaRPr lang="en-IN" sz="1000" b="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 67%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7D4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Unmatched survival: RYBREVANT</a:t>
                      </a:r>
                      <a:r>
                        <a:rPr lang="en-US" sz="1000" i="1" baseline="30000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i="1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i="1" dirty="0">
                          <a:solidFill>
                            <a:srgbClr val="00E668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+ LAZCLUZE</a:t>
                      </a:r>
                      <a:r>
                        <a:rPr lang="en-US" sz="1000" i="1" baseline="30000" dirty="0">
                          <a:solidFill>
                            <a:srgbClr val="00E668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i="1" dirty="0">
                          <a:solidFill>
                            <a:srgbClr val="00E668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dirty="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delivers superior overall survival </a:t>
                      </a:r>
                      <a:r>
                        <a:rPr lang="en-US" sz="1000" b="1" i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vs osimertinib with proven durability</a:t>
                      </a:r>
                      <a:endParaRPr lang="en-US" sz="1000" b="1" i="1" dirty="0">
                        <a:solidFill>
                          <a:srgbClr val="00E668"/>
                        </a:solidFill>
                        <a:effectLst/>
                        <a:highlight>
                          <a:srgbClr val="FFFF00"/>
                        </a:highlight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“This emphasizes uniqueness and proven efficacy,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directly addressing a key clinical goal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, improving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overall survival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, which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strongly motivates prescribing in EGFR+ mNSCLC.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”</a:t>
                      </a:r>
                    </a:p>
                    <a:p>
                      <a:pPr marL="171450" marR="0" lvl="0" indent="-17145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Statistically significant overall survival improvement with </a:t>
                      </a:r>
                      <a:r>
                        <a:rPr lang="en-US" sz="900" b="1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RYBREVANT + LAZCLUZE.</a:t>
                      </a:r>
                      <a:r>
                        <a:rPr lang="en-US" sz="900" b="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”</a:t>
                      </a:r>
                      <a:endParaRPr lang="en-US" sz="900" b="0" i="1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753351"/>
                  </a:ext>
                </a:extLst>
              </a:tr>
              <a:tr h="104442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Efficacy – CNS</a:t>
                      </a:r>
                      <a:b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</a:b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(d = 33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)</a:t>
                      </a:r>
                      <a:endParaRPr lang="en-IN" sz="1000" b="0"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 65%</a:t>
                      </a:r>
                    </a:p>
                  </a:txBody>
                  <a:tcPr anchor="ctr">
                    <a:solidFill>
                      <a:srgbClr val="9AD5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i="1" kern="1200" dirty="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2X </a:t>
                      </a:r>
                      <a:r>
                        <a:rPr lang="en-US" sz="1000" b="1" i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Intracranial PFS at 36 months: 36%</a:t>
                      </a:r>
                      <a:r>
                        <a:rPr lang="en-US" sz="1000" i="1" kern="1200" dirty="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 dirty="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with RYBREVANT</a:t>
                      </a:r>
                      <a:r>
                        <a:rPr lang="en-US" sz="1000" b="1" i="1" kern="1200" baseline="30000" dirty="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b="1" i="1" kern="1200" dirty="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+ LAZCLUZE</a:t>
                      </a:r>
                      <a:r>
                        <a:rPr lang="en-US" sz="1000" b="1" i="1" kern="1200" baseline="30000" dirty="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®</a:t>
                      </a:r>
                      <a:r>
                        <a:rPr lang="en-US" sz="1000" b="1" i="1" kern="1200" dirty="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 dirty="0">
                          <a:solidFill>
                            <a:srgbClr val="00E668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and 18% with Osimertinib</a:t>
                      </a:r>
                    </a:p>
                  </a:txBody>
                  <a:tcPr marL="22860" marR="2286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This part is motivating because it quantifies a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clear and clinically meaningful improvement 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on intracranial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progression-free survival 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compared to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osimertinib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,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suggesting stronger CNS 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activity and potential benefit for patients with brain metastases.”</a:t>
                      </a:r>
                    </a:p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“Vital data for </a:t>
                      </a:r>
                      <a:r>
                        <a:rPr lang="en-US" sz="900" b="1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PFS on combination therapy vs monotherapy</a:t>
                      </a:r>
                      <a:r>
                        <a:rPr lang="en-US" sz="900" b="0" i="1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”</a:t>
                      </a:r>
                    </a:p>
                  </a:txBody>
                  <a:tcPr marL="22860" marR="22860" marT="15240" marB="152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57809"/>
                  </a:ext>
                </a:extLst>
              </a:tr>
              <a:tr h="11936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Safety – Proactive Therapy Management</a:t>
                      </a:r>
                      <a:br>
                        <a:rPr kumimoji="0" lang="en-I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</a:b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(d = 25</a:t>
                      </a:r>
                      <a:r>
                        <a:rPr kumimoji="1" lang="en-US" sz="1000" i="0" kern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)</a:t>
                      </a:r>
                      <a:endParaRPr lang="en-IN" sz="1000" b="0"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 49%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E0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lnSpc>
                          <a:spcPct val="150000"/>
                        </a:lnSpc>
                      </a:pPr>
                      <a:r>
                        <a:rPr lang="en-US" sz="100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Use proactive therapy management to help </a:t>
                      </a:r>
                      <a:r>
                        <a:rPr lang="en-US" sz="1000" b="1" i="1" kern="1200">
                          <a:solidFill>
                            <a:srgbClr val="00E668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optimize outcomes.</a:t>
                      </a:r>
                      <a:r>
                        <a:rPr lang="en-US" sz="100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SKIPPirr and COCOON</a:t>
                      </a:r>
                      <a:r>
                        <a:rPr lang="en-US" sz="100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>
                          <a:solidFill>
                            <a:srgbClr val="00E668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were two phase 2 trials</a:t>
                      </a:r>
                      <a:r>
                        <a:rPr lang="en-US" sz="100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>
                          <a:solidFill>
                            <a:srgbClr val="006600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evaluating prophylaxis</a:t>
                      </a:r>
                      <a:r>
                        <a:rPr lang="en-US" sz="100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</a:t>
                      </a:r>
                      <a:r>
                        <a:rPr lang="en-US" sz="1000" b="1" i="1" kern="1200">
                          <a:solidFill>
                            <a:srgbClr val="00E668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strategies to reduce the incidence of</a:t>
                      </a:r>
                      <a:r>
                        <a:rPr lang="en-US" sz="1000" i="1" kern="1200">
                          <a:solidFill>
                            <a:schemeClr val="tx1"/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 infusion-related reactions and dermatologic ARs, respectively</a:t>
                      </a:r>
                      <a:endParaRPr lang="en-US" sz="1000" b="0" i="1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2860" marR="22860" marT="15240" marB="1524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</a:t>
                      </a:r>
                      <a:r>
                        <a:rPr lang="en-US" sz="900" b="1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Supportive care measures that help manage toxicities </a:t>
                      </a: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and keep patients on therapies longer ”</a:t>
                      </a:r>
                    </a:p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“Being able to be proactive is appealing to manage patients.”</a:t>
                      </a:r>
                    </a:p>
                    <a:p>
                      <a:pPr marL="171450" indent="-171450" algn="l" rtl="0" fontAlgn="b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1" dirty="0"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“Helps ease comfort with utilizing”</a:t>
                      </a:r>
                    </a:p>
                  </a:txBody>
                  <a:tcPr marL="22860" marR="22860" marT="15240" marB="1524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48482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EC6CA7A5-00FA-EAA7-6F31-4FD81433C9C2}"/>
              </a:ext>
            </a:extLst>
          </p:cNvPr>
          <p:cNvSpPr txBox="1"/>
          <p:nvPr/>
        </p:nvSpPr>
        <p:spPr>
          <a:xfrm>
            <a:off x="7440607" y="6107029"/>
            <a:ext cx="918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Highlighted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 panose="020B0604020202020204" pitchFamily="34" charset="0"/>
                <a:sym typeface="Arial"/>
              </a:rPr>
              <a:t>≥ 60% times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F9E9A4-A8B6-C0A3-3F52-BF9C3169C532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lvl="0"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HCPs are highly motivated by the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significant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OS improvement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compared to TAG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and 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36% intracranial PFS 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benefit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 in 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efficacy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 messages; </a:t>
            </a:r>
            <a:r>
              <a:rPr lang="en-US" sz="1800" i="1" dirty="0" err="1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SKIPPirr</a:t>
            </a:r>
            <a:r>
              <a:rPr lang="en-US" sz="1800" i="1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 and COCOON trials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drive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 the perceptions for </a:t>
            </a:r>
            <a:r>
              <a:rPr lang="en-US" sz="1800" i="1">
                <a:solidFill>
                  <a:srgbClr val="FF0000"/>
                </a:solidFill>
                <a:latin typeface="Johnson Display"/>
                <a:ea typeface="Verdana"/>
                <a:sym typeface="Verdana"/>
              </a:rPr>
              <a:t>safety message</a:t>
            </a:r>
            <a:endParaRPr lang="en-US" sz="1800" i="1">
              <a:solidFill>
                <a:srgbClr val="FF0000"/>
              </a:solidFill>
              <a:latin typeface="Johnson Display"/>
              <a:ea typeface="Verdana"/>
            </a:endParaRPr>
          </a:p>
        </p:txBody>
      </p:sp>
      <p:sp>
        <p:nvSpPr>
          <p:cNvPr id="8" name="Google Shape;229;p3">
            <a:extLst>
              <a:ext uri="{FF2B5EF4-FFF2-40B4-BE49-F238E27FC236}">
                <a16:creationId xmlns:a16="http://schemas.microsoft.com/office/drawing/2014/main" id="{4CD74597-76C6-B9AC-E8B3-34FE66D2BFD0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802514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1B82-62D1-38D2-20B0-F94BFBC5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7E4EB82E-F03E-B362-C7D0-AE4D76364F2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6746969"/>
              </p:ext>
            </p:extLst>
          </p:nvPr>
        </p:nvGraphicFramePr>
        <p:xfrm>
          <a:off x="4169987" y="1506947"/>
          <a:ext cx="5782216" cy="4583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108">
                  <a:extLst>
                    <a:ext uri="{9D8B030D-6E8A-4147-A177-3AD203B41FA5}">
                      <a16:colId xmlns:a16="http://schemas.microsoft.com/office/drawing/2014/main" val="2873833386"/>
                    </a:ext>
                  </a:extLst>
                </a:gridCol>
                <a:gridCol w="2891108">
                  <a:extLst>
                    <a:ext uri="{9D8B030D-6E8A-4147-A177-3AD203B41FA5}">
                      <a16:colId xmlns:a16="http://schemas.microsoft.com/office/drawing/2014/main" val="3545979273"/>
                    </a:ext>
                  </a:extLst>
                </a:gridCol>
              </a:tblGrid>
              <a:tr h="410400"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lt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Recall </a:t>
                      </a:r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(IA = 35%)</a:t>
                      </a:r>
                    </a:p>
                    <a:p>
                      <a:pPr algn="ctr"/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(s = 73) </a:t>
                      </a:r>
                      <a:endParaRPr lang="en-IN" sz="1000" b="1" kern="1200">
                        <a:solidFill>
                          <a:schemeClr val="lt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kern="1200" noProof="0">
                          <a:solidFill>
                            <a:schemeClr val="lt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Effectiveness^</a:t>
                      </a:r>
                      <a:r>
                        <a:rPr lang="en-IN" sz="900" b="1" kern="1200" noProof="0">
                          <a:solidFill>
                            <a:schemeClr val="lt1"/>
                          </a:solidFill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 </a:t>
                      </a:r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(IA = 74%)</a:t>
                      </a:r>
                    </a:p>
                    <a:p>
                      <a:pPr algn="ctr"/>
                      <a:r>
                        <a:rPr lang="en-IN" sz="1000" b="1" kern="1200" noProof="0">
                          <a:solidFill>
                            <a:schemeClr val="lt1"/>
                          </a:solidFill>
                          <a:latin typeface="Johnson Text" panose="020B0604020202020204" charset="0"/>
                          <a:ea typeface="Verdana" panose="020B0604030504040204" pitchFamily="34" charset="0"/>
                          <a:cs typeface="Johnson Text" panose="020B0604020202020204" charset="0"/>
                        </a:rPr>
                        <a:t>(d = 41) </a:t>
                      </a:r>
                      <a:endParaRPr lang="en-IN" sz="1000" b="1" kern="1200">
                        <a:solidFill>
                          <a:schemeClr val="lt1"/>
                        </a:solidFill>
                        <a:latin typeface="Johnson Text" panose="020B0604020202020204" charset="0"/>
                        <a:ea typeface="Verdana" panose="020B0604030504040204" pitchFamily="3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849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69990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021434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971794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07746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228098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545063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747706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484644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924197"/>
                  </a:ext>
                </a:extLst>
              </a:tr>
              <a:tr h="3776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75898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4024F-239F-CFE9-2BF1-0AF584A4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ABF76CAF-8FEB-C8C0-B6DF-F882F35F8AE9}"/>
              </a:ext>
            </a:extLst>
          </p:cNvPr>
          <p:cNvSpPr txBox="1"/>
          <p:nvPr/>
        </p:nvSpPr>
        <p:spPr>
          <a:xfrm>
            <a:off x="424323" y="1198747"/>
            <a:ext cx="11274018" cy="27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091" tIns="45532" rIns="91091" bIns="45532" anchor="ctr" anchorCtr="0">
            <a:spAutoFit/>
          </a:bodyPr>
          <a:lstStyle/>
          <a:p>
            <a:pPr marL="0" marR="0" lvl="0" indent="0" algn="l" defTabSz="9125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[PRODUCT] MESSAGE RECALL &amp; EFFECTIVENESS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 for ALL HCPs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–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TAG+Chemo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Q4'25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A6694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4" name="TAG Messgae TAG Table">
            <a:extLst>
              <a:ext uri="{FF2B5EF4-FFF2-40B4-BE49-F238E27FC236}">
                <a16:creationId xmlns:a16="http://schemas.microsoft.com/office/drawing/2014/main" id="{35787119-D998-E616-E104-592C0A35CFD3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81779659"/>
              </p:ext>
            </p:extLst>
          </p:nvPr>
        </p:nvGraphicFramePr>
        <p:xfrm>
          <a:off x="2163997" y="1516126"/>
          <a:ext cx="2011680" cy="456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461537316"/>
                    </a:ext>
                  </a:extLst>
                </a:gridCol>
              </a:tblGrid>
              <a:tr h="410400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+mj-lt"/>
                          <a:ea typeface="Verdana" panose="020B0604030504040204" pitchFamily="34" charset="0"/>
                        </a:rPr>
                        <a:t>Tag</a:t>
                      </a:r>
                      <a:r>
                        <a:rPr lang="en-IN" sz="1100" baseline="30000" dirty="0">
                          <a:latin typeface="+mj-lt"/>
                          <a:ea typeface="Verdana" panose="020B0604030504040204" pitchFamily="34" charset="0"/>
                        </a:rPr>
                        <a:t>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94883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Combination Therapy - Higher PFS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849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- OS</a:t>
                      </a:r>
                      <a:endParaRPr lang="en-US" sz="10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69990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Higher PFS in CNS Metastasis</a:t>
                      </a:r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07746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Guidelines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228098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Dosing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545063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 - PFS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47706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Median Exposure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84644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- discontinuation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924197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Longest mPFS and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758987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- AR Grades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462532"/>
                  </a:ext>
                </a:extLst>
              </a:tr>
              <a:tr h="3760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- 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501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FFD3C8-C406-5725-44F7-FDC09CE9291B}"/>
              </a:ext>
            </a:extLst>
          </p:cNvPr>
          <p:cNvSpPr txBox="1"/>
          <p:nvPr/>
        </p:nvSpPr>
        <p:spPr>
          <a:xfrm>
            <a:off x="7107852" y="6052169"/>
            <a:ext cx="266305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45B3F-A8C5-68E8-2CD1-FDC6A911EF7D}"/>
              </a:ext>
            </a:extLst>
          </p:cNvPr>
          <p:cNvSpPr txBox="1"/>
          <p:nvPr/>
        </p:nvSpPr>
        <p:spPr>
          <a:xfrm>
            <a:off x="4306607" y="6052169"/>
            <a:ext cx="2520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  <a:endParaRPr kumimoji="0" lang="en-IN" sz="9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8" name="TAG ME">
            <a:extLst>
              <a:ext uri="{FF2B5EF4-FFF2-40B4-BE49-F238E27FC236}">
                <a16:creationId xmlns:a16="http://schemas.microsoft.com/office/drawing/2014/main" id="{D06D2117-1C23-85EC-8A6C-1E600E782A51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29491987"/>
              </p:ext>
            </p:extLst>
          </p:nvPr>
        </p:nvGraphicFramePr>
        <p:xfrm>
          <a:off x="4268495" y="1910080"/>
          <a:ext cx="2897848" cy="41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AAAD51DB-587E-019A-1749-D391C24371A7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aphicFrame>
        <p:nvGraphicFramePr>
          <p:cNvPr id="14" name="TAG MR">
            <a:extLst>
              <a:ext uri="{FF2B5EF4-FFF2-40B4-BE49-F238E27FC236}">
                <a16:creationId xmlns:a16="http://schemas.microsoft.com/office/drawing/2014/main" id="{30372865-0AAC-93C2-F4E5-BE159E270838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01666228"/>
              </p:ext>
            </p:extLst>
          </p:nvPr>
        </p:nvGraphicFramePr>
        <p:xfrm>
          <a:off x="7002665" y="1911095"/>
          <a:ext cx="2873431" cy="41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935B8D-432C-B429-CC91-01B5165B56DF}"/>
              </a:ext>
            </a:extLst>
          </p:cNvPr>
          <p:cNvCxnSpPr>
            <a:cxnSpLocks/>
          </p:cNvCxnSpPr>
          <p:nvPr/>
        </p:nvCxnSpPr>
        <p:spPr>
          <a:xfrm flipV="1">
            <a:off x="5334966" y="1978510"/>
            <a:ext cx="15861" cy="4068000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7" name="TAG Recall Delta">
            <a:extLst>
              <a:ext uri="{FF2B5EF4-FFF2-40B4-BE49-F238E27FC236}">
                <a16:creationId xmlns:a16="http://schemas.microsoft.com/office/drawing/2014/main" id="{7EE47C79-591D-4875-88DC-4681F222DE1A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315131995"/>
              </p:ext>
            </p:extLst>
          </p:nvPr>
        </p:nvGraphicFramePr>
        <p:xfrm>
          <a:off x="6510630" y="1906033"/>
          <a:ext cx="483290" cy="42173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29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1043107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4044438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62699788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14964268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13715198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186529"/>
                  </a:ext>
                </a:extLst>
              </a:tr>
              <a:tr h="383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59129056"/>
                  </a:ext>
                </a:extLst>
              </a:tr>
            </a:tbl>
          </a:graphicData>
        </a:graphic>
      </p:graphicFrame>
      <p:graphicFrame>
        <p:nvGraphicFramePr>
          <p:cNvPr id="18" name="TAG ME Delta">
            <a:extLst>
              <a:ext uri="{FF2B5EF4-FFF2-40B4-BE49-F238E27FC236}">
                <a16:creationId xmlns:a16="http://schemas.microsoft.com/office/drawing/2014/main" id="{B61B08E3-DCFB-FB3E-017E-5C7D93A69F3C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962746398"/>
              </p:ext>
            </p:extLst>
          </p:nvPr>
        </p:nvGraphicFramePr>
        <p:xfrm>
          <a:off x="9454945" y="1921266"/>
          <a:ext cx="483290" cy="41713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29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79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1043107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4044438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16032192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62699788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5494341"/>
                  </a:ext>
                </a:extLst>
              </a:tr>
              <a:tr h="37921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6551853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5A1453B-7430-8985-4DA7-886AD7C72EEC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^Message effectiveness is the geometric mean of % of high ratings (6, 7 out of 7) for motivation, differentiation, and believability attributes of messages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| Question text in speaker notes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Full message text in speaker's notes | Industry average definitions found in slide 4 |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FB75E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+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/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FB75E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 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-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denotes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increase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 / 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decrease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 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</a:rPr>
              <a:t> of greater than 5% from previous quarter | No statistically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ea typeface="+mn-ea"/>
                <a:cs typeface="Johnson Text" panose="020B0604020202020204" charset="0"/>
                <a:sym typeface="Verdana"/>
              </a:rPr>
              <a:t>significant difference with a 95% confidence interval between latest two quarters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highlight>
                  <a:srgbClr val="FDFFC3"/>
                </a:highlight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Verdana"/>
              </a:rPr>
              <a:t>Messages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highlight>
                  <a:srgbClr val="FDFFC3"/>
                </a:highlight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 added  in mid-Sep’25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 |</a:t>
            </a:r>
            <a:r>
              <a:rPr lang="en-US" sz="900" i="1" dirty="0">
                <a:solidFill>
                  <a:srgbClr val="7F7F7F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Verdana"/>
              </a:rPr>
              <a:t> </a:t>
            </a:r>
            <a:r>
              <a:rPr lang="en-US" sz="900" i="1" dirty="0">
                <a:solidFill>
                  <a:srgbClr val="7F7F7F"/>
                </a:solidFill>
                <a:highlight>
                  <a:srgbClr val="DCF4C4"/>
                </a:highlight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Verdana"/>
              </a:rPr>
              <a:t>M</a:t>
            </a:r>
            <a:r>
              <a:rPr lang="en-US" sz="900" i="1" dirty="0">
                <a:solidFill>
                  <a:srgbClr val="7F7F7F"/>
                </a:solidFill>
                <a:highlight>
                  <a:srgbClr val="DCF4C4"/>
                </a:highlight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essages added  in Q4’25 (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  <a:sym typeface="Verdana"/>
              </a:rPr>
              <a:t>s=48, d= 32)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highlight>
                <a:srgbClr val="DCF4C4"/>
              </a:highlight>
              <a:uLnTx/>
              <a:uFillTx/>
              <a:latin typeface="Johnson Text"/>
              <a:ea typeface="+mn-ea"/>
              <a:cs typeface="+mn-cs"/>
            </a:endParaRP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F8CAF057-87E9-CA63-501C-0CD0BD4FAB4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0" y="1069990"/>
            <a:ext cx="248271" cy="248271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38A1C4-A35F-5444-D0B1-C332B356993B}"/>
              </a:ext>
            </a:extLst>
          </p:cNvPr>
          <p:cNvCxnSpPr>
            <a:cxnSpLocks/>
          </p:cNvCxnSpPr>
          <p:nvPr/>
        </p:nvCxnSpPr>
        <p:spPr>
          <a:xfrm flipV="1">
            <a:off x="9096703" y="1978510"/>
            <a:ext cx="15861" cy="4068000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AC83FC96-FB13-FE1C-EF74-E2AFA2E58A9F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Highly effective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PFS </a:t>
            </a:r>
            <a:r>
              <a:rPr kumimoji="0" lang="en-US" sz="1800" b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and </a:t>
            </a:r>
            <a:r>
              <a:rPr kumimoji="0" lang="en-US" sz="1800" b="1" i="1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OS </a:t>
            </a:r>
            <a:r>
              <a:rPr kumimoji="0" lang="en-US" sz="1800" b="1" i="0" u="non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messages are recalled most frequently by HCPs</a:t>
            </a:r>
          </a:p>
        </p:txBody>
      </p:sp>
      <p:sp>
        <p:nvSpPr>
          <p:cNvPr id="13" name="Google Shape;229;p3">
            <a:extLst>
              <a:ext uri="{FF2B5EF4-FFF2-40B4-BE49-F238E27FC236}">
                <a16:creationId xmlns:a16="http://schemas.microsoft.com/office/drawing/2014/main" id="{F711824A-73E3-4B99-47E4-A79D2E2AB46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10" name="Highlight#25">
            <a:extLst>
              <a:ext uri="{FF2B5EF4-FFF2-40B4-BE49-F238E27FC236}">
                <a16:creationId xmlns:a16="http://schemas.microsoft.com/office/drawing/2014/main" id="{C9875431-ACD2-B151-8056-84F44ED6A346}"/>
              </a:ext>
            </a:extLst>
          </p:cNvPr>
          <p:cNvSpPr txBox="1"/>
          <p:nvPr/>
        </p:nvSpPr>
        <p:spPr>
          <a:xfrm>
            <a:off x="2105024" y="1935364"/>
            <a:ext cx="7915275" cy="769736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273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91E1-477F-86F0-D7B7-A9E58E94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4141681-7663-8209-6922-7596BC4D3FF4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2456478"/>
              </p:ext>
            </p:extLst>
          </p:nvPr>
        </p:nvGraphicFramePr>
        <p:xfrm>
          <a:off x="3314260" y="1614348"/>
          <a:ext cx="1713120" cy="4140004"/>
        </p:xfrm>
        <a:graphic>
          <a:graphicData uri="http://schemas.openxmlformats.org/drawingml/2006/table">
            <a:tbl>
              <a:tblPr/>
              <a:tblGrid>
                <a:gridCol w="891980">
                  <a:extLst>
                    <a:ext uri="{9D8B030D-6E8A-4147-A177-3AD203B41FA5}">
                      <a16:colId xmlns:a16="http://schemas.microsoft.com/office/drawing/2014/main" val="3409426008"/>
                    </a:ext>
                  </a:extLst>
                </a:gridCol>
                <a:gridCol w="821140">
                  <a:extLst>
                    <a:ext uri="{9D8B030D-6E8A-4147-A177-3AD203B41FA5}">
                      <a16:colId xmlns:a16="http://schemas.microsoft.com/office/drawing/2014/main" val="902557456"/>
                    </a:ext>
                  </a:extLst>
                </a:gridCol>
              </a:tblGrid>
              <a:tr h="3763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67%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CD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580333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609621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68%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9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70%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CC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244764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D1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328935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64%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D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23127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D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913581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60%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237073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60%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961282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57%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F1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06052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121919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B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28186"/>
                  </a:ext>
                </a:extLst>
              </a:tr>
            </a:tbl>
          </a:graphicData>
        </a:graphic>
      </p:graphicFrame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C1601BC-DE47-6B8E-7BB7-268FF3FE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aphicFrame>
        <p:nvGraphicFramePr>
          <p:cNvPr id="4" name="mr table">
            <a:extLst>
              <a:ext uri="{FF2B5EF4-FFF2-40B4-BE49-F238E27FC236}">
                <a16:creationId xmlns:a16="http://schemas.microsoft.com/office/drawing/2014/main" id="{F197F7D4-4DAB-8D24-14ED-19B1C8053206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6201674"/>
              </p:ext>
            </p:extLst>
          </p:nvPr>
        </p:nvGraphicFramePr>
        <p:xfrm>
          <a:off x="1190847" y="1614348"/>
          <a:ext cx="2000925" cy="41400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00925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7636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Combination Therapy - Higher PFS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Efficacy - OS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Higher PFS in CNS Metastasis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Longest mPFS and OS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NCCN Guidelines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Efficacy - PFS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495127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Median Exposure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070427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Safety - discontinuation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800033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Safety - AR Grades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286124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Dosing</a:t>
                      </a:r>
                      <a:r>
                        <a:rPr kumimoji="1" lang="en-US" sz="10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Johnson Text" panose="020B0604020202020204" charset="0"/>
                        <a:ea typeface="Roboto" panose="02000000000000000000" pitchFamily="2" charset="0"/>
                        <a:cs typeface="Johnson Text" panose="020B0604020202020204" charset="0"/>
                      </a:endParaRP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283104"/>
                  </a:ext>
                </a:extLst>
              </a:tr>
              <a:tr h="3763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ea typeface="Roboto" panose="02000000000000000000" pitchFamily="2" charset="0"/>
                          <a:cs typeface="Johnson Text" panose="020B0604020202020204" charset="0"/>
                        </a:rPr>
                        <a:t>Safety - ARs</a:t>
                      </a:r>
                    </a:p>
                  </a:txBody>
                  <a:tcPr marL="76200" marR="6350" marT="635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2929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15210F-4FFD-70F9-87FD-E8E3FB113CDC}"/>
              </a:ext>
            </a:extLst>
          </p:cNvPr>
          <p:cNvSpPr txBox="1"/>
          <p:nvPr/>
        </p:nvSpPr>
        <p:spPr>
          <a:xfrm>
            <a:off x="1766617" y="1341024"/>
            <a:ext cx="102126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$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BB82C7-42AA-CEE7-39E2-4A4BD59BBC85}"/>
              </a:ext>
            </a:extLst>
          </p:cNvPr>
          <p:cNvSpPr txBox="1"/>
          <p:nvPr/>
        </p:nvSpPr>
        <p:spPr>
          <a:xfrm>
            <a:off x="3052557" y="5737275"/>
            <a:ext cx="21351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Responses (Rated 6, 7)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3C34DD-B462-8197-312E-981780A9BFA8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>
              <a:buClr>
                <a:srgbClr val="7F7F7F"/>
              </a:buClr>
              <a:buSzPts val="900"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Question text in speaker notes | ^Message effectiveness is the geometric mean of % of high ratings (6, 7 out of 7) for motivation, differentiation, and believability attributes of messages | </a:t>
            </a:r>
            <a:r>
              <a:rPr kumimoji="1" lang="en-US" sz="900" b="0" i="1" u="none" strike="noStrike" kern="0" cap="none" spc="0" normalizeH="0" baseline="30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$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Complete message text in speaker notes | No statistically significant difference with 95% confidence interval between the latest two quarters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/>
                <a:sym typeface="Verdana"/>
              </a:rPr>
              <a:t> |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</a:rPr>
              <a:t> </a:t>
            </a:r>
            <a:r>
              <a:rPr lang="en-US" sz="900" i="1" dirty="0">
                <a:solidFill>
                  <a:srgbClr val="7F7F7F"/>
                </a:solidFill>
                <a:highlight>
                  <a:srgbClr val="FDFFC3"/>
                </a:highlight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Verdana"/>
              </a:rPr>
              <a:t>M</a:t>
            </a:r>
            <a:r>
              <a:rPr lang="en-US" sz="900" i="1" dirty="0">
                <a:solidFill>
                  <a:srgbClr val="7F7F7F"/>
                </a:solidFill>
                <a:highlight>
                  <a:srgbClr val="FDFFC3"/>
                </a:highlight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essages added  in mid-Sep’25</a:t>
            </a:r>
            <a:r>
              <a:rPr lang="en-US" sz="900" i="1" dirty="0">
                <a:solidFill>
                  <a:srgbClr val="7F7F7F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 |</a:t>
            </a:r>
            <a:r>
              <a:rPr lang="en-US" sz="900" i="1" dirty="0">
                <a:solidFill>
                  <a:srgbClr val="7F7F7F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Verdana"/>
              </a:rPr>
              <a:t> </a:t>
            </a:r>
            <a:r>
              <a:rPr lang="en-US" sz="900" i="1" dirty="0">
                <a:solidFill>
                  <a:srgbClr val="7F7F7F"/>
                </a:solidFill>
                <a:highlight>
                  <a:srgbClr val="DCF4C4"/>
                </a:highlight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  <a:sym typeface="Verdana"/>
              </a:rPr>
              <a:t>M</a:t>
            </a:r>
            <a:r>
              <a:rPr lang="en-US" sz="900" i="1" dirty="0">
                <a:solidFill>
                  <a:srgbClr val="7F7F7F"/>
                </a:solidFill>
                <a:highlight>
                  <a:srgbClr val="DCF4C4"/>
                </a:highlight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essages added  in Q4’25 (d=32)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DCF4C4"/>
              </a:highlight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sp>
        <p:nvSpPr>
          <p:cNvPr id="11" name="Google Shape;229;p3">
            <a:extLst>
              <a:ext uri="{FF2B5EF4-FFF2-40B4-BE49-F238E27FC236}">
                <a16:creationId xmlns:a16="http://schemas.microsoft.com/office/drawing/2014/main" id="{2F6A51B0-70F2-3204-10E1-F4378EFC768B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791E680-3B89-4CA7-ACA3-C1C69A2177F8}"/>
              </a:ext>
            </a:extLst>
          </p:cNvPr>
          <p:cNvSpPr>
            <a:spLocks noGrp="1"/>
          </p:cNvSpPr>
          <p:nvPr/>
        </p:nvSpPr>
        <p:spPr>
          <a:xfrm>
            <a:off x="-1" y="134273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TAGRISSO Message Effectiveness </a:t>
            </a:r>
          </a:p>
        </p:txBody>
      </p:sp>
      <p:sp>
        <p:nvSpPr>
          <p:cNvPr id="19" name="Google Shape;229;p3">
            <a:extLst>
              <a:ext uri="{FF2B5EF4-FFF2-40B4-BE49-F238E27FC236}">
                <a16:creationId xmlns:a16="http://schemas.microsoft.com/office/drawing/2014/main" id="{561597E1-BD30-D221-EFF9-33C9CB1BE086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A52D86-5BA7-7C8B-905B-1431131BD9C3}"/>
              </a:ext>
            </a:extLst>
          </p:cNvPr>
          <p:cNvGrpSpPr/>
          <p:nvPr/>
        </p:nvGrpSpPr>
        <p:grpSpPr>
          <a:xfrm>
            <a:off x="9556936" y="1202721"/>
            <a:ext cx="2116931" cy="4791681"/>
            <a:chOff x="9556936" y="1498038"/>
            <a:chExt cx="2116931" cy="467994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BE8B0A-5D01-6078-3D46-F10FA8262153}"/>
                </a:ext>
              </a:extLst>
            </p:cNvPr>
            <p:cNvSpPr txBox="1"/>
            <p:nvPr/>
          </p:nvSpPr>
          <p:spPr>
            <a:xfrm>
              <a:off x="9830147" y="1498038"/>
              <a:ext cx="1570509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Differentiating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778E95F-7050-8FD7-E753-33F01E275ABB}"/>
                </a:ext>
              </a:extLst>
            </p:cNvPr>
            <p:cNvSpPr txBox="1"/>
            <p:nvPr/>
          </p:nvSpPr>
          <p:spPr>
            <a:xfrm>
              <a:off x="9556936" y="5931764"/>
              <a:ext cx="2116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% of Responses (Rated 6, 7)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aphicFrame>
          <p:nvGraphicFramePr>
            <p:cNvPr id="23" name="Reach">
              <a:extLst>
                <a:ext uri="{FF2B5EF4-FFF2-40B4-BE49-F238E27FC236}">
                  <a16:creationId xmlns:a16="http://schemas.microsoft.com/office/drawing/2014/main" id="{2EF952DA-2FF5-835F-8CAB-AC6BC10ABD79}"/>
                </a:ext>
              </a:extLst>
            </p:cNvPr>
            <p:cNvGraphicFramePr/>
            <p:nvPr>
              <p:custDataLst>
                <p:tags r:id="rId5"/>
              </p:custDataLst>
              <p:extLst>
                <p:ext uri="{D42A27DB-BD31-4B8C-83A1-F6EECF244321}">
                  <p14:modId xmlns:p14="http://schemas.microsoft.com/office/powerpoint/2010/main" val="2063733538"/>
                </p:ext>
              </p:extLst>
            </p:nvPr>
          </p:nvGraphicFramePr>
          <p:xfrm>
            <a:off x="9746842" y="1769694"/>
            <a:ext cx="1737118" cy="41839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C2070F-054C-5E1B-7738-E5A295F26FE6}"/>
              </a:ext>
            </a:extLst>
          </p:cNvPr>
          <p:cNvGrpSpPr/>
          <p:nvPr/>
        </p:nvGrpSpPr>
        <p:grpSpPr>
          <a:xfrm>
            <a:off x="7362520" y="1189037"/>
            <a:ext cx="2116931" cy="4821674"/>
            <a:chOff x="7258186" y="1498038"/>
            <a:chExt cx="2116931" cy="439951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687D3F-8365-6B60-0330-5E6C394102B0}"/>
                </a:ext>
              </a:extLst>
            </p:cNvPr>
            <p:cNvSpPr txBox="1"/>
            <p:nvPr/>
          </p:nvSpPr>
          <p:spPr>
            <a:xfrm>
              <a:off x="7531397" y="1498038"/>
              <a:ext cx="1570509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Believability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667A8B-0B18-2604-C5D3-1DB9E4550062}"/>
                </a:ext>
              </a:extLst>
            </p:cNvPr>
            <p:cNvSpPr txBox="1"/>
            <p:nvPr/>
          </p:nvSpPr>
          <p:spPr>
            <a:xfrm>
              <a:off x="7258186" y="5651329"/>
              <a:ext cx="2116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% of Responses (Rated 6, 7)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aphicFrame>
          <p:nvGraphicFramePr>
            <p:cNvPr id="25" name="Shape_30183427">
              <a:extLst>
                <a:ext uri="{FF2B5EF4-FFF2-40B4-BE49-F238E27FC236}">
                  <a16:creationId xmlns:a16="http://schemas.microsoft.com/office/drawing/2014/main" id="{C1CF7FAF-03F4-A221-5FCC-A30738FA3E12}"/>
                </a:ext>
              </a:extLst>
            </p:cNvPr>
            <p:cNvGraphicFramePr/>
            <p:nvPr>
              <p:custDataLst>
                <p:tags r:id="rId4"/>
              </p:custDataLst>
              <p:extLst>
                <p:ext uri="{D42A27DB-BD31-4B8C-83A1-F6EECF244321}">
                  <p14:modId xmlns:p14="http://schemas.microsoft.com/office/powerpoint/2010/main" val="2452719799"/>
                </p:ext>
              </p:extLst>
            </p:nvPr>
          </p:nvGraphicFramePr>
          <p:xfrm>
            <a:off x="7448092" y="1769694"/>
            <a:ext cx="1737118" cy="389086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1F9C886-8210-38F1-B7F1-56428FFDD985}"/>
              </a:ext>
            </a:extLst>
          </p:cNvPr>
          <p:cNvGrpSpPr/>
          <p:nvPr/>
        </p:nvGrpSpPr>
        <p:grpSpPr>
          <a:xfrm>
            <a:off x="5168103" y="1198428"/>
            <a:ext cx="2116931" cy="4811210"/>
            <a:chOff x="5229882" y="1536074"/>
            <a:chExt cx="2116931" cy="437071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0675F3-2715-9571-119D-737CB8F391A3}"/>
                </a:ext>
              </a:extLst>
            </p:cNvPr>
            <p:cNvSpPr txBox="1"/>
            <p:nvPr/>
          </p:nvSpPr>
          <p:spPr>
            <a:xfrm>
              <a:off x="5503093" y="1536074"/>
              <a:ext cx="1570509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Display"/>
                  <a:ea typeface="Verdana" panose="020B0604030504040204" pitchFamily="34" charset="0"/>
                  <a:cs typeface="+mn-cs"/>
                </a:rPr>
                <a:t>Motivating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194AD9-CDCA-D45B-B2AB-210F38933B72}"/>
                </a:ext>
              </a:extLst>
            </p:cNvPr>
            <p:cNvSpPr txBox="1"/>
            <p:nvPr/>
          </p:nvSpPr>
          <p:spPr>
            <a:xfrm>
              <a:off x="5229882" y="5660564"/>
              <a:ext cx="21169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% of Responses (Rated 6, 7)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graphicFrame>
          <p:nvGraphicFramePr>
            <p:cNvPr id="26" name="Shape_50937326">
              <a:extLst>
                <a:ext uri="{FF2B5EF4-FFF2-40B4-BE49-F238E27FC236}">
                  <a16:creationId xmlns:a16="http://schemas.microsoft.com/office/drawing/2014/main" id="{ECEAAD3C-BB8F-1C9E-311D-63DD2E446521}"/>
                </a:ext>
              </a:extLst>
            </p:cNvPr>
            <p:cNvGraphicFramePr/>
            <p:nvPr>
              <p:custDataLst>
                <p:tags r:id="rId3"/>
              </p:custDataLst>
              <p:extLst>
                <p:ext uri="{D42A27DB-BD31-4B8C-83A1-F6EECF244321}">
                  <p14:modId xmlns:p14="http://schemas.microsoft.com/office/powerpoint/2010/main" val="4001000213"/>
                </p:ext>
              </p:extLst>
            </p:nvPr>
          </p:nvGraphicFramePr>
          <p:xfrm>
            <a:off x="5419788" y="1657684"/>
            <a:ext cx="1737118" cy="40997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60B77C6-9934-83F0-3684-1F6BB976F74B}"/>
              </a:ext>
            </a:extLst>
          </p:cNvPr>
          <p:cNvSpPr txBox="1"/>
          <p:nvPr/>
        </p:nvSpPr>
        <p:spPr>
          <a:xfrm>
            <a:off x="3309596" y="1117289"/>
            <a:ext cx="18000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Message Effectiveness^</a:t>
            </a:r>
          </a:p>
        </p:txBody>
      </p:sp>
      <p:sp>
        <p:nvSpPr>
          <p:cNvPr id="31" name="Textbox_series_2">
            <a:extLst>
              <a:ext uri="{FF2B5EF4-FFF2-40B4-BE49-F238E27FC236}">
                <a16:creationId xmlns:a16="http://schemas.microsoft.com/office/drawing/2014/main" id="{D1AE3898-415D-00BF-86A2-72154F02476C}"/>
              </a:ext>
            </a:extLst>
          </p:cNvPr>
          <p:cNvSpPr txBox="1"/>
          <p:nvPr/>
        </p:nvSpPr>
        <p:spPr>
          <a:xfrm flipH="1">
            <a:off x="3301941" y="1282426"/>
            <a:ext cx="965062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Q3'25</a:t>
            </a:r>
          </a:p>
        </p:txBody>
      </p:sp>
      <p:sp>
        <p:nvSpPr>
          <p:cNvPr id="32" name="Textbox_series_2">
            <a:extLst>
              <a:ext uri="{FF2B5EF4-FFF2-40B4-BE49-F238E27FC236}">
                <a16:creationId xmlns:a16="http://schemas.microsoft.com/office/drawing/2014/main" id="{18242B6A-64EC-17C4-4B7A-FC07697C5B07}"/>
              </a:ext>
            </a:extLst>
          </p:cNvPr>
          <p:cNvSpPr txBox="1"/>
          <p:nvPr/>
        </p:nvSpPr>
        <p:spPr>
          <a:xfrm flipH="1">
            <a:off x="4069972" y="1282426"/>
            <a:ext cx="965062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Q4'25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764A4-AB18-00C5-5B6E-8CEFFC8DB51C}"/>
              </a:ext>
            </a:extLst>
          </p:cNvPr>
          <p:cNvGrpSpPr/>
          <p:nvPr/>
        </p:nvGrpSpPr>
        <p:grpSpPr>
          <a:xfrm>
            <a:off x="7599752" y="5994514"/>
            <a:ext cx="1745649" cy="341856"/>
            <a:chOff x="1414038" y="5693222"/>
            <a:chExt cx="1745649" cy="3418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79EB44-F724-910C-AD6C-2B31FDB79782}"/>
                </a:ext>
              </a:extLst>
            </p:cNvPr>
            <p:cNvGrpSpPr/>
            <p:nvPr/>
          </p:nvGrpSpPr>
          <p:grpSpPr>
            <a:xfrm>
              <a:off x="1414038" y="5693222"/>
              <a:ext cx="1006652" cy="341856"/>
              <a:chOff x="77968" y="5861840"/>
              <a:chExt cx="1006652" cy="341856"/>
            </a:xfrm>
          </p:grpSpPr>
          <p:sp>
            <p:nvSpPr>
              <p:cNvPr id="21" name="Textbox_series_2">
                <a:extLst>
                  <a:ext uri="{FF2B5EF4-FFF2-40B4-BE49-F238E27FC236}">
                    <a16:creationId xmlns:a16="http://schemas.microsoft.com/office/drawing/2014/main" id="{ABBCBA4B-C468-1A4A-66AA-BA3994FC64B6}"/>
                  </a:ext>
                </a:extLst>
              </p:cNvPr>
              <p:cNvSpPr txBox="1"/>
              <p:nvPr/>
            </p:nvSpPr>
            <p:spPr>
              <a:xfrm flipH="1">
                <a:off x="77968" y="5861840"/>
                <a:ext cx="1006652" cy="341856"/>
              </a:xfrm>
              <a:prstGeom prst="rect">
                <a:avLst/>
              </a:prstGeom>
              <a:noFill/>
            </p:spPr>
            <p:txBody>
              <a:bodyPr vert="horz"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Q3'25 </a:t>
                </a:r>
                <a:b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</a:b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(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d = </a:t>
                </a:r>
                <a:r>
                  <a:rPr lang="en-US" sz="1000">
                    <a:solidFill>
                      <a:srgbClr val="505050">
                        <a:lumMod val="50000"/>
                      </a:srgbClr>
                    </a:solidFill>
                    <a:latin typeface="Johnson Text"/>
                    <a:ea typeface="Verdana" panose="020B0604030504040204" pitchFamily="34" charset="0"/>
                  </a:rPr>
                  <a:t>55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) </a:t>
                </a:r>
              </a:p>
            </p:txBody>
          </p:sp>
          <p:sp>
            <p:nvSpPr>
              <p:cNvPr id="34" name="Legend_series_2">
                <a:extLst>
                  <a:ext uri="{FF2B5EF4-FFF2-40B4-BE49-F238E27FC236}">
                    <a16:creationId xmlns:a16="http://schemas.microsoft.com/office/drawing/2014/main" id="{EBE2E93B-334C-22B5-1FA0-7223E4130E54}"/>
                  </a:ext>
                </a:extLst>
              </p:cNvPr>
              <p:cNvSpPr/>
              <p:nvPr/>
            </p:nvSpPr>
            <p:spPr>
              <a:xfrm>
                <a:off x="194454" y="5945327"/>
                <a:ext cx="109443" cy="107608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1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2E45F6-266A-C081-338D-85E8BE0BC058}"/>
                </a:ext>
              </a:extLst>
            </p:cNvPr>
            <p:cNvGrpSpPr/>
            <p:nvPr/>
          </p:nvGrpSpPr>
          <p:grpSpPr>
            <a:xfrm>
              <a:off x="2153035" y="5693222"/>
              <a:ext cx="1006652" cy="341856"/>
              <a:chOff x="77968" y="5861840"/>
              <a:chExt cx="1006652" cy="341856"/>
            </a:xfrm>
          </p:grpSpPr>
          <p:sp>
            <p:nvSpPr>
              <p:cNvPr id="12" name="Textbox_series_2">
                <a:extLst>
                  <a:ext uri="{FF2B5EF4-FFF2-40B4-BE49-F238E27FC236}">
                    <a16:creationId xmlns:a16="http://schemas.microsoft.com/office/drawing/2014/main" id="{1F1DA64B-AF02-BF8E-50DA-3BE04DD04909}"/>
                  </a:ext>
                </a:extLst>
              </p:cNvPr>
              <p:cNvSpPr txBox="1"/>
              <p:nvPr/>
            </p:nvSpPr>
            <p:spPr>
              <a:xfrm flipH="1">
                <a:off x="77968" y="5861840"/>
                <a:ext cx="1006652" cy="341856"/>
              </a:xfrm>
              <a:prstGeom prst="rect">
                <a:avLst/>
              </a:prstGeom>
              <a:noFill/>
            </p:spPr>
            <p:txBody>
              <a:bodyPr vert="horz" wrap="square" rtlCol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Q4'25 </a:t>
                </a:r>
                <a:b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</a:b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(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d = </a:t>
                </a:r>
                <a:r>
                  <a:rPr lang="en-US" sz="1000">
                    <a:solidFill>
                      <a:srgbClr val="505050">
                        <a:lumMod val="50000"/>
                      </a:srgbClr>
                    </a:solidFill>
                    <a:latin typeface="Johnson Text"/>
                    <a:ea typeface="Verdana" panose="020B0604030504040204" pitchFamily="34" charset="0"/>
                  </a:rPr>
                  <a:t>41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) </a:t>
                </a:r>
              </a:p>
            </p:txBody>
          </p:sp>
          <p:sp>
            <p:nvSpPr>
              <p:cNvPr id="15" name="Legend_series_2">
                <a:extLst>
                  <a:ext uri="{FF2B5EF4-FFF2-40B4-BE49-F238E27FC236}">
                    <a16:creationId xmlns:a16="http://schemas.microsoft.com/office/drawing/2014/main" id="{7F924108-1E0A-C615-3BB0-93FE57133328}"/>
                  </a:ext>
                </a:extLst>
              </p:cNvPr>
              <p:cNvSpPr/>
              <p:nvPr/>
            </p:nvSpPr>
            <p:spPr>
              <a:xfrm>
                <a:off x="194454" y="5945327"/>
                <a:ext cx="109443" cy="10760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1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63636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E01D-D143-26B7-BEE0-1584A5DA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6CA3EF9-3273-A13B-29B9-4D00FD6DEFDA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1500649"/>
              </p:ext>
            </p:extLst>
          </p:nvPr>
        </p:nvGraphicFramePr>
        <p:xfrm>
          <a:off x="4197768" y="1621154"/>
          <a:ext cx="1552544" cy="4580329"/>
        </p:xfrm>
        <a:graphic>
          <a:graphicData uri="http://schemas.openxmlformats.org/drawingml/2006/table">
            <a:tbl>
              <a:tblPr/>
              <a:tblGrid>
                <a:gridCol w="776272">
                  <a:extLst>
                    <a:ext uri="{9D8B030D-6E8A-4147-A177-3AD203B41FA5}">
                      <a16:colId xmlns:a16="http://schemas.microsoft.com/office/drawing/2014/main" val="2542334415"/>
                    </a:ext>
                  </a:extLst>
                </a:gridCol>
                <a:gridCol w="776272">
                  <a:extLst>
                    <a:ext uri="{9D8B030D-6E8A-4147-A177-3AD203B41FA5}">
                      <a16:colId xmlns:a16="http://schemas.microsoft.com/office/drawing/2014/main" val="3079106116"/>
                    </a:ext>
                  </a:extLst>
                </a:gridCol>
              </a:tblGrid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60%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CC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63%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96793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DB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DB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98333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E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C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248561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E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784760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6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E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446840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E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13034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EC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727787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EC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67711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E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48213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982537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4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402452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9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195"/>
                  </a:ext>
                </a:extLst>
              </a:tr>
              <a:tr h="3523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8733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C9F438-C0F5-5A54-324A-9B46D9D71754}"/>
              </a:ext>
            </a:extLst>
          </p:cNvPr>
          <p:cNvSpPr txBox="1"/>
          <p:nvPr/>
        </p:nvSpPr>
        <p:spPr>
          <a:xfrm>
            <a:off x="5047389" y="68935"/>
            <a:ext cx="147352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40C2A-BB12-C391-FF70-1BB12255F040}"/>
              </a:ext>
            </a:extLst>
          </p:cNvPr>
          <p:cNvSpPr txBox="1"/>
          <p:nvPr/>
        </p:nvSpPr>
        <p:spPr>
          <a:xfrm>
            <a:off x="4350413" y="6175644"/>
            <a:ext cx="1303903" cy="2612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GB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9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</p:txBody>
      </p:sp>
      <p:sp>
        <p:nvSpPr>
          <p:cNvPr id="19" name="Google Shape;887;p16">
            <a:extLst>
              <a:ext uri="{FF2B5EF4-FFF2-40B4-BE49-F238E27FC236}">
                <a16:creationId xmlns:a16="http://schemas.microsoft.com/office/drawing/2014/main" id="{75A52199-7C41-A671-19B3-816E2C040A70}"/>
              </a:ext>
            </a:extLst>
          </p:cNvPr>
          <p:cNvSpPr txBox="1"/>
          <p:nvPr/>
        </p:nvSpPr>
        <p:spPr>
          <a:xfrm>
            <a:off x="2125411" y="1150372"/>
            <a:ext cx="1136350" cy="26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0" cap="none" spc="0" normalizeH="0" baseline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+mn-ea"/>
                <a:cs typeface="+mn-cs"/>
                <a:sym typeface="Verdana"/>
              </a:rPr>
              <a:t>Topics</a:t>
            </a:r>
          </a:p>
        </p:txBody>
      </p:sp>
      <p:graphicFrame>
        <p:nvGraphicFramePr>
          <p:cNvPr id="3" name="Topics Discussed Aided">
            <a:extLst>
              <a:ext uri="{FF2B5EF4-FFF2-40B4-BE49-F238E27FC236}">
                <a16:creationId xmlns:a16="http://schemas.microsoft.com/office/drawing/2014/main" id="{F79C15CD-72E6-C32C-EE51-B56BA7A79B2A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6910610"/>
              </p:ext>
            </p:extLst>
          </p:nvPr>
        </p:nvGraphicFramePr>
        <p:xfrm>
          <a:off x="1248601" y="1632855"/>
          <a:ext cx="2889971" cy="460824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889971">
                  <a:extLst>
                    <a:ext uri="{9D8B030D-6E8A-4147-A177-3AD203B41FA5}">
                      <a16:colId xmlns:a16="http://schemas.microsoft.com/office/drawing/2014/main" val="4158060526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Efficacy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094555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NCCN Guidelines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968480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Safety / Side Effects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237619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Specific Indication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568645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Tolerability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139595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Patient Types / Patient Profiles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594095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Mutation Testing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71172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Proactive Supportive Care for Managing Adverse Events</a:t>
                      </a:r>
                      <a:endParaRPr lang="en-IN" sz="1000" b="0" i="0" u="none" strike="noStrike">
                        <a:solidFill>
                          <a:srgbClr val="333333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59563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Patient Support Program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480016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Dosing / Treatment Duration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80273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Mechanism of Action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725890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Route of Administration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126406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333333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Access / Insurance Coverage / Cost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54790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EC6E52-8980-8CBE-AC47-B4FA33E8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Google Shape;229;p3">
            <a:extLst>
              <a:ext uri="{FF2B5EF4-FFF2-40B4-BE49-F238E27FC236}">
                <a16:creationId xmlns:a16="http://schemas.microsoft.com/office/drawing/2014/main" id="{628FAD85-DEF4-D541-8369-E2E730A223F3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5E6344-88A5-FB42-511E-29E9B69DDBE0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 defTabSz="685457"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Question text in speaker notes | Topics ordered according to decreasing values of overall recall of RYB+LAZ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|      Denotes statistically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significant difference with a 95% confidence interval between RYB+LAZ and TAG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| No statistically significant difference found with 95% confidence interval between the latest two quarters </a:t>
            </a:r>
            <a:r>
              <a:rPr kumimoji="1" lang="en-US" sz="900" i="1" kern="0" dirty="0">
                <a:solidFill>
                  <a:srgbClr val="7F7F7F"/>
                </a:solidFill>
              </a:rPr>
              <a:t>| </a:t>
            </a:r>
            <a:r>
              <a:rPr lang="en-US" sz="900" b="1" i="1" dirty="0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 dirty="0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 dirty="0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0A088D-E975-B0DE-346B-810CF013E27D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Aided Topic Discussions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 – Q4'25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F315D9-127F-5843-F899-DA595AA1D165}"/>
              </a:ext>
            </a:extLst>
          </p:cNvPr>
          <p:cNvSpPr txBox="1"/>
          <p:nvPr/>
        </p:nvSpPr>
        <p:spPr>
          <a:xfrm>
            <a:off x="4153161" y="1150352"/>
            <a:ext cx="169817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Topics Recalled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75D292-D662-063C-6841-CFBFC8F18692}"/>
              </a:ext>
            </a:extLst>
          </p:cNvPr>
          <p:cNvSpPr txBox="1"/>
          <p:nvPr/>
        </p:nvSpPr>
        <p:spPr>
          <a:xfrm>
            <a:off x="6310594" y="6175644"/>
            <a:ext cx="1303903" cy="2612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GB"/>
            </a:defPPr>
            <a:lvl1pPr marR="0" lvl="0" indent="0" algn="ctr" defTabSz="91394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9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% of Interactions</a:t>
            </a:r>
          </a:p>
        </p:txBody>
      </p:sp>
      <p:graphicFrame>
        <p:nvGraphicFramePr>
          <p:cNvPr id="38" name="SFE_market">
            <a:extLst>
              <a:ext uri="{FF2B5EF4-FFF2-40B4-BE49-F238E27FC236}">
                <a16:creationId xmlns:a16="http://schemas.microsoft.com/office/drawing/2014/main" id="{D2859576-A9E7-EC02-C3AA-95195366F4FD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47669687"/>
              </p:ext>
            </p:extLst>
          </p:nvPr>
        </p:nvGraphicFramePr>
        <p:xfrm>
          <a:off x="5756142" y="1638205"/>
          <a:ext cx="2412806" cy="4554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A42E0CDF-BCAC-9811-C470-7229A71A3B08}"/>
              </a:ext>
            </a:extLst>
          </p:cNvPr>
          <p:cNvSpPr txBox="1"/>
          <p:nvPr/>
        </p:nvSpPr>
        <p:spPr>
          <a:xfrm>
            <a:off x="6113458" y="1150352"/>
            <a:ext cx="18720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Topics Like to Hear More</a:t>
            </a:r>
          </a:p>
        </p:txBody>
      </p:sp>
      <p:sp>
        <p:nvSpPr>
          <p:cNvPr id="45" name="Google Shape;229;p3">
            <a:extLst>
              <a:ext uri="{FF2B5EF4-FFF2-40B4-BE49-F238E27FC236}">
                <a16:creationId xmlns:a16="http://schemas.microsoft.com/office/drawing/2014/main" id="{C129B994-4D0F-5C04-91C4-395D52DE4B18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PERSONAL</a:t>
            </a:r>
          </a:p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PROMOTION MODULE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12" name="Textbox_series_2">
            <a:extLst>
              <a:ext uri="{FF2B5EF4-FFF2-40B4-BE49-F238E27FC236}">
                <a16:creationId xmlns:a16="http://schemas.microsoft.com/office/drawing/2014/main" id="{30898435-C3CD-2B29-4DFB-0C2DBE80198B}"/>
              </a:ext>
            </a:extLst>
          </p:cNvPr>
          <p:cNvSpPr txBox="1"/>
          <p:nvPr/>
        </p:nvSpPr>
        <p:spPr>
          <a:xfrm flipH="1">
            <a:off x="4090778" y="1356822"/>
            <a:ext cx="1005840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lvl="0" algn="ctr">
              <a:defRPr/>
            </a:pPr>
            <a:r>
              <a:rPr lang="en-IN" sz="1000" b="1">
                <a:solidFill>
                  <a:srgbClr val="F75824"/>
                </a:solidFill>
                <a:latin typeface="Johnson Display"/>
                <a:ea typeface="Verdana" panose="020B0604030504040204" pitchFamily="34" charset="0"/>
              </a:rPr>
              <a:t>RYB+LAZ</a:t>
            </a:r>
          </a:p>
        </p:txBody>
      </p:sp>
      <p:sp>
        <p:nvSpPr>
          <p:cNvPr id="14" name="Textbox_series_2">
            <a:extLst>
              <a:ext uri="{FF2B5EF4-FFF2-40B4-BE49-F238E27FC236}">
                <a16:creationId xmlns:a16="http://schemas.microsoft.com/office/drawing/2014/main" id="{0C00327E-46FD-E121-EE64-EC535EA93D6C}"/>
              </a:ext>
            </a:extLst>
          </p:cNvPr>
          <p:cNvSpPr txBox="1"/>
          <p:nvPr/>
        </p:nvSpPr>
        <p:spPr>
          <a:xfrm flipH="1">
            <a:off x="4889512" y="1356822"/>
            <a:ext cx="965062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1258B3-4D52-64D1-A67C-E10E620DD2E1}"/>
              </a:ext>
            </a:extLst>
          </p:cNvPr>
          <p:cNvSpPr txBox="1"/>
          <p:nvPr/>
        </p:nvSpPr>
        <p:spPr>
          <a:xfrm>
            <a:off x="7872935" y="1065714"/>
            <a:ext cx="1698173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Topics Recalled</a:t>
            </a:r>
            <a:b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</a:b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Q3'25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Q4'25</a:t>
            </a:r>
            <a:endParaRPr kumimoji="0" lang="en-IN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21" name="Attribute Ratings">
            <a:extLst>
              <a:ext uri="{FF2B5EF4-FFF2-40B4-BE49-F238E27FC236}">
                <a16:creationId xmlns:a16="http://schemas.microsoft.com/office/drawing/2014/main" id="{AD35C60F-DCCC-E7C8-52C3-2417496E17B6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42978991"/>
              </p:ext>
            </p:extLst>
          </p:nvPr>
        </p:nvGraphicFramePr>
        <p:xfrm>
          <a:off x="8174049" y="1637923"/>
          <a:ext cx="1032000" cy="45719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00">
                  <a:extLst>
                    <a:ext uri="{9D8B030D-6E8A-4147-A177-3AD203B41FA5}">
                      <a16:colId xmlns:a16="http://schemas.microsoft.com/office/drawing/2014/main" val="2887132242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  <a:endParaRPr lang="en-IN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accent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accent1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ea typeface="+mn-ea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+8%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+6%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-4%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  <a:endParaRPr lang="en-IN" sz="9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-15%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89857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-6%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4812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-7%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357826"/>
                  </a:ext>
                </a:extLst>
              </a:tr>
            </a:tbl>
          </a:graphicData>
        </a:graphic>
      </p:graphicFrame>
      <p:sp>
        <p:nvSpPr>
          <p:cNvPr id="22" name="Textbox_series_2">
            <a:extLst>
              <a:ext uri="{FF2B5EF4-FFF2-40B4-BE49-F238E27FC236}">
                <a16:creationId xmlns:a16="http://schemas.microsoft.com/office/drawing/2014/main" id="{593052F4-CFB9-9C0C-74A1-444421C535C1}"/>
              </a:ext>
            </a:extLst>
          </p:cNvPr>
          <p:cNvSpPr txBox="1"/>
          <p:nvPr/>
        </p:nvSpPr>
        <p:spPr>
          <a:xfrm flipH="1">
            <a:off x="7932716" y="1378088"/>
            <a:ext cx="1005840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</a:p>
        </p:txBody>
      </p:sp>
      <p:sp>
        <p:nvSpPr>
          <p:cNvPr id="23" name="Textbox_series_2">
            <a:extLst>
              <a:ext uri="{FF2B5EF4-FFF2-40B4-BE49-F238E27FC236}">
                <a16:creationId xmlns:a16="http://schemas.microsoft.com/office/drawing/2014/main" id="{632C877C-44BF-C716-4BCD-BCF0F545DF20}"/>
              </a:ext>
            </a:extLst>
          </p:cNvPr>
          <p:cNvSpPr txBox="1"/>
          <p:nvPr/>
        </p:nvSpPr>
        <p:spPr>
          <a:xfrm flipH="1">
            <a:off x="8516820" y="1378088"/>
            <a:ext cx="965062" cy="3418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00D929-24B4-DE4D-53E6-947E0D513C57}"/>
              </a:ext>
            </a:extLst>
          </p:cNvPr>
          <p:cNvGrpSpPr/>
          <p:nvPr/>
        </p:nvGrpSpPr>
        <p:grpSpPr>
          <a:xfrm>
            <a:off x="10192864" y="3678623"/>
            <a:ext cx="1098284" cy="840970"/>
            <a:chOff x="9946932" y="3196210"/>
            <a:chExt cx="1098284" cy="840970"/>
          </a:xfrm>
        </p:grpSpPr>
        <p:sp>
          <p:nvSpPr>
            <p:cNvPr id="2" name="Textbox_series_2">
              <a:extLst>
                <a:ext uri="{FF2B5EF4-FFF2-40B4-BE49-F238E27FC236}">
                  <a16:creationId xmlns:a16="http://schemas.microsoft.com/office/drawing/2014/main" id="{E7C8CA97-21ED-2485-AC51-8410F55E76F2}"/>
                </a:ext>
              </a:extLst>
            </p:cNvPr>
            <p:cNvSpPr txBox="1"/>
            <p:nvPr/>
          </p:nvSpPr>
          <p:spPr>
            <a:xfrm flipH="1">
              <a:off x="10080154" y="3196210"/>
              <a:ext cx="965062" cy="341856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RYB+LAZ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/>
                  <a:cs typeface="+mn-cs"/>
                </a:rPr>
                <a:t>(s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/>
                  <a:cs typeface="+mn-cs"/>
                </a:rPr>
                <a:t> = 100</a:t>
              </a: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/>
                  <a:cs typeface="+mn-cs"/>
                </a:rPr>
                <a:t>) 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5" name="Legend_series_2">
              <a:extLst>
                <a:ext uri="{FF2B5EF4-FFF2-40B4-BE49-F238E27FC236}">
                  <a16:creationId xmlns:a16="http://schemas.microsoft.com/office/drawing/2014/main" id="{AD472198-F947-823C-1BD7-001DA7347CE8}"/>
                </a:ext>
              </a:extLst>
            </p:cNvPr>
            <p:cNvSpPr/>
            <p:nvPr/>
          </p:nvSpPr>
          <p:spPr>
            <a:xfrm>
              <a:off x="9946932" y="3331391"/>
              <a:ext cx="108000" cy="108000"/>
            </a:xfrm>
            <a:prstGeom prst="ellipse">
              <a:avLst/>
            </a:prstGeom>
            <a:solidFill>
              <a:srgbClr val="F758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9" name="Textbox_series_2">
              <a:extLst>
                <a:ext uri="{FF2B5EF4-FFF2-40B4-BE49-F238E27FC236}">
                  <a16:creationId xmlns:a16="http://schemas.microsoft.com/office/drawing/2014/main" id="{D942B2F6-2D2C-A6A1-3217-8D02A2130A64}"/>
                </a:ext>
              </a:extLst>
            </p:cNvPr>
            <p:cNvSpPr txBox="1"/>
            <p:nvPr/>
          </p:nvSpPr>
          <p:spPr>
            <a:xfrm flipH="1">
              <a:off x="10060762" y="3695324"/>
              <a:ext cx="965061" cy="341856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Autofit/>
            </a:bodyPr>
            <a:lstStyle>
              <a:defPPr>
                <a:defRPr lang="en-GB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spc="0" normalizeH="0" baseline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TAGRISSO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(s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 = 73</a:t>
              </a: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+mn-cs"/>
                </a:rPr>
                <a:t>) </a:t>
              </a:r>
            </a:p>
          </p:txBody>
        </p:sp>
        <p:sp>
          <p:nvSpPr>
            <p:cNvPr id="11" name="Legend_series_2">
              <a:extLst>
                <a:ext uri="{FF2B5EF4-FFF2-40B4-BE49-F238E27FC236}">
                  <a16:creationId xmlns:a16="http://schemas.microsoft.com/office/drawing/2014/main" id="{EEEBF211-1628-1209-8836-46679CBEC73F}"/>
                </a:ext>
              </a:extLst>
            </p:cNvPr>
            <p:cNvSpPr/>
            <p:nvPr/>
          </p:nvSpPr>
          <p:spPr>
            <a:xfrm>
              <a:off x="9946932" y="3829234"/>
              <a:ext cx="108000" cy="108000"/>
            </a:xfrm>
            <a:prstGeom prst="ellipse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835CA7FD-D8BD-A29E-CBEA-343062898B90}"/>
              </a:ext>
            </a:extLst>
          </p:cNvPr>
          <p:cNvSpPr/>
          <p:nvPr/>
        </p:nvSpPr>
        <p:spPr>
          <a:xfrm>
            <a:off x="8066565" y="6389064"/>
            <a:ext cx="144001" cy="143999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B3313B-2CFC-E3D5-F75B-6A7015D1A34D}"/>
              </a:ext>
            </a:extLst>
          </p:cNvPr>
          <p:cNvSpPr/>
          <p:nvPr/>
        </p:nvSpPr>
        <p:spPr>
          <a:xfrm>
            <a:off x="8032068" y="2101064"/>
            <a:ext cx="144001" cy="143999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6319656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676CF776-0C7C-FED5-8D15-CCC1FAEF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hape_64180625">
            <a:extLst>
              <a:ext uri="{FF2B5EF4-FFF2-40B4-BE49-F238E27FC236}">
                <a16:creationId xmlns:a16="http://schemas.microsoft.com/office/drawing/2014/main" id="{BD4D7FE0-381C-2803-DF09-3A0FB0500A74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054021"/>
              </p:ext>
            </p:extLst>
          </p:nvPr>
        </p:nvGraphicFramePr>
        <p:xfrm>
          <a:off x="2817835" y="2031608"/>
          <a:ext cx="2232000" cy="38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2" name="Google Shape;504;p12">
            <a:extLst>
              <a:ext uri="{FF2B5EF4-FFF2-40B4-BE49-F238E27FC236}">
                <a16:creationId xmlns:a16="http://schemas.microsoft.com/office/drawing/2014/main" id="{AB972AA4-E28D-B3C2-45DC-8A355514A9A8}"/>
              </a:ext>
            </a:extLst>
          </p:cNvPr>
          <p:cNvSpPr txBox="1"/>
          <p:nvPr/>
        </p:nvSpPr>
        <p:spPr>
          <a:xfrm>
            <a:off x="421367" y="1197585"/>
            <a:ext cx="11279893" cy="2716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MESSAGE RECALL – PERSONAL PROMOTIONS AND NON-SALES REP PROMOTIONS –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75824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RYB+LAZ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 –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FDC4230D-1C56-AC71-6770-6E6659B9CF1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85" y="1068760"/>
            <a:ext cx="248400" cy="248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1DCE185-E548-17E7-9C9C-1F8C53D313F6}"/>
              </a:ext>
            </a:extLst>
          </p:cNvPr>
          <p:cNvSpPr txBox="1"/>
          <p:nvPr/>
        </p:nvSpPr>
        <p:spPr>
          <a:xfrm>
            <a:off x="2766054" y="5959332"/>
            <a:ext cx="26562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% of Promotions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0FAE57-20B0-44BA-C7E2-E0D7934A7EF8}"/>
              </a:ext>
            </a:extLst>
          </p:cNvPr>
          <p:cNvSpPr txBox="1"/>
          <p:nvPr/>
        </p:nvSpPr>
        <p:spPr>
          <a:xfrm>
            <a:off x="7690021" y="5792421"/>
            <a:ext cx="1741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Ind. Avg. : 35%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CEEBD1-A256-5617-464D-395569AE127E}"/>
              </a:ext>
            </a:extLst>
          </p:cNvPr>
          <p:cNvSpPr>
            <a:spLocks noGrp="1"/>
          </p:cNvSpPr>
          <p:nvPr/>
        </p:nvSpPr>
        <p:spPr>
          <a:xfrm>
            <a:off x="101246" y="98705"/>
            <a:ext cx="12059288" cy="899221"/>
          </a:xfrm>
          <a:prstGeom prst="rect">
            <a:avLst/>
          </a:prstGeom>
        </p:spPr>
        <p:txBody>
          <a:bodyPr vert="horz" lIns="91392" tIns="45696" rIns="91392" bIns="45696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69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9357A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A7FCACA5-C76D-3499-D790-11068614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9B1F3-5E32-4F45-B253-7C860F10CE41}"/>
              </a:ext>
            </a:extLst>
          </p:cNvPr>
          <p:cNvSpPr txBox="1"/>
          <p:nvPr/>
        </p:nvSpPr>
        <p:spPr>
          <a:xfrm>
            <a:off x="2401964" y="6201486"/>
            <a:ext cx="9360000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>
              <a:buClr>
                <a:srgbClr val="7F7F7F"/>
              </a:buClr>
              <a:buSzPts val="900"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Verdana"/>
              </a:rPr>
              <a:t>Question text in speaker notes | ^Complete message text in speaker notes | Industry average definitions found in slide 4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| No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statistically significant difference with a 95% confidence interval between the message recall of personal and non-sales rep promotions | </a:t>
            </a: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+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/</a:t>
            </a: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-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 denotes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increase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/ 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decrease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 of greater than 5% from the previous quarter |      Denotes statistically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significant difference with a 95% confidence interval between the latest two quarters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FDFFC3"/>
                </a:highlight>
                <a:latin typeface="Johnson Text" panose="020B0604020202020204" charset="0"/>
                <a:cs typeface="Johnson Text" panose="020B0604020202020204" charset="0"/>
              </a:rPr>
              <a:t>Messages edited during end of Oct’25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</a:rPr>
              <a:t>|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highlight>
                  <a:srgbClr val="DCF4C4"/>
                </a:highlight>
                <a:latin typeface="Johnson Text" panose="020B0604020202020204" charset="0"/>
                <a:cs typeface="Johnson Text" panose="020B0604020202020204" charset="0"/>
              </a:rPr>
              <a:t>Messages added in Nov’25 (s=115, 71)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  <a:sym typeface="Verdana"/>
            </a:endParaRPr>
          </a:p>
        </p:txBody>
      </p:sp>
      <p:graphicFrame>
        <p:nvGraphicFramePr>
          <p:cNvPr id="12" name="Theme">
            <a:extLst>
              <a:ext uri="{FF2B5EF4-FFF2-40B4-BE49-F238E27FC236}">
                <a16:creationId xmlns:a16="http://schemas.microsoft.com/office/drawing/2014/main" id="{0DF8EB5B-F536-8784-6AC3-A06521E83A7B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26317600"/>
              </p:ext>
            </p:extLst>
          </p:nvPr>
        </p:nvGraphicFramePr>
        <p:xfrm>
          <a:off x="5046697" y="2031608"/>
          <a:ext cx="2556000" cy="38160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Indication</a:t>
                      </a:r>
                      <a:endParaRPr lang="en-US" sz="1000" b="0">
                        <a:effectLst/>
                        <a:latin typeface="Johnson Text" panose="020B0604020202020204" charset="0"/>
                        <a:ea typeface="Arial" panose="020B0604020202020204" pitchFamily="3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NCCN – NSCLC</a:t>
                      </a:r>
                      <a:endParaRPr lang="en-US" sz="1000" b="0">
                        <a:effectLst/>
                        <a:latin typeface="Johnson Text" panose="020B0604020202020204" charset="0"/>
                        <a:ea typeface="Arial" panose="020B0604020202020204" pitchFamily="3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MOA – Inhibition</a:t>
                      </a:r>
                      <a:endParaRPr lang="en-US" sz="1000" b="0" dirty="0">
                        <a:effectLst/>
                        <a:latin typeface="Johnson Text" panose="020B0604020202020204" charset="0"/>
                        <a:ea typeface="Arial" panose="020B0604020202020204" pitchFamily="3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NCCN – CNS</a:t>
                      </a:r>
                      <a:endParaRPr lang="en-US" sz="1000" b="0" i="0">
                        <a:solidFill>
                          <a:schemeClr val="tx1"/>
                        </a:solidFill>
                        <a:effectLst/>
                        <a:latin typeface="Johnson Text" panose="020B0604020202020204" charset="0"/>
                        <a:ea typeface="Arial" panose="020B0604020202020204" pitchFamily="3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4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>
                          <a:latin typeface="Johnson Text" panose="020B0604020202020204" charset="0"/>
                          <a:cs typeface="Johnson Text" panose="020B0604020202020204" charset="0"/>
                        </a:rPr>
                        <a:t>Safety – Proactive Therapy Management</a:t>
                      </a:r>
                      <a:endParaRPr lang="en-IN" sz="1000" b="0" i="0" u="none" strike="noStrike" baseline="30000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Efficacy – mPFS</a:t>
                      </a:r>
                      <a:endParaRPr lang="en-US" sz="1000" b="0">
                        <a:effectLst/>
                        <a:latin typeface="Johnson Text" panose="020B0604020202020204" charset="0"/>
                        <a:ea typeface="Arial" panose="020B0604020202020204" pitchFamily="3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Efficacy - OS Headline</a:t>
                      </a:r>
                      <a:endParaRPr lang="en-US" sz="1000" b="0">
                        <a:effectLst/>
                        <a:latin typeface="Johnson Text" panose="020B0604020202020204" charset="0"/>
                        <a:ea typeface="Arial" panose="020B0604020202020204" pitchFamily="3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44438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Efficacy – CNS</a:t>
                      </a:r>
                      <a:endParaRPr lang="en-US" sz="1000" b="0">
                        <a:effectLst/>
                        <a:latin typeface="Johnson Text" panose="020B0604020202020204" charset="0"/>
                        <a:ea typeface="Arial" panose="020B0604020202020204" pitchFamily="34" charset="0"/>
                        <a:cs typeface="Johnson Text" panose="020B060402020202020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715198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Efficacy - mOS Not Reached</a:t>
                      </a: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4435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effectLst/>
                          <a:latin typeface="Johnson Text" panose="020B0604020202020204" charset="0"/>
                          <a:ea typeface="Arial" panose="020B0604020202020204" pitchFamily="34" charset="0"/>
                          <a:cs typeface="Johnson Text" panose="020B0604020202020204" charset="0"/>
                        </a:rPr>
                        <a:t>Safety – ARs</a:t>
                      </a: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06681"/>
                  </a:ext>
                </a:extLst>
              </a:tr>
            </a:tbl>
          </a:graphicData>
        </a:graphic>
      </p:graphicFrame>
      <p:graphicFrame>
        <p:nvGraphicFramePr>
          <p:cNvPr id="13" name="Shape_78881007">
            <a:extLst>
              <a:ext uri="{FF2B5EF4-FFF2-40B4-BE49-F238E27FC236}">
                <a16:creationId xmlns:a16="http://schemas.microsoft.com/office/drawing/2014/main" id="{1E3D6039-9C80-64EF-82BD-4E4DCBEBFA3E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8902331"/>
              </p:ext>
            </p:extLst>
          </p:nvPr>
        </p:nvGraphicFramePr>
        <p:xfrm>
          <a:off x="7558036" y="2031608"/>
          <a:ext cx="2232000" cy="38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EA7121B-0155-11D4-AF49-7AC3AD40FD56}"/>
              </a:ext>
            </a:extLst>
          </p:cNvPr>
          <p:cNvSpPr txBox="1"/>
          <p:nvPr/>
        </p:nvSpPr>
        <p:spPr>
          <a:xfrm>
            <a:off x="7529024" y="1617042"/>
            <a:ext cx="2290025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Personal Promotions Recall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</a:t>
            </a:r>
            <a:r>
              <a:rPr lang="en-IN" sz="1000">
                <a:solidFill>
                  <a:srgbClr val="505050">
                    <a:lumMod val="50000"/>
                  </a:srgbClr>
                </a:solidFill>
                <a:latin typeface="Johnson Text"/>
                <a:ea typeface="Verdana" panose="020B0604030504040204" pitchFamily="34" charset="0"/>
              </a:rPr>
              <a:t>100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44D8DB-C80F-54C1-B7DA-752E4AC4937D}"/>
              </a:ext>
            </a:extLst>
          </p:cNvPr>
          <p:cNvSpPr txBox="1"/>
          <p:nvPr/>
        </p:nvSpPr>
        <p:spPr>
          <a:xfrm>
            <a:off x="2656141" y="1624736"/>
            <a:ext cx="2571841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Non-Sales Rep Promotions Recall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(s = 149)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D91C36-346D-A124-41EC-1B41BA80F9A4}"/>
              </a:ext>
            </a:extLst>
          </p:cNvPr>
          <p:cNvSpPr txBox="1"/>
          <p:nvPr/>
        </p:nvSpPr>
        <p:spPr>
          <a:xfrm>
            <a:off x="7162769" y="5959332"/>
            <a:ext cx="26562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Arial"/>
                <a:sym typeface="Arial"/>
              </a:rPr>
              <a:t>% of Interactions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774376-4CD5-3847-6C65-A34E54BCDF44}"/>
              </a:ext>
            </a:extLst>
          </p:cNvPr>
          <p:cNvCxnSpPr>
            <a:cxnSpLocks/>
          </p:cNvCxnSpPr>
          <p:nvPr/>
        </p:nvCxnSpPr>
        <p:spPr>
          <a:xfrm flipV="1">
            <a:off x="8378462" y="2084421"/>
            <a:ext cx="0" cy="3708000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E38934-70FB-ACE6-FCF4-E88BBD3B6F7E}"/>
              </a:ext>
            </a:extLst>
          </p:cNvPr>
          <p:cNvSpPr txBox="1"/>
          <p:nvPr/>
        </p:nvSpPr>
        <p:spPr>
          <a:xfrm>
            <a:off x="3153985" y="5792421"/>
            <a:ext cx="1741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Ind. Avg. : 33%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Johnson Text"/>
              <a:ea typeface="Verdana" panose="020B0604030504040204" pitchFamily="34" charset="0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285E78-E91A-722C-4ED4-C1683B2AEDE3}"/>
              </a:ext>
            </a:extLst>
          </p:cNvPr>
          <p:cNvCxnSpPr>
            <a:cxnSpLocks/>
          </p:cNvCxnSpPr>
          <p:nvPr/>
        </p:nvCxnSpPr>
        <p:spPr>
          <a:xfrm flipV="1">
            <a:off x="4310917" y="2077476"/>
            <a:ext cx="0" cy="3708000"/>
          </a:xfrm>
          <a:prstGeom prst="line">
            <a:avLst/>
          </a:prstGeom>
          <a:ln w="63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3629D7-3C8F-733C-A21E-5DC88DE37C5F}"/>
              </a:ext>
            </a:extLst>
          </p:cNvPr>
          <p:cNvSpPr txBox="1"/>
          <p:nvPr/>
        </p:nvSpPr>
        <p:spPr>
          <a:xfrm>
            <a:off x="5814065" y="1701680"/>
            <a:ext cx="102126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Tag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^</a:t>
            </a:r>
            <a:endParaRPr kumimoji="0" lang="en-IN" sz="11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Google Shape;229;p3">
            <a:extLst>
              <a:ext uri="{FF2B5EF4-FFF2-40B4-BE49-F238E27FC236}">
                <a16:creationId xmlns:a16="http://schemas.microsoft.com/office/drawing/2014/main" id="{99DEA0C0-B155-D437-DA8C-C5BEA2DB861B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graphicFrame>
        <p:nvGraphicFramePr>
          <p:cNvPr id="15" name="Shape_57178138">
            <a:extLst>
              <a:ext uri="{FF2B5EF4-FFF2-40B4-BE49-F238E27FC236}">
                <a16:creationId xmlns:a16="http://schemas.microsoft.com/office/drawing/2014/main" id="{81490E68-D487-4C9C-56A4-280FE5D8E0DC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66028687"/>
              </p:ext>
            </p:extLst>
          </p:nvPr>
        </p:nvGraphicFramePr>
        <p:xfrm>
          <a:off x="9385830" y="2031608"/>
          <a:ext cx="349544" cy="38160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49544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Johnson Text" panose="020B0604020202020204" charset="0"/>
                        <a:ea typeface="+mn-ea"/>
                        <a:cs typeface="Johnson Text" panose="020B060402020202020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1043107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4044438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57273372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00082632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EC905C66-8BA8-C005-EC3F-54E2C67B999C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RYB+LAZ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achieves comparable message recall across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promotional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channels, signaling strong execution consistency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,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whereas NCCN-CNS recall skews 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moderately higher </a:t>
            </a:r>
            <a:r>
              <a:rPr lang="en-US" sz="1800">
                <a:solidFill>
                  <a:srgbClr val="FF0000"/>
                </a:solidFill>
                <a:latin typeface="Johnson Display"/>
                <a:ea typeface="Verdana"/>
              </a:rPr>
              <a:t>through non-personal</a:t>
            </a:r>
            <a:r>
              <a:rPr lang="en-US" sz="1800" dirty="0">
                <a:solidFill>
                  <a:srgbClr val="FF0000"/>
                </a:solidFill>
                <a:latin typeface="Johnson Display"/>
                <a:ea typeface="Verdana"/>
              </a:rPr>
              <a:t> channels</a:t>
            </a:r>
          </a:p>
        </p:txBody>
      </p:sp>
      <p:graphicFrame>
        <p:nvGraphicFramePr>
          <p:cNvPr id="18" name="Shape_5119743">
            <a:extLst>
              <a:ext uri="{FF2B5EF4-FFF2-40B4-BE49-F238E27FC236}">
                <a16:creationId xmlns:a16="http://schemas.microsoft.com/office/drawing/2014/main" id="{7664BE00-6A61-A07A-A708-5E9E7BA3E9C0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793074270"/>
              </p:ext>
            </p:extLst>
          </p:nvPr>
        </p:nvGraphicFramePr>
        <p:xfrm>
          <a:off x="2854825" y="2031608"/>
          <a:ext cx="431337" cy="38160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31337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61043107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4044438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45083749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15848735"/>
                  </a:ext>
                </a:extLst>
              </a:tr>
            </a:tbl>
          </a:graphicData>
        </a:graphic>
      </p:graphicFrame>
      <p:sp>
        <p:nvSpPr>
          <p:cNvPr id="7" name="Google Shape;229;p3">
            <a:extLst>
              <a:ext uri="{FF2B5EF4-FFF2-40B4-BE49-F238E27FC236}">
                <a16:creationId xmlns:a16="http://schemas.microsoft.com/office/drawing/2014/main" id="{A0899EDC-1B12-CF3A-8F9C-44766E991C0F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3CF0FE-9C8D-4C55-0315-21FBDEC7DC27}"/>
              </a:ext>
            </a:extLst>
          </p:cNvPr>
          <p:cNvSpPr/>
          <p:nvPr/>
        </p:nvSpPr>
        <p:spPr>
          <a:xfrm>
            <a:off x="9802559" y="4443994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5ACA9B0-8E86-E7AA-23C1-316E5DBF1372}"/>
              </a:ext>
            </a:extLst>
          </p:cNvPr>
          <p:cNvSpPr/>
          <p:nvPr/>
        </p:nvSpPr>
        <p:spPr>
          <a:xfrm>
            <a:off x="10540258" y="6528393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4" name="Highlight#25">
            <a:extLst>
              <a:ext uri="{FF2B5EF4-FFF2-40B4-BE49-F238E27FC236}">
                <a16:creationId xmlns:a16="http://schemas.microsoft.com/office/drawing/2014/main" id="{E58F38EB-D474-B99B-1C25-056F740088DE}"/>
              </a:ext>
            </a:extLst>
          </p:cNvPr>
          <p:cNvSpPr txBox="1"/>
          <p:nvPr/>
        </p:nvSpPr>
        <p:spPr>
          <a:xfrm>
            <a:off x="2828926" y="3156540"/>
            <a:ext cx="7067550" cy="415498"/>
          </a:xfrm>
          <a:prstGeom prst="rect">
            <a:avLst/>
          </a:prstGeom>
          <a:noFill/>
          <a:ln w="190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9533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F7C75-00A3-42A4-DA45-58AD27129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D6A0C-C5AE-BDD7-69A4-2666635E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oogle Shape;504;p12">
            <a:extLst>
              <a:ext uri="{FF2B5EF4-FFF2-40B4-BE49-F238E27FC236}">
                <a16:creationId xmlns:a16="http://schemas.microsoft.com/office/drawing/2014/main" id="{C0070BFA-16CF-221E-5916-C6D69ED81B1C}"/>
              </a:ext>
            </a:extLst>
          </p:cNvPr>
          <p:cNvSpPr txBox="1"/>
          <p:nvPr/>
        </p:nvSpPr>
        <p:spPr>
          <a:xfrm>
            <a:off x="421367" y="1197435"/>
            <a:ext cx="11279893" cy="27190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138" tIns="45556" rIns="91138" bIns="45556" anchor="ctr" anchorCtr="0">
            <a:spAutoFit/>
          </a:bodyPr>
          <a:lstStyle/>
          <a:p>
            <a:pPr marL="0" marR="0" lvl="0" indent="0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GENERAL ACTIONS TAKEN after VIEWING </a:t>
            </a:r>
            <a:r>
              <a:rPr kumimoji="0" lang="it-IT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/>
                <a:cs typeface="+mn-cs"/>
              </a:rPr>
              <a:t>NON-SALES REP PROMOTIONS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– Q4'25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75824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9EEA727-D850-4AE7-1791-D497DE5D3A2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5" y="1064780"/>
            <a:ext cx="247755" cy="247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D02C59-0A65-4578-34E1-5ADA2659D3AE}"/>
              </a:ext>
            </a:extLst>
          </p:cNvPr>
          <p:cNvSpPr txBox="1"/>
          <p:nvPr/>
        </p:nvSpPr>
        <p:spPr>
          <a:xfrm>
            <a:off x="2401964" y="6201486"/>
            <a:ext cx="8715404" cy="65651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lvl="0">
              <a:buClr>
                <a:srgbClr val="7F7F7F"/>
              </a:buClr>
              <a:buSzPts val="900"/>
              <a:defRPr/>
            </a:pP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Question text in speaker notes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 |      Denotes significant difference with a 95% confidence interval between </a:t>
            </a:r>
            <a:r>
              <a:rPr kumimoji="1" lang="en-US" sz="900" i="1" kern="0" dirty="0">
                <a:solidFill>
                  <a:srgbClr val="FFFFFF">
                    <a:lumMod val="50000"/>
                  </a:srgbClr>
                </a:solidFill>
                <a:latin typeface="Johnson Text" panose="020B0604020202020204" charset="0"/>
                <a:cs typeface="Johnson Text" panose="020B0604020202020204" charset="0"/>
                <a:sym typeface="Verdana"/>
              </a:rPr>
              <a:t>RYB+LAZ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  <a:sym typeface="Verdana"/>
              </a:rPr>
              <a:t> and TAG | </a:t>
            </a:r>
            <a:r>
              <a:rPr kumimoji="1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Johnson Text" panose="020B0604020202020204" charset="0"/>
                <a:cs typeface="Johnson Text" panose="020B0604020202020204" charset="0"/>
              </a:rPr>
              <a:t>s corresponds to the total number of promotions |      </a:t>
            </a:r>
            <a:r>
              <a:rPr lang="en-US" sz="900" i="1" dirty="0">
                <a:solidFill>
                  <a:srgbClr val="7F7F7F"/>
                </a:solidFill>
                <a:latin typeface="Johnson Text" panose="020B0604020202020204" charset="0"/>
                <a:ea typeface="Verdana" panose="020B0604030504040204" pitchFamily="34" charset="0"/>
                <a:cs typeface="Johnson Text" panose="020B0604020202020204" charset="0"/>
              </a:rPr>
              <a:t>Denotes statistically </a:t>
            </a:r>
            <a:r>
              <a:rPr kumimoji="1" lang="en-US" sz="900" i="1" kern="0" dirty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significant difference with a 95% confidence interval between the latest two quarters </a:t>
            </a:r>
            <a:r>
              <a:rPr kumimoji="1" lang="en-US" sz="900" i="1" kern="0" dirty="0">
                <a:solidFill>
                  <a:srgbClr val="7F7F7F"/>
                </a:solidFill>
              </a:rPr>
              <a:t>| </a:t>
            </a:r>
            <a:r>
              <a:rPr lang="en-US" sz="900" b="1" i="1" dirty="0">
                <a:solidFill>
                  <a:srgbClr val="00B050"/>
                </a:solidFill>
                <a:ea typeface="Verdana" panose="020B0604030504040204" pitchFamily="34" charset="0"/>
              </a:rPr>
              <a:t>+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/</a:t>
            </a:r>
            <a:r>
              <a:rPr lang="en-US" sz="900" b="1" i="1" dirty="0">
                <a:solidFill>
                  <a:srgbClr val="FF0000"/>
                </a:solidFill>
                <a:ea typeface="Verdana" panose="020B0604030504040204" pitchFamily="34" charset="0"/>
              </a:rPr>
              <a:t>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-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 denotes </a:t>
            </a:r>
            <a:r>
              <a:rPr lang="en-US" sz="900" i="1" dirty="0">
                <a:solidFill>
                  <a:srgbClr val="00B050"/>
                </a:solidFill>
                <a:ea typeface="Verdana" panose="020B0604030504040204" pitchFamily="34" charset="0"/>
              </a:rPr>
              <a:t>increase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/ </a:t>
            </a:r>
            <a:r>
              <a:rPr lang="en-US" sz="900" i="1" dirty="0">
                <a:solidFill>
                  <a:srgbClr val="FF0000"/>
                </a:solidFill>
                <a:ea typeface="Verdana" panose="020B0604030504040204" pitchFamily="34" charset="0"/>
              </a:rPr>
              <a:t>decrease</a:t>
            </a:r>
            <a:r>
              <a:rPr lang="en-US" sz="900" i="1" dirty="0">
                <a:solidFill>
                  <a:srgbClr val="7F7F7F"/>
                </a:solidFill>
                <a:ea typeface="Verdana" panose="020B0604030504040204" pitchFamily="34" charset="0"/>
              </a:rPr>
              <a:t> of greater than 5% from the previous quarter </a:t>
            </a:r>
            <a:endParaRPr kumimoji="1" lang="en-US" sz="9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 panose="020B0604020202020204" charset="0"/>
              <a:cs typeface="Johnson Text" panose="020B0604020202020204" charset="0"/>
              <a:sym typeface="Verdana"/>
            </a:endParaRPr>
          </a:p>
        </p:txBody>
      </p:sp>
      <p:graphicFrame>
        <p:nvGraphicFramePr>
          <p:cNvPr id="9" name="Actions_Table">
            <a:extLst>
              <a:ext uri="{FF2B5EF4-FFF2-40B4-BE49-F238E27FC236}">
                <a16:creationId xmlns:a16="http://schemas.microsoft.com/office/drawing/2014/main" id="{6319772F-3C96-8316-8EAB-35B728712E73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235707"/>
              </p:ext>
            </p:extLst>
          </p:nvPr>
        </p:nvGraphicFramePr>
        <p:xfrm>
          <a:off x="891505" y="1801201"/>
          <a:ext cx="5864040" cy="4338456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592903">
                  <a:extLst>
                    <a:ext uri="{9D8B030D-6E8A-4147-A177-3AD203B41FA5}">
                      <a16:colId xmlns:a16="http://schemas.microsoft.com/office/drawing/2014/main" val="2034393533"/>
                    </a:ext>
                  </a:extLst>
                </a:gridCol>
                <a:gridCol w="4271137">
                  <a:extLst>
                    <a:ext uri="{9D8B030D-6E8A-4147-A177-3AD203B41FA5}">
                      <a16:colId xmlns:a16="http://schemas.microsoft.com/office/drawing/2014/main" val="421684301"/>
                    </a:ext>
                  </a:extLst>
                </a:gridCol>
              </a:tblGrid>
              <a:tr h="36153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Seek more knowledge of product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Researched the product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468508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pPr algn="r" fontAlgn="ctr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Read the prescribing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915456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pPr algn="r" fontAlgn="ctr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Reviewed product website / videos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172717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Read a publication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733566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Sign-up for or attend a presentation / speaker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855662"/>
                  </a:ext>
                </a:extLst>
              </a:tr>
              <a:tr h="36153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Verdana" panose="020B0604030504040204" pitchFamily="34" charset="0"/>
                          <a:cs typeface="+mn-cs"/>
                        </a:rPr>
                        <a:t>Engage in communication and follow-up activities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Scheduled a follow-up meeting with a rep or MSL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885881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Directed patient to enroll in patient support program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974350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Schedule a meeting with a clinical nurse educator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727349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Provided contact details in order to receive further information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539264"/>
                  </a:ext>
                </a:extLst>
              </a:tr>
              <a:tr h="3615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Display"/>
                          <a:ea typeface="Verdana" panose="020B0604030504040204" pitchFamily="34" charset="0"/>
                          <a:cs typeface="+mn-cs"/>
                        </a:rPr>
                        <a:t>Prescribe the product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Discuss the product with appropriate patients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239210"/>
                  </a:ext>
                </a:extLst>
              </a:tr>
              <a:tr h="361538"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r" rtl="0" fontAlgn="ctr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Johnson Text" panose="020B0604020202020204" charset="0"/>
                          <a:ea typeface="+mn-ea"/>
                          <a:cs typeface="+mn-cs"/>
                        </a:rPr>
                        <a:t>Share information with colleagues or staff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Johnson Text" panose="020B060402020202020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468618"/>
                  </a:ext>
                </a:extLst>
              </a:tr>
              <a:tr h="3615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Verdana" panose="020B0604030504040204" pitchFamily="34" charset="0"/>
                        </a:rPr>
                        <a:t>Share information with colleagues or staff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Johnson Text" panose="020B0604020202020204" charset="0"/>
                        </a:rPr>
                        <a:t>Prescribed the product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915446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85516C28-4430-302D-104B-7BF526E74E7C}"/>
              </a:ext>
            </a:extLst>
          </p:cNvPr>
          <p:cNvGrpSpPr/>
          <p:nvPr/>
        </p:nvGrpSpPr>
        <p:grpSpPr>
          <a:xfrm>
            <a:off x="6300705" y="1453755"/>
            <a:ext cx="2656280" cy="4929792"/>
            <a:chOff x="4782467" y="1408545"/>
            <a:chExt cx="2656280" cy="50725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EBF8F89-1F84-61B7-B175-C2B1253267EA}"/>
                </a:ext>
              </a:extLst>
            </p:cNvPr>
            <p:cNvGrpSpPr/>
            <p:nvPr/>
          </p:nvGrpSpPr>
          <p:grpSpPr>
            <a:xfrm>
              <a:off x="4965595" y="1408545"/>
              <a:ext cx="2290025" cy="4839155"/>
              <a:chOff x="5028631" y="1404473"/>
              <a:chExt cx="2290025" cy="481913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9459B3-6986-0EC1-58B5-33B03EA4898D}"/>
                  </a:ext>
                </a:extLst>
              </p:cNvPr>
              <p:cNvSpPr txBox="1"/>
              <p:nvPr/>
            </p:nvSpPr>
            <p:spPr>
              <a:xfrm>
                <a:off x="5028631" y="1404473"/>
                <a:ext cx="2290025" cy="41377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75824"/>
                    </a:solidFill>
                    <a:effectLst/>
                    <a:uLnTx/>
                    <a:uFillTx/>
                    <a:latin typeface="Johnson Display"/>
                    <a:ea typeface="Verdana" panose="020B0604030504040204" pitchFamily="34" charset="0"/>
                    <a:cs typeface="+mn-cs"/>
                  </a:rPr>
                  <a:t>RYB+LAZ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(s = 1</a:t>
                </a:r>
                <a:r>
                  <a:rPr lang="en-IN" sz="1000">
                    <a:solidFill>
                      <a:srgbClr val="505050">
                        <a:lumMod val="50000"/>
                      </a:srgbClr>
                    </a:solidFill>
                    <a:latin typeface="Johnson Text"/>
                    <a:ea typeface="Verdana" panose="020B0604030504040204" pitchFamily="34" charset="0"/>
                  </a:rPr>
                  <a:t>49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505050">
                        <a:lumMod val="50000"/>
                      </a:srgbClr>
                    </a:solidFill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)</a:t>
                </a:r>
              </a:p>
            </p:txBody>
          </p:sp>
          <p:graphicFrame>
            <p:nvGraphicFramePr>
              <p:cNvPr id="14" name="RYB_Actions">
                <a:extLst>
                  <a:ext uri="{FF2B5EF4-FFF2-40B4-BE49-F238E27FC236}">
                    <a16:creationId xmlns:a16="http://schemas.microsoft.com/office/drawing/2014/main" id="{AFDD9957-E966-DD61-EC76-A0B5259C04DA}"/>
                  </a:ext>
                </a:extLst>
              </p:cNvPr>
              <p:cNvGraphicFramePr/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4279106194"/>
                  </p:ext>
                </p:extLst>
              </p:nvPr>
            </p:nvGraphicFramePr>
            <p:xfrm>
              <a:off x="5436350" y="1744895"/>
              <a:ext cx="1474586" cy="447871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2C5878-1FE5-74B1-F834-C23265280AFE}"/>
                </a:ext>
              </a:extLst>
            </p:cNvPr>
            <p:cNvSpPr txBox="1"/>
            <p:nvPr/>
          </p:nvSpPr>
          <p:spPr>
            <a:xfrm>
              <a:off x="4782467" y="6234824"/>
              <a:ext cx="265628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505050">
                      <a:lumMod val="50000"/>
                    </a:srgbClr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  <a:sym typeface="Arial"/>
                </a:rPr>
                <a:t>% of Promotions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052F9E6-F050-F375-00BE-7D8EE146B2F7}"/>
              </a:ext>
            </a:extLst>
          </p:cNvPr>
          <p:cNvSpPr txBox="1"/>
          <p:nvPr/>
        </p:nvSpPr>
        <p:spPr>
          <a:xfrm>
            <a:off x="4226866" y="1540061"/>
            <a:ext cx="12240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  <a:cs typeface="+mn-cs"/>
              </a:rPr>
              <a:t>Actions Taken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Display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632B54-A72B-C956-1C1F-C5B841B0EB85}"/>
              </a:ext>
            </a:extLst>
          </p:cNvPr>
          <p:cNvGrpSpPr/>
          <p:nvPr/>
        </p:nvGrpSpPr>
        <p:grpSpPr>
          <a:xfrm>
            <a:off x="8644215" y="1448004"/>
            <a:ext cx="2656280" cy="4935543"/>
            <a:chOff x="4782467" y="1408545"/>
            <a:chExt cx="2656280" cy="508400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A64263D-2ED7-4303-52B4-AD35B79BE7D7}"/>
                </a:ext>
              </a:extLst>
            </p:cNvPr>
            <p:cNvGrpSpPr/>
            <p:nvPr/>
          </p:nvGrpSpPr>
          <p:grpSpPr>
            <a:xfrm>
              <a:off x="4965595" y="1408545"/>
              <a:ext cx="2290025" cy="4850655"/>
              <a:chOff x="5028631" y="1404473"/>
              <a:chExt cx="2290025" cy="4830587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F3CF54-2CD9-AF94-F498-63E89842AADE}"/>
                  </a:ext>
                </a:extLst>
              </p:cNvPr>
              <p:cNvSpPr txBox="1"/>
              <p:nvPr/>
            </p:nvSpPr>
            <p:spPr>
              <a:xfrm>
                <a:off x="5028631" y="1404473"/>
                <a:ext cx="2290025" cy="41377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Johnson Display"/>
                    <a:ea typeface="Verdana" panose="020B0604030504040204" pitchFamily="34" charset="0"/>
                    <a:cs typeface="+mn-cs"/>
                  </a:rPr>
                  <a:t>TAG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(s = </a:t>
                </a:r>
                <a:r>
                  <a:rPr lang="en-IN" sz="1000">
                    <a:latin typeface="Johnson Text"/>
                    <a:ea typeface="Verdana" panose="020B0604030504040204" pitchFamily="34" charset="0"/>
                  </a:rPr>
                  <a:t>100</a:t>
                </a:r>
                <a:r>
                  <a:rPr kumimoji="0" lang="en-IN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Johnson Text"/>
                    <a:ea typeface="Verdana" panose="020B0604030504040204" pitchFamily="34" charset="0"/>
                    <a:cs typeface="+mn-cs"/>
                  </a:rPr>
                  <a:t>)</a:t>
                </a:r>
              </a:p>
            </p:txBody>
          </p:sp>
          <p:graphicFrame>
            <p:nvGraphicFramePr>
              <p:cNvPr id="45" name="RYB_Actions">
                <a:extLst>
                  <a:ext uri="{FF2B5EF4-FFF2-40B4-BE49-F238E27FC236}">
                    <a16:creationId xmlns:a16="http://schemas.microsoft.com/office/drawing/2014/main" id="{DD5D6FEE-8A87-52B8-3FC8-1440492EB5C6}"/>
                  </a:ext>
                </a:extLst>
              </p:cNvPr>
              <p:cNvGraphicFramePr/>
              <p:nvPr>
                <p:custDataLst>
                  <p:tags r:id="rId4"/>
                </p:custDataLst>
                <p:extLst>
                  <p:ext uri="{D42A27DB-BD31-4B8C-83A1-F6EECF244321}">
                    <p14:modId xmlns:p14="http://schemas.microsoft.com/office/powerpoint/2010/main" val="3724139375"/>
                  </p:ext>
                </p:extLst>
              </p:nvPr>
            </p:nvGraphicFramePr>
            <p:xfrm>
              <a:off x="5436350" y="1750621"/>
              <a:ext cx="1474586" cy="44844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033312-A785-0899-40C9-4A3331D9A0FB}"/>
                </a:ext>
              </a:extLst>
            </p:cNvPr>
            <p:cNvSpPr txBox="1"/>
            <p:nvPr/>
          </p:nvSpPr>
          <p:spPr>
            <a:xfrm>
              <a:off x="4782467" y="6246326"/>
              <a:ext cx="265628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Johnson Text"/>
                  <a:ea typeface="Verdana" panose="020B0604030504040204" pitchFamily="34" charset="0"/>
                  <a:cs typeface="Arial"/>
                  <a:sym typeface="Arial"/>
                </a:rPr>
                <a:t>% of Promotions</a:t>
              </a:r>
            </a:p>
          </p:txBody>
        </p:sp>
      </p:grp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139D2B60-8819-18B5-CD7D-FC1FD684CAF2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2E56CE-3D0E-0D3E-AB7E-00A056D506B7}"/>
              </a:ext>
            </a:extLst>
          </p:cNvPr>
          <p:cNvSpPr/>
          <p:nvPr/>
        </p:nvSpPr>
        <p:spPr>
          <a:xfrm>
            <a:off x="4125685" y="6400536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CFB478E-4D4C-9F00-8FAE-64F04A4A7A6F}"/>
              </a:ext>
            </a:extLst>
          </p:cNvPr>
          <p:cNvSpPr/>
          <p:nvPr/>
        </p:nvSpPr>
        <p:spPr>
          <a:xfrm>
            <a:off x="7365206" y="4064261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275DF35-9B8A-980B-CE59-6316365E00DF}"/>
              </a:ext>
            </a:extLst>
          </p:cNvPr>
          <p:cNvSpPr/>
          <p:nvPr/>
        </p:nvSpPr>
        <p:spPr>
          <a:xfrm>
            <a:off x="7365206" y="4415575"/>
            <a:ext cx="144001" cy="143999"/>
          </a:xfrm>
          <a:prstGeom prst="ellipse">
            <a:avLst/>
          </a:prstGeom>
          <a:solidFill>
            <a:srgbClr val="7F4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graphicFrame>
        <p:nvGraphicFramePr>
          <p:cNvPr id="16" name="TAG ME Delta">
            <a:extLst>
              <a:ext uri="{FF2B5EF4-FFF2-40B4-BE49-F238E27FC236}">
                <a16:creationId xmlns:a16="http://schemas.microsoft.com/office/drawing/2014/main" id="{C947007E-9F17-2FEC-A722-F4E44466DA0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681873"/>
              </p:ext>
            </p:extLst>
          </p:nvPr>
        </p:nvGraphicFramePr>
        <p:xfrm>
          <a:off x="8525091" y="1810429"/>
          <a:ext cx="483290" cy="432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29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51417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407199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445042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27934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986538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5846948"/>
                  </a:ext>
                </a:extLst>
              </a:tr>
            </a:tbl>
          </a:graphicData>
        </a:graphic>
      </p:graphicFrame>
      <p:graphicFrame>
        <p:nvGraphicFramePr>
          <p:cNvPr id="17" name="TAG ME Delta">
            <a:extLst>
              <a:ext uri="{FF2B5EF4-FFF2-40B4-BE49-F238E27FC236}">
                <a16:creationId xmlns:a16="http://schemas.microsoft.com/office/drawing/2014/main" id="{14CD7E4F-0CE9-9557-1C74-2AB03213700B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214492375"/>
              </p:ext>
            </p:extLst>
          </p:nvPr>
        </p:nvGraphicFramePr>
        <p:xfrm>
          <a:off x="10775684" y="1810429"/>
          <a:ext cx="483290" cy="432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290">
                  <a:extLst>
                    <a:ext uri="{9D8B030D-6E8A-4147-A177-3AD203B41FA5}">
                      <a16:colId xmlns:a16="http://schemas.microsoft.com/office/drawing/2014/main" val="2014906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11697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+11%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21549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7639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618557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05956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155298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51417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407199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445042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0061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00B050"/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+7%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986538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Johnson Text" panose="020B0604020202020204" charset="0"/>
                          <a:cs typeface="Johnson Text" panose="020B0604020202020204" charset="0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5846948"/>
                  </a:ext>
                </a:extLst>
              </a:tr>
            </a:tbl>
          </a:graphicData>
        </a:graphic>
      </p:graphicFrame>
      <p:sp>
        <p:nvSpPr>
          <p:cNvPr id="12" name="Google Shape;229;p3">
            <a:extLst>
              <a:ext uri="{FF2B5EF4-FFF2-40B4-BE49-F238E27FC236}">
                <a16:creationId xmlns:a16="http://schemas.microsoft.com/office/drawing/2014/main" id="{22A62E78-2F04-AE96-A14F-6641E16B8176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A0D146-D38E-FAF9-63CC-4F910B967E38}"/>
              </a:ext>
            </a:extLst>
          </p:cNvPr>
          <p:cNvSpPr/>
          <p:nvPr/>
        </p:nvSpPr>
        <p:spPr>
          <a:xfrm>
            <a:off x="3145845" y="6542601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39F02A-BD00-8CCE-7061-9072436BB4A0}"/>
              </a:ext>
            </a:extLst>
          </p:cNvPr>
          <p:cNvSpPr/>
          <p:nvPr/>
        </p:nvSpPr>
        <p:spPr>
          <a:xfrm>
            <a:off x="8940700" y="1914627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BC248F-47B3-FDB5-FDFE-67AB018C4DBB}"/>
              </a:ext>
            </a:extLst>
          </p:cNvPr>
          <p:cNvSpPr/>
          <p:nvPr/>
        </p:nvSpPr>
        <p:spPr>
          <a:xfrm>
            <a:off x="11188670" y="2273637"/>
            <a:ext cx="144001" cy="1439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ohnson Text"/>
                <a:ea typeface="Verdana" panose="020B0604030504040204" pitchFamily="34" charset="0"/>
                <a:cs typeface="+mn-cs"/>
              </a:rPr>
              <a:t>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9E0DD88-EBFC-B391-731F-B8C5E05E17C5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 panose="020B0604030504040204" pitchFamily="34" charset="0"/>
              </a:rPr>
              <a:t>General Action Taken after Viewing NPP Promotions</a:t>
            </a:r>
          </a:p>
        </p:txBody>
      </p:sp>
    </p:spTree>
    <p:extLst>
      <p:ext uri="{BB962C8B-B14F-4D97-AF65-F5344CB8AC3E}">
        <p14:creationId xmlns:p14="http://schemas.microsoft.com/office/powerpoint/2010/main" val="42253393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7581C45F-C30E-42C3-24FD-88D40BDE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194781-AD9B-2DAC-92B0-EA076D69A770}"/>
              </a:ext>
            </a:extLst>
          </p:cNvPr>
          <p:cNvSpPr/>
          <p:nvPr/>
        </p:nvSpPr>
        <p:spPr>
          <a:xfrm>
            <a:off x="6492420" y="4095875"/>
            <a:ext cx="5109028" cy="16624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8FB54E-EB34-7E57-A5DD-15A4D78CEAAB}"/>
              </a:ext>
            </a:extLst>
          </p:cNvPr>
          <p:cNvSpPr/>
          <p:nvPr/>
        </p:nvSpPr>
        <p:spPr>
          <a:xfrm>
            <a:off x="6492420" y="2206594"/>
            <a:ext cx="5109028" cy="169853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9AA3EB-CC37-381C-689D-F7EA67783D22}"/>
              </a:ext>
            </a:extLst>
          </p:cNvPr>
          <p:cNvSpPr/>
          <p:nvPr/>
        </p:nvSpPr>
        <p:spPr>
          <a:xfrm>
            <a:off x="644070" y="4095875"/>
            <a:ext cx="5109028" cy="1662457"/>
          </a:xfrm>
          <a:prstGeom prst="roundRect">
            <a:avLst/>
          </a:prstGeom>
          <a:solidFill>
            <a:srgbClr val="DCF4C4"/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500B6B-D4B1-0B03-3C6D-09F10CCB0F44}"/>
              </a:ext>
            </a:extLst>
          </p:cNvPr>
          <p:cNvSpPr/>
          <p:nvPr/>
        </p:nvSpPr>
        <p:spPr>
          <a:xfrm>
            <a:off x="644070" y="2242672"/>
            <a:ext cx="5109028" cy="1662457"/>
          </a:xfrm>
          <a:prstGeom prst="roundRect">
            <a:avLst/>
          </a:prstGeom>
          <a:solidFill>
            <a:srgbClr val="DCF4C4"/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39A172-58C5-8DA4-57D5-D14F64869DDA}"/>
              </a:ext>
            </a:extLst>
          </p:cNvPr>
          <p:cNvSpPr>
            <a:spLocks noGrp="1"/>
          </p:cNvSpPr>
          <p:nvPr/>
        </p:nvSpPr>
        <p:spPr>
          <a:xfrm>
            <a:off x="101246" y="98705"/>
            <a:ext cx="12059288" cy="899221"/>
          </a:xfrm>
          <a:prstGeom prst="rect">
            <a:avLst/>
          </a:prstGeom>
        </p:spPr>
        <p:txBody>
          <a:bodyPr vert="horz" lIns="91392" tIns="45696" rIns="91392" bIns="45696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69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9357A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15C1C84-7828-93F4-7BA8-DCDBB17B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E1CA47-AF92-12E2-996A-8988D8A4E70D}"/>
              </a:ext>
            </a:extLst>
          </p:cNvPr>
          <p:cNvSpPr>
            <a:spLocks noGrp="1"/>
          </p:cNvSpPr>
          <p:nvPr/>
        </p:nvSpPr>
        <p:spPr>
          <a:xfrm>
            <a:off x="-1" y="144212"/>
            <a:ext cx="12186713" cy="899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1" kern="1200">
                <a:solidFill>
                  <a:schemeClr val="accent1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ohnson Display"/>
                <a:ea typeface="Verdana"/>
              </a:rPr>
              <a:t>ZoomRx Digital Tracker</a:t>
            </a:r>
          </a:p>
        </p:txBody>
      </p:sp>
      <p:sp>
        <p:nvSpPr>
          <p:cNvPr id="7" name="Google Shape;229;p3">
            <a:extLst>
              <a:ext uri="{FF2B5EF4-FFF2-40B4-BE49-F238E27FC236}">
                <a16:creationId xmlns:a16="http://schemas.microsoft.com/office/drawing/2014/main" id="{DABAAC7E-EC03-76F2-0C46-A1B77614258E}"/>
              </a:ext>
            </a:extLst>
          </p:cNvPr>
          <p:cNvSpPr txBox="1"/>
          <p:nvPr/>
        </p:nvSpPr>
        <p:spPr>
          <a:xfrm>
            <a:off x="8241719" y="12489"/>
            <a:ext cx="3925988" cy="22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91" tIns="45532" rIns="91091" bIns="45532" anchor="ctr" anchorCtr="0">
            <a:noAutofit/>
          </a:bodyPr>
          <a:lstStyle/>
          <a:p>
            <a:pPr marL="0" marR="0" lvl="0" indent="0" algn="r" defTabSz="911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999" b="0" i="0" u="none" strike="noStrike" kern="0" cap="none" spc="0" normalizeH="0" baseline="0" noProof="0" dirty="0">
                <a:ln>
                  <a:noFill/>
                </a:ln>
                <a:solidFill>
                  <a:srgbClr val="505050">
                    <a:lumMod val="50000"/>
                  </a:srgbClr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Appendix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401A73C-788A-99E0-A4C8-712405DF0DEC}"/>
              </a:ext>
            </a:extLst>
          </p:cNvPr>
          <p:cNvSpPr/>
          <p:nvPr/>
        </p:nvSpPr>
        <p:spPr>
          <a:xfrm>
            <a:off x="924209" y="2324127"/>
            <a:ext cx="45104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Source Sans Pro" panose="020B0503030403020204" pitchFamily="34" charset="0"/>
                <a:cs typeface="Johnson Text" panose="020B0604020202020204" charset="0"/>
              </a:rPr>
              <a:t>OVERVIEW: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The extension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 </a:t>
            </a:r>
            <a:r>
              <a:rPr kumimoji="0" lang="en-US" sz="10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passively captures HCPs’ healthcare-related web browsing activity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 providing a view into: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Where HCPs look for information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How much time they spend browsing relevant content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Frequency and location of ad exposures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Email activity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Johnson Text" panose="020B0604020202020204" charset="0"/>
              <a:ea typeface="Source Sans Pro" panose="020B0503030403020204" pitchFamily="34" charset="0"/>
              <a:cs typeface="Johnson Text" panose="020B060402020202020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E85BDD7-EDAE-FCA0-3E48-DD369A92B92B}"/>
              </a:ext>
            </a:extLst>
          </p:cNvPr>
          <p:cNvSpPr/>
          <p:nvPr/>
        </p:nvSpPr>
        <p:spPr>
          <a:xfrm>
            <a:off x="924209" y="4298851"/>
            <a:ext cx="4327682" cy="1000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Source Sans Pro" panose="020B0503030403020204" pitchFamily="34" charset="0"/>
                <a:cs typeface="Johnson Text" panose="020B0604020202020204" charset="0"/>
              </a:rPr>
              <a:t>HOW IT WORKS: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Source Sans Pro" panose="020B0503030403020204" pitchFamily="34" charset="0"/>
              <a:cs typeface="Johnson Text" panose="020B060402020202020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Target </a:t>
            </a: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HCPs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 opt into data collection and install a browser plug-in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The tool passively tracks relevant browsing activity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HCP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s are compensated for their participation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981DB43-C871-6F4F-4A37-3A79A647E07D}"/>
              </a:ext>
            </a:extLst>
          </p:cNvPr>
          <p:cNvSpPr/>
          <p:nvPr/>
        </p:nvSpPr>
        <p:spPr>
          <a:xfrm>
            <a:off x="6856244" y="2247183"/>
            <a:ext cx="4548073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Source Sans Pro" panose="020B0503030403020204" pitchFamily="34" charset="0"/>
                <a:cs typeface="Johnson Text" panose="020B0604020202020204" charset="0"/>
              </a:rPr>
              <a:t>OVERVIEW:</a:t>
            </a:r>
          </a:p>
          <a:p>
            <a:pPr defTabSz="457200">
              <a:spcAft>
                <a:spcPts val="600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The </a:t>
            </a: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scraper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 </a:t>
            </a:r>
            <a:r>
              <a:rPr kumimoji="0" lang="en-US" sz="10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extracts data from healthcare websites to generate an inventory of available online content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 independent of </a:t>
            </a: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HCP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online activity, providing insight into: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Digital ad presence across channels (e.g., endemic banner ads, Facebook, etc.)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Paid search Share of Voice and ranking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Messaging strategies across banner ads and social media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073BEFF-99F4-8704-EB61-E709F52E1B20}"/>
              </a:ext>
            </a:extLst>
          </p:cNvPr>
          <p:cNvSpPr/>
          <p:nvPr/>
        </p:nvSpPr>
        <p:spPr>
          <a:xfrm>
            <a:off x="6856244" y="4308532"/>
            <a:ext cx="4327681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Source Sans Pro" panose="020B0503030403020204" pitchFamily="34" charset="0"/>
                <a:cs typeface="Johnson Text" panose="020B0604020202020204" charset="0"/>
              </a:rPr>
              <a:t>HOW IT WORKS: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Source Sans Pro" panose="020B0503030403020204" pitchFamily="34" charset="0"/>
              <a:cs typeface="Johnson Text" panose="020B060402020202020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Scraper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 identifies ad content</a:t>
            </a:r>
            <a:r>
              <a:rPr lang="en-US" sz="1000" dirty="0">
                <a:solidFill>
                  <a:schemeClr val="accent2"/>
                </a:solidFill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across life science websites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Search simulator identifies Google and Edge paid search</a:t>
            </a:r>
            <a:endParaRPr lang="en-US" sz="1000" dirty="0">
              <a:solidFill>
                <a:schemeClr val="accent2"/>
              </a:solidFill>
              <a:latin typeface="Johnson Text" panose="020B0604020202020204" charset="0"/>
              <a:ea typeface="Source Sans Pro" panose="020B0503030403020204" pitchFamily="34" charset="0"/>
              <a:cs typeface="Johnson Text" panose="020B060402020202020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Johnson Text" panose="020B0604020202020204" charset="0"/>
                <a:ea typeface="Source Sans Pro" panose="020B0503030403020204" pitchFamily="34" charset="0"/>
                <a:cs typeface="Johnson Text" panose="020B0604020202020204" charset="0"/>
              </a:rPr>
              <a:t>AI identifies the brand, indication, and topics for identified banner and paid search results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E4491FB-310C-300C-A94C-6B0BA40DDDE5}"/>
              </a:ext>
            </a:extLst>
          </p:cNvPr>
          <p:cNvSpPr/>
          <p:nvPr/>
        </p:nvSpPr>
        <p:spPr>
          <a:xfrm>
            <a:off x="7181192" y="1347820"/>
            <a:ext cx="4084169" cy="74014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76" tIns="0" rIns="36576" bIns="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</a:pPr>
            <a:r>
              <a:rPr lang="en-US" sz="1400" b="1" kern="1200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Broad Web-Scraping</a:t>
            </a:r>
          </a:p>
          <a:p>
            <a:pPr algn="ctr" defTabSz="711200">
              <a:lnSpc>
                <a:spcPct val="90000"/>
              </a:lnSpc>
              <a:spcBef>
                <a:spcPct val="0"/>
              </a:spcBef>
            </a:pPr>
            <a:r>
              <a:rPr lang="en-US" sz="1400" b="1" kern="1200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via </a:t>
            </a:r>
            <a:r>
              <a:rPr lang="en-US" sz="1400" b="1" u="sng" kern="1200" dirty="0">
                <a:solidFill>
                  <a:schemeClr val="accent2"/>
                </a:solidFill>
                <a:latin typeface="+mj-lt"/>
                <a:cs typeface="Poppins" panose="00000500000000000000" pitchFamily="2" charset="0"/>
              </a:rPr>
              <a:t>Scraper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E0FBE79-183E-3AD6-C50A-6197773DABAC}"/>
              </a:ext>
            </a:extLst>
          </p:cNvPr>
          <p:cNvCxnSpPr>
            <a:cxnSpLocks/>
          </p:cNvCxnSpPr>
          <p:nvPr/>
        </p:nvCxnSpPr>
        <p:spPr>
          <a:xfrm>
            <a:off x="6121400" y="1350013"/>
            <a:ext cx="0" cy="4754880"/>
          </a:xfrm>
          <a:prstGeom prst="line">
            <a:avLst/>
          </a:prstGeom>
          <a:ln>
            <a:solidFill>
              <a:schemeClr val="accent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C5AAEAC-BFA1-CC69-3BAA-3D59222D1A3B}"/>
              </a:ext>
            </a:extLst>
          </p:cNvPr>
          <p:cNvGrpSpPr/>
          <p:nvPr/>
        </p:nvGrpSpPr>
        <p:grpSpPr>
          <a:xfrm>
            <a:off x="6827401" y="1350439"/>
            <a:ext cx="734902" cy="734902"/>
            <a:chOff x="1445583" y="1271226"/>
            <a:chExt cx="734902" cy="734902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4A6EB82-9B8D-81A0-CB66-DC59317A8B3A}"/>
                </a:ext>
              </a:extLst>
            </p:cNvPr>
            <p:cNvSpPr/>
            <p:nvPr/>
          </p:nvSpPr>
          <p:spPr>
            <a:xfrm>
              <a:off x="1445583" y="1271226"/>
              <a:ext cx="734902" cy="734902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Graphic 65" descr="Robot Hand with solid fill">
              <a:extLst>
                <a:ext uri="{FF2B5EF4-FFF2-40B4-BE49-F238E27FC236}">
                  <a16:creationId xmlns:a16="http://schemas.microsoft.com/office/drawing/2014/main" id="{DAFB0A1D-A5FA-C574-A8FF-4845B494A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82469" y="1392478"/>
              <a:ext cx="492398" cy="492398"/>
            </a:xfrm>
            <a:prstGeom prst="rect">
              <a:avLst/>
            </a:prstGeom>
          </p:spPr>
        </p:pic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88C84EC1-2BB9-D498-0180-FAD330F5F2C4}"/>
              </a:ext>
            </a:extLst>
          </p:cNvPr>
          <p:cNvSpPr/>
          <p:nvPr/>
        </p:nvSpPr>
        <p:spPr>
          <a:xfrm>
            <a:off x="1335721" y="1347820"/>
            <a:ext cx="4084163" cy="740140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576" tIns="0" rIns="36576" bIns="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</a:pPr>
            <a:r>
              <a:rPr lang="en-US" sz="1400" b="1" kern="120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Target HCPs’ Online </a:t>
            </a:r>
          </a:p>
          <a:p>
            <a:pPr algn="ctr" defTabSz="711200">
              <a:lnSpc>
                <a:spcPct val="90000"/>
              </a:lnSpc>
              <a:spcBef>
                <a:spcPct val="0"/>
              </a:spcBef>
            </a:pPr>
            <a:r>
              <a:rPr lang="en-US" sz="1400" b="1" kern="120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Browsing via </a:t>
            </a:r>
            <a:r>
              <a:rPr lang="en-US" sz="1400" b="1" u="sng" kern="120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Extension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D080F24-7813-17B5-C648-DA822355688F}"/>
              </a:ext>
            </a:extLst>
          </p:cNvPr>
          <p:cNvGrpSpPr/>
          <p:nvPr/>
        </p:nvGrpSpPr>
        <p:grpSpPr>
          <a:xfrm>
            <a:off x="915546" y="1350439"/>
            <a:ext cx="734902" cy="734902"/>
            <a:chOff x="6873114" y="1315098"/>
            <a:chExt cx="734902" cy="734902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9A99E82-9792-B801-BCD3-23B250E0A1D4}"/>
                </a:ext>
              </a:extLst>
            </p:cNvPr>
            <p:cNvSpPr/>
            <p:nvPr/>
          </p:nvSpPr>
          <p:spPr>
            <a:xfrm>
              <a:off x="6873114" y="1315098"/>
              <a:ext cx="734902" cy="734902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CEFA9362-D724-DA25-71DC-D1BAA9F76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8953" t="9520" r="8693" b="19950"/>
            <a:stretch/>
          </p:blipFill>
          <p:spPr>
            <a:xfrm>
              <a:off x="7057333" y="1475993"/>
              <a:ext cx="366464" cy="385179"/>
            </a:xfrm>
            <a:prstGeom prst="rect">
              <a:avLst/>
            </a:prstGeom>
          </p:spPr>
        </p:pic>
      </p:grpSp>
      <p:sp>
        <p:nvSpPr>
          <p:cNvPr id="76" name="Google Shape;229;p3">
            <a:extLst>
              <a:ext uri="{FF2B5EF4-FFF2-40B4-BE49-F238E27FC236}">
                <a16:creationId xmlns:a16="http://schemas.microsoft.com/office/drawing/2014/main" id="{509C316D-3841-C7CD-FE4D-6AE6E1C9C10F}"/>
              </a:ext>
            </a:extLst>
          </p:cNvPr>
          <p:cNvSpPr txBox="1"/>
          <p:nvPr/>
        </p:nvSpPr>
        <p:spPr>
          <a:xfrm>
            <a:off x="10183690" y="834825"/>
            <a:ext cx="2013028" cy="32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377" tIns="45676" rIns="91377" bIns="45676" anchor="ctr" anchorCtr="0">
            <a:noAutofit/>
          </a:bodyPr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Verdana"/>
                <a:cs typeface="Verdana"/>
                <a:sym typeface="Verdana"/>
              </a:rPr>
              <a:t>NON-SALES REP PROMOTIONS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Display"/>
              <a:ea typeface="+mn-ea"/>
              <a:cs typeface="Arial"/>
              <a:sym typeface="Arial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45FF56-8480-C098-CDBD-5443D8A9E1A1}"/>
              </a:ext>
            </a:extLst>
          </p:cNvPr>
          <p:cNvSpPr txBox="1"/>
          <p:nvPr/>
        </p:nvSpPr>
        <p:spPr>
          <a:xfrm>
            <a:off x="2401964" y="6530196"/>
            <a:ext cx="9360000" cy="327804"/>
          </a:xfrm>
          <a:prstGeom prst="rect">
            <a:avLst/>
          </a:prstGeom>
        </p:spPr>
        <p:txBody>
          <a:bodyPr wrap="square" rtlCol="0" anchor="b">
            <a:noAutofit/>
          </a:bodyPr>
          <a:lstStyle/>
          <a:p>
            <a:pPr defTabSz="1218988">
              <a:defRPr/>
            </a:pPr>
            <a:r>
              <a:rPr kumimoji="1" lang="en-IN" sz="900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Johnson Text" panose="020B0604020202020204" charset="0"/>
                <a:cs typeface="Johnson Text" panose="020B060402020202020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Non-Sales Rep Promotions Activity Slide</a:t>
            </a:r>
            <a:r>
              <a:rPr kumimoji="1" lang="en-IN" sz="900" i="1" kern="0" dirty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 | </a:t>
            </a:r>
            <a:r>
              <a:rPr kumimoji="1" lang="en-IN" sz="900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Johnson Text" panose="020B0604020202020204" charset="0"/>
                <a:cs typeface="Johnson Text" panose="020B060402020202020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ZoomRx Digital Tracker Online Ads Slide</a:t>
            </a:r>
            <a:r>
              <a:rPr kumimoji="1" lang="en-IN" sz="900" i="1" kern="0" dirty="0">
                <a:solidFill>
                  <a:srgbClr val="7F7F7F"/>
                </a:solidFill>
                <a:latin typeface="Johnson Text" panose="020B0604020202020204" charset="0"/>
                <a:cs typeface="Johnson Text" panose="020B0604020202020204" charset="0"/>
              </a:rPr>
              <a:t> | </a:t>
            </a:r>
            <a:r>
              <a:rPr kumimoji="1" lang="en-IN" sz="900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Johnson Text" panose="020B0604020202020204" charset="0"/>
                <a:cs typeface="Johnson Text" panose="020B0604020202020204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ZoomRx Digital Tracker Emails Slide</a:t>
            </a:r>
            <a:endParaRPr kumimoji="1" lang="en-US" sz="900" i="1" kern="0" dirty="0">
              <a:solidFill>
                <a:schemeClr val="accent4">
                  <a:lumMod val="60000"/>
                  <a:lumOff val="40000"/>
                </a:schemeClr>
              </a:solidFill>
              <a:latin typeface="Johnson Text" panose="020B0604020202020204" charset="0"/>
              <a:cs typeface="Johnson Tex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1353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ANALYSISID" val="579"/>
  <p:tag name="OLDDARWIN_PROJECT" val="623"/>
  <p:tag name="OLDDARWIN_SURVEY" val="73890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42skXLN5LV_OZEoDdPo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5732248"/>
  <p:tag name="UPDATE" val="unlock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43927095"/>
  <p:tag name="UPDATE" val="unlock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62987484"/>
  <p:tag name="UPDATE" val="unlock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91826139"/>
  <p:tag name="UPDATE" val="unlock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52135044"/>
  <p:tag name="UPDATE" val="unlock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73954084"/>
  <p:tag name="UPDATE" val="unlock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76361669"/>
  <p:tag name="UPDATE" val="unlock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1758017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652252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28231707"/>
  <p:tag name="UPDATE" val="unlock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79314491"/>
  <p:tag name="UPDATE" val="unlock"/>
  <p:tag name="VISUALISATION_ID" val="Darwin_76352304"/>
  <p:tag name="SYNQRY" val="SYNQRY#1#$$!$FileVersion--1.6.5.8$!$IsAlias--True$!$Project--623$!$IsNestedSegments--True$!$ProjectSegmentIDs--$!$Survey--738902$!$RequiredColumns--segment_0@:@segment_0@:@@:@$$RYBREVANT@:@RYBREVANT@:@0%@:@$$TAG + Chemo@:@TAG + Chemo@:@0%@:@$$TAG Mono@:@TAG Mono@:@0%@:@$!$LongFilterCondition--AND$!$Metric--$!$SelectedColumns--segment_0@:@segment_0@:@@:@$$RYBREVANT@:@RYBREVANT@:@0%@:@$$TAG + Chemo@:@TAG + Chemo@:@0%@:@$$TAG Mono@:@TAG Mono@:@0%@:@$!$PivotFilterCondition--AND$!$Analysis--12447$!$SelectedRows--ALL$!$AddLatestColumnToFirst--False$!$RecentWave--W2#5$!$ChartSplit--$!$IsClientDeliverable--True$!$SelectedWave--129469,127676,125979,124438,122749$!$Transpose--False$!$ClientDeliverableID--138$!$SelectedSeg--$!$IsOverlapping--False$!$ClientDeliverableSegmentIDs--13717,12164,11230,10039,927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31-12-2025 15:32:34$!$AddSplitObjectsToSingleSlide--False$!$LongFilterFields--$!$TableHeader--1$!$PivotEntry--1$!$TopNRows--0$!$IsProjectAnalysis--True$!$SelectAllColumns--True$!$PivotFilterFields--$!$IsAddLegend--False$!$xField--segment_0$!$Status--Create:Success$!$yField--analysis_id$!$MoveFirst--Q4 2024$!$vField--decimal$!$MoveLast--$!$fnField--Average"/>
  <p:tag name="STASSIGID" val="StasSigId_7496010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22855277"/>
  <p:tag name="UPDATE" val="unlock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68257291"/>
  <p:tag name="UPDATE" val="unlock"/>
  <p:tag name="VISUALISATION_ID" val="Darwin_6825729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85805594"/>
  <p:tag name="UPDATE" val="unlock"/>
  <p:tag name="VISUALISATION_ID" val="Darwin_81378312"/>
  <p:tag name="SYNQRY" val="SYNQRY#1#$$!$FileVersion--1.6.5.8$!$IsAlias--True$!$Project--623$!$IsNestedSegments--True$!$ProjectSegmentIDs--$!$Survey--738902$!$RequiredColumns--segment_0@:@segment_0@:@@:@$$LTIP_RYB@:@LTIP_RYB@:@0%@:@$$LTIP_TAG_CHEMO@:@LTIP_TAG_CHEMO@:@0%@:@$$LTIP_TAG_Mono@:@LTIP_TAG_Mono@:@0%@:@$!$LongFilterCondition--AND$!$Metric--$!$SelectedColumns--segment_0@:@segment_0@:@@:@$$LTIP_RYB@:@LTIP_RYB@:@0%@:@$$LTIP_TAG_CHEMO@:@LTIP_TAG_CHEMO@:@0%@:@$$LTIP_TAG_Mono@:@LTIP_TAG_Mono@:@0%@:@$!$PivotFilterCondition--AND$!$Analysis--13797$!$SelectedRows--ALL$!$AddLatestColumnToFirst--False$!$RecentWave--W2#5$!$ChartSplit--$!$IsClientDeliverable--True$!$SelectedWave--129469,127676,125979,124438,122749$!$Transpose--False$!$ClientDeliverableID--138$!$SelectedSeg--$!$IsOverlapping--False$!$ClientDeliverableSegmentIDs--13717,12164,11230,10039,927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31-12-2025 16:01:45$!$AddSplitObjectsToSingleSlide--False$!$LongFilterFields--$!$TableHeader--1$!$PivotEntry--1$!$TopNRows--0$!$IsProjectAnalysis--True$!$SelectAllColumns--True$!$PivotFilterFields--$!$IsAddLegend--False$!$xField--segment_0$!$Status--Create:Success$!$yField--analysis_id$!$MoveFirst--Q4 2024$!$vField--decimal$!$MoveLast--$!$fnField--Average"/>
  <p:tag name="STASSIGID" val="StasSigId_799874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FAILEDREFRESHICONID" val="Darwin_85805594"/>
  <p:tag name="STASSIGID" val="StasSigId_1389756"/>
  <p:tag name="SYNQRY" val="SYNQRY#1#$$!$FileVersion--1.6.5.8$!$IsAlias--True$!$Project--623$!$IsNestedSegments--True$!$ProjectSegmentIDs--$!$Survey--738902$!$RequiredColumns--segment_0@:@segment_0@:@@:@$$Closing_Rates_RYB@:@Closing_Rates_RYB@:@0%@:@$$Closing_Rates_TAG_Chemo@:@Closing_Rates_TAG_Chemo@:@0%@:@$$Closing_Rates_TAG_Mono@:@Closing_Rates_TAG_Mono@:@0%@:@$!$LongFilterCondition--AND$!$Metric--$!$SelectedColumns--segment_0@:@segment_0@:@@:@$$Closing_Rates_RYB@:@Closing_Rates_RYB@:@0%@:@$$Closing_Rates_TAG_Chemo@:@Closing_Rates_TAG_Chemo@:@0%@:@$$Closing_Rates_TAG_Mono@:@Closing_Rates_TAG_Mono@:@0%@:@$!$PivotFilterCondition--AND$!$Analysis--13791$!$SelectedRows--ALL$!$AddLatestColumnToFirst--False$!$RecentWave--W2#5$!$ChartSplit--$!$IsClientDeliverable--True$!$SelectedWave--129469,127676,125979,124438,122749$!$Transpose--False$!$ClientDeliverableID--138$!$SelectedSeg--$!$IsOverlapping--False$!$ClientDeliverableSegmentIDs--13717,12164,11230,10039,927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17-12-2025 13:49:33$!$AddSplitObjectsToSingleSlide--False$!$LongFilterFields--options@:@IN@:@Yes$!$TableHeader--1$!$PivotEntry--1$!$TopNRows--0$!$IsProjectAnalysis--True$!$SelectAllColumns--True$!$PivotFilterFields--$!$IsAddLegend--False$!$xField--segment_0$!$Status--Create:Success$!$yField--analysis_id$!$MoveFirst--Q4 2024$!$vField--decimal$!$MoveLast--$!$fnField--Average"/>
  <p:tag name="VISUALISATION_ID" val="Darwin_325129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FAILEDREFRESHICONID" val="Darwin_79314491"/>
  <p:tag name="STASSIGID" val="StasSigId_7955683"/>
  <p:tag name="SYNQRY" val="SYNQRY#1#$$!$FileVersion--1.6.5.8$!$IsAlias--True$!$Project--623$!$IsNestedSegments--True$!$ProjectSegmentIDs--$!$Survey--738902$!$RequiredColumns--segment_0@:@segment_0@:@@:@$$RYBREVANT@:@RYBREVANT@:@0%@:@$$TAGRISSO@:@TAGRISSO@:@0%@:@$!$LongFilterCondition--AND$!$Metric--$!$SelectedColumns--segment_0@:@segment_0@:@@:@$$RYBREVANT@:@RYBREVANT@:@0%@:@$$TAGRISSO@:@TAGRISSO@:@0%@:@$!$PivotFilterCondition--AND$!$Analysis--4408$!$SelectedRows--ALL$!$AddLatestColumnToFirst--False$!$RecentWave--W2#5$!$ChartSplit--$!$IsClientDeliverable--True$!$SelectedWave--129469,127676,125979,124438,122749$!$Transpose--False$!$ClientDeliverableID--138$!$SelectedSeg--$!$IsOverlapping--False$!$ClientDeliverableSegmentIDs--13717,12164,11230,10039,927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17-12-2025 13:47:32$!$AddSplitObjectsToSingleSlide--False$!$LongFilterFields--title@:@IN@:@Overall quality of sales call$!$TableHeader--1$!$PivotEntry--1$!$TopNRows--0$!$IsProjectAnalysis--True$!$SelectAllColumns--True$!$PivotFilterFields--$!$IsAddLegend--False$!$xField--segment_0$!$Status--Create:Success$!$yField--analysis_id$!$MoveFirst--Q4 2024$!$vField--decimal$!$MoveLast--$!$fnField--Average"/>
  <p:tag name="VISUALISATION_ID" val="Darwin_1315199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87402764"/>
  <p:tag name="FAILEDREFRESHICONID" val="Darwin_87402764"/>
  <p:tag name="STASSIGID" val="StasSigId_1064505"/>
  <p:tag name="SYNQRY" val="SYNQRY#1#$$!$FileVersion--1.6.5.8$!$IsAlias--True$!$Project--53$!$IsNestedSegments--True$!$ProjectSegmentIDs--$!$Survey--665219$!$RequiredColumns--segment_0@:@segment_0@:@@@:@$$RYB - Average of reach@:@RYB - Average of reach@:@0%@:@$$RYB - Average of SOV@:@RYB - Average of SOV@:@0%@:@$$RYB - Average of frequency@:@RYB - Average of frequency@:@0.0@:@$$TAG - Average of reach@:@TAG - Average of reach@:@0%@:@$$TAG - Average of SOV@:@TAG - Average of SOV@:@0%@:@$$TAG - Average of frequency@:@TAG - Average of frequency@:@0.0@:@$!$LongFilterCondition--AND$!$Metric--$!$SelectedColumns--segment_0@:@segment_0@:@@@:@$$RYB - Average of reach@:@RYB - Average of reach@:@0%@:@$$TAG - Average of reach@:@TAG - Average of reach@:@0%@:@$!$PivotFilterCondition--AND$!$Analysis--257757$!$SelectedRows--ALL$!$AddLatestColumnToFirst--False$!$RecentWave--W2#2$!$ChartSplit--$!$IsClientDeliverable--True$!$SelectedWave--120938,100427$!$Transpose--False$!$ClientDeliverableID--81$!$SelectedSeg--57252$!$IsOverlapping--False$!$ClientDeliverableSegmentIDs--13688,1212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07-01-2026 17:32:27$!$AddSplitObjectsToSingleSlide--False$!$LongFilterFields--segment_1@:@IN@:@RYB_PP_RFSOV_OL_2025  - 0$!$TableHeader--1$!$PivotEntry--1$!$TopNRows--0$!$IsProjectAnalysis--False$!$SelectAllColumns--False$!$PivotFilterFields--$!$IsAddLegend--False$!$xField--segment_0$!$Status--Create:Success$!$yField--title$!$MoveFirst--$!$vField--reach,SOV,frequency$!$MoveLast--$!$fnField--Averag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96594761"/>
  <p:tag name="FAILEDREFRESHICONID" val="Darwin_96594761"/>
  <p:tag name="STASSIGID" val="StasSigId_99391676"/>
  <p:tag name="SYNQRY" val="SYNQRY#1#$$!$FileVersion--1.6.5.8$!$IsAlias--True$!$Project--53$!$IsNestedSegments--True$!$ProjectSegmentIDs--$!$Survey--665219$!$RequiredColumns--segment_0@:@segment_0@:@@@:@$$RYB - Average of reach@:@RYB - Average of reach@:@0%@:@$$RYB - Average of SOV@:@RYB - Average of SOV@:@0%@:@$$RYB - Average of frequency@:@RYB - Average of frequency@:@0.0@:@$$TAG - Average of reach@:@TAG - Average of reach@:@0%@:@$$TAG - Average of SOV@:@TAG - Average of SOV@:@0%@:@$$TAG - Average of frequency@:@TAG - Average of frequency@:@0.0@:@$!$LongFilterCondition--AND$!$Metric--$!$SelectedColumns--segment_0@:@segment_0@:@@@:@$$RYB - Average of SOV@:@RYB - Average of SOV@:@0%@:@$$TAG - Average of SOV@:@TAG - Average of SOV@:@0%@:@$!$PivotFilterCondition--AND$!$Analysis--257757$!$SelectedRows--ALL$!$AddLatestColumnToFirst--False$!$RecentWave--W2#2$!$ChartSplit--$!$IsClientDeliverable--True$!$SelectedWave--120938,100427$!$Transpose--False$!$ClientDeliverableID--81$!$SelectedSeg--57252$!$IsOverlapping--False$!$ClientDeliverableSegmentIDs--13688,12129$!$SelectedGp--wave$!$IsSorted--False$!$ChartType--Stacked Column$!$SelectedMulRolling--$!$SortedField--$!$FetchOverallData--False$!$Relative--True$!$IsAddQuestionText--False$!$StatisticsSignificance--[]$!$LiveWave--True$!$IsNonOverlapping--False$!$StatisticsSignificanceNValue--30$!$IsSplit--False$!$LastUpdate--07-01-2026 17:32:02$!$AddSplitObjectsToSingleSlide--False$!$LongFilterFields--segment_1@:@IN@:@RYB_PP_RFSOV_OL_2025  - 0$!$TableHeader--1$!$PivotEntry--1$!$TopNRows--0$!$IsProjectAnalysis--False$!$SelectAllColumns--False$!$PivotFilterFields--$!$IsAddLegend--False$!$xField--segment_0$!$Status--Create:Success$!$yField--title$!$MoveFirst--$!$vField--reach,SOV,frequency$!$MoveLast--$!$fnField--Averag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12889916"/>
  <p:tag name="FAILEDREFRESHICONID" val="Darwin_12889916"/>
  <p:tag name="STASSIGID" val="StasSigId_85107014"/>
  <p:tag name="SYNQRY" val="SYNQRY#1#$$!$FileVersion--1.6.5.8$!$IsAlias--True$!$Project--53$!$IsNestedSegments--True$!$ProjectSegmentIDs--$!$Survey--665219$!$RequiredColumns--segment_0@:@segment_0@:@@@:@$$RYB - Average of reach@:@RYB - Average of reach@:@0%@:@$$RYB - Average of SOV@:@RYB - Average of SOV@:@0%@:@$$RYB - Average of frequency@:@RYB - Average of frequency@:@0.0@:@$$TAG - Average of reach@:@TAG - Average of reach@:@0%@:@$$TAG - Average of SOV@:@TAG - Average of SOV@:@0%@:@$$TAG - Average of frequency@:@TAG - Average of frequency@:@0.0@:@$!$LongFilterCondition--AND$!$Metric--$!$SelectedColumns--segment_0@:@segment_0@:@@@:@$$RYB - Average of frequency@:@RYB - Average of frequency@:@0.0@:@$$TAG - Average of frequency@:@TAG - Average of frequency@:@0.0@:@$!$PivotFilterCondition--AND$!$Analysis--257757$!$SelectedRows--ALL$!$AddLatestColumnToFirst--False$!$RecentWave--W2#2$!$ChartSplit--$!$IsClientDeliverable--True$!$SelectedWave--120938,100427$!$Transpose--False$!$ClientDeliverableID--81$!$SelectedSeg--57252$!$IsOverlapping--False$!$ClientDeliverableSegmentIDs--13688,1212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07-01-2026 17:32:27$!$AddSplitObjectsToSingleSlide--False$!$LongFilterFields--segment_1@:@IN@:@RYB_PP_RFSOV_OL_2025  - 0$!$TableHeader--1$!$PivotEntry--1$!$TopNRows--0$!$IsProjectAnalysis--False$!$SelectAllColumns--False$!$PivotFilterFields--$!$IsAddLegend--False$!$xField--segment_0$!$Status--Create:Success$!$yField--title$!$MoveFirst--$!$vField--reach,SOV,frequency$!$MoveLast--$!$fnField--Averag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80830191"/>
  <p:tag name="UPDATE" val="unlock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95065033"/>
  <p:tag name="TABLE" val="TabQ##RYB Recall##E2##G7##1##1"/>
  <p:tag name="UPDATE" val="lock"/>
  <p:tag name="VISUALISATION_ID" val="Darwin_510557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24490017"/>
  <p:tag name="UPDATE" val="unlock"/>
  <p:tag name="VISUALISATION_ID" val="Darwin_20656594"/>
  <p:tag name="FAILEDREFRESHICONID" val="Darwin_20656594"/>
  <p:tag name="SYNQRY" val="SYNQRY#1#$$!$FileVersion--1.6.5.8$!$IsAlias--True$!$Project--53$!$IsNestedSegments--True$!$ProjectSegmentIDs--$!$Survey--665219$!$RequiredColumns--title@:@title@:@@:@$$Discussed_1st - Q3 2025 - Average of sum@:@Discussed_1st - Q3 2025 - Average of sum@:@@:@$$Discussed_1st - Q3 2025 - Average of count@:@Discussed_1st - Q3 2025 - Average of count@:@@:@$$Discussed_1st - Q4 2025 - Average of sum@:@Discussed_1st - Q4 2025 - Average of sum@:@@:@$$Discussed_1st - Q4 2025 - Average of count@:@Discussed_1st - Q4 2025 - Average of count@:@@:@$$Discussed_2nd - Q3 2025 - Average of sum@:@Discussed_2nd - Q3 2025 - Average of sum@:@@:@$$Discussed_2nd - Q3 2025 - Average of count@:@Discussed_2nd - Q3 2025 - Average of count@:@@:@$$Discussed_2nd - Q4 2025 - Average of sum@:@Discussed_2nd - Q4 2025 - Average of sum@:@@:@$$Discussed_2nd - Q4 2025 - Average of count@:@Discussed_2nd - Q4 2025 - Average of count@:@@:@$$Total - Q3 2025 - Average of sum@:@Total - Q3 2025 - Average of sum@:@@:@$$Total - Q3 2025 - Average of count@:@Total - Q3 2025 - Average of count@:@@:@$$Total - Q4 2025 - Average of sum@:@Total - Q4 2025 - Average of sum@:@@:@$$Total - Q4 2025 - Average of count@:@Total - Q4 2025 - Average of count@:@@:@$$&lt;blank:Discussed 1st&gt;@:@Discussed 1st@:@0%@:@=D2/E2$$&lt;blank:Discussed 2nd&gt;@:@Discussed 2nd@:@0%@:@=H2/I2$$&lt;blank:Discussed 3rd&gt;@:@Discussed 3rd@:@0%@:@=R2-O2-N2$$&lt;blank:Discussed 4th&gt;@:@Discussed 4th@:@0%@:@$$&lt;blank:Discussed Total&gt;@:@Discussed Total@:@0%@:@=L2/M2$$&lt;blank:Discussed Total Previous Quarter&gt;@:@Discussed Total Previous Quarter@:@0%@:@=J2/K2$$&lt;blank:Delta&gt;@:@Delta@:@0%@:@=R2-S2$!$LongFilterCondition--AND$!$Metric--none$!$SelectedColumns--&lt;blank:Delta&gt;@:@Delta@:@0%@:@=R2-S2$!$PivotFilterCondition--AND$!$Analysis--630832$!$SelectedRows--ALL$!$AddLatestColumnToFirst--False$!$RecentWave--W2#2$!$ChartSplit--$!$IsClientDeliverable--True$!$SelectedWave--120938,100427$!$Transpose--False$!$ClientDeliverableID--81$!$SelectedSeg--57252$!$IsOverlapping--False$!$ClientDeliverableSegmentIDs--13688,12129$!$SelectedGp--wave$!$IsSorted--True$!$ChartType--Table$!$SelectedMulRolling--$!$SortedField--&lt;blank:Discussed Total&gt;$$Descending$$$!$FetchOverallData--False$!$Relative--True$!$IsAddQuestionText--False$!$StatisticsSignificance--[]$!$LiveWave--True$!$IsNonOverlapping--False$!$StatisticsSignificanceNValue--30$!$IsSplit--False$!$LastUpdate--07-01-2026 16:45:21$!$AddSplitObjectsToSingleSlide--False$!$LongFilterFields--segment_1@:@IN@:@RYB_PP_RFSOV_OL_2025  - 0$!$TableHeader--2$!$PivotEntry--1$!$TopNRows--0$!$IsProjectAnalysis--False$!$SelectAllColumns--False$!$PivotFilterFields--$!$IsAddLegend--False$!$xField--title$!$Status--Create:Success$!$yField--options,segment_0$!$MoveFirst--$!$vField--sum,count$!$MoveLast--$!$fnField--Averag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94332965"/>
  <p:tag name="UPDATE" val="unlock"/>
  <p:tag name="VISUALISATION_ID" val="Darwin_87354264"/>
  <p:tag name="FAILEDREFRESHICONID" val="Darwin_87354264"/>
  <p:tag name="STASSIGID" val="StasSigId_78289455"/>
  <p:tag name="SYNQRY" val="SYNQRY#1#$$!$FileVersion--1.6.5.8$!$IsAlias--True$!$Project--53$!$IsNestedSegments--True$!$ProjectSegmentIDs--$!$Survey--665219$!$RequiredColumns--segment_0@:@segment_0@:@@:@$$RYBL_1L@:@RYBL_1L@:@0%@:@$$RYB_WL@:@RYB_WL@:@0%@:@$$EGFR@:@EGFR@:@0%@:@$!$LongFilterCondition--AND$!$Metric--$!$SelectedColumns--segment_0@:@segment_0@:@@:@$$RYBL_1L@:@RYBL_1L@:@0%@:@$$RYB_WL@:@RYB_WL@:@0%@:@$$EGFR@:@EGFR@:@0%@:@$!$PivotFilterCondition--AND$!$Analysis--630846$!$SelectedRows--ALL$!$AddLatestColumnToFirst--False$!$RecentWave--W2#2$!$ChartSplit--$!$IsClientDeliverable--True$!$SelectedWave--120938,100427$!$Transpose--False$!$ClientDeliverableID--81$!$SelectedSeg--57252$!$IsOverlapping--False$!$ClientDeliverableSegmentIDs--13688,12129$!$SelectedGp--wave$!$IsSorted--False$!$ChartType--Stacked Column$!$SelectedMulRolling--$!$SortedField--$!$FetchOverallData--False$!$Relative--True$!$IsAddQuestionText--False$!$StatisticsSignificance--[]$!$LiveWave--True$!$IsNonOverlapping--False$!$StatisticsSignificanceNValue--30$!$IsSplit--False$!$LastUpdate--07-01-2026 16:45:21$!$AddSplitObjectsToSingleSlide--False$!$LongFilterFields--segment_1@:@IN@:@RYB_PP_RFSOV_OL_2025  - 0$!$TableHeader--1$!$PivotEntry--1$!$TopNRows--0$!$IsProjectAnalysis--False$!$SelectAllColumns--True$!$PivotFilterFields--$!$IsAddLegend--False$!$xField--segment_0$!$Status--Create:Success$!$yField--title$!$MoveFirst--Q4 2025$!$vField--share$!$MoveLast--$!$fnField--Averag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HARTNUMBER" val="1"/>
  <p:tag name="SLIDENUMBER" val="1"/>
  <p:tag name="SLIDESEGMENTNAME" val="Total Network"/>
  <p:tag name="SLIDECATEGORYNAME" val="All Data"/>
  <p:tag name="SLIDETEMPLATENAME" val="2HBarStacked"/>
  <p:tag name="SLIDEATTRIBUTE THUMBNAILTITLE" val="Primary Focus vs. Message Value"/>
  <p:tag name="SLIDEATTRIBUTE LBLPERIOD" val="Month Ending September 2020"/>
  <p:tag name="SLIDEATTRIBUTE LBLNETWORKNAME" val="Oncology"/>
  <p:tag name="SLIDEATTRIBUTE LBLCLIENT" val="Pharmacyclics"/>
  <p:tag name="SLIDEATTRIBUTE LBLMARKET" val="Pharmacyclics CLL Promo"/>
  <p:tag name="SLIDEATTRIBUTE LBLSEGMENT" val="Total Network"/>
  <p:tag name="SLIDEATTRIBUTE LBLMEASUREDISPLAYNAME" val="Report Definition: (n = number of product details for the most current set of aided messages; r = number of responses to the Message Value question; dr = unique physicians reporting details for the product's most current set of aided messages)"/>
  <p:tag name="SLIDEATTRIBUTE LBLMEASUREDEFINITION" val="Message Frequency: The percent of brand specific aided messages reported by physicians, shown by Primary Focus, Additional Topics and Overall Frequency.&#10;Message Value: Stated Quality measure asked when message selected as primary. Scale is 1-7, where 6,7 = Extremely Valuable."/>
  <p:tag name="SLIDEATTRIBUTE LBLDISCLAIMER" val="Copyright © 2020 IQVIA.&#10;All rights reserved."/>
  <p:tag name="SLIDEATTRIBUTE LBLCHARTFOOTER" val="Error happened in the rule engine."/>
  <p:tag name="SLIDEATTRIBUTE LBLRPTID" val="Cat = PL 1447 Msg R B"/>
  <p:tag name="SLIDEATTRIBUTE IMGPRODUCTLOGO" val="\\filesvr01.imprx.com\PUBLIC\NJMTL\Operations\CDOM\Images\2014_Logos\AI-BrandImpact.png"/>
  <p:tag name="SLIDEATTRIBUTE LBLMKTLABEL" val="Market:"/>
  <p:tag name="SLIDEATTRIBUTE LBLSEGLABEL" val="Segment:"/>
  <p:tag name="SLIDEATTRIBUTE LBLCATALOGNUMBER" val="CAT ID: 1447 (935163) SQL20-MO IMPRX\SVC_CDOMBatch3 2020-10-05 11:07:50"/>
  <p:tag name="SLIDEATTRIBUTE IMGSOLUTIONLOGO" val="\\filesvr01.imprx.com\PUBLIC\NJMTL\Operations\CDOM\Images\2014_Logos\AI-BrandImpact-Normal.png"/>
  <p:tag name="SLIDEATTRIBUTE LBLRPTNAME" val="IMBRUVICA CLL – Primary Focus vs. Message Value&#10; All Sales Representatives"/>
  <p:tag name="SLIDEATTRIBUTE LBLSUBCATEGORY" val="IMBRUVICA CLL Aided Messages&#10;Month Ending September 2020 n=36; dr=33"/>
  <p:tag name="SQLSERVERNAME" val="CDOMDB_PROD"/>
  <p:tag name="SQLDATABASENAME" val="CDOM3_MO"/>
  <p:tag name="PROCESSINGDATETIME" val="10/5/2020 11:07:52 AM"/>
  <p:tag name="DELIVERABLEID" val="935163"/>
  <p:tag name="PACKAGEID" val="18782"/>
  <p:tag name="PACKAGENAME" val="MONTHLY Pharmacyclics IMBRUVICA Promotion"/>
  <p:tag name="TEMPLATEPATH" val="\\NJCINNT10\Public\NJMTL\Public\Product Management P3\CDOM IV\Template\CDOMIV_IQVIA Template_Widescreen.pptx"/>
  <p:tag name="CATID" val="1447"/>
  <p:tag name="REPORTNAME" val="Primary Focus vs. Message Value - horizontal charts"/>
  <p:tag name="ORDERNUMBER" val="9"/>
  <p:tag name="OUTPUTTYPEID" val="2"/>
  <p:tag name="OUTPUTTYPEDESCRIPTION" val="PowerPoint"/>
  <p:tag name="OUTPUTTYPECODE" val="P"/>
  <p:tag name="CLIENTID" val="530"/>
  <p:tag name="CLIENTNAME" val="Pharmacyclics"/>
  <p:tag name="MARKETID" val="3851"/>
  <p:tag name="MARKETNAME" val="Pharmacyclics CLL Promo"/>
  <p:tag name="SHOWSNANDDRCOUNTS" val="True"/>
  <p:tag name="DATASETID" val="13"/>
  <p:tag name="DATASETABBREVIATION" val="ASR"/>
  <p:tag name="DATASETSHORTNAME" val="All Sales Reps"/>
  <p:tag name="DATASETNAME" val="All Sales Representatives"/>
  <p:tag name="ISRUNNINGWITHSEGMENTS" val="False"/>
  <p:tag name="IGNORESSEGMENTS" val="False"/>
  <p:tag name="NUMBEROFSEGMENTS" val="0"/>
  <p:tag name="SEGMENTCATEGORYID" val="0"/>
  <p:tag name="SEGMENTCATEGORYNAME" val="..."/>
  <p:tag name="SEGMENTTYPEID" val="0"/>
  <p:tag name="SEGMENTTYPENAME" val="..."/>
  <p:tag name="SEGMENTORDERNUMBER" val="0"/>
  <p:tag name="SEGMENTID" val="0"/>
  <p:tag name="SEGMENTNAME" val="..."/>
  <p:tag name="SEGMENTLEVELID" val="0"/>
  <p:tag name="SEGMENTLEVELNAME" val="..."/>
  <p:tag name="ISRUNNINGWITHPSCORES" val="False"/>
  <p:tag name="PSCORESCONFIDENCELEVEL" val="0.9"/>
  <p:tag name="PSCORESCONFIDENCELEVELDESCRIPTION" val="90 %"/>
  <p:tag name="PSCORESCONTROLVARIABLEID" val="0"/>
  <p:tag name="PSCORESCONTROLVARIABLENAME" val="..."/>
  <p:tag name="DELIVERABLELEVELID" val="4"/>
  <p:tag name="DELIVERABLELEVELDESCRIPTION" val="Single Product"/>
  <p:tag name="DELIVERABLELEVELCODE" val="S"/>
  <p:tag name="SEGREGATESDETAILINTEGRATION" val="False"/>
  <p:tag name="SINGLEMULTIPLEDETAILINTEGRATION" val="Integrate"/>
  <p:tag name="DATEFREQUENCYTYPEID" val="3"/>
  <p:tag name="DATEFREQUENCYTYPEDESCRIPTION" val="Month"/>
  <p:tag name="DATEFREQUENCYOFFSETID" val="0"/>
  <p:tag name="DATEFREQUENCYOFFSETDESCRIPTION" val="..."/>
  <p:tag name="ENDPERIODID" val="237"/>
  <p:tag name="ENDPERIODDATEDESCRIPTION" val="09/30/2020"/>
  <p:tag name="ENDPERIODDESCRIPTION" val="Month Ending September 2020"/>
  <p:tag name="PERIODSNUMBER" val="1"/>
  <p:tag name="ROLLINGPERIODSNUMBER" val="1"/>
  <p:tag name="FINALROLLINGPERIODSNUMBER" val="1"/>
  <p:tag name="AUTOMATICALLYINCREMENTSENDPERIOD" val="True"/>
  <p:tag name="USESSTATICSTARPERIOD" val="False"/>
  <p:tag name="USESPOWERPOINTFILTER" val="False"/>
  <p:tag name="EXCLUDESFILTEREDVALUES" val="False"/>
  <p:tag name="POWERPOINTFILTERTHRESHOLD" val="-1"/>
  <p:tag name="YAXISSETTINGSID" val="1"/>
  <p:tag name="YAXISSETTINGSDESCRIPTION" val="Synchronize Axes"/>
  <p:tag name="TOPVALUESNUMBER" val="0"/>
  <p:tag name="PRIMARYMANUFACTURERID" val="0"/>
  <p:tag name="PRIMARYMANUFACTURERNAME" val="..."/>
  <p:tag name="MANUFACTURERNAME" val="Multiple"/>
  <p:tag name="MANUFACTURERSNAMES" val="..."/>
  <p:tag name="MANUFACTURERSFILTER" val="MFR_KEY IN (111, 2150, 1642, 1748)"/>
  <p:tag name="PRIMARYMANUFACTURERFILTER" val="..."/>
  <p:tag name="PRIMARYPRODUCTID" val="5754"/>
  <p:tag name="PRIMARYPRODUCTNAME" val="IMBRUVICA CLL"/>
  <p:tag name="SECONDARYPRODUCTID" val="0"/>
  <p:tag name="SECONDARYPRODUCTNAME" val="..."/>
  <p:tag name="PRODUCTSFILTER" val="..."/>
  <p:tag name="BRANDSFILTER" val="..."/>
  <p:tag name="PRIMARYDIAGNOSISID" val="0"/>
  <p:tag name="PRIMARYDIAGNOSISNAME" val="..."/>
  <p:tag name="SECONDARYDIAGNOSISID" val="0"/>
  <p:tag name="SECONDARYDIAGNOSISNAME" val="..."/>
  <p:tag name="DIAGNOSESFILTER" val="..."/>
  <p:tag name="MESSAGESFILTER" val="PRIMARY_MSG_KEY IN (15341, 16046, 16043, 16044, 16050, 16045, 16047, 16049, 16051, 15345)"/>
  <p:tag name="LOCATESOTDNTDMESSAGESONBOTTOM" val="False"/>
  <p:tag name="RANGEID" val="0"/>
  <p:tag name="RANGEDESCRIPTION" val="..."/>
  <p:tag name="RANKID" val="0"/>
  <p:tag name="RANKDESCRIPTION" val="..."/>
  <p:tag name="RANKCOLUMNNAME" val="..."/>
  <p:tag name="DASHBOARDHEADERALIGNMENTTYPEID" val="0"/>
  <p:tag name="DASHBOARDHEADERALIGNMENTTYPEDESCRIPTION" val="Use Defaults"/>
  <p:tag name="UPDATE" val="unlock"/>
  <p:tag name="VISUALISATION_ID" val="Darwin_11703585"/>
  <p:tag name="DARWINVERSION" val="CSharp"/>
  <p:tag name="FAILEDREFRESHICONID" val="Darwin_11703585"/>
  <p:tag name="STASSIGID" val="StasSigId_13264672"/>
  <p:tag name="SYNQRY" val="SYNQRY#1#$$!$FileVersion--1.6.5.8$!$IsAlias--True$!$Project--53$!$IsNestedSegments--True$!$ProjectSegmentIDs--$!$Survey--665219$!$RequiredColumns--title@:@title@:@@:@$$Discussed_1st - Q3 2025 - Average of sum@:@Discussed_1st - Q3 2025 - Average of sum@:@@:@$$Discussed_1st - Q3 2025 - Average of count@:@Discussed_1st - Q3 2025 - Average of count@:@@:@$$Discussed_1st - Q4 2025 - Average of sum@:@Discussed_1st - Q4 2025 - Average of sum@:@@:@$$Discussed_1st - Q4 2025 - Average of count@:@Discussed_1st - Q4 2025 - Average of count@:@@:@$$Discussed_2nd - Q3 2025 - Average of sum@:@Discussed_2nd - Q3 2025 - Average of sum@:@@:@$$Discussed_2nd - Q3 2025 - Average of count@:@Discussed_2nd - Q3 2025 - Average of count@:@@:@$$Discussed_2nd - Q4 2025 - Average of sum@:@Discussed_2nd - Q4 2025 - Average of sum@:@@:@$$Discussed_2nd - Q4 2025 - Average of count@:@Discussed_2nd - Q4 2025 - Average of count@:@@:@$$Total - Q3 2025 - Average of sum@:@Total - Q3 2025 - Average of sum@:@@:@$$Total - Q3 2025 - Average of count@:@Total - Q3 2025 - Average of count@:@@:@$$Total - Q4 2025 - Average of sum@:@Total - Q4 2025 - Average of sum@:@@:@$$Total - Q4 2025 - Average of count@:@Total - Q4 2025 - Average of count@:@@:@$$&lt;blank:Discussed 1st&gt;@:@Discussed 1st@:@0%@:@=D2/E2$$&lt;blank:Discussed 2nd&gt;@:@Discussed 2nd@:@0%@:@=H2/I2$$&lt;blank:Discussed 3rd&gt;@:@Discussed 3rd@:@0%@:@=R2-O2-N2$$&lt;blank:Discussed 4th&gt;@:@Discussed 4th@:@0%@:@$$&lt;blank:Discussed Total&gt;@:@Discussed Total@:@0%@:@=L2/M2$$&lt;blank:Discussed Total Previous Quarter&gt;@:@Discussed Total Previous Quarter@:@0%@:@=J2/K2$!$LongFilterCondition--AND$!$Metric--$!$SelectedColumns--title@:@title@:@@:@$$&lt;blank:Discussed 1st&gt;@:@Discussed 1st@:@0%@:@=D2/E2$$&lt;blank:Discussed 2nd&gt;@:@Discussed 2nd@:@0%@:@=H2/I2$$&lt;blank:Discussed 3rd&gt;@:@Discussed 3rd@:@0%@:@=R2-O2-N2$$&lt;blank:Discussed 4th&gt;@:@Discussed 4th@:@0%@:@$$&lt;blank:Discussed Total&gt;@:@Discussed Total@:@0%@:@=L2/M2$!$PivotFilterCondition--AND$!$Analysis--630832$!$SelectedRows--ALL$!$AddLatestColumnToFirst--False$!$RecentWave--W2#2$!$ChartSplit--$!$IsClientDeliverable--True$!$SelectedWave--120938,100427$!$Transpose--False$!$ClientDeliverableID--81$!$SelectedSeg--57252$!$IsOverlapping--False$!$ClientDeliverableSegmentIDs--13688,12129$!$SelectedGp--wave$!$IsSorted--True$!$ChartType--Stacked Bar$!$SelectedMulRolling--$!$SortedField--&lt;blank:Discussed Total&gt;$$Descending$$$!$FetchOverallData--False$!$Relative--True$!$IsAddQuestionText--False$!$StatisticsSignificance--[]$!$LiveWave--True$!$IsNonOverlapping--False$!$StatisticsSignificanceNValue--30$!$IsSplit--False$!$LastUpdate--07-01-2026 16:45:06$!$AddSplitObjectsToSingleSlide--False$!$LongFilterFields--segment_1@:@IN@:@RYB_PP_RFSOV_OL_2025  - 0$!$TableHeader--1$!$PivotEntry--1$!$TopNRows--0$!$IsProjectAnalysis--False$!$SelectAllColumns--False$!$PivotFilterFields--$!$IsAddLegend--False$!$xField--title$!$Status--Create:Success$!$yField--options,segment_0$!$MoveFirst--$!$vField--sum,count$!$MoveLast--$!$fnField--Averag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8911800"/>
  <p:tag name="UPDATE" val="unlock"/>
  <p:tag name="VISUALISATION_ID" val="Darwin_55099680"/>
  <p:tag name="FAILEDREFRESHICONID" val="Darwin_55099680"/>
  <p:tag name="STASSIGID" val="StasSigId_71050972"/>
  <p:tag name="SYNQRY" val="SYNQRY#1#$$!$FileVersion--1.6.5.8$!$IsAlias--True$!$Project--623$!$IsNestedSegments--True$!$ProjectSegmentIDs--$!$Survey--738902$!$RequiredColumns--Tag@:@Tag@:@@:@$$Message Effectiveness - Q3 2025 - Average of ME@:@Message Effectiveness - Q3 2025 - Average of ME@:@0%@:@$$Message Effectiveness - Q4 2025 - Average of ME@:@Message Effectiveness - Q4 2025 - Average of ME@:@0%@:@$$Message Recall - Q3 2025 - Average of decimal@:@Message Recall - Q3 2025 - Average of decimal@:@0%@:@$$Message Recall - Q4 2025 - Average of decimal@:@Message Recall - Q4 2025 - Average of decimal@:@0%@:@$$&lt;blank:Delta MR&gt;@:@Delta MR@:@0%@:@=E2-D2$$&lt;blank:Delta ME&gt;@:@Delta ME@:@0%@:@=C2-B2$!$LongFilterCondition--AND$!$Metric--$!$SelectedColumns--Tag@:@Tag@:@@:@$$Message Recall - Q4 2025 - Average of decimal@:@Message Recall - Q4 2025 - Average of decimal@:@0%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Message Recall - Q4 2025 - Average of decimal$$Descending$$$!$FetchOverallData--False$!$Relative--True$!$IsAddQuestionText--False$!$StatisticsSignificance--[]$!$LiveWave--True$!$IsNonOverlapping--False$!$StatisticsSignificanceNValue--30$!$IsSplit--False$!$LastUpdate--02-01-2026 12:40:13$!$AddSplitObjectsToSingleSlide--False$!$LongFilterFields--$!$TableHeader--1$!$PivotEntry--1$!$TopNRows--0$!$IsProjectAnalysis--True$!$SelectAllColumns--False$!$PivotFilterFields--$!$IsAddLegend--False$!$xField--Tag$!$Status--Create:Success$!$yField--analysis_id,segment_0$!$MoveFirst--$!$vField--decimal,ME$!$MoveLast--$!$fnField--Averag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89054912"/>
  <p:tag name="UPDATE" val="unlock"/>
  <p:tag name="VISUALISATION_ID" val="Darwin_29688091"/>
  <p:tag name="FAILEDREFRESHICONID" val="Darwin_29688091"/>
  <p:tag name="STASSIGID" val="StasSigId_57231105"/>
  <p:tag name="SYNQRY" val="SYNQRY#1#$$!$FileVersion--1.6.5.8$!$IsAlias--True$!$Project--623$!$IsNestedSegments--True$!$ProjectSegmentIDs--$!$Survey--738902$!$RequiredColumns--Tag@:@Tag@:@@:@$$Message Effectiveness - Q3 2025 - Average of ME@:@Message Effectiveness - Q3 2025 - Average of ME@:@0%@:@$$Message Effectiveness - Q4 2025 - Average of ME@:@Message Effectiveness - Q4 2025 - Average of ME@:@0%@:@$$Message Recall - Q3 2025 - Average of decimal@:@Message Recall - Q3 2025 - Average of decimal@:@0%@:@$$Message Recall - Q4 2025 - Average of decimal@:@Message Recall - Q4 2025 - Average of decimal@:@0%@:@$$&lt;blank:Delta MR&gt;@:@Delta MR@:@0%@:@=E2-D2$$&lt;blank:Delta ME&gt;@:@Delta ME@:@0%@:@=C2-B2$!$LongFilterCondition--AND$!$Metric--$!$SelectedColumns--Tag@:@Tag@:@@:@$$Message Effectiveness - Q4 2025 - Average of ME@:@Message Effectiveness - Q4 2025 - Average of ME@:@0%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Message Recall - Q4 2025 - Average of decimal$$Descending$$$!$FetchOverallData--False$!$Relative--True$!$IsAddQuestionText--False$!$StatisticsSignificance--[]$!$LiveWave--True$!$IsNonOverlapping--False$!$StatisticsSignificanceNValue--30$!$IsSplit--False$!$LastUpdate--02-01-2026 12:40:16$!$AddSplitObjectsToSingleSlide--False$!$LongFilterFields--$!$TableHeader--1$!$PivotEntry--1$!$TopNRows--0$!$IsProjectAnalysis--True$!$SelectAllColumns--False$!$PivotFilterFields--$!$IsAddLegend--False$!$xField--Tag$!$Status--Create:Success$!$yField--analysis_id,segment_0$!$MoveFirst--$!$vField--decimal,ME$!$MoveLast--$!$fnField--Averag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10061809"/>
  <p:tag name="TABLE" val="TabQ##RYB Recall##E2##G7##1##1"/>
  <p:tag name="UPDATE" val="unlock"/>
  <p:tag name="VISUALISATION_ID" val="Darwin_85773962"/>
  <p:tag name="SYNQRY" val="SYNQRY#1#$$!$FileVersion--1.6.5.8$!$IsAlias--True$!$Project--623$!$IsNestedSegments--True$!$ProjectSegmentIDs--$!$Survey--738902$!$RequiredColumns--Tag@:@Tag@:@@:@$$Message Effectiveness - Q3 2025 - Average of ME@:@Message Effectiveness - Q3 2025 - Average of ME@:@0%@:@$$Message Effectiveness - Q4 2025 - Average of ME@:@Message Effectiveness - Q4 2025 - Average of ME@:@0%@:@$$Message Recall - Q3 2025 - Average of decimal@:@Message Recall - Q3 2025 - Average of decimal@:@0%@:@$$Message Recall - Q4 2025 - Average of decimal@:@Message Recall - Q4 2025 - Average of decimal@:@0%@:@$$&lt;blank:Delta MR&gt;@:@Delta MR@:@0%@:@=E2-D2$$&lt;blank:Delta ME&gt;@:@Delta ME@:@0%@:@=C2-B2$!$LongFilterCondition--AND$!$Metric--$!$SelectedColumns--&lt;blank:Delta MR&gt;@:@Delta MR@:@0%@:@=E2-D2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Message Recall - Q4 2025 - Average of decimal$$Descending$$$!$FetchOverallData--False$!$Relative--True$!$IsAddQuestionText--False$!$StatisticsSignificance--[]$!$LiveWave--True$!$IsNonOverlapping--False$!$StatisticsSignificanceNValue--30$!$IsSplit--False$!$LastUpdate--02-01-2026 12:40:16$!$AddSplitObjectsToSingleSlide--False$!$LongFilterFields--$!$TableHeader--2$!$PivotEntry--1$!$TopNRows--0$!$IsProjectAnalysis--True$!$SelectAllColumns--False$!$PivotFilterFields--$!$IsAddLegend--False$!$xField--Tag$!$Status--Create:Success$!$yField--analysis_id,segment_0$!$MoveFirst--$!$vField--decimal,ME$!$MoveLast--$!$fnField--Average"/>
  <p:tag name="FAILEDREFRESHICONID" val="Darwin_8577396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10061809"/>
  <p:tag name="TABLE" val="TabQ##RYB Recall##E2##G7##1##1"/>
  <p:tag name="UPDATE" val="unlock"/>
  <p:tag name="VISUALISATION_ID" val="Darwin_18188269"/>
  <p:tag name="SYNQRY" val="SYNQRY#1#$$!$FileVersion--1.6.5.8$!$IsAlias--True$!$Project--623$!$IsNestedSegments--True$!$ProjectSegmentIDs--$!$Survey--738902$!$RequiredColumns--Tag@:@Tag@:@@:@$$Message Effectiveness - Q3 2025 - Average of ME@:@Message Effectiveness - Q3 2025 - Average of ME@:@0%@:@$$Message Effectiveness - Q4 2025 - Average of ME@:@Message Effectiveness - Q4 2025 - Average of ME@:@0%@:@$$Message Recall - Q3 2025 - Average of decimal@:@Message Recall - Q3 2025 - Average of decimal@:@0%@:@$$Message Recall - Q4 2025 - Average of decimal@:@Message Recall - Q4 2025 - Average of decimal@:@0%@:@$$&lt;blank:Delta MR&gt;@:@Delta MR@:@0%@:@=E2-D2$$&lt;blank:Delta ME&gt;@:@Delta ME@:@0%@:@=C2-B2$!$LongFilterCondition--AND$!$Metric--$!$SelectedColumns--&lt;blank:Delta ME&gt;@:@Delta ME@:@0%@:@=C2-B2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Message Recall - Q4 2025 - Average of decimal$$Descending$$$!$FetchOverallData--False$!$Relative--True$!$IsAddQuestionText--False$!$StatisticsSignificance--[]$!$LiveWave--True$!$IsNonOverlapping--False$!$StatisticsSignificanceNValue--30$!$IsSplit--False$!$LastUpdate--02-01-2026 12:40:16$!$AddSplitObjectsToSingleSlide--False$!$LongFilterFields--$!$TableHeader--2$!$PivotEntry--1$!$TopNRows--0$!$IsProjectAnalysis--True$!$SelectAllColumns--False$!$PivotFilterFields--$!$IsAddLegend--False$!$xField--Tag$!$Status--Create:Success$!$yField--analysis_id,segment_0$!$MoveFirst--$!$vField--decimal,ME$!$MoveLast--$!$fnField--Average"/>
  <p:tag name="FAILEDREFRESHICONID" val="Darwin_1818826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75224514"/>
  <p:tag name="DARWINVERSION" val="CSharp"/>
  <p:tag name="UPDATE" val="unlock"/>
  <p:tag name="VISUALISATION_ID" val="Darwin_15456270"/>
  <p:tag name="SYNQRY" val="SYNQRY#1#$$!$FileVersion--1.6.5.8$!$IsAlias--True$!$Project--623$!$IsNestedSegments--True$!$ProjectSegmentIDs--$!$Survey--738902$!$RequiredColumns--Tag@:@Tag@:@@:@$$Message Effectiveness - Q3 2025 - Average of ME@:@Message Effectiveness - Q3 2025 - Average of ME@:@0%@:@$$Message Effectiveness - Q4 2025 - Average of ME@:@Message Effectiveness - Q4 2025 - Average of ME@:@0%@:@$$Message Recall - Q3 2025 - Average of decimal@:@Message Recall - Q3 2025 - Average of decimal@:@0%@:@$$Message Recall - Q4 2025 - Average of decimal@:@Message Recall - Q4 2025 - Average of decimal@:@0%@:@$$&lt;blank:Delta MR&gt;@:@Delta MR@:@0%@:@=E2-D2$$&lt;blank:Delta ME&gt;@:@Delta ME@:@0%@:@=C2-B2$!$LongFilterCondition--AND$!$Metric--$!$SelectedColumns--Tag@:@Tag@:@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Message Recall - Q4 2025 - Average of decimal$$Descending$$$!$FetchOverallData--False$!$Relative--True$!$IsAddQuestionText--False$!$StatisticsSignificance--[]$!$LiveWave--True$!$IsNonOverlapping--False$!$StatisticsSignificanceNValue--30$!$IsSplit--False$!$LastUpdate--02-01-2026 12:40:16$!$AddSplitObjectsToSingleSlide--False$!$LongFilterFields--$!$TableHeader--1$!$PivotEntry--1$!$TopNRows--0$!$IsProjectAnalysis--True$!$SelectAllColumns--False$!$PivotFilterFields--$!$IsAddLegend--False$!$xField--Tag$!$Status--Create:Success$!$yField--analysis_id,segment_0$!$MoveFirst--$!$vField--decimal,ME$!$MoveLast--$!$fnField--Average"/>
  <p:tag name="FAILEDREFRESHICONID" val="Darwin_1545627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5456270"/>
  <p:tag name="NON_CONNECTED_SHAPE_ID" val="75224514"/>
  <p:tag name="UPDATE" val="unlock"/>
  <p:tag name="VISUALISATION_ID" val="Darwin_827462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5456270"/>
  <p:tag name="NON_CONNECTED_SHAPE_ID" val="75224514"/>
  <p:tag name="UPDATE" val="unlock"/>
  <p:tag name="VISUALISATION_ID" val="Darwin_827462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2023926"/>
  <p:tag name="UPDATE" val="unlock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DATE" val="unlock"/>
  <p:tag name="VISUALISATION_ID" val="Darwin_25743280"/>
  <p:tag name="DARWINVERSION" val="CSharp"/>
  <p:tag name="SYNQRY" val="SYNQRY#1#$$!$FileVersion--1.6.5.8$!$IsAlias--True$!$Project--623$!$IsNestedSegments--True$!$ProjectSegmentIDs--$!$Survey--73890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Q3 2025 - Options  - Believable - Average of ME@:@Q3 2025 - Options  - Believable - Average of ME@:@0%@:@$$Q4 2025 - Options  - Believable - Average of ME@:@Q4 2025 - Options  - Believable - Average of ME@:@0%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30-12-2025 18:25:03$!$AddSplitObjectsToSingleSlide--False$!$LongFilterFields--$!$TableHeader--2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66454342"/>
  <p:tag name="TABLE" val="TabQ##RYB Recall##E2##G7##1##1"/>
  <p:tag name="UPDATE" val="unlock"/>
  <p:tag name="VISUALISATION_ID" val="Darwin_21155139"/>
  <p:tag name="SYNQRY" val="SYNQRY#1#$$!$FileVersion--1.6.5.8$!$IsAlias--True$!$Project--623$!$IsNestedSegments--True$!$ProjectSegmentIDs--$!$Survey--73890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Tag@:@Tag@:@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30-12-2025 18:25:03$!$AddSplitObjectsToSingleSlide--False$!$LongFilterFields--$!$TableHeader--2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57009862"/>
  <p:tag name="SYNQ##Q2" val="SynQ##call generateReports('988982','##wSel##','44554','Rolling',CURRENT_DATE())$!$Fields--title,count,total_count,percentage,$!$Filter--$!$Sorting--$!$NumOfWaves--3$!$Recent--0"/>
  <p:tag name="UPDATE" val="unlock"/>
  <p:tag name="VISUALISATION_ID" val="Darwin_83352246"/>
  <p:tag name="STASSIGID" val="StasSigId_46464299"/>
  <p:tag name="SYNQRY" val="SYNQRY#1#$$!$FileVersion--1.6.5.8$!$IsAlias--True$!$Project--623$!$IsNestedSegments--True$!$ProjectSegmentIDs--$!$Survey--73890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Tag@:@Tag@:@@:@$$Q3 2025 - Options  - Believable - Average of decimal@:@Q3 2025 - Options  - Believable - Average of decimal@:@0%@:@$$Q4 2025 - Options  - Believable - Average of decimal@:@Q4 2025 - Options  - Believable - Average of decimal@:@0%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Abacus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30-12-2025 18:25:03$!$AddSplitObjectsToSingleSlide--False$!$LongFilterFields--$!$TableHeader--1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83376647"/>
  <p:tag name="SYNQ##Q2" val="SynQ##call generateReports('988982','##wSel##','44554','Rolling',CURRENT_DATE())$!$Fields--title,count,total_count,percentage,$!$Filter--$!$Sorting--$!$NumOfWaves--3$!$Recent--0"/>
  <p:tag name="UPDATE" val="unlock"/>
  <p:tag name="VISUALISATION_ID" val="Darwin_62931399"/>
  <p:tag name="STASSIGID" val="StasSigId_69226323"/>
  <p:tag name="SYNQRY" val="SYNQRY#1#$$!$FileVersion--1.6.5.8$!$IsAlias--True$!$Project--623$!$IsNestedSegments--True$!$ProjectSegmentIDs--$!$Survey--73890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none$!$SelectedColumns--Tag@:@Tag@:@@:@$$Q3 2025 - Options  - Differentiated - Average of decimal@:@Q3 2025 - Options  - Differentiated - Average of decimal@:@0%@:@$$Q4 2025 - Options  - Differentiated - Average of decimal@:@Q4 2025 - Options  - Differentiated - Average of decimal@:@0%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Abacus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30-12-2025 18:25:03$!$AddSplitObjectsToSingleSlide--False$!$LongFilterFields--$!$TableHeader--2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24133701"/>
  <p:tag name="SYNQ##Q2" val="SynQ##call generateReports('988982','##wSel##','44554','Rolling',CURRENT_DATE())$!$Fields--title,count,total_count,percentage,$!$Filter--$!$Sorting--$!$NumOfWaves--3$!$Recent--0"/>
  <p:tag name="UPDATE" val="unlock"/>
  <p:tag name="VISUALISATION_ID" val="Darwin_71435211"/>
  <p:tag name="STASSIGID" val="StasSigId_82363036"/>
  <p:tag name="SYNQRY" val="SYNQRY#1#$$!$FileVersion--1.6.5.8$!$IsAlias--True$!$Project--623$!$IsNestedSegments--True$!$ProjectSegmentIDs--$!$Survey--73890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none$!$SelectedColumns--Tag@:@Tag@:@@:@$$Q3 2025 - Options  - Motivating - Average of decimal@:@Q3 2025 - Options  - Motivating - Average of decimal@:@0%@:@$$Q4 2025 - Options  - Motivating - Average of decimal@:@Q4 2025 - Options  - Motivating - Average of decimal@:@0%@:@$!$PivotFilterCondition--AND$!$Analysis--9905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Abacus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30-12-2025 18:25:03$!$AddSplitObjectsToSingleSlide--False$!$LongFilterFields--$!$TableHeader--2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8263457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RY" val="SYNQRY#1#$$!$FileVersion--1.6.5.8$!$IsAlias--True$!$Project--623$!$IsNestedSegments--True$!$ProjectSegmentIDs--$!$Survey--738902$!$RequiredColumns--title@:@title@:@@:@$$Attr_Rank_2025 - Q2 2025@:@Attr_Rank_2025 - Q2 2025@:@@:@$$Attr_Rank_2025 - Q3 2025@:@Attr_Rank_2025 - Q3 2025@:@@:@$$Attr_Rank_2025 - Q4 2025@:@Attr_Rank_2025 - Q4 2025@:@@:@$$RYB_Rep_Per_2025 - Q2 2025@:@RYB_Rep_Per_2025 - Q2 2025@:@0%@:@$$RYB_Rep_Per_2025 - Q3 2025@:@RYB_Rep_Per_2025 - Q3 2025@:@0%@:@$$RYB_Rep_Per_2025 - Q4 2025@:@RYB_Rep_Per_2025 - Q4 2025@:@0%@:@$$TAG_REP_PERF_2025 - Q4 2025@:@TAG_REP_PERF_2025 - Q4 2025@:@0%@:@$$&lt;blank:IA&gt;@:@IA@:@0%@:@=10%$$&lt;blank:Order Att Rank&gt;@:@Order Att Rank@:@0%@:@=SUM(B2:D2)$!$LongFilterCondition--AND$!$Metric--none$!$SelectedColumns--RYB_Rep_Per_2025 - Q2 2025@:@RYB_Rep_Per_2025 - Q2 2025@:@0%@:@$$RYB_Rep_Per_2025 - Q3 2025@:@RYB_Rep_Per_2025 - Q3 2025@:@0%@:@$!$PivotFilterCondition--AND$!$Analysis--16680$!$SelectedRows--ALL$!$AddLatestColumnToFirst--False$!$RecentWave--W2#3$!$ChartSplit--$!$IsClientDeliverable--True$!$SelectedWave--129469,127676,125979$!$Transpose--False$!$ClientDeliverableID--138$!$SelectedSeg--$!$IsOverlapping--False$!$ClientDeliverableSegmentIDs--13717,12164,11230$!$SelectedGp--wave$!$IsSorted--True$!$ChartType--Table$!$SelectedMulRolling--$!$SortedField--&lt;blank:Order Att Rank&gt;$$Descending$$$!$FetchOverallData--False$!$Relative--True$!$IsAddQuestionText--False$!$StatisticsSignificance--[]$!$LiveWave--True$!$IsNonOverlapping--False$!$StatisticsSignificanceNValue--30$!$IsSplit--False$!$LastUpdate--30-12-2025 17:20:03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Overall quality of sales call$!$vField--decimal$!$MoveLast--$!$fnField--Average"/>
  <p:tag name="FAILEDREFRESHICONID" val="Darwin_10560671"/>
  <p:tag name="UPDATE" val="unlock"/>
  <p:tag name="DARWINVERSION" val="CSharp"/>
  <p:tag name="VISUALISATION_ID" val="Darwin_9084711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SYNQRY" val="SYNQRY#1#$$!$FileVersion--1.6.5.8$!$IsAlias--True$!$Project--623$!$IsNestedSegments--True$!$ProjectSegmentIDs--$!$Survey--738902$!$RequiredColumns--title@:@title@:@@:@$$Attr_Rank_2025 - Q2 2025@:@Attr_Rank_2025 - Q2 2025@:@@:@$$Attr_Rank_2025 - Q3 2025@:@Attr_Rank_2025 - Q3 2025@:@@:@$$Attr_Rank_2025 - Q4 2025@:@Attr_Rank_2025 - Q4 2025@:@@:@$$RYB_Rep_Per_2025 - Q2 2025@:@RYB_Rep_Per_2025 - Q2 2025@:@0%@:@$$RYB_Rep_Per_2025 - Q3 2025@:@RYB_Rep_Per_2025 - Q3 2025@:@0%@:@$$RYB_Rep_Per_2025 - Q4 2025@:@RYB_Rep_Per_2025 - Q4 2025@:@0%@:@$$TAG_REP_PERF_2025 - Q4 2025@:@TAG_REP_PERF_2025 - Q4 2025@:@0%@:@$$&lt;blank:IA&gt;@:@IA@:@0%@:@=10%$$&lt;blank:Order Att Rank&gt;@:@Order Att Rank@:@0%@:@=SUM(B2:D2)$!$LongFilterCondition--AND$!$Metric--none$!$SelectedColumns--title@:@title@:@@:@$!$PivotFilterCondition--AND$!$Analysis--16680$!$SelectedRows--ALL$!$AddLatestColumnToFirst--False$!$RecentWave--W2#3$!$ChartSplit--$!$IsClientDeliverable--True$!$SelectedWave--129469,127676,125979$!$Transpose--False$!$ClientDeliverableID--138$!$SelectedSeg--$!$IsOverlapping--False$!$ClientDeliverableSegmentIDs--13717,12164,11230$!$SelectedGp--wave$!$IsSorted--True$!$ChartType--Table$!$SelectedMulRolling--$!$SortedField--&lt;blank:Order Att Rank&gt;$$Descending$$$!$FetchOverallData--False$!$Relative--True$!$IsAddQuestionText--False$!$StatisticsSignificance--[]$!$LiveWave--True$!$IsNonOverlapping--False$!$StatisticsSignificanceNValue--30$!$IsSplit--False$!$LastUpdate--30-12-2025 16:56:11$!$AddSplitObjectsToSingleSlide--False$!$LongFilterFields--$!$TableHeader--2$!$PivotEntry--1$!$TopNRows--0$!$IsProjectAnalysis--True$!$SelectAllColumns--True$!$PivotFilterFields--$!$IsAddLegend--False$!$xField--title$!$Status--Create:Success$!$yField--analysis_id,segment_0$!$MoveFirst--Overall quality of sales call$!$vField--decimal$!$MoveLast--$!$fnField--Average"/>
  <p:tag name="VISUALISATION_ID" val="Darwin_1326905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SYNQRY" val="SYNQRY#1#$$!$FileVersion--1.6.5.8$!$IsAlias--True$!$Project--623$!$IsNestedSegments--True$!$ProjectSegmentIDs--$!$Survey--738902$!$RequiredColumns--title@:@title@:@@:@$$Attr_Rank_2025 - Q2 2025@:@Attr_Rank_2025 - Q2 2025@:@@:@$$Attr_Rank_2025 - Q3 2025@:@Attr_Rank_2025 - Q3 2025@:@@:@$$Attr_Rank_2025 - Q4 2025@:@Attr_Rank_2025 - Q4 2025@:@@:@$$RYB_Rep_Per_2025 - Q2 2025@:@RYB_Rep_Per_2025 - Q2 2025@:@0%@:@$$RYB_Rep_Per_2025 - Q3 2025@:@RYB_Rep_Per_2025 - Q3 2025@:@0%@:@$$RYB_Rep_Per_2025 - Q4 2025@:@RYB_Rep_Per_2025 - Q4 2025@:@0%@:@$$TAG_REP_PERF_2025 - Q4 2025@:@TAG_REP_PERF_2025 - Q4 2025@:@0%@:@$$&lt;blank:IA&gt;@:@IA@:@0%@:@=10%$$&lt;blank:Order Att Rank&gt;@:@Order Att Rank@:@0%@:@=SUM(B2:D2)$!$LongFilterCondition--AND$!$Metric--none$!$SelectedColumns--title@:@title@:@@:@$$RYB_Rep_Per_2025 - Q4 2025@:@RYB_Rep_Per_2025 - Q4 2025@:@0%@:@$$TAG_REP_PERF_2025 - Q4 2025@:@TAG_REP_PERF_2025 - Q4 2025@:@0%@:@$$&lt;blank:IA&gt;@:@IA@:@0%@:@=10%$!$PivotFilterCondition--AND$!$Analysis--16680$!$SelectedRows--ALL$!$AddLatestColumnToFirst--False$!$RecentWave--W2#3$!$ChartSplit--$!$IsClientDeliverable--True$!$SelectedWave--129469,127676,125979$!$Transpose--False$!$ClientDeliverableID--138$!$SelectedSeg--$!$IsOverlapping--False$!$ClientDeliverableSegmentIDs--13717,12164,11230$!$SelectedGp--wave$!$IsSorted--True$!$ChartType--Abacus$!$SelectedMulRolling--$!$SortedField--&lt;blank:Order Att Rank&gt;$$Descending$$$!$FetchOverallData--False$!$Relative--True$!$IsAddQuestionText--False$!$StatisticsSignificance--[]$!$LiveWave--True$!$IsNonOverlapping--False$!$StatisticsSignificanceNValue--30$!$IsSplit--False$!$LastUpdate--30-12-2025 17:20:47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Overall quality of sales call$!$vField--decimal$!$MoveLast--$!$fnField--Average"/>
  <p:tag name="FAILEDREFRESHICONID" val="Darwin_91924882"/>
  <p:tag name="VISUALISATION_ID" val="Darwin_6568334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39006557"/>
  <p:tag name="NON_CONNECTED_SHAPE_ID" val="77756613"/>
  <p:tag name="TABLE" val="TabQ##Attribute Ratings##C19##C29##2##1"/>
  <p:tag name="UPDATE" val="unlock"/>
  <p:tag name="VISUALISATION_ID" val="Darwin_93322510"/>
  <p:tag name="SYNQRY" val="SYNQRY#1#$$!$FileVersion--1.6.5.8$!$IsAlias--True$!$Project--623$!$IsNestedSegments--True$!$ProjectSegmentIDs--$!$Survey--738902$!$RequiredColumns--title@:@title@:@@:@$$Attr_Rank_2025 - Q2 2025@:@Attr_Rank_2025 - Q2 2025@:@@:@$$Attr_Rank_2025 - Q3 2025@:@Attr_Rank_2025 - Q3 2025@:@@:@$$Attr_Rank_2025 - Q4 2025@:@Attr_Rank_2025 - Q4 2025@:@@:@$$RYB_Rep_Per_2025 - Q2 2025@:@RYB_Rep_Per_2025 - Q2 2025@:@0%@:@$$RYB_Rep_Per_2025 - Q3 2025@:@RYB_Rep_Per_2025 - Q3 2025@:@0%@:@$$RYB_Rep_Per_2025 - Q4 2025@:@RYB_Rep_Per_2025 - Q4 2025@:@0%@:@$$TAG_REP_PERF_2025 - Q4 2025@:@TAG_REP_PERF_2025 - Q4 2025@:@0%@:@$$&lt;blank:IA&gt;@:@IA@:@0%@:@=10%$$&lt;blank:Order Att Rank&gt;@:@Order Att Rank@:@0%@:@=SUM(B2:D2)$$TAG_REP_PERF_2025 - Q3 2025@:@TAG_REP_PERF_2025 - Q3 2025@:@0%@:@$$&lt;blank:Delta RYB&gt;@:@Delta RYB@:@0%@:@=G2-F2$$&lt;blank:Delta TAG&gt;@:@Delta TAG@:@0%@:@=H2-K2$!$LongFilterCondition--AND$!$Metric--none$!$SelectedColumns--&lt;blank:Delta RYB&gt;@:@Delta RYB@:@0%@:@=G2-F2$$&lt;blank:Delta TAG&gt;@:@Delta TAG@:@0%@:@=H2-K2$!$PivotFilterCondition--AND$!$Analysis--16680$!$SelectedRows--ALL$!$AddLatestColumnToFirst--False$!$RecentWave--W2#3$!$ChartSplit--$!$IsClientDeliverable--True$!$SelectedWave--129469,127676,125979$!$Transpose--False$!$ClientDeliverableID--138$!$SelectedSeg--$!$IsOverlapping--False$!$ClientDeliverableSegmentIDs--13717,12164,11230$!$SelectedGp--wave$!$IsSorted--True$!$ChartType--Table$!$SelectedMulRolling--$!$SortedField--&lt;blank:Order Att Rank&gt;$$Descending$$$!$FetchOverallData--False$!$Relative--True$!$IsAddQuestionText--False$!$StatisticsSignificance--[]$!$LiveWave--True$!$IsNonOverlapping--False$!$StatisticsSignificanceNValue--30$!$IsSplit--False$!$LastUpdate--02-01-2026 17:29:37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Overall quality of sales call$!$vField--decimal$!$MoveLast--$!$fnField--Averag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" val="TabQ##Attribute Ratings##C19##C29##2##1"/>
  <p:tag name="NON_CONNECTED_SHAPE_ID" val="77756613"/>
  <p:tag name="DARWINVERSION" val="CSharp"/>
  <p:tag name="FAILEDREFRESHICONID" val="Darwin_39006557"/>
  <p:tag name="UPDATE" val="unlock"/>
  <p:tag name="VISUALISATION_ID" val="Darwin_2720225"/>
  <p:tag name="SYNQRY" val="SYNQRY#1#$$!$FileVersion--1.6.5.1$!$IsAlias--True$!$Project--1242$!$IsNestedSegments--False$!$ProjectSegmentIDs--$!$Survey--899213$!$RequiredColumns--title@:@title@:@@:@$$Importance - Q3 2025 - Average of sum@:@Importance - Q3 2025 - Average of sum@:@@:@$$Importance - Q3 2025 - Average of n - value@:@Importance - Q3 2025 - Average of n - value@:@@:@$$&lt;blank:Stated attribute importance&gt;@:@Stated attribute importance@:@0%@:@=B2/C2$$RYBREVANT - Q2 2025 - Average of decimal@:@RYBREVANT - Q2 2025 - Average of decimal@:@0%@:@$$RYBREVANT - Q3 2025 - Average of decimal@:@RYBREVANT - Q3 2025 - Average of decimal@:@0%@:@$$TAGRISSO - Q2 2025 - Average of decimal@:@TAGRISSO - Q2 2025 - Average of decimal@:@0%@:@$$TAGRISSO - Q3 2025 - Average of decimal@:@TAGRISSO - Q3 2025 - Average of decimal@:@0%@:@$$&lt;blank:Delta Ryb&gt;@:@Delta Ryb@:@0%@:@=F2-E2$$&lt;blank:Delta Tag&gt;@:@Delta Tag@:@0%@:@=H2-G2$!$LongFilterCondition--AND$!$Metric--none$!$SelectedColumns--&lt;blank:Delta Ryb&gt;@:@Delta Ryb@:@0%@:@=F2-E2$$&lt;blank:Delta Tag&gt;@:@Delta Tag@:@0%@:@=H2-G2$!$PivotFilterCondition--AND$!$Analysis--8316$!$SelectedRows--ALL$!$AddLatestColumnToFirst--False$!$RecentWave--W2#2$!$ChartSplit--$!$IsClientDeliverable--True$!$SelectedWave--104512,100184$!$Transpose--False$!$ClientDeliverableID--353$!$SelectedSeg--$!$IsOverlapping--False$!$ClientDeliverableSegmentIDs--12263,11310$!$SelectedGp--wave$!$IsSorted--True$!$ChartType--Table$!$SelectedMulRolling--$!$SortedField--Importance - Q3 2025 - Average of sum$$Descending$$$!$FetchOverallData--True$!$Relative--True$!$IsAddQuestionText--False$!$StatisticsSignificance--[]$!$LiveWave--True$!$IsNonOverlapping--False$!$StatisticsSignificanceNValue--30$!$IsSplit--False$!$LastUpdate--25-06-2025 13:21:40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Overall quality of interaction$!$vField--sum,decimal,n - value$!$MoveLast--$!$fnField--Averag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" val="TabQ##Attribute Ratings##C19##C29##2##1"/>
  <p:tag name="NON_CONNECTED_SHAPE_ID" val="77756613"/>
  <p:tag name="DARWINVERSION" val="CSharp"/>
  <p:tag name="FAILEDREFRESHICONID" val="Darwin_39006557"/>
  <p:tag name="UPDATE" val="unlock"/>
  <p:tag name="SYNQRY" val="SYNQRY#1#$$!$FileVersion--1.6.5.1$!$IsAlias--True$!$Project--1242$!$IsNestedSegments--False$!$ProjectSegmentIDs--$!$Survey--899213$!$RequiredColumns--title@:@title@:@@:@$$Importance - Q3 2025 - Average of sum@:@Importance - Q3 2025 - Average of sum@:@@:@$$Importance - Q3 2025 - Average of n - value@:@Importance - Q3 2025 - Average of n - value@:@@:@$$&lt;blank:Stated attribute importance&gt;@:@Stated attribute importance@:@0%@:@=B2/C2$$RYBREVANT - Q2 2025 - Average of decimal@:@RYBREVANT - Q2 2025 - Average of decimal@:@0%@:@$$RYBREVANT - Q3 2025 - Average of decimal@:@RYBREVANT - Q3 2025 - Average of decimal@:@0%@:@$$TAGRISSO - Q2 2025 - Average of decimal@:@TAGRISSO - Q2 2025 - Average of decimal@:@0%@:@$$TAGRISSO - Q3 2025 - Average of decimal@:@TAGRISSO - Q3 2025 - Average of decimal@:@0%@:@$$&lt;blank:Delta Ryb&gt;@:@Delta Ryb@:@0%@:@=F2-E2$$&lt;blank:Delta Tag&gt;@:@Delta Tag@:@0%@:@=H2-G2$!$LongFilterCondition--AND$!$Metric--none$!$SelectedColumns--&lt;blank:Delta Ryb&gt;@:@Delta Ryb@:@0%@:@=F2-E2$$&lt;blank:Delta Tag&gt;@:@Delta Tag@:@0%@:@=H2-G2$!$PivotFilterCondition--AND$!$Analysis--8316$!$SelectedRows--ALL$!$AddLatestColumnToFirst--False$!$RecentWave--W2#2$!$ChartSplit--$!$IsClientDeliverable--True$!$SelectedWave--104512,100184$!$Transpose--False$!$ClientDeliverableID--353$!$SelectedSeg--$!$IsOverlapping--False$!$ClientDeliverableSegmentIDs--12263,11310$!$SelectedGp--wave$!$IsSorted--True$!$ChartType--Table$!$SelectedMulRolling--$!$SortedField--Importance - Q3 2025 - Average of sum$$Descending$$$!$FetchOverallData--True$!$Relative--True$!$IsAddQuestionText--False$!$StatisticsSignificance--[]$!$LiveWave--True$!$IsNonOverlapping--False$!$StatisticsSignificanceNValue--30$!$IsSplit--False$!$LastUpdate--25-06-2025 13:21:40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Overall quality of interaction$!$vField--sum,decimal,n - value$!$MoveLast--$!$fnField--Average"/>
  <p:tag name="VISUALISATION_ID" val="Darwin_2624626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" val="TabQ##Attribute Ratings##C19##C29##2##1"/>
  <p:tag name="NON_CONNECTED_SHAPE_ID" val="77756613"/>
  <p:tag name="DARWINVERSION" val="CSharp"/>
  <p:tag name="FAILEDREFRESHICONID" val="Darwin_39006557"/>
  <p:tag name="UPDATE" val="unlock"/>
  <p:tag name="SYNQRY" val="SYNQRY#1#$$!$FileVersion--1.6.5.1$!$IsAlias--True$!$Project--1242$!$IsNestedSegments--False$!$ProjectSegmentIDs--$!$Survey--899213$!$RequiredColumns--title@:@title@:@@:@$$Importance - Q3 2025 - Average of sum@:@Importance - Q3 2025 - Average of sum@:@@:@$$Importance - Q3 2025 - Average of n - value@:@Importance - Q3 2025 - Average of n - value@:@@:@$$&lt;blank:Stated attribute importance&gt;@:@Stated attribute importance@:@0%@:@=B2/C2$$RYBREVANT - Q2 2025 - Average of decimal@:@RYBREVANT - Q2 2025 - Average of decimal@:@0%@:@$$RYBREVANT - Q3 2025 - Average of decimal@:@RYBREVANT - Q3 2025 - Average of decimal@:@0%@:@$$TAGRISSO - Q2 2025 - Average of decimal@:@TAGRISSO - Q2 2025 - Average of decimal@:@0%@:@$$TAGRISSO - Q3 2025 - Average of decimal@:@TAGRISSO - Q3 2025 - Average of decimal@:@0%@:@$$&lt;blank:Delta Ryb&gt;@:@Delta Ryb@:@0%@:@=F2-E2$$&lt;blank:Delta Tag&gt;@:@Delta Tag@:@0%@:@=H2-G2$!$LongFilterCondition--AND$!$Metric--none$!$SelectedColumns--&lt;blank:Delta Ryb&gt;@:@Delta Ryb@:@0%@:@=F2-E2$$&lt;blank:Delta Tag&gt;@:@Delta Tag@:@0%@:@=H2-G2$!$PivotFilterCondition--AND$!$Analysis--8316$!$SelectedRows--ALL$!$AddLatestColumnToFirst--False$!$RecentWave--W2#2$!$ChartSplit--$!$IsClientDeliverable--True$!$SelectedWave--104512,100184$!$Transpose--False$!$ClientDeliverableID--353$!$SelectedSeg--$!$IsOverlapping--False$!$ClientDeliverableSegmentIDs--12263,11310$!$SelectedGp--wave$!$IsSorted--True$!$ChartType--Table$!$SelectedMulRolling--$!$SortedField--Importance - Q3 2025 - Average of sum$$Descending$$$!$FetchOverallData--True$!$Relative--True$!$IsAddQuestionText--False$!$StatisticsSignificance--[]$!$LiveWave--True$!$IsNonOverlapping--False$!$StatisticsSignificanceNValue--30$!$IsSplit--False$!$LastUpdate--25-06-2025 13:21:40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Overall quality of interaction$!$vField--sum,decimal,n - value$!$MoveLast--$!$fnField--Average"/>
  <p:tag name="VISUALISATION_ID" val="Darwin_7064134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VISUALISATION_ID" val="Darwin_63878609"/>
  <p:tag name="FAILEDREFRESHICONID" val="Darwin_63878609"/>
  <p:tag name="UPDATE" val="unlock"/>
  <p:tag name="STASSIGID" val="StasSigId_21178059"/>
  <p:tag name="SYNQRY" val="SYNQRY#1#$$!$FileVersion--1.6.5.8$!$IsAlias--True$!$Project--623$!$IsNestedSegments--True$!$ProjectSegmentIDs--$!$Survey--738902$!$RequiredColumns--analysis_id@:@analysis_id@:@@:@$$Q3 2025@:@Q3 2025@:@0%@:@$$Q4 2025@:@Q4 2025@:@0%@:@$$&lt;blank:Delta&gt;@:@Delta@:@0%@:@=C2-B2$!$LongFilterCondition--AND$!$Metric--$!$SelectedColumns--analysis_id@:@analysis_id@:@@:@$$Q4 2025@:@Q4 2025@:@0%@:@$!$PivotFilterCondition--AND$!$Analysis--16740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analysis_id$$Ascending$$Compelling Reason;Changed Opinion;Closing Rates;Staff Education$!$FetchOverallData--False$!$Relative--True$!$IsAddQuestionText--False$!$StatisticsSignificance--[]$!$LiveWave--True$!$IsNonOverlapping--False$!$StatisticsSignificanceNValue--30$!$IsSplit--False$!$LastUpdate--22-12-2025 16:09:27$!$AddSplitObjectsToSingleSlide--False$!$LongFilterFields--option_title@:@IN@:@Yes$!$TableHeader--1$!$PivotEntry--1$!$TopNRows--0$!$IsProjectAnalysis--True$!$SelectAllColumns--False$!$PivotFilterFields--$!$IsAddLegend--False$!$xField--analysis_id$!$Status--Create:Success$!$yField--segment_0$!$MoveFirst--$!$vField--decimal$!$MoveLast--$!$fnField--Averag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VISUALISATION_ID" val="Darwin_81770726"/>
  <p:tag name="FAILEDREFRESHICONID" val="Darwin_81770726"/>
  <p:tag name="UPDATE" val="unlock"/>
  <p:tag name="STASSIGID" val="StasSigId_29079481"/>
  <p:tag name="SYNQRY" val="SYNQRY#1#$$!$FileVersion--1.6.5.8$!$IsAlias--True$!$Project--623$!$IsNestedSegments--True$!$ProjectSegmentIDs--$!$Survey--205732$!$RequiredColumns--analysis_id@:@analysis_id@:@@:@$$Q3 2025@:@Q3 2025@:@0%@:@$$Q4 2025@:@Q4 2025@:@0%@:@$!$LongFilterCondition--AND$!$Metric--$!$SelectedColumns--analysis_id@:@analysis_id@:@@:@$$Q4 2025@:@Q4 2025@:@0%@:@$!$PivotFilterCondition--AND$!$Analysis--16741$!$SelectedRows--ALL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True$!$ChartType--Clustered Bar$!$SelectedMulRolling--$!$SortedField--analysis_id$$Ascending$$Compelling Reason;Changed Opinion;Closing Rates;Staff Education$!$FetchOverallData--False$!$Relative--True$!$IsAddQuestionText--False$!$StatisticsSignificance--[]$!$LiveWave--True$!$IsNonOverlapping--False$!$StatisticsSignificanceNValue--30$!$IsSplit--False$!$LastUpdate--22-12-2025 16:17:57$!$AddSplitObjectsToSingleSlide--False$!$LongFilterFields--option_title@:@IN@:@Yes$$title@:@IN@:@TAGRISSO plus chemotherapy for EGFR (exon 19, exon 21 L858R mutations) mutated mNSCLC$!$TableHeader--1$!$PivotEntry--1$!$TopNRows--0$!$IsProjectAnalysis--True$!$SelectAllColumns--False$!$PivotFilterFields--$!$IsAddLegend--False$!$xField--analysis_id$!$Status--Create:Success$!$yField--segment_0$!$MoveFirst--$!$vField--decimal$!$MoveLast--$!$fnField--Averag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RYB Recall##E2##G7##1##1"/>
  <p:tag name="VISUALISATION_ID" val="Darwin_15654530"/>
  <p:tag name="SYNQRY" val="SYNQRY#1#$$!$FileVersion--1.6.5.8$!$IsAlias--True$!$Project--623$!$IsNestedSegments--True$!$ProjectSegmentIDs--$!$Survey--738902$!$RequiredColumns--analysis_id@:@analysis_id@:@@:@$$Q3 2025@:@Q3 2025@:@0%@:@$$Q4 2025@:@Q4 2025@:@0%@:@$$&lt;blank:Delta&gt;@:@Delta@:@0%@:@=C2-B2$!$LongFilterCondition--AND$!$Metric--$!$SelectedColumns--&lt;blank:Delta&gt;@:@Delta@:@0%@:@=C2-B2$!$PivotFilterCondition--AND$!$Analysis--16740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analysis_id$$Ascending$$Compelling Reason;Changed Opinion;Closing Rates;Staff Education$!$FetchOverallData--False$!$Relative--True$!$IsAddQuestionText--False$!$StatisticsSignificance--[]$!$LiveWave--True$!$IsNonOverlapping--False$!$StatisticsSignificanceNValue--30$!$IsSplit--False$!$LastUpdate--22-12-2025 16:09:48$!$AddSplitObjectsToSingleSlide--False$!$LongFilterFields--option_title@:@IN@:@Yes$!$TableHeader--2$!$PivotEntry--1$!$TopNRows--0$!$IsProjectAnalysis--True$!$SelectAllColumns--False$!$PivotFilterFields--$!$IsAddLegend--False$!$xField--analysis_id$!$Status--Create:Success$!$yField--segment_0$!$MoveFirst--$!$vField--decimal$!$MoveLast--$!$fnField--Average"/>
  <p:tag name="FAILEDREFRESHICONID" val="Darwin_15654530"/>
  <p:tag name="UPDATE" val="unlock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38949456"/>
  <p:tag name="UPDATE" val="unlock"/>
  <p:tag name="VISUALISATION_ID" val="Darwin_101182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RYB Recall##E2##G7##1##1"/>
  <p:tag name="UPDATE" val="unlock"/>
  <p:tag name="VISUALISATION_ID" val="Darwin_39532386"/>
  <p:tag name="SYNQRY" val="SYNQRY#1#$$!$FileVersion--1.6.5.8$!$IsAlias--True$!$Project--623$!$IsNestedSegments--True$!$ProjectSegmentIDs--$!$Survey--205732$!$RequiredColumns--analysis_id@:@analysis_id@:@@:@$$Q3 2025@:@Q3 2025@:@0%@:@$$Q4 2025@:@Q4 2025@:@0%@:@$$&lt;blank:Delta&gt;@:@Delta@:@0%@:@=C2-B2$!$LongFilterCondition--AND$!$Metric--none$!$SelectedColumns--&lt;blank:Delta&gt;@:@Delta@:@0%@:@=C2-B2$!$PivotFilterCondition--AND$!$Analysis--16741$!$SelectedRows--ALL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True$!$ChartType--Table$!$SelectedMulRolling--$!$SortedField--analysis_id$$Ascending$$Compelling Reason;Changed Opinion;Closing Rates;Staff Education$!$FetchOverallData--False$!$Relative--True$!$IsAddQuestionText--False$!$StatisticsSignificance--[]$!$LiveWave--True$!$IsNonOverlapping--False$!$StatisticsSignificanceNValue--30$!$IsSplit--False$!$LastUpdate--22-12-2025 16:25:20$!$AddSplitObjectsToSingleSlide--False$!$LongFilterFields--option_title@:@IN@:@Yes$$title@:@IN@:@TAGRISSO plus chemotherapy for EGFR (exon 19, exon 21 L858R mutations) mutated mNSCLC$!$TableHeader--2$!$PivotEntry--1$!$TopNRows--0$!$IsProjectAnalysis--True$!$SelectAllColumns--False$!$PivotFilterFields--$!$IsAddLegend--False$!$xField--analysis_id$!$Status--Create:Success$!$yField--segment_0$!$MoveFirst--$!$vField--decimal$!$MoveLast--$!$fnField--Averag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92876970"/>
  <p:tag name="UPDATE" val="unlock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20191317"/>
  <p:tag name="UPDATE" val="unlock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SYNQRY" val="SYNQRY#1#$$!$FileVersion--1.6.5.8$!$IsAlias--True$!$Project--623$!$IsNestedSegments--True$!$ProjectSegmentIDs--$!$Survey--738902$!$RequiredColumns--title@:@title@:@@:@$$Attr_Rank_2025 - Q2 2025@:@Attr_Rank_2025 - Q2 2025@:@@:@$$Attr_Rank_2025 - Q3 2025@:@Attr_Rank_2025 - Q3 2025@:@@:@$$Attr_Rank_2025 - Q4 2025@:@Attr_Rank_2025 - Q4 2025@:@@:@$$RYB_Rep_Per_2025 - Q2 2025@:@RYB_Rep_Per_2025 - Q2 2025@:@0%@:@$$RYB_Rep_Per_2025 - Q3 2025@:@RYB_Rep_Per_2025 - Q3 2025@:@0%@:@$$RYB_Rep_Per_2025 - Q4 2025@:@RYB_Rep_Per_2025 - Q4 2025@:@0%@:@$$TAG_REP_PERF_2025 - Q4 2025@:@TAG_REP_PERF_2025 - Q4 2025@:@0%@:@$$&lt;blank:IA&gt;@:@IA@:@0%@:@=10%$$&lt;blank:Order Att Rank&gt;@:@Order Att Rank@:@0%@:@=SUM(B2:D2)$!$LongFilterCondition--AND$!$Metric--none$!$SelectedColumns--title@:@title@:@@:@$!$PivotFilterCondition--AND$!$Analysis--16680$!$SelectedRows--ALL$!$AddLatestColumnToFirst--False$!$RecentWave--W2#3$!$ChartSplit--$!$IsClientDeliverable--True$!$SelectedWave--129469,127676,125979$!$Transpose--False$!$ClientDeliverableID--138$!$SelectedSeg--$!$IsOverlapping--False$!$ClientDeliverableSegmentIDs--13717,12164,11230$!$SelectedGp--wave$!$IsSorted--True$!$ChartType--Table$!$SelectedMulRolling--$!$SortedField--&lt;blank:Order Att Rank&gt;$$Descending$$$!$FetchOverallData--False$!$Relative--True$!$IsAddQuestionText--False$!$StatisticsSignificance--[]$!$LiveWave--True$!$IsNonOverlapping--False$!$StatisticsSignificanceNValue--30$!$IsSplit--False$!$LastUpdate--30-12-2025 16:56:11$!$AddSplitObjectsToSingleSlide--False$!$LongFilterFields--$!$TableHeader--2$!$PivotEntry--1$!$TopNRows--0$!$IsProjectAnalysis--True$!$SelectAllColumns--True$!$PivotFilterFields--$!$IsAddLegend--False$!$xField--title$!$Status--Create:Success$!$yField--analysis_id,segment_0$!$MoveFirst--Overall quality of sales call$!$vField--decimal$!$MoveLast--$!$fnField--Average"/>
  <p:tag name="VISUALISATION_ID" val="Darwin_1704817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22461545"/>
  <p:tag name="UPDATE" val="unlock"/>
  <p:tag name="VISUALISATION_ID" val="Darwin_64075984"/>
  <p:tag name="SYNQRY" val="SYNQRY#1#$$!$FileVersion--1.6.5.8$!$IsAlias--True$!$Project--623$!$IsNestedSegments--False$!$ProjectSegmentIDs--$!$Survey--738902$!$RequiredColumns--title@:@title@:@@:@$$MARIPOSA Discussed 1st  - Discussed first@:@MARIPOSA Discussed 1st  - Discussed first@:@0%@:@$$MARIPOSA Discussed 1st  - Discussed Later@:@MARIPOSA Discussed 1st  - Discussed Later@:@0%@:@$$MARIPOSA Discussed Most  - Discussed Most@:@MARIPOSA Discussed Most  - Discussed Most@:@0%@:@$$MARIPOSA Discussed Most  - Discussed Less@:@MARIPOSA Discussed Most  - Discussed Less@:@0%@:@$!$LongFilterCondition--AND$!$Metric--none$!$SelectedColumns--title@:@title@:@@:@$$MARIPOSA Discussed Most  - Discussed Most@:@MARIPOSA Discussed Most  - Discussed Most@:@0%@:@$$MARIPOSA Discussed Most  - Discussed Less@:@MARIPOSA Discussed Most  - Discussed Less@:@0%@:@$!$PivotFilterCondition--AND$!$Analysis--384609$!$SelectedRows--ALL$!$AddLatestColumnToFirst--False$!$RecentWave--W2#1$!$ChartSplit--$!$IsClientDeliverable--True$!$SelectedWave--130876$!$Transpose--False$!$ClientDeliverableID--138$!$SelectedSeg--56076,56077$!$IsOverlapping--False$!$ClientDeliverableSegmentIDs--13717$!$SelectedGp--wave$!$IsSorted--True$!$ChartType--Abacus$!$SelectedMulRolling--$!$SortedField--title$$Ascending$$Qual;Address;Know_P;Credible;Clear;Needs;Prepared;Know_I;Time;Compelling;Organized;Engaging;Molecular;Meaningful;Know_Comp$!$FetchOverallData--False$!$Relative--True$!$IsAddQuestionText--False$!$StatisticsSignificance--[]$!$LiveWave--True$!$IsNonOverlapping--False$!$StatisticsSignificanceNValue--30$!$IsSplit--False$!$LastUpdate--07-01-2026 17:04:27$!$AddSplitObjectsToSingleSlide--False$!$LongFilterFields--$!$TableHeader--1$!$PivotEntry--1$!$TopNRows--0$!$IsProjectAnalysis--False$!$SelectAllColumns--False$!$PivotFilterFields--$!$IsAddLegend--False$!$xField--title$!$Status--Create:Success$!$yField--segment_1$!$MoveFirst--$!$vField--decimal$!$MoveLast--$!$fnField--Average"/>
  <p:tag name="STASSIGID" val="StasSigId_5955815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22461545"/>
  <p:tag name="UPDATE" val="unlock"/>
  <p:tag name="VISUALISATION_ID" val="Darwin_36561281"/>
  <p:tag name="SYNQRY" val="SYNQRY#1#$$!$FileVersion--1.6.5.8$!$IsAlias--True$!$Project--623$!$IsNestedSegments--False$!$ProjectSegmentIDs--$!$Survey--738902$!$RequiredColumns--title@:@title@:@@:@$$MARIPOSA Discussed 1st  - Discussed first@:@MARIPOSA Discussed 1st  - Discussed first@:@0%@:@$$MARIPOSA Discussed 1st  - Discussed Later@:@MARIPOSA Discussed 1st  - Discussed Later@:@0%@:@$$MARIPOSA Discussed Most  - Discussed Most@:@MARIPOSA Discussed Most  - Discussed Most@:@0%@:@$$MARIPOSA Discussed Most  - Discussed Less@:@MARIPOSA Discussed Most  - Discussed Less@:@0%@:@$!$LongFilterCondition--AND$!$Metric--none$!$SelectedColumns--title@:@title@:@@:@$$MARIPOSA Discussed 1st  - Discussed first@:@MARIPOSA Discussed 1st  - Discussed first@:@0%@:@$$MARIPOSA Discussed 1st  - Discussed Later@:@MARIPOSA Discussed 1st  - Discussed Later@:@0%@:@$!$PivotFilterCondition--AND$!$Analysis--384609$!$SelectedRows--ALL$!$AddLatestColumnToFirst--False$!$RecentWave--W2#1$!$ChartSplit--$!$IsClientDeliverable--True$!$SelectedWave--130876$!$Transpose--False$!$ClientDeliverableID--138$!$SelectedSeg--56076,56077$!$IsOverlapping--False$!$ClientDeliverableSegmentIDs--13717$!$SelectedGp--wave$!$IsSorted--True$!$ChartType--Abacus$!$SelectedMulRolling--$!$SortedField--title$$Ascending$$Qual;Address;Know_P;Credible;Clear;Needs;Prepared;Know_I;Time;Compelling;Organized;Engaging;Molecular;Meaningful;Know_Comp$!$FetchOverallData--False$!$Relative--True$!$IsAddQuestionText--False$!$StatisticsSignificance--[]$!$LiveWave--True$!$IsNonOverlapping--False$!$StatisticsSignificanceNValue--30$!$IsSplit--False$!$LastUpdate--07-01-2026 17:04:06$!$AddSplitObjectsToSingleSlide--False$!$LongFilterFields--$!$TableHeader--1$!$PivotEntry--1$!$TopNRows--0$!$IsProjectAnalysis--False$!$SelectAllColumns--True$!$PivotFilterFields--$!$IsAddLegend--False$!$xField--title$!$Status--Create:Success$!$yField--segment_1$!$MoveFirst--$!$vField--decimal$!$MoveLast--$!$fnField--Average"/>
  <p:tag name="STASSIGID" val="StasSigId_874670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RY" val="SYNQRY#1#$$!$PopFilterEntry--0$!$reportsFrom--2022-05-26$!$Project--623$!$PopFilterFields--$!$reportsUntil--2023-03-19$!$Survey--738902$!$RequiredColumns--segment_2@:@segment_2@:@@@:@$$HCP Segment PET RF 2.0  - Segment A@:@HCP Segment PET RF 2.0  - Segment A@:@@:@$$&lt;blank:Champions %&gt;@:@Champions %@:@0%@:@=B2/SUM($B$2:$B$4)$!$LongFilterCondition--AND$!$Metric--$!$SelectedColumns--segment_2@:@segment_2@:@@@:@$$&lt;blank:Champions %&gt;@:@Champions %@:@0%@:@=B2/SUM($B$2:$B$4)$!$PivotFilterCondition--AND$!$Analysis--256025$!$SelectedRows--ALL$!$PopFilterCondition--AND$!$RecentWave--W2#1$!$ChartSplit--$!$IsClientDeliverable--True$!$SelectedWave--83580$!$Transpose--False$!$ClientDeliverableID--138$!$SelectedSeg--34191,35846$!$IsOverlapping--False$!$ClientDeliverableSegmentIDs--3612$!$SelectedGp--wave$!$IsSorted--False$!$IsNestedSegments--True$!$SelectedMulRolling--$!$SortedField--$!$IsNonOverlapping--False$!$Relative--True$!$IsAddQuestionText--False$!$ProjectSegmentIDs--$!$LiveWave--True$!$IsMultiRolling--False$!$IsAlias--True$!$LongFilterEntry--1$!$IsSplit--False$!$LastUpdate--19-03-2023 09:23:35$!$LongFilterFields--segment_1@:@LIKE@:@Segment A$!$TableHeader--1$!$FileVersion--1.0.4$!$PivotEntry--1$!$TopNRows--0$!$PivotFilterEntry--0$!$IsProjectAnalysis--False$!$PivotFilterFields--$!$IsAddLegend--False$!$xField--segment_2$!$Status--Create:Success$!$yField--segment_1$!$MoveFirst--RepClosing_OSCQ  - Missed Opportunity$!$vField--n - value$!$MoveLast--RepClosing_OSCQ  - Successful Interactions$!$fnField--Average"/>
  <p:tag name="DARWINVERSION" val="CSharp"/>
  <p:tag name="VISUALISATION_ID" val="Darwin_33692532"/>
  <p:tag name="UPDATE" val="unlock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RY" val="SYNQRY#1#$$!$PopFilterEntry--0$!$reportsFrom--2022-05-26$!$Project--623$!$PopFilterFields--$!$reportsUntil--2023-03-19$!$Survey--738902$!$RequiredColumns--segment_2@:@segment_2@:@@@:@$$HCP Segment PET RF 2.0  - Segment A@:@HCP Segment PET RF 2.0  - Segment A@:@@:@$$&lt;blank:Champions %&gt;@:@Champions %@:@0%@:@=B2/SUM($B$2:$B$4)$!$LongFilterCondition--AND$!$Metric--$!$SelectedColumns--segment_2@:@segment_2@:@@@:@$$&lt;blank:Champions %&gt;@:@Champions %@:@0%@:@=B2/SUM($B$2:$B$4)$!$PivotFilterCondition--AND$!$Analysis--256025$!$SelectedRows--ALL$!$PopFilterCondition--AND$!$RecentWave--W2#1$!$ChartSplit--$!$IsClientDeliverable--True$!$SelectedWave--83580$!$Transpose--False$!$ClientDeliverableID--138$!$SelectedSeg--34191,35846$!$IsOverlapping--False$!$ClientDeliverableSegmentIDs--3612$!$SelectedGp--wave$!$IsSorted--False$!$IsNestedSegments--True$!$SelectedMulRolling--$!$SortedField--$!$IsNonOverlapping--False$!$Relative--True$!$IsAddQuestionText--False$!$ProjectSegmentIDs--$!$LiveWave--True$!$IsMultiRolling--False$!$IsAlias--True$!$LongFilterEntry--1$!$IsSplit--False$!$LastUpdate--19-03-2023 09:23:35$!$LongFilterFields--segment_1@:@LIKE@:@Segment A$!$TableHeader--1$!$FileVersion--1.0.4$!$PivotEntry--1$!$TopNRows--0$!$PivotFilterEntry--0$!$IsProjectAnalysis--False$!$PivotFilterFields--$!$IsAddLegend--False$!$xField--segment_2$!$Status--Create:Success$!$yField--segment_1$!$MoveFirst--RepClosing_OSCQ  - Missed Opportunity$!$vField--n - value$!$MoveLast--RepClosing_OSCQ  - Successful Interactions$!$fnField--Average"/>
  <p:tag name="DARWINVERSION" val="CSharp"/>
  <p:tag name="VISUALISATION_ID" val="Darwin_45153507"/>
  <p:tag name="UPDATE" val="unlock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RYB Recall##E2##G7##1##1"/>
  <p:tag name="UPDATE" val="unlock"/>
  <p:tag name="SYNQRY" val="SYNQRY#1#$$!$FileVersion--1.6.5.8$!$IsAlias--True$!$Project--623$!$IsNestedSegments--True$!$ProjectSegmentIDs--$!$Survey--738902$!$RequiredColumns--alias7872@:@alias7872@:@@:@$$RYB_MR_Overall - Q3 2025@:@RYB_MR_Overall - Q3 2025@:@0%@:@$$RYB_MR_Overall - Q4 2025@:@RYB_MR_Overall - Q4 2025@:@0%@:@$$RYB_PP_Recall - Q3 2025@:@RYB_PP_Recall - Q3 2025@:@0%@:@$$RYB_PP_Recall - Q4 2025@:@RYB_PP_Recall - Q4 2025@:@0%@:@$$&lt;blank:Delta NPP&gt;@:@Delta NPP@:@0%@:@=C2-B2$$&lt;blank:Delta PP&gt;@:@Delta PP@:@0%@:@=E2-D2$!$LongFilterCondition--AND$!$Metric--$!$SelectedColumns--&lt;blank:Delta NPP&gt;@:@Delta NPP@:@0%@:@=C2-B2$!$PivotFilterCondition--AND$!$Analysis--14323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17:59:32$!$AddSplitObjectsToSingleSlide--False$!$LongFilterFields--analysis_id@:@IN@:@RYB_MR_Overall$@$RYB_PP_Recall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  <p:tag name="VISUALISATION_ID" val="Darwin_6930084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RYB Recall##E2##G7##1##1"/>
  <p:tag name="UPDATE" val="unlock"/>
  <p:tag name="SYNQRY" val="SYNQRY#1#$$!$FileVersion--1.6.5.8$!$IsAlias--True$!$Project--623$!$IsNestedSegments--True$!$ProjectSegmentIDs--$!$Survey--738902$!$RequiredColumns--alias7872@:@alias7872@:@@:@$$RYB_MR_Overall - Q3 2025@:@RYB_MR_Overall - Q3 2025@:@0%@:@$$RYB_MR_Overall - Q4 2025@:@RYB_MR_Overall - Q4 2025@:@0%@:@$$RYB_PP_Recall - Q3 2025@:@RYB_PP_Recall - Q3 2025@:@0%@:@$$RYB_PP_Recall - Q4 2025@:@RYB_PP_Recall - Q4 2025@:@0%@:@$$&lt;blank:Delta NPP&gt;@:@Delta NPP@:@0%@:@=C2-B2$$&lt;blank:Delta PP&gt;@:@Delta PP@:@0%@:@=E2-D2$!$LongFilterCondition--AND$!$Metric--$!$SelectedColumns--&lt;blank:Delta NPP&gt;@:@Delta NPP@:@0%@:@=C2-B2$!$PivotFilterCondition--AND$!$Analysis--14323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17:59:32$!$AddSplitObjectsToSingleSlide--False$!$LongFilterFields--analysis_id@:@IN@:@RYB_MR_Overall$@$RYB_PP_Recall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  <p:tag name="VISUALISATION_ID" val="Darwin_7251168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46738382"/>
  <p:tag name="DARWINVERSION" val="CSharp"/>
  <p:tag name="UPDATE" val="unlock"/>
  <p:tag name="VISUALISATION_ID" val="Darwin_59941498"/>
  <p:tag name="SYNQRY" val="SYNQRY#1#$$!$FileVersion--1.6.5.6$!$IsAlias--True$!$Project--581$!$IsNestedSegments--True$!$ProjectSegmentIDs--$!$Survey--761867$!$RequiredColumns--ID@:@ID@:@@:@$$Category@:@Category@:@@:@$$title@:@Question Text@:@@:@$$MR - Q4 2024 - (blank) - Average of decimal@:@MR - Q4 2024 - (blank) - Average of decimal@:@0%@:@$$MR - Q1 2025 - (blank) - Average of decimal@:@MR - Q1 2025 - (blank) - Average of decimal@:@0%@:@$$MR - Q2 2025 - (blank) - Average of decimal@:@MR - Q2 2025 - (blank) - Average of decimal@:@0%@:@$$ME - Q4 2024 - Options  - Believable - Average of ME@:@ME - Q4 2024 - Options  - Believable - Average of ME@:@0%@:@$$ME - Q1 2025 - Options  - Believable - Average of ME@:@ME - Q1 2025 - Options  - Believable - Average of ME@:@0%@:@$$ME - Q2 2025 - Options  - Believable - Average of ME@:@ME - Q2 2025 - Options  - Believable - Average of ME@:@0%@:@$$ME - Q2 2025 - Options  - Motivating - Average of decimal@:@ME - Q2 2025 - Options  - Motivating - Average of decimal@:@0%@:@$$ME - Q2 2025 - Options  - Believable - Average of decimal@:@ME - Q2 2025 - Options  - Believable - Average of decimal@:@0%@:@$$ME - Q2 2025 - Options  - Differentiated - Average of decimal@:@ME - Q2 2025 - Options  - Differentiated - Average of decimal@:@0%@:@$!$LongFilterCondition--AND$!$Metric--none$!$SelectedColumns--ID@:@ID@:@@:@$$Category@:@Category@:@@:@$$title@:@Question Text@:@@:@$!$PivotFilterCondition--AND$!$Analysis--8178$!$SelectedRows--K10$$K3$$K7$$K6$$K2$$K15$$K14*$$K11$$K12$$K16*$!$AddLatestColumnToFirst--False$!$RecentWave--W2#3$!$ChartSplit--$!$IsClientDeliverable--True$!$SelectedWave--115544,114956,114333$!$Transpose--False$!$ClientDeliverableID--51$!$SelectedSeg--$!$IsOverlapping--False$!$ClientDeliverableSegmentIDs--11185,9981,9234$!$SelectedGp--wave$!$IsSorted--True$!$ChartType--Table$!$SelectedMulRolling--$!$SortedField--MR - Q2 2025 - (blank) - Average of decimal$$Descending$$$!$FetchOverallData--False$!$Relative--True$!$IsAddQuestionText--False$!$StatisticsSignificance--[]$!$LiveWave--True$!$IsNonOverlapping--False$!$StatisticsSignificanceNValue--30$!$IsSplit--False$!$LastUpdate--16-06-2025 20:41:53$!$AddSplitObjectsToSingleSlide--False$!$LongFilterFields--analysis_id@:@IN@:@MR$@$ME$!$TableHeader--1$!$PivotEntry--1$!$TopNRows--0$!$IsProjectAnalysis--True$!$SelectAllColumns--False$!$PivotFilterFields--$!$IsAddLegend--False$!$xField--Category,ID,title$!$Status--Create:Success$!$yField--analysis_id,segment_0,segment_1$!$MoveFirst--$!$vField--decimal,ME$!$MoveLast--$!$fnField--Averag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46738382"/>
  <p:tag name="DARWINVERSION" val="CSharp"/>
  <p:tag name="UPDATE" val="unlock"/>
  <p:tag name="SYNQRY" val="SYNQRY#1#$$!$FileVersion--1.6.5.6$!$IsAlias--True$!$Project--581$!$IsNestedSegments--True$!$ProjectSegmentIDs--$!$Survey--761867$!$RequiredColumns--ID@:@ID@:@@:@$$Category@:@Category@:@@:@$$title@:@Question Text@:@@:@$$MR - Q4 2024 - (blank) - Average of decimal@:@MR - Q4 2024 - (blank) - Average of decimal@:@0%@:@$$MR - Q1 2025 - (blank) - Average of decimal@:@MR - Q1 2025 - (blank) - Average of decimal@:@0%@:@$$MR - Q2 2025 - (blank) - Average of decimal@:@MR - Q2 2025 - (blank) - Average of decimal@:@0%@:@$$ME - Q4 2024 - Options  - Believable - Average of ME@:@ME - Q4 2024 - Options  - Believable - Average of ME@:@0%@:@$$ME - Q1 2025 - Options  - Believable - Average of ME@:@ME - Q1 2025 - Options  - Believable - Average of ME@:@0%@:@$$ME - Q2 2025 - Options  - Believable - Average of ME@:@ME - Q2 2025 - Options  - Believable - Average of ME@:@0%@:@$$ME - Q2 2025 - Options  - Motivating - Average of decimal@:@ME - Q2 2025 - Options  - Motivating - Average of decimal@:@0%@:@$$ME - Q2 2025 - Options  - Believable - Average of decimal@:@ME - Q2 2025 - Options  - Believable - Average of decimal@:@0%@:@$$ME - Q2 2025 - Options  - Differentiated - Average of decimal@:@ME - Q2 2025 - Options  - Differentiated - Average of decimal@:@0%@:@$!$LongFilterCondition--AND$!$Metric--none$!$SelectedColumns--ID@:@ID@:@@:@$$Category@:@Category@:@@:@$$title@:@Question Text@:@@:@$!$PivotFilterCondition--AND$!$Analysis--8178$!$SelectedRows--K10$$K3$$K7$$K6$$K2$$K15$$K14*$$K11$$K12$$K16*$!$AddLatestColumnToFirst--False$!$RecentWave--W2#3$!$ChartSplit--$!$IsClientDeliverable--True$!$SelectedWave--115544,114956,114333$!$Transpose--False$!$ClientDeliverableID--51$!$SelectedSeg--$!$IsOverlapping--False$!$ClientDeliverableSegmentIDs--11185,9981,9234$!$SelectedGp--wave$!$IsSorted--True$!$ChartType--Table$!$SelectedMulRolling--$!$SortedField--MR - Q2 2025 - (blank) - Average of decimal$$Descending$$$!$FetchOverallData--False$!$Relative--True$!$IsAddQuestionText--False$!$StatisticsSignificance--[]$!$LiveWave--True$!$IsNonOverlapping--False$!$StatisticsSignificanceNValue--30$!$IsSplit--False$!$LastUpdate--16-06-2025 20:41:53$!$AddSplitObjectsToSingleSlide--False$!$LongFilterFields--analysis_id@:@IN@:@MR$@$ME$!$TableHeader--1$!$PivotEntry--1$!$TopNRows--0$!$IsProjectAnalysis--True$!$SelectAllColumns--False$!$PivotFilterFields--$!$IsAddLegend--False$!$xField--Category,ID,title$!$Status--Create:Success$!$yField--analysis_id,segment_0,segment_1$!$MoveFirst--$!$vField--decimal,ME$!$MoveLast--$!$fnField--Average"/>
  <p:tag name="VISUALISATION_ID" val="Darwin_34662269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DATE" val="unlock"/>
  <p:tag name="VISUALISATION_ID" val="Darwin_51231240"/>
  <p:tag name="DARWINVERSION" val="CSharp"/>
  <p:tag name="SYNQRY" val="SYNQRY#1#$$!$FileVersion--1.6.5.8$!$IsAlias--True$!$Project--623$!$IsNestedSegments--True$!$ProjectSegmentIDs--$!$Survey--637172$!$RequiredColumns--value@:@value@:@@:@$$Q4 2025@:@Q4 2025@:@0%@:@$!$LongFilterCondition--AND$!$Metric--$!$SelectedColumns--Q4 2025@:@Q4 2025@:@0%@:@$!$PivotFilterCondition--AND$!$Analysis--533654$!$SelectedRows--ALL$!$AddLatestColumnToFirst--False$!$RecentWave--W2#1$!$ChartSplit--$!$IsClientDeliverable--True$!$SelectedWave--125843$!$Transpose--False$!$ClientDeliverableID--138$!$SelectedSeg--$!$IsOverlapping--False$!$ClientDeliverableSegmentIDs--13717$!$SelectedGp--wave$!$IsSorted--True$!$ChartType--Table$!$SelectedMulRolling--$!$SortedField--Q4 2025$$Descending$$$!$FetchOverallData--False$!$Relative--True$!$IsAddQuestionText--False$!$StatisticsSignificance--[]$!$LiveWave--True$!$IsNonOverlapping--False$!$StatisticsSignificanceNValue--30$!$IsSplit--False$!$LastUpdate--02-01-2026 17:02:58$!$AddSplitObjectsToSingleSlide--False$!$LongFilterFields--$!$TableHeader--2$!$PivotEntry--1$!$TopNRows--0$!$IsProjectAnalysis--False$!$SelectAllColumns--False$!$PivotFilterFields--$!$IsAddLegend--False$!$xField--value$!$Status--Create:Success$!$yField--segment_0$!$MoveFirst--$!$vField--share$!$MoveLast--$!$fnField--Averag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93417899"/>
  <p:tag name="SYNQRY" val="SYNQRY#1#$$!$FileVersion--1.6.5.8$!$IsAlias--True$!$Project--623$!$IsNestedSegments--True$!$ProjectSegmentIDs--$!$Survey--637172$!$RequiredColumns--value@:@value@:@@:@$$Q4 2025@:@Q4 2025@:@0%@:@$!$LongFilterCondition--AND$!$Metric--$!$SelectedColumns--value@:@value@:@@:@$!$PivotFilterCondition--AND$!$Analysis--533654$!$SelectedRows--ALL$!$AddLatestColumnToFirst--False$!$RecentWave--W2#1$!$ChartSplit--$!$IsClientDeliverable--True$!$SelectedWave--125843$!$Transpose--False$!$ClientDeliverableID--138$!$SelectedSeg--$!$IsOverlapping--False$!$ClientDeliverableSegmentIDs--13717$!$SelectedGp--wave$!$IsSorted--True$!$ChartType--Table$!$SelectedMulRolling--$!$SortedField--Q4 2025$$Descending$$$!$FetchOverallData--False$!$Relative--True$!$IsAddQuestionText--False$!$StatisticsSignificance--[]$!$LiveWave--True$!$IsNonOverlapping--False$!$StatisticsSignificanceNValue--30$!$IsSplit--False$!$LastUpdate--02-01-2026 17:02:58$!$AddSplitObjectsToSingleSlide--False$!$LongFilterFields--$!$TableHeader--2$!$PivotEntry--1$!$TopNRows--0$!$IsProjectAnalysis--False$!$SelectAllColumns--False$!$PivotFilterFields--$!$IsAddLegend--False$!$xField--value$!$Status--Create:Success$!$yField--segment_0$!$MoveFirst--$!$vField--share$!$MoveLast--$!$fnField--Averag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45825976"/>
  <p:tag name="FAILEDREFRESHICONID" val="Darwin_45825976"/>
  <p:tag name="STASSIGID" val="StasSigId_94456477"/>
  <p:tag name="SYNQRY" val="SYNQRY#1#$$!$FileVersion--1.6.5.8$!$IsAlias--True$!$Project--623$!$IsNestedSegments--True$!$ProjectSegmentIDs--$!$Survey--637172$!$RequiredColumns--options@:@options@:@@:@$$RYB - Q3 2025@:@RYB - Q3 2025@:@0%@:@$$RYB - Q4 2025@:@RYB - Q4 2025@:@0%@:@$$TAG2 - Q3 2025@:@TAG2 - Q3 2025@:@0%@:@$$TAG2 - Q4 2025@:@TAG2 - Q4 2025@:@0%@:@$$&lt;blank:Delta&gt;@:@Delta@:@0%@:@=C2-B2$!$LongFilterCondition--AND$!$Metric--$!$SelectedColumns--options@:@options@:@@:@$$RYB - Q4 2025@:@RYB - Q4 2025@:@0%@:@$$TAG2 - Q4 2025@:@TAG2 - Q4 2025@:@0%@:@$!$PivotFilterCondition--AND$!$Analysis--533652$!$SelectedRows--ALL$!$AddLatestColumnToFirst--False$!$RecentWave--W2#2$!$ChartSplit--$!$IsClientDeliverable--True$!$SelectedWave--125843,121138$!$Transpose--False$!$ClientDeliverableID--138$!$SelectedSeg--$!$IsOverlapping--False$!$ClientDeliverableSegmentIDs--13717,12164$!$SelectedGp--wave$!$IsSorted--True$!$ChartType--Abacus$!$SelectedMulRolling--$!$SortedField--options$$Ascending$$Efficacy;Safety / Tolerability;Guideline Recommendations (NCCN);Effect on Quality of Life;Route of administration;Mechanism of Action;Access and Coverage;Dosing$!$FetchOverallData--False$!$Relative--True$!$IsAddQuestionText--False$!$StatisticsSignificance--[]$!$LiveWave--True$!$IsNonOverlapping--False$!$StatisticsSignificanceNValue--30$!$IsSplit--False$!$LastUpdate--02-01-2026 17:03:06$!$AddSplitObjectsToSingleSlide--False$!$LongFilterFields--question@:@NOT IN@:@ Tagrisso Monotherapy $!$TableHeader--1$!$PivotEntry--1$!$TopNRows--0$!$IsProjectAnalysis--False$!$SelectAllColumns--False$!$PivotFilterFields--$!$IsAddLegend--False$!$xField--options$!$Status--Create:Success$!$yField--title,segment_0$!$MoveFirst--$!$vField--decimal$!$MoveLast--$!$fnField--Averag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77756613"/>
  <p:tag name="TABLE" val="TabQ##Attribute Ratings##C19##C29##2##1"/>
  <p:tag name="UPDATE" val="unlock"/>
  <p:tag name="VISUALISATION_ID" val="Darwin_73103399"/>
  <p:tag name="FAILEDREFRESHICONID" val="Darwin_73103399"/>
  <p:tag name="SYNQRY" val="SYNQRY#1#$$!$FileVersion--1.6.5.8$!$IsAlias--True$!$Project--623$!$IsNestedSegments--True$!$ProjectSegmentIDs--$!$Survey--637172$!$RequiredColumns--options@:@options@:@@:@$$RYB - Q3 2025@:@RYB - Q3 2025@:@0%@:@$$RYB - Q4 2025@:@RYB - Q4 2025@:@0%@:@$$TAG2 - Q3 2025@:@TAG2 - Q3 2025@:@0%@:@$$TAG2 - Q4 2025@:@TAG2 - Q4 2025@:@0%@:@$$&lt;blank:Delta&gt;@:@Delta@:@0%@:@=C2-B2$!$LongFilterCondition--AND$!$Metric--$!$SelectedColumns--&lt;blank:Delta&gt;@:@Delta@:@0%@:@=C2-B2$!$PivotFilterCondition--AND$!$Analysis--533652$!$SelectedRows--ALL$!$AddLatestColumnToFirst--False$!$RecentWave--W2#2$!$ChartSplit--$!$IsClientDeliverable--True$!$SelectedWave--125843,121138$!$Transpose--False$!$ClientDeliverableID--138$!$SelectedSeg--$!$IsOverlapping--False$!$ClientDeliverableSegmentIDs--13717,12164$!$SelectedGp--wave$!$IsSorted--True$!$ChartType--Table$!$SelectedMulRolling--$!$SortedField--options$$Ascending$$Efficacy;Safety / Tolerability;Guideline Recommendations (NCCN);Effect on Quality of Life;Route of administration;Mechanism of Action;Access and Coverage;Dosing$!$FetchOverallData--False$!$Relative--True$!$IsAddQuestionText--False$!$StatisticsSignificance--[]$!$LiveWave--True$!$IsNonOverlapping--False$!$StatisticsSignificanceNValue--30$!$IsSplit--False$!$LastUpdate--02-01-2026 17:03:06$!$AddSplitObjectsToSingleSlide--False$!$LongFilterFields--question@:@NOT IN@:@ Tagrisso Monotherapy $!$TableHeader--2$!$PivotEntry--1$!$TopNRows--0$!$IsProjectAnalysis--False$!$SelectAllColumns--False$!$PivotFilterFields--$!$IsAddLegend--False$!$xField--options$!$Status--Create:Success$!$yField--title,segment_0$!$MoveFirst--$!$vField--decimal$!$MoveLast--$!$fnField--Averag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77756613"/>
  <p:tag name="TABLE" val="TabQ##Attribute Ratings##C19##C29##2##1"/>
  <p:tag name="UPDATE" val="unlock"/>
  <p:tag name="FAILEDREFRESHICONID" val="Darwin_73103399"/>
  <p:tag name="SYNQRY" val="SYNQRY#1#$$!$FileVersion--1.6.5.8$!$IsAlias--True$!$Project--623$!$IsNestedSegments--True$!$ProjectSegmentIDs--$!$Survey--637172$!$RequiredColumns--options@:@options@:@@:@$$RYB - Q3 2025@:@RYB - Q3 2025@:@0%@:@$$RYB - Q4 2025@:@RYB - Q4 2025@:@0%@:@$$TAG2 - Q3 2025@:@TAG2 - Q3 2025@:@0%@:@$$TAG2 - Q4 2025@:@TAG2 - Q4 2025@:@0%@:@$$&lt;blank:Delta&gt;@:@Delta@:@0%@:@=C2-B2$!$LongFilterCondition--AND$!$Metric--$!$SelectedColumns--&lt;blank:Delta&gt;@:@Delta@:@0%@:@=C2-B2$!$PivotFilterCondition--AND$!$Analysis--533652$!$SelectedRows--ALL$!$AddLatestColumnToFirst--False$!$RecentWave--W2#2$!$ChartSplit--$!$IsClientDeliverable--True$!$SelectedWave--125843,121138$!$Transpose--False$!$ClientDeliverableID--138$!$SelectedSeg--$!$IsOverlapping--False$!$ClientDeliverableSegmentIDs--13717,12164$!$SelectedGp--wave$!$IsSorted--True$!$ChartType--Table$!$SelectedMulRolling--$!$SortedField--options$$Ascending$$Efficacy;Safety / Tolerability;Guideline Recommendations (NCCN);Effect on Quality of Life;Route of administration;Mechanism of Action;Access and Coverage;Dosing$!$FetchOverallData--False$!$Relative--True$!$IsAddQuestionText--False$!$StatisticsSignificance--[]$!$LiveWave--True$!$IsNonOverlapping--False$!$StatisticsSignificanceNValue--30$!$IsSplit--False$!$LastUpdate--02-01-2026 17:03:06$!$AddSplitObjectsToSingleSlide--False$!$LongFilterFields--question@:@NOT IN@:@ Tagrisso Monotherapy $!$TableHeader--2$!$PivotEntry--1$!$TopNRows--0$!$IsProjectAnalysis--False$!$SelectAllColumns--False$!$PivotFilterFields--$!$IsAddLegend--False$!$xField--options$!$Status--Create:Success$!$yField--title,segment_0$!$MoveFirst--$!$vField--decimal$!$MoveLast--$!$fnField--Average"/>
  <p:tag name="VISUALISATION_ID" val="Darwin_699979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33960624"/>
  <p:tag name="STASSIGID" val="StasSigId_51668617"/>
  <p:tag name="SYNQRY" val="SYNQRY#1#$$!$FileVersion--1.6.5.8$!$IsAlias--True$!$Project--53$!$IsNestedSegments--True$!$ProjectSegmentIDs--$!$Survey--665219$!$RequiredColumns--segment_0@:@segment_0@:@@@:@$$RYB - Average of reach@:@RYB - Average of reach@:@0%@:@$$RYB - Average of SOV@:@RYB - Average of SOV@:@0%@:@$$RYB - Average of frequency@:@RYB - Average of frequency@:@0.0@:@$$TAG - Average of reach@:@TAG - Average of reach@:@0%@:@$$TAG - Average of SOV@:@TAG - Average of SOV@:@0%@:@$$TAG - Average of frequency@:@TAG - Average of frequency@:@0.0@:@$!$LongFilterCondition--AND$!$Metric--$!$SelectedColumns--segment_0@:@segment_0@:@@@:@$$RYB - Average of frequency@:@RYB - Average of frequency@:@0.0@:@$$TAG - Average of frequency@:@TAG - Average of frequency@:@0.0@:@$!$PivotFilterCondition--AND$!$Analysis--257758$!$SelectedRows--ALL$!$AddLatestColumnToFirst--False$!$RecentWave--W2#2$!$ChartSplit--$!$IsClientDeliverable--True$!$SelectedWave--120938,100427$!$Transpose--False$!$ClientDeliverableID--81$!$SelectedSeg--57539$!$IsOverlapping--False$!$ClientDeliverableSegmentIDs--13688,1212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05-01-2026 16:28:31$!$AddSplitObjectsToSingleSlide--False$!$LongFilterFields--segment_1@:@IN@:@RYB_NPP_RFSOV_OL_2025  - 0$!$TableHeader--1$!$PivotEntry--1$!$TopNRows--0$!$IsProjectAnalysis--False$!$SelectAllColumns--False$!$PivotFilterFields--$!$IsAddLegend--False$!$xField--segment_0$!$Status--Create:Success$!$yField--title$!$MoveFirst--$!$vField--reach,SOV,frequency$!$MoveLast--$!$fnField--Averag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75744579"/>
  <p:tag name="STASSIGID" val="StasSigId_89149761"/>
  <p:tag name="SYNQRY" val="SYNQRY#1#$$!$FileVersion--1.6.5.8$!$IsAlias--True$!$Project--53$!$IsNestedSegments--True$!$ProjectSegmentIDs--$!$Survey--665219$!$RequiredColumns--segment_0@:@segment_0@:@@@:@$$RYB - Average of reach@:@RYB - Average of reach@:@0%@:@$$RYB - Average of SOV@:@RYB - Average of SOV@:@0%@:@$$RYB - Average of frequency@:@RYB - Average of frequency@:@0.0@:@$$TAG - Average of reach@:@TAG - Average of reach@:@0%@:@$$TAG - Average of SOV@:@TAG - Average of SOV@:@0%@:@$$TAG - Average of frequency@:@TAG - Average of frequency@:@0.0@:@$!$LongFilterCondition--AND$!$Metric--$!$SelectedColumns--segment_0@:@segment_0@:@@@:@$$RYB - Average of reach@:@RYB - Average of reach@:@0%@:@$$TAG - Average of reach@:@TAG - Average of reach@:@0%@:@$!$PivotFilterCondition--AND$!$Analysis--257758$!$SelectedRows--ALL$!$AddLatestColumnToFirst--False$!$RecentWave--W2#2$!$ChartSplit--$!$IsClientDeliverable--True$!$SelectedWave--120938,100427$!$Transpose--False$!$ClientDeliverableID--81$!$SelectedSeg--57539$!$IsOverlapping--False$!$ClientDeliverableSegmentIDs--13688,12129$!$SelectedGp--wave$!$IsSorted--False$!$ChartType--Line$!$SelectedMulRolling--$!$SortedField--$!$FetchOverallData--False$!$Relative--True$!$IsAddQuestionText--False$!$StatisticsSignificance--[]$!$LiveWave--True$!$IsNonOverlapping--False$!$StatisticsSignificanceNValue--30$!$IsSplit--False$!$LastUpdate--05-01-2026 16:28:31$!$AddSplitObjectsToSingleSlide--False$!$LongFilterFields--segment_1@:@IN@:@RYB_NPP_RFSOV_OL_2025  - 0$!$TableHeader--1$!$PivotEntry--1$!$TopNRows--0$!$IsProjectAnalysis--False$!$SelectAllColumns--False$!$PivotFilterFields--$!$IsAddLegend--False$!$xField--segment_0$!$Status--Create:Success$!$yField--title$!$MoveFirst--$!$vField--reach,SOV,frequency$!$MoveLast--$!$fnField--Averag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39464150"/>
  <p:tag name="STASSIGID" val="StasSigId_90974553"/>
  <p:tag name="SYNQRY" val="SYNQRY#1#$$!$FileVersion--1.6.5.8$!$IsAlias--True$!$Project--53$!$IsNestedSegments--True$!$ProjectSegmentIDs--$!$Survey--665219$!$RequiredColumns--segment_0@:@segment_0@:@@@:@$$RYB - Average of reach@:@RYB - Average of reach@:@0%@:@$$RYB - Average of SOV@:@RYB - Average of SOV@:@0%@:@$$RYB - Average of frequency@:@RYB - Average of frequency@:@0.0@:@$$TAG - Average of reach@:@TAG - Average of reach@:@0%@:@$$TAG - Average of SOV@:@TAG - Average of SOV@:@0%@:@$$TAG - Average of frequency@:@TAG - Average of frequency@:@0.0@:@$!$LongFilterCondition--AND$!$Metric--$!$SelectedColumns--segment_0@:@segment_0@:@@@:@$$RYB - Average of SOV@:@RYB - Average of SOV@:@0%@:@$$TAG - Average of SOV@:@TAG - Average of SOV@:@0%@:@$!$PivotFilterCondition--AND$!$Analysis--257758$!$SelectedRows--ALL$!$AddLatestColumnToFirst--False$!$RecentWave--W2#2$!$ChartSplit--$!$IsClientDeliverable--True$!$SelectedWave--120938,100427$!$Transpose--False$!$ClientDeliverableID--81$!$SelectedSeg--57539$!$IsOverlapping--False$!$ClientDeliverableSegmentIDs--13688,12129$!$SelectedGp--wave$!$IsSorted--False$!$ChartType--Stacked Column$!$SelectedMulRolling--$!$SortedField--$!$FetchOverallData--False$!$Relative--True$!$IsAddQuestionText--False$!$StatisticsSignificance--[]$!$LiveWave--True$!$IsNonOverlapping--False$!$StatisticsSignificanceNValue--30$!$IsSplit--False$!$LastUpdate--05-01-2026 16:28:31$!$AddSplitObjectsToSingleSlide--False$!$LongFilterFields--segment_1@:@IN@:@RYB_NPP_RFSOV_OL_2025  - 0$!$TableHeader--1$!$PivotEntry--1$!$TopNRows--0$!$IsProjectAnalysis--False$!$SelectAllColumns--False$!$PivotFilterFields--$!$IsAddLegend--False$!$xField--segment_0$!$Status--Create:Success$!$yField--title$!$MoveFirst--$!$vField--reach,SOV,frequency$!$MoveLast--$!$fnField--Averag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92703569"/>
  <p:tag name="UPDATE" val="unlock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53736941"/>
  <p:tag name="UPDATE" val="unlock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49252761"/>
  <p:tag name="FAILEDREFRESHICONID" val="Darwin_49252761"/>
  <p:tag name="SYNQRY" val="SYNQRY#1#$$!$FileVersion--1.6.5.8$!$IsAlias--True$!$Project--623$!$IsNestedSegments--True$!$ProjectSegmentIDs--$!$Survey--387210$!$RequiredColumns--title@:@title@:@@:@$$Q3 2025 - Preference - Average of decimal@:@Q3 2025 - Preference - Average of decimal@:@@:@$$Q3 2025 - Preference - Average of n - value@:@Q3 2025 - Preference - Average of n - value@:@@:@$$Q3 2025 - Preference - Average of sum@:@Q3 2025 - Preference - Average of sum@:@@:@$$&lt;blank:Preference Final&gt;@:@Preference Final@:@0%@:@=SUM(D2,N2)/SUM(C2,M2)$$Q3 2025 - RYB_Reach - Average of decimal@:@Q3 2025 - RYB_Reach - Average of decimal@:@0%@:@$$Q3 2025 - RYB_Reach - Average of n - value@:@Q3 2025 - RYB_Reach - Average of n - value@:@@:@$$Q3 2025 - RYB_Reach - Average of sum@:@Q3 2025 - RYB_Reach - Average of sum@:@@:@$$Q3 2025 - TAG_Reach - Average of decimal@:@Q3 2025 - TAG_Reach - Average of decimal@:@0%@:@$$Q3 2025 - TAG_Reach - Average of n - value@:@Q3 2025 - TAG_Reach - Average of n - value@:@@:@$$Q3 2025 - TAG_Reach - Average of sum@:@Q3 2025 - TAG_Reach - Average of sum@:@@:@$$Q4 2025 - Preference - Average of decimal@:@Q4 2025 - Preference - Average of decimal@:@@:@$$Q4 2025 - Preference - Average of n - value@:@Q4 2025 - Preference - Average of n - value@:@@:@$$Q4 2025 - Preference - Average of sum@:@Q4 2025 - Preference - Average of sum@:@@:@$$Q4 2025 - RYB_Reach - Average of decimal@:@Q4 2025 - RYB_Reach - Average of decimal@:@0%@:@$$Q4 2025 - RYB_Reach - Average of n - value@:@Q4 2025 - RYB_Reach - Average of n - value@:@@:@$$Q4 2025 - RYB_Reach - Average of sum@:@Q4 2025 - RYB_Reach - Average of sum@:@@:@$$&lt;blank:IA&gt;@:@IA@:@0%@:@=10%$$Q4 2025 - TAG_Reach - Average of decimal@:@Q4 2025 - TAG_Reach - Average of decimal@:@0%@:@$$Q4 2025 - TAG_Reach - Average of n - value@:@Q4 2025 - TAG_Reach - Average of n - value@:@@:@$$Q4 2025 - TAG_Reach - Average of sum@:@Q4 2025 - TAG_Reach - Average of sum@:@@:@$$&lt;blank:Delta RYB&gt;@:@Delta RYB@:@0%@:@=O2-F2$!$LongFilterCondition--AND$!$Metric--$!$SelectedColumns--title@:@title@:@@:@$$&lt;blank:Preference Final&gt;@:@Preference Final@:@0%@:@=SUM(D2,N2)/SUM(C2,M2)$!$PivotFilterCondition--AND$!$Analysis--3610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&lt;blank:Preference Final&gt;$$Descending$$$!$FetchOverallData--False$!$Relative--True$!$IsAddQuestionText--False$!$StatisticsSignificance--[]$!$LiveWave--True$!$IsNonOverlapping--False$!$StatisticsSignificanceNValue--30$!$IsSplit--False$!$LastUpdate--18-12-2025 13:44:33$!$AddSplitObjectsToSingleSlide--False$!$LongFilterFields--$!$TableHeader--2$!$PivotEntry--1$!$TopNRows--0$!$IsProjectAnalysis--True$!$SelectAllColumns--False$!$PivotFilterFields--$!$IsAddLegend--False$!$xField--title$!$Status--Create:Success$!$yField--segment_0,analysis_id$!$MoveFirst--$!$vField--decimal,n - value,sum$!$MoveLast--$!$fnField--Averag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88400301"/>
  <p:tag name="STASSIGID" val="StasSigId_24791062"/>
  <p:tag name="SYNQRY" val="SYNQRY#1#$$!$FileVersion--1.6.5.8$!$IsAlias--True$!$Project--623$!$IsNestedSegments--True$!$ProjectSegmentIDs--$!$Survey--387210$!$RequiredColumns--title@:@title@:@@:@$$Q3 2025 - Preference - Average of decimal@:@Q3 2025 - Preference - Average of decimal@:@@:@$$Q3 2025 - Preference - Average of n - value@:@Q3 2025 - Preference - Average of n - value@:@@:@$$Q3 2025 - Preference - Average of sum@:@Q3 2025 - Preference - Average of sum@:@@:@$$&lt;blank:Preference Final&gt;@:@Preference Final@:@0%@:@=SUM(D2,N2)/SUM(C2,M2)$$Q3 2025 - RYB_Reach - Average of decimal@:@Q3 2025 - RYB_Reach - Average of decimal@:@0%@:@$$Q3 2025 - RYB_Reach - Average of n - value@:@Q3 2025 - RYB_Reach - Average of n - value@:@@:@$$Q3 2025 - RYB_Reach - Average of sum@:@Q3 2025 - RYB_Reach - Average of sum@:@@:@$$Q3 2025 - TAG_Reach - Average of decimal@:@Q3 2025 - TAG_Reach - Average of decimal@:@0%@:@$$Q3 2025 - TAG_Reach - Average of n - value@:@Q3 2025 - TAG_Reach - Average of n - value@:@@:@$$Q3 2025 - TAG_Reach - Average of sum@:@Q3 2025 - TAG_Reach - Average of sum@:@@:@$$Q4 2025 - Preference - Average of decimal@:@Q4 2025 - Preference - Average of decimal@:@@:@$$Q4 2025 - Preference - Average of n - value@:@Q4 2025 - Preference - Average of n - value@:@@:@$$Q4 2025 - Preference - Average of sum@:@Q4 2025 - Preference - Average of sum@:@@:@$$Q4 2025 - RYB_Reach - Average of decimal@:@Q4 2025 - RYB_Reach - Average of decimal@:@0%@:@$$Q4 2025 - RYB_Reach - Average of n - value@:@Q4 2025 - RYB_Reach - Average of n - value@:@@:@$$Q4 2025 - RYB_Reach - Average of sum@:@Q4 2025 - RYB_Reach - Average of sum@:@@:@$$&lt;blank:IA&gt;@:@IA@:@0%@:@=10%$$Q4 2025 - TAG_Reach - Average of decimal@:@Q4 2025 - TAG_Reach - Average of decimal@:@0%@:@$$Q4 2025 - TAG_Reach - Average of n - value@:@Q4 2025 - TAG_Reach - Average of n - value@:@@:@$$Q4 2025 - TAG_Reach - Average of sum@:@Q4 2025 - TAG_Reach - Average of sum@:@@:@$$&lt;blank:Delta RYB&gt;@:@Delta RYB@:@0%@:@=O2-F2$!$LongFilterCondition--AND$!$Metric--$!$SelectedColumns--title@:@title@:@@:@$$Q4 2025 - RYB_Reach - Average of decimal@:@Q4 2025 - RYB_Reach - Average of decimal@:@0%@:@$$&lt;blank:IA&gt;@:@IA@:@0%@:@=10%$$Q4 2025 - TAG_Reach - Average of decimal@:@Q4 2025 - TAG_Reach - Average of decimal@:@0%@:@$!$PivotFilterCondition--AND$!$Analysis--3610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Abacus$!$SelectedMulRolling--$!$SortedField--&lt;blank:Preference Final&gt;$$Descending$$$!$FetchOverallData--False$!$Relative--True$!$IsAddQuestionText--False$!$StatisticsSignificance--[]$!$LiveWave--True$!$IsNonOverlapping--False$!$StatisticsSignificanceNValue--30$!$IsSplit--False$!$LastUpdate--18-12-2025 13:43:56$!$AddSplitObjectsToSingleSlide--False$!$LongFilterFields--$!$TableHeader--2$!$PivotEntry--1$!$TopNRows--0$!$IsProjectAnalysis--True$!$SelectAllColumns--False$!$PivotFilterFields--$!$IsAddLegend--False$!$xField--title$!$Status--Create:Success$!$yField--segment_0,analysis_id$!$MoveFirst--$!$vField--decimal,n - value,sum$!$MoveLast--$!$fnField--Averag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93024538"/>
  <p:tag name="SYNQRY" val="SYNQRY#1#$$!$FileVersion--1.6.5.8$!$IsAlias--True$!$Project--623$!$IsNestedSegments--True$!$ProjectSegmentIDs--$!$Survey--387210$!$RequiredColumns--title@:@title@:@@:@$$Q3 2025 - Preference - Average of decimal@:@Q3 2025 - Preference - Average of decimal@:@@:@$$Q3 2025 - Preference - Average of n - value@:@Q3 2025 - Preference - Average of n - value@:@@:@$$Q3 2025 - Preference - Average of sum@:@Q3 2025 - Preference - Average of sum@:@@:@$$&lt;blank:Preference Final&gt;@:@Preference Final@:@0%@:@=SUM(D2,N2)/SUM(C2,M2)$$Q3 2025 - RYB_Reach - Average of decimal@:@Q3 2025 - RYB_Reach - Average of decimal@:@0%@:@$$Q3 2025 - RYB_Reach - Average of n - value@:@Q3 2025 - RYB_Reach - Average of n - value@:@@:@$$Q3 2025 - RYB_Reach - Average of sum@:@Q3 2025 - RYB_Reach - Average of sum@:@@:@$$Q3 2025 - TAG_Reach - Average of decimal@:@Q3 2025 - TAG_Reach - Average of decimal@:@0%@:@$$Q3 2025 - TAG_Reach - Average of n - value@:@Q3 2025 - TAG_Reach - Average of n - value@:@@:@$$Q3 2025 - TAG_Reach - Average of sum@:@Q3 2025 - TAG_Reach - Average of sum@:@@:@$$Q4 2025 - Preference - Average of decimal@:@Q4 2025 - Preference - Average of decimal@:@@:@$$Q4 2025 - Preference - Average of n - value@:@Q4 2025 - Preference - Average of n - value@:@@:@$$Q4 2025 - Preference - Average of sum@:@Q4 2025 - Preference - Average of sum@:@@:@$$Q4 2025 - RYB_Reach - Average of decimal@:@Q4 2025 - RYB_Reach - Average of decimal@:@0%@:@$$Q4 2025 - RYB_Reach - Average of n - value@:@Q4 2025 - RYB_Reach - Average of n - value@:@@:@$$Q4 2025 - RYB_Reach - Average of sum@:@Q4 2025 - RYB_Reach - Average of sum@:@@:@$$&lt;blank:IA&gt;@:@IA@:@0%@:@=10%$$Q4 2025 - TAG_Reach - Average of decimal@:@Q4 2025 - TAG_Reach - Average of decimal@:@0%@:@$$Q4 2025 - TAG_Reach - Average of n - value@:@Q4 2025 - TAG_Reach - Average of n - value@:@@:@$$Q4 2025 - TAG_Reach - Average of sum@:@Q4 2025 - TAG_Reach - Average of sum@:@@:@$$&lt;blank:Delta RYB&gt;@:@Delta RYB@:@0%@:@=O2-F2$!$LongFilterCondition--AND$!$Metric--$!$SelectedColumns--&lt;blank:Delta RYB&gt;@:@Delta RYB@:@0%@:@=O2-F2$!$PivotFilterCondition--AND$!$Analysis--3610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&lt;blank:Preference Final&gt;$$Descending$$$!$FetchOverallData--False$!$Relative--True$!$IsAddQuestionText--False$!$StatisticsSignificance--[]$!$LiveWave--True$!$IsNonOverlapping--False$!$StatisticsSignificanceNValue--30$!$IsSplit--False$!$LastUpdate--18-12-2025 13:44:51$!$AddSplitObjectsToSingleSlide--False$!$LongFilterFields--$!$TableHeader--2$!$PivotEntry--1$!$TopNRows--0$!$IsProjectAnalysis--True$!$SelectAllColumns--False$!$PivotFilterFields--$!$IsAddLegend--False$!$xField--title$!$Status--Create:Success$!$yField--segment_0,analysis_id$!$MoveFirst--$!$vField--decimal,n - value,sum$!$MoveLast--$!$fnField--Averag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38949456"/>
  <p:tag name="UPDATE" val="unlock"/>
  <p:tag name="VISUALISATION_ID" val="Darwin_77053900"/>
  <p:tag name="SYNQRY" val="SYNQRY#1#$$!$FileVersion--1.6.5.8$!$IsAlias--True$!$Project--623$!$IsNestedSegments--True$!$ProjectSegmentIDs--$!$Survey--387210$!$RequiredColumns--title@:@title@:@@:@$$Q3 2025 - RYB_Overall@:@Q3 2025 - RYB_Overall@:@0%@:@$$Q3 2025 - TAG_overall@:@Q3 2025 - TAG_overall@:@0%@:@$$Q4 2025 - RYB_Overall@:@Q4 2025 - RYB_Overall@:@0%@:@$$Q4 2025 - TAG_overall@:@Q4 2025 - TAG_overall@:@0%@:@$$&lt;blank:Delta RYB&gt;@:@Delta RYB@:@0%@:@=D2-B2$$&lt;blank:Delta TAG&gt;@:@Delta TAG@:@0%@:@=E2-C2$!$LongFilterCondition--AND$!$Metric--none$!$SelectedColumns--title@:@title@:@@:@$!$PivotFilterCondition--AND$!$Analysis--14309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Q4 2025 - RYB_Overall$$Descending$$$!$FetchOverallData--False$!$Relative--True$!$IsAddQuestionText--False$!$StatisticsSignificance--[]$!$LiveWave--True$!$IsNonOverlapping--False$!$StatisticsSignificanceNValue--30$!$IsSplit--False$!$LastUpdate--08-01-2026 18:05:26$!$AddSplitObjectsToSingleSlide--False$!$LongFilterFields--analysis_id@:@IN@:@RYB_Overall$@$TAG_overall$!$TableHeader--2$!$PivotEntry--1$!$TopNRows--0$!$IsProjectAnalysis--True$!$SelectAllColumns--True$!$PivotFilterFields--$!$IsAddLegend--False$!$xField--title$!$Status--Create:Success$!$yField--segment_0,analysis_id$!$MoveFirst--Overall effectiveness of channel$!$vField--decimal$!$MoveLast--$!$fnField--Averag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##G2" val="SynQ##Project--347$!$Survey--927820$!$Analysis--72027$!$RecentWave--W#$!$SelectedWave--44169,39266$!$SelectedSeg--17172,7024$!$SelectedGp--wave$!$LiveWave--True$!$Fields--Title,Wave,Metric/Percent$!$Filter--Segment2 LIKE 'URO'$!$Sorting--Wave ASC$!$NumOfWaves--2"/>
  <p:tag name="SYNQ##L2" val="SynQ##Project--347$!$Survey--927820$!$Analysis--72032$!$RecentWave--W#$!$SelectedWave--44169,39266$!$SelectedSeg--17224,7024$!$SelectedGp--wave$!$LiveWave--True$!$Fields--Title,Wave,Metric/Percent$!$Filter--Segment2 LIKE 'URO'$!$Sorting--Wave DESC$!$NumOfWaves--2"/>
  <p:tag name="SYNQ##Q2" val="SynQ##Project--347$!$Survey--927820$!$Analysis--72037$!$RecentWave--W#$!$SelectedWave--44169,39266$!$SelectedSeg--17225,7024$!$SelectedGp--wave$!$LiveWave--True$!$Fields--Title,Wave,Metric/Percent$!$Filter--Segment2 LIKE 'URO'$!$Sorting--Wave DESC$!$NumOfWaves--2"/>
  <p:tag name="DARWINVERSION" val="CSharp"/>
  <p:tag name="UPDATE" val="unlock"/>
  <p:tag name="VISUALISATION_ID" val="Darwin_1641876"/>
  <p:tag name="SYNQRY" val="SYNQRY#1#$$!$FileVersion--1.6.5.8$!$IsAlias--True$!$Project--623$!$IsNestedSegments--True$!$ProjectSegmentIDs--$!$Survey--387210$!$RequiredColumns--title@:@title@:@@:@$$Q3 2025 - RYB_Overall@:@Q3 2025 - RYB_Overall@:@0%@:@$$Q3 2025 - TAG_overall@:@Q3 2025 - TAG_overall@:@0%@:@$$Q4 2025 - RYB_Overall@:@Q4 2025 - RYB_Overall@:@0%@:@$$Q4 2025 - TAG_overall@:@Q4 2025 - TAG_overall@:@0%@:@$$&lt;blank:Delta RYB&gt;@:@Delta RYB@:@0%@:@=D2-B2$$&lt;blank:Delta TAG&gt;@:@Delta TAG@:@0%@:@=E2-C2$!$LongFilterCondition--AND$!$Metric--none$!$SelectedColumns--title@:@title@:@@:@$$Q4 2025 - RYB_Overall@:@Q4 2025 - RYB_Overall@:@0%@:@$!$PivotFilterCondition--AND$!$Analysis--14309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Clustered Bar$!$SelectedMulRolling--$!$SortedField--Q4 2025 - RYB_Overall$$Descending$$$!$FetchOverallData--False$!$Relative--True$!$IsAddQuestionText--False$!$StatisticsSignificance--[]$!$LiveWave--True$!$IsNonOverlapping--False$!$StatisticsSignificanceNValue--30$!$IsSplit--False$!$LastUpdate--08-01-2026 18:06:34$!$AddSplitObjectsToSingleSlide--False$!$LongFilterFields--analysis_id@:@IN@:@RYB_Overall$@$TAG_overall$!$TableHeader--2$!$PivotEntry--1$!$TopNRows--0$!$IsProjectAnalysis--True$!$SelectAllColumns--False$!$PivotFilterFields--$!$IsAddLegend--False$!$xField--title$!$Status--Create:Success$!$yField--segment_0,analysis_id$!$MoveFirst--Overall effectiveness of channel$!$vField--decimal$!$MoveLast--$!$fnField--Average"/>
  <p:tag name="STASSIGID" val="StasSigId_82271147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##G2" val="SynQ##Project--347$!$Survey--927820$!$Analysis--72027$!$RecentWave--W#$!$SelectedWave--44169,39266$!$SelectedSeg--17172,7024$!$SelectedGp--wave$!$LiveWave--True$!$Fields--Title,Wave,Metric/Percent$!$Filter--Segment2 LIKE 'URO'$!$Sorting--Wave ASC$!$NumOfWaves--2"/>
  <p:tag name="SYNQ##L2" val="SynQ##Project--347$!$Survey--927820$!$Analysis--72032$!$RecentWave--W#$!$SelectedWave--44169,39266$!$SelectedSeg--17224,7024$!$SelectedGp--wave$!$LiveWave--True$!$Fields--Title,Wave,Metric/Percent$!$Filter--Segment2 LIKE 'URO'$!$Sorting--Wave DESC$!$NumOfWaves--2"/>
  <p:tag name="SYNQ##Q2" val="SynQ##Project--347$!$Survey--927820$!$Analysis--72037$!$RecentWave--W#$!$SelectedWave--44169,39266$!$SelectedSeg--17225,7024$!$SelectedGp--wave$!$LiveWave--True$!$Fields--Title,Wave,Metric/Percent$!$Filter--Segment2 LIKE 'URO'$!$Sorting--Wave DESC$!$NumOfWaves--2"/>
  <p:tag name="DARWINVERSION" val="CSharp"/>
  <p:tag name="FAILEDREFRESHICONID" val="Darwin_51427009"/>
  <p:tag name="UPDATE" val="unlock"/>
  <p:tag name="VISUALISATION_ID" val="Darwin_71020630"/>
  <p:tag name="SYNQRY" val="SYNQRY#1#$$!$FileVersion--1.6.5.8$!$IsAlias--True$!$Project--623$!$IsNestedSegments--True$!$ProjectSegmentIDs--$!$Survey--387210$!$RequiredColumns--title@:@title@:@@:@$$Q3 2025 - RYB_Overall@:@Q3 2025 - RYB_Overall@:@0%@:@$$Q3 2025 - TAG_overall@:@Q3 2025 - TAG_overall@:@0%@:@$$Q4 2025 - RYB_Overall@:@Q4 2025 - RYB_Overall@:@0%@:@$$Q4 2025 - TAG_overall@:@Q4 2025 - TAG_overall@:@0%@:@$$&lt;blank:Delta RYB&gt;@:@Delta RYB@:@0%@:@=D2-B2$$&lt;blank:Delta TAG&gt;@:@Delta TAG@:@0%@:@=E2-C2$!$LongFilterCondition--AND$!$Metric--none$!$SelectedColumns--title@:@title@:@@:@$$Q4 2025 - TAG_overall@:@Q4 2025 - TAG_overall@:@0%@:@$!$PivotFilterCondition--AND$!$Analysis--14309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Clustered Bar$!$SelectedMulRolling--$!$SortedField--Q4 2025 - RYB_Overall$$Descending$$$!$FetchOverallData--False$!$Relative--True$!$IsAddQuestionText--False$!$StatisticsSignificance--[]$!$LiveWave--True$!$IsNonOverlapping--False$!$StatisticsSignificanceNValue--30$!$IsSplit--False$!$LastUpdate--08-01-2026 18:06:49$!$AddSplitObjectsToSingleSlide--False$!$LongFilterFields--analysis_id@:@IN@:@RYB_Overall$@$TAG_overall$!$TableHeader--2$!$PivotEntry--1$!$TopNRows--0$!$IsProjectAnalysis--True$!$SelectAllColumns--False$!$PivotFilterFields--$!$IsAddLegend--False$!$xField--title$!$Status--Create:Success$!$yField--segment_0,analysis_id$!$MoveFirst--Overall effectiveness of channel$!$vField--decimal$!$MoveLast--$!$fnField--Average"/>
  <p:tag name="STASSIGID" val="StasSigId_6968349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93298538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6572334"/>
  <p:tag name="SYNQRY" val="SYNQRY#1#$$!$FileVersion--1.6.5.8$!$IsAlias--True$!$Project--623$!$IsNestedSegments--True$!$ProjectSegmentIDs--$!$Survey--387210$!$RequiredColumns--title@:@title@:@@:@$$Q3 2025 - RYB_Overall@:@Q3 2025 - RYB_Overall@:@0%@:@$$Q3 2025 - TAG_overall@:@Q3 2025 - TAG_overall@:@0%@:@$$Q4 2025 - RYB_Overall@:@Q4 2025 - RYB_Overall@:@0%@:@$$Q4 2025 - TAG_overall@:@Q4 2025 - TAG_overall@:@0%@:@$$&lt;blank:Delta RYB&gt;@:@Delta RYB@:@0%@:@=D2-B2$$&lt;blank:Delta TAG&gt;@:@Delta TAG@:@0%@:@=E2-C2$!$LongFilterCondition--AND$!$Metric--none$!$SelectedColumns--&lt;blank:Delta RYB&gt;@:@Delta RYB@:@0%@:@=D2-B2$!$PivotFilterCondition--AND$!$Analysis--14309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Q4 2025 - RYB_Overall$$Descending$$$!$FetchOverallData--False$!$Relative--True$!$IsAddQuestionText--False$!$StatisticsSignificance--[]$!$LiveWave--True$!$IsNonOverlapping--False$!$StatisticsSignificanceNValue--30$!$IsSplit--False$!$LastUpdate--08-01-2026 18:06:12$!$AddSplitObjectsToSingleSlide--False$!$LongFilterFields--analysis_id@:@IN@:@RYB_Overall$@$TAG_overall$!$TableHeader--2$!$PivotEntry--1$!$TopNRows--0$!$IsProjectAnalysis--True$!$SelectAllColumns--False$!$PivotFilterFields--$!$IsAddLegend--False$!$xField--title$!$Status--Create:Success$!$yField--segment_0,analysis_id$!$MoveFirst--Overall effectiveness of channel$!$vField--decimal$!$MoveLast--$!$fnField--Averag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77796550"/>
  <p:tag name="SYNQRY" val="SYNQRY#1#$$!$FileVersion--1.6.5.8$!$IsAlias--True$!$Project--623$!$IsNestedSegments--True$!$ProjectSegmentIDs--$!$Survey--387210$!$RequiredColumns--title@:@title@:@@:@$$Q3 2025 - RYB_Overall@:@Q3 2025 - RYB_Overall@:@0%@:@$$Q3 2025 - TAG_overall@:@Q3 2025 - TAG_overall@:@0%@:@$$Q4 2025 - RYB_Overall@:@Q4 2025 - RYB_Overall@:@0%@:@$$Q4 2025 - TAG_overall@:@Q4 2025 - TAG_overall@:@0%@:@$$&lt;blank:Delta RYB&gt;@:@Delta RYB@:@0%@:@=D2-B2$$&lt;blank:Delta TAG&gt;@:@Delta TAG@:@0%@:@=E2-C2$!$LongFilterCondition--AND$!$Metric--none$!$SelectedColumns--&lt;blank:Delta TAG&gt;@:@Delta TAG@:@0%@:@=E2-C2$!$PivotFilterCondition--AND$!$Analysis--14309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Q4 2025 - RYB_Overall$$Descending$$$!$FetchOverallData--False$!$Relative--True$!$IsAddQuestionText--False$!$StatisticsSignificance--[]$!$LiveWave--True$!$IsNonOverlapping--False$!$StatisticsSignificanceNValue--30$!$IsSplit--False$!$LastUpdate--08-01-2026 18:05:57$!$AddSplitObjectsToSingleSlide--False$!$LongFilterFields--analysis_id@:@IN@:@RYB_Overall$@$TAG_overall$!$TableHeader--2$!$PivotEntry--1$!$TopNRows--0$!$IsProjectAnalysis--True$!$SelectAllColumns--False$!$PivotFilterFields--$!$IsAddLegend--False$!$xField--title$!$Status--Create:Success$!$yField--segment_0,analysis_id$!$MoveFirst--Overall effectiveness of channel$!$vField--decimal$!$MoveLast--$!$fnField--Averag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38949456"/>
  <p:tag name="NON_CONNECTED_SHAPE_ID" val="17387032"/>
  <p:tag name="UPDATE" val="unlock"/>
  <p:tag name="VISUALISATION_ID" val="Darwin_16200546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title@:@title@:@@:@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4$!$AddSplitObjectsToSingleSlide--False$!$LongFilterFields--analysis_id@:@IN@:@RYB_Emails$@$RYB_Online_Ads$@$RYB_Pharma_Websites$@$RYB_Seminars$@$RYB_Conferences$@$RYB_Overall$!$TableHeader--2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SYNQRY" val="SYNQRY#1#$$!$FileVersion--1.0.4$!$IsAlias--True$!$Project--623$!$IsNestedSegments--True$!$ProjectSegmentIDs--$!$Survey--738902$!$RequiredColumns--title@:@title@:@@:@$$RYB_High@:@RYB_High@:@@:@$$RYB_Med@:@RYB_Med@:@@:@$$RYB_Low@:@RYB_Low@:@@:@$$EXK_high@:@EXK_high@:@@:@$$EXK_Med@:@EXK_Med@:@@:@$$EXK_Low@:@EXK_Low@:@@:@$$TAG_High@:@TAG_High@:@@:@$$TAG_Med@:@TAG_Med@:@@:@$$TAG_Low@:@TAG_Low@:@@:@$$&lt;blank:RYB_High %&gt;@:@RYB_High %@:@0%@:@=B2/B$2$$&lt;blank:RYB_Med %&gt;@:@RYB_Med %@:@0%@:@=C2/C$2$$&lt;blank:RYB_Low %&gt;@:@RYB_Low %@:@0%@:@=D2/D$2$$&lt;blank:EXK_high %&gt;@:@EXK_high %@:@0%@:@=E2/E$2$$&lt;blank:EXK_Med %&gt;@:@EXK_Med %@:@0%@:@=F2/F$2$$&lt;blank:EXK_Low %&gt;@:@EXK_Low %@:@0%@:@=G2/G$2$$&lt;blank:TAG_High %&gt;@:@TAG_High %@:@0%@:@=H2/H$2$$&lt;blank:TAG_Med %&gt;@:@TAG_Med %@:@0%@:@=I2/I$2$$&lt;blank:TAG_Low %&gt;@:@TAG_Low %@:@0%@:@=J2/J$2$!$LongFilterCondition--AND$!$Metric--$!$SelectedColumns--title@:@title@:@@:@$!$PivotFilterCondition--AND$!$Analysis--3609$!$SelectedRows--Overall effectiveness of channel$$Motivating to take action$$Clarity of information in channel$$Credibility of information in channel$$Relevance / Usefulness of information in channel$$Differentiation of information in channel$!$AddLatestColumnToFirst--False$!$RecentWave--W2#1$!$ChartSplit--$!$IsClientDeliverable--True$!$SelectedWave--83580$!$Transpose--False$!$ClientDeliverableID--138$!$SelectedSeg--$!$IsOverlapping--False$!$ClientDeliverableSegmentIDs--4630$!$SelectedGp--wave$!$IsSorted--True$!$ChartType--Abacus$!$SelectedMulRolling--$!$SortedField--&lt;blank:RYB_High %&gt;$$Descending$$$!$FetchOverallData--False$!$Relative--True$!$IsAddQuestionText--False$!$StatisticsSignificance--[]$!$LiveWave--True$!$IsNonOverlapping--False$!$StatisticsSignificanceNValue--30$!$IsSplit--False$!$LastUpdate--03-07-2023 19:03:04$!$AddSplitObjectsToSingleSlide--False$!$LongFilterFields--$!$TableHeader--2$!$PivotEntry--1$!$TopNRows--0$!$IsProjectAnalysis--True$!$SelectAllColumns--False$!$PivotFilterFields--$!$IsAddLegend--False$!$xField--title$!$Status--Create:Success$!$yField--analysis_id$!$MoveFirst--Overall effectiveness of channel$!$vField--sum$!$MoveLast--Base$!$fnField--Average"/>
  <p:tag name="VISUALISATION_ID" val="Darwin_30250373"/>
  <p:tag name="FAILEDREFRESHICONID" val="Darwin_3025037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##G2" val="SynQ##Project--347$!$Survey--927820$!$Analysis--72027$!$RecentWave--W#$!$SelectedWave--44169,39266$!$SelectedSeg--17172,7024$!$SelectedGp--wave$!$LiveWave--True$!$Fields--Title,Wave,Metric/Percent$!$Filter--Segment2 LIKE 'URO'$!$Sorting--Wave ASC$!$NumOfWaves--2"/>
  <p:tag name="SYNQ##L2" val="SynQ##Project--347$!$Survey--927820$!$Analysis--72032$!$RecentWave--W#$!$SelectedWave--44169,39266$!$SelectedSeg--17224,7024$!$SelectedGp--wave$!$LiveWave--True$!$Fields--Title,Wave,Metric/Percent$!$Filter--Segment2 LIKE 'URO'$!$Sorting--Wave DESC$!$NumOfWaves--2"/>
  <p:tag name="SYNQ##Q2" val="SynQ##Project--347$!$Survey--927820$!$Analysis--72037$!$RecentWave--W#$!$SelectedWave--44169,39266$!$SelectedSeg--17225,7024$!$SelectedGp--wave$!$LiveWave--True$!$Fields--Title,Wave,Metric/Percent$!$Filter--Segment2 LIKE 'URO'$!$Sorting--Wave DESC$!$NumOfWaves--2"/>
  <p:tag name="DARWINVERSION" val="CSharp"/>
  <p:tag name="NON_CONNECTED_SHAPE_ID" val="16421635"/>
  <p:tag name="UPDATE" val="unlock"/>
  <p:tag name="VISUALISATION_ID" val="Darwin_65136489"/>
  <p:tag name="STASSIGID" val="StasSigId_6404019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title@:@title@:@@:@$$RYB_Emails - Q4 2025@:@RYB_Emails - Q4 2025@:@0%@:@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43$!$AddSplitObjectsToSingleSlide--False$!$LongFilterFields--analysis_id@:@IN@:@RYB_Emails$@$RYB_Online_Ads$@$RYB_Pharma_Websites$@$RYB_Seminars$@$RYB_Conferences$@$RYB_Overall$!$TableHeader--1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##G2" val="SynQ##Project--347$!$Survey--927820$!$Analysis--72027$!$RecentWave--W#$!$SelectedWave--44169,39266$!$SelectedSeg--17172,7024$!$SelectedGp--wave$!$LiveWave--True$!$Fields--Title,Wave,Metric/Percent$!$Filter--Segment2 LIKE 'URO'$!$Sorting--Wave ASC$!$NumOfWaves--2"/>
  <p:tag name="SYNQ##L2" val="SynQ##Project--347$!$Survey--927820$!$Analysis--72032$!$RecentWave--W#$!$SelectedWave--44169,39266$!$SelectedSeg--17224,7024$!$SelectedGp--wave$!$LiveWave--True$!$Fields--Title,Wave,Metric/Percent$!$Filter--Segment2 LIKE 'URO'$!$Sorting--Wave DESC$!$NumOfWaves--2"/>
  <p:tag name="SYNQ##Q2" val="SynQ##Project--347$!$Survey--927820$!$Analysis--72037$!$RecentWave--W#$!$SelectedWave--44169,39266$!$SelectedSeg--17225,7024$!$SelectedGp--wave$!$LiveWave--True$!$Fields--Title,Wave,Metric/Percent$!$Filter--Segment2 LIKE 'URO'$!$Sorting--Wave DESC$!$NumOfWaves--2"/>
  <p:tag name="DARWINVERSION" val="CSharp"/>
  <p:tag name="NON_CONNECTED_SHAPE_ID" val="84576098"/>
  <p:tag name="UPDATE" val="unlock"/>
  <p:tag name="VISUALISATION_ID" val="Darwin_73493597"/>
  <p:tag name="STASSIGID" val="StasSigId_62152300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title@:@title@:@@:@$$RYB_Online_Ads - Q4 2025@:@RYB_Online_Ads - Q4 2025@:@0%@:@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43$!$AddSplitObjectsToSingleSlide--False$!$LongFilterFields--analysis_id@:@IN@:@RYB_Emails$@$RYB_Online_Ads$@$RYB_Pharma_Websites$@$RYB_Seminars$@$RYB_Conferences$@$RYB_Overall$!$TableHeader--1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##G2" val="SynQ##Project--347$!$Survey--927820$!$Analysis--72027$!$RecentWave--W#$!$SelectedWave--44169,39266$!$SelectedSeg--17172,7024$!$SelectedGp--wave$!$LiveWave--True$!$Fields--Title,Wave,Metric/Percent$!$Filter--Segment2 LIKE 'URO'$!$Sorting--Wave ASC$!$NumOfWaves--2"/>
  <p:tag name="SYNQ##L2" val="SynQ##Project--347$!$Survey--927820$!$Analysis--72032$!$RecentWave--W#$!$SelectedWave--44169,39266$!$SelectedSeg--17224,7024$!$SelectedGp--wave$!$LiveWave--True$!$Fields--Title,Wave,Metric/Percent$!$Filter--Segment2 LIKE 'URO'$!$Sorting--Wave DESC$!$NumOfWaves--2"/>
  <p:tag name="SYNQ##Q2" val="SynQ##Project--347$!$Survey--927820$!$Analysis--72037$!$RecentWave--W#$!$SelectedWave--44169,39266$!$SelectedSeg--17225,7024$!$SelectedGp--wave$!$LiveWave--True$!$Fields--Title,Wave,Metric/Percent$!$Filter--Segment2 LIKE 'URO'$!$Sorting--Wave DESC$!$NumOfWaves--2"/>
  <p:tag name="DARWINVERSION" val="CSharp"/>
  <p:tag name="NON_CONNECTED_SHAPE_ID" val="71475536"/>
  <p:tag name="UPDATE" val="unlock"/>
  <p:tag name="VISUALISATION_ID" val="Darwin_70716424"/>
  <p:tag name="STASSIGID" val="StasSigId_81110951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title@:@title@:@@:@$$RYB_Pharma_Websites - Q4 2025@:@RYB_Pharma_Websites - Q4 2025@:@0%@:@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43$!$AddSplitObjectsToSingleSlide--False$!$LongFilterFields--analysis_id@:@IN@:@RYB_Emails$@$RYB_Online_Ads$@$RYB_Pharma_Websites$@$RYB_Seminars$@$RYB_Conferences$@$RYB_Overall$!$TableHeader--1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##G2" val="SynQ##Project--347$!$Survey--927820$!$Analysis--72027$!$RecentWave--W#$!$SelectedWave--44169,39266$!$SelectedSeg--17172,7024$!$SelectedGp--wave$!$LiveWave--True$!$Fields--Title,Wave,Metric/Percent$!$Filter--Segment2 LIKE 'URO'$!$Sorting--Wave ASC$!$NumOfWaves--2"/>
  <p:tag name="SYNQ##L2" val="SynQ##Project--347$!$Survey--927820$!$Analysis--72032$!$RecentWave--W#$!$SelectedWave--44169,39266$!$SelectedSeg--17224,7024$!$SelectedGp--wave$!$LiveWave--True$!$Fields--Title,Wave,Metric/Percent$!$Filter--Segment2 LIKE 'URO'$!$Sorting--Wave DESC$!$NumOfWaves--2"/>
  <p:tag name="SYNQ##Q2" val="SynQ##Project--347$!$Survey--927820$!$Analysis--72037$!$RecentWave--W#$!$SelectedWave--44169,39266$!$SelectedSeg--17225,7024$!$SelectedGp--wave$!$LiveWave--True$!$Fields--Title,Wave,Metric/Percent$!$Filter--Segment2 LIKE 'URO'$!$Sorting--Wave DESC$!$NumOfWaves--2"/>
  <p:tag name="DARWINVERSION" val="CSharp"/>
  <p:tag name="NON_CONNECTED_SHAPE_ID" val="26841506"/>
  <p:tag name="UPDATE" val="unlock"/>
  <p:tag name="VISUALISATION_ID" val="Darwin_15210306"/>
  <p:tag name="STASSIGID" val="StasSigId_47161865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title@:@title@:@@:@$$RYB_Seminars - Q4 2025@:@RYB_Seminars - Q4 2025@:@0%@:@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0$!$AddSplitObjectsToSingleSlide--False$!$LongFilterFields--analysis_id@:@IN@:@RYB_Emails$@$RYB_Online_Ads$@$RYB_Pharma_Websites$@$RYB_Seminars$@$RYB_Conferences$@$RYB_Overall$!$TableHeader--1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Q##G2" val="SynQ##Project--347$!$Survey--927820$!$Analysis--72027$!$RecentWave--W#$!$SelectedWave--44169,39266$!$SelectedSeg--17172,7024$!$SelectedGp--wave$!$LiveWave--True$!$Fields--Title,Wave,Metric/Percent$!$Filter--Segment2 LIKE 'URO'$!$Sorting--Wave ASC$!$NumOfWaves--2"/>
  <p:tag name="SYNQ##L2" val="SynQ##Project--347$!$Survey--927820$!$Analysis--72032$!$RecentWave--W#$!$SelectedWave--44169,39266$!$SelectedSeg--17224,7024$!$SelectedGp--wave$!$LiveWave--True$!$Fields--Title,Wave,Metric/Percent$!$Filter--Segment2 LIKE 'URO'$!$Sorting--Wave DESC$!$NumOfWaves--2"/>
  <p:tag name="SYNQ##Q2" val="SynQ##Project--347$!$Survey--927820$!$Analysis--72037$!$RecentWave--W#$!$SelectedWave--44169,39266$!$SelectedSeg--17225,7024$!$SelectedGp--wave$!$LiveWave--True$!$Fields--Title,Wave,Metric/Percent$!$Filter--Segment2 LIKE 'URO'$!$Sorting--Wave DESC$!$NumOfWaves--2"/>
  <p:tag name="DARWINVERSION" val="CSharp"/>
  <p:tag name="NON_CONNECTED_SHAPE_ID" val="26841506"/>
  <p:tag name="UPDATE" val="unlock"/>
  <p:tag name="VISUALISATION_ID" val="Darwin_56981796"/>
  <p:tag name="STASSIGID" val="StasSigId_27410435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title@:@title@:@@:@$$RYB_Conferences - Q4 2025@:@RYB_Conferences - Q4 2025@:@0%@:@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1$!$AddSplitObjectsToSingleSlide--False$!$LongFilterFields--analysis_id@:@IN@:@RYB_Emails$@$RYB_Online_Ads$@$RYB_Pharma_Websites$@$RYB_Seminars$@$RYB_Conferences$@$RYB_Overall$!$TableHeader--1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16884875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&lt;blank:Delta Emails&gt;@:@Delta Emails@:@0%@:@=E2-D2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1$!$AddSplitObjectsToSingleSlide--False$!$LongFilterFields--analysis_id@:@IN@:@RYB_Emails$@$RYB_Online_Ads$@$RYB_Pharma_Websites$@$RYB_Seminars$@$RYB_Conferences$@$RYB_Overall$!$TableHeader--2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59261875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&lt;blank:Delta Online Ads&gt;@:@Delta Online Ads@:@0%@:@=G2-F2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4$!$AddSplitObjectsToSingleSlide--False$!$LongFilterFields--analysis_id@:@IN@:@RYB_Emails$@$RYB_Online_Ads$@$RYB_Pharma_Websites$@$RYB_Seminars$@$RYB_Conferences$@$RYB_Overall$!$TableHeader--2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85139718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&lt;blank:Delta Seminar&gt;@:@Delta Seminar@:@0%@:@=M2-L2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7$!$AddSplitObjectsToSingleSlide--False$!$LongFilterFields--analysis_id@:@IN@:@RYB_Emails$@$RYB_Online_Ads$@$RYB_Pharma_Websites$@$RYB_Seminars$@$RYB_Conferences$@$RYB_Overall$!$TableHeader--2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46361784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&lt;blank:Delta Websites&gt;@:@Delta Websites@:@0%@:@=K2-J2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7$!$AddSplitObjectsToSingleSlide--False$!$LongFilterFields--analysis_id@:@IN@:@RYB_Emails$@$RYB_Online_Ads$@$RYB_Pharma_Websites$@$RYB_Seminars$@$RYB_Conferences$@$RYB_Overall$!$TableHeader--2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11026423"/>
  <p:tag name="SYNQRY" val="SYNQRY#1#$$!$FileVersion--1.6.5.8$!$IsAlias--True$!$Project--623$!$IsNestedSegments--True$!$ProjectSegmentIDs--$!$Survey--738902$!$RequiredColumns--title@:@title@:@@:@$$RYB_Conferences - Q3 2025@:@RYB_Conferences - Q3 2025@:@0%@:@$$RYB_Conferences - Q4 2025@:@RYB_Conferences - Q4 2025@:@0%@:@$$RYB_Emails - Q3 2025@:@RYB_Emails - Q3 2025@:@0%@:@$$RYB_Emails - Q4 2025@:@RYB_Emails - Q4 2025@:@0%@:@$$RYB_Online_Ads - Q3 2025@:@RYB_Online_Ads - Q3 2025@:@0%@:@$$RYB_Online_Ads - Q4 2025@:@RYB_Online_Ads - Q4 2025@:@0%@:@$$RYB_Overall - Q3 2025@:@RYB_Overall - Q3 2025@:@0%@:@$$RYB_Overall - Q4 2025@:@RYB_Overall - Q4 2025@:@0%@:@$$RYB_Pharma_Websites - Q3 2025@:@RYB_Pharma_Websites - Q3 2025@:@0%@:@$$RYB_Pharma_Websites - Q4 2025@:@RYB_Pharma_Websites - Q4 2025@:@0%@:@$$RYB_Seminars - Q3 2025@:@RYB_Seminars - Q3 2025@:@0%@:@$$RYB_Seminars - Q4 2025@:@RYB_Seminars - Q4 2025@:@0%@:@$$&lt;blank:Delta Websites&gt;@:@Delta Websites@:@0%@:@=K2-J2$$&lt;blank:Delta Emails&gt;@:@Delta Emails@:@0%@:@=E2-D2$$&lt;blank:Delta Online Ads&gt;@:@Delta Online Ads@:@0%@:@=G2-F2$$&lt;blank:Delta Seminar&gt;@:@Delta Seminar@:@0%@:@=M2-L2$$&lt;blank:Delta Medica conference&gt;@:@Delta Medica conference@:@0%@:@=C2-B2$!$LongFilterCondition--AND$!$Metric--$!$SelectedColumns--&lt;blank:Delta Medica conference&gt;@:@Delta Medica conference@:@0%@:@=C2-B2$!$PivotFilterCondition--AND$!$Analysis--1430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Overall - Q4 2025$$Descending$$$!$FetchOverallData--False$!$Relative--True$!$IsAddQuestionText--False$!$StatisticsSignificance--[]$!$LiveWave--True$!$IsNonOverlapping--False$!$StatisticsSignificanceNValue--30$!$IsSplit--False$!$LastUpdate--30-12-2025 19:55:59$!$AddSplitObjectsToSingleSlide--False$!$LongFilterFields--analysis_id@:@IN@:@RYB_Emails$@$RYB_Online_Ads$@$RYB_Pharma_Websites$@$RYB_Seminars$@$RYB_Conferences$@$RYB_Overall$!$TableHeader--2$!$PivotEntry--1$!$TopNRows--0$!$IsProjectAnalysis--True$!$SelectAllColumns--False$!$PivotFilterFields--$!$IsAddLegend--False$!$xField--title$!$Status--Create:Success$!$yField--analysis_id,segment_0$!$MoveFirst--Overall effectiveness of channel$!$vField--decimal$!$MoveLast--$!$fnField--Aver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47218108"/>
  <p:tag name="UPDATE" val="unlock"/>
  <p:tag name="VISUALISATION_ID" val="Darwin_48316633"/>
  <p:tag name="DARWINVERSION" val="CSharp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$!$Select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!$PivotFilterCondition--AND$!$Analysis--14323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20:15:24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76955069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$!$SelectedColumns--&lt;blank:Delta Websites&gt;@:@Delta Websites@:@0%@:@=B2-G2$!$PivotFilterCondition--AND$!$Analysis--14323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20:15:24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13708911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$!$SelectedColumns--&lt;blank:Delta Emails&gt;@:@Delta Emails@:@0%@:@=C2-H2$!$PivotFilterCondition--AND$!$Analysis--14323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20:15:24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29212653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$!$SelectedColumns--&lt;blank:Delta Online Ads&gt;@:@Delta Online Ads@:@0%@:@=D2-I2$!$PivotFilterCondition--AND$!$Analysis--14323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20:15:24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62194013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$!$SelectedColumns--&lt;blank:Delta Seminar&gt;@:@Delta Seminar@:@0%@:@=E2-J2$!$PivotFilterCondition--AND$!$Analysis--14323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20:15:24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24835476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$!$SelectedColumns--&lt;blank:Delta Medical Conference&gt;@:@Delta Medical Conference@:@0%@:@=F2-K2$!$PivotFilterCondition--AND$!$Analysis--14323$!$SelectedRows--ALL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20:15:33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8196367"/>
  <p:tag name="NON_CONNECTED_SHAPE_ID" val="60816869"/>
  <p:tag name="UPDATE" val="unlock"/>
  <p:tag name="VISUALISATION_ID" val="Darwin_15823215"/>
  <p:tag name="STASSIGID" val="StasSigId_19097144"/>
  <p:tag name="SYNQRY" val="SYNQRY#1#$$!$FileVersion--1.6.5.8$!$IsAlias--True$!$Project--623$!$IsNestedSegments--True$!$ProjectSegmentIDs--$!$Survey--387210$!$RequiredColumns--title@:@title@:@@:@$$Topics_Emails_RYB@:@Topics_Emails_RYB@:@0%@:@$$Topics_Emails_TAG@:@Topics_Emails_TAG@:@0%@:@$$Topics_Online_ads_RYB@:@Topics_Online_ads_RYB@:@0%@:@$$Topics_Online_Ads_TAG@:@Topics_Online_Ads_TAG@:@0%@:@$!$LongFilterCondition--AND$!$Metric--$!$SelectedColumns--title@:@title@:@@:@$$Topics_Online_ads_RYB@:@Topics_Online_ads_RYB@:@0%@:@$$Topics_Online_Ads_TAG@:@Topics_Online_Ads_TAG@:@0%@:@$!$PivotFilterCondition--AND$!$Analysis--13022$!$SelectedRows--Efficacy$$Specific indication$$NCCN guidelines$$Safety / Side effects$$Tolerability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Abacus$!$SelectedMulRolling--$!$SortedField--Topics_Online_ads_RYB$$Descending$$$!$FetchOverallData--False$!$Relative--True$!$IsAddQuestionText--False$!$StatisticsSignificance--[]$!$LiveWave--True$!$IsNonOverlapping--False$!$StatisticsSignificanceNValue--30$!$IsSplit--False$!$LastUpdate--02-01-2026 13:12:21$!$AddSplitObjectsToSingleSlide--False$!$LongFilterFields--analysis_id@:@IN@:@Topics_Emails_RYB$@$Topics_Online_ads_RYB$@$Topics_Emails_TAG$@$Topics_Online_Ads_TAG$!$TableHeader--1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YNQ##Q5" val="SynQ##call generateReports('343674','##wSel##','100583','Wave',CURRENT_DATE())$!$Fields--s_1v,title,value,count,total_count,percentage,$!$Filter--$!$Sorting--$!$NumOfWaves--1$!$Recent---1"/>
  <p:tag name="UPDATE" val="unlock"/>
  <p:tag name="VISUALISATION_ID" val="Darwin_6455351"/>
  <p:tag name="STASSIGID" val="StasSigId_57424488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none$!$SelectedColumns--alias7872@:@alias7872@:@@:@$$RYB_MR_Online_Ads - Q4 2025@:@RYB_MR_Online_Ads - Q4 2025@:@0%@:@$!$PivotFilterCondition--AND$!$Analysis--14323$!$SelectedRows--Indication$$OS Headline$$Median OS Not Reached$$NCCN - NSCLC$$NCCN – CNS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Clustered Bar$!$SelectedMulRolling--$!$SortedField--RYB_MR_Online_Ads - Q4 2025$$Descending$$$!$FetchOverallData--False$!$Relative--True$!$IsAddQuestionText--False$!$StatisticsSignificance--[]$!$LiveWave--True$!$IsNonOverlapping--False$!$StatisticsSignificanceNValue--30$!$IsSplit--False$!$LastUpdate--02-01-2026 13:12:21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13868997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none$!$SelectedColumns--alias7872@:@alias7872@:@@:@$!$PivotFilterCondition--AND$!$Analysis--14323$!$SelectedRows--Indication$$OS Headline$$Median OS Not Reached$$NCCN - NSCLC$$NCCN – CNS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nline_Ads - Q4 2025$$Descending$$$!$FetchOverallData--False$!$Relative--True$!$IsAddQuestionText--False$!$StatisticsSignificance--[]$!$LiveWave--True$!$IsNonOverlapping--False$!$StatisticsSignificanceNValue--30$!$IsSplit--False$!$LastUpdate--02-01-2026 13:12:21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83350691"/>
  <p:tag name="UPDATE" val="unlock"/>
  <p:tag name="VISUALISATION_ID" val="Darwin_71520797"/>
  <p:tag name="STASSIGID" val="StasSigId_38893510"/>
  <p:tag name="SYNQRY" val="SYNQRY#1#$$!$FileVersion--1.6.5.8$!$IsAlias--True$!$Project--623$!$IsNestedSegments--True$!$ProjectSegmentIDs--$!$Survey--387210$!$RequiredColumns--analysis_id@:@analysis_id@:@@:@$$Right Amount of Information@:@Right Amount of Information@:@0%@:@$$Shared More Information@:@Shared More Information@:@0%@:@$!$LongFilterCondition--AND$!$Metric--$!$SelectedColumns--analysis_id@:@analysis_id@:@@:@$$Right Amount of Information@:@Right Amount of Information@:@0%@:@$$Shared More Information@:@Shared More Information@:@0%@:@$!$PivotFilterCondition--AND$!$Analysis--13053$!$SelectedRows--RYB_Amount_of_Infromation_OnlineAds$!$AddLatestColumnToFirst--False$!$RecentWave--W2#1$!$ChartSplit--$!$IsClientDeliverable--True$!$SelectedWave--129467$!$Transpose--False$!$ClientDeliverableID--138$!$SelectedSeg--$!$IsOverlapping--False$!$ClientDeliverableSegmentIDs--13717$!$SelectedGp--wave$!$IsSorted--False$!$ChartType--100% Stacked Bar$!$SelectedMulRolling--$!$SortedField--$!$FetchOverallData--False$!$Relative--True$!$IsAddQuestionText--False$!$StatisticsSignificance--[]$!$LiveWave--True$!$IsNonOverlapping--False$!$StatisticsSignificanceNValue--30$!$IsSplit--False$!$LastUpdate--02-01-2026 13:13:19$!$AddSplitObjectsToSingleSlide--False$!$LongFilterFields--analysis_id@:@IN@:@RYB_Amount_of_Infromation_Emails$@$RYB_Amount_of_Infromation_OnlineAds$@$TAG_Amount_of_Infromation_Emails$@$TAG_Amount_of_Infromation_Online_Ads$!$TableHeader--1$!$PivotEntry--1$!$TopNRows--0$!$IsProjectAnalysis--True$!$SelectAllColumns--True$!$PivotFilterFields--$!$IsAddLegend--False$!$xField--analysis_id$!$Status--Create:Success$!$yField--title$!$MoveFirst--$!$vField--decimal$!$MoveLast--$!$fnField--Averag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8196367"/>
  <p:tag name="NON_CONNECTED_SHAPE_ID" val="88173674"/>
  <p:tag name="UPDATE" val="unlock"/>
  <p:tag name="VISUALISATION_ID" val="Darwin_22975172"/>
  <p:tag name="STASSIGID" val="StasSigId_49254119"/>
  <p:tag name="SYNQRY" val="SYNQRY#1#$$!$FileVersion--1.6.5.8$!$IsAlias--True$!$Project--623$!$IsNestedSegments--True$!$ProjectSegmentIDs--$!$Survey--387210$!$RequiredColumns--title@:@title@:@@:@$$RYB_Actions_taken2_Emails@:@RYB_Actions_taken2_Emails@:@0%@:@$$RYB_Actions_taken2_OnlineAds@:@RYB_Actions_taken2_OnlineAds@:@0%@:@$$TAC_ACTIONS_TAKEN2_Emails@:@TAC_ACTIONS_TAKEN2_Emails@:@0%@:@$$TAC_ACTIONS_TAKEN2_Online_Ads@:@TAC_ACTIONS_TAKEN2_Online_Ads@:@0%@:@$!$LongFilterCondition--AND$!$Metric--$!$SelectedColumns--title@:@title@:@@:@$$RYB_Actions_taken2_OnlineAds@:@RYB_Actions_taken2_OnlineAds@:@0%@:@$$TAC_ACTIONS_TAKEN2_Online_Ads@:@TAC_ACTIONS_TAKEN2_Online_Ads@:@0%@:@$!$PivotFilterCondition--AND$!$Analysis--13040$!$SelectedRows--Prescribed the product$$Directed patient to enroll in patient support program$$Researched the product independently$$Discussed the product with appropriate patients$$Read a publication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Abacus$!$SelectedMulRolling--$!$SortedField--RYB_Actions_taken2_OnlineAds$$Descending$$$!$FetchOverallData--False$!$Relative--True$!$IsAddQuestionText--False$!$StatisticsSignificance--[]$!$LiveWave--True$!$IsNonOverlapping--False$!$StatisticsSignificanceNValue--30$!$IsSplit--False$!$LastUpdate--02-01-2026 13:13:07$!$AddSplitObjectsToSingleSlide--False$!$LongFilterFields--analysis_id@:@IN@:@RYB_Actions_taken2_Emails$@$RYB_Actions_taken2_OnlineAds$@$TAC_ACTIONS_TAKEN2_Emails$@$TAC_ACTIONS_TAKEN2_Online_Ads$!$TableHeader--1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83350691"/>
  <p:tag name="UPDATE" val="unlock"/>
  <p:tag name="VISUALISATION_ID" val="Darwin_14582667"/>
  <p:tag name="STASSIGID" val="StasSigId_87529414"/>
  <p:tag name="SYNQRY" val="SYNQRY#1#$$!$FileVersion--1.6.5.8$!$IsAlias--True$!$Project--623$!$IsNestedSegments--True$!$ProjectSegmentIDs--$!$Survey--387210$!$RequiredColumns--analysis_id@:@analysis_id@:@@:@$$Right Amount of Information@:@Right Amount of Information@:@0%@:@$$Shared More Information@:@Shared More Information@:@0%@:@$!$LongFilterCondition--AND$!$Metric--$!$SelectedColumns--analysis_id@:@analysis_id@:@@:@$$Right Amount of Information@:@Right Amount of Information@:@0%@:@$$Shared More Information@:@Shared More Information@:@0%@:@$!$PivotFilterCondition--AND$!$Analysis--13053$!$SelectedRows--TAG_Amount_of_Infromation_Online_Ads$!$AddLatestColumnToFirst--False$!$RecentWave--W2#1$!$ChartSplit--$!$IsClientDeliverable--True$!$SelectedWave--129467$!$Transpose--False$!$ClientDeliverableID--138$!$SelectedSeg--$!$IsOverlapping--False$!$ClientDeliverableSegmentIDs--13717$!$SelectedGp--wave$!$IsSorted--False$!$ChartType--100% Stacked Bar$!$SelectedMulRolling--$!$SortedField--$!$FetchOverallData--False$!$Relative--True$!$IsAddQuestionText--False$!$StatisticsSignificance--[]$!$LiveWave--True$!$IsNonOverlapping--False$!$StatisticsSignificanceNValue--30$!$IsSplit--False$!$LastUpdate--02-01-2026 13:13:19$!$AddSplitObjectsToSingleSlide--False$!$LongFilterFields--analysis_id@:@IN@:@RYB_Amount_of_Infromation_Emails$@$RYB_Amount_of_Infromation_OnlineAds$@$TAG_Amount_of_Infromation_Emails$@$TAG_Amount_of_Infromation_Online_Ads$!$TableHeader--1$!$PivotEntry--1$!$TopNRows--0$!$IsProjectAnalysis--True$!$SelectAllColumns--True$!$PivotFilterFields--$!$IsAddLegend--False$!$xField--analysis_id$!$Status--Create:Success$!$yField--title$!$MoveFirst--$!$vField--decimal$!$MoveLast--$!$fnField--Averag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19900196"/>
  <p:tag name="UPDATE" val="unlock"/>
  <p:tag name="VISUALISATION_ID" val="Darwin_50488234"/>
  <p:tag name="SYNQRY" val="SYNQRY#1#$$!$FileVersion--1.6.5.8$!$IsAlias--True$!$Project--623$!$IsNestedSegments--True$!$ProjectSegmentIDs--$!$Survey--387210$!$RequiredColumns--title@:@title@:@@:@$$RYB_Actions_taken2_Emails@:@RYB_Actions_taken2_Emails@:@0%@:@$$RYB_Actions_taken2_OnlineAds@:@RYB_Actions_taken2_OnlineAds@:@0%@:@$$TAC_ACTIONS_TAKEN2_Emails@:@TAC_ACTIONS_TAKEN2_Emails@:@0%@:@$$TAC_ACTIONS_TAKEN2_Online_Ads@:@TAC_ACTIONS_TAKEN2_Online_Ads@:@0%@:@$!$LongFilterCondition--AND$!$Metric--$!$SelectedColumns--title@:@title@:@@:@$!$PivotFilterCondition--AND$!$Analysis--13040$!$SelectedRows--Prescribed the product$$Directed patient to enroll in patient support program$$Researched the product independently$$Discussed the product with appropriate patients$$Read a publication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Table$!$SelectedMulRolling--$!$SortedField--RYB_Actions_taken2_OnlineAds$$Descending$$$!$FetchOverallData--False$!$Relative--True$!$IsAddQuestionText--False$!$StatisticsSignificance--[]$!$LiveWave--True$!$IsNonOverlapping--False$!$StatisticsSignificanceNValue--30$!$IsSplit--False$!$LastUpdate--02-01-2026 13:13:07$!$AddSplitObjectsToSingleSlide--False$!$LongFilterFields--analysis_id@:@IN@:@RYB_Actions_taken2_Emails$@$RYB_Actions_taken2_OnlineAds$@$TAC_ACTIONS_TAKEN2_Emails$@$TAC_ACTIONS_TAKEN2_Online_Ads$!$TableHeader--2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62592060"/>
  <p:tag name="SYNQRY" val="SYNQRY#1#$$!$FileVersion--1.6.5.8$!$IsAlias--True$!$Project--623$!$IsNestedSegments--True$!$ProjectSegmentIDs--$!$Survey--387210$!$RequiredColumns--title@:@title@:@@:@$$Topics_Emails_RYB@:@Topics_Emails_RYB@:@0%@:@$$Topics_Emails_TAG@:@Topics_Emails_TAG@:@0%@:@$$Topics_Online_ads_RYB@:@Topics_Online_ads_RYB@:@0%@:@$$Topics_Online_Ads_TAG@:@Topics_Online_Ads_TAG@:@0%@:@$!$LongFilterCondition--AND$!$Metric--$!$SelectedColumns--title@:@title@:@@:@$!$PivotFilterCondition--AND$!$Analysis--13022$!$SelectedRows--Efficacy$$Specific indication$$NCCN guidelines$$Safety / Side effects$$Tolerability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Table$!$SelectedMulRolling--$!$SortedField--Topics_Online_ads_RYB$$Descending$$$!$FetchOverallData--False$!$Relative--True$!$IsAddQuestionText--False$!$StatisticsSignificance--[]$!$LiveWave--True$!$IsNonOverlapping--False$!$StatisticsSignificanceNValue--30$!$IsSplit--False$!$LastUpdate--02-01-2026 13:12:21$!$AddSplitObjectsToSingleSlide--False$!$LongFilterFields--analysis_id@:@IN@:@Topics_Emails_RYB$@$Topics_Online_ads_RYB$@$Topics_Emails_TAG$@$Topics_Online_Ads_TAG$!$TableHeader--2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15999560"/>
  <p:tag name="UPDATE" val="unlock"/>
  <p:tag name="VISUALISATION_ID" val="Darwin_62888494"/>
  <p:tag name="DARWINVERSION" val="CSharp"/>
  <p:tag name="SYNQRY" val="SYNQRY#1#$$!$FileVersion--1.6.5.8$!$IsAlias--True$!$Project--623$!$IsNestedSegments--True$!$ProjectSegmentIDs--$!$Survey--387210$!$RequiredColumns--title@:@title@:@@:@$$RYB_Emails@:@RYB_Emails@:@0%@:@$$RYB_Online_Ads@:@RYB_Online_Ads@:@0%@:@$$TAG_Emails@:@TAG_Emails@:@0%@:@$$TAG_Online_Ads@:@TAG_Online_Ads@:@0%@:@$!$LongFilterCondition--AND$!$Metric--$!$SelectedColumns--title@:@title@:@@:@$!$PivotFilterCondition--AND$!$Analysis--14309$!$SelectedRows--ALL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Table$!$SelectedMulRolling--$!$SortedField--RYB_Online_Ads$$Descending$$$!$FetchOverallData--False$!$Relative--True$!$IsAddQuestionText--False$!$StatisticsSignificance--[]$!$LiveWave--True$!$IsNonOverlapping--False$!$StatisticsSignificanceNValue--30$!$IsSplit--False$!$LastUpdate--02-01-2026 13:13:43$!$AddSplitObjectsToSingleSlide--False$!$LongFilterFields--analysis_id@:@IN@:@RYB_Emails$@$RYB_Online_Ads$@$TAG_Emails$@$TAG_Online_Ads$!$TableHeader--2$!$PivotEntry--1$!$TopNRows--0$!$IsProjectAnalysis--True$!$SelectAllColumns--False$!$PivotFilterFields--$!$IsAddLegend--False$!$xField--title$!$Status--Create:Success$!$yField--analysis_id$!$MoveFirst--Overall effectiveness of channel$!$vField--decimal$!$MoveLast--$!$fnField--Averag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8196367"/>
  <p:tag name="NON_CONNECTED_SHAPE_ID" val="74475825"/>
  <p:tag name="UPDATE" val="unlock"/>
  <p:tag name="VISUALISATION_ID" val="Darwin_71826764"/>
  <p:tag name="STASSIGID" val="StasSigId_45896792"/>
  <p:tag name="SYNQRY" val="SYNQRY#1#$$!$FileVersion--1.6.5.8$!$IsAlias--True$!$Project--623$!$IsNestedSegments--True$!$ProjectSegmentIDs--$!$Survey--387210$!$RequiredColumns--title@:@title@:@@:@$$RYB_Emails@:@RYB_Emails@:@0%@:@$$RYB_Online_Ads@:@RYB_Online_Ads@:@0%@:@$$TAG_Emails@:@TAG_Emails@:@0%@:@$$TAG_Online_Ads@:@TAG_Online_Ads@:@0%@:@$!$LongFilterCondition--AND$!$Metric--$!$SelectedColumns--title@:@title@:@@:@$$RYB_Online_Ads@:@RYB_Online_Ads@:@0%@:@$$TAG_Online_Ads@:@TAG_Online_Ads@:@0%@:@$!$PivotFilterCondition--AND$!$Analysis--14309$!$SelectedRows--ALL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Abacus$!$SelectedMulRolling--$!$SortedField--RYB_Online_Ads$$Descending$$$!$FetchOverallData--False$!$Relative--True$!$IsAddQuestionText--False$!$StatisticsSignificance--[]$!$LiveWave--True$!$IsNonOverlapping--False$!$StatisticsSignificanceNValue--30$!$IsSplit--False$!$LastUpdate--02-01-2026 13:13:50$!$AddSplitObjectsToSingleSlide--False$!$LongFilterFields--analysis_id@:@IN@:@RYB_Emails$@$RYB_Online_Ads$@$TAG_Emails$@$TAG_Online_Ads$!$TableHeader--1$!$PivotEntry--1$!$TopNRows--0$!$IsProjectAnalysis--True$!$SelectAllColumns--False$!$PivotFilterFields--$!$IsAddLegend--False$!$xField--title$!$Status--Create:Success$!$yField--analysis_id$!$MoveFirst--Overall effectiveness of channel$!$vField--decimal$!$MoveLast--$!$fnField--Averag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22228363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none$!$SelectedColumns--&lt;blank:Delta Online Ads&gt;@:@Delta Online Ads@:@0%@:@=D2-I2$!$PivotFilterCondition--AND$!$Analysis--14323$!$SelectedRows--Indication$$OS Headline$$Median OS Not Reached$$NCCN - NSCLC$$NCCN – CNS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Online_Ads - Q4 2025$$Descending$$$!$FetchOverallData--False$!$Relative--True$!$IsAddQuestionText--False$!$StatisticsSignificance--[]$!$LiveWave--True$!$IsNonOverlapping--False$!$StatisticsSignificanceNValue--30$!$IsSplit--False$!$LastUpdate--02-01-2026 13:12:21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8196367"/>
  <p:tag name="NON_CONNECTED_SHAPE_ID" val="60816869"/>
  <p:tag name="UPDATE" val="unlock"/>
  <p:tag name="VISUALISATION_ID" val="Darwin_89229391"/>
  <p:tag name="STASSIGID" val="StasSigId_73150579"/>
  <p:tag name="SYNQRY" val="SYNQRY#1#$$!$FileVersion--1.6.5.8$!$IsAlias--True$!$Project--623$!$IsNestedSegments--True$!$ProjectSegmentIDs--$!$Survey--387210$!$RequiredColumns--title@:@title@:@@:@$$Topics_Emails_RYB@:@Topics_Emails_RYB@:@0%@:@$$Topics_Emails_TAG@:@Topics_Emails_TAG@:@0%@:@$$Topics_Online_ads_RYB@:@Topics_Online_ads_RYB@:@0%@:@$$Topics_Online_Ads_TAG@:@Topics_Online_Ads_TAG@:@0%@:@$!$LongFilterCondition--AND$!$Metric--none$!$SelectedColumns--title@:@title@:@@:@$$Topics_Emails_RYB@:@Topics_Emails_RYB@:@0%@:@$$Topics_Emails_TAG@:@Topics_Emails_TAG@:@0%@:@$!$PivotFilterCondition--AND$!$Analysis--13022$!$SelectedRows--Efficacy$$NCCN guidelines$$Specific indication$$Tolerability$$Description of new clinical trial data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Abacus$!$SelectedMulRolling--$!$SortedField--Topics_Emails_RYB$$Descending$$$!$FetchOverallData--False$!$Relative--True$!$IsAddQuestionText--False$!$StatisticsSignificance--[]$!$LiveWave--True$!$IsNonOverlapping--False$!$StatisticsSignificanceNValue--30$!$IsSplit--False$!$LastUpdate--02-01-2026 13:14:56$!$AddSplitObjectsToSingleSlide--False$!$LongFilterFields--analysis_id@:@IN@:@Topics_Emails_RYB$@$Topics_Online_ads_RYB$@$Topics_Emails_TAG$@$Topics_Online_Ads_TAG$!$TableHeader--2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28921714"/>
  <p:tag name="SYNQRY" val="SYNQRY#1#$$!$FileVersion--1.6.5.8$!$IsAlias--True$!$Project--623$!$IsNestedSegments--True$!$ProjectSegmentIDs--$!$Survey--387210$!$RequiredColumns--title@:@title@:@@:@$$Topics_Emails_RYB@:@Topics_Emails_RYB@:@0%@:@$$Topics_Emails_TAG@:@Topics_Emails_TAG@:@0%@:@$$Topics_Online_ads_RYB@:@Topics_Online_ads_RYB@:@0%@:@$$Topics_Online_Ads_TAG@:@Topics_Online_Ads_TAG@:@0%@:@$!$LongFilterCondition--AND$!$Metric--$!$SelectedColumns--title@:@title@:@@:@$!$PivotFilterCondition--AND$!$Analysis--13022$!$SelectedRows--Efficacy$$NCCN guidelines$$Specific indication$$Tolerability$$Description of new clinical trial data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Table$!$SelectedMulRolling--$!$SortedField--Topics_Emails_RYB$$Descending$$$!$FetchOverallData--False$!$Relative--True$!$IsAddQuestionText--False$!$StatisticsSignificance--[]$!$LiveWave--True$!$IsNonOverlapping--False$!$StatisticsSignificanceNValue--30$!$IsSplit--False$!$LastUpdate--02-01-2026 13:14:39$!$AddSplitObjectsToSingleSlide--False$!$LongFilterFields--analysis_id@:@IN@:@Topics_Emails_RYB$@$Topics_Online_ads_RYB$@$Topics_Emails_TAG$@$Topics_Online_Ads_TAG$!$TableHeader--2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YNQ##Q5" val="SynQ##call generateReports('343674','##wSel##','100583','Wave',CURRENT_DATE())$!$Fields--s_1v,title,value,count,total_count,percentage,$!$Filter--$!$Sorting--$!$NumOfWaves--1$!$Recent---1"/>
  <p:tag name="UPDATE" val="unlock"/>
  <p:tag name="VISUALISATION_ID" val="Darwin_772762"/>
  <p:tag name="STASSIGID" val="StasSigId_152376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none$!$SelectedColumns--alias7872@:@alias7872@:@@:@$$RYB_MR_Emails_2025 - Q4 2025@:@RYB_MR_Emails_2025 - Q4 2025@:@0%@:@$!$PivotFilterCondition--AND$!$Analysis--14323$!$SelectedRows--NCCN – CNS$$NCCN - NSCLC$$MOA – Inhibition$$Safety – Prophylaxis protocol$$Indication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Clustered Bar$!$SelectedMulRolling--$!$SortedField--RYB_MR_Emails_2025 - Q4 2025$$Descending$$$!$FetchOverallData--False$!$Relative--True$!$IsAddQuestionText--False$!$StatisticsSignificance--[]$!$LiveWave--True$!$IsNonOverlapping--False$!$StatisticsSignificanceNValue--30$!$IsSplit--False$!$LastUpdate--02-01-2026 13:14:39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86062761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none$!$SelectedColumns--alias7872@:@alias7872@:@@:@$!$PivotFilterCondition--AND$!$Analysis--14323$!$SelectedRows--NCCN – CNS$$NCCN - NSCLC$$MOA – Inhibition$$Safety – Prophylaxis protocol$$Indication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Emails_2025 - Q4 2025$$Descending$$$!$FetchOverallData--False$!$Relative--True$!$IsAddQuestionText--False$!$StatisticsSignificance--[]$!$LiveWave--True$!$IsNonOverlapping--False$!$StatisticsSignificanceNValue--30$!$IsSplit--False$!$LastUpdate--02-01-2026 13:14:39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83350691"/>
  <p:tag name="STASSIGID" val="StasSigId_55915072"/>
  <p:tag name="UPDATE" val="unlock"/>
  <p:tag name="VISUALISATION_ID" val="Darwin_25057626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8196367"/>
  <p:tag name="NON_CONNECTED_SHAPE_ID" val="86443328"/>
  <p:tag name="UPDATE" val="unlock"/>
  <p:tag name="VISUALISATION_ID" val="Darwin_28569226"/>
  <p:tag name="STASSIGID" val="StasSigId_39084192"/>
  <p:tag name="SYNQRY" val="SYNQRY#1#$$!$FileVersion--1.6.5.8$!$IsAlias--True$!$Project--623$!$IsNestedSegments--True$!$ProjectSegmentIDs--$!$Survey--387210$!$RequiredColumns--title@:@title@:@@:@$$RYB_Actions_taken2_Emails@:@RYB_Actions_taken2_Emails@:@0%@:@$$RYB_Actions_taken2_OnlineAds@:@RYB_Actions_taken2_OnlineAds@:@0%@:@$$TAC_ACTIONS_TAKEN2_Emails@:@TAC_ACTIONS_TAKEN2_Emails@:@0%@:@$$TAC_ACTIONS_TAKEN2_Online_Ads@:@TAC_ACTIONS_TAKEN2_Online_Ads@:@0%@:@$!$LongFilterCondition--AND$!$Metric--$!$SelectedColumns--title@:@title@:@@:@$$RYB_Actions_taken2_Emails@:@RYB_Actions_taken2_Emails@:@0%@:@$$TAC_ACTIONS_TAKEN2_Emails@:@TAC_ACTIONS_TAKEN2_Emails@:@0%@:@$!$PivotFilterCondition--AND$!$Analysis--13040$!$SelectedRows--Researched the product independently$$Discussed the product with appropriate patients$$Read a publication$$Read the prescribing information$$Reviewed product website / videos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Abacus$!$SelectedMulRolling--$!$SortedField--RYB_Actions_taken2_Emails$$Descending$$$!$FetchOverallData--False$!$Relative--True$!$IsAddQuestionText--False$!$StatisticsSignificance--[]$!$LiveWave--True$!$IsNonOverlapping--False$!$StatisticsSignificanceNValue--30$!$IsSplit--False$!$LastUpdate--02-01-2026 13:15:38$!$AddSplitObjectsToSingleSlide--False$!$LongFilterFields--analysis_id@:@IN@:@RYB_Actions_taken2_Emails$@$RYB_Actions_taken2_OnlineAds$@$TAC_ACTIONS_TAKEN2_Emails$@$TAC_ACTIONS_TAKEN2_Online_Ads$!$TableHeader--2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83350691"/>
  <p:tag name="STASSIGID" val="StasSigId_55915072"/>
  <p:tag name="UPDATE" val="unlock"/>
  <p:tag name="VISUALISATION_ID" val="Darwin_6085773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83350691"/>
  <p:tag name="UPDATE" val="unlock"/>
  <p:tag name="VISUALISATION_ID" val="Darwin_89411103"/>
  <p:tag name="STASSIGID" val="StasSigId_35725174"/>
  <p:tag name="SYNQRY" val="SYNQRY#1#$$!$FileVersion--1.6.5.8$!$IsAlias--True$!$Project--623$!$IsNestedSegments--True$!$ProjectSegmentIDs--$!$Survey--387210$!$RequiredColumns--analysis_id@:@analysis_id@:@@:@$$Right Amount of Information@:@Right Amount of Information@:@0%@:@$$Shared More Information@:@Shared More Information@:@0%@:@$!$LongFilterCondition--AND$!$Metric--$!$SelectedColumns--analysis_id@:@analysis_id@:@@:@$$Right Amount of Information@:@Right Amount of Information@:@0%@:@$$Shared More Information@:@Shared More Information@:@0%@:@$!$PivotFilterCondition--AND$!$Analysis--13053$!$SelectedRows--RYB_Amount_of_Infromation_Emails$!$AddLatestColumnToFirst--False$!$RecentWave--W2#1$!$ChartSplit--$!$IsClientDeliverable--True$!$SelectedWave--129467$!$Transpose--False$!$ClientDeliverableID--138$!$SelectedSeg--$!$IsOverlapping--False$!$ClientDeliverableSegmentIDs--13717$!$SelectedGp--wave$!$IsSorted--False$!$ChartType--100% Stacked Bar$!$SelectedMulRolling--$!$SortedField--$!$FetchOverallData--False$!$Relative--True$!$IsAddQuestionText--False$!$StatisticsSignificance--[]$!$LiveWave--True$!$IsNonOverlapping--False$!$StatisticsSignificanceNValue--30$!$IsSplit--False$!$LastUpdate--02-01-2026 13:15:38$!$AddSplitObjectsToSingleSlide--False$!$LongFilterFields--analysis_id@:@IN@:@RYB_Amount_of_Infromation_Emails$@$RYB_Amount_of_Infromation_OnlineAds$@$TAG_Amount_of_Infromation_Emails$@$TAG_Amount_of_Infromation_Online_Ads$!$TableHeader--1$!$PivotEntry--1$!$TopNRows--0$!$IsProjectAnalysis--True$!$SelectAllColumns--True$!$PivotFilterFields--$!$IsAddLegend--False$!$xField--analysis_id$!$Status--Create:Success$!$yField--title$!$MoveFirst--$!$vField--decimal$!$MoveLast--$!$fnField--Averag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83350691"/>
  <p:tag name="UPDATE" val="unlock"/>
  <p:tag name="VISUALISATION_ID" val="Darwin_73192585"/>
  <p:tag name="STASSIGID" val="StasSigId_91540203"/>
  <p:tag name="SYNQRY" val="SYNQRY#1#$$!$FileVersion--1.6.5.8$!$IsAlias--True$!$Project--623$!$IsNestedSegments--True$!$ProjectSegmentIDs--$!$Survey--387210$!$RequiredColumns--analysis_id@:@analysis_id@:@@:@$$Right Amount of Information@:@Right Amount of Information@:@0%@:@$$Shared More Information@:@Shared More Information@:@0%@:@$!$LongFilterCondition--AND$!$Metric--$!$SelectedColumns--analysis_id@:@analysis_id@:@@:@$$Right Amount of Information@:@Right Amount of Information@:@0%@:@$$Shared More Information@:@Shared More Information@:@0%@:@$!$PivotFilterCondition--AND$!$Analysis--13053$!$SelectedRows--TAG_Amount_of_Infromation_Emails$!$AddLatestColumnToFirst--False$!$RecentWave--W2#1$!$ChartSplit--$!$IsClientDeliverable--True$!$SelectedWave--129467$!$Transpose--False$!$ClientDeliverableID--138$!$SelectedSeg--$!$IsOverlapping--False$!$ClientDeliverableSegmentIDs--13717$!$SelectedGp--wave$!$IsSorted--False$!$ChartType--100% Stacked Bar$!$SelectedMulRolling--$!$SortedField--$!$FetchOverallData--False$!$Relative--True$!$IsAddQuestionText--False$!$StatisticsSignificance--[]$!$LiveWave--True$!$IsNonOverlapping--False$!$StatisticsSignificanceNValue--30$!$IsSplit--False$!$LastUpdate--02-01-2026 13:15:38$!$AddSplitObjectsToSingleSlide--False$!$LongFilterFields--analysis_id@:@IN@:@RYB_Amount_of_Infromation_Emails$@$RYB_Amount_of_Infromation_OnlineAds$@$TAG_Amount_of_Infromation_Emails$@$TAG_Amount_of_Infromation_Online_Ads$!$TableHeader--1$!$PivotEntry--1$!$TopNRows--0$!$IsProjectAnalysis--True$!$SelectAllColumns--True$!$PivotFilterFields--$!$IsAddLegend--False$!$xField--analysis_id$!$Status--Create:Success$!$yField--title$!$MoveFirst--$!$vField--decimal$!$MoveLast--$!$fnField--Averag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4803234"/>
  <p:tag name="UPDATE" val="unlock"/>
  <p:tag name="VISUALISATION_ID" val="Darwin_53305880"/>
  <p:tag name="SYNQRY" val="SYNQRY#1#$$!$FileVersion--1.6.5.8$!$IsAlias--True$!$Project--623$!$IsNestedSegments--True$!$ProjectSegmentIDs--$!$Survey--387210$!$RequiredColumns--title@:@title@:@@:@$$RYB_Actions_taken2_Emails@:@RYB_Actions_taken2_Emails@:@0%@:@$$RYB_Actions_taken2_OnlineAds@:@RYB_Actions_taken2_OnlineAds@:@0%@:@$$TAC_ACTIONS_TAKEN2_Emails@:@TAC_ACTIONS_TAKEN2_Emails@:@0%@:@$$TAC_ACTIONS_TAKEN2_Online_Ads@:@TAC_ACTIONS_TAKEN2_Online_Ads@:@0%@:@$!$LongFilterCondition--AND$!$Metric--$!$SelectedColumns--title@:@title@:@@:@$!$PivotFilterCondition--AND$!$Analysis--13040$!$SelectedRows--Researched the product independently$$Discussed the product with appropriate patients$$Read a publication$$Read the prescribing information$$Reviewed product website / videos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Table$!$SelectedMulRolling--$!$SortedField--RYB_Actions_taken2_Emails$$Descending$$$!$FetchOverallData--False$!$Relative--True$!$IsAddQuestionText--False$!$StatisticsSignificance--[]$!$LiveWave--True$!$IsNonOverlapping--False$!$StatisticsSignificanceNValue--30$!$IsSplit--False$!$LastUpdate--02-01-2026 13:15:27$!$AddSplitObjectsToSingleSlide--False$!$LongFilterFields--analysis_id@:@IN@:@RYB_Actions_taken2_Emails$@$RYB_Actions_taken2_OnlineAds$@$TAC_ACTIONS_TAKEN2_Emails$@$TAC_ACTIONS_TAKEN2_Online_Ads$!$TableHeader--2$!$PivotEntry--1$!$TopNRows--0$!$IsProjectAnalysis--True$!$SelectAllColumns--False$!$PivotFilterFields--$!$IsAddLegend--False$!$xField--title$!$Status--Create:Success$!$yField--analysis_id$!$MoveFirst--$!$vField--decimal$!$MoveLast--$!$fnField--Averag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65451736"/>
  <p:tag name="UPDATE" val="unlock"/>
  <p:tag name="VISUALISATION_ID" val="Darwin_85315090"/>
  <p:tag name="DARWINVERSION" val="CSharp"/>
  <p:tag name="SYNQRY" val="SYNQRY#1#$$!$FileVersion--1.6.5.8$!$IsAlias--True$!$Project--623$!$IsNestedSegments--True$!$ProjectSegmentIDs--$!$Survey--387210$!$RequiredColumns--title@:@title@:@@:@$$RYB_Emails@:@RYB_Emails@:@0%@:@$$RYB_Online_Ads@:@RYB_Online_Ads@:@0%@:@$$TAG_Emails@:@TAG_Emails@:@0%@:@$$TAG_Online_Ads@:@TAG_Online_Ads@:@0%@:@$!$LongFilterCondition--AND$!$Metric--$!$SelectedColumns--title@:@title@:@@:@$!$PivotFilterCondition--AND$!$Analysis--14309$!$SelectedRows--ALL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Table$!$SelectedMulRolling--$!$SortedField--RYB_Emails$$Descending$$$!$FetchOverallData--False$!$Relative--True$!$IsAddQuestionText--False$!$StatisticsSignificance--[]$!$LiveWave--True$!$IsNonOverlapping--False$!$StatisticsSignificanceNValue--30$!$IsSplit--False$!$LastUpdate--02-01-2026 13:16:06$!$AddSplitObjectsToSingleSlide--False$!$LongFilterFields--analysis_id@:@IN@:@RYB_Emails$@$RYB_Online_Ads$@$TAG_Emails$@$TAG_Online_Ads$!$TableHeader--2$!$PivotEntry--1$!$TopNRows--0$!$IsProjectAnalysis--True$!$SelectAllColumns--False$!$PivotFilterFields--$!$IsAddLegend--False$!$xField--title$!$Status--Create:Success$!$yField--analysis_id$!$MoveFirst--Overall effectiveness of channel$!$vField--decimal$!$MoveLast--$!$fnField--Averag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8196367"/>
  <p:tag name="NON_CONNECTED_SHAPE_ID" val="81031638"/>
  <p:tag name="UPDATE" val="unlock"/>
  <p:tag name="VISUALISATION_ID" val="Darwin_51337850"/>
  <p:tag name="STASSIGID" val="StasSigId_50767643"/>
  <p:tag name="SYNQRY" val="SYNQRY#1#$$!$FileVersion--1.6.5.8$!$IsAlias--True$!$Project--623$!$IsNestedSegments--True$!$ProjectSegmentIDs--$!$Survey--387210$!$RequiredColumns--title@:@title@:@@:@$$RYB_Emails@:@RYB_Emails@:@0%@:@$$RYB_Online_Ads@:@RYB_Online_Ads@:@0%@:@$$TAG_Emails@:@TAG_Emails@:@0%@:@$$TAG_Online_Ads@:@TAG_Online_Ads@:@0%@:@$!$LongFilterCondition--AND$!$Metric--$!$SelectedColumns--title@:@title@:@@:@$$RYB_Emails@:@RYB_Emails@:@0%@:@$$TAG_Emails@:@TAG_Emails@:@0%@:@$!$PivotFilterCondition--AND$!$Analysis--14309$!$SelectedRows--ALL$!$AddLatestColumnToFirst--False$!$RecentWave--W2#1$!$ChartSplit--$!$IsClientDeliverable--True$!$SelectedWave--129467$!$Transpose--False$!$ClientDeliverableID--138$!$SelectedSeg--$!$IsOverlapping--False$!$ClientDeliverableSegmentIDs--13717$!$SelectedGp--wave$!$IsSorted--True$!$ChartType--Abacus$!$SelectedMulRolling--$!$SortedField--RYB_Emails$$Descending$$$!$FetchOverallData--False$!$Relative--True$!$IsAddQuestionText--False$!$StatisticsSignificance--[]$!$LiveWave--True$!$IsNonOverlapping--False$!$StatisticsSignificanceNValue--30$!$IsSplit--False$!$LastUpdate--02-01-2026 13:16:13$!$AddSplitObjectsToSingleSlide--False$!$LongFilterFields--analysis_id@:@IN@:@RYB_Emails$@$RYB_Online_Ads$@$TAG_Emails$@$TAG_Online_Ads$!$TableHeader--2$!$PivotEntry--1$!$TopNRows--0$!$IsProjectAnalysis--True$!$SelectAllColumns--False$!$PivotFilterFields--$!$IsAddLegend--False$!$xField--title$!$Status--Create:Success$!$yField--analysis_id$!$MoveFirst--Overall effectiveness of channel$!$vField--decimal$!$MoveLast--$!$fnField--Averag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23623809"/>
  <p:tag name="SYNQRY" val="SYNQRY#1#$$!$FileVersion--1.6.5.8$!$IsAlias--True$!$Project--623$!$IsNestedSegments--True$!$ProjectSegmentIDs--$!$Survey--387210$!$RequiredColumns--alias7872@:@alias7872@:@@:@$$RYB_MR_Pharma_Websites - Q4 2025@:@RYB_MR_Pharma_Websites - Q4 2025@:@0%@:@$$RYB_MR_Emails_2025 - Q4 2025@:@RYB_MR_Emails_2025 - Q4 2025@:@0%@:@$$RYB_MR_Online_Ads - Q4 2025@:@RYB_MR_Online_Ads - Q4 2025@:@0%@:@$$RYB_MR_Seminars - Q4 2025@:@RYB_MR_Seminars - Q4 2025@:@0%@:@$$RYB_MR_Conferences - Q4 2025@:@RYB_MR_Conferences - Q4 2025@:@0%@:@$$RYB_MR_Pharma_Websites - Q3 2025@:@RYB_MR_Pharma_Websites - Q3 2025@:@0%@:@$$RYB_MR_Emails_2025 - Q3 2025@:@RYB_MR_Emails_2025 - Q3 2025@:@0%@:@$$RYB_MR_Online_Ads - Q3 2025@:@RYB_MR_Online_Ads - Q3 2025@:@0%@:@$$RYB_MR_Seminars - Q3 2025@:@RYB_MR_Seminars - Q3 2025@:@0%@:@$$RYB_MR_Conferences - Q3 2025@:@RYB_MR_Conferences - Q3 2025@:@0%@:@$$RYB_MR_Overall - Q4 2025@:@RYB_MR_Overall - Q4 2025@:@0%@:@$$&lt;blank:Delta Websites&gt;@:@Delta Websites@:@0%@:@=B2-G2$$&lt;blank:Delta Emails&gt;@:@Delta Emails@:@0%@:@=C2-H2$$&lt;blank:Delta Online Ads&gt;@:@Delta Online Ads@:@0%@:@=D2-I2$$&lt;blank:Delta Seminar&gt;@:@Delta Seminar@:@0%@:@=E2-J2$$&lt;blank:Delta Medical Conference&gt;@:@Delta Medical Conference@:@0%@:@=F2-K2$!$LongFilterCondition--AND$!$Metric--none$!$SelectedColumns--&lt;blank:Delta Emails&gt;@:@Delta Emails@:@0%@:@=C2-H2$!$PivotFilterCondition--AND$!$Analysis--14323$!$SelectedRows--NCCN – CNS$$NCCN - NSCLC$$MOA – Inhibition$$Safety – Prophylaxis protocol$$Indication$!$AddLatestColumnToFirst--False$!$RecentWave--W2#2$!$ChartSplit--$!$IsClientDeliverable--True$!$SelectedWave--129467,127674$!$Transpose--False$!$ClientDeliverableID--138$!$SelectedSeg--$!$IsOverlapping--False$!$ClientDeliverableSegmentIDs--13717,12164$!$SelectedGp--wave$!$IsSorted--True$!$ChartType--Table$!$SelectedMulRolling--$!$SortedField--RYB_MR_Emails_2025 - Q4 2025$$Descending$$$!$FetchOverallData--False$!$Relative--True$!$IsAddQuestionText--False$!$StatisticsSignificance--[]$!$LiveWave--True$!$IsNonOverlapping--False$!$StatisticsSignificanceNValue--30$!$IsSplit--False$!$LastUpdate--02-01-2026 13:14:39$!$AddSplitObjectsToSingleSlide--False$!$LongFilterFields--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2715539"/>
  <p:tag name="DARWINVERSION" val="CSharp"/>
  <p:tag name="FAILEDREFRESHICONID" val="Darwin_27512899"/>
  <p:tag name="UPDATE" val="unlock"/>
  <p:tag name="VISUALISATION_ID" val="Darwin_4097214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!$PivotFilterCondition--AND$!$Analysis--9905$!$SelectedRows--ALL$!$AddLatestColumnToFirst--False$!$RecentWave--W2#12$!$ChartSplit--$!$IsClientDeliverable--True$!$SelectedWave--129469,127676,125979,124438,122749,121136,119606,118079,116402,115204,113975,112572$!$Transpose--False$!$ClientDeliverableID--810$!$SelectedSeg--$!$IsOverlapping--False$!$ClientDeliverableSegmentIDs--15071,14907,14351,14013,13355,12384,12037,12036,12035,12034,12033,12032$!$SelectedGp--wave$!$IsSorted--True$!$ChartType--Table$!$SelectedMulRolling--$!$SortedField--Dec'25 - Message Recall$$Descending$$$!$FetchOverallData--False$!$Relative--True$!$IsAddQuestionText--False$!$StatisticsSignificance--[]$!$LiveWave--True$!$IsNonOverlapping--False$!$StatisticsSignificanceNValue--30$!$IsSplit--False$!$LastUpdate--24-12-2025 13:48:22$!$AddSplitObjectsToSingleSlide--False$!$LongFilterFields--$!$TableHeader--2$!$PivotEntry--1$!$TopNRows--0$!$IsProjectAnalysis--True$!$SelectAllColumns--False$!$PivotFilterFields--$!$IsAddLegend--False$!$xField--Tag$!$Status--Create:Success$!$yField--segment_0,analysis_id$!$MoveFirst--$!$vField--decimal$!$MoveLast--$!$fnField--Averag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61683913"/>
  <p:tag name="UPDATE" val="unlock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PLITORDER" val="0"/>
  <p:tag name="FAILEDREFRESHICONID" val="Darwin_92334314"/>
  <p:tag name="UPDATE" val="unlock"/>
  <p:tag name="GROUPID" val="Group_16100657"/>
  <p:tag name="VISUALISATION_ID" val="Darwin_92334314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9139247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1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54944929"/>
  <p:tag name="VISUALISATION_ID" val="Darwin_9432219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2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94379942"/>
  <p:tag name="VISUALISATION_ID" val="Darwin_21236447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3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34282498"/>
  <p:tag name="VISUALISATION_ID" val="Darwin_3519368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4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86921245"/>
  <p:tag name="VISUALISATION_ID" val="Darwin_7065613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5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11532074"/>
  <p:tag name="VISUALISATION_ID" val="Darwin_2543737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6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88351602"/>
  <p:tag name="VISUALISATION_ID" val="Darwin_81357958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7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43057041"/>
  <p:tag name="VISUALISATION_ID" val="Darwin_2958930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8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96128767"/>
  <p:tag name="VISUALISATION_ID" val="Darwin_9295718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UPDATE" val="unlock"/>
  <p:tag name="GROUPID" val="Group_16100657"/>
  <p:tag name="SPLITORDER" val="9"/>
  <p:tag name="SYNQRY" val="SYNQRY#1#$$!$FileVersion--1.6.5.8$!$IsAlias--True$!$Project--623$!$IsNestedSegments--True$!$ProjectSegmentIDs--$!$Survey--738902$!$Requir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LongFilterCondition--AND$!$Metric--none$!$SelectedColumns--Tag@:@Tag@:@@:@$$Jan'25 - Message Recall@:@Jan'25 - Message Recall@:@0%@:@$$Feb'25 - Message Recall@:@Feb'25 - Message Recall@:@0%@:@$$Mar'25 - Message Recall@:@Mar'25 - Message Recall@:@0%@:@$$Apr'25 - Message Recall@:@Apr'25 - Message Recall@:@0%@:@$$May'25 - Message Recall@:@May'25 - Message Recall@:@0%@:@$$Jun'25 - Message Recall@:@Jun'25 - Message Recall@:@0%@:@$$Jul'25 - Message Recall@:@Jul'25 - Message Recall@:@0%@:@$$Aug'25 - Message Recall@:@Aug'25 - Message Recall@:@0%@:@$$Sep'25 - Message Recall@:@Sep'25 - Message Recall@:@0%@:@$$Oct'25 - Message Recall@:@Oct'25 - Message Recall@:@0%@:@$$Nov'25 - Message Recall@:@Nov'25 - Message Recall@:@0%@:@$$Dec'25 - Message Recall@:@Dec'25 - Message Recall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Recall$$Descending$$$!$FetchOverallData--False$!$Relative--True$!$IsAddQuestionText--False$!$StatisticsSignificance--[]$!$LiveWave--True$!$IsNonOverlapping--False$!$StatisticsSignificanceNValue--30$!$IsSplit--True$!$LastUpdate--24-12-2025 14:12:29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decimal$!$MoveLast--$!$fnField--Average"/>
  <p:tag name="STASSIGID" val="StasSigId_72072464"/>
  <p:tag name="VISUALISATION_ID" val="Darwin_2067855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27512899"/>
  <p:tag name="NON_CONNECTED_SHAPE_ID" val="2715539"/>
  <p:tag name="UPDATE" val="unlock"/>
  <p:tag name="VISUALISATION_ID" val="Darwin_81779292"/>
  <p:tag name="SYNQRY" val="SYNQRY#1#$$!$FileVersion--1.6.5.8$!$IsAlias--True$!$Project--623$!$IsNestedSegments--True$!$ProjectSegmentIDs--$!$Survey--738902$!$RequiredColumns--Tag@:@Tag@:@@:@$$Jan'25@:@Jan'25@:@0%@:@$$Feb'25@:@Feb'25@:@0%@:@$$Mar'25@:@Mar'25@:@0%@:@$$Apr'25@:@Apr'25@:@0%@:@$$May'25@:@May'25@:@0%@:@$$Jun'25@:@Jun'25@:@0%@:@$$Jul'25@:@Jul'25@:@0%@:@$$Aug'25@:@Aug'25@:@0%@:@$$Sep'25@:@Sep'25@:@0%@:@$$Oct'25@:@Oct'25@:@0%@:@$$Nov'25@:@Nov'25@:@0%@:@$$Dec'25@:@Dec'25@:@0%@:@$!$LongFilterCondition--AND$!$Metric--none$!$SelectedColumns--Tag@:@Tag@:@@:@$!$PivotFilterCondition--AND$!$Analysis--9905$!$SelectedRows--ALL$!$AddLatestColumnToFirst--False$!$RecentWave--W2#12$!$ChartSplit--$!$IsClientDeliverable--True$!$SelectedWave--129469,127676,125979,124438,122749,121136,119606,118079,116402,115204,113975,112572$!$Transpose--False$!$ClientDeliverableID--810$!$SelectedSeg--$!$IsOverlapping--False$!$ClientDeliverableSegmentIDs--15071,14907,14351,14013,13355,12384,12037,12036,12035,12034,12033,12032$!$SelectedGp--wave$!$IsSorted--True$!$ChartType--Table$!$SelectedMulRolling--$!$SortedField--Dec'25$$Descending$$$!$FetchOverallData--False$!$Relative--True$!$IsAddQuestionText--False$!$StatisticsSignificance--[]$!$LiveWave--True$!$IsNonOverlapping--False$!$StatisticsSignificanceNValue--30$!$IsSplit--False$!$LastUpdate--30-12-2025 12:42:37$!$AddSplitObjectsToSingleSlide--False$!$LongFilterFields--$!$TableHeader--2$!$PivotEntry--1$!$TopNRows--0$!$IsProjectAnalysis--True$!$SelectAllColumns--False$!$PivotFilterFields--$!$IsAddLegend--False$!$xField--Tag$!$Status--Create:Success$!$yField--segment_0$!$MoveFirst--$!$vField--ME$!$MoveLast--$!$fnField--Averag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61683913"/>
  <p:tag name="UPDATE" val="unlock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PLITORDER" val="0"/>
  <p:tag name="FAILEDREFRESHICONID" val="Darwin_92334314"/>
  <p:tag name="GROUPID" val="Group_52163118"/>
  <p:tag name="VISUALISATION_ID" val="Darwin_81906146"/>
  <p:tag name="UPDATE" val="unlock"/>
  <p:tag name="STASSIGID" val="StasSigId_4809713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1"/>
  <p:tag name="VISUALISATION_ID" val="Darwin_37361049"/>
  <p:tag name="UPDATE" val="unlock"/>
  <p:tag name="STASSIGID" val="StasSigId_27305786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2"/>
  <p:tag name="VISUALISATION_ID" val="Darwin_978308"/>
  <p:tag name="UPDATE" val="unlock"/>
  <p:tag name="STASSIGID" val="StasSigId_16601644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3"/>
  <p:tag name="VISUALISATION_ID" val="Darwin_95687309"/>
  <p:tag name="UPDATE" val="unlock"/>
  <p:tag name="STASSIGID" val="StasSigId_25932250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4"/>
  <p:tag name="VISUALISATION_ID" val="Darwin_36683901"/>
  <p:tag name="UPDATE" val="unlock"/>
  <p:tag name="STASSIGID" val="StasSigId_68759230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5"/>
  <p:tag name="VISUALISATION_ID" val="Darwin_3725858"/>
  <p:tag name="UPDATE" val="unlock"/>
  <p:tag name="STASSIGID" val="StasSigId_52728060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6"/>
  <p:tag name="VISUALISATION_ID" val="Darwin_1041169"/>
  <p:tag name="UPDATE" val="unlock"/>
  <p:tag name="STASSIGID" val="StasSigId_95680576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7"/>
  <p:tag name="VISUALISATION_ID" val="Darwin_22552311"/>
  <p:tag name="UPDATE" val="unlock"/>
  <p:tag name="STASSIGID" val="StasSigId_2638515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8"/>
  <p:tag name="VISUALISATION_ID" val="Darwin_44772529"/>
  <p:tag name="UPDATE" val="unlock"/>
  <p:tag name="STASSIGID" val="StasSigId_95648159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92334314"/>
  <p:tag name="GROUPID" val="Group_52163118"/>
  <p:tag name="SPLITORDER" val="9"/>
  <p:tag name="VISUALISATION_ID" val="Darwin_17228352"/>
  <p:tag name="UPDATE" val="unlock"/>
  <p:tag name="STASSIGID" val="StasSigId_97442598"/>
  <p:tag name="SYNQRY" val="SYNQRY#1#$$!$FileVersion--1.6.5.8$!$IsAlias--True$!$Project--623$!$IsNestedSegments--True$!$ProjectSegmentIDs--$!$Survey--738902$!$Requir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LongFilterCondition--AND$!$Metric--none$!$SelectedColumns--Tag@:@Tag@:@@:@$$Jan'25 - Message Effectiveness@:@Jan'25 - Message Effectiveness@:@0%@:@$$Feb'25 - Message Effectiveness@:@Feb'25 - Message Effectiveness@:@0%@:@$$Mar'25 - Message Effectiveness@:@Mar'25 - Message Effectiveness@:@0%@:@$$Apr'25 - Message Effectiveness@:@Apr'25 - Message Effectiveness@:@0%@:@$$May'25 - Message Effectiveness@:@May'25 - Message Effectiveness@:@0%@:@$$Jun'25 - Message Effectiveness@:@Jun'25 - Message Effectiveness@:@0%@:@$$Jul'25 - Message Effectiveness@:@Jul'25 - Message Effectiveness@:@0%@:@$$Aug'25 - Message Effectiveness@:@Aug'25 - Message Effectiveness@:@0%@:@$$Sep'25 - Message Effectiveness@:@Sep'25 - Message Effectiveness@:@0%@:@$$Oct'25 - Message Effectiveness@:@Oct'25 - Message Effectiveness@:@0%@:@$$Nov'25 - Message Effectiveness@:@Nov'25 - Message Effectiveness@:@0%@:@$$Dec'25 - Message Effectiveness@:@Dec'25 - Message Effectiveness@:@0%@:@$!$PivotFilterCondition--AND$!$Analysis--9905$!$SelectedRows--ALL$!$AddLatestColumnToFirst--False$!$RecentWave--W2#12$!$ChartSplit--1$!$IsClientDeliverable--True$!$SelectedWave--129469,127676,125979,124438,122749,121136,119606,118079,116402,115204,113975,112572$!$Transpose--True$!$ClientDeliverableID--810$!$SelectedSeg--$!$IsOverlapping--False$!$ClientDeliverableSegmentIDs--15071,14907,14351,14013,13355,12384,12037,12036,12035,12034,12033,12032$!$SelectedGp--wave$!$IsSorted--True$!$ChartType--Line$!$SelectedMulRolling--$!$SortedField--Dec'25 - Message Effectiveness$$Descending$$$!$FetchOverallData--False$!$Relative--True$!$IsAddQuestionText--False$!$StatisticsSignificance--[]$!$LiveWave--True$!$IsNonOverlapping--False$!$StatisticsSignificanceNValue--30$!$IsSplit--True$!$LastUpdate--30-12-2025 12:42:53$!$AddSplitObjectsToSingleSlide--True$!$LongFilterFields--$!$TableHeader--2$!$PivotEntry--1$!$TopNRows--0$!$IsProjectAnalysis--True$!$SelectAllColumns--True$!$PivotFilterFields--$!$IsAddLegend--False$!$xField--Tag$!$Status--Create:Success$!$yField--segment_0,analysis_id$!$MoveFirst--$!$vField--ME$!$MoveLast--$!$fnField--Averag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2715539"/>
  <p:tag name="DARWINVERSION" val="CSharp"/>
  <p:tag name="FAILEDREFRESHICONID" val="Darwin_27512899"/>
  <p:tag name="VISUALISATION_ID" val="Darwin_78331236"/>
  <p:tag name="UPDATE" val="lock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91639544"/>
  <p:tag name="UPDATE" val="unlock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1869633"/>
  <p:tag name="UPDATE" val="unlock"/>
  <p:tag name="VISUALISATION_ID" val="Darwin_59081855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95624273"/>
  <p:tag name="UPDATE" val="unlock"/>
  <p:tag name="VISUALISATION_ID" val="Darwin_5966731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16526302"/>
  <p:tag name="UPDATE" val="unlock"/>
  <p:tag name="VISUALISATION_ID" val="Darwin_4642598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49867479"/>
  <p:tag name="UPDATE" val="unlock"/>
  <p:tag name="VISUALISATION_ID" val="Darwin_3028081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56086821"/>
  <p:tag name="UPDATE" val="unlock"/>
  <p:tag name="VISUALISATION_ID" val="Darwin_9364096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31780892"/>
  <p:tag name="UPDATE" val="unlock"/>
  <p:tag name="VISUALISATION_ID" val="Darwin_7979556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57062694"/>
  <p:tag name="UPDATE" val="unlock"/>
  <p:tag name="VISUALISATION_ID" val="Darwin_2669766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STASSIGID" val="StasSigId_38903364"/>
  <p:tag name="UPDATE" val="unlock"/>
  <p:tag name="VISUALISATION_ID" val="Darwin_7161208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9737341"/>
  <p:tag name="UPDATE" val="unlock"/>
  <p:tag name="VISUALISATION_ID" val="Darwin_83040337"/>
  <p:tag name="SYNQRY" val="SYNQRY#1#$$!$FileVersion--1.6.5.8$!$IsAlias--True$!$Project--623$!$IsNestedSegments--True$!$ProjectSegmentIDs--$!$Survey--205732$!$RequiredColumns--question@:@question@:@@:@$$Q3 2025@:@Q3 2025@:@0%@:@$$Q4 2025@:@Q4 2025@:@0%@:@$!$LongFilterCondition--AND$!$Metric--$!$SelectedColumns--question@:@question@:@@:@$$Q3 2025@:@Q3 2025@:@0%@:@$$Q4 2025@:@Q4 2025@:@0%@:@$!$PivotFilterCondition--AND$!$Analysis--584210$!$SelectedRows--EGFR-mutated metastatic NSCLC patients with CNS metastases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False$!$ChartType--Doughnut$!$SelectedMulRolling--$!$SortedField--$!$FetchOverallData--False$!$Relative--True$!$IsAddQuestionText--False$!$StatisticsSignificance--[]$!$LiveWave--True$!$IsNonOverlapping--False$!$StatisticsSignificanceNValue--30$!$IsSplit--False$!$LastUpdate--23-12-2025 12:05:04$!$AddSplitObjectsToSingleSlide--False$!$LongFilterFields--$!$TableHeader--1$!$PivotEntry--1$!$TopNRows--0$!$IsProjectAnalysis--False$!$SelectAllColumns--True$!$PivotFilterFields--$!$IsAddLegend--False$!$xField--question$!$Status--Create:Success$!$yField--segment_0$!$MoveFirst--$!$vField--decimal$!$MoveLast--$!$fnField--Average"/>
  <p:tag name="STASSIGID" val="StasSigId_99120197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9737341"/>
  <p:tag name="UPDATE" val="unlock"/>
  <p:tag name="VISUALISATION_ID" val="Darwin_39317491"/>
  <p:tag name="SYNQRY" val="SYNQRY#1#$$!$FileVersion--1.6.5.8$!$IsAlias--True$!$Project--623$!$IsNestedSegments--True$!$ProjectSegmentIDs--$!$Survey--738902$!$RequiredColumns--question@:@question@:@@:@$$Q3 2025@:@Q3 2025@:@0%@:@$$Q4 2025@:@Q4 2025@:@0%@:@$!$LongFilterCondition--AND$!$Metric--none$!$SelectedColumns--question@:@question@:@@:@$$Q3 2025@:@Q3 2025@:@0%@:@$$Q4 2025@:@Q4 2025@:@0%@:@$!$PivotFilterCondition--AND$!$Analysis--533638$!$SelectedRows--EGFR-mutated metastatic NSCLC patients with CNS metastases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False$!$ChartType--Doughnut$!$SelectedMulRolling--$!$SortedField--$!$FetchOverallData--False$!$Relative--True$!$IsAddQuestionText--False$!$StatisticsSignificance--[]$!$LiveWave--True$!$IsNonOverlapping--False$!$StatisticsSignificanceNValue--30$!$IsSplit--False$!$LastUpdate--23-12-2025 12:07:46$!$AddSplitObjectsToSingleSlide--False$!$LongFilterFields--$!$TableHeader--1$!$PivotEntry--1$!$TopNRows--0$!$IsProjectAnalysis--False$!$SelectAllColumns--True$!$PivotFilterFields--$!$IsAddLegend--False$!$xField--question$!$Status--Create:Success$!$yField--segment_0$!$MoveFirst--$!$vField--decimal$!$MoveLast--$!$fnField--Average"/>
  <p:tag name="STASSIGID" val="StasSigId_4861456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9737341"/>
  <p:tag name="UPDATE" val="unlock"/>
  <p:tag name="VISUALISATION_ID" val="Darwin_92774786"/>
  <p:tag name="SYNQRY" val="SYNQRY#1#$$!$FileVersion--1.6.5.8$!$IsAlias--True$!$Project--623$!$IsNestedSegments--True$!$ProjectSegmentIDs--$!$Survey--738902$!$RequiredColumns--question@:@question@:@@:@$$Q3 2025@:@Q3 2025@:@0%@:@$$Q4 2025@:@Q4 2025@:@0%@:@$!$LongFilterCondition--AND$!$Metric--none$!$SelectedColumns--question@:@question@:@@:@$$Q3 2025@:@Q3 2025@:@0%@:@$$Q4 2025@:@Q4 2025@:@0%@:@$!$PivotFilterCondition--AND$!$Analysis--533638$!$SelectedRows--EGFR-mutated metastatic NSCLC patients without CNS metastases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False$!$ChartType--Doughnut$!$SelectedMulRolling--$!$SortedField--$!$FetchOverallData--False$!$Relative--True$!$IsAddQuestionText--False$!$StatisticsSignificance--[]$!$LiveWave--True$!$IsNonOverlapping--False$!$StatisticsSignificanceNValue--30$!$IsSplit--False$!$LastUpdate--23-12-2025 12:08:20$!$AddSplitObjectsToSingleSlide--False$!$LongFilterFields--$!$TableHeader--1$!$PivotEntry--1$!$TopNRows--0$!$IsProjectAnalysis--False$!$SelectAllColumns--True$!$PivotFilterFields--$!$IsAddLegend--False$!$xField--question$!$Status--Create:Success$!$yField--segment_0$!$MoveFirst--$!$vField--decimal$!$MoveLast--$!$fnField--Average"/>
  <p:tag name="STASSIGID" val="StasSigId_4661571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19737341"/>
  <p:tag name="UPDATE" val="unlock"/>
  <p:tag name="VISUALISATION_ID" val="Darwin_48790581"/>
  <p:tag name="SYNQRY" val="SYNQRY#1#$$!$FileVersion--1.6.5.8$!$IsAlias--True$!$Project--623$!$IsNestedSegments--True$!$ProjectSegmentIDs--$!$Survey--205732$!$RequiredColumns--question@:@question@:@@:@$$Q3 2025@:@Q3 2025@:@0%@:@$$Q4 2025@:@Q4 2025@:@0%@:@$!$LongFilterCondition--AND$!$Metric--none$!$SelectedColumns--question@:@question@:@@:@$$Q3 2025@:@Q3 2025@:@0%@:@$$Q4 2025@:@Q4 2025@:@0%@:@$!$PivotFilterCondition--AND$!$Analysis--584210$!$SelectedRows--EGFR-mutated metastatic NSCLC patients without CNS metastases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False$!$ChartType--Doughnut$!$SelectedMulRolling--$!$SortedField--$!$FetchOverallData--False$!$Relative--True$!$IsAddQuestionText--False$!$StatisticsSignificance--[]$!$LiveWave--True$!$IsNonOverlapping--False$!$StatisticsSignificanceNValue--30$!$IsSplit--False$!$LastUpdate--23-12-2025 12:10:22$!$AddSplitObjectsToSingleSlide--False$!$LongFilterFields--$!$TableHeader--1$!$PivotEntry--1$!$TopNRows--0$!$IsProjectAnalysis--False$!$SelectAllColumns--True$!$PivotFilterFields--$!$IsAddLegend--False$!$xField--question$!$Status--Create:Success$!$yField--segment_0$!$MoveFirst--$!$vField--decimal$!$MoveLast--$!$fnField--Average"/>
  <p:tag name="STASSIGID" val="StasSigId_8438216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CHart##J25##L39##2##1"/>
  <p:tag name="UPDATE" val="unlock"/>
  <p:tag name="VISUALISATION_ID" val="Darwin_11840674"/>
  <p:tag name="SYNQRY" val="SYNQRY#1#$$!$FileVersion--1.6.5.8$!$IsAlias--True$!$Project--623$!$IsNestedSegments--True$!$ProjectSegmentIDs--$!$Survey--738902$!$RequiredColumns--title@:@title@:@@:@$$Rybrevant - Q3 2025@:@Rybrevant - Q3 2025@:@0%@:@$$Rybrevant - Q4 2025@:@Rybrevant - Q4 2025@:@0%@:@$$Tagrisso - Q3 2025@:@Tagrisso - Q3 2025@:@0%@:@$$Tagrisso - Q4 2025@:@Tagrisso - Q4 2025@:@0%@:@$$&lt;blank:Delta RYB&gt;@:@Delta RYB@:@0%@:@=C2-B2$$&lt;blank:Delta TAG&gt;@:@Delta TAG@:@0%@:@=E2-D2$!$LongFilterCondition--AND$!$Metric--$!$SelectedColumns--title@:@title@:@@:@$!$PivotFilterCondition--AND$!$Analysis--991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revant - Q4 2025$$Descending$$$!$FetchOverallData--False$!$Relative--True$!$IsAddQuestionText--False$!$StatisticsSignificance--[]$!$LiveWave--True$!$IsNonOverlapping--False$!$StatisticsSignificanceNValue--30$!$IsSplit--False$!$LastUpdate--30-12-2025 18:58:29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$!$vField--decimal$!$MoveLast--Did not connect with another representative$!$fnField--Averag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54648827"/>
  <p:tag name="STASSIGID" val="StasSigId_84679430"/>
  <p:tag name="SYNQRY" val="SYNQRY#1#$$!$FileVersion--1.6.5.8$!$IsAlias--True$!$Project--623$!$IsNestedSegments--True$!$ProjectSegmentIDs--$!$Survey--738902$!$RequiredColumns--title@:@title@:@@:@$$Rybrevant - Q3 2025@:@Rybrevant - Q3 2025@:@0%@:@$$Rybrevant - Q4 2025@:@Rybrevant - Q4 2025@:@0%@:@$$Tagrisso - Q3 2025@:@Tagrisso - Q3 2025@:@0%@:@$$Tagrisso - Q4 2025@:@Tagrisso - Q4 2025@:@0%@:@$$&lt;blank:Delta RYB&gt;@:@Delta RYB@:@0%@:@=C2-B2$$&lt;blank:Delta TAG&gt;@:@Delta TAG@:@0%@:@=E2-D2$!$LongFilterCondition--AND$!$Metric--$!$SelectedColumns--title@:@title@:@@:@$$Rybrevant - Q4 2025@:@Rybrevant - Q4 2025@:@0%@:@$$Tagrisso - Q4 2025@:@Tagrisso - Q4 2025@:@0%@:@$!$PivotFilterCondition--AND$!$Analysis--991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Abacus$!$SelectedMulRolling--$!$SortedField--Rybrevant - Q4 2025$$Descending$$$!$FetchOverallData--False$!$Relative--True$!$IsAddQuestionText--False$!$StatisticsSignificance--[]$!$LiveWave--True$!$IsNonOverlapping--False$!$StatisticsSignificanceNValue--30$!$IsSplit--False$!$LastUpdate--30-12-2025 18:58:29$!$AddSplitObjectsToSingleSlide--False$!$LongFilterFields--$!$TableHeader--1$!$PivotEntry--1$!$TopNRows--0$!$IsProjectAnalysis--True$!$SelectAllColumns--False$!$PivotFilterFields--$!$IsAddLegend--False$!$xField--title$!$Status--Create:Success$!$yField--analysis_id,segment_0$!$MoveFirst--$!$vField--decimal$!$MoveLast--Did not connect with another representative$!$fnField--Averag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FAILEDREFRESHICONID" val="Darwin_39006557"/>
  <p:tag name="NON_CONNECTED_SHAPE_ID" val="77756613"/>
  <p:tag name="TABLE" val="TabQ##Attribute Ratings##C19##C29##2##1"/>
  <p:tag name="UPDATE" val="unlock"/>
  <p:tag name="VISUALISATION_ID" val="Darwin_24332965"/>
  <p:tag name="SYNQRY" val="SYNQRY#1#$$!$FileVersion--1.6.5.8$!$IsAlias--True$!$Project--623$!$IsNestedSegments--True$!$ProjectSegmentIDs--$!$Survey--738902$!$RequiredColumns--title@:@title@:@@:@$$Rybrevant - Q3 2025@:@Rybrevant - Q3 2025@:@0%@:@$$Rybrevant - Q4 2025@:@Rybrevant - Q4 2025@:@0%@:@$$Tagrisso - Q3 2025@:@Tagrisso - Q3 2025@:@0%@:@$$Tagrisso - Q4 2025@:@Tagrisso - Q4 2025@:@0%@:@$$&lt;blank:Delta RYB&gt;@:@Delta RYB@:@0%@:@=C2-B2$$&lt;blank:Delta TAG&gt;@:@Delta TAG@:@0%@:@=E2-D2$!$LongFilterCondition--AND$!$Metric--$!$SelectedColumns--&lt;blank:Delta RYB&gt;@:@Delta RYB@:@0%@:@=C2-B2$$&lt;blank:Delta TAG&gt;@:@Delta TAG@:@0%@:@=E2-D2$!$PivotFilterCondition--AND$!$Analysis--9919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revant - Q4 2025$$Descending$$$!$FetchOverallData--False$!$Relative--True$!$IsAddQuestionText--False$!$StatisticsSignificance--[]$!$LiveWave--True$!$IsNonOverlapping--False$!$StatisticsSignificanceNValue--30$!$IsSplit--False$!$LastUpdate--30-12-2025 18:58:35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$!$vField--decimal$!$MoveLast--Did not connect with another representative$!$fnField--Averag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82634579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75224514"/>
  <p:tag name="UPDATE" val="unlock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75224514"/>
  <p:tag name="DARWINVERSION" val="CSharp"/>
  <p:tag name="UPDATE" val="unlock"/>
  <p:tag name="VISUALISATION_ID" val="Darwin_37505219"/>
  <p:tag name="FAILEDREFRESHICONID" val="Darwin_37505219"/>
  <p:tag name="SYNQRY" val="SYNQRY#1#$$!$FileVersion--1.6.5.8$!$IsAlias--True$!$Project--623$!$IsNestedSegments--True$!$ProjectSegmentIDs--$!$Survey--205732$!$RequiredColumns--Tag@:@Tag@:@@:@$$Message Effectiveness - Average of decimal@:@Message Effectiveness - Average of decimal@:@0%@:@$$Message Effectiveness - Average of ME@:@Message Effectiveness - Average of ME@:@0%@:@$$Message Recall - Average of decimal@:@Message Recall - Average of decimal@:@0%@:@$$Message Recall - Average of ME@:@Message Recall - Average of ME@:@0%@:@$!$LongFilterCondition--AND$!$Metric--$!$SelectedColumns--Tag@:@Tag@:@@:@$!$PivotFilterCondition--AND$!$Analysis--8115$!$SelectedRows--ALL$!$AddLatestColumnToFirst--False$!$RecentWave--W2#1$!$ChartSplit--$!$IsClientDeliverable--True$!$SelectedWave--129466$!$Transpose--False$!$ClientDeliverableID--138$!$SelectedSeg--$!$IsOverlapping--False$!$ClientDeliverableSegmentIDs--13717$!$SelectedGp--wave$!$IsSorted--True$!$ChartType--Table$!$SelectedMulRolling--$!$SortedField--Message Recall - Average of decimal$$Descending$$$!$FetchOverallData--False$!$Relative--True$!$IsAddQuestionText--False$!$StatisticsSignificance--[]$!$LiveWave--True$!$IsNonOverlapping--False$!$StatisticsSignificanceNValue--30$!$IsSplit--False$!$LastUpdate--22-12-2025 16:43:21$!$AddSplitObjectsToSingleSlide--False$!$LongFilterFields--$!$TableHeader--1$!$PivotEntry--1$!$TopNRows--0$!$IsProjectAnalysis--True$!$SelectAllColumns--False$!$PivotFilterFields--$!$IsAddLegend--False$!$xField--Tag$!$Status--Create:Success$!$yField--analysis_id$!$MoveFirst--$!$vField--decimal,ME$!$MoveLast--$!$fnField--Averag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51237287"/>
  <p:tag name="UPDATE" val="unlock"/>
  <p:tag name="VISUALISATION_ID" val="Darwin_76533195"/>
  <p:tag name="FAILEDREFRESHICONID" val="Darwin_76533195"/>
  <p:tag name="STASSIGID" val="StasSigId_680235"/>
  <p:tag name="SYNQRY" val="SYNQRY#1#$$!$FileVersion--1.6.5.8$!$IsAlias--True$!$Project--623$!$IsNestedSegments--True$!$ProjectSegmentIDs--$!$Survey--205732$!$RequiredColumns--Tag@:@Tag@:@@:@$$Message Effectiveness - Average of decimal@:@Message Effectiveness - Average of decimal@:@0%@:@$$Message Effectiveness - Average of ME@:@Message Effectiveness - Average of ME@:@0%@:@$$Message Recall - Average of decimal@:@Message Recall - Average of decimal@:@0%@:@$$Message Recall - Average of ME@:@Message Recall - Average of ME@:@0%@:@$!$LongFilterCondition--AND$!$Metric--$!$SelectedColumns--Tag@:@Tag@:@@:@$$Message Recall - Average of decimal@:@Message Recall - Average of decimal@:@0%@:@$!$PivotFilterCondition--AND$!$Analysis--8115$!$SelectedRows--ALL$!$AddLatestColumnToFirst--False$!$RecentWave--W2#1$!$ChartSplit--$!$IsClientDeliverable--True$!$SelectedWave--129466$!$Transpose--False$!$ClientDeliverableID--138$!$SelectedSeg--$!$IsOverlapping--False$!$ClientDeliverableSegmentIDs--13717$!$SelectedGp--wave$!$IsSorted--True$!$ChartType--Clustered Bar$!$SelectedMulRolling--$!$SortedField--Message Recall - Average of decimal$$Descending$$$!$FetchOverallData--False$!$Relative--True$!$IsAddQuestionText--False$!$StatisticsSignificance--[]$!$LiveWave--True$!$IsNonOverlapping--False$!$StatisticsSignificanceNValue--30$!$IsSplit--False$!$LastUpdate--22-12-2025 16:43:21$!$AddSplitObjectsToSingleSlide--False$!$LongFilterFields--$!$TableHeader--1$!$PivotEntry--1$!$TopNRows--0$!$IsProjectAnalysis--True$!$SelectAllColumns--False$!$PivotFilterFields--$!$IsAddLegend--False$!$xField--Tag$!$Status--Create:Success$!$yField--analysis_id$!$MoveFirst--$!$vField--decimal,ME$!$MoveLast--$!$fnField--Averag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47182292"/>
  <p:tag name="UPDATE" val="unlock"/>
  <p:tag name="VISUALISATION_ID" val="Darwin_7794450"/>
  <p:tag name="FAILEDREFRESHICONID" val="Darwin_7794450"/>
  <p:tag name="STASSIGID" val="StasSigId_7724889"/>
  <p:tag name="SYNQRY" val="SYNQRY#1#$$!$FileVersion--1.6.5.8$!$IsAlias--True$!$Project--623$!$IsNestedSegments--True$!$ProjectSegmentIDs--$!$Survey--205732$!$RequiredColumns--Tag@:@Tag@:@@:@$$Message Effectiveness - Average of decimal@:@Message Effectiveness - Average of decimal@:@0%@:@$$Message Effectiveness - Average of ME@:@Message Effectiveness - Average of ME@:@0%@:@$$Message Recall - Average of decimal@:@Message Recall - Average of decimal@:@0%@:@$$Message Recall - Average of ME@:@Message Recall - Average of ME@:@0%@:@$!$LongFilterCondition--AND$!$Metric--$!$SelectedColumns--Tag@:@Tag@:@@:@$$Message Effectiveness - Average of ME@:@Message Effectiveness - Average of ME@:@0%@:@$!$PivotFilterCondition--AND$!$Analysis--8115$!$SelectedRows--ALL$!$AddLatestColumnToFirst--False$!$RecentWave--W2#1$!$ChartSplit--$!$IsClientDeliverable--True$!$SelectedWave--129466$!$Transpose--False$!$ClientDeliverableID--138$!$SelectedSeg--$!$IsOverlapping--False$!$ClientDeliverableSegmentIDs--13717$!$SelectedGp--wave$!$IsSorted--True$!$ChartType--Clustered Bar$!$SelectedMulRolling--$!$SortedField--Message Recall - Average of decimal$$Descending$$$!$FetchOverallData--False$!$Relative--True$!$IsAddQuestionText--False$!$StatisticsSignificance--[]$!$LiveWave--True$!$IsNonOverlapping--False$!$StatisticsSignificanceNValue--30$!$IsSplit--False$!$LastUpdate--22-12-2025 16:43:21$!$AddSplitObjectsToSingleSlide--False$!$LongFilterFields--$!$TableHeader--1$!$PivotEntry--1$!$TopNRows--0$!$IsProjectAnalysis--True$!$SelectAllColumns--False$!$PivotFilterFields--$!$IsAddLegend--False$!$xField--Tag$!$Status--Create:Success$!$yField--analysis_id$!$MoveFirst--$!$vField--decimal,ME$!$MoveLast--$!$fnField--Averag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" val="TabQ##RYB Recall##E2##G7##1##1"/>
  <p:tag name="DARWINVERSION" val="CSharp"/>
  <p:tag name="NON_CONNECTED_SHAPE_ID" val="99784467"/>
  <p:tag name="UPDATE" val="unlock"/>
  <p:tag name="VISUALISATION_ID" val="Darwin_69838300"/>
  <p:tag name="SYNQRY" val="SYNQRY#1#$$!$FileVersion--1.6.5.1$!$IsAlias--True$!$Project--623$!$IsNestedSegments--False$!$ProjectSegmentIDs--$!$Survey--738902$!$RequiredColumns--Tag@:@Tag@:@@:@$$Message Effectiveness - Q4 2025 - Average of ME@:@Message Effectiveness - Q4 2025 - Average of ME@:@0%@:@$$Message Effectiveness - Q3 2025 - Average of ME@:@Message Effectiveness - Q3 2025 - Average of ME@:@0%@:@$$Message Recall - Q4 2025 - Average of decimal@:@Message Recall - Q4 2025 - Average of decimal@:@0%@:@$$Message Recall - Q3 2025 - Average of decimal@:@Message Recall - Q3 2025 - Average of decimal@:@0%@:@$$&lt;blank:ME - Delta&gt;@:@ME - Delta@:@0%@:@=B2-C2$$&lt;blank:ME-Recall&gt;@:@ME-Recall@:@0%@:@=D2-E2$!$LongFilterCondition--AND$!$Metric--none$!$SelectedColumns--&lt;blank:ME-Recall&gt;@:@ME-Recall@:@0%@:@=D2-E2$!$PivotFilterCondition--AND$!$Analysis--8115$!$SelectedRows--ALL$!$AddLatestColumnToFirst--False$!$RecentWave--W2#2$!$ChartSplit--$!$IsClientDeliverable--True$!$SelectedWave--101273,99943$!$Transpose--False$!$ClientDeliverableID--138$!$SelectedSeg--$!$IsOverlapping--False$!$ClientDeliverableSegmentIDs--13717,12164$!$SelectedGp--wave$!$IsSorted--True$!$ChartType--Table$!$SelectedMulRolling--$!$SortedField--Message Effectiveness - Q4 2025 - Average of ME$$Descending$$$!$FetchOverallData--False$!$Relative--True$!$IsAddQuestionText--False$!$StatisticsSignificance--[]$!$LiveWave--True$!$IsNonOverlapping--False$!$StatisticsSignificanceNValue--30$!$IsSplit--False$!$LastUpdate--22-12-2025 16:43:15$!$AddSplitObjectsToSingleSlide--False$!$LongFilterFields--$!$TableHeader--2$!$PivotEntry--1$!$TopNRows--0$!$IsProjectAnalysis--True$!$SelectAllColumns--False$!$PivotFilterFields--$!$IsAddLegend--False$!$xField--Tag,title$!$Status--Create:Success$!$yField--analysis_id,segment_0$!$MoveFirst--$!$vField--decimal,ME$!$MoveLast--$!$fnField--Averag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" val="TabQ##RYB Recall##E2##G7##1##1"/>
  <p:tag name="DARWINVERSION" val="CSharp"/>
  <p:tag name="NON_CONNECTED_SHAPE_ID" val="10061809"/>
  <p:tag name="UPDATE" val="unlock"/>
  <p:tag name="VISUALISATION_ID" val="Darwin_12794443"/>
  <p:tag name="SYNQRY" val="SYNQRY#1#$$!$FileVersion--1.6.5.1$!$IsAlias--True$!$Project--623$!$IsNestedSegments--False$!$ProjectSegmentIDs--$!$Survey--738902$!$RequiredColumns--Tag@:@Tag@:@@:@$$Message Effectiveness - Q4 2025 - Average of ME@:@Message Effectiveness - Q4 2025 - Average of ME@:@0%@:@$$Message Effectiveness - Q3 2025 - Average of ME@:@Message Effectiveness - Q3 2025 - Average of ME@:@0%@:@$$Message Recall - Q4 2025 - Average of decimal@:@Message Recall - Q4 2025 - Average of decimal@:@0%@:@$$Message Recall - Q3 2025 - Average of decimal@:@Message Recall - Q3 2025 - Average of decimal@:@0%@:@$$&lt;blank:ME - Delta&gt;@:@ME - Delta@:@0%@:@=B2-C2$$&lt;blank:ME-Recall&gt;@:@ME-Recall@:@0%@:@=D2-E2$!$LongFilterCondition--AND$!$Metric--none$!$SelectedColumns--&lt;blank:ME - Delta&gt;@:@ME - Delta@:@0%@:@=B2-C2$!$PivotFilterCondition--AND$!$Analysis--8115$!$SelectedRows--ALL$!$AddLatestColumnToFirst--False$!$RecentWave--W2#2$!$ChartSplit--$!$IsClientDeliverable--True$!$SelectedWave--101273,99943$!$Transpose--False$!$ClientDeliverableID--138$!$SelectedSeg--$!$IsOverlapping--False$!$ClientDeliverableSegmentIDs--13717,12164$!$SelectedGp--wave$!$IsSorted--True$!$ChartType--Table$!$SelectedMulRolling--$!$SortedField--Message Effectiveness - Q4 2025 - Average of ME$$Descending$$$!$FetchOverallData--False$!$Relative--True$!$IsAddQuestionText--False$!$StatisticsSignificance--[]$!$LiveWave--True$!$IsNonOverlapping--False$!$StatisticsSignificanceNValue--30$!$IsSplit--False$!$LastUpdate--22-12-2025 16:43:15$!$AddSplitObjectsToSingleSlide--False$!$LongFilterFields--$!$TableHeader--2$!$PivotEntry--1$!$TopNRows--0$!$IsProjectAnalysis--True$!$SelectAllColumns--False$!$PivotFilterFields--$!$IsAddLegend--False$!$xField--Tag,title$!$Status--Create:Success$!$yField--analysis_id,segment_0$!$MoveFirst--$!$vField--decimal,ME$!$MoveLast--$!$fnField--Averag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DATE" val="unlock"/>
  <p:tag name="VISUALISATION_ID" val="Darwin_50358015"/>
  <p:tag name="DARWINVERSION" val="CSharp"/>
  <p:tag name="SYNQRY" val="SYNQRY#1#$$!$FileVersion--1.6.5.8$!$IsAlias--True$!$Project--623$!$IsNestedSegments--True$!$ProjectSegmentIDs--$!$Survey--20573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Q3 2025 - Options  - Believable - Average of ME@:@Q3 2025 - Options  - Believable - Average of ME@:@0%@:@$$Q4 2025 - Options  - Believable - Average of ME@:@Q4 2025 - Options  - Believable - Average of ME@:@0%@:@$!$PivotFilterCondition--AND$!$Analysis--8115$!$SelectedRows--ALL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True$!$ChartType--Table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22-12-2025 17:18:44$!$AddSplitObjectsToSingleSlide--False$!$LongFilterFields--$!$TableHeader--2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40074357"/>
  <p:tag name="TABLE" val="TabQ##RYB Recall##E2##G7##1##1"/>
  <p:tag name="UPDATE" val="unlock"/>
  <p:tag name="VISUALISATION_ID" val="Darwin_34026730"/>
  <p:tag name="SYNQRY" val="SYNQRY#1#$$!$FileVersion--1.6.5.8$!$IsAlias--True$!$Project--623$!$IsNestedSegments--True$!$ProjectSegmentIDs--$!$Survey--20573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Tag@:@Tag@:@@:@$!$PivotFilterCondition--AND$!$Analysis--8115$!$SelectedRows--ALL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True$!$ChartType--Table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22-12-2025 17:18:44$!$AddSplitObjectsToSingleSlide--False$!$LongFilterFields--$!$TableHeader--2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50041449"/>
  <p:tag name="SYNQ##Q2" val="SynQ##call generateReports('988982','##wSel##','44554','Rolling',CURRENT_DATE())$!$Fields--title,count,total_count,percentage,$!$Filter--$!$Sorting--$!$NumOfWaves--3$!$Recent--0"/>
  <p:tag name="UPDATE" val="unlock"/>
  <p:tag name="VISUALISATION_ID" val="Darwin_52730105"/>
  <p:tag name="STASSIGID" val="StasSigId_88125388"/>
  <p:tag name="SYNQRY" val="SYNQRY#1#$$!$FileVersion--1.6.5.8$!$IsAlias--True$!$Project--623$!$IsNestedSegments--True$!$ProjectSegmentIDs--$!$Survey--20573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Tag@:@Tag@:@@:@$$Q3 2025 - Options  - Motivating - Average of decimal@:@Q3 2025 - Options  - Motivating - Average of decimal@:@0%@:@$$Q4 2025 - Options  - Motivating - Average of decimal@:@Q4 2025 - Options  - Motivating - Average of decimal@:@0%@:@$!$PivotFilterCondition--AND$!$Analysis--8115$!$SelectedRows--ALL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True$!$ChartType--Abacus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22-12-2025 17:18:44$!$AddSplitObjectsToSingleSlide--False$!$LongFilterFields--$!$TableHeader--1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39159678"/>
  <p:tag name="SYNQ##Q2" val="SynQ##call generateReports('988982','##wSel##','44554','Rolling',CURRENT_DATE())$!$Fields--title,count,total_count,percentage,$!$Filter--$!$Sorting--$!$NumOfWaves--3$!$Recent--0"/>
  <p:tag name="UPDATE" val="unlock"/>
  <p:tag name="VISUALISATION_ID" val="Darwin_61242552"/>
  <p:tag name="STASSIGID" val="StasSigId_18446147"/>
  <p:tag name="SYNQRY" val="SYNQRY#1#$$!$FileVersion--1.6.5.8$!$IsAlias--True$!$Project--623$!$IsNestedSegments--True$!$ProjectSegmentIDs--$!$Survey--20573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Tag@:@Tag@:@@:@$$Q3 2025 - Options  - Believable - Average of decimal@:@Q3 2025 - Options  - Believable - Average of decimal@:@0%@:@$$Q4 2025 - Options  - Believable - Average of decimal@:@Q4 2025 - Options  - Believable - Average of decimal@:@0%@:@$!$PivotFilterCondition--AND$!$Analysis--8115$!$SelectedRows--ALL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True$!$ChartType--Abacus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22-12-2025 17:18:44$!$AddSplitObjectsToSingleSlide--False$!$LongFilterFields--$!$TableHeader--1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6433642"/>
  <p:tag name="SYNQ##Q2" val="SynQ##call generateReports('988982','##wSel##','44554','Rolling',CURRENT_DATE())$!$Fields--title,count,total_count,percentage,$!$Filter--$!$Sorting--$!$NumOfWaves--3$!$Recent--0"/>
  <p:tag name="UPDATE" val="unlock"/>
  <p:tag name="VISUALISATION_ID" val="Darwin_97787399"/>
  <p:tag name="STASSIGID" val="StasSigId_42364355"/>
  <p:tag name="SYNQRY" val="SYNQRY#1#$$!$FileVersion--1.6.5.8$!$IsAlias--True$!$Project--623$!$IsNestedSegments--True$!$ProjectSegmentIDs--$!$Survey--205732$!$RequiredColumns--Tag@:@Tag@:@@:@$$Q3 2025 - Options  - Believable - Average of decimal@:@Q3 2025 - Options  - Believable - Average of decimal@:@0%@:@$$Q4 2025 - Options  - Believable - Average of decimal@:@Q4 2025 - Options  - Believable - Average of decimal@:@0%@:@$$Q3 2025 - Options  - Differentiated - Average of decimal@:@Q3 2025 - Options  - Differentiated - Average of decimal@:@0%@:@$$Q4 2025 - Options  - Differentiated - Average of decimal@:@Q4 2025 - Options  - Differentiated - Average of decimal@:@0%@:@$$Q3 2025 - Options  - Motivating - Average of decimal@:@Q3 2025 - Options  - Motivating - Average of decimal@:@0%@:@$$Q4 2025 - Options  - Motivating - Average of decimal@:@Q4 2025 - Options  - Motivating - Average of decimal@:@0%@:@$$Q3 2025 - Options  - Believable - Average of ME@:@Q3 2025 - Options  - Believable - Average of ME@:@0%@:@$$Q4 2025 - Options  - Believable - Average of ME@:@Q4 2025 - Options  - Believable - Average of ME@:@0%@:@$!$LongFilterCondition--AND$!$Metric--$!$SelectedColumns--Tag@:@Tag@:@@:@$$Q3 2025 - Options  - Differentiated - Average of decimal@:@Q3 2025 - Options  - Differentiated - Average of decimal@:@0%@:@$$Q4 2025 - Options  - Differentiated - Average of decimal@:@Q4 2025 - Options  - Differentiated - Average of decimal@:@0%@:@$!$PivotFilterCondition--AND$!$Analysis--8115$!$SelectedRows--ALL$!$AddLatestColumnToFirst--False$!$RecentWave--W2#2$!$ChartSplit--$!$IsClientDeliverable--True$!$SelectedWave--129466,127673$!$Transpose--False$!$ClientDeliverableID--138$!$SelectedSeg--$!$IsOverlapping--False$!$ClientDeliverableSegmentIDs--13717,12164$!$SelectedGp--wave$!$IsSorted--True$!$ChartType--Abacus$!$SelectedMulRolling--$!$SortedField--Q4 2025 - Options  - Believable - Average of ME$$Descending$$$!$FetchOverallData--False$!$Relative--True$!$IsAddQuestionText--False$!$StatisticsSignificance--[]$!$LiveWave--True$!$IsNonOverlapping--False$!$StatisticsSignificanceNValue--30$!$IsSplit--False$!$LastUpdate--22-12-2025 17:18:44$!$AddSplitObjectsToSingleSlide--False$!$LongFilterFields--$!$TableHeader--1$!$PivotEntry--1$!$TopNRows--0$!$IsProjectAnalysis--True$!$SelectAllColumns--False$!$PivotFilterFields--$!$IsAddLegend--False$!$xField--Tag$!$Status--Create:Success$!$yField--segment_0,segment_1$!$MoveFirst--$!$vField--ME,decimal$!$MoveLast--$!$fnField--Averag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DATE" val="unlock"/>
  <p:tag name="VISUALISATION_ID" val="Darwin_71521175"/>
  <p:tag name="DARWINVERSION" val="CSharp"/>
  <p:tag name="SYNQRY" val="SYNQRY#1#$$!$FileVersion--1.6.5.8$!$IsAlias--True$!$Project--623$!$IsNestedSegments--True$!$ProjectSegmentIDs--$!$Survey--738902$!$RequiredColumns--title@:@title@:@@:@$$RYB Hear More - Q3 2025@:@RYB Hear More - Q3 2025@:@0%@:@$$RYB Hear More - Q4 2025@:@RYB Hear More - Q4 2025@:@0%@:@$$RYB TR - Q3 2025@:@RYB TR - Q3 2025@:@0%@:@$$RYB TR - Q4 2025@:@RYB TR - Q4 2025@:@0%@:@$$TAG Hear More - Q3 2025@:@TAG Hear More - Q3 2025@:@0%@:@$$TAG Hear More - Q4 2025@:@TAG Hear More - Q4 2025@:@0%@:@$$TAG TR - Q3 2025@:@TAG TR - Q3 2025@:@0%@:@$$TAG TR - Q4 2025@:@TAG TR - Q4 2025@:@0%@:@$$&lt;blank:Delta TR RYB&gt;@:@Delta TR RYB@:@0%@:@=E2-D2$$&lt;blank:Delta TR TAG&gt;@:@Delta TR TAG@:@0%@:@=I2-H2$!$LongFilterCondition--AND$!$Metric--$!$SelectedColumns--RYB TR - Q4 2025@:@RYB TR - Q4 2025@:@0%@:@$$TAG TR - Q4 2025@:@TAG TR - Q4 2025@:@0%@:@$!$PivotFilterCondition--AND$!$Analysis--16707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 TR - Q4 2025$$Descending$$$!$FetchOverallData--False$!$Relative--True$!$IsAddQuestionText--False$!$StatisticsSignificance--[]$!$LiveWave--True$!$IsNonOverlapping--False$!$StatisticsSignificanceNValue--30$!$IsSplit--False$!$LastUpdate--22-12-2025 19:20:21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$!$vField--decimal$!$MoveLast--$!$fnField--Averag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" val="TabQ##TD RYB##A2##A14##1##1"/>
  <p:tag name="DARWINVERSION" val="CSharp"/>
  <p:tag name="UPDATE" val="unlock"/>
  <p:tag name="VISUALISATION_ID" val="Darwin_56181880"/>
  <p:tag name="SYNQRY" val="SYNQRY#1#$$!$FileVersion--1.6.5.8$!$IsAlias--True$!$Project--623$!$IsNestedSegments--True$!$ProjectSegmentIDs--$!$Survey--738902$!$RequiredColumns--title@:@title@:@@:@$$RYB Hear More - Q3 2025@:@RYB Hear More - Q3 2025@:@0%@:@$$RYB Hear More - Q4 2025@:@RYB Hear More - Q4 2025@:@0%@:@$$RYB TR - Q3 2025@:@RYB TR - Q3 2025@:@0%@:@$$RYB TR - Q4 2025@:@RYB TR - Q4 2025@:@0%@:@$$TAG Hear More - Q3 2025@:@TAG Hear More - Q3 2025@:@0%@:@$$TAG Hear More - Q4 2025@:@TAG Hear More - Q4 2025@:@0%@:@$$TAG TR - Q3 2025@:@TAG TR - Q3 2025@:@0%@:@$$TAG TR - Q4 2025@:@TAG TR - Q4 2025@:@0%@:@$$&lt;blank:Delta TR RYB&gt;@:@Delta TR RYB@:@0%@:@=E2-D2$$&lt;blank:Delta TR TAG&gt;@:@Delta TR TAG@:@0%@:@=I2-H2$!$LongFilterCondition--AND$!$Metric--none$!$SelectedColumns--title@:@title@:@@:@$!$PivotFilterCondition--AND$!$Analysis--16707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 TR - Q4 2025$$Descending$$$!$FetchOverallData--False$!$Relative--True$!$IsAddQuestionText--False$!$StatisticsSignificance--[]$!$LiveWave--True$!$IsNonOverlapping--False$!$StatisticsSignificanceNValue--30$!$IsSplit--False$!$LastUpdate--22-12-2025 19:20:21$!$AddSplitObjectsToSingleSlide--False$!$LongFilterFields--$!$TableHeader--2$!$PivotEntry--1$!$TopNRows--0$!$IsProjectAnalysis--True$!$SelectAllColumns--True$!$PivotFilterFields--$!$IsAddLegend--False$!$xField--title$!$Status--Create:Success$!$yField--analysis_id,segment_0$!$MoveFirst--$!$vField--decimal$!$MoveLast--$!$fnField--Averag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UPDATE" val="unlock"/>
  <p:tag name="VISUALISATION_ID" val="Darwin_3646078"/>
  <p:tag name="STASSIGID" val="StasSigId_57224130"/>
  <p:tag name="SYNQRY" val="SYNQRY#1#$$!$FileVersion--1.6.5.8$!$IsAlias--True$!$Project--623$!$IsNestedSegments--True$!$ProjectSegmentIDs--$!$Survey--738902$!$RequiredColumns--title@:@title@:@@:@$$RYB Hear More - Q3 2025@:@RYB Hear More - Q3 2025@:@0%@:@$$RYB Hear More - Q4 2025@:@RYB Hear More - Q4 2025@:@0%@:@$$RYB TR - Q3 2025@:@RYB TR - Q3 2025@:@0%@:@$$RYB TR - Q4 2025@:@RYB TR - Q4 2025@:@0%@:@$$TAG Hear More - Q3 2025@:@TAG Hear More - Q3 2025@:@0%@:@$$TAG Hear More - Q4 2025@:@TAG Hear More - Q4 2025@:@0%@:@$$TAG TR - Q3 2025@:@TAG TR - Q3 2025@:@0%@:@$$TAG TR - Q4 2025@:@TAG TR - Q4 2025@:@0%@:@$$&lt;blank:Delta TR RYB&gt;@:@Delta TR RYB@:@0%@:@=E2-D2$$&lt;blank:Delta TR TAG&gt;@:@Delta TR TAG@:@0%@:@=I2-H2$!$LongFilterCondition--AND$!$Metric--none$!$SelectedColumns--title@:@title@:@@:@$$RYB Hear More - Q4 2025@:@RYB Hear More - Q4 2025@:@0%@:@$$TAG Hear More - Q4 2025@:@TAG Hear More - Q4 2025@:@0%@:@$!$PivotFilterCondition--AND$!$Analysis--16707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Abacus$!$SelectedMulRolling--$!$SortedField--RYB TR - Q4 2025$$Descending$$$!$FetchOverallData--False$!$Relative--True$!$IsAddQuestionText--False$!$StatisticsSignificance--[]$!$LiveWave--True$!$IsNonOverlapping--False$!$StatisticsSignificanceNValue--30$!$IsSplit--False$!$LastUpdate--22-12-2025 19:20:21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$!$vField--decimal$!$MoveLast--$!$fnField--Averag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77756613"/>
  <p:tag name="TABLE" val="TabQ##Attribute Ratings##C19##C29##2##1"/>
  <p:tag name="DARWINVERSION" val="CSharp"/>
  <p:tag name="UPDATE" val="unlock"/>
  <p:tag name="VISUALISATION_ID" val="Darwin_26448387"/>
  <p:tag name="SYNQRY" val="SYNQRY#1#$$!$FileVersion--1.6.5.8$!$IsAlias--True$!$Project--623$!$IsNestedSegments--True$!$ProjectSegmentIDs--$!$Survey--738902$!$RequiredColumns--title@:@title@:@@:@$$RYB Hear More - Q3 2025@:@RYB Hear More - Q3 2025@:@0%@:@$$RYB Hear More - Q4 2025@:@RYB Hear More - Q4 2025@:@0%@:@$$RYB TR - Q3 2025@:@RYB TR - Q3 2025@:@0%@:@$$RYB TR - Q4 2025@:@RYB TR - Q4 2025@:@0%@:@$$TAG Hear More - Q3 2025@:@TAG Hear More - Q3 2025@:@0%@:@$$TAG Hear More - Q4 2025@:@TAG Hear More - Q4 2025@:@0%@:@$$TAG TR - Q3 2025@:@TAG TR - Q3 2025@:@0%@:@$$TAG TR - Q4 2025@:@TAG TR - Q4 2025@:@0%@:@$$&lt;blank:Delta TR RYB&gt;@:@Delta TR RYB@:@0%@:@=E2-D2$$&lt;blank:Delta TR TAG&gt;@:@Delta TR TAG@:@0%@:@=I2-H2$!$LongFilterCondition--AND$!$Metric--none$!$SelectedColumns--&lt;blank:Delta TR RYB&gt;@:@Delta TR RYB@:@0%@:@=E2-D2$$&lt;blank:Delta TR TAG&gt;@:@Delta TR TAG@:@0%@:@=I2-H2$!$PivotFilterCondition--AND$!$Analysis--16707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 TR - Q4 2025$$Descending$$$!$FetchOverallData--False$!$Relative--True$!$IsAddQuestionText--False$!$StatisticsSignificance--[]$!$LiveWave--True$!$IsNonOverlapping--False$!$StatisticsSignificanceNValue--30$!$IsSplit--False$!$LastUpdate--22-12-2025 19:20:21$!$AddSplitObjectsToSingleSlide--False$!$LongFilterFields--$!$TableHeader--2$!$PivotEntry--1$!$TopNRows--0$!$IsProjectAnalysis--True$!$SelectAllColumns--False$!$PivotFilterFields--$!$IsAddLegend--False$!$xField--title$!$Status--Create:Success$!$yField--analysis_id,segment_0$!$MoveFirst--$!$vField--decimal$!$MoveLast--$!$fnField--Averag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33651485"/>
  <p:tag name="UPDATE" val="unlock"/>
  <p:tag name="VISUALISATION_ID" val="Darwin_8559568"/>
  <p:tag name="STASSIGID" val="StasSigId_32311700"/>
  <p:tag name="SYNQRY" val="SYNQRY#1#$$!$FileVersion--1.6.5.8$!$IsAlias--True$!$Project--623$!$IsNestedSegments--True$!$ProjectSegmentIDs--$!$Survey--738902$!$RequiredColumns--alias7872@:@alias7872@:@@:@$$RYB_MR_Overall - Q3 2025@:@RYB_MR_Overall - Q3 2025@:@0%@:@$$RYB_MR_Overall - Q4 2025@:@RYB_MR_Overall - Q4 2025@:@0%@:@$$RYB_PP_Recall - Q3 2025@:@RYB_PP_Recall - Q3 2025@:@0%@:@$$RYB_PP_Recall - Q4 2025@:@RYB_PP_Recall - Q4 2025@:@0%@:@$$&lt;blank:Delta NPP&gt;@:@Delta NPP@:@0%@:@=C2-B2$$&lt;blank:Delta PP&gt;@:@Delta PP@:@0%@:@=E2-D2$!$LongFilterCondition--AND$!$Metric--none$!$SelectedColumns--alias7872@:@alias7872@:@@:@$$RYB_MR_Overall - Q4 2025@:@RYB_MR_Overall - Q4 2025@:@0%@:@$!$PivotFilterCondition--AND$!$Analysis--14323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17:59:32$!$AddSplitObjectsToSingleSlide--False$!$LongFilterFields--analysis_id@:@IN@:@RYB_MR_Overall$@$RYB_PP_Recall$!$TableHeader--1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RYB Recall##E2##G7##1##1"/>
  <p:tag name="UPDATE" val="unlock"/>
  <p:tag name="VISUALISATION_ID" val="Darwin_57354813"/>
  <p:tag name="SYNQRY" val="SYNQRY#1#$$!$FileVersion--1.6.5.8$!$IsAlias--True$!$Project--623$!$IsNestedSegments--True$!$ProjectSegmentIDs--$!$Survey--738902$!$RequiredColumns--alias7872@:@alias7872@:@@:@$$RYB_MR_Overall - Q3 2025@:@RYB_MR_Overall - Q3 2025@:@0%@:@$$RYB_MR_Overall - Q4 2025@:@RYB_MR_Overall - Q4 2025@:@0%@:@$$RYB_PP_Recall - Q3 2025@:@RYB_PP_Recall - Q3 2025@:@0%@:@$$RYB_PP_Recall - Q4 2025@:@RYB_PP_Recall - Q4 2025@:@0%@:@$$&lt;blank:Delta NPP&gt;@:@Delta NPP@:@0%@:@=C2-B2$$&lt;blank:Delta PP&gt;@:@Delta PP@:@0%@:@=E2-D2$!$LongFilterCondition--AND$!$Metric--$!$SelectedColumns--alias7872@:@alias7872@:@@:@$!$PivotFilterCondition--AND$!$Analysis--14323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17:59:32$!$AddSplitObjectsToSingleSlide--False$!$LongFilterFields--analysis_id@:@IN@:@RYB_MR_Overall$@$RYB_PP_Recall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33651485"/>
  <p:tag name="UPDATE" val="unlock"/>
  <p:tag name="VISUALISATION_ID" val="Darwin_70085095"/>
  <p:tag name="STASSIGID" val="StasSigId_54321694"/>
  <p:tag name="SYNQRY" val="SYNQRY#1#$$!$FileVersion--1.6.5.8$!$IsAlias--True$!$Project--623$!$IsNestedSegments--True$!$ProjectSegmentIDs--$!$Survey--738902$!$RequiredColumns--alias7872@:@alias7872@:@@:@$$RYB_MR_Overall - Q3 2025@:@RYB_MR_Overall - Q3 2025@:@0%@:@$$RYB_MR_Overall - Q4 2025@:@RYB_MR_Overall - Q4 2025@:@0%@:@$$RYB_PP_Recall - Q3 2025@:@RYB_PP_Recall - Q3 2025@:@0%@:@$$RYB_PP_Recall - Q4 2025@:@RYB_PP_Recall - Q4 2025@:@0%@:@$$&lt;blank:Delta NPP&gt;@:@Delta NPP@:@0%@:@=C2-B2$$&lt;blank:Delta PP&gt;@:@Delta PP@:@0%@:@=E2-D2$!$LongFilterCondition--AND$!$Metric--$!$SelectedColumns--alias7872@:@alias7872@:@@:@$$RYB_PP_Recall - Q4 2025@:@RYB_PP_Recall - Q4 2025@:@0%@:@$!$PivotFilterCondition--AND$!$Analysis--14323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Clustered Bar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17:59:32$!$AddSplitObjectsToSingleSlide--False$!$LongFilterFields--analysis_id@:@IN@:@RYB_MR_Overall$@$RYB_PP_Recall$!$TableHeader--1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RYB Recall##E2##G7##1##1"/>
  <p:tag name="UPDATE" val="unlock"/>
  <p:tag name="VISUALISATION_ID" val="Darwin_84353382"/>
  <p:tag name="SYNQRY" val="SYNQRY#1#$$!$FileVersion--1.6.5.8$!$IsAlias--True$!$Project--623$!$IsNestedSegments--True$!$ProjectSegmentIDs--$!$Survey--738902$!$RequiredColumns--alias7872@:@alias7872@:@@:@$$RYB_MR_Overall - Q3 2025@:@RYB_MR_Overall - Q3 2025@:@0%@:@$$RYB_MR_Overall - Q4 2025@:@RYB_MR_Overall - Q4 2025@:@0%@:@$$RYB_PP_Recall - Q3 2025@:@RYB_PP_Recall - Q3 2025@:@0%@:@$$RYB_PP_Recall - Q4 2025@:@RYB_PP_Recall - Q4 2025@:@0%@:@$$&lt;blank:Delta NPP&gt;@:@Delta NPP@:@0%@:@=C2-B2$$&lt;blank:Delta PP&gt;@:@Delta PP@:@0%@:@=E2-D2$!$LongFilterCondition--AND$!$Metric--$!$SelectedColumns--&lt;blank:Delta PP&gt;@:@Delta PP@:@0%@:@=E2-D2$!$PivotFilterCondition--AND$!$Analysis--14323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17:59:32$!$AddSplitObjectsToSingleSlide--False$!$LongFilterFields--analysis_id@:@IN@:@RYB_MR_Overall$@$RYB_PP_Recall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TABLE" val="TabQ##RYB Recall##E2##G7##1##1"/>
  <p:tag name="UPDATE" val="unlock"/>
  <p:tag name="SYNQRY" val="SYNQRY#1#$$!$FileVersion--1.6.5.8$!$IsAlias--True$!$Project--623$!$IsNestedSegments--True$!$ProjectSegmentIDs--$!$Survey--738902$!$RequiredColumns--alias7872@:@alias7872@:@@:@$$RYB_MR_Overall - Q3 2025@:@RYB_MR_Overall - Q3 2025@:@0%@:@$$RYB_MR_Overall - Q4 2025@:@RYB_MR_Overall - Q4 2025@:@0%@:@$$RYB_PP_Recall - Q3 2025@:@RYB_PP_Recall - Q3 2025@:@0%@:@$$RYB_PP_Recall - Q4 2025@:@RYB_PP_Recall - Q4 2025@:@0%@:@$$&lt;blank:Delta NPP&gt;@:@Delta NPP@:@0%@:@=C2-B2$$&lt;blank:Delta PP&gt;@:@Delta PP@:@0%@:@=E2-D2$!$LongFilterCondition--AND$!$Metric--$!$SelectedColumns--&lt;blank:Delta NPP&gt;@:@Delta NPP@:@0%@:@=C2-B2$!$PivotFilterCondition--AND$!$Analysis--14323$!$SelectedRows--ALL$!$AddLatestColumnToFirst--False$!$RecentWave--W2#2$!$ChartSplit--$!$IsClientDeliverable--True$!$SelectedWave--129469,127676$!$Transpose--False$!$ClientDeliverableID--138$!$SelectedSeg--$!$IsOverlapping--False$!$ClientDeliverableSegmentIDs--13717,12164$!$SelectedGp--wave$!$IsSorted--True$!$ChartType--Table$!$SelectedMulRolling--$!$SortedField--RYB_MR_Overall - Q4 2025$$Descending$$$!$FetchOverallData--False$!$Relative--True$!$IsAddQuestionText--False$!$StatisticsSignificance--[]$!$LiveWave--True$!$IsNonOverlapping--False$!$StatisticsSignificanceNValue--30$!$IsSplit--False$!$LastUpdate--30-12-2025 17:59:32$!$AddSplitObjectsToSingleSlide--False$!$LongFilterFields--analysis_id@:@IN@:@RYB_MR_Overall$@$RYB_PP_Recall$!$TableHeader--2$!$PivotEntry--1$!$TopNRows--0$!$IsProjectAnalysis--True$!$SelectAllColumns--False$!$PivotFilterFields--$!$IsAddLegend--False$!$xField--alias7872$!$Status--Create:Success$!$yField--analysis_id,segment_0$!$MoveFirst--$!$vField--decimal$!$MoveLast--$!$fnField--Average"/>
  <p:tag name="VISUALISATION_ID" val="Darwin_5894497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35778"/>
  <p:tag name="UPDATE" val="unlock"/>
  <p:tag name="VISUALISATION_ID" val="Darwin_66769728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10061809"/>
  <p:tag name="TABLE" val="TabQ##RYB Recall##E2##G7##1##1"/>
  <p:tag name="UPDATE" val="unlock"/>
  <p:tag name="VISUALISATION_ID" val="Darwin_7738396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10061809"/>
  <p:tag name="TABLE" val="TabQ##RYB Recall##E2##G7##1##1"/>
  <p:tag name="UPDATE" val="unlock"/>
  <p:tag name="VISUALISATION_ID" val="Darwin_69861369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57461390"/>
  <p:tag name="UPDATE" val="unlock"/>
  <p:tag name="VISUALISATION_ID" val="Darwin_39640778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RWINVERSION" val="CSharp"/>
  <p:tag name="NON_CONNECTED_SHAPE_ID" val="95976047"/>
  <p:tag name="UPDATE" val="unlock"/>
  <p:tag name="VISUALISATION_ID" val="Darwin_39640778"/>
</p:tagLst>
</file>

<file path=ppt/theme/theme1.xml><?xml version="1.0" encoding="utf-8"?>
<a:theme xmlns:a="http://schemas.openxmlformats.org/drawingml/2006/main" name="1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2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3.xml><?xml version="1.0" encoding="utf-8"?>
<a:theme xmlns:a="http://schemas.openxmlformats.org/drawingml/2006/main" name="2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J_PPT_InnovativeMedicine_Template_F.potx  -  Read-Only" id="{4848CCE4-4BF9-405D-9132-E330E2AE5796}" vid="{231837AC-97DA-4038-9167-93ADE5889A1C}"/>
    </a:ext>
  </a:extLst>
</a:theme>
</file>

<file path=ppt/theme/theme4.xml><?xml version="1.0" encoding="utf-8"?>
<a:theme xmlns:a="http://schemas.openxmlformats.org/drawingml/2006/main" name="3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5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EB1700"/>
      </a:accent1>
      <a:accent2>
        <a:srgbClr val="000000"/>
      </a:accent2>
      <a:accent3>
        <a:srgbClr val="004686"/>
      </a:accent3>
      <a:accent4>
        <a:srgbClr val="68D2FF"/>
      </a:accent4>
      <a:accent5>
        <a:srgbClr val="541981"/>
      </a:accent5>
      <a:accent6>
        <a:srgbClr val="C4BDB6"/>
      </a:accent6>
      <a:hlink>
        <a:srgbClr val="0000FF"/>
      </a:hlink>
      <a:folHlink>
        <a:srgbClr val="800080"/>
      </a:folHlink>
    </a:clrScheme>
    <a:fontScheme name="Custom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EB1700"/>
        </a:accent1>
        <a:accent2>
          <a:srgbClr val="000000"/>
        </a:accent2>
        <a:accent3>
          <a:srgbClr val="004686"/>
        </a:accent3>
        <a:accent4>
          <a:srgbClr val="68D2FF"/>
        </a:accent4>
        <a:accent5>
          <a:srgbClr val="541981"/>
        </a:accent5>
        <a:accent6>
          <a:srgbClr val="C4BDB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20240814_JJIM Launch Cockpit_Data Request Open Questions_v1" id="{805BD970-7DBF-44B0-986E-BD41591CAD98}" vid="{C111677A-E4FA-4660-8104-08F5B9DB419A}"/>
    </a:ext>
  </a:extLst>
</a:theme>
</file>

<file path=ppt/theme/theme6.xml><?xml version="1.0" encoding="utf-8"?>
<a:theme xmlns:a="http://schemas.openxmlformats.org/drawingml/2006/main" name="5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D39138238E3428482F9AC847CC3B1" ma:contentTypeVersion="26" ma:contentTypeDescription="Create a new document." ma:contentTypeScope="" ma:versionID="dd5192036d17513511aa768119511b92">
  <xsd:schema xmlns:xsd="http://www.w3.org/2001/XMLSchema" xmlns:xs="http://www.w3.org/2001/XMLSchema" xmlns:p="http://schemas.microsoft.com/office/2006/metadata/properties" xmlns:ns1="http://schemas.microsoft.com/sharepoint/v3" xmlns:ns2="457c7519-65f4-4311-98ff-710488d5099d" xmlns:ns3="4c31d0a7-7d65-4455-b0b7-66f65b242358" targetNamespace="http://schemas.microsoft.com/office/2006/metadata/properties" ma:root="true" ma:fieldsID="7f3f13722d454f803d093c8998983f6c" ns1:_="" ns2:_="" ns3:_="">
    <xsd:import namespace="http://schemas.microsoft.com/sharepoint/v3"/>
    <xsd:import namespace="457c7519-65f4-4311-98ff-710488d5099d"/>
    <xsd:import namespace="4c31d0a7-7d65-4455-b0b7-66f65b242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CR" minOccurs="0"/>
                <xsd:element ref="ns2:Link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5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6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7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8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9" nillable="true" ma:displayName="Number of Likes" ma:internalName="LikesCount">
      <xsd:simpleType>
        <xsd:restriction base="dms:Unknown"/>
      </xsd:simpleType>
    </xsd:element>
    <xsd:element name="LikedBy" ma:index="30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c7519-65f4-4311-98ff-710488d50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fdb820a-fbe5-49ec-8492-f23f1cc1e7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ink" ma:index="21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d0a7-7d65-4455-b0b7-66f65b242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4b33b4c-756c-484c-a535-e67165055b61}" ma:internalName="TaxCatchAll" ma:showField="CatchAllData" ma:web="4c31d0a7-7d65-4455-b0b7-66f65b242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d0a7-7d65-4455-b0b7-66f65b242358" xsi:nil="true"/>
    <lcf76f155ced4ddcb4097134ff3c332f xmlns="457c7519-65f4-4311-98ff-710488d5099d">
      <Terms xmlns="http://schemas.microsoft.com/office/infopath/2007/PartnerControls"/>
    </lcf76f155ced4ddcb4097134ff3c332f>
    <SharedWithUsers xmlns="4c31d0a7-7d65-4455-b0b7-66f65b242358">
      <UserInfo>
        <DisplayName/>
        <AccountId xsi:nil="true"/>
        <AccountType/>
      </UserInfo>
    </SharedWithUsers>
    <MediaLengthInSeconds xmlns="457c7519-65f4-4311-98ff-710488d5099d" xsi:nil="true"/>
    <Link xmlns="457c7519-65f4-4311-98ff-710488d5099d">
      <Url xsi:nil="true"/>
      <Description xsi:nil="true"/>
    </Link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EC23C5DE-BB74-43CE-AD6C-9F45E108266A}">
  <ds:schemaRefs>
    <ds:schemaRef ds:uri="457c7519-65f4-4311-98ff-710488d5099d"/>
    <ds:schemaRef ds:uri="4c31d0a7-7d65-4455-b0b7-66f65b2423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926832-D345-496D-83B2-CBEDB7538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B0F3A4-7550-4FA8-A86E-371D8467D940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sharepoint/v3"/>
    <ds:schemaRef ds:uri="http://schemas.microsoft.com/office/2006/documentManagement/types"/>
    <ds:schemaRef ds:uri="http://purl.org/dc/elements/1.1/"/>
    <ds:schemaRef ds:uri="http://purl.org/dc/terms/"/>
    <ds:schemaRef ds:uri="4c31d0a7-7d65-4455-b0b7-66f65b242358"/>
    <ds:schemaRef ds:uri="457c7519-65f4-4311-98ff-710488d5099d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24550</Words>
  <Application>Microsoft Office PowerPoint</Application>
  <PresentationFormat>Widescreen</PresentationFormat>
  <Paragraphs>3212</Paragraphs>
  <Slides>58</Slides>
  <Notes>50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1_Johnson and Johnson</vt:lpstr>
      <vt:lpstr>Johnson and Johnson</vt:lpstr>
      <vt:lpstr>2_Johnson and Johnson</vt:lpstr>
      <vt:lpstr>3_Johnson and Johnson</vt:lpstr>
      <vt:lpstr>1_White</vt:lpstr>
      <vt:lpstr>5_Johnson and Johnson</vt:lpstr>
      <vt:lpstr>RYB+LAZ Promotional Effectiveness Tracking  Q4'25 Report</vt:lpstr>
      <vt:lpstr>Methodology &amp; Respondent Overview</vt:lpstr>
      <vt:lpstr>PowerPoint Presentation</vt:lpstr>
      <vt:lpstr>PowerPoint Presentation</vt:lpstr>
      <vt:lpstr>PowerPoint Presentation</vt:lpstr>
      <vt:lpstr>PowerPoint Presentation</vt:lpstr>
      <vt:lpstr>Executive Summary</vt:lpstr>
      <vt:lpstr>PowerPoint Presentation</vt:lpstr>
      <vt:lpstr>PowerPoint Presentation</vt:lpstr>
      <vt:lpstr>Key Findings –   Personal Promotions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 –   Promotional Effectiveness x Perception Metrics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 –    Non-Sales Rep Promotions (Overall)</vt:lpstr>
      <vt:lpstr>PowerPoint Presentation</vt:lpstr>
      <vt:lpstr>PowerPoint Presentation</vt:lpstr>
      <vt:lpstr>PowerPoint Presentation</vt:lpstr>
      <vt:lpstr>PowerPoint Presentation</vt:lpstr>
      <vt:lpstr>Key Findings –    Non-Sales Rep Promotions (Channel Level)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Austino Paul</dc:creator>
  <cp:lastModifiedBy>Vinoth Rajapandian</cp:lastModifiedBy>
  <cp:revision>10</cp:revision>
  <dcterms:created xsi:type="dcterms:W3CDTF">2023-12-26T05:16:55Z</dcterms:created>
  <dcterms:modified xsi:type="dcterms:W3CDTF">2026-03-10T10:49:50Z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0x0101000C5D39138238E3428482F9AC847CC3B1</vt:lpwstr>
  </property>
  <property fmtid="{D5CDD505-2E9C-101B-9397-08002B2CF9AE}" pid="3" name="MediaServiceImageTags">
    <vt:lpwstr/>
  </property>
  <property fmtid="{D5CDD505-2E9C-101B-9397-08002B2CF9AE}" pid="4" name="Order">
    <vt:r8>66100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